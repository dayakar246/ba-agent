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18"/>
  </p:notesMasterIdLst>
  <p:handoutMasterIdLst>
    <p:handoutMasterId r:id="rId19"/>
  </p:handoutMasterIdLst>
  <p:sldIdLst>
    <p:sldId id="1163" r:id="rId6"/>
    <p:sldId id="1174" r:id="rId7"/>
    <p:sldId id="1167" r:id="rId8"/>
    <p:sldId id="1166" r:id="rId9"/>
    <p:sldId id="1168" r:id="rId10"/>
    <p:sldId id="1175" r:id="rId11"/>
    <p:sldId id="1176" r:id="rId12"/>
    <p:sldId id="1177" r:id="rId13"/>
    <p:sldId id="1178" r:id="rId14"/>
    <p:sldId id="1179" r:id="rId15"/>
    <p:sldId id="1180" r:id="rId16"/>
    <p:sldId id="1182" r:id="rId17"/>
  </p:sldIdLst>
  <p:sldSz cx="12344400" cy="6950075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551246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1102492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65373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2204984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756230" algn="l" defTabSz="1102492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3307476" algn="l" defTabSz="1102492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858722" algn="l" defTabSz="1102492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4409968" algn="l" defTabSz="1102492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189">
          <p15:clr>
            <a:srgbClr val="A4A3A4"/>
          </p15:clr>
        </p15:guide>
        <p15:guide id="4" pos="388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82EEEB"/>
    <a:srgbClr val="BAFC16"/>
    <a:srgbClr val="F8E5D0"/>
    <a:srgbClr val="F9E9D7"/>
    <a:srgbClr val="1CD2F6"/>
    <a:srgbClr val="EC9939"/>
    <a:srgbClr val="128E7D"/>
    <a:srgbClr val="F4F3F2"/>
    <a:srgbClr val="DA51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B760D0-7CEC-B3F8-0AC7-E5882B91980F}" v="21" dt="2022-08-19T10:34:32.336"/>
    <p1510:client id="{BDA91168-C450-4343-A8DD-261C96ABA67C}" v="53" dt="2021-05-08T02:15:13.002"/>
  </p1510:revLst>
</p1510:revInfo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434" autoAdjust="0"/>
  </p:normalViewPr>
  <p:slideViewPr>
    <p:cSldViewPr>
      <p:cViewPr varScale="1">
        <p:scale>
          <a:sx n="66" d="100"/>
          <a:sy n="66" d="100"/>
        </p:scale>
        <p:origin x="636" y="40"/>
      </p:cViewPr>
      <p:guideLst>
        <p:guide orient="horz" pos="2160"/>
        <p:guide pos="2880"/>
        <p:guide orient="horz" pos="2189"/>
        <p:guide pos="38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2880"/>
    </p:cViewPr>
  </p:sorterViewPr>
  <p:notesViewPr>
    <p:cSldViewPr>
      <p:cViewPr>
        <p:scale>
          <a:sx n="80" d="100"/>
          <a:sy n="80" d="100"/>
        </p:scale>
        <p:origin x="-2982" y="216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ok Bharati" userId="S::alok.bharati@valuemomentum.com::2f6e0e27-ace8-4335-a59d-f4692af8e221" providerId="AD" clId="Web-{36B760D0-7CEC-B3F8-0AC7-E5882B91980F}"/>
    <pc:docChg chg="modSld">
      <pc:chgData name="Alok Bharati" userId="S::alok.bharati@valuemomentum.com::2f6e0e27-ace8-4335-a59d-f4692af8e221" providerId="AD" clId="Web-{36B760D0-7CEC-B3F8-0AC7-E5882B91980F}" dt="2022-08-19T10:32:08.191" v="13" actId="20577"/>
      <pc:docMkLst>
        <pc:docMk/>
      </pc:docMkLst>
      <pc:sldChg chg="modSp">
        <pc:chgData name="Alok Bharati" userId="S::alok.bharati@valuemomentum.com::2f6e0e27-ace8-4335-a59d-f4692af8e221" providerId="AD" clId="Web-{36B760D0-7CEC-B3F8-0AC7-E5882B91980F}" dt="2022-08-19T10:32:08.191" v="13" actId="20577"/>
        <pc:sldMkLst>
          <pc:docMk/>
          <pc:sldMk cId="3978384426" sldId="1166"/>
        </pc:sldMkLst>
        <pc:spChg chg="mod">
          <ac:chgData name="Alok Bharati" userId="S::alok.bharati@valuemomentum.com::2f6e0e27-ace8-4335-a59d-f4692af8e221" providerId="AD" clId="Web-{36B760D0-7CEC-B3F8-0AC7-E5882B91980F}" dt="2022-08-19T10:32:08.191" v="13" actId="20577"/>
          <ac:spMkLst>
            <pc:docMk/>
            <pc:sldMk cId="3978384426" sldId="1166"/>
            <ac:spMk id="3" creationId="{B0BBAD45-B779-41CE-A42D-A314F43B606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3550"/>
          </a:xfrm>
          <a:prstGeom prst="rect">
            <a:avLst/>
          </a:prstGeom>
        </p:spPr>
        <p:txBody>
          <a:bodyPr vert="horz" lIns="92298" tIns="46149" rIns="92298" bIns="46149" rtlCol="0"/>
          <a:lstStyle>
            <a:lvl1pPr algn="l">
              <a:defRPr sz="1200"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3550"/>
          </a:xfrm>
          <a:prstGeom prst="rect">
            <a:avLst/>
          </a:prstGeom>
        </p:spPr>
        <p:txBody>
          <a:bodyPr vert="horz" lIns="92298" tIns="46149" rIns="92298" bIns="46149" rtlCol="0"/>
          <a:lstStyle>
            <a:lvl1pPr algn="r">
              <a:defRPr sz="1200" smtClean="0"/>
            </a:lvl1pPr>
          </a:lstStyle>
          <a:p>
            <a:pPr>
              <a:defRPr/>
            </a:pPr>
            <a:fld id="{9727E618-B619-4C36-8069-B46C9E63E7BB}" type="datetimeFigureOut">
              <a:rPr lang="en-IN"/>
              <a:pPr>
                <a:defRPr/>
              </a:pPr>
              <a:t>19-08-2022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31263"/>
            <a:ext cx="3038475" cy="463550"/>
          </a:xfrm>
          <a:prstGeom prst="rect">
            <a:avLst/>
          </a:prstGeom>
        </p:spPr>
        <p:txBody>
          <a:bodyPr vert="horz" lIns="92298" tIns="46149" rIns="92298" bIns="46149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31263"/>
            <a:ext cx="3038475" cy="463550"/>
          </a:xfrm>
          <a:prstGeom prst="rect">
            <a:avLst/>
          </a:prstGeom>
        </p:spPr>
        <p:txBody>
          <a:bodyPr vert="horz" lIns="92298" tIns="46149" rIns="92298" bIns="46149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9C442BCF-093E-4EAA-8717-F0E65CF5F693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0854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3550"/>
          </a:xfrm>
          <a:prstGeom prst="rect">
            <a:avLst/>
          </a:prstGeom>
        </p:spPr>
        <p:txBody>
          <a:bodyPr vert="horz" lIns="93175" tIns="46587" rIns="93175" bIns="46587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3550"/>
          </a:xfrm>
          <a:prstGeom prst="rect">
            <a:avLst/>
          </a:prstGeom>
        </p:spPr>
        <p:txBody>
          <a:bodyPr vert="horz" lIns="93175" tIns="46587" rIns="93175" bIns="46587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9CF4A2D4-943A-4B1C-9013-9F22B5005060}" type="datetimeFigureOut">
              <a:rPr lang="en-US"/>
              <a:pPr>
                <a:defRPr/>
              </a:pPr>
              <a:t>8/19/2022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696913"/>
            <a:ext cx="619125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5" tIns="46587" rIns="93175" bIns="46587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</p:spPr>
        <p:txBody>
          <a:bodyPr vert="horz" lIns="93175" tIns="46587" rIns="93175" bIns="46587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1263"/>
            <a:ext cx="3038475" cy="463550"/>
          </a:xfrm>
          <a:prstGeom prst="rect">
            <a:avLst/>
          </a:prstGeom>
        </p:spPr>
        <p:txBody>
          <a:bodyPr vert="horz" lIns="93175" tIns="46587" rIns="93175" bIns="46587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31263"/>
            <a:ext cx="3038475" cy="463550"/>
          </a:xfrm>
          <a:prstGeom prst="rect">
            <a:avLst/>
          </a:prstGeom>
        </p:spPr>
        <p:txBody>
          <a:bodyPr vert="horz" lIns="93175" tIns="46587" rIns="93175" bIns="46587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DA158527-55D2-4491-A481-82DAFC9145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358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51246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102492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653738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204984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56230" algn="l" defTabSz="110249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307476" algn="l" defTabSz="110249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58722" algn="l" defTabSz="110249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409968" algn="l" defTabSz="110249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6"/>
          <p:cNvSpPr txBox="1"/>
          <p:nvPr userDrawn="1"/>
        </p:nvSpPr>
        <p:spPr>
          <a:xfrm>
            <a:off x="11624310" y="6540542"/>
            <a:ext cx="617220" cy="326770"/>
          </a:xfrm>
          <a:prstGeom prst="rect">
            <a:avLst/>
          </a:prstGeom>
          <a:noFill/>
        </p:spPr>
        <p:txBody>
          <a:bodyPr lIns="110249" tIns="55125" rIns="110249" bIns="55125" anchor="ctr">
            <a:spAutoFit/>
          </a:bodyPr>
          <a:lstStyle/>
          <a:p>
            <a:pPr algn="ctr">
              <a:defRPr/>
            </a:pPr>
            <a:fld id="{D2FF584B-C88C-4411-984A-6427B0C91A19}" type="slidenum">
              <a:rPr lang="en-US" sz="1400">
                <a:latin typeface="Calibri" pitchFamily="34" charset="0"/>
              </a:rPr>
              <a:pPr algn="ctr">
                <a:defRPr/>
              </a:pPr>
              <a:t>‹#›</a:t>
            </a:fld>
            <a:endParaRPr lang="en-US" sz="1400" dirty="0">
              <a:latin typeface="Calibri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662" y="-675"/>
            <a:ext cx="12349480" cy="6961188"/>
          </a:xfrm>
          <a:prstGeom prst="rect">
            <a:avLst/>
          </a:prstGeom>
          <a:solidFill>
            <a:srgbClr val="205595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10249" tIns="55125" rIns="110249" bIns="55125" spcCol="0"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08037"/>
            <a:ext cx="9935818" cy="268206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11513698" y="6448560"/>
            <a:ext cx="615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5B66DB6-D71E-4B3E-9AE0-4919FDE04E8D}" type="slidenum">
              <a:rPr lang="en-US" smtClean="0">
                <a:solidFill>
                  <a:schemeClr val="bg1"/>
                </a:solidFill>
              </a:r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" name="Picture 9" descr="VAM ppt images-08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8363" y="7937"/>
            <a:ext cx="1723779" cy="1276350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344400" cy="6950075"/>
          </a:xfrm>
          <a:prstGeom prst="rect">
            <a:avLst/>
          </a:prstGeom>
          <a:solidFill>
            <a:srgbClr val="D6412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10249" tIns="55125" rIns="110249" bIns="55125" spcCol="0" rtlCol="0" anchor="ctr"/>
          <a:lstStyle/>
          <a:p>
            <a:pPr algn="ctr"/>
            <a:endParaRPr lang="en-US">
              <a:latin typeface="Segoe UI" panose="020B0502040204020203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08037"/>
            <a:ext cx="9935818" cy="268206"/>
          </a:xfrm>
          <a:prstGeom prst="rect">
            <a:avLst/>
          </a:prstGeom>
        </p:spPr>
      </p:pic>
      <p:pic>
        <p:nvPicPr>
          <p:cNvPr id="9" name="Picture 8" descr="VAM ppt images-08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8363" y="7937"/>
            <a:ext cx="1723779" cy="1276350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11513698" y="6448560"/>
            <a:ext cx="615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5B66DB6-D71E-4B3E-9AE0-4919FDE04E8D}" type="slidenum">
              <a:rPr lang="en-US" smtClean="0">
                <a:solidFill>
                  <a:schemeClr val="bg1"/>
                </a:solidFill>
              </a:r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34308"/>
      </p:ext>
    </p:extLst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6"/>
          <p:cNvSpPr txBox="1"/>
          <p:nvPr userDrawn="1"/>
        </p:nvSpPr>
        <p:spPr>
          <a:xfrm>
            <a:off x="11624310" y="6540542"/>
            <a:ext cx="617220" cy="326770"/>
          </a:xfrm>
          <a:prstGeom prst="rect">
            <a:avLst/>
          </a:prstGeom>
          <a:noFill/>
        </p:spPr>
        <p:txBody>
          <a:bodyPr lIns="110249" tIns="55125" rIns="110249" bIns="55125" anchor="ctr">
            <a:spAutoFit/>
          </a:bodyPr>
          <a:lstStyle/>
          <a:p>
            <a:pPr algn="ctr">
              <a:defRPr/>
            </a:pPr>
            <a:fld id="{D2FF584B-C88C-4411-984A-6427B0C91A19}" type="slidenum">
              <a:rPr lang="en-US" sz="1400">
                <a:latin typeface="Calibri" pitchFamily="34" charset="0"/>
              </a:rPr>
              <a:pPr algn="ctr">
                <a:defRPr/>
              </a:pPr>
              <a:t>‹#›</a:t>
            </a:fld>
            <a:endParaRPr lang="en-US" sz="1400" dirty="0">
              <a:latin typeface="Calibri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08037"/>
            <a:ext cx="9935818" cy="268206"/>
          </a:xfrm>
          <a:prstGeom prst="rect">
            <a:avLst/>
          </a:prstGeom>
        </p:spPr>
      </p:pic>
      <p:pic>
        <p:nvPicPr>
          <p:cNvPr id="11" name="Picture 10" descr="VAM ppt images-08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35818" y="1570037"/>
            <a:ext cx="1723779" cy="1276350"/>
          </a:xfrm>
          <a:prstGeom prst="rect">
            <a:avLst/>
          </a:prstGeom>
        </p:spPr>
      </p:pic>
      <p:sp>
        <p:nvSpPr>
          <p:cNvPr id="12" name="TextBox 11"/>
          <p:cNvSpPr txBox="1"/>
          <p:nvPr userDrawn="1"/>
        </p:nvSpPr>
        <p:spPr>
          <a:xfrm>
            <a:off x="11513698" y="6448560"/>
            <a:ext cx="615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5B66DB6-D71E-4B3E-9AE0-4919FDE04E8D}" type="slidenum">
              <a:rPr lang="en-US" smtClean="0">
                <a:solidFill>
                  <a:schemeClr val="bg1"/>
                </a:solidFill>
              </a:r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0" y="-11113"/>
            <a:ext cx="12344400" cy="6950075"/>
          </a:xfrm>
          <a:prstGeom prst="rect">
            <a:avLst/>
          </a:prstGeom>
          <a:solidFill>
            <a:srgbClr val="0B8D8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10249" tIns="55125" rIns="110249" bIns="55125" spcCol="0" rtlCol="0" anchor="ctr"/>
          <a:lstStyle/>
          <a:p>
            <a:pPr algn="ctr"/>
            <a:endParaRPr lang="en-US"/>
          </a:p>
        </p:txBody>
      </p:sp>
      <p:pic>
        <p:nvPicPr>
          <p:cNvPr id="15" name="Picture 14" descr="VAM ppt images-08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28363" y="7937"/>
            <a:ext cx="1723779" cy="12763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08037"/>
            <a:ext cx="9935818" cy="268206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11666098" y="6600960"/>
            <a:ext cx="615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5B66DB6-D71E-4B3E-9AE0-4919FDE04E8D}" type="slidenum">
              <a:rPr lang="en-US" smtClean="0">
                <a:solidFill>
                  <a:schemeClr val="bg1"/>
                </a:solidFill>
              </a:r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11513698" y="6448560"/>
            <a:ext cx="615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5B66DB6-D71E-4B3E-9AE0-4919FDE04E8D}" type="slidenum">
              <a:rPr lang="en-US" smtClean="0">
                <a:solidFill>
                  <a:schemeClr val="tx1"/>
                </a:solidFill>
              </a:rPr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98437"/>
            <a:ext cx="1313371" cy="854319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17220" y="278325"/>
            <a:ext cx="11109960" cy="1158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10249" tIns="55125" rIns="110249" bIns="5512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17220" y="1621685"/>
            <a:ext cx="11109960" cy="4586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10249" tIns="55125" rIns="110249" bIns="551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" y="6441690"/>
            <a:ext cx="2880360" cy="370027"/>
          </a:xfrm>
          <a:prstGeom prst="rect">
            <a:avLst/>
          </a:prstGeom>
        </p:spPr>
        <p:txBody>
          <a:bodyPr vert="horz" lIns="110249" tIns="55125" rIns="110249" bIns="55125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33C36AE-1F22-4034-AC38-1EF7C2E753D1}" type="datetimeFigureOut">
              <a:rPr lang="en-US"/>
              <a:pPr>
                <a:defRPr/>
              </a:pPr>
              <a:t>8/19/2022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17670" y="6441690"/>
            <a:ext cx="3909060" cy="370027"/>
          </a:xfrm>
          <a:prstGeom prst="rect">
            <a:avLst/>
          </a:prstGeom>
        </p:spPr>
        <p:txBody>
          <a:bodyPr vert="horz" lIns="110249" tIns="55125" rIns="110249" bIns="55125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46820" y="6441690"/>
            <a:ext cx="2880360" cy="370027"/>
          </a:xfrm>
          <a:prstGeom prst="rect">
            <a:avLst/>
          </a:prstGeom>
        </p:spPr>
        <p:txBody>
          <a:bodyPr vert="horz" lIns="110249" tIns="55125" rIns="110249" bIns="55125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19164D7-1688-4482-BCBF-BB84A53684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63" r:id="rId2"/>
    <p:sldLayoutId id="2147483657" r:id="rId3"/>
    <p:sldLayoutId id="2147483659" r:id="rId4"/>
  </p:sldLayoutIdLst>
  <p:transition>
    <p:fade thruBlk="1"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5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Calibri" pitchFamily="34" charset="0"/>
        </a:defRPr>
      </a:lvl5pPr>
      <a:lvl6pPr marL="551246" algn="ctr" rtl="0" eaLnBrk="1" fontAlgn="base" hangingPunct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Calibri" pitchFamily="34" charset="0"/>
        </a:defRPr>
      </a:lvl6pPr>
      <a:lvl7pPr marL="1102492" algn="ctr" rtl="0" eaLnBrk="1" fontAlgn="base" hangingPunct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Calibri" pitchFamily="34" charset="0"/>
        </a:defRPr>
      </a:lvl7pPr>
      <a:lvl8pPr marL="1653738" algn="ctr" rtl="0" eaLnBrk="1" fontAlgn="base" hangingPunct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Calibri" pitchFamily="34" charset="0"/>
        </a:defRPr>
      </a:lvl8pPr>
      <a:lvl9pPr marL="2204984" algn="ctr" rtl="0" eaLnBrk="1" fontAlgn="base" hangingPunct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Calibri" pitchFamily="34" charset="0"/>
        </a:defRPr>
      </a:lvl9pPr>
    </p:titleStyle>
    <p:bodyStyle>
      <a:lvl1pPr marL="413435" indent="-41343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895775" indent="-344529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378115" indent="-275623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29361" indent="-275623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80607" indent="-275623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31853" indent="-275623" algn="l" defTabSz="1102492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3099" indent="-275623" algn="l" defTabSz="1102492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34345" indent="-275623" algn="l" defTabSz="1102492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85591" indent="-275623" algn="l" defTabSz="1102492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0249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51246" algn="l" defTabSz="110249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02492" algn="l" defTabSz="110249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53738" algn="l" defTabSz="110249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04984" algn="l" defTabSz="110249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56230" algn="l" defTabSz="110249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07476" algn="l" defTabSz="110249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58722" algn="l" defTabSz="110249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409968" algn="l" defTabSz="1102492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youtu.be/QFbkOnErE6A" TargetMode="External"/><Relationship Id="rId7" Type="http://schemas.openxmlformats.org/officeDocument/2006/relationships/hyperlink" Target="https://youtu.be/DJfgVaeQANU" TargetMode="External"/><Relationship Id="rId2" Type="http://schemas.openxmlformats.org/officeDocument/2006/relationships/hyperlink" Target="https://youtu.be/bic4qOuIJoI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youtu.be/MsoFGntjbmY" TargetMode="External"/><Relationship Id="rId5" Type="http://schemas.openxmlformats.org/officeDocument/2006/relationships/hyperlink" Target="https://youtu.be/VgYTBNgKG3w" TargetMode="External"/><Relationship Id="rId4" Type="http://schemas.openxmlformats.org/officeDocument/2006/relationships/hyperlink" Target="https://youtu.be/rMDQVIe6zds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jpe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.be/DJfgVaeQANU" TargetMode="External"/><Relationship Id="rId3" Type="http://schemas.openxmlformats.org/officeDocument/2006/relationships/hyperlink" Target="https://youtu.be/QFbkOnErE6A" TargetMode="External"/><Relationship Id="rId7" Type="http://schemas.openxmlformats.org/officeDocument/2006/relationships/hyperlink" Target="https://youtu.be/mKVYW5nAGxA" TargetMode="External"/><Relationship Id="rId2" Type="http://schemas.openxmlformats.org/officeDocument/2006/relationships/hyperlink" Target="https://youtu.be/2LC8OaePrFk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youtu.be/VgYTBNgKG3w" TargetMode="External"/><Relationship Id="rId5" Type="http://schemas.openxmlformats.org/officeDocument/2006/relationships/hyperlink" Target="https://youtu.be/rMDQVIe6zds" TargetMode="External"/><Relationship Id="rId4" Type="http://schemas.openxmlformats.org/officeDocument/2006/relationships/hyperlink" Target="https://youtu.be/bic4qOuIJoI" TargetMode="External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08037"/>
            <a:ext cx="9935818" cy="26820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0" y="31108"/>
            <a:ext cx="12329160" cy="84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10249" tIns="110249" rIns="110249" bIns="110249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eaLnBrk="0" hangingPunct="0">
              <a:defRPr sz="2800" b="1">
                <a:solidFill>
                  <a:srgbClr val="205595"/>
                </a:solidFill>
                <a:latin typeface="Arial"/>
                <a:ea typeface="+mj-ea"/>
                <a:cs typeface="Arial"/>
              </a:defRPr>
            </a:lvl1pPr>
            <a:lvl2pPr algn="ctr" eaLnBrk="0" hangingPunct="0">
              <a:defRPr sz="4400">
                <a:latin typeface="Calibri" pitchFamily="34" charset="0"/>
              </a:defRPr>
            </a:lvl2pPr>
            <a:lvl3pPr algn="ctr" eaLnBrk="0" hangingPunct="0">
              <a:defRPr sz="4400">
                <a:latin typeface="Calibri" pitchFamily="34" charset="0"/>
              </a:defRPr>
            </a:lvl3pPr>
            <a:lvl4pPr algn="ctr" eaLnBrk="0" hangingPunct="0">
              <a:defRPr sz="4400">
                <a:latin typeface="Calibri" pitchFamily="34" charset="0"/>
              </a:defRPr>
            </a:lvl4pPr>
            <a:lvl5pPr algn="ctr" eaLnBrk="0" hangingPunct="0">
              <a:defRPr sz="4400">
                <a:latin typeface="Calibri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9pPr>
          </a:lstStyle>
          <a:p>
            <a:pPr>
              <a:buSzPct val="120000"/>
            </a:pPr>
            <a:r>
              <a:rPr lang="en-US" altLang="en-US" sz="3500" dirty="0">
                <a:solidFill>
                  <a:schemeClr val="tx1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Case Discussion</a:t>
            </a:r>
          </a:p>
        </p:txBody>
      </p:sp>
      <p:sp>
        <p:nvSpPr>
          <p:cNvPr id="21" name="Content Placeholder 2"/>
          <p:cNvSpPr txBox="1">
            <a:spLocks/>
          </p:cNvSpPr>
          <p:nvPr/>
        </p:nvSpPr>
        <p:spPr bwMode="auto">
          <a:xfrm>
            <a:off x="228600" y="930535"/>
            <a:ext cx="11963400" cy="1524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FF"/>
                </a:solidFill>
                <a:latin typeface="Segoe UI Light" panose="020B0502040204020203" pitchFamily="34" charset="0"/>
              </a:rPr>
              <a:t>Mr. X had a bad day </a:t>
            </a:r>
            <a:r>
              <a:rPr lang="en-US" sz="1600" dirty="0">
                <a:solidFill>
                  <a:srgbClr val="0000FF"/>
                </a:solidFill>
                <a:latin typeface="Segoe UI Light" panose="020B0502040204020203" pitchFamily="34" charset="0"/>
                <a:sym typeface="Wingdings" panose="05000000000000000000" pitchFamily="2" charset="2"/>
              </a:rPr>
              <a:t></a:t>
            </a:r>
            <a:endParaRPr lang="en-US" sz="1600" dirty="0">
              <a:solidFill>
                <a:srgbClr val="0000FF"/>
              </a:solidFill>
              <a:latin typeface="Segoe UI Light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FF"/>
                </a:solidFill>
                <a:latin typeface="Segoe UI Light" panose="020B0502040204020203" pitchFamily="34" charset="0"/>
              </a:rPr>
              <a:t>After a long day work, Mr. X realized he had a worst day !</a:t>
            </a:r>
          </a:p>
          <a:p>
            <a:pPr>
              <a:lnSpc>
                <a:spcPct val="150000"/>
              </a:lnSpc>
            </a:pPr>
            <a:endParaRPr lang="en-US" sz="1600" dirty="0">
              <a:solidFill>
                <a:srgbClr val="0000FF"/>
              </a:solidFill>
              <a:latin typeface="Segoe UI Light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FF"/>
                </a:solidFill>
                <a:latin typeface="Segoe UI Light" panose="020B0502040204020203" pitchFamily="34" charset="0"/>
              </a:rPr>
              <a:t>He is driving back to home. He lives in a Villa in a gated community.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FF"/>
                </a:solidFill>
                <a:latin typeface="Segoe UI Light" panose="020B0502040204020203" pitchFamily="34" charset="0"/>
              </a:rPr>
              <a:t>Before taking a turn to his home he hits the flowerpot and fences of the neighborer.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FF"/>
                </a:solidFill>
                <a:latin typeface="Segoe UI Light" panose="020B0502040204020203" pitchFamily="34" charset="0"/>
              </a:rPr>
              <a:t>He himself also happens to get bodily injury, bruises on his arms.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FF"/>
                </a:solidFill>
                <a:latin typeface="Segoe UI Light" panose="020B0502040204020203" pitchFamily="34" charset="0"/>
              </a:rPr>
              <a:t>Once at his villa boundary, He Opens the campus gate, drives on walkthrough pavement,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FF"/>
                </a:solidFill>
                <a:latin typeface="Segoe UI Light" panose="020B0502040204020203" pitchFamily="34" charset="0"/>
              </a:rPr>
              <a:t>parks the Car. He was rubbing the fresh bruise and happens to hits the Kennel.</a:t>
            </a:r>
          </a:p>
          <a:p>
            <a:pPr>
              <a:lnSpc>
                <a:spcPct val="150000"/>
              </a:lnSpc>
            </a:pPr>
            <a:endParaRPr lang="en-US" sz="1600" dirty="0">
              <a:solidFill>
                <a:srgbClr val="0000FF"/>
              </a:solidFill>
              <a:latin typeface="Segoe UI Light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FF"/>
                </a:solidFill>
                <a:latin typeface="Segoe UI Light" panose="020B0502040204020203" pitchFamily="34" charset="0"/>
              </a:rPr>
              <a:t>Gets in the home and prepares  some coffee and relaxes to watch TV.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FF"/>
                </a:solidFill>
                <a:latin typeface="Segoe UI Light" panose="020B0502040204020203" pitchFamily="34" charset="0"/>
              </a:rPr>
              <a:t>The coffee spills over the costly painting kept there….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FF"/>
                </a:solidFill>
                <a:latin typeface="Segoe UI Light" panose="020B0502040204020203" pitchFamily="34" charset="0"/>
              </a:rPr>
              <a:t>To change his mood and get some fresh air he moves in the attached balcony.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FF"/>
                </a:solidFill>
                <a:latin typeface="Segoe UI Light" panose="020B0502040204020203" pitchFamily="34" charset="0"/>
              </a:rPr>
              <a:t>Looks at the flowers and flowerpots kept in the terrace.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FF"/>
                </a:solidFill>
                <a:latin typeface="Segoe UI Light" panose="020B0502040204020203" pitchFamily="34" charset="0"/>
              </a:rPr>
              <a:t>He leans to pluck a flower; the flowerpot loses balance, and it falls over a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FF"/>
                </a:solidFill>
                <a:latin typeface="Segoe UI Light" panose="020B0502040204020203" pitchFamily="34" charset="0"/>
              </a:rPr>
              <a:t>passing underneath stranger. He bangs his head with frustration.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B050"/>
                </a:solidFill>
                <a:latin typeface="Segoe UI Light" panose="020B0502040204020203" pitchFamily="34" charset="0"/>
              </a:rPr>
              <a:t>Has Home insurance got a solution to his frustration?</a:t>
            </a:r>
          </a:p>
        </p:txBody>
      </p:sp>
      <p:pic>
        <p:nvPicPr>
          <p:cNvPr id="4098" name="Picture 2" descr="http://cdphready.org/wp-content/uploads/2015/02/Discussion-Round-Table_small-1170x780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4242" y="1493837"/>
            <a:ext cx="4294918" cy="489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3981870"/>
      </p:ext>
    </p:extLst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08037"/>
            <a:ext cx="9935818" cy="26820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4491" y="66277"/>
            <a:ext cx="12329160" cy="84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10249" tIns="110249" rIns="110249" bIns="110249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eaLnBrk="0" hangingPunct="0">
              <a:defRPr sz="2800" b="1">
                <a:solidFill>
                  <a:srgbClr val="205595"/>
                </a:solidFill>
                <a:latin typeface="Arial"/>
                <a:ea typeface="+mj-ea"/>
                <a:cs typeface="Arial"/>
              </a:defRPr>
            </a:lvl1pPr>
            <a:lvl2pPr algn="ctr" eaLnBrk="0" hangingPunct="0">
              <a:defRPr sz="4400">
                <a:latin typeface="Calibri" pitchFamily="34" charset="0"/>
              </a:defRPr>
            </a:lvl2pPr>
            <a:lvl3pPr algn="ctr" eaLnBrk="0" hangingPunct="0">
              <a:defRPr sz="4400">
                <a:latin typeface="Calibri" pitchFamily="34" charset="0"/>
              </a:defRPr>
            </a:lvl3pPr>
            <a:lvl4pPr algn="ctr" eaLnBrk="0" hangingPunct="0">
              <a:defRPr sz="4400">
                <a:latin typeface="Calibri" pitchFamily="34" charset="0"/>
              </a:defRPr>
            </a:lvl4pPr>
            <a:lvl5pPr algn="ctr" eaLnBrk="0" hangingPunct="0">
              <a:defRPr sz="4400">
                <a:latin typeface="Calibri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9pPr>
          </a:lstStyle>
          <a:p>
            <a:pPr>
              <a:buSzPct val="120000"/>
            </a:pPr>
            <a:r>
              <a:rPr lang="en-US" altLang="en-US" sz="3500" dirty="0">
                <a:solidFill>
                  <a:schemeClr val="tx1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Role Play</a:t>
            </a:r>
          </a:p>
        </p:txBody>
      </p:sp>
      <p:sp>
        <p:nvSpPr>
          <p:cNvPr id="21" name="Content Placeholder 2"/>
          <p:cNvSpPr txBox="1">
            <a:spLocks/>
          </p:cNvSpPr>
          <p:nvPr/>
        </p:nvSpPr>
        <p:spPr bwMode="auto">
          <a:xfrm>
            <a:off x="1219200" y="1477751"/>
            <a:ext cx="10439400" cy="1524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Segoe UI Light" panose="020B0502040204020203" pitchFamily="34" charset="0"/>
              </a:rPr>
              <a:t>One of the attendees becomes a homeowner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Segoe UI Light" panose="020B0502040204020203" pitchFamily="34" charset="0"/>
              </a:rPr>
              <a:t>Another becomes neighbourer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Segoe UI Light" panose="020B0502040204020203" pitchFamily="34" charset="0"/>
              </a:rPr>
              <a:t>They mesh up with each other as, the one has hit another’s fence.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Segoe UI Light" panose="020B0502040204020203" pitchFamily="34" charset="0"/>
              </a:rPr>
              <a:t>What would be owner’s worry?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Segoe UI Light" panose="020B0502040204020203" pitchFamily="34" charset="0"/>
              </a:rPr>
              <a:t>What would be neighbor's worry?</a:t>
            </a:r>
          </a:p>
          <a:p>
            <a:endParaRPr lang="en-US" dirty="0">
              <a:latin typeface="Segoe UI Light" panose="020B0502040204020203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b="3525"/>
          <a:stretch/>
        </p:blipFill>
        <p:spPr>
          <a:xfrm>
            <a:off x="5943600" y="3603969"/>
            <a:ext cx="5532152" cy="3346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990175"/>
      </p:ext>
    </p:extLst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08037"/>
            <a:ext cx="9935818" cy="26820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0" y="31108"/>
            <a:ext cx="12329160" cy="84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10249" tIns="110249" rIns="110249" bIns="110249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eaLnBrk="0" hangingPunct="0">
              <a:defRPr sz="2800" b="1">
                <a:solidFill>
                  <a:srgbClr val="205595"/>
                </a:solidFill>
                <a:latin typeface="Arial"/>
                <a:ea typeface="+mj-ea"/>
                <a:cs typeface="Arial"/>
              </a:defRPr>
            </a:lvl1pPr>
            <a:lvl2pPr algn="ctr" eaLnBrk="0" hangingPunct="0">
              <a:defRPr sz="4400">
                <a:latin typeface="Calibri" pitchFamily="34" charset="0"/>
              </a:defRPr>
            </a:lvl2pPr>
            <a:lvl3pPr algn="ctr" eaLnBrk="0" hangingPunct="0">
              <a:defRPr sz="4400">
                <a:latin typeface="Calibri" pitchFamily="34" charset="0"/>
              </a:defRPr>
            </a:lvl3pPr>
            <a:lvl4pPr algn="ctr" eaLnBrk="0" hangingPunct="0">
              <a:defRPr sz="4400">
                <a:latin typeface="Calibri" pitchFamily="34" charset="0"/>
              </a:defRPr>
            </a:lvl4pPr>
            <a:lvl5pPr algn="ctr" eaLnBrk="0" hangingPunct="0">
              <a:defRPr sz="4400">
                <a:latin typeface="Calibri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9pPr>
          </a:lstStyle>
          <a:p>
            <a:pPr>
              <a:buSzPct val="120000"/>
            </a:pPr>
            <a:r>
              <a:rPr lang="en-US" altLang="en-US" sz="3500" dirty="0">
                <a:solidFill>
                  <a:schemeClr val="tx1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PL- Homeowners/Renters Program</a:t>
            </a: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381000" y="1853172"/>
            <a:ext cx="7848600" cy="2318084"/>
          </a:xfrm>
          <a:prstGeom prst="rect">
            <a:avLst/>
          </a:prstGeom>
          <a:solidFill>
            <a:srgbClr val="FFFFFF"/>
          </a:solidFill>
          <a:ln>
            <a:miter lim="800000"/>
            <a:headEnd/>
            <a:tailEnd/>
          </a:ln>
        </p:spPr>
        <p:txBody>
          <a:bodyPr/>
          <a:lstStyle/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v"/>
              <a:defRPr/>
            </a:pPr>
            <a:r>
              <a:rPr lang="en-US" sz="1600" dirty="0">
                <a:latin typeface="Segoe UI Light" panose="020B0502040204020203" pitchFamily="34" charset="0"/>
              </a:rPr>
              <a:t>Homeowners Program is designed to provide Insurance protection for Homeowners and Renters.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v"/>
              <a:defRPr/>
            </a:pPr>
            <a:r>
              <a:rPr lang="en-US" sz="1600" dirty="0">
                <a:latin typeface="Segoe UI Light" panose="020B0502040204020203" pitchFamily="34" charset="0"/>
              </a:rPr>
              <a:t>HO Program provides protection for Residence Damage, Personal Property damage, Private Structures damage, Loss of Income and Liability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v"/>
              <a:defRPr/>
            </a:pPr>
            <a:r>
              <a:rPr lang="en-US" sz="1600" dirty="0">
                <a:latin typeface="Segoe UI Light" panose="020B0502040204020203" pitchFamily="34" charset="0"/>
              </a:rPr>
              <a:t>Homeowner's  policy provides coverage for the house, the garage and other structures on the property, as well as personal possessions inside the house such as furniture, appliances and clothing, against a wide variety of perils. The extent of perils covered depends on the type of policy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v"/>
              <a:defRPr/>
            </a:pPr>
            <a:endParaRPr lang="en-US" sz="1600" dirty="0"/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v"/>
              <a:defRPr/>
            </a:pPr>
            <a:endParaRPr lang="en-US" sz="1600" dirty="0"/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v"/>
              <a:defRPr/>
            </a:pPr>
            <a:endParaRPr lang="en-US" sz="1600" dirty="0"/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v"/>
              <a:defRPr/>
            </a:pPr>
            <a:endParaRPr lang="en-US" sz="1600" dirty="0">
              <a:solidFill>
                <a:srgbClr val="0070C0"/>
              </a:solidFill>
              <a:latin typeface="Segoe UI Light" panose="020B0502040204020203" pitchFamily="34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v"/>
              <a:defRPr/>
            </a:pPr>
            <a:endParaRPr lang="en-US" sz="1600" dirty="0">
              <a:solidFill>
                <a:srgbClr val="0070C0"/>
              </a:solidFill>
              <a:latin typeface="Segoe UI Light" panose="020B0502040204020203" pitchFamily="34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v"/>
              <a:defRPr/>
            </a:pPr>
            <a:endParaRPr lang="en-US" sz="1600" dirty="0">
              <a:solidFill>
                <a:srgbClr val="0070C0"/>
              </a:solidFill>
              <a:latin typeface="Segoe UI Light" panose="020B0502040204020203" pitchFamily="34" charset="0"/>
            </a:endParaRPr>
          </a:p>
          <a:p>
            <a:pPr algn="just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defRPr/>
            </a:pPr>
            <a:endParaRPr lang="en-US" sz="1600" dirty="0">
              <a:latin typeface="Segoe UI Light" panose="020B0502040204020203" pitchFamily="34" charset="0"/>
            </a:endParaRPr>
          </a:p>
          <a:p>
            <a:pPr lvl="1" indent="-457200" algn="just">
              <a:lnSpc>
                <a:spcPct val="150000"/>
              </a:lnSpc>
              <a:buClr>
                <a:schemeClr val="tx1"/>
              </a:buClr>
              <a:buSzPct val="80000"/>
              <a:defRPr/>
            </a:pPr>
            <a:endParaRPr lang="en-US" sz="1600" b="1" dirty="0">
              <a:solidFill>
                <a:srgbClr val="C00000"/>
              </a:solidFill>
              <a:latin typeface="Segoe UI Light" panose="020B0502040204020203" pitchFamily="34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v"/>
              <a:defRPr/>
            </a:pPr>
            <a:endParaRPr lang="en-US" sz="1600" dirty="0">
              <a:latin typeface="Segoe UI Light" panose="020B0502040204020203" pitchFamily="34" charset="0"/>
            </a:endParaRPr>
          </a:p>
        </p:txBody>
      </p:sp>
      <p:pic>
        <p:nvPicPr>
          <p:cNvPr id="7170" name="Picture 2" descr="http://www.regencyinsurance.net/img/~www.regencyinsurance.net/Fotolia_HomeinHands16837_L%5B1%5D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2322" y="3012214"/>
            <a:ext cx="3513379" cy="2844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445221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BBAD45-B779-41CE-A42D-A314F43B606D}"/>
              </a:ext>
            </a:extLst>
          </p:cNvPr>
          <p:cNvSpPr txBox="1"/>
          <p:nvPr/>
        </p:nvSpPr>
        <p:spPr>
          <a:xfrm>
            <a:off x="2667000" y="2006384"/>
            <a:ext cx="9448800" cy="399801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00FF"/>
            </a:solidFill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defRPr/>
            </a:pPr>
            <a:endParaRPr lang="en-US" sz="1800" dirty="0">
              <a:solidFill>
                <a:srgbClr val="000000"/>
              </a:solidFill>
              <a:latin typeface="Segoe UI Light" panose="020B0502040204020203" pitchFamily="34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v"/>
              <a:defRPr/>
            </a:pPr>
            <a:r>
              <a:rPr lang="en-US" sz="1800" dirty="0">
                <a:latin typeface="Arial"/>
                <a:cs typeface="Arial"/>
              </a:rPr>
              <a:t>Basic Home Insurance Information- </a:t>
            </a:r>
            <a:r>
              <a:rPr lang="en-US" sz="1800" dirty="0">
                <a:latin typeface="Arial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</a:t>
            </a:r>
            <a:r>
              <a:rPr lang="en-US" dirty="0">
                <a:latin typeface="Arial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bic4qOuIJoI</a:t>
            </a:r>
            <a:endParaRPr lang="en-US" sz="1800" dirty="0"/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v"/>
              <a:defRPr/>
            </a:pPr>
            <a:r>
              <a:rPr lang="en-US" sz="1800" dirty="0"/>
              <a:t>Homeowners Insurance - 8 Types - </a:t>
            </a:r>
            <a:r>
              <a:rPr lang="en-US" sz="1800" dirty="0">
                <a:hlinkClick r:id="rId3"/>
              </a:rPr>
              <a:t>https://youtu.be/QFbkOnErE6A</a:t>
            </a:r>
            <a:endParaRPr lang="en-US" sz="1800" dirty="0">
              <a:solidFill>
                <a:srgbClr val="0070C0"/>
              </a:solidFill>
              <a:latin typeface="Segoe UI Light" panose="020B0502040204020203" pitchFamily="34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v"/>
              <a:defRPr/>
            </a:pPr>
            <a:r>
              <a:rPr lang="en-US" sz="1800" dirty="0"/>
              <a:t>Insurance 101 - Homeowners Coverages   </a:t>
            </a:r>
            <a:r>
              <a:rPr lang="en-US" sz="1800" b="1" dirty="0">
                <a:solidFill>
                  <a:srgbClr val="0070C0"/>
                </a:solidFill>
                <a:latin typeface="Segoe UI Light" panose="020B0502040204020203" pitchFamily="34" charset="0"/>
                <a:hlinkClick r:id="rId2"/>
              </a:rPr>
              <a:t>https://youtu.be/bic4qOuIJoI</a:t>
            </a:r>
            <a:endParaRPr lang="en-US" sz="1800" b="1" dirty="0">
              <a:solidFill>
                <a:srgbClr val="0070C0"/>
              </a:solidFill>
              <a:latin typeface="Segoe UI Light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v"/>
              <a:defRPr/>
            </a:pPr>
            <a:r>
              <a:rPr lang="en-US" sz="1800" dirty="0"/>
              <a:t>What Determines the Cost of Homeowners Insurance? </a:t>
            </a:r>
            <a:r>
              <a:rPr lang="en-US" sz="1800" dirty="0">
                <a:hlinkClick r:id="rId4"/>
              </a:rPr>
              <a:t>https://youtu.be/rMDQVIe6zds</a:t>
            </a:r>
            <a:endParaRPr lang="en-US" sz="1800" dirty="0">
              <a:solidFill>
                <a:srgbClr val="0070C0"/>
              </a:solidFill>
              <a:latin typeface="Segoe UI Light" panose="020B0502040204020203" pitchFamily="34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v"/>
              <a:defRPr/>
            </a:pPr>
            <a:r>
              <a:rPr lang="en-US" dirty="0"/>
              <a:t>R</a:t>
            </a:r>
            <a:r>
              <a:rPr lang="en-US" sz="1800" dirty="0"/>
              <a:t>eplacement cost and market value - </a:t>
            </a:r>
            <a:r>
              <a:rPr lang="en-US" sz="1800" dirty="0">
                <a:hlinkClick r:id="rId5"/>
              </a:rPr>
              <a:t>https://youtu.be/VgYTBNgKG3w</a:t>
            </a:r>
            <a:endParaRPr lang="en-US" sz="1800" dirty="0"/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v"/>
              <a:defRPr/>
            </a:pPr>
            <a:r>
              <a:rPr lang="en-US" sz="1800" dirty="0">
                <a:latin typeface="Arial"/>
                <a:cs typeface="Arial"/>
              </a:rPr>
              <a:t>HO3 vs. HO5 - The Difference- </a:t>
            </a:r>
            <a:r>
              <a:rPr lang="en-US" sz="1800" dirty="0">
                <a:latin typeface="Arial"/>
                <a:cs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</a:t>
            </a:r>
            <a:r>
              <a:rPr lang="en-US" dirty="0">
                <a:latin typeface="Arial"/>
                <a:cs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MsoFGntjbmY</a:t>
            </a:r>
            <a:endParaRPr lang="en-US" sz="1800" dirty="0"/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v"/>
              <a:defRPr/>
            </a:pPr>
            <a:r>
              <a:rPr lang="en-US" sz="1800" b="1" dirty="0">
                <a:solidFill>
                  <a:srgbClr val="800080"/>
                </a:solidFill>
                <a:latin typeface="Segoe UI Light" panose="020B0502040204020203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Detailed explanation</a:t>
            </a:r>
            <a:r>
              <a:rPr lang="en-US" sz="1800" b="1" dirty="0">
                <a:latin typeface="Segoe UI Light" panose="020B0502040204020203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en-US" sz="1800" dirty="0">
                <a:solidFill>
                  <a:srgbClr val="800080"/>
                </a:solidFill>
                <a:latin typeface="Segoe UI Light" panose="020B0502040204020203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https://youtu.be/DJfgVaeQANU</a:t>
            </a:r>
            <a:r>
              <a:rPr lang="en-US" sz="1800" dirty="0">
                <a:solidFill>
                  <a:srgbClr val="0070C0"/>
                </a:solidFill>
                <a:latin typeface="Segoe UI Light" panose="020B0502040204020203" pitchFamily="34" charset="0"/>
              </a:rPr>
              <a:t>,</a:t>
            </a:r>
            <a:r>
              <a:rPr lang="en-US" sz="1800" dirty="0"/>
              <a:t> </a:t>
            </a:r>
          </a:p>
          <a:p>
            <a:pPr>
              <a:spcBef>
                <a:spcPct val="20000"/>
              </a:spcBef>
              <a:buClr>
                <a:schemeClr val="tx1"/>
              </a:buClr>
              <a:defRPr/>
            </a:pPr>
            <a:endParaRPr lang="en-US" sz="1800" dirty="0">
              <a:latin typeface="Segoe UI Ligh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57BA28-B7E3-48B9-84B5-FC9EC4CC57B5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08037"/>
            <a:ext cx="9935818" cy="268206"/>
          </a:xfrm>
          <a:prstGeom prst="rect">
            <a:avLst/>
          </a:prstGeom>
        </p:spPr>
      </p:pic>
      <p:sp>
        <p:nvSpPr>
          <p:cNvPr id="6" name="Callout: Right Arrow 5">
            <a:extLst>
              <a:ext uri="{FF2B5EF4-FFF2-40B4-BE49-F238E27FC236}">
                <a16:creationId xmlns:a16="http://schemas.microsoft.com/office/drawing/2014/main" id="{971C9511-D4A5-47B9-B1D0-48AD5EA0EAA9}"/>
              </a:ext>
            </a:extLst>
          </p:cNvPr>
          <p:cNvSpPr/>
          <p:nvPr/>
        </p:nvSpPr>
        <p:spPr>
          <a:xfrm>
            <a:off x="572904" y="1798636"/>
            <a:ext cx="1790700" cy="4413515"/>
          </a:xfrm>
          <a:prstGeom prst="rightArrowCallout">
            <a:avLst/>
          </a:prstGeom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Visit without fail</a:t>
            </a:r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BBE90D-C6F8-4C70-8495-C4B1EEF932B7}"/>
              </a:ext>
            </a:extLst>
          </p:cNvPr>
          <p:cNvSpPr txBox="1"/>
          <p:nvPr/>
        </p:nvSpPr>
        <p:spPr>
          <a:xfrm>
            <a:off x="-24063" y="231818"/>
            <a:ext cx="12329160" cy="84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10249" tIns="110249" rIns="110249" bIns="110249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eaLnBrk="0" hangingPunct="0">
              <a:defRPr sz="2800" b="1">
                <a:solidFill>
                  <a:srgbClr val="205595"/>
                </a:solidFill>
                <a:latin typeface="Arial"/>
                <a:ea typeface="+mj-ea"/>
                <a:cs typeface="Arial"/>
              </a:defRPr>
            </a:lvl1pPr>
            <a:lvl2pPr algn="ctr" eaLnBrk="0" hangingPunct="0">
              <a:defRPr sz="4400">
                <a:latin typeface="Calibri" pitchFamily="34" charset="0"/>
              </a:defRPr>
            </a:lvl2pPr>
            <a:lvl3pPr algn="ctr" eaLnBrk="0" hangingPunct="0">
              <a:defRPr sz="4400">
                <a:latin typeface="Calibri" pitchFamily="34" charset="0"/>
              </a:defRPr>
            </a:lvl3pPr>
            <a:lvl4pPr algn="ctr" eaLnBrk="0" hangingPunct="0">
              <a:defRPr sz="4400">
                <a:latin typeface="Calibri" pitchFamily="34" charset="0"/>
              </a:defRPr>
            </a:lvl4pPr>
            <a:lvl5pPr algn="ctr" eaLnBrk="0" hangingPunct="0">
              <a:defRPr sz="4400">
                <a:latin typeface="Calibri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9pPr>
          </a:lstStyle>
          <a:p>
            <a:pPr>
              <a:buSzPct val="120000"/>
            </a:pPr>
            <a:r>
              <a:rPr lang="en-US" altLang="en-US" sz="3500" dirty="0">
                <a:solidFill>
                  <a:schemeClr val="tx1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Do Watch…</a:t>
            </a:r>
          </a:p>
        </p:txBody>
      </p:sp>
    </p:spTree>
    <p:extLst>
      <p:ext uri="{BB962C8B-B14F-4D97-AF65-F5344CB8AC3E}">
        <p14:creationId xmlns:p14="http://schemas.microsoft.com/office/powerpoint/2010/main" val="3978384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08037"/>
            <a:ext cx="9935818" cy="26820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5240" y="231818"/>
            <a:ext cx="12329160" cy="84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10249" tIns="110249" rIns="110249" bIns="110249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eaLnBrk="0" hangingPunct="0">
              <a:defRPr sz="2800" b="1">
                <a:solidFill>
                  <a:srgbClr val="205595"/>
                </a:solidFill>
                <a:latin typeface="Arial"/>
                <a:ea typeface="+mj-ea"/>
                <a:cs typeface="Arial"/>
              </a:defRPr>
            </a:lvl1pPr>
            <a:lvl2pPr algn="ctr" eaLnBrk="0" hangingPunct="0">
              <a:defRPr sz="4400">
                <a:latin typeface="Calibri" pitchFamily="34" charset="0"/>
              </a:defRPr>
            </a:lvl2pPr>
            <a:lvl3pPr algn="ctr" eaLnBrk="0" hangingPunct="0">
              <a:defRPr sz="4400">
                <a:latin typeface="Calibri" pitchFamily="34" charset="0"/>
              </a:defRPr>
            </a:lvl3pPr>
            <a:lvl4pPr algn="ctr" eaLnBrk="0" hangingPunct="0">
              <a:defRPr sz="4400">
                <a:latin typeface="Calibri" pitchFamily="34" charset="0"/>
              </a:defRPr>
            </a:lvl4pPr>
            <a:lvl5pPr algn="ctr" eaLnBrk="0" hangingPunct="0">
              <a:defRPr sz="4400">
                <a:latin typeface="Calibri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9pPr>
          </a:lstStyle>
          <a:p>
            <a:pPr>
              <a:buSzPct val="120000"/>
            </a:pPr>
            <a:r>
              <a:rPr lang="en-US" altLang="en-US" sz="3500" dirty="0">
                <a:solidFill>
                  <a:schemeClr val="tx1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Common Homeowners Coverages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29100" y="1293129"/>
            <a:ext cx="3886200" cy="1877110"/>
          </a:xfrm>
          <a:prstGeom prst="roundRect">
            <a:avLst>
              <a:gd name="adj" fmla="val 1047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652039" y="1534074"/>
            <a:ext cx="2448812" cy="13980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v"/>
              <a:defRPr/>
            </a:pPr>
            <a:r>
              <a:rPr lang="en-US" dirty="0">
                <a:latin typeface="Segoe UI Light" panose="020B0502040204020203" pitchFamily="34" charset="0"/>
              </a:rPr>
              <a:t>Property Coverages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v"/>
              <a:defRPr/>
            </a:pPr>
            <a:r>
              <a:rPr lang="en-US" dirty="0">
                <a:latin typeface="Segoe UI Light" panose="020B0502040204020203" pitchFamily="34" charset="0"/>
              </a:rPr>
              <a:t>Liability Coverages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v"/>
              <a:defRPr/>
            </a:pPr>
            <a:r>
              <a:rPr lang="en-US" dirty="0">
                <a:latin typeface="Segoe UI Light" panose="020B0502040204020203" pitchFamily="34" charset="0"/>
              </a:rPr>
              <a:t>Other Coverages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876800" y="3856036"/>
            <a:ext cx="2666999" cy="1800910"/>
          </a:xfrm>
          <a:prstGeom prst="rect">
            <a:avLst/>
          </a:prstGeom>
          <a:ln>
            <a:solidFill>
              <a:srgbClr val="0000FF"/>
            </a:solidFill>
          </a:ln>
        </p:spPr>
      </p:pic>
      <p:pic>
        <p:nvPicPr>
          <p:cNvPr id="9" name="Picture 2" descr="http://www.riskandinsuranceconsultants.com/wp-content/uploads/2013/08/Inflation-Guard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358442" y="3856036"/>
            <a:ext cx="3124201" cy="1800909"/>
          </a:xfrm>
          <a:prstGeom prst="rect">
            <a:avLst/>
          </a:prstGeom>
          <a:noFill/>
          <a:ln>
            <a:solidFill>
              <a:srgbClr val="0000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http://automotorinsure.com/wp-content/uploads/2013/08/car-accident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66800" y="3881908"/>
            <a:ext cx="2919160" cy="1775037"/>
          </a:xfrm>
          <a:prstGeom prst="rect">
            <a:avLst/>
          </a:prstGeom>
          <a:noFill/>
          <a:ln>
            <a:solidFill>
              <a:srgbClr val="0000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0015007"/>
      </p:ext>
    </p:extLst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08037"/>
            <a:ext cx="9935818" cy="26820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0" y="31108"/>
            <a:ext cx="12329160" cy="84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10249" tIns="110249" rIns="110249" bIns="110249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eaLnBrk="0" hangingPunct="0">
              <a:defRPr sz="2800" b="1">
                <a:solidFill>
                  <a:srgbClr val="205595"/>
                </a:solidFill>
                <a:latin typeface="Arial"/>
                <a:ea typeface="+mj-ea"/>
                <a:cs typeface="Arial"/>
              </a:defRPr>
            </a:lvl1pPr>
            <a:lvl2pPr algn="ctr" eaLnBrk="0" hangingPunct="0">
              <a:defRPr sz="4400">
                <a:latin typeface="Calibri" pitchFamily="34" charset="0"/>
              </a:defRPr>
            </a:lvl2pPr>
            <a:lvl3pPr algn="ctr" eaLnBrk="0" hangingPunct="0">
              <a:defRPr sz="4400">
                <a:latin typeface="Calibri" pitchFamily="34" charset="0"/>
              </a:defRPr>
            </a:lvl3pPr>
            <a:lvl4pPr algn="ctr" eaLnBrk="0" hangingPunct="0">
              <a:defRPr sz="4400">
                <a:latin typeface="Calibri" pitchFamily="34" charset="0"/>
              </a:defRPr>
            </a:lvl4pPr>
            <a:lvl5pPr algn="ctr" eaLnBrk="0" hangingPunct="0">
              <a:defRPr sz="4400">
                <a:latin typeface="Calibri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9pPr>
          </a:lstStyle>
          <a:p>
            <a:pPr>
              <a:buSzPct val="120000"/>
            </a:pPr>
            <a:r>
              <a:rPr lang="en-US" altLang="en-US" sz="3500" dirty="0">
                <a:solidFill>
                  <a:schemeClr val="tx1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Property Coverages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057400" y="2027237"/>
            <a:ext cx="6781800" cy="2541269"/>
          </a:xfrm>
          <a:prstGeom prst="roundRect">
            <a:avLst>
              <a:gd name="adj" fmla="val 10471"/>
            </a:avLst>
          </a:prstGeom>
          <a:solidFill>
            <a:srgbClr val="F8E5D0"/>
          </a:solidFill>
          <a:ln w="19050">
            <a:solidFill>
              <a:srgbClr val="0000FF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801153" y="2005770"/>
            <a:ext cx="7014786" cy="2256708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2" indent="-457200">
              <a:lnSpc>
                <a:spcPct val="150000"/>
              </a:lnSpc>
              <a:buClr>
                <a:schemeClr val="tx1"/>
              </a:buClr>
              <a:buSzPct val="80000"/>
              <a:defRPr/>
            </a:pPr>
            <a:r>
              <a:rPr lang="en-US" sz="2400" b="1" dirty="0">
                <a:solidFill>
                  <a:srgbClr val="0000FF"/>
                </a:solidFill>
                <a:latin typeface="Segoe UI Light" panose="020B0502040204020203" pitchFamily="34" charset="0"/>
              </a:rPr>
              <a:t>Property Coverages</a:t>
            </a:r>
          </a:p>
          <a:p>
            <a:pPr marL="1371600" lvl="2" indent="-457200">
              <a:lnSpc>
                <a:spcPct val="150000"/>
              </a:lnSpc>
              <a:buClr>
                <a:schemeClr val="tx1"/>
              </a:buClr>
              <a:buSzPct val="80000"/>
              <a:buFont typeface="Wingdings" pitchFamily="2" charset="2"/>
              <a:buChar char="v"/>
              <a:defRPr/>
            </a:pPr>
            <a:r>
              <a:rPr lang="en-US" dirty="0">
                <a:solidFill>
                  <a:srgbClr val="0000FF"/>
                </a:solidFill>
                <a:latin typeface="Segoe UI Light" panose="020B0502040204020203" pitchFamily="34" charset="0"/>
              </a:rPr>
              <a:t>Cov- A-Dwelling </a:t>
            </a:r>
            <a:r>
              <a:rPr lang="en-US" dirty="0">
                <a:solidFill>
                  <a:srgbClr val="FF0000"/>
                </a:solidFill>
                <a:latin typeface="Segoe UI Light" panose="020B0502040204020203" pitchFamily="34" charset="0"/>
              </a:rPr>
              <a:t>(attached) </a:t>
            </a:r>
          </a:p>
          <a:p>
            <a:pPr marL="1371600" lvl="2" indent="-457200">
              <a:lnSpc>
                <a:spcPct val="150000"/>
              </a:lnSpc>
              <a:buClr>
                <a:schemeClr val="tx1"/>
              </a:buClr>
              <a:buSzPct val="80000"/>
              <a:buFont typeface="Wingdings" pitchFamily="2" charset="2"/>
              <a:buChar char="v"/>
              <a:defRPr/>
            </a:pPr>
            <a:r>
              <a:rPr lang="en-US" dirty="0">
                <a:solidFill>
                  <a:srgbClr val="0000FF"/>
                </a:solidFill>
                <a:latin typeface="Segoe UI Light" panose="020B0502040204020203" pitchFamily="34" charset="0"/>
              </a:rPr>
              <a:t>Cov B- Other Structures (10% of Cov. A limit) </a:t>
            </a:r>
            <a:r>
              <a:rPr lang="en-US" dirty="0">
                <a:solidFill>
                  <a:srgbClr val="FF0000"/>
                </a:solidFill>
                <a:latin typeface="Segoe UI Light" panose="020B0502040204020203" pitchFamily="34" charset="0"/>
              </a:rPr>
              <a:t>(detached)</a:t>
            </a:r>
          </a:p>
          <a:p>
            <a:pPr marL="1371600" lvl="2" indent="-457200">
              <a:lnSpc>
                <a:spcPct val="150000"/>
              </a:lnSpc>
              <a:buClr>
                <a:schemeClr val="tx1"/>
              </a:buClr>
              <a:buSzPct val="80000"/>
              <a:buFont typeface="Wingdings" pitchFamily="2" charset="2"/>
              <a:buChar char="v"/>
              <a:defRPr/>
            </a:pPr>
            <a:r>
              <a:rPr lang="en-US" dirty="0">
                <a:solidFill>
                  <a:srgbClr val="0000FF"/>
                </a:solidFill>
                <a:latin typeface="Segoe UI Light" panose="020B0502040204020203" pitchFamily="34" charset="0"/>
              </a:rPr>
              <a:t>Cov C- Personal  Property ( 50% of Cov A limit)</a:t>
            </a:r>
          </a:p>
          <a:p>
            <a:pPr marL="1371600" lvl="2" indent="-457200">
              <a:lnSpc>
                <a:spcPct val="150000"/>
              </a:lnSpc>
              <a:buClr>
                <a:schemeClr val="tx1"/>
              </a:buClr>
              <a:buSzPct val="80000"/>
              <a:buFont typeface="Wingdings" pitchFamily="2" charset="2"/>
              <a:buChar char="v"/>
              <a:defRPr/>
            </a:pPr>
            <a:r>
              <a:rPr lang="en-US" dirty="0">
                <a:solidFill>
                  <a:srgbClr val="0000FF"/>
                </a:solidFill>
                <a:latin typeface="Segoe UI Light" panose="020B0502040204020203" pitchFamily="34" charset="0"/>
              </a:rPr>
              <a:t>Cov D- Loss of Use ( 30% of Cov A limit)</a:t>
            </a:r>
          </a:p>
        </p:txBody>
      </p:sp>
    </p:spTree>
    <p:extLst>
      <p:ext uri="{BB962C8B-B14F-4D97-AF65-F5344CB8AC3E}">
        <p14:creationId xmlns:p14="http://schemas.microsoft.com/office/powerpoint/2010/main" val="104935489"/>
      </p:ext>
    </p:extLst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08037"/>
            <a:ext cx="9935818" cy="26820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0" y="31108"/>
            <a:ext cx="12329160" cy="84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10249" tIns="110249" rIns="110249" bIns="110249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eaLnBrk="0" hangingPunct="0">
              <a:defRPr sz="2800" b="1">
                <a:solidFill>
                  <a:srgbClr val="205595"/>
                </a:solidFill>
                <a:latin typeface="Arial"/>
                <a:ea typeface="+mj-ea"/>
                <a:cs typeface="Arial"/>
              </a:defRPr>
            </a:lvl1pPr>
            <a:lvl2pPr algn="ctr" eaLnBrk="0" hangingPunct="0">
              <a:defRPr sz="4400">
                <a:latin typeface="Calibri" pitchFamily="34" charset="0"/>
              </a:defRPr>
            </a:lvl2pPr>
            <a:lvl3pPr algn="ctr" eaLnBrk="0" hangingPunct="0">
              <a:defRPr sz="4400">
                <a:latin typeface="Calibri" pitchFamily="34" charset="0"/>
              </a:defRPr>
            </a:lvl3pPr>
            <a:lvl4pPr algn="ctr" eaLnBrk="0" hangingPunct="0">
              <a:defRPr sz="4400">
                <a:latin typeface="Calibri" pitchFamily="34" charset="0"/>
              </a:defRPr>
            </a:lvl4pPr>
            <a:lvl5pPr algn="ctr" eaLnBrk="0" hangingPunct="0">
              <a:defRPr sz="4400">
                <a:latin typeface="Calibri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9pPr>
          </a:lstStyle>
          <a:p>
            <a:pPr>
              <a:buSzPct val="120000"/>
            </a:pPr>
            <a:r>
              <a:rPr lang="en-US" altLang="en-US" sz="3500" dirty="0">
                <a:solidFill>
                  <a:schemeClr val="tx1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Liability Coverages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888561"/>
            <a:ext cx="7776786" cy="2565826"/>
          </a:xfrm>
          <a:prstGeom prst="roundRect">
            <a:avLst>
              <a:gd name="adj" fmla="val 10471"/>
            </a:avLst>
          </a:prstGeom>
          <a:noFill/>
          <a:ln>
            <a:solidFill>
              <a:srgbClr val="0000FF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752600" y="2136195"/>
            <a:ext cx="7929186" cy="184121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2" indent="-457200" algn="just">
              <a:lnSpc>
                <a:spcPct val="150000"/>
              </a:lnSpc>
              <a:buClr>
                <a:srgbClr val="C00000"/>
              </a:buClr>
              <a:buSzPct val="80000"/>
              <a:defRPr/>
            </a:pPr>
            <a:r>
              <a:rPr lang="en-US" sz="2400" b="1" dirty="0">
                <a:solidFill>
                  <a:srgbClr val="0000FF"/>
                </a:solidFill>
                <a:latin typeface="Segoe UI Light" panose="020B0502040204020203" pitchFamily="34" charset="0"/>
              </a:rPr>
              <a:t>Liability Coverages</a:t>
            </a:r>
          </a:p>
          <a:p>
            <a:pPr marL="1262063" lvl="2" indent="-385763" algn="just">
              <a:lnSpc>
                <a:spcPct val="150000"/>
              </a:lnSpc>
              <a:buClr>
                <a:schemeClr val="tx1"/>
              </a:buClr>
              <a:buSzPct val="80000"/>
              <a:buFont typeface="Wingdings" pitchFamily="2" charset="2"/>
              <a:buChar char="v"/>
              <a:defRPr/>
            </a:pPr>
            <a:r>
              <a:rPr lang="en-US" dirty="0">
                <a:solidFill>
                  <a:srgbClr val="0000FF"/>
                </a:solidFill>
                <a:latin typeface="Segoe UI Light" panose="020B0502040204020203" pitchFamily="34" charset="0"/>
              </a:rPr>
              <a:t>Cov E-Personal Liability--- </a:t>
            </a:r>
            <a:r>
              <a:rPr lang="en-US" kern="0" dirty="0">
                <a:solidFill>
                  <a:srgbClr val="0000FF"/>
                </a:solidFill>
                <a:latin typeface="Segoe UI Light" panose="020B0502040204020203" pitchFamily="34" charset="0"/>
              </a:rPr>
              <a:t>for third party BI/ PD claims </a:t>
            </a:r>
            <a:endParaRPr lang="en-US" dirty="0">
              <a:solidFill>
                <a:srgbClr val="0000FF"/>
              </a:solidFill>
              <a:latin typeface="Segoe UI Light" panose="020B0502040204020203" pitchFamily="34" charset="0"/>
            </a:endParaRPr>
          </a:p>
          <a:p>
            <a:pPr marL="1262063" lvl="2" indent="-385763" algn="just">
              <a:lnSpc>
                <a:spcPct val="150000"/>
              </a:lnSpc>
              <a:buClr>
                <a:schemeClr val="tx1"/>
              </a:buClr>
              <a:buSzPct val="80000"/>
              <a:buFont typeface="Wingdings" pitchFamily="2" charset="2"/>
              <a:buChar char="v"/>
              <a:defRPr/>
            </a:pPr>
            <a:r>
              <a:rPr lang="en-US" dirty="0">
                <a:solidFill>
                  <a:srgbClr val="0000FF"/>
                </a:solidFill>
                <a:latin typeface="Segoe UI Light" panose="020B0502040204020203" pitchFamily="34" charset="0"/>
              </a:rPr>
              <a:t>Cov F-Medical Payments to Others---</a:t>
            </a:r>
            <a:r>
              <a:rPr lang="en-US" kern="0" dirty="0">
                <a:solidFill>
                  <a:srgbClr val="0000FF"/>
                </a:solidFill>
                <a:latin typeface="Segoe UI Light" panose="020B0502040204020203" pitchFamily="34" charset="0"/>
              </a:rPr>
              <a:t> medical expenses </a:t>
            </a:r>
          </a:p>
          <a:p>
            <a:pPr marL="1262063" lvl="2" indent="-385763" algn="just">
              <a:lnSpc>
                <a:spcPct val="150000"/>
              </a:lnSpc>
              <a:buClr>
                <a:schemeClr val="tx1"/>
              </a:buClr>
              <a:buSzPct val="80000"/>
              <a:defRPr/>
            </a:pPr>
            <a:r>
              <a:rPr lang="en-US" kern="0" dirty="0">
                <a:solidFill>
                  <a:srgbClr val="0000FF"/>
                </a:solidFill>
                <a:latin typeface="Segoe UI Light" panose="020B0502040204020203" pitchFamily="34" charset="0"/>
              </a:rPr>
              <a:t>         incurred by others</a:t>
            </a:r>
            <a:endParaRPr lang="en-US" dirty="0">
              <a:solidFill>
                <a:srgbClr val="0000FF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693636"/>
      </p:ext>
    </p:extLst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08037"/>
            <a:ext cx="9935818" cy="26820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0" y="31108"/>
            <a:ext cx="12329160" cy="84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10249" tIns="110249" rIns="110249" bIns="110249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eaLnBrk="0" hangingPunct="0">
              <a:defRPr sz="2800" b="1">
                <a:solidFill>
                  <a:srgbClr val="205595"/>
                </a:solidFill>
                <a:latin typeface="Arial"/>
                <a:ea typeface="+mj-ea"/>
                <a:cs typeface="Arial"/>
              </a:defRPr>
            </a:lvl1pPr>
            <a:lvl2pPr algn="ctr" eaLnBrk="0" hangingPunct="0">
              <a:defRPr sz="4400">
                <a:latin typeface="Calibri" pitchFamily="34" charset="0"/>
              </a:defRPr>
            </a:lvl2pPr>
            <a:lvl3pPr algn="ctr" eaLnBrk="0" hangingPunct="0">
              <a:defRPr sz="4400">
                <a:latin typeface="Calibri" pitchFamily="34" charset="0"/>
              </a:defRPr>
            </a:lvl3pPr>
            <a:lvl4pPr algn="ctr" eaLnBrk="0" hangingPunct="0">
              <a:defRPr sz="4400">
                <a:latin typeface="Calibri" pitchFamily="34" charset="0"/>
              </a:defRPr>
            </a:lvl4pPr>
            <a:lvl5pPr algn="ctr" eaLnBrk="0" hangingPunct="0">
              <a:defRPr sz="4400">
                <a:latin typeface="Calibri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9pPr>
          </a:lstStyle>
          <a:p>
            <a:pPr>
              <a:buSzPct val="120000"/>
            </a:pPr>
            <a:r>
              <a:rPr lang="en-US" altLang="en-US" sz="3500" dirty="0">
                <a:solidFill>
                  <a:schemeClr val="tx1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A few Other Coverages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367818"/>
            <a:ext cx="5029200" cy="1981199"/>
          </a:xfrm>
          <a:prstGeom prst="roundRect">
            <a:avLst>
              <a:gd name="adj" fmla="val 10471"/>
            </a:avLst>
          </a:prstGeom>
          <a:solidFill>
            <a:srgbClr val="82EEEB"/>
          </a:solidFill>
          <a:ln>
            <a:solidFill>
              <a:srgbClr val="0000FF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3657600" y="1424587"/>
            <a:ext cx="4419600" cy="184121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lvl="2" indent="-457200">
              <a:lnSpc>
                <a:spcPct val="150000"/>
              </a:lnSpc>
              <a:buClr>
                <a:srgbClr val="C00000"/>
              </a:buClr>
              <a:buSzPct val="80000"/>
              <a:defRPr/>
            </a:pPr>
            <a:r>
              <a:rPr lang="en-US" sz="2400" b="1" dirty="0">
                <a:solidFill>
                  <a:srgbClr val="0000FF"/>
                </a:solidFill>
                <a:latin typeface="Segoe UI Light" panose="020B0502040204020203" pitchFamily="34" charset="0"/>
              </a:rPr>
              <a:t>Other Coverages</a:t>
            </a:r>
          </a:p>
          <a:p>
            <a:pPr marL="1320800" lvl="2" indent="-457200">
              <a:lnSpc>
                <a:spcPct val="150000"/>
              </a:lnSpc>
              <a:buClr>
                <a:schemeClr val="tx1"/>
              </a:buClr>
              <a:buSzPct val="80000"/>
              <a:buFont typeface="Wingdings" pitchFamily="2" charset="2"/>
              <a:buChar char="v"/>
              <a:defRPr/>
            </a:pPr>
            <a:r>
              <a:rPr lang="en-US" dirty="0">
                <a:solidFill>
                  <a:srgbClr val="0000FF"/>
                </a:solidFill>
                <a:latin typeface="Segoe UI Light" panose="020B0502040204020203" pitchFamily="34" charset="0"/>
              </a:rPr>
              <a:t>Scheduled Personal Property</a:t>
            </a:r>
          </a:p>
          <a:p>
            <a:pPr marL="1320800" lvl="2" indent="-457200">
              <a:lnSpc>
                <a:spcPct val="150000"/>
              </a:lnSpc>
              <a:buClr>
                <a:schemeClr val="tx1"/>
              </a:buClr>
              <a:buSzPct val="80000"/>
              <a:buFont typeface="Wingdings" pitchFamily="2" charset="2"/>
              <a:buChar char="v"/>
              <a:defRPr/>
            </a:pPr>
            <a:r>
              <a:rPr lang="en-US" dirty="0">
                <a:solidFill>
                  <a:srgbClr val="0000FF"/>
                </a:solidFill>
                <a:latin typeface="Segoe UI Light" panose="020B0502040204020203" pitchFamily="34" charset="0"/>
              </a:rPr>
              <a:t>Removal of Debris</a:t>
            </a:r>
          </a:p>
          <a:p>
            <a:pPr marL="1320800" lvl="2" indent="-457200">
              <a:lnSpc>
                <a:spcPct val="150000"/>
              </a:lnSpc>
              <a:buClr>
                <a:schemeClr val="tx1"/>
              </a:buClr>
              <a:buSzPct val="80000"/>
              <a:buFont typeface="Wingdings" pitchFamily="2" charset="2"/>
              <a:buChar char="v"/>
              <a:defRPr/>
            </a:pPr>
            <a:r>
              <a:rPr lang="en-US" dirty="0">
                <a:solidFill>
                  <a:srgbClr val="0000FF"/>
                </a:solidFill>
                <a:latin typeface="Segoe UI Light" panose="020B0502040204020203" pitchFamily="34" charset="0"/>
              </a:rPr>
              <a:t>Inflation Guard</a:t>
            </a:r>
          </a:p>
        </p:txBody>
      </p:sp>
      <p:pic>
        <p:nvPicPr>
          <p:cNvPr id="6" name="Picture 2" descr="http://media.defense.gov/2013/Sep/3/2000746823/-1/-1/0/130903-A-CE999-010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65" y="3932237"/>
            <a:ext cx="2819400" cy="1798010"/>
          </a:xfrm>
          <a:prstGeom prst="rect">
            <a:avLst/>
          </a:prstGeom>
          <a:noFill/>
          <a:ln>
            <a:solidFill>
              <a:srgbClr val="0000FF"/>
            </a:solidFill>
          </a:ln>
          <a:scene3d>
            <a:camera prst="orthographicFront"/>
            <a:lightRig rig="threePt" dir="t"/>
          </a:scene3d>
          <a:sp3d>
            <a:bevelT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932237"/>
            <a:ext cx="2597181" cy="1798010"/>
          </a:xfrm>
          <a:prstGeom prst="rect">
            <a:avLst/>
          </a:prstGeom>
          <a:ln>
            <a:solidFill>
              <a:srgbClr val="0000FF"/>
            </a:solidFill>
          </a:ln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1026" name="Picture 2" descr="United Home is proud to announce the launch of its Inflation Guard  Endorsement! - United Home Insurance Co.United Home Insurance Co.">
            <a:extLst>
              <a:ext uri="{FF2B5EF4-FFF2-40B4-BE49-F238E27FC236}">
                <a16:creationId xmlns:a16="http://schemas.microsoft.com/office/drawing/2014/main" id="{1DF45FE7-895F-4186-BAB8-FAE19718F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1950" y="3932237"/>
            <a:ext cx="2819400" cy="1811093"/>
          </a:xfrm>
          <a:prstGeom prst="rect">
            <a:avLst/>
          </a:prstGeom>
          <a:noFill/>
          <a:ln>
            <a:solidFill>
              <a:srgbClr val="0000FF"/>
            </a:solidFill>
          </a:ln>
          <a:scene3d>
            <a:camera prst="orthographicFront"/>
            <a:lightRig rig="threePt" dir="t"/>
          </a:scene3d>
          <a:sp3d>
            <a:bevelT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6282474"/>
      </p:ext>
    </p:extLst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08037"/>
            <a:ext cx="9935818" cy="26820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0" y="31108"/>
            <a:ext cx="12329160" cy="84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10249" tIns="110249" rIns="110249" bIns="110249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eaLnBrk="0" hangingPunct="0">
              <a:defRPr sz="2800" b="1">
                <a:solidFill>
                  <a:srgbClr val="205595"/>
                </a:solidFill>
                <a:latin typeface="Arial"/>
                <a:ea typeface="+mj-ea"/>
                <a:cs typeface="Arial"/>
              </a:defRPr>
            </a:lvl1pPr>
            <a:lvl2pPr algn="ctr" eaLnBrk="0" hangingPunct="0">
              <a:defRPr sz="4400">
                <a:latin typeface="Calibri" pitchFamily="34" charset="0"/>
              </a:defRPr>
            </a:lvl2pPr>
            <a:lvl3pPr algn="ctr" eaLnBrk="0" hangingPunct="0">
              <a:defRPr sz="4400">
                <a:latin typeface="Calibri" pitchFamily="34" charset="0"/>
              </a:defRPr>
            </a:lvl3pPr>
            <a:lvl4pPr algn="ctr" eaLnBrk="0" hangingPunct="0">
              <a:defRPr sz="4400">
                <a:latin typeface="Calibri" pitchFamily="34" charset="0"/>
              </a:defRPr>
            </a:lvl4pPr>
            <a:lvl5pPr algn="ctr" eaLnBrk="0" hangingPunct="0">
              <a:defRPr sz="4400">
                <a:latin typeface="Calibri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9pPr>
          </a:lstStyle>
          <a:p>
            <a:pPr>
              <a:buSzPct val="120000"/>
            </a:pPr>
            <a:r>
              <a:rPr lang="en-US" altLang="en-US" sz="3500" dirty="0">
                <a:solidFill>
                  <a:schemeClr val="tx1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Removal of Debris</a:t>
            </a:r>
          </a:p>
        </p:txBody>
      </p:sp>
      <p:sp>
        <p:nvSpPr>
          <p:cNvPr id="6" name="Rectangle 5"/>
          <p:cNvSpPr txBox="1">
            <a:spLocks noChangeArrowheads="1"/>
          </p:cNvSpPr>
          <p:nvPr/>
        </p:nvSpPr>
        <p:spPr bwMode="auto">
          <a:xfrm>
            <a:off x="228600" y="1233084"/>
            <a:ext cx="11557028" cy="2318084"/>
          </a:xfrm>
          <a:prstGeom prst="rect">
            <a:avLst/>
          </a:prstGeom>
          <a:solidFill>
            <a:srgbClr val="FFFFFF"/>
          </a:solidFill>
          <a:ln>
            <a:miter lim="800000"/>
            <a:headEnd/>
            <a:tailEnd/>
          </a:ln>
        </p:spPr>
        <p:txBody>
          <a:bodyPr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Segoe UI Light" panose="020B0502040204020203" pitchFamily="34" charset="0"/>
              </a:rPr>
              <a:t> Provides reimbursement for clean-up costs associated with damage to a property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Segoe UI Light" panose="020B0502040204020203" pitchFamily="34" charset="0"/>
              </a:rPr>
              <a:t>Typically, only cover debris resulting from an insured peril, such as charred wood 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Segoe UI Light" panose="020B0502040204020203" pitchFamily="34" charset="0"/>
              </a:rPr>
              <a:t>     from a building fire. </a:t>
            </a:r>
          </a:p>
          <a:p>
            <a:pPr>
              <a:lnSpc>
                <a:spcPct val="150000"/>
              </a:lnSpc>
            </a:pPr>
            <a:endParaRPr lang="en-US" dirty="0">
              <a:latin typeface="Segoe UI Light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FF"/>
                </a:solidFill>
                <a:latin typeface="Segoe UI Light" panose="020B0502040204020203" pitchFamily="34" charset="0"/>
              </a:rPr>
              <a:t>It covers the cost of :</a:t>
            </a:r>
          </a:p>
          <a:p>
            <a:pPr marL="406400" lvl="1">
              <a:lnSpc>
                <a:spcPct val="150000"/>
              </a:lnSpc>
            </a:pPr>
            <a:r>
              <a:rPr lang="en-US" dirty="0">
                <a:solidFill>
                  <a:srgbClr val="0000FF"/>
                </a:solidFill>
                <a:latin typeface="Segoe UI Light" panose="020B0502040204020203" pitchFamily="34" charset="0"/>
              </a:rPr>
              <a:t> (1) Removing the debris,	</a:t>
            </a:r>
          </a:p>
          <a:p>
            <a:pPr marL="406400" lvl="1">
              <a:lnSpc>
                <a:spcPct val="150000"/>
              </a:lnSpc>
            </a:pPr>
            <a:r>
              <a:rPr lang="en-US" dirty="0">
                <a:solidFill>
                  <a:srgbClr val="0000FF"/>
                </a:solidFill>
                <a:latin typeface="Segoe UI Light" panose="020B0502040204020203" pitchFamily="34" charset="0"/>
              </a:rPr>
              <a:t> (2) Dismantling or pulling down the damaged parts of the structure, and	</a:t>
            </a:r>
          </a:p>
          <a:p>
            <a:pPr marL="406400" lvl="1">
              <a:lnSpc>
                <a:spcPct val="150000"/>
              </a:lnSpc>
            </a:pPr>
            <a:r>
              <a:rPr lang="en-US" dirty="0">
                <a:solidFill>
                  <a:srgbClr val="0000FF"/>
                </a:solidFill>
                <a:latin typeface="Segoe UI Light" panose="020B0502040204020203" pitchFamily="34" charset="0"/>
              </a:rPr>
              <a:t> (3) Of shoring up the structure. Such costs are usually limited to 5% to 10 % of     </a:t>
            </a:r>
          </a:p>
          <a:p>
            <a:pPr marL="406400" lvl="1">
              <a:lnSpc>
                <a:spcPct val="150000"/>
              </a:lnSpc>
            </a:pPr>
            <a:r>
              <a:rPr lang="en-US" dirty="0">
                <a:solidFill>
                  <a:srgbClr val="0000FF"/>
                </a:solidFill>
                <a:latin typeface="Segoe UI Light" panose="020B0502040204020203" pitchFamily="34" charset="0"/>
              </a:rPr>
              <a:t>      the face amount of a policy.</a:t>
            </a:r>
            <a:br>
              <a:rPr lang="en-US" dirty="0">
                <a:latin typeface="Segoe UI Light" panose="020B0502040204020203" pitchFamily="34" charset="0"/>
              </a:rPr>
            </a:br>
            <a:endParaRPr lang="en-US" dirty="0">
              <a:latin typeface="Segoe UI Light" panose="020B0502040204020203" pitchFamily="34" charset="0"/>
            </a:endParaRPr>
          </a:p>
        </p:txBody>
      </p:sp>
      <p:pic>
        <p:nvPicPr>
          <p:cNvPr id="1026" name="Picture 2" descr="http://media.defense.gov/2013/Sep/3/2000746823/-1/-1/0/130903-A-CE999-010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3559105"/>
            <a:ext cx="3175028" cy="2767973"/>
          </a:xfrm>
          <a:prstGeom prst="rect">
            <a:avLst/>
          </a:prstGeom>
          <a:noFill/>
          <a:ln>
            <a:solidFill>
              <a:srgbClr val="0000FF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387557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08037"/>
            <a:ext cx="9935818" cy="26820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0" y="31108"/>
            <a:ext cx="12329160" cy="84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10249" tIns="110249" rIns="110249" bIns="110249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eaLnBrk="0" hangingPunct="0">
              <a:defRPr sz="2800" b="1">
                <a:solidFill>
                  <a:srgbClr val="205595"/>
                </a:solidFill>
                <a:latin typeface="Arial"/>
                <a:ea typeface="+mj-ea"/>
                <a:cs typeface="Arial"/>
              </a:defRPr>
            </a:lvl1pPr>
            <a:lvl2pPr algn="ctr" eaLnBrk="0" hangingPunct="0">
              <a:defRPr sz="4400">
                <a:latin typeface="Calibri" pitchFamily="34" charset="0"/>
              </a:defRPr>
            </a:lvl2pPr>
            <a:lvl3pPr algn="ctr" eaLnBrk="0" hangingPunct="0">
              <a:defRPr sz="4400">
                <a:latin typeface="Calibri" pitchFamily="34" charset="0"/>
              </a:defRPr>
            </a:lvl3pPr>
            <a:lvl4pPr algn="ctr" eaLnBrk="0" hangingPunct="0">
              <a:defRPr sz="4400">
                <a:latin typeface="Calibri" pitchFamily="34" charset="0"/>
              </a:defRPr>
            </a:lvl4pPr>
            <a:lvl5pPr algn="ctr" eaLnBrk="0" hangingPunct="0">
              <a:defRPr sz="4400">
                <a:latin typeface="Calibri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9pPr>
          </a:lstStyle>
          <a:p>
            <a:pPr>
              <a:buSzPct val="120000"/>
            </a:pPr>
            <a:r>
              <a:rPr lang="en-US" altLang="en-US" sz="3500" dirty="0">
                <a:solidFill>
                  <a:schemeClr val="tx1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What is Scheduled Personal Property?</a:t>
            </a:r>
          </a:p>
        </p:txBody>
      </p:sp>
      <p:sp>
        <p:nvSpPr>
          <p:cNvPr id="6" name="Rectangle 5"/>
          <p:cNvSpPr txBox="1">
            <a:spLocks noChangeArrowheads="1"/>
          </p:cNvSpPr>
          <p:nvPr/>
        </p:nvSpPr>
        <p:spPr bwMode="auto">
          <a:xfrm>
            <a:off x="228600" y="1233084"/>
            <a:ext cx="8610600" cy="2318084"/>
          </a:xfrm>
          <a:prstGeom prst="rect">
            <a:avLst/>
          </a:prstGeom>
          <a:solidFill>
            <a:srgbClr val="FFFFFF"/>
          </a:solidFill>
          <a:ln>
            <a:miter lim="800000"/>
            <a:headEnd/>
            <a:tailEnd/>
          </a:ln>
        </p:spPr>
        <p:txBody>
          <a:bodyPr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Segoe UI Light" panose="020B0502040204020203" pitchFamily="34" charset="0"/>
              </a:rPr>
              <a:t> It's an optional add-on to your homeowner's insurance policy 	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Segoe UI Light" panose="020B0502040204020203" pitchFamily="34" charset="0"/>
              </a:rPr>
              <a:t> Increases the limits on specific high-value items for more protection. 	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Segoe UI Light" panose="020B0502040204020203" pitchFamily="34" charset="0"/>
              </a:rPr>
              <a:t> They are agreed value settlement.</a:t>
            </a:r>
          </a:p>
          <a:p>
            <a:pPr algn="just"/>
            <a:endParaRPr lang="en-US" dirty="0">
              <a:latin typeface="Segoe UI Light" panose="020B0502040204020203" pitchFamily="34" charset="0"/>
            </a:endParaRPr>
          </a:p>
          <a:p>
            <a:pPr algn="just"/>
            <a:r>
              <a:rPr lang="en-US" dirty="0">
                <a:latin typeface="Segoe UI Light" panose="020B0502040204020203" pitchFamily="34" charset="0"/>
              </a:rPr>
              <a:t>Some belongings you might want to consider for scheduled personal </a:t>
            </a:r>
          </a:p>
          <a:p>
            <a:pPr algn="just"/>
            <a:r>
              <a:rPr lang="en-US" dirty="0">
                <a:latin typeface="Segoe UI Light" panose="020B0502040204020203" pitchFamily="34" charset="0"/>
              </a:rPr>
              <a:t>property coverage as 1. Jewelry and furs 2. Art and antiques 3.Stamp or coin collections 4. Musical instruments 5.Expensive cameras</a:t>
            </a:r>
          </a:p>
          <a:p>
            <a:pPr algn="just"/>
            <a:endParaRPr lang="en-US" dirty="0">
              <a:latin typeface="Segoe UI Light" panose="020B0502040204020203" pitchFamily="34" charset="0"/>
            </a:endParaRPr>
          </a:p>
          <a:p>
            <a:pPr algn="just"/>
            <a:r>
              <a:rPr lang="en-US" u="sng" dirty="0">
                <a:solidFill>
                  <a:srgbClr val="0000FF"/>
                </a:solidFill>
                <a:latin typeface="Segoe UI Light" panose="020B0502040204020203" pitchFamily="34" charset="0"/>
              </a:rPr>
              <a:t>The Benefits </a:t>
            </a:r>
            <a:r>
              <a:rPr lang="en-US" u="sng" dirty="0">
                <a:latin typeface="Segoe UI Light" panose="020B0502040204020203" pitchFamily="34" charset="0"/>
              </a:rPr>
              <a:t>of Scheduling Valuables </a:t>
            </a:r>
            <a:r>
              <a:rPr lang="en-US" dirty="0">
                <a:latin typeface="Segoe UI Light" panose="020B0502040204020203" pitchFamily="34" charset="0"/>
              </a:rPr>
              <a:t>( Ex -All State)</a:t>
            </a:r>
          </a:p>
          <a:p>
            <a:pPr algn="just"/>
            <a:r>
              <a:rPr lang="en-US" u="sng" dirty="0">
                <a:solidFill>
                  <a:srgbClr val="0000FF"/>
                </a:solidFill>
                <a:latin typeface="Segoe UI Light" panose="020B0502040204020203" pitchFamily="34" charset="0"/>
              </a:rPr>
              <a:t>1, Broader protection</a:t>
            </a:r>
            <a:r>
              <a:rPr lang="en-US" dirty="0">
                <a:solidFill>
                  <a:srgbClr val="0000FF"/>
                </a:solidFill>
                <a:latin typeface="Segoe UI Light" panose="020B0502040204020203" pitchFamily="34" charset="0"/>
              </a:rPr>
              <a:t>: </a:t>
            </a:r>
            <a:r>
              <a:rPr lang="en-US" dirty="0">
                <a:latin typeface="Segoe UI Light" panose="020B0502040204020203" pitchFamily="34" charset="0"/>
              </a:rPr>
              <a:t>Covered for </a:t>
            </a:r>
            <a:r>
              <a:rPr lang="en-US" i="1" dirty="0">
                <a:latin typeface="Segoe UI Light" panose="020B0502040204020203" pitchFamily="34" charset="0"/>
              </a:rPr>
              <a:t>additional risks</a:t>
            </a:r>
            <a:r>
              <a:rPr lang="en-US" dirty="0">
                <a:latin typeface="Segoe UI Light" panose="020B0502040204020203" pitchFamily="34" charset="0"/>
              </a:rPr>
              <a:t>, including accidental loss (like dropping your wedding ring down the drain), breakage and mysterious disappearance which typically isn't something covered by a standard homeowner's policy.</a:t>
            </a:r>
          </a:p>
          <a:p>
            <a:pPr algn="just"/>
            <a:endParaRPr lang="en-US" dirty="0">
              <a:latin typeface="Segoe UI Light" panose="020B0502040204020203" pitchFamily="34" charset="0"/>
            </a:endParaRPr>
          </a:p>
          <a:p>
            <a:pPr algn="just"/>
            <a:r>
              <a:rPr lang="en-US" u="sng" dirty="0">
                <a:solidFill>
                  <a:srgbClr val="0000FF"/>
                </a:solidFill>
                <a:latin typeface="Segoe UI Light" panose="020B0502040204020203" pitchFamily="34" charset="0"/>
              </a:rPr>
              <a:t>2, No deductible. </a:t>
            </a:r>
            <a:r>
              <a:rPr lang="en-US" dirty="0">
                <a:latin typeface="Segoe UI Light" panose="020B0502040204020203" pitchFamily="34" charset="0"/>
              </a:rPr>
              <a:t>When you have a claim on an item that you have scheduled, you're usually not required to pay a deductible. That may not be the case for other belongings that fall under the protection of personal 	</a:t>
            </a:r>
          </a:p>
          <a:p>
            <a:pPr algn="just"/>
            <a:r>
              <a:rPr lang="en-US" dirty="0">
                <a:latin typeface="Segoe UI Light" panose="020B0502040204020203" pitchFamily="34" charset="0"/>
              </a:rPr>
              <a:t>property coverage on your standard policy.</a:t>
            </a:r>
          </a:p>
          <a:p>
            <a:pPr algn="just"/>
            <a:endParaRPr lang="en-US" dirty="0">
              <a:latin typeface="Segoe UI Light" panose="020B0502040204020203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0200" y="3779837"/>
            <a:ext cx="2819400" cy="2163764"/>
          </a:xfrm>
          <a:prstGeom prst="rect">
            <a:avLst/>
          </a:prstGeom>
          <a:ln>
            <a:solidFill>
              <a:srgbClr val="0000FF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</p:pic>
    </p:spTree>
    <p:extLst>
      <p:ext uri="{BB962C8B-B14F-4D97-AF65-F5344CB8AC3E}">
        <p14:creationId xmlns:p14="http://schemas.microsoft.com/office/powerpoint/2010/main" val="399775450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08037"/>
            <a:ext cx="9935818" cy="26820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0" y="31108"/>
            <a:ext cx="12329160" cy="84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10249" tIns="110249" rIns="110249" bIns="110249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eaLnBrk="0" hangingPunct="0">
              <a:defRPr sz="2800" b="1">
                <a:solidFill>
                  <a:srgbClr val="205595"/>
                </a:solidFill>
                <a:latin typeface="Arial"/>
                <a:ea typeface="+mj-ea"/>
                <a:cs typeface="Arial"/>
              </a:defRPr>
            </a:lvl1pPr>
            <a:lvl2pPr algn="ctr" eaLnBrk="0" hangingPunct="0">
              <a:defRPr sz="4400">
                <a:latin typeface="Calibri" pitchFamily="34" charset="0"/>
              </a:defRPr>
            </a:lvl2pPr>
            <a:lvl3pPr algn="ctr" eaLnBrk="0" hangingPunct="0">
              <a:defRPr sz="4400">
                <a:latin typeface="Calibri" pitchFamily="34" charset="0"/>
              </a:defRPr>
            </a:lvl3pPr>
            <a:lvl4pPr algn="ctr" eaLnBrk="0" hangingPunct="0">
              <a:defRPr sz="4400">
                <a:latin typeface="Calibri" pitchFamily="34" charset="0"/>
              </a:defRPr>
            </a:lvl4pPr>
            <a:lvl5pPr algn="ctr" eaLnBrk="0" hangingPunct="0">
              <a:defRPr sz="4400">
                <a:latin typeface="Calibri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9pPr>
          </a:lstStyle>
          <a:p>
            <a:pPr>
              <a:buSzPct val="120000"/>
            </a:pPr>
            <a:r>
              <a:rPr lang="en-US" altLang="en-US" sz="3500" dirty="0">
                <a:solidFill>
                  <a:schemeClr val="tx1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Inflation Guard</a:t>
            </a:r>
          </a:p>
        </p:txBody>
      </p:sp>
      <p:sp>
        <p:nvSpPr>
          <p:cNvPr id="6" name="Rectangle 5"/>
          <p:cNvSpPr txBox="1">
            <a:spLocks noChangeArrowheads="1"/>
          </p:cNvSpPr>
          <p:nvPr/>
        </p:nvSpPr>
        <p:spPr bwMode="auto">
          <a:xfrm>
            <a:off x="228600" y="1233084"/>
            <a:ext cx="8698832" cy="2318084"/>
          </a:xfrm>
          <a:prstGeom prst="rect">
            <a:avLst/>
          </a:prstGeom>
          <a:solidFill>
            <a:srgbClr val="FFFFFF"/>
          </a:solidFill>
          <a:ln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Segoe UI Light" panose="020B0502040204020203" pitchFamily="34" charset="0"/>
              </a:rPr>
              <a:t>Inflation guard provision: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Segoe UI Light" panose="020B0502040204020203" pitchFamily="34" charset="0"/>
              </a:rPr>
              <a:t>Insurance that intermittently increases in value in order to keep a realistic amount of coverage, due to the rapidly inflating cost of building materials.</a:t>
            </a:r>
            <a:br>
              <a:rPr lang="en-US" dirty="0">
                <a:latin typeface="Segoe UI Light" panose="020B0502040204020203" pitchFamily="34" charset="0"/>
              </a:rPr>
            </a:br>
            <a:r>
              <a:rPr lang="en-US" dirty="0">
                <a:latin typeface="Segoe UI Light" panose="020B0502040204020203" pitchFamily="34" charset="0"/>
              </a:rPr>
              <a:t>Its an optional endorsement that :</a:t>
            </a:r>
          </a:p>
          <a:p>
            <a:pPr marL="623888" indent="-276225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0000FF"/>
                </a:solidFill>
                <a:latin typeface="Segoe UI Light" panose="020B0502040204020203" pitchFamily="34" charset="0"/>
              </a:rPr>
              <a:t>Protects the rebuilding cost of your home. </a:t>
            </a:r>
          </a:p>
          <a:p>
            <a:pPr marL="623888" indent="-276225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0000FF"/>
                </a:solidFill>
                <a:latin typeface="Segoe UI Light" panose="020B0502040204020203" pitchFamily="34" charset="0"/>
              </a:rPr>
              <a:t>Automatically increases the amount of insurance on your home. </a:t>
            </a:r>
          </a:p>
          <a:p>
            <a:pPr marL="623888" indent="-276225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0000FF"/>
                </a:solidFill>
                <a:latin typeface="Segoe UI Light" panose="020B0502040204020203" pitchFamily="34" charset="0"/>
              </a:rPr>
              <a:t>Increases a certain percentage each year to account for the disparity caused by inflation.</a:t>
            </a:r>
          </a:p>
          <a:p>
            <a:pPr marL="623888" indent="14288">
              <a:lnSpc>
                <a:spcPct val="150000"/>
              </a:lnSpc>
            </a:pPr>
            <a:r>
              <a:rPr lang="en-US" dirty="0">
                <a:latin typeface="Segoe UI Light" panose="020B0502040204020203" pitchFamily="34" charset="0"/>
              </a:rPr>
              <a:t>It’s a provision that gradually and continuously increases the limit of insurance by a specified percentage over a specified time period (such as 3 percent every 3 months)</a:t>
            </a:r>
          </a:p>
          <a:p>
            <a:pPr>
              <a:lnSpc>
                <a:spcPct val="150000"/>
              </a:lnSpc>
            </a:pPr>
            <a:endParaRPr lang="en-US" dirty="0">
              <a:latin typeface="Segoe UI Light" panose="020B0502040204020203" pitchFamily="34" charset="0"/>
            </a:endParaRPr>
          </a:p>
        </p:txBody>
      </p:sp>
      <p:pic>
        <p:nvPicPr>
          <p:cNvPr id="7" name="Picture 2" descr="United Home is proud to announce the launch of its Inflation Guard  Endorsement! - United Home Insurance Co.United Home Insurance Co.">
            <a:extLst>
              <a:ext uri="{FF2B5EF4-FFF2-40B4-BE49-F238E27FC236}">
                <a16:creationId xmlns:a16="http://schemas.microsoft.com/office/drawing/2014/main" id="{23840AFB-1A30-4165-990D-FDAC7420E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800" y="3017837"/>
            <a:ext cx="2971800" cy="2039693"/>
          </a:xfrm>
          <a:prstGeom prst="rect">
            <a:avLst/>
          </a:prstGeom>
          <a:noFill/>
          <a:ln>
            <a:solidFill>
              <a:srgbClr val="0000FF"/>
            </a:solidFill>
          </a:ln>
          <a:scene3d>
            <a:camera prst="orthographicFront"/>
            <a:lightRig rig="threePt" dir="t"/>
          </a:scene3d>
          <a:sp3d>
            <a:bevelT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379245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BBAD45-B779-41CE-A42D-A314F43B606D}"/>
              </a:ext>
            </a:extLst>
          </p:cNvPr>
          <p:cNvSpPr txBox="1"/>
          <p:nvPr/>
        </p:nvSpPr>
        <p:spPr>
          <a:xfrm>
            <a:off x="2514600" y="2006384"/>
            <a:ext cx="9448800" cy="399801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00FF"/>
            </a:solidFill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defRPr/>
            </a:pPr>
            <a:endParaRPr lang="en-US" sz="1800" dirty="0">
              <a:solidFill>
                <a:srgbClr val="000000"/>
              </a:solidFill>
              <a:latin typeface="Segoe UI Light" panose="020B0502040204020203" pitchFamily="34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v"/>
              <a:defRPr/>
            </a:pPr>
            <a:r>
              <a:rPr lang="en-US" sz="1800" dirty="0"/>
              <a:t>Basic Home Insurance Information- </a:t>
            </a:r>
            <a:r>
              <a:rPr lang="en-US" sz="1800" dirty="0">
                <a:hlinkClick r:id="rId2"/>
              </a:rPr>
              <a:t>https://youtu.be/2LC8OaePrFk</a:t>
            </a:r>
            <a:endParaRPr lang="en-US" sz="1800" dirty="0"/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v"/>
              <a:defRPr/>
            </a:pPr>
            <a:r>
              <a:rPr lang="en-US" sz="1800" dirty="0"/>
              <a:t>Homeowners Insurance - 8 Types - </a:t>
            </a:r>
            <a:r>
              <a:rPr lang="en-US" sz="1800" dirty="0">
                <a:hlinkClick r:id="rId3"/>
              </a:rPr>
              <a:t>https://youtu.be/QFbkOnErE6A</a:t>
            </a:r>
            <a:endParaRPr lang="en-US" sz="1800" dirty="0">
              <a:solidFill>
                <a:srgbClr val="0070C0"/>
              </a:solidFill>
              <a:latin typeface="Segoe UI Light" panose="020B0502040204020203" pitchFamily="34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v"/>
              <a:defRPr/>
            </a:pPr>
            <a:r>
              <a:rPr lang="en-US" sz="1800" dirty="0"/>
              <a:t>Insurance 101 - Homeowners Coverages   </a:t>
            </a:r>
            <a:r>
              <a:rPr lang="en-US" sz="1800" b="1" dirty="0">
                <a:solidFill>
                  <a:srgbClr val="0070C0"/>
                </a:solidFill>
                <a:latin typeface="Segoe UI Light" panose="020B0502040204020203" pitchFamily="34" charset="0"/>
                <a:hlinkClick r:id="rId4"/>
              </a:rPr>
              <a:t>https://youtu.be/bic4qOuIJoI</a:t>
            </a:r>
            <a:endParaRPr lang="en-US" sz="1800" b="1" dirty="0">
              <a:solidFill>
                <a:srgbClr val="0070C0"/>
              </a:solidFill>
              <a:latin typeface="Segoe UI Light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v"/>
              <a:defRPr/>
            </a:pPr>
            <a:r>
              <a:rPr lang="en-US" sz="1800" dirty="0"/>
              <a:t>What Determines the Cost of Homeowners Insurance? </a:t>
            </a:r>
            <a:r>
              <a:rPr lang="en-US" sz="1800" dirty="0">
                <a:hlinkClick r:id="rId5"/>
              </a:rPr>
              <a:t>https://youtu.be/rMDQVIe6zds</a:t>
            </a:r>
            <a:endParaRPr lang="en-US" sz="1800" dirty="0">
              <a:solidFill>
                <a:srgbClr val="0070C0"/>
              </a:solidFill>
              <a:latin typeface="Segoe UI Light" panose="020B0502040204020203" pitchFamily="34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v"/>
              <a:defRPr/>
            </a:pPr>
            <a:r>
              <a:rPr lang="en-US" dirty="0"/>
              <a:t>R</a:t>
            </a:r>
            <a:r>
              <a:rPr lang="en-US" sz="1800" dirty="0"/>
              <a:t>eplacement cost and market value - </a:t>
            </a:r>
            <a:r>
              <a:rPr lang="en-US" sz="1800" dirty="0">
                <a:hlinkClick r:id="rId6"/>
              </a:rPr>
              <a:t>https://youtu.be/VgYTBNgKG3w</a:t>
            </a:r>
            <a:endParaRPr lang="en-US" sz="1800" dirty="0"/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v"/>
              <a:defRPr/>
            </a:pPr>
            <a:r>
              <a:rPr lang="en-US" sz="1800" dirty="0"/>
              <a:t>HO3 vs. HO5 - The Difference- </a:t>
            </a:r>
            <a:r>
              <a:rPr lang="en-US" sz="1800" dirty="0">
                <a:hlinkClick r:id="rId7"/>
              </a:rPr>
              <a:t>https://youtu.be/mKVYW5nAGxA</a:t>
            </a:r>
            <a:endParaRPr lang="en-US" sz="1800" dirty="0"/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v"/>
              <a:defRPr/>
            </a:pPr>
            <a:r>
              <a:rPr lang="en-US" sz="1800" b="1" dirty="0">
                <a:solidFill>
                  <a:srgbClr val="800080"/>
                </a:solidFill>
                <a:latin typeface="Segoe UI Light" panose="020B0502040204020203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Detailed explanation</a:t>
            </a:r>
            <a:r>
              <a:rPr lang="en-US" sz="1800" b="1" dirty="0">
                <a:latin typeface="Segoe UI Light" panose="020B0502040204020203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en-US" sz="1800" dirty="0">
                <a:solidFill>
                  <a:srgbClr val="800080"/>
                </a:solidFill>
                <a:latin typeface="Segoe UI Light" panose="020B0502040204020203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https://youtu.be/DJfgVaeQANU</a:t>
            </a:r>
            <a:r>
              <a:rPr lang="en-US" sz="1800" dirty="0">
                <a:solidFill>
                  <a:srgbClr val="0070C0"/>
                </a:solidFill>
                <a:latin typeface="Segoe UI Light" panose="020B0502040204020203" pitchFamily="34" charset="0"/>
              </a:rPr>
              <a:t>,</a:t>
            </a:r>
            <a:r>
              <a:rPr lang="en-US" sz="1800" dirty="0"/>
              <a:t> </a:t>
            </a:r>
          </a:p>
          <a:p>
            <a:pPr>
              <a:spcBef>
                <a:spcPct val="20000"/>
              </a:spcBef>
              <a:buClr>
                <a:schemeClr val="tx1"/>
              </a:buClr>
              <a:defRPr/>
            </a:pPr>
            <a:endParaRPr lang="en-US" sz="1800" dirty="0">
              <a:latin typeface="Segoe UI Ligh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57BA28-B7E3-48B9-84B5-FC9EC4CC57B5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08037"/>
            <a:ext cx="9935818" cy="268206"/>
          </a:xfrm>
          <a:prstGeom prst="rect">
            <a:avLst/>
          </a:prstGeom>
        </p:spPr>
      </p:pic>
      <p:sp>
        <p:nvSpPr>
          <p:cNvPr id="6" name="Callout: Right Arrow 5">
            <a:extLst>
              <a:ext uri="{FF2B5EF4-FFF2-40B4-BE49-F238E27FC236}">
                <a16:creationId xmlns:a16="http://schemas.microsoft.com/office/drawing/2014/main" id="{971C9511-D4A5-47B9-B1D0-48AD5EA0EAA9}"/>
              </a:ext>
            </a:extLst>
          </p:cNvPr>
          <p:cNvSpPr/>
          <p:nvPr/>
        </p:nvSpPr>
        <p:spPr>
          <a:xfrm>
            <a:off x="572904" y="1798636"/>
            <a:ext cx="1790700" cy="4413515"/>
          </a:xfrm>
          <a:prstGeom prst="rightArrowCallout">
            <a:avLst/>
          </a:prstGeom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Visit without fail</a:t>
            </a:r>
            <a:endParaRPr lang="en-IN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BBE90D-C6F8-4C70-8495-C4B1EEF932B7}"/>
              </a:ext>
            </a:extLst>
          </p:cNvPr>
          <p:cNvSpPr txBox="1"/>
          <p:nvPr/>
        </p:nvSpPr>
        <p:spPr>
          <a:xfrm>
            <a:off x="-24063" y="231818"/>
            <a:ext cx="12329160" cy="84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10249" tIns="110249" rIns="110249" bIns="110249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eaLnBrk="0" hangingPunct="0">
              <a:defRPr sz="2800" b="1">
                <a:solidFill>
                  <a:srgbClr val="205595"/>
                </a:solidFill>
                <a:latin typeface="Arial"/>
                <a:ea typeface="+mj-ea"/>
                <a:cs typeface="Arial"/>
              </a:defRPr>
            </a:lvl1pPr>
            <a:lvl2pPr algn="ctr" eaLnBrk="0" hangingPunct="0">
              <a:defRPr sz="4400">
                <a:latin typeface="Calibri" pitchFamily="34" charset="0"/>
              </a:defRPr>
            </a:lvl2pPr>
            <a:lvl3pPr algn="ctr" eaLnBrk="0" hangingPunct="0">
              <a:defRPr sz="4400">
                <a:latin typeface="Calibri" pitchFamily="34" charset="0"/>
              </a:defRPr>
            </a:lvl3pPr>
            <a:lvl4pPr algn="ctr" eaLnBrk="0" hangingPunct="0">
              <a:defRPr sz="4400">
                <a:latin typeface="Calibri" pitchFamily="34" charset="0"/>
              </a:defRPr>
            </a:lvl4pPr>
            <a:lvl5pPr algn="ctr" eaLnBrk="0" hangingPunct="0">
              <a:defRPr sz="4400">
                <a:latin typeface="Calibri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latin typeface="Calibri" pitchFamily="34" charset="0"/>
              </a:defRPr>
            </a:lvl9pPr>
          </a:lstStyle>
          <a:p>
            <a:pPr>
              <a:buSzPct val="120000"/>
            </a:pPr>
            <a:r>
              <a:rPr lang="en-US" altLang="en-US" sz="3500" dirty="0">
                <a:solidFill>
                  <a:schemeClr val="tx1"/>
                </a:solidFill>
                <a:latin typeface="Segoe UI Semibold" panose="020B0702040204020203" pitchFamily="34" charset="0"/>
                <a:cs typeface="BrowalliaUPC" panose="020B0604020202020204" pitchFamily="34" charset="-34"/>
              </a:rPr>
              <a:t>Do Watch…</a:t>
            </a:r>
          </a:p>
        </p:txBody>
      </p:sp>
    </p:spTree>
    <p:extLst>
      <p:ext uri="{BB962C8B-B14F-4D97-AF65-F5344CB8AC3E}">
        <p14:creationId xmlns:p14="http://schemas.microsoft.com/office/powerpoint/2010/main" val="3315185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Template 2016" id="{90BAF895-86B6-4C60-9208-C4F858343066}" vid="{7154B3E6-577F-4162-B9F9-6A81BF94E4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VIKI New Document" ma:contentTypeID="0x010100F7548365F7A28B41B9A685ED46C1AC26001AB29883D45E2C4E9CA6FE95A9034FC3" ma:contentTypeVersion="5" ma:contentTypeDescription="" ma:contentTypeScope="" ma:versionID="bc1a5864616262670162eb204ab13928">
  <xsd:schema xmlns:xsd="http://www.w3.org/2001/XMLSchema" xmlns:xs="http://www.w3.org/2001/XMLSchema" xmlns:p="http://schemas.microsoft.com/office/2006/metadata/properties" xmlns:ns2="09339d3a-aaa0-497d-ae73-d8a5832d420d" targetNamespace="http://schemas.microsoft.com/office/2006/metadata/properties" ma:root="true" ma:fieldsID="86592b75fc3d2fa65ab3e34efd39cedb" ns2:_="">
    <xsd:import namespace="09339d3a-aaa0-497d-ae73-d8a5832d420d"/>
    <xsd:element name="properties">
      <xsd:complexType>
        <xsd:sequence>
          <xsd:element name="documentManagement">
            <xsd:complexType>
              <xsd:all>
                <xsd:element ref="ns2:Classification"/>
                <xsd:element ref="ns2:Contributors"/>
                <xsd:element ref="ns2:Departments"/>
                <xsd:element ref="ns2:SubCategory"/>
                <xsd:element ref="ns2:Tags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339d3a-aaa0-497d-ae73-d8a5832d420d" elementFormDefault="qualified">
    <xsd:import namespace="http://schemas.microsoft.com/office/2006/documentManagement/types"/>
    <xsd:import namespace="http://schemas.microsoft.com/office/infopath/2007/PartnerControls"/>
    <xsd:element name="Classification" ma:index="8" ma:displayName="Classification" ma:description="Refer Help &gt; Guidelines" ma:format="Dropdown" ma:internalName="Classification">
      <xsd:simpleType>
        <xsd:restriction base="dms:Choice">
          <xsd:enumeration value="Sensitive"/>
          <xsd:enumeration value="Confidential"/>
          <xsd:enumeration value="Internally Restricted"/>
          <xsd:enumeration value="Internal Use"/>
        </xsd:restriction>
      </xsd:simpleType>
    </xsd:element>
    <xsd:element name="Contributors" ma:index="9" ma:displayName="Contributors" ma:list="UserInfo" ma:SharePointGroup="0" ma:internalName="Contributors" ma:showField="Department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epartments" ma:index="10" ma:displayName="Departments" ma:format="Dropdown" ma:internalName="Departments">
      <xsd:simpleType>
        <xsd:restriction base="dms:Choice">
          <xsd:enumeration value="Accounts"/>
          <xsd:enumeration value="Banking"/>
          <xsd:enumeration value="BizDynamics"/>
          <xsd:enumeration value="CCM"/>
          <xsd:enumeration value="Client Services"/>
          <xsd:enumeration value="Core Leverage"/>
          <xsd:enumeration value="Data Leverage"/>
          <xsd:enumeration value="Digital &amp; Cloud"/>
          <xsd:enumeration value="Facilities"/>
          <xsd:enumeration value="Finance"/>
          <xsd:enumeration value="Financial Services"/>
          <xsd:enumeration value="GRC Operations"/>
          <xsd:enumeration value="HR"/>
          <xsd:enumeration value="Insurance Health Care"/>
          <xsd:enumeration value="Insurance Life"/>
          <xsd:enumeration value="Insurance P&amp;C"/>
          <xsd:enumeration value="IT Operations"/>
          <xsd:enumeration value="Learning &amp; Development"/>
          <xsd:enumeration value="Management System"/>
          <xsd:enumeration value="Marketing"/>
          <xsd:enumeration value="Network Operations"/>
          <xsd:enumeration value="Operations"/>
          <xsd:enumeration value="Organization"/>
          <xsd:enumeration value="PMO"/>
          <xsd:enumeration value="Quality Leap"/>
          <xsd:enumeration value="Sales"/>
          <xsd:enumeration value="Security Operations"/>
          <xsd:enumeration value="WhiteCoats"/>
        </xsd:restriction>
      </xsd:simpleType>
    </xsd:element>
    <xsd:element name="SubCategory" ma:index="11" ma:displayName="SubCategory" ma:format="Dropdown" ma:internalName="SubCategory" ma:readOnly="false">
      <xsd:simpleType>
        <xsd:restriction base="dms:Choice">
          <xsd:enumeration value="Accelerator"/>
          <xsd:enumeration value="Analysis"/>
          <xsd:enumeration value="Architecture"/>
          <xsd:enumeration value="Best Practice"/>
          <xsd:enumeration value="Case Study"/>
          <xsd:enumeration value="Change Management"/>
          <xsd:enumeration value="Checklist"/>
          <xsd:enumeration value="Design Patterns"/>
          <xsd:enumeration value="Form"/>
          <xsd:enumeration value="Guideline"/>
          <xsd:enumeration value="Learning"/>
          <xsd:enumeration value="Market Research"/>
          <xsd:enumeration value="Methodology"/>
          <xsd:enumeration value="Policy"/>
          <xsd:enumeration value="Presales"/>
          <xsd:enumeration value="Presentation"/>
          <xsd:enumeration value="Procedure"/>
          <xsd:enumeration value="Process"/>
          <xsd:enumeration value="Program Management"/>
          <xsd:enumeration value="Project Closure"/>
          <xsd:enumeration value="Project Proposal"/>
          <xsd:enumeration value="Quality Management"/>
          <xsd:enumeration value="Report"/>
          <xsd:enumeration value="Risk Management"/>
          <xsd:enumeration value="SOW"/>
          <xsd:enumeration value="Standards"/>
          <xsd:enumeration value="Training"/>
          <xsd:enumeration value="Value Addition"/>
          <xsd:enumeration value="White Paper"/>
        </xsd:restriction>
      </xsd:simpleType>
    </xsd:element>
    <xsd:element name="Tags" ma:index="12" ma:displayName="Tags" ma:internalName="Tags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partments xmlns="09339d3a-aaa0-497d-ae73-d8a5832d420d">Insurance P&amp;C</Departments>
    <Classification xmlns="09339d3a-aaa0-497d-ae73-d8a5832d420d">Internal Use</Classification>
    <SubCategory xmlns="09339d3a-aaa0-497d-ae73-d8a5832d420d">Best Practice</SubCategory>
    <Tags xmlns="09339d3a-aaa0-497d-ae73-d8a5832d420d">HO</Tags>
    <Contributors xmlns="09339d3a-aaa0-497d-ae73-d8a5832d420d">
      <UserInfo>
        <DisplayName>Alok Bharati</DisplayName>
        <AccountId>26</AccountId>
        <AccountType/>
      </UserInfo>
    </Contributo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haredContentType xmlns="Microsoft.SharePoint.Taxonomy.ContentTypeSync" SourceId="41087d73-5bfe-4c6e-a130-3d602495565a" ContentTypeId="0x010100F7548365F7A28B41B9A685ED46C1AC26" PreviousValue="false"/>
</file>

<file path=customXml/itemProps1.xml><?xml version="1.0" encoding="utf-8"?>
<ds:datastoreItem xmlns:ds="http://schemas.openxmlformats.org/officeDocument/2006/customXml" ds:itemID="{0F6975C6-D424-454A-8EC2-D5B57AA6925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339d3a-aaa0-497d-ae73-d8a5832d42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8F92746-2575-43CF-84B8-6AD1AF71305F}">
  <ds:schemaRefs>
    <ds:schemaRef ds:uri="http://schemas.microsoft.com/office/2006/metadata/properties"/>
    <ds:schemaRef ds:uri="http://schemas.microsoft.com/office/infopath/2007/PartnerControls"/>
    <ds:schemaRef ds:uri="09339d3a-aaa0-497d-ae73-d8a5832d420d"/>
  </ds:schemaRefs>
</ds:datastoreItem>
</file>

<file path=customXml/itemProps3.xml><?xml version="1.0" encoding="utf-8"?>
<ds:datastoreItem xmlns:ds="http://schemas.openxmlformats.org/officeDocument/2006/customXml" ds:itemID="{DFDB4AB5-0161-4407-9FA8-C73EE13F017F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34B24EEE-10DF-4E90-B748-0B91F7BEE4BB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PowerPoint Template 2016</Template>
  <TotalTime>4250</TotalTime>
  <Words>991</Words>
  <Application>Microsoft Office PowerPoint</Application>
  <PresentationFormat>Custom</PresentationFormat>
  <Paragraphs>104</Paragraphs>
  <Slides>12</Slides>
  <Notes>0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Anupam Baruah</dc:creator>
  <cp:lastModifiedBy>Alok Bharati</cp:lastModifiedBy>
  <cp:revision>129</cp:revision>
  <cp:lastPrinted>2013-08-22T15:28:58Z</cp:lastPrinted>
  <dcterms:created xsi:type="dcterms:W3CDTF">2016-04-01T14:10:13Z</dcterms:created>
  <dcterms:modified xsi:type="dcterms:W3CDTF">2022-08-19T10:34:32Z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0x010100F7548365F7A28B41B9A685ED46C1AC26001AB29883D45E2C4E9CA6FE95A9034FC3</vt:lpwstr>
  </property>
  <property fmtid="{D5CDD505-2E9C-101B-9397-08002B2CF9AE}" pid="3" name="Order">
    <vt:r8>3800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
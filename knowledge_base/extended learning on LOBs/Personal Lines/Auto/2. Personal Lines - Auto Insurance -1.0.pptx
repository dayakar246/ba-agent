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0"/>
  </p:notesMasterIdLst>
  <p:handoutMasterIdLst>
    <p:handoutMasterId r:id="rId21"/>
  </p:handoutMasterIdLst>
  <p:sldIdLst>
    <p:sldId id="1164" r:id="rId6"/>
    <p:sldId id="1166" r:id="rId7"/>
    <p:sldId id="1165" r:id="rId8"/>
    <p:sldId id="1174" r:id="rId9"/>
    <p:sldId id="1179" r:id="rId10"/>
    <p:sldId id="1182" r:id="rId11"/>
    <p:sldId id="1170" r:id="rId12"/>
    <p:sldId id="1171" r:id="rId13"/>
    <p:sldId id="1172" r:id="rId14"/>
    <p:sldId id="1173" r:id="rId15"/>
    <p:sldId id="1175" r:id="rId16"/>
    <p:sldId id="1176" r:id="rId17"/>
    <p:sldId id="1178" r:id="rId18"/>
    <p:sldId id="1177" r:id="rId19"/>
  </p:sldIdLst>
  <p:sldSz cx="12344400" cy="6950075"/>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551246" algn="l" rtl="0" fontAlgn="base">
      <a:spcBef>
        <a:spcPct val="0"/>
      </a:spcBef>
      <a:spcAft>
        <a:spcPct val="0"/>
      </a:spcAft>
      <a:defRPr kern="1200">
        <a:solidFill>
          <a:schemeClr val="tx1"/>
        </a:solidFill>
        <a:latin typeface="Arial" charset="0"/>
        <a:ea typeface="+mn-ea"/>
        <a:cs typeface="Arial" charset="0"/>
      </a:defRPr>
    </a:lvl2pPr>
    <a:lvl3pPr marL="1102492" algn="l" rtl="0" fontAlgn="base">
      <a:spcBef>
        <a:spcPct val="0"/>
      </a:spcBef>
      <a:spcAft>
        <a:spcPct val="0"/>
      </a:spcAft>
      <a:defRPr kern="1200">
        <a:solidFill>
          <a:schemeClr val="tx1"/>
        </a:solidFill>
        <a:latin typeface="Arial" charset="0"/>
        <a:ea typeface="+mn-ea"/>
        <a:cs typeface="Arial" charset="0"/>
      </a:defRPr>
    </a:lvl3pPr>
    <a:lvl4pPr marL="1653738" algn="l" rtl="0" fontAlgn="base">
      <a:spcBef>
        <a:spcPct val="0"/>
      </a:spcBef>
      <a:spcAft>
        <a:spcPct val="0"/>
      </a:spcAft>
      <a:defRPr kern="1200">
        <a:solidFill>
          <a:schemeClr val="tx1"/>
        </a:solidFill>
        <a:latin typeface="Arial" charset="0"/>
        <a:ea typeface="+mn-ea"/>
        <a:cs typeface="Arial" charset="0"/>
      </a:defRPr>
    </a:lvl4pPr>
    <a:lvl5pPr marL="2204984" algn="l" rtl="0" fontAlgn="base">
      <a:spcBef>
        <a:spcPct val="0"/>
      </a:spcBef>
      <a:spcAft>
        <a:spcPct val="0"/>
      </a:spcAft>
      <a:defRPr kern="1200">
        <a:solidFill>
          <a:schemeClr val="tx1"/>
        </a:solidFill>
        <a:latin typeface="Arial" charset="0"/>
        <a:ea typeface="+mn-ea"/>
        <a:cs typeface="Arial" charset="0"/>
      </a:defRPr>
    </a:lvl5pPr>
    <a:lvl6pPr marL="2756230" algn="l" defTabSz="1102492" rtl="0" eaLnBrk="1" latinLnBrk="0" hangingPunct="1">
      <a:defRPr kern="1200">
        <a:solidFill>
          <a:schemeClr val="tx1"/>
        </a:solidFill>
        <a:latin typeface="Arial" charset="0"/>
        <a:ea typeface="+mn-ea"/>
        <a:cs typeface="Arial" charset="0"/>
      </a:defRPr>
    </a:lvl6pPr>
    <a:lvl7pPr marL="3307476" algn="l" defTabSz="1102492" rtl="0" eaLnBrk="1" latinLnBrk="0" hangingPunct="1">
      <a:defRPr kern="1200">
        <a:solidFill>
          <a:schemeClr val="tx1"/>
        </a:solidFill>
        <a:latin typeface="Arial" charset="0"/>
        <a:ea typeface="+mn-ea"/>
        <a:cs typeface="Arial" charset="0"/>
      </a:defRPr>
    </a:lvl7pPr>
    <a:lvl8pPr marL="3858722" algn="l" defTabSz="1102492" rtl="0" eaLnBrk="1" latinLnBrk="0" hangingPunct="1">
      <a:defRPr kern="1200">
        <a:solidFill>
          <a:schemeClr val="tx1"/>
        </a:solidFill>
        <a:latin typeface="Arial" charset="0"/>
        <a:ea typeface="+mn-ea"/>
        <a:cs typeface="Arial" charset="0"/>
      </a:defRPr>
    </a:lvl8pPr>
    <a:lvl9pPr marL="4409968" algn="l" defTabSz="1102492"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189">
          <p15:clr>
            <a:srgbClr val="A4A3A4"/>
          </p15:clr>
        </p15:guide>
        <p15:guide id="4" pos="3888">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28E7D"/>
    <a:srgbClr val="EC9939"/>
    <a:srgbClr val="F9E9D7"/>
    <a:srgbClr val="F4F3F2"/>
    <a:srgbClr val="DA5120"/>
    <a:srgbClr val="0B8D82"/>
    <a:srgbClr val="EAA91E"/>
    <a:srgbClr val="E69922"/>
    <a:srgbClr val="2055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306641-CF72-D92A-09CC-A93FB09A648E}" v="4" dt="2023-12-10T04:12:31.776"/>
    <p1510:client id="{CA40FB2A-CA69-A804-539C-3D749D530776}" v="1" dt="2022-01-26T16:33:23.132"/>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 orient="horz" pos="2189"/>
        <p:guide pos="3888"/>
      </p:guideLst>
    </p:cSldViewPr>
  </p:slide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raja Patnam" userId="S::neeraja.patnam@valuemomentum.com::f3808c68-3295-4247-be75-ffe3a6e23513" providerId="AD" clId="Web-{CA40FB2A-CA69-A804-539C-3D749D530776}"/>
    <pc:docChg chg="sldOrd">
      <pc:chgData name="Neeraja Patnam" userId="S::neeraja.patnam@valuemomentum.com::f3808c68-3295-4247-be75-ffe3a6e23513" providerId="AD" clId="Web-{CA40FB2A-CA69-A804-539C-3D749D530776}" dt="2022-01-26T16:33:23.132" v="0"/>
      <pc:docMkLst>
        <pc:docMk/>
      </pc:docMkLst>
      <pc:sldChg chg="ord">
        <pc:chgData name="Neeraja Patnam" userId="S::neeraja.patnam@valuemomentum.com::f3808c68-3295-4247-be75-ffe3a6e23513" providerId="AD" clId="Web-{CA40FB2A-CA69-A804-539C-3D749D530776}" dt="2022-01-26T16:33:23.132" v="0"/>
        <pc:sldMkLst>
          <pc:docMk/>
          <pc:sldMk cId="25635335" sldId="1178"/>
        </pc:sldMkLst>
      </pc:sldChg>
    </pc:docChg>
  </pc:docChgLst>
  <pc:docChgLst>
    <pc:chgData name="Alok Bharati" userId="S::alok.bharati@valuemomentum.com::2f6e0e27-ace8-4335-a59d-f4692af8e221" providerId="AD" clId="Web-{30306641-CF72-D92A-09CC-A93FB09A648E}"/>
    <pc:docChg chg="modSld">
      <pc:chgData name="Alok Bharati" userId="S::alok.bharati@valuemomentum.com::2f6e0e27-ace8-4335-a59d-f4692af8e221" providerId="AD" clId="Web-{30306641-CF72-D92A-09CC-A93FB09A648E}" dt="2023-12-10T04:12:31.776" v="3"/>
      <pc:docMkLst>
        <pc:docMk/>
      </pc:docMkLst>
      <pc:sldChg chg="mod modShow">
        <pc:chgData name="Alok Bharati" userId="S::alok.bharati@valuemomentum.com::2f6e0e27-ace8-4335-a59d-f4692af8e221" providerId="AD" clId="Web-{30306641-CF72-D92A-09CC-A93FB09A648E}" dt="2023-12-10T04:12:31.776" v="3"/>
        <pc:sldMkLst>
          <pc:docMk/>
          <pc:sldMk cId="2179017109" sldId="1171"/>
        </pc:sldMkLst>
      </pc:sldChg>
      <pc:sldChg chg="mod modShow">
        <pc:chgData name="Alok Bharati" userId="S::alok.bharati@valuemomentum.com::2f6e0e27-ace8-4335-a59d-f4692af8e221" providerId="AD" clId="Web-{30306641-CF72-D92A-09CC-A93FB09A648E}" dt="2023-12-10T04:12:31.730" v="2"/>
        <pc:sldMkLst>
          <pc:docMk/>
          <pc:sldMk cId="2715381392" sldId="1172"/>
        </pc:sldMkLst>
      </pc:sldChg>
      <pc:sldChg chg="mod modShow">
        <pc:chgData name="Alok Bharati" userId="S::alok.bharati@valuemomentum.com::2f6e0e27-ace8-4335-a59d-f4692af8e221" providerId="AD" clId="Web-{30306641-CF72-D92A-09CC-A93FB09A648E}" dt="2023-12-10T04:12:31.667" v="1"/>
        <pc:sldMkLst>
          <pc:docMk/>
          <pc:sldMk cId="1209550614" sldId="1173"/>
        </pc:sldMkLst>
      </pc:sldChg>
      <pc:sldChg chg="mod modShow">
        <pc:chgData name="Alok Bharati" userId="S::alok.bharati@valuemomentum.com::2f6e0e27-ace8-4335-a59d-f4692af8e221" providerId="AD" clId="Web-{30306641-CF72-D92A-09CC-A93FB09A648E}" dt="2023-12-10T04:12:31.605" v="0"/>
        <pc:sldMkLst>
          <pc:docMk/>
          <pc:sldMk cId="2758379830" sldId="11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2298" tIns="46149" rIns="92298" bIns="46149" rtlCol="0"/>
          <a:lstStyle>
            <a:lvl1pPr algn="l">
              <a:defRPr sz="1200"/>
            </a:lvl1pPr>
          </a:lstStyle>
          <a:p>
            <a:pPr>
              <a:defRPr/>
            </a:pPr>
            <a:endParaRPr lang="en-IN"/>
          </a:p>
        </p:txBody>
      </p:sp>
      <p:sp>
        <p:nvSpPr>
          <p:cNvPr id="3" name="Date Placeholder 2"/>
          <p:cNvSpPr>
            <a:spLocks noGrp="1"/>
          </p:cNvSpPr>
          <p:nvPr>
            <p:ph type="dt" sz="quarter" idx="1"/>
          </p:nvPr>
        </p:nvSpPr>
        <p:spPr>
          <a:xfrm>
            <a:off x="3970338" y="0"/>
            <a:ext cx="3038475" cy="463550"/>
          </a:xfrm>
          <a:prstGeom prst="rect">
            <a:avLst/>
          </a:prstGeom>
        </p:spPr>
        <p:txBody>
          <a:bodyPr vert="horz" lIns="92298" tIns="46149" rIns="92298" bIns="46149" rtlCol="0"/>
          <a:lstStyle>
            <a:lvl1pPr algn="r">
              <a:defRPr sz="1200" smtClean="0"/>
            </a:lvl1pPr>
          </a:lstStyle>
          <a:p>
            <a:pPr>
              <a:defRPr/>
            </a:pPr>
            <a:fld id="{9727E618-B619-4C36-8069-B46C9E63E7BB}" type="datetimeFigureOut">
              <a:rPr lang="en-IN"/>
              <a:pPr>
                <a:defRPr/>
              </a:pPr>
              <a:t>09-12-2023</a:t>
            </a:fld>
            <a:endParaRPr lang="en-IN"/>
          </a:p>
        </p:txBody>
      </p:sp>
      <p:sp>
        <p:nvSpPr>
          <p:cNvPr id="4" name="Footer Placeholder 3"/>
          <p:cNvSpPr>
            <a:spLocks noGrp="1"/>
          </p:cNvSpPr>
          <p:nvPr>
            <p:ph type="ftr" sz="quarter" idx="2"/>
          </p:nvPr>
        </p:nvSpPr>
        <p:spPr>
          <a:xfrm>
            <a:off x="0" y="8831263"/>
            <a:ext cx="3038475" cy="463550"/>
          </a:xfrm>
          <a:prstGeom prst="rect">
            <a:avLst/>
          </a:prstGeom>
        </p:spPr>
        <p:txBody>
          <a:bodyPr vert="horz" lIns="92298" tIns="46149" rIns="92298" bIns="46149" rtlCol="0" anchor="b"/>
          <a:lstStyle>
            <a:lvl1pPr algn="l">
              <a:defRPr sz="1200"/>
            </a:lvl1pPr>
          </a:lstStyle>
          <a:p>
            <a:pPr>
              <a:defRPr/>
            </a:pPr>
            <a:endParaRPr lang="en-IN"/>
          </a:p>
        </p:txBody>
      </p:sp>
      <p:sp>
        <p:nvSpPr>
          <p:cNvPr id="5" name="Slide Number Placeholder 4"/>
          <p:cNvSpPr>
            <a:spLocks noGrp="1"/>
          </p:cNvSpPr>
          <p:nvPr>
            <p:ph type="sldNum" sz="quarter" idx="3"/>
          </p:nvPr>
        </p:nvSpPr>
        <p:spPr>
          <a:xfrm>
            <a:off x="3970338" y="8831263"/>
            <a:ext cx="3038475" cy="463550"/>
          </a:xfrm>
          <a:prstGeom prst="rect">
            <a:avLst/>
          </a:prstGeom>
        </p:spPr>
        <p:txBody>
          <a:bodyPr vert="horz" lIns="92298" tIns="46149" rIns="92298" bIns="46149" rtlCol="0" anchor="b"/>
          <a:lstStyle>
            <a:lvl1pPr algn="r">
              <a:defRPr sz="1200" smtClean="0"/>
            </a:lvl1pPr>
          </a:lstStyle>
          <a:p>
            <a:pPr>
              <a:defRPr/>
            </a:pPr>
            <a:fld id="{9C442BCF-093E-4EAA-8717-F0E65CF5F693}" type="slidenum">
              <a:rPr lang="en-IN"/>
              <a:pPr>
                <a:defRPr/>
              </a:pPr>
              <a:t>‹#›</a:t>
            </a:fld>
            <a:endParaRPr lang="en-IN"/>
          </a:p>
        </p:txBody>
      </p:sp>
    </p:spTree>
    <p:extLst>
      <p:ext uri="{BB962C8B-B14F-4D97-AF65-F5344CB8AC3E}">
        <p14:creationId xmlns:p14="http://schemas.microsoft.com/office/powerpoint/2010/main" val="9390854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3175" tIns="46587" rIns="93175" bIns="46587"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3550"/>
          </a:xfrm>
          <a:prstGeom prst="rect">
            <a:avLst/>
          </a:prstGeom>
        </p:spPr>
        <p:txBody>
          <a:bodyPr vert="horz" lIns="93175" tIns="46587" rIns="93175" bIns="46587" rtlCol="0"/>
          <a:lstStyle>
            <a:lvl1pPr algn="r" fontAlgn="auto">
              <a:spcBef>
                <a:spcPts val="0"/>
              </a:spcBef>
              <a:spcAft>
                <a:spcPts val="0"/>
              </a:spcAft>
              <a:defRPr sz="1200">
                <a:latin typeface="+mn-lt"/>
                <a:cs typeface="+mn-cs"/>
              </a:defRPr>
            </a:lvl1pPr>
          </a:lstStyle>
          <a:p>
            <a:pPr>
              <a:defRPr/>
            </a:pPr>
            <a:fld id="{9CF4A2D4-943A-4B1C-9013-9F22B5005060}" type="datetimeFigureOut">
              <a:rPr lang="en-US"/>
              <a:pPr>
                <a:defRPr/>
              </a:pPr>
              <a:t>12/9/2023</a:t>
            </a:fld>
            <a:endParaRPr lang="en-US"/>
          </a:p>
        </p:txBody>
      </p:sp>
      <p:sp>
        <p:nvSpPr>
          <p:cNvPr id="4" name="Slide Image Placeholder 3"/>
          <p:cNvSpPr>
            <a:spLocks noGrp="1" noRot="1" noChangeAspect="1"/>
          </p:cNvSpPr>
          <p:nvPr>
            <p:ph type="sldImg" idx="2"/>
          </p:nvPr>
        </p:nvSpPr>
        <p:spPr>
          <a:xfrm>
            <a:off x="409575" y="696913"/>
            <a:ext cx="6191250" cy="3486150"/>
          </a:xfrm>
          <a:prstGeom prst="rect">
            <a:avLst/>
          </a:prstGeom>
          <a:noFill/>
          <a:ln w="12700">
            <a:solidFill>
              <a:prstClr val="black"/>
            </a:solidFill>
          </a:ln>
        </p:spPr>
        <p:txBody>
          <a:bodyPr vert="horz" lIns="93175" tIns="46587" rIns="93175" bIns="46587" rtlCol="0" anchor="ctr"/>
          <a:lstStyle/>
          <a:p>
            <a:pPr lvl="0"/>
            <a:endParaRPr lang="en-US" noProof="0"/>
          </a:p>
        </p:txBody>
      </p:sp>
      <p:sp>
        <p:nvSpPr>
          <p:cNvPr id="5" name="Notes Placeholder 4"/>
          <p:cNvSpPr>
            <a:spLocks noGrp="1"/>
          </p:cNvSpPr>
          <p:nvPr>
            <p:ph type="body" sz="quarter" idx="3"/>
          </p:nvPr>
        </p:nvSpPr>
        <p:spPr>
          <a:xfrm>
            <a:off x="701675" y="4416425"/>
            <a:ext cx="5607050" cy="4181475"/>
          </a:xfrm>
          <a:prstGeom prst="rect">
            <a:avLst/>
          </a:prstGeom>
        </p:spPr>
        <p:txBody>
          <a:bodyPr vert="horz" lIns="93175" tIns="46587" rIns="93175" bIns="4658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31263"/>
            <a:ext cx="3038475" cy="463550"/>
          </a:xfrm>
          <a:prstGeom prst="rect">
            <a:avLst/>
          </a:prstGeom>
        </p:spPr>
        <p:txBody>
          <a:bodyPr vert="horz" lIns="93175" tIns="46587" rIns="93175" bIns="46587"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31263"/>
            <a:ext cx="3038475" cy="463550"/>
          </a:xfrm>
          <a:prstGeom prst="rect">
            <a:avLst/>
          </a:prstGeom>
        </p:spPr>
        <p:txBody>
          <a:bodyPr vert="horz" lIns="93175" tIns="46587" rIns="93175" bIns="46587" rtlCol="0" anchor="b"/>
          <a:lstStyle>
            <a:lvl1pPr algn="r" fontAlgn="auto">
              <a:spcBef>
                <a:spcPts val="0"/>
              </a:spcBef>
              <a:spcAft>
                <a:spcPts val="0"/>
              </a:spcAft>
              <a:defRPr sz="1200">
                <a:latin typeface="+mn-lt"/>
                <a:cs typeface="+mn-cs"/>
              </a:defRPr>
            </a:lvl1pPr>
          </a:lstStyle>
          <a:p>
            <a:pPr>
              <a:defRPr/>
            </a:pPr>
            <a:fld id="{DA158527-55D2-4491-A481-82DAFC91458B}" type="slidenum">
              <a:rPr lang="en-US"/>
              <a:pPr>
                <a:defRPr/>
              </a:pPr>
              <a:t>‹#›</a:t>
            </a:fld>
            <a:endParaRPr lang="en-US"/>
          </a:p>
        </p:txBody>
      </p:sp>
    </p:spTree>
    <p:extLst>
      <p:ext uri="{BB962C8B-B14F-4D97-AF65-F5344CB8AC3E}">
        <p14:creationId xmlns:p14="http://schemas.microsoft.com/office/powerpoint/2010/main" val="31200358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mn-lt"/>
        <a:ea typeface="+mn-ea"/>
        <a:cs typeface="+mn-cs"/>
      </a:defRPr>
    </a:lvl1pPr>
    <a:lvl2pPr marL="551246" algn="l" rtl="0" eaLnBrk="0" fontAlgn="base" hangingPunct="0">
      <a:spcBef>
        <a:spcPct val="30000"/>
      </a:spcBef>
      <a:spcAft>
        <a:spcPct val="0"/>
      </a:spcAft>
      <a:defRPr sz="1400" kern="1200">
        <a:solidFill>
          <a:schemeClr val="tx1"/>
        </a:solidFill>
        <a:latin typeface="+mn-lt"/>
        <a:ea typeface="+mn-ea"/>
        <a:cs typeface="+mn-cs"/>
      </a:defRPr>
    </a:lvl2pPr>
    <a:lvl3pPr marL="1102492" algn="l" rtl="0" eaLnBrk="0" fontAlgn="base" hangingPunct="0">
      <a:spcBef>
        <a:spcPct val="30000"/>
      </a:spcBef>
      <a:spcAft>
        <a:spcPct val="0"/>
      </a:spcAft>
      <a:defRPr sz="1400" kern="1200">
        <a:solidFill>
          <a:schemeClr val="tx1"/>
        </a:solidFill>
        <a:latin typeface="+mn-lt"/>
        <a:ea typeface="+mn-ea"/>
        <a:cs typeface="+mn-cs"/>
      </a:defRPr>
    </a:lvl3pPr>
    <a:lvl4pPr marL="1653738" algn="l" rtl="0" eaLnBrk="0" fontAlgn="base" hangingPunct="0">
      <a:spcBef>
        <a:spcPct val="30000"/>
      </a:spcBef>
      <a:spcAft>
        <a:spcPct val="0"/>
      </a:spcAft>
      <a:defRPr sz="1400" kern="1200">
        <a:solidFill>
          <a:schemeClr val="tx1"/>
        </a:solidFill>
        <a:latin typeface="+mn-lt"/>
        <a:ea typeface="+mn-ea"/>
        <a:cs typeface="+mn-cs"/>
      </a:defRPr>
    </a:lvl4pPr>
    <a:lvl5pPr marL="2204984" algn="l" rtl="0" eaLnBrk="0" fontAlgn="base" hangingPunct="0">
      <a:spcBef>
        <a:spcPct val="30000"/>
      </a:spcBef>
      <a:spcAft>
        <a:spcPct val="0"/>
      </a:spcAft>
      <a:defRPr sz="1400" kern="1200">
        <a:solidFill>
          <a:schemeClr val="tx1"/>
        </a:solidFill>
        <a:latin typeface="+mn-lt"/>
        <a:ea typeface="+mn-ea"/>
        <a:cs typeface="+mn-cs"/>
      </a:defRPr>
    </a:lvl5pPr>
    <a:lvl6pPr marL="2756230" algn="l" defTabSz="1102492" rtl="0" eaLnBrk="1" latinLnBrk="0" hangingPunct="1">
      <a:defRPr sz="1400" kern="1200">
        <a:solidFill>
          <a:schemeClr val="tx1"/>
        </a:solidFill>
        <a:latin typeface="+mn-lt"/>
        <a:ea typeface="+mn-ea"/>
        <a:cs typeface="+mn-cs"/>
      </a:defRPr>
    </a:lvl6pPr>
    <a:lvl7pPr marL="3307476" algn="l" defTabSz="1102492" rtl="0" eaLnBrk="1" latinLnBrk="0" hangingPunct="1">
      <a:defRPr sz="1400" kern="1200">
        <a:solidFill>
          <a:schemeClr val="tx1"/>
        </a:solidFill>
        <a:latin typeface="+mn-lt"/>
        <a:ea typeface="+mn-ea"/>
        <a:cs typeface="+mn-cs"/>
      </a:defRPr>
    </a:lvl7pPr>
    <a:lvl8pPr marL="3858722" algn="l" defTabSz="1102492" rtl="0" eaLnBrk="1" latinLnBrk="0" hangingPunct="1">
      <a:defRPr sz="1400" kern="1200">
        <a:solidFill>
          <a:schemeClr val="tx1"/>
        </a:solidFill>
        <a:latin typeface="+mn-lt"/>
        <a:ea typeface="+mn-ea"/>
        <a:cs typeface="+mn-cs"/>
      </a:defRPr>
    </a:lvl8pPr>
    <a:lvl9pPr marL="4409968" algn="l" defTabSz="110249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N2c4F_Yiwc"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youtube.com/watch?v=m-0fzR13W9w" TargetMode="Externa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www.google.co.in/url?sa=t&amp;rct=j&amp;q=&amp;esrc=s&amp;source=video&amp;cd=8&amp;cad=rja&amp;uact=8&amp;ved=0ahUKEwiVs-LJpqzNAhVEpo8KHRIwA_MQtwIIWDAH&amp;url=https://www.youtube.com/watch?v%3DSBbYEcmxmt0&amp;usg=AFQjCNE7QEMKbs_1vLOWiz9jq_TshX9ZoQ&amp;sig2=uz1dmcec4e5DAdUCwR5abg&amp;bvm=bv.124272578,d.c2I" TargetMode="External"/><Relationship Id="rId3" Type="http://schemas.openxmlformats.org/officeDocument/2006/relationships/hyperlink" Target="https://www.youtube.com/watch?v=KJnN0yKlRYk" TargetMode="External"/><Relationship Id="rId7" Type="http://schemas.openxmlformats.org/officeDocument/2006/relationships/hyperlink" Target="https://www.youtube.com/watch?v=22zNFunwxnk"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www.google.co.in/url?sa=t&amp;rct=j&amp;q=&amp;esrc=s&amp;source=video&amp;cd=5&amp;cad=rja&amp;uact=8&amp;ved=0ahUKEwiVs-LJpqzNAhVEpo8KHRIwA_MQtwIISTAE&amp;url=https://www.youtube.com/watch?v%3D22zNFunwxnk&amp;usg=AFQjCNGxEiG148pS_Z1U7ftCk1KitbX2uw&amp;sig2=3llf9BmMWqMaQkf_rDJrJA&amp;bvm=bv.124272578,d.c2I" TargetMode="External"/><Relationship Id="rId5" Type="http://schemas.openxmlformats.org/officeDocument/2006/relationships/hyperlink" Target="https://www.youtube.com/watch?v=pVkppIrByCQ" TargetMode="External"/><Relationship Id="rId4" Type="http://schemas.openxmlformats.org/officeDocument/2006/relationships/hyperlink" Target="https://www.youtube.com/watch?v=ZzcqNkcc7ZU" TargetMode="External"/><Relationship Id="rId9" Type="http://schemas.openxmlformats.org/officeDocument/2006/relationships/hyperlink" Target="https://www.youtube.com/watch?v=SBbYEcmxmt0"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a:solidFill>
                  <a:srgbClr val="C00000"/>
                </a:solidFill>
                <a:latin typeface="+mn-lt"/>
              </a:rPr>
              <a:t>Uninsured Motorist: </a:t>
            </a:r>
            <a:r>
              <a:rPr lang="en-US" sz="1200">
                <a:latin typeface="+mn-lt"/>
              </a:rPr>
              <a:t>Pays for bodily injury and/or property damage caused by an uninsured motorist (including hit-and-run driver)</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a:solidFill>
                  <a:srgbClr val="C00000"/>
                </a:solidFill>
                <a:latin typeface="+mn-lt"/>
              </a:rPr>
              <a:t>Underinsured Motorist: </a:t>
            </a:r>
            <a:r>
              <a:rPr lang="en-US" sz="1200">
                <a:latin typeface="+mn-lt"/>
              </a:rPr>
              <a:t>Pays for bodily injury and/or property damage caused by a motorist whose </a:t>
            </a:r>
            <a:r>
              <a:rPr lang="en-US" sz="1200" b="1">
                <a:latin typeface="+mn-lt"/>
              </a:rPr>
              <a:t>liability insurance is not adequate</a:t>
            </a:r>
            <a:r>
              <a:rPr lang="en-US" sz="1200">
                <a:latin typeface="+mn-lt"/>
              </a:rPr>
              <a:t> to pay for damages you are legally entitled to recover.</a:t>
            </a:r>
          </a:p>
          <a:p>
            <a:r>
              <a:rPr lang="en-US" sz="1200" b="1">
                <a:solidFill>
                  <a:srgbClr val="C00000"/>
                </a:solidFill>
                <a:latin typeface="+mn-lt"/>
              </a:rPr>
              <a:t>Medical Payments: </a:t>
            </a:r>
            <a:r>
              <a:rPr lang="en-US" sz="1200">
                <a:latin typeface="+mn-lt"/>
              </a:rPr>
              <a:t>No Fault Cover which insures against medical bills that you, your family members, your passengers, or any pedestrians incur as a result of an accident involving your car</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a:solidFill>
                  <a:srgbClr val="C00000"/>
                </a:solidFill>
                <a:latin typeface="+mn-lt"/>
              </a:rPr>
              <a:t>Personal Injury Policy: </a:t>
            </a:r>
            <a:r>
              <a:rPr lang="en-US" sz="1200">
                <a:latin typeface="+mn-lt"/>
              </a:rPr>
              <a:t>No Fault Cover which </a:t>
            </a:r>
            <a:r>
              <a:rPr lang="en-US" sz="1200" u="sng">
                <a:latin typeface="+mn-lt"/>
              </a:rPr>
              <a:t>pays medical expenses, lost wages and other damages </a:t>
            </a:r>
            <a:r>
              <a:rPr lang="en-US" sz="1200">
                <a:latin typeface="+mn-lt"/>
              </a:rPr>
              <a:t>like funeral expenses of the insured, others in his vehicles and pedestrians struck by him.</a:t>
            </a:r>
            <a:r>
              <a:rPr lang="en-US" sz="1200" b="1" i="0" kern="1200">
                <a:solidFill>
                  <a:schemeClr val="tx1"/>
                </a:solidFill>
                <a:effectLst/>
                <a:latin typeface="+mn-lt"/>
                <a:ea typeface="+mn-ea"/>
                <a:cs typeface="+mn-cs"/>
              </a:rPr>
              <a:t> Personal injury protection (PIP)</a:t>
            </a:r>
            <a:r>
              <a:rPr lang="en-US" sz="1200" b="0" i="0" kern="1200">
                <a:solidFill>
                  <a:schemeClr val="tx1"/>
                </a:solidFill>
                <a:effectLst/>
                <a:latin typeface="+mn-lt"/>
                <a:ea typeface="+mn-ea"/>
                <a:cs typeface="+mn-cs"/>
              </a:rPr>
              <a:t> is an extension of </a:t>
            </a:r>
            <a:r>
              <a:rPr lang="en-US" sz="1200" b="0" i="0" u="none" strike="noStrike" kern="1200">
                <a:solidFill>
                  <a:schemeClr val="tx1"/>
                </a:solidFill>
                <a:effectLst/>
                <a:latin typeface="+mn-lt"/>
                <a:ea typeface="+mn-ea"/>
                <a:cs typeface="+mn-cs"/>
              </a:rPr>
              <a:t>car insurance</a:t>
            </a:r>
            <a:r>
              <a:rPr lang="en-US" sz="1200" b="0" i="0" kern="1200">
                <a:solidFill>
                  <a:schemeClr val="tx1"/>
                </a:solidFill>
                <a:effectLst/>
                <a:latin typeface="+mn-lt"/>
                <a:ea typeface="+mn-ea"/>
                <a:cs typeface="+mn-cs"/>
              </a:rPr>
              <a:t> available in some </a:t>
            </a:r>
            <a:r>
              <a:rPr lang="en-US" sz="1200" b="0" i="0" u="none" strike="noStrike" kern="1200">
                <a:solidFill>
                  <a:schemeClr val="tx1"/>
                </a:solidFill>
                <a:effectLst/>
                <a:latin typeface="+mn-lt"/>
                <a:ea typeface="+mn-ea"/>
                <a:cs typeface="+mn-cs"/>
              </a:rPr>
              <a:t>U.S. states</a:t>
            </a:r>
            <a:r>
              <a:rPr lang="en-US" sz="1200" b="0" i="0" kern="1200">
                <a:solidFill>
                  <a:schemeClr val="tx1"/>
                </a:solidFill>
                <a:effectLst/>
                <a:latin typeface="+mn-lt"/>
                <a:ea typeface="+mn-ea"/>
                <a:cs typeface="+mn-cs"/>
              </a:rPr>
              <a:t> that covers medical expenses and, in some cases, lost </a:t>
            </a:r>
            <a:r>
              <a:rPr lang="en-US" sz="1200" b="0" i="0" u="none" strike="noStrike" kern="1200">
                <a:solidFill>
                  <a:schemeClr val="tx1"/>
                </a:solidFill>
                <a:effectLst/>
                <a:latin typeface="+mn-lt"/>
                <a:ea typeface="+mn-ea"/>
                <a:cs typeface="+mn-cs"/>
              </a:rPr>
              <a:t>wages</a:t>
            </a:r>
            <a:r>
              <a:rPr lang="en-US" sz="1200" b="0" i="0" kern="1200">
                <a:solidFill>
                  <a:schemeClr val="tx1"/>
                </a:solidFill>
                <a:effectLst/>
                <a:latin typeface="+mn-lt"/>
                <a:ea typeface="+mn-ea"/>
                <a:cs typeface="+mn-cs"/>
              </a:rPr>
              <a:t> and other </a:t>
            </a:r>
            <a:r>
              <a:rPr lang="en-US" sz="1200" b="0" i="0" u="none" strike="noStrike" kern="1200">
                <a:solidFill>
                  <a:schemeClr val="tx1"/>
                </a:solidFill>
                <a:effectLst/>
                <a:latin typeface="+mn-lt"/>
                <a:ea typeface="+mn-ea"/>
                <a:cs typeface="+mn-cs"/>
              </a:rPr>
              <a:t>damages</a:t>
            </a:r>
            <a:r>
              <a:rPr lang="en-US" sz="1200" b="0" i="0" kern="1200">
                <a:solidFill>
                  <a:schemeClr val="tx1"/>
                </a:solidFill>
                <a:effectLst/>
                <a:latin typeface="+mn-lt"/>
                <a:ea typeface="+mn-ea"/>
                <a:cs typeface="+mn-cs"/>
              </a:rPr>
              <a:t>. PIP is sometimes referred to as </a:t>
            </a:r>
            <a:r>
              <a:rPr lang="en-US" sz="1200" b="0" i="0" u="none" strike="noStrike" kern="1200">
                <a:solidFill>
                  <a:schemeClr val="tx1"/>
                </a:solidFill>
                <a:effectLst/>
                <a:latin typeface="+mn-lt"/>
                <a:ea typeface="+mn-ea"/>
                <a:cs typeface="+mn-cs"/>
              </a:rPr>
              <a:t>"no-fault" coverage</a:t>
            </a:r>
            <a:r>
              <a:rPr lang="en-US" sz="1200" b="0" i="0" kern="1200">
                <a:solidFill>
                  <a:schemeClr val="tx1"/>
                </a:solidFill>
                <a:effectLst/>
                <a:latin typeface="+mn-lt"/>
                <a:ea typeface="+mn-ea"/>
                <a:cs typeface="+mn-cs"/>
              </a:rPr>
              <a:t>, because the statutes enacting it are generally known as no-fault laws, and PIP is designed to be paid without regard to "fault," or more properly, legal liability. That is, even if the person seeking PIP coverage caused the accident, they are entitled to make a claim under the PIP portion of their policy. "No-Fault" does not mean that insurance premium of the person making the claim will not increase. Typically a PIP claim is made by the insured driver to their own insurance company, however, there are several exceptions that allow persons who have been injured in an accident to make a PIP claim if they do not own a vehicle. The particular state law and policy language of the insurer should be reviewed to see what exceptions exist in that state.</a:t>
            </a:r>
            <a:endParaRPr lang="en-US" sz="1200">
              <a:latin typeface="+mn-lt"/>
            </a:endParaRPr>
          </a:p>
          <a:p>
            <a:endParaRPr lang="en-US"/>
          </a:p>
          <a:p>
            <a:pPr lvl="1" indent="-457200" fontAlgn="auto">
              <a:spcBef>
                <a:spcPts val="0"/>
              </a:spcBef>
              <a:spcAft>
                <a:spcPts val="0"/>
              </a:spcAft>
              <a:buClr>
                <a:srgbClr val="C00000"/>
              </a:buClr>
              <a:buSzPct val="80000"/>
              <a:defRPr/>
            </a:pPr>
            <a:r>
              <a:rPr lang="en-US" sz="1600" b="1" kern="1200">
                <a:solidFill>
                  <a:srgbClr val="C00000"/>
                </a:solidFill>
                <a:latin typeface="+mn-lt"/>
                <a:ea typeface="+mn-ea"/>
                <a:cs typeface="+mn-cs"/>
              </a:rPr>
              <a:t>Limit : </a:t>
            </a:r>
            <a:r>
              <a:rPr lang="en-US" sz="1600" kern="1200">
                <a:solidFill>
                  <a:schemeClr val="tx1"/>
                </a:solidFill>
                <a:latin typeface="+mn-lt"/>
                <a:ea typeface="+mn-ea"/>
                <a:cs typeface="+mn-cs"/>
              </a:rPr>
              <a:t>A limit means the maximum benefit of a given insurance policy that the insurance company would pay out in case of a total loss that is payable as a claim.</a:t>
            </a:r>
          </a:p>
          <a:p>
            <a:pPr lvl="1" indent="-457200" fontAlgn="auto">
              <a:spcBef>
                <a:spcPts val="0"/>
              </a:spcBef>
              <a:spcAft>
                <a:spcPts val="0"/>
              </a:spcAft>
              <a:buClr>
                <a:srgbClr val="C00000"/>
              </a:buClr>
              <a:buSzPct val="80000"/>
              <a:defRPr/>
            </a:pPr>
            <a:endParaRPr lang="en-US" sz="1600" kern="1200">
              <a:solidFill>
                <a:schemeClr val="tx1"/>
              </a:solidFill>
              <a:latin typeface="+mn-lt"/>
              <a:ea typeface="+mn-ea"/>
              <a:cs typeface="+mn-cs"/>
            </a:endParaRPr>
          </a:p>
          <a:p>
            <a:pPr lvl="1" indent="-457200" fontAlgn="auto">
              <a:spcBef>
                <a:spcPts val="0"/>
              </a:spcBef>
              <a:spcAft>
                <a:spcPts val="0"/>
              </a:spcAft>
              <a:buClr>
                <a:srgbClr val="C00000"/>
              </a:buClr>
              <a:buSzPct val="80000"/>
              <a:buFont typeface="Wingdings" pitchFamily="2" charset="2"/>
              <a:buChar char="v"/>
              <a:defRPr/>
            </a:pPr>
            <a:r>
              <a:rPr lang="en-US" sz="1600" b="1" kern="1200">
                <a:solidFill>
                  <a:srgbClr val="C00000"/>
                </a:solidFill>
                <a:latin typeface="+mn-lt"/>
                <a:ea typeface="+mn-ea"/>
                <a:cs typeface="+mn-cs"/>
              </a:rPr>
              <a:t>Split Limit </a:t>
            </a:r>
            <a:r>
              <a:rPr lang="en-US" sz="1600" kern="1200">
                <a:solidFill>
                  <a:schemeClr val="tx1"/>
                </a:solidFill>
                <a:latin typeface="+mn-lt"/>
                <a:ea typeface="+mn-ea"/>
                <a:cs typeface="+mn-cs"/>
              </a:rPr>
              <a:t>: Split limits restrict the maximum amount that a policy will pay for a specific type of loss, such as property damage and bodily injury. A split limits auto insurance policy, for example, might pay $50,000 per person and $150,000 per accident in bodily injury benefits, and $50,000 in property damage per accident. By contrast, a single limit policy might pay up to $200,000 for all property damage and bodily injury resulting from a single accident. Although the total amount of coverage is the same, the single limit (CSL) policy is more flexible, because it doesn’t cap the amount that can be paid for any type of loss.</a:t>
            </a:r>
          </a:p>
          <a:p>
            <a:pPr lvl="1" indent="-457200" fontAlgn="auto">
              <a:spcBef>
                <a:spcPts val="0"/>
              </a:spcBef>
              <a:spcAft>
                <a:spcPts val="0"/>
              </a:spcAft>
              <a:buClr>
                <a:srgbClr val="C00000"/>
              </a:buClr>
              <a:buSzPct val="80000"/>
              <a:defRPr/>
            </a:pPr>
            <a:endParaRPr lang="en-US" sz="1600" kern="1200">
              <a:solidFill>
                <a:schemeClr val="tx1"/>
              </a:solidFill>
              <a:latin typeface="+mn-lt"/>
              <a:ea typeface="+mn-ea"/>
              <a:cs typeface="+mn-cs"/>
            </a:endParaRPr>
          </a:p>
          <a:p>
            <a:pPr lvl="1" indent="-457200" fontAlgn="auto">
              <a:spcBef>
                <a:spcPts val="0"/>
              </a:spcBef>
              <a:spcAft>
                <a:spcPts val="0"/>
              </a:spcAft>
              <a:buClr>
                <a:srgbClr val="C00000"/>
              </a:buClr>
              <a:buSzPct val="80000"/>
              <a:buFont typeface="Wingdings" pitchFamily="2" charset="2"/>
              <a:buChar char="v"/>
              <a:defRPr/>
            </a:pPr>
            <a:r>
              <a:rPr lang="en-US" sz="1600" b="1" kern="1200">
                <a:solidFill>
                  <a:srgbClr val="C00000"/>
                </a:solidFill>
                <a:latin typeface="+mn-lt"/>
                <a:ea typeface="+mn-ea"/>
                <a:cs typeface="+mn-cs"/>
              </a:rPr>
              <a:t>CSL – Combined Single Limit </a:t>
            </a:r>
            <a:r>
              <a:rPr lang="en-US" sz="1600" kern="1200">
                <a:solidFill>
                  <a:schemeClr val="tx1"/>
                </a:solidFill>
                <a:latin typeface="+mn-lt"/>
                <a:ea typeface="+mn-ea"/>
                <a:cs typeface="+mn-cs"/>
              </a:rPr>
              <a:t>is the maximum amount that the insurance company must pay for all damages arising out of a single accident.</a:t>
            </a:r>
          </a:p>
          <a:p>
            <a:pPr lvl="1" indent="-457200" fontAlgn="auto">
              <a:spcBef>
                <a:spcPts val="0"/>
              </a:spcBef>
              <a:spcAft>
                <a:spcPts val="0"/>
              </a:spcAft>
              <a:buClr>
                <a:srgbClr val="C00000"/>
              </a:buClr>
              <a:buSzPct val="80000"/>
              <a:defRPr/>
            </a:pPr>
            <a:endParaRPr lang="en-US" sz="1600" b="1" kern="1200">
              <a:solidFill>
                <a:schemeClr val="tx1"/>
              </a:solidFill>
              <a:latin typeface="+mn-lt"/>
              <a:ea typeface="+mn-ea"/>
              <a:cs typeface="+mn-cs"/>
            </a:endParaRPr>
          </a:p>
          <a:p>
            <a:pPr>
              <a:defRPr/>
            </a:pPr>
            <a:r>
              <a:rPr lang="en-US" sz="1600" b="1" kern="1200">
                <a:solidFill>
                  <a:srgbClr val="C00000"/>
                </a:solidFill>
                <a:latin typeface="+mn-lt"/>
                <a:ea typeface="+mn-ea"/>
                <a:cs typeface="+mn-cs"/>
              </a:rPr>
              <a:t>Deductible: </a:t>
            </a:r>
            <a:r>
              <a:rPr lang="en-US" sz="1600" kern="1200">
                <a:solidFill>
                  <a:schemeClr val="tx1"/>
                </a:solidFill>
                <a:latin typeface="+mn-lt"/>
                <a:ea typeface="+mn-ea"/>
                <a:cs typeface="+mn-cs"/>
              </a:rPr>
              <a:t>It's the amount of a claim Insured is responsible for, before the insurance company will start paying it's share of costs.</a:t>
            </a:r>
          </a:p>
          <a:p>
            <a:pPr>
              <a:defRPr/>
            </a:pPr>
            <a:endParaRPr lang="en-US" sz="1600" kern="1200">
              <a:solidFill>
                <a:schemeClr val="tx1"/>
              </a:solidFill>
              <a:latin typeface="+mn-lt"/>
              <a:ea typeface="+mn-ea"/>
              <a:cs typeface="+mn-cs"/>
            </a:endParaRPr>
          </a:p>
          <a:p>
            <a:pPr>
              <a:defRPr/>
            </a:pPr>
            <a:r>
              <a:rPr lang="en-US" sz="1600" kern="1200">
                <a:solidFill>
                  <a:schemeClr val="tx1"/>
                </a:solidFill>
                <a:latin typeface="+mn-lt"/>
                <a:ea typeface="+mn-ea"/>
                <a:cs typeface="+mn-cs"/>
              </a:rPr>
              <a:t>In automobile insurance coverage, you may select a plan with a deductible of $1,000. This would mean that if you have a collision where repairing the damage would cost $5,000, the insurance company would pay $4,000, while you must pick up the rest.</a:t>
            </a:r>
          </a:p>
          <a:p>
            <a:pPr>
              <a:defRPr/>
            </a:pPr>
            <a:r>
              <a:rPr lang="en-US" sz="1600" kern="1200">
                <a:solidFill>
                  <a:schemeClr val="tx1"/>
                </a:solidFill>
                <a:latin typeface="+mn-lt"/>
                <a:ea typeface="+mn-ea"/>
                <a:cs typeface="+mn-cs"/>
              </a:rPr>
              <a:t>If you had a minor accident with a scratch that would cost $500 to repair, the insurance company would not have to pay anything. You would have to pick up the repair costs yourself.</a:t>
            </a:r>
          </a:p>
          <a:p>
            <a:pPr>
              <a:spcBef>
                <a:spcPct val="20000"/>
              </a:spcBef>
              <a:buClr>
                <a:srgbClr val="C00000"/>
              </a:buClr>
              <a:defRPr/>
            </a:pPr>
            <a:r>
              <a:rPr lang="en-US" sz="1600">
                <a:hlinkClick r:id="rId3"/>
              </a:rPr>
              <a:t>https://www.youtube.com/watch?v=-N2c4F_Yiwc</a:t>
            </a:r>
            <a:endParaRPr lang="en-US" sz="1600"/>
          </a:p>
          <a:p>
            <a:pPr>
              <a:spcBef>
                <a:spcPct val="20000"/>
              </a:spcBef>
              <a:buClr>
                <a:srgbClr val="C00000"/>
              </a:buClr>
              <a:defRPr/>
            </a:pPr>
            <a:r>
              <a:rPr lang="en-US" sz="1600">
                <a:hlinkClick r:id="rId4"/>
              </a:rPr>
              <a:t>https://www.youtube.com/watch?v=m-0fzR13W9w</a:t>
            </a:r>
            <a:endParaRPr lang="en-US" sz="1600"/>
          </a:p>
          <a:p>
            <a:pPr>
              <a:defRPr/>
            </a:pPr>
            <a:endParaRPr lang="en-US" sz="1600" kern="1200">
              <a:solidFill>
                <a:schemeClr val="tx1"/>
              </a:solidFill>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pPr>
              <a:defRPr/>
            </a:pPr>
            <a:fld id="{DA158527-55D2-4491-A481-82DAFC91458B}" type="slidenum">
              <a:rPr lang="en-US" smtClean="0"/>
              <a:pPr>
                <a:defRPr/>
              </a:pPr>
              <a:t>2</a:t>
            </a:fld>
            <a:endParaRPr lang="en-US"/>
          </a:p>
        </p:txBody>
      </p:sp>
    </p:spTree>
    <p:extLst>
      <p:ext uri="{BB962C8B-B14F-4D97-AF65-F5344CB8AC3E}">
        <p14:creationId xmlns:p14="http://schemas.microsoft.com/office/powerpoint/2010/main" val="4275898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a:t>What Is Comprehensive Auto Insurance? | Allstate </a:t>
            </a:r>
          </a:p>
          <a:p>
            <a:r>
              <a:rPr lang="en-US"/>
              <a:t>:https://www.allstate.com/tools-and-resources/car-insurance/what-is-comprehensive-auto-insurance.aspx</a:t>
            </a:r>
          </a:p>
          <a:p>
            <a:r>
              <a:rPr lang="en-US"/>
              <a:t>Types of Auto Insurance Coverage | Travelers Insurance Personal Auto Coverage : </a:t>
            </a:r>
          </a:p>
          <a:p>
            <a:r>
              <a:rPr lang="en-US"/>
              <a:t>https://www.youtube.com/watch?v=yJ2iU8XPIRc</a:t>
            </a:r>
          </a:p>
          <a:p>
            <a:r>
              <a:rPr lang="en-US"/>
              <a:t>https://www.youtube.com/watch?v=F53BOU1ImEU</a:t>
            </a:r>
          </a:p>
          <a:p>
            <a:r>
              <a:rPr lang="en-US"/>
              <a:t>https://www.youtube.com/watch?v=EDgfqVysHCo</a:t>
            </a:r>
          </a:p>
          <a:p>
            <a:r>
              <a:rPr lang="en-US"/>
              <a:t>https://www.youtube.com/watch?v=z94_foSJmkA</a:t>
            </a:r>
          </a:p>
          <a:p>
            <a:endParaRPr lang="en-US"/>
          </a:p>
          <a:p>
            <a:pPr marL="285750" lvl="1" indent="-285750">
              <a:buClr>
                <a:srgbClr val="C00000"/>
              </a:buClr>
              <a:buSzPct val="80000"/>
              <a:buFont typeface="Wingdings" panose="05000000000000000000" pitchFamily="2" charset="2"/>
              <a:buChar char="v"/>
              <a:defRPr/>
            </a:pPr>
            <a:r>
              <a:rPr lang="en-US" sz="1600"/>
              <a:t>Limit- Split Limit/ Combined Limit -&gt;  </a:t>
            </a:r>
          </a:p>
          <a:p>
            <a:pPr marL="285750" lvl="1" indent="-285750">
              <a:buClr>
                <a:srgbClr val="C00000"/>
              </a:buClr>
              <a:buSzPct val="80000"/>
              <a:buFont typeface="Wingdings" panose="05000000000000000000" pitchFamily="2" charset="2"/>
              <a:buChar char="v"/>
              <a:defRPr/>
            </a:pPr>
            <a:r>
              <a:rPr lang="en-US" sz="1600"/>
              <a:t>          (BI per person: BI per Accident: PD per Acc. :: 50/150/50) / 200</a:t>
            </a:r>
          </a:p>
          <a:p>
            <a:pPr marL="285750" lvl="1" indent="-285750">
              <a:buClr>
                <a:srgbClr val="C00000"/>
              </a:buClr>
              <a:buSzPct val="80000"/>
              <a:buFont typeface="Wingdings" panose="05000000000000000000" pitchFamily="2" charset="2"/>
              <a:buChar char="v"/>
              <a:defRPr/>
            </a:pPr>
            <a:r>
              <a:rPr lang="en-US" sz="1600">
                <a:hlinkClick r:id="rId3"/>
              </a:rPr>
              <a:t>https://www.youtube.com/watch?v=KJnN0yKlRYk</a:t>
            </a:r>
            <a:endParaRPr lang="en-US" sz="1600"/>
          </a:p>
          <a:p>
            <a:pPr marL="285750" lvl="1" indent="-285750">
              <a:buClr>
                <a:srgbClr val="C00000"/>
              </a:buClr>
              <a:buSzPct val="80000"/>
              <a:buFont typeface="Wingdings" panose="05000000000000000000" pitchFamily="2" charset="2"/>
              <a:buChar char="v"/>
              <a:defRPr/>
            </a:pPr>
            <a:r>
              <a:rPr lang="en-US" sz="1600">
                <a:hlinkClick r:id="rId4"/>
              </a:rPr>
              <a:t>https://www.youtube.com/watch?v=ZzcqNkcc7ZU</a:t>
            </a:r>
            <a:endParaRPr lang="en-US" sz="1600"/>
          </a:p>
          <a:p>
            <a:pPr marL="285750" lvl="1" indent="-285750">
              <a:buClr>
                <a:srgbClr val="C00000"/>
              </a:buClr>
              <a:buSzPct val="80000"/>
              <a:buFont typeface="Wingdings" panose="05000000000000000000" pitchFamily="2" charset="2"/>
              <a:buChar char="v"/>
              <a:defRPr/>
            </a:pPr>
            <a:r>
              <a:rPr lang="en-US" sz="1600">
                <a:hlinkClick r:id="rId5"/>
              </a:rPr>
              <a:t>https://www.youtube.com/watch?v=pVkppIrByCQ</a:t>
            </a:r>
            <a:endParaRPr lang="en-US" sz="1600"/>
          </a:p>
          <a:p>
            <a:endParaRPr lang="en-US"/>
          </a:p>
          <a:p>
            <a:pPr marL="285750" lvl="1" indent="-285750">
              <a:buClr>
                <a:srgbClr val="C00000"/>
              </a:buClr>
              <a:buSzPct val="80000"/>
              <a:buFont typeface="Wingdings" panose="05000000000000000000" pitchFamily="2" charset="2"/>
              <a:buChar char="v"/>
              <a:defRPr/>
            </a:pPr>
            <a:r>
              <a:rPr lang="en-US" sz="1600"/>
              <a:t>Deductibles</a:t>
            </a:r>
          </a:p>
          <a:p>
            <a:pPr marL="285750" lvl="1" indent="-285750">
              <a:buClr>
                <a:srgbClr val="C00000"/>
              </a:buClr>
              <a:buSzPct val="80000"/>
              <a:buFont typeface="Wingdings" panose="05000000000000000000" pitchFamily="2" charset="2"/>
              <a:buChar char="v"/>
              <a:defRPr/>
            </a:pPr>
            <a:r>
              <a:rPr lang="en-US" sz="1600" u="sng">
                <a:hlinkClick r:id="rId6"/>
              </a:rPr>
              <a:t>How Auto Insurance Deductibles Work : Auto Insurance – YouTube</a:t>
            </a:r>
            <a:endParaRPr lang="en-US" sz="1600" u="sng"/>
          </a:p>
          <a:p>
            <a:pPr marL="285750" lvl="1" indent="-285750">
              <a:buClr>
                <a:srgbClr val="C00000"/>
              </a:buClr>
              <a:buSzPct val="80000"/>
              <a:buFont typeface="Wingdings" panose="05000000000000000000" pitchFamily="2" charset="2"/>
              <a:buChar char="v"/>
              <a:defRPr/>
            </a:pPr>
            <a:r>
              <a:rPr lang="en-US" sz="1600">
                <a:hlinkClick r:id="rId7"/>
              </a:rPr>
              <a:t>https://www.youtube.com/watch?v=22zNFunwxnk</a:t>
            </a:r>
            <a:endParaRPr lang="en-US" sz="1600"/>
          </a:p>
          <a:p>
            <a:pPr marL="285750" lvl="1" indent="-285750">
              <a:buClr>
                <a:srgbClr val="C00000"/>
              </a:buClr>
              <a:buSzPct val="80000"/>
              <a:buFont typeface="Wingdings" panose="05000000000000000000" pitchFamily="2" charset="2"/>
              <a:buChar char="v"/>
              <a:defRPr/>
            </a:pPr>
            <a:r>
              <a:rPr lang="en-US" sz="1600" u="sng">
                <a:hlinkClick r:id="rId8"/>
              </a:rPr>
              <a:t>Understanding Auto Insurance Deductibles - YouTube</a:t>
            </a:r>
            <a:endParaRPr lang="en-US" sz="1600"/>
          </a:p>
          <a:p>
            <a:pPr marL="285750" lvl="1" indent="-285750">
              <a:buClr>
                <a:srgbClr val="C00000"/>
              </a:buClr>
              <a:buSzPct val="80000"/>
              <a:buFont typeface="Wingdings" panose="05000000000000000000" pitchFamily="2" charset="2"/>
              <a:buChar char="v"/>
              <a:defRPr/>
            </a:pPr>
            <a:r>
              <a:rPr lang="en-US" sz="1600">
                <a:hlinkClick r:id="rId9"/>
              </a:rPr>
              <a:t>https://www.youtube.com/watch?v=SBbYEcmxmt0</a:t>
            </a:r>
            <a:endParaRPr lang="en-US" sz="1600"/>
          </a:p>
          <a:p>
            <a:endParaRPr lang="en-US"/>
          </a:p>
          <a:p>
            <a:endParaRPr lang="en-US"/>
          </a:p>
          <a:p>
            <a:endParaRPr lang="en-US"/>
          </a:p>
          <a:p>
            <a:endParaRPr lang="en-US"/>
          </a:p>
        </p:txBody>
      </p:sp>
      <p:sp>
        <p:nvSpPr>
          <p:cNvPr id="4" name="Slide Number Placeholder 3"/>
          <p:cNvSpPr>
            <a:spLocks noGrp="1"/>
          </p:cNvSpPr>
          <p:nvPr>
            <p:ph type="sldNum" sz="quarter" idx="10"/>
          </p:nvPr>
        </p:nvSpPr>
        <p:spPr/>
        <p:txBody>
          <a:bodyPr/>
          <a:lstStyle/>
          <a:p>
            <a:pPr>
              <a:defRPr/>
            </a:pPr>
            <a:fld id="{DA158527-55D2-4491-A481-82DAFC91458B}" type="slidenum">
              <a:rPr lang="en-US" smtClean="0"/>
              <a:pPr>
                <a:defRPr/>
              </a:pPr>
              <a:t>3</a:t>
            </a:fld>
            <a:endParaRPr lang="en-US"/>
          </a:p>
        </p:txBody>
      </p:sp>
    </p:spTree>
    <p:extLst>
      <p:ext uri="{BB962C8B-B14F-4D97-AF65-F5344CB8AC3E}">
        <p14:creationId xmlns:p14="http://schemas.microsoft.com/office/powerpoint/2010/main" val="37691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gn="l">
              <a:buFont typeface="+mj-lt"/>
              <a:buAutoNum type="arabicPeriod"/>
            </a:pPr>
            <a:r>
              <a:rPr lang="en-US" b="1" i="0">
                <a:solidFill>
                  <a:srgbClr val="2D3B45"/>
                </a:solidFill>
                <a:effectLst/>
                <a:latin typeface="Lato Extended"/>
              </a:rPr>
              <a:t>Bodily injury liability</a:t>
            </a:r>
            <a:r>
              <a:rPr lang="en-US" b="0" i="0">
                <a:solidFill>
                  <a:srgbClr val="2D3B45"/>
                </a:solidFill>
                <a:effectLst/>
                <a:latin typeface="Lato Extended"/>
              </a:rPr>
              <a:t> - it is defined per person and per accident</a:t>
            </a:r>
          </a:p>
          <a:p>
            <a:pPr algn="l">
              <a:buFont typeface="+mj-lt"/>
              <a:buAutoNum type="arabicPeriod"/>
            </a:pPr>
            <a:r>
              <a:rPr lang="en-US" b="1" i="0">
                <a:solidFill>
                  <a:srgbClr val="2D3B45"/>
                </a:solidFill>
                <a:effectLst/>
                <a:latin typeface="Lato Extended"/>
              </a:rPr>
              <a:t>Property damage liability</a:t>
            </a:r>
            <a:r>
              <a:rPr lang="en-US" b="0" i="0">
                <a:solidFill>
                  <a:srgbClr val="2D3B45"/>
                </a:solidFill>
                <a:effectLst/>
                <a:latin typeface="Lato Extended"/>
              </a:rPr>
              <a:t> - it is defined per accident and covers damage that you become responsible for, not damage to your own car</a:t>
            </a:r>
          </a:p>
          <a:p>
            <a:pPr algn="l">
              <a:buFont typeface="+mj-lt"/>
              <a:buAutoNum type="arabicPeriod"/>
            </a:pPr>
            <a:r>
              <a:rPr lang="en-US" b="1" i="0">
                <a:solidFill>
                  <a:srgbClr val="2D3B45"/>
                </a:solidFill>
                <a:effectLst/>
                <a:latin typeface="Lato Extended"/>
              </a:rPr>
              <a:t>Personal injury protection</a:t>
            </a:r>
            <a:r>
              <a:rPr lang="en-US" b="0" i="0">
                <a:solidFill>
                  <a:srgbClr val="2D3B45"/>
                </a:solidFill>
                <a:effectLst/>
                <a:latin typeface="Lato Extended"/>
              </a:rPr>
              <a:t> - it is defined per person and per accident  and may include limits to medical and other expenses</a:t>
            </a:r>
          </a:p>
          <a:p>
            <a:pPr algn="l">
              <a:buFont typeface="+mj-lt"/>
              <a:buAutoNum type="arabicPeriod"/>
            </a:pPr>
            <a:r>
              <a:rPr lang="en-US" b="1" i="0">
                <a:solidFill>
                  <a:srgbClr val="2D3B45"/>
                </a:solidFill>
                <a:effectLst/>
                <a:latin typeface="Lato Extended"/>
              </a:rPr>
              <a:t>Collision</a:t>
            </a:r>
            <a:r>
              <a:rPr lang="en-US" b="0" i="0">
                <a:solidFill>
                  <a:srgbClr val="2D3B45"/>
                </a:solidFill>
                <a:effectLst/>
                <a:latin typeface="Lato Extended"/>
              </a:rPr>
              <a:t> - it covers repair or replacement of your car in case of damage caused by an accident</a:t>
            </a:r>
          </a:p>
          <a:p>
            <a:pPr algn="l">
              <a:buFont typeface="+mj-lt"/>
              <a:buAutoNum type="arabicPeriod"/>
            </a:pPr>
            <a:r>
              <a:rPr lang="en-US" b="1" i="0">
                <a:solidFill>
                  <a:srgbClr val="2D3B45"/>
                </a:solidFill>
                <a:effectLst/>
                <a:latin typeface="Lato Extended"/>
              </a:rPr>
              <a:t>Comprehensive</a:t>
            </a:r>
            <a:r>
              <a:rPr lang="en-US" b="0" i="0">
                <a:solidFill>
                  <a:srgbClr val="2D3B45"/>
                </a:solidFill>
                <a:effectLst/>
                <a:latin typeface="Lato Extended"/>
              </a:rPr>
              <a:t> - it covers repair or replacement of your car in case of damage NOT caused by an accident</a:t>
            </a:r>
          </a:p>
          <a:p>
            <a:pPr algn="l">
              <a:buFont typeface="+mj-lt"/>
              <a:buAutoNum type="arabicPeriod"/>
            </a:pPr>
            <a:r>
              <a:rPr lang="en-US" b="1" i="0">
                <a:solidFill>
                  <a:srgbClr val="2D3B45"/>
                </a:solidFill>
                <a:effectLst/>
                <a:latin typeface="Lato Extended"/>
              </a:rPr>
              <a:t>Medical payments</a:t>
            </a:r>
            <a:r>
              <a:rPr lang="en-US" b="0" i="0">
                <a:solidFill>
                  <a:srgbClr val="2D3B45"/>
                </a:solidFill>
                <a:effectLst/>
                <a:latin typeface="Lato Extended"/>
              </a:rPr>
              <a:t> - it covers your medical expenses and could be limited</a:t>
            </a:r>
          </a:p>
          <a:p>
            <a:pPr algn="l">
              <a:buFont typeface="+mj-lt"/>
              <a:buAutoNum type="arabicPeriod"/>
            </a:pPr>
            <a:r>
              <a:rPr lang="en-US" b="1" i="0">
                <a:solidFill>
                  <a:srgbClr val="2D3B45"/>
                </a:solidFill>
                <a:effectLst/>
                <a:latin typeface="Lato Extended"/>
              </a:rPr>
              <a:t>Uninsured motorist</a:t>
            </a:r>
            <a:r>
              <a:rPr lang="en-US" b="0" i="0">
                <a:solidFill>
                  <a:srgbClr val="2D3B45"/>
                </a:solidFill>
                <a:effectLst/>
                <a:latin typeface="Lato Extended"/>
              </a:rPr>
              <a:t> - it covers you and your car if you get hit by uninsured motorist (someone driving without insurance)</a:t>
            </a:r>
          </a:p>
          <a:p>
            <a:pPr algn="l">
              <a:buFont typeface="+mj-lt"/>
              <a:buAutoNum type="arabicPeriod"/>
            </a:pPr>
            <a:r>
              <a:rPr lang="en-US" b="1" i="0">
                <a:solidFill>
                  <a:srgbClr val="2D3B45"/>
                </a:solidFill>
                <a:effectLst/>
                <a:latin typeface="Lato Extended"/>
              </a:rPr>
              <a:t>Rental reimbursement</a:t>
            </a:r>
            <a:r>
              <a:rPr lang="en-US" b="0" i="0">
                <a:solidFill>
                  <a:srgbClr val="2D3B45"/>
                </a:solidFill>
                <a:effectLst/>
                <a:latin typeface="Lato Extended"/>
              </a:rPr>
              <a:t> - it covers a rental car and could be limited to specific situations and time span</a:t>
            </a:r>
          </a:p>
          <a:p>
            <a:pPr algn="l">
              <a:buFont typeface="+mj-lt"/>
              <a:buAutoNum type="arabicPeriod"/>
            </a:pPr>
            <a:r>
              <a:rPr lang="en-US" b="1" i="0">
                <a:solidFill>
                  <a:srgbClr val="2D3B45"/>
                </a:solidFill>
                <a:effectLst/>
                <a:latin typeface="Lato Extended"/>
              </a:rPr>
              <a:t>Towing and labor</a:t>
            </a:r>
            <a:r>
              <a:rPr lang="en-US" b="0" i="0">
                <a:solidFill>
                  <a:srgbClr val="2D3B45"/>
                </a:solidFill>
                <a:effectLst/>
                <a:latin typeface="Lato Extended"/>
              </a:rPr>
              <a:t> - it covers towing and labor on your car and could be limited to specific cases</a:t>
            </a:r>
          </a:p>
          <a:p>
            <a:pPr algn="l">
              <a:buFont typeface="+mj-lt"/>
              <a:buAutoNum type="arabicPeriod"/>
            </a:pPr>
            <a:r>
              <a:rPr lang="en-US" b="0" i="0">
                <a:solidFill>
                  <a:srgbClr val="2D3B45"/>
                </a:solidFill>
                <a:effectLst/>
                <a:latin typeface="Lato Extended"/>
              </a:rPr>
              <a:t>https://psu.instructure.com/courses/1806581/pages/chapter-4-types-of-auto-insurance-coverage</a:t>
            </a:r>
          </a:p>
          <a:p>
            <a:pPr algn="l">
              <a:buFont typeface="+mj-lt"/>
              <a:buAutoNum type="arabicPeriod"/>
            </a:pPr>
            <a:endParaRPr lang="en-US" b="0" i="0">
              <a:solidFill>
                <a:srgbClr val="2D3B45"/>
              </a:solidFill>
              <a:effectLst/>
              <a:latin typeface="Lato Extended"/>
            </a:endParaRPr>
          </a:p>
          <a:p>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4</a:t>
            </a:fld>
            <a:endParaRPr lang="en-US"/>
          </a:p>
        </p:txBody>
      </p:sp>
    </p:spTree>
    <p:extLst>
      <p:ext uri="{BB962C8B-B14F-4D97-AF65-F5344CB8AC3E}">
        <p14:creationId xmlns:p14="http://schemas.microsoft.com/office/powerpoint/2010/main" val="3981154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major parts.</a:t>
            </a:r>
          </a:p>
          <a:p>
            <a:r>
              <a:rPr lang="en-US"/>
              <a:t>Part A—Liability coverage</a:t>
            </a:r>
          </a:p>
          <a:p>
            <a:r>
              <a:rPr lang="en-US"/>
              <a:t>Part B—Medical payments coverage</a:t>
            </a:r>
          </a:p>
          <a:p>
            <a:r>
              <a:rPr lang="en-US"/>
              <a:t>Part C—Uninsured motorists coverage</a:t>
            </a:r>
          </a:p>
          <a:p>
            <a:r>
              <a:rPr lang="en-US"/>
              <a:t>Part D—Coverage for damage to your auto</a:t>
            </a:r>
          </a:p>
          <a:p>
            <a:r>
              <a:rPr lang="en-US"/>
              <a:t>Part E—Duties after an accident or loss</a:t>
            </a:r>
          </a:p>
          <a:p>
            <a:r>
              <a:rPr lang="en-US"/>
              <a:t>Part F—General provisions</a:t>
            </a:r>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5</a:t>
            </a:fld>
            <a:endParaRPr lang="en-US"/>
          </a:p>
        </p:txBody>
      </p:sp>
    </p:spTree>
    <p:extLst>
      <p:ext uri="{BB962C8B-B14F-4D97-AF65-F5344CB8AC3E}">
        <p14:creationId xmlns:p14="http://schemas.microsoft.com/office/powerpoint/2010/main" val="4470037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a:latin typeface="Calibri" pitchFamily="34" charset="0"/>
            </a:endParaRPr>
          </a:p>
        </p:txBody>
      </p:sp>
      <p:sp>
        <p:nvSpPr>
          <p:cNvPr id="5" name="Rectangle 4"/>
          <p:cNvSpPr/>
          <p:nvPr userDrawn="1"/>
        </p:nvSpPr>
        <p:spPr>
          <a:xfrm>
            <a:off x="2662" y="-675"/>
            <a:ext cx="12349480" cy="6961188"/>
          </a:xfrm>
          <a:prstGeom prst="rect">
            <a:avLst/>
          </a:prstGeom>
          <a:solidFill>
            <a:srgbClr val="205595"/>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9" name="TextBox 8"/>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pic>
        <p:nvPicPr>
          <p:cNvPr id="10" name="Picture 9"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12344400" cy="6950075"/>
          </a:xfrm>
          <a:prstGeom prst="rect">
            <a:avLst/>
          </a:prstGeom>
          <a:solidFill>
            <a:srgbClr val="D64120"/>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latin typeface="Segoe UI" panose="020B0502040204020203" pitchFamily="34" charset="0"/>
            </a:endParaRP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9" name="Picture 8"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
        <p:nvSpPr>
          <p:cNvPr id="10" name="TextBox 9"/>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Tree>
    <p:extLst>
      <p:ext uri="{BB962C8B-B14F-4D97-AF65-F5344CB8AC3E}">
        <p14:creationId xmlns:p14="http://schemas.microsoft.com/office/powerpoint/2010/main" val="8434308"/>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a:latin typeface="Calibri" pitchFamily="34" charset="0"/>
            </a:endParaRPr>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11" name="Picture 10"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35818" y="1570037"/>
            <a:ext cx="1723779" cy="1276350"/>
          </a:xfrm>
          <a:prstGeom prst="rect">
            <a:avLst/>
          </a:prstGeom>
        </p:spPr>
      </p:pic>
      <p:sp>
        <p:nvSpPr>
          <p:cNvPr id="12" name="TextBox 11"/>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
        <p:nvSpPr>
          <p:cNvPr id="14" name="Rectangle 13"/>
          <p:cNvSpPr/>
          <p:nvPr userDrawn="1"/>
        </p:nvSpPr>
        <p:spPr>
          <a:xfrm>
            <a:off x="0" y="-11113"/>
            <a:ext cx="12344400" cy="6950075"/>
          </a:xfrm>
          <a:prstGeom prst="rect">
            <a:avLst/>
          </a:prstGeom>
          <a:solidFill>
            <a:srgbClr val="0B8D82"/>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15" name="Picture 14"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10" name="TextBox 9"/>
          <p:cNvSpPr txBox="1"/>
          <p:nvPr userDrawn="1"/>
        </p:nvSpPr>
        <p:spPr>
          <a:xfrm>
            <a:off x="11666098" y="66009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Tree>
  </p:cSld>
  <p:clrMapOvr>
    <a:overrideClrMapping bg1="lt1" tx1="dk1" bg2="lt2" tx2="dk2" accent1="accent1" accent2="accent2" accent3="accent3" accent4="accent4" accent5="accent5" accent6="accent6" hlink="hlink" folHlink="folHlink"/>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00" y="198437"/>
            <a:ext cx="1313371" cy="85431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17220" y="278325"/>
            <a:ext cx="11109960" cy="1158346"/>
          </a:xfrm>
          <a:prstGeom prst="rect">
            <a:avLst/>
          </a:prstGeom>
          <a:noFill/>
          <a:ln w="9525">
            <a:noFill/>
            <a:miter lim="800000"/>
            <a:headEnd/>
            <a:tailEnd/>
          </a:ln>
        </p:spPr>
        <p:txBody>
          <a:bodyPr vert="horz" wrap="square" lIns="110249" tIns="55125" rIns="110249" bIns="55125"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17220" y="1621685"/>
            <a:ext cx="11109960" cy="4586728"/>
          </a:xfrm>
          <a:prstGeom prst="rect">
            <a:avLst/>
          </a:prstGeom>
          <a:noFill/>
          <a:ln w="9525">
            <a:noFill/>
            <a:miter lim="800000"/>
            <a:headEnd/>
            <a:tailEnd/>
          </a:ln>
        </p:spPr>
        <p:txBody>
          <a:bodyPr vert="horz" wrap="square" lIns="110249" tIns="55125" rIns="110249" bIns="5512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 y="6441690"/>
            <a:ext cx="2880360" cy="370027"/>
          </a:xfrm>
          <a:prstGeom prst="rect">
            <a:avLst/>
          </a:prstGeom>
        </p:spPr>
        <p:txBody>
          <a:bodyPr vert="horz" lIns="110249" tIns="55125" rIns="110249" bIns="55125" rtlCol="0" anchor="ctr"/>
          <a:lstStyle>
            <a:lvl1pPr algn="l" fontAlgn="auto">
              <a:spcBef>
                <a:spcPts val="0"/>
              </a:spcBef>
              <a:spcAft>
                <a:spcPts val="0"/>
              </a:spcAft>
              <a:defRPr sz="1400">
                <a:solidFill>
                  <a:schemeClr val="tx1">
                    <a:tint val="75000"/>
                  </a:schemeClr>
                </a:solidFill>
                <a:latin typeface="+mn-lt"/>
                <a:cs typeface="+mn-cs"/>
              </a:defRPr>
            </a:lvl1pPr>
          </a:lstStyle>
          <a:p>
            <a:pPr>
              <a:defRPr/>
            </a:pPr>
            <a:fld id="{033C36AE-1F22-4034-AC38-1EF7C2E753D1}" type="datetimeFigureOut">
              <a:rPr lang="en-US"/>
              <a:pPr>
                <a:defRPr/>
              </a:pPr>
              <a:t>12/9/2023</a:t>
            </a:fld>
            <a:endParaRPr lang="en-US"/>
          </a:p>
        </p:txBody>
      </p:sp>
      <p:sp>
        <p:nvSpPr>
          <p:cNvPr id="5" name="Footer Placeholder 4"/>
          <p:cNvSpPr>
            <a:spLocks noGrp="1"/>
          </p:cNvSpPr>
          <p:nvPr>
            <p:ph type="ftr" sz="quarter" idx="3"/>
          </p:nvPr>
        </p:nvSpPr>
        <p:spPr>
          <a:xfrm>
            <a:off x="4217670" y="6441690"/>
            <a:ext cx="3909060" cy="370027"/>
          </a:xfrm>
          <a:prstGeom prst="rect">
            <a:avLst/>
          </a:prstGeom>
        </p:spPr>
        <p:txBody>
          <a:bodyPr vert="horz" lIns="110249" tIns="55125" rIns="110249" bIns="55125" rtlCol="0" anchor="ctr"/>
          <a:lstStyle>
            <a:lvl1pPr algn="ctr" fontAlgn="auto">
              <a:spcBef>
                <a:spcPts val="0"/>
              </a:spcBef>
              <a:spcAft>
                <a:spcPts val="0"/>
              </a:spcAft>
              <a:defRPr sz="14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846820" y="6441690"/>
            <a:ext cx="2880360" cy="370027"/>
          </a:xfrm>
          <a:prstGeom prst="rect">
            <a:avLst/>
          </a:prstGeom>
        </p:spPr>
        <p:txBody>
          <a:bodyPr vert="horz" lIns="110249" tIns="55125" rIns="110249" bIns="55125" rtlCol="0" anchor="ctr"/>
          <a:lstStyle>
            <a:lvl1pPr algn="r" fontAlgn="auto">
              <a:spcBef>
                <a:spcPts val="0"/>
              </a:spcBef>
              <a:spcAft>
                <a:spcPts val="0"/>
              </a:spcAft>
              <a:defRPr sz="1400">
                <a:solidFill>
                  <a:schemeClr val="tx1">
                    <a:tint val="75000"/>
                  </a:schemeClr>
                </a:solidFill>
                <a:latin typeface="+mn-lt"/>
                <a:cs typeface="+mn-cs"/>
              </a:defRPr>
            </a:lvl1pPr>
          </a:lstStyle>
          <a:p>
            <a:pPr>
              <a:defRPr/>
            </a:pPr>
            <a:fld id="{019164D7-1688-4482-BCBF-BB84A53684B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6" r:id="rId1"/>
    <p:sldLayoutId id="2147483663" r:id="rId2"/>
    <p:sldLayoutId id="2147483657" r:id="rId3"/>
    <p:sldLayoutId id="2147483659" r:id="rId4"/>
  </p:sldLayoutIdLst>
  <p:transition>
    <p:fade thruBlk="1"/>
  </p:transition>
  <p:txStyles>
    <p:titleStyle>
      <a:lvl1pPr algn="ctr" rtl="0" eaLnBrk="1" fontAlgn="base" hangingPunct="1">
        <a:spcBef>
          <a:spcPct val="0"/>
        </a:spcBef>
        <a:spcAft>
          <a:spcPct val="0"/>
        </a:spcAft>
        <a:defRPr sz="5300" kern="1200">
          <a:solidFill>
            <a:schemeClr val="tx1"/>
          </a:solidFill>
          <a:latin typeface="+mj-lt"/>
          <a:ea typeface="+mj-ea"/>
          <a:cs typeface="+mj-cs"/>
        </a:defRPr>
      </a:lvl1pPr>
      <a:lvl2pPr algn="ctr" rtl="0" eaLnBrk="1" fontAlgn="base" hangingPunct="1">
        <a:spcBef>
          <a:spcPct val="0"/>
        </a:spcBef>
        <a:spcAft>
          <a:spcPct val="0"/>
        </a:spcAft>
        <a:defRPr sz="5300">
          <a:solidFill>
            <a:schemeClr val="tx1"/>
          </a:solidFill>
          <a:latin typeface="Calibri" pitchFamily="34" charset="0"/>
        </a:defRPr>
      </a:lvl2pPr>
      <a:lvl3pPr algn="ctr" rtl="0" eaLnBrk="1" fontAlgn="base" hangingPunct="1">
        <a:spcBef>
          <a:spcPct val="0"/>
        </a:spcBef>
        <a:spcAft>
          <a:spcPct val="0"/>
        </a:spcAft>
        <a:defRPr sz="5300">
          <a:solidFill>
            <a:schemeClr val="tx1"/>
          </a:solidFill>
          <a:latin typeface="Calibri" pitchFamily="34" charset="0"/>
        </a:defRPr>
      </a:lvl3pPr>
      <a:lvl4pPr algn="ctr" rtl="0" eaLnBrk="1" fontAlgn="base" hangingPunct="1">
        <a:spcBef>
          <a:spcPct val="0"/>
        </a:spcBef>
        <a:spcAft>
          <a:spcPct val="0"/>
        </a:spcAft>
        <a:defRPr sz="5300">
          <a:solidFill>
            <a:schemeClr val="tx1"/>
          </a:solidFill>
          <a:latin typeface="Calibri" pitchFamily="34" charset="0"/>
        </a:defRPr>
      </a:lvl4pPr>
      <a:lvl5pPr algn="ctr" rtl="0" eaLnBrk="1" fontAlgn="base" hangingPunct="1">
        <a:spcBef>
          <a:spcPct val="0"/>
        </a:spcBef>
        <a:spcAft>
          <a:spcPct val="0"/>
        </a:spcAft>
        <a:defRPr sz="5300">
          <a:solidFill>
            <a:schemeClr val="tx1"/>
          </a:solidFill>
          <a:latin typeface="Calibri" pitchFamily="34" charset="0"/>
        </a:defRPr>
      </a:lvl5pPr>
      <a:lvl6pPr marL="551246" algn="ctr" rtl="0" eaLnBrk="1" fontAlgn="base" hangingPunct="1">
        <a:spcBef>
          <a:spcPct val="0"/>
        </a:spcBef>
        <a:spcAft>
          <a:spcPct val="0"/>
        </a:spcAft>
        <a:defRPr sz="5300">
          <a:solidFill>
            <a:schemeClr val="tx1"/>
          </a:solidFill>
          <a:latin typeface="Calibri" pitchFamily="34" charset="0"/>
        </a:defRPr>
      </a:lvl6pPr>
      <a:lvl7pPr marL="1102492" algn="ctr" rtl="0" eaLnBrk="1" fontAlgn="base" hangingPunct="1">
        <a:spcBef>
          <a:spcPct val="0"/>
        </a:spcBef>
        <a:spcAft>
          <a:spcPct val="0"/>
        </a:spcAft>
        <a:defRPr sz="5300">
          <a:solidFill>
            <a:schemeClr val="tx1"/>
          </a:solidFill>
          <a:latin typeface="Calibri" pitchFamily="34" charset="0"/>
        </a:defRPr>
      </a:lvl7pPr>
      <a:lvl8pPr marL="1653738" algn="ctr" rtl="0" eaLnBrk="1" fontAlgn="base" hangingPunct="1">
        <a:spcBef>
          <a:spcPct val="0"/>
        </a:spcBef>
        <a:spcAft>
          <a:spcPct val="0"/>
        </a:spcAft>
        <a:defRPr sz="5300">
          <a:solidFill>
            <a:schemeClr val="tx1"/>
          </a:solidFill>
          <a:latin typeface="Calibri" pitchFamily="34" charset="0"/>
        </a:defRPr>
      </a:lvl8pPr>
      <a:lvl9pPr marL="2204984" algn="ctr" rtl="0" eaLnBrk="1" fontAlgn="base" hangingPunct="1">
        <a:spcBef>
          <a:spcPct val="0"/>
        </a:spcBef>
        <a:spcAft>
          <a:spcPct val="0"/>
        </a:spcAft>
        <a:defRPr sz="5300">
          <a:solidFill>
            <a:schemeClr val="tx1"/>
          </a:solidFill>
          <a:latin typeface="Calibri" pitchFamily="34" charset="0"/>
        </a:defRPr>
      </a:lvl9pPr>
    </p:titleStyle>
    <p:bodyStyle>
      <a:lvl1pPr marL="413435" indent="-413435" algn="l" rtl="0" eaLnBrk="1" fontAlgn="base" hangingPunct="1">
        <a:spcBef>
          <a:spcPct val="20000"/>
        </a:spcBef>
        <a:spcAft>
          <a:spcPct val="0"/>
        </a:spcAft>
        <a:buFont typeface="Arial" charset="0"/>
        <a:buChar char="•"/>
        <a:defRPr sz="3900" kern="1200">
          <a:solidFill>
            <a:schemeClr val="tx1"/>
          </a:solidFill>
          <a:latin typeface="+mn-lt"/>
          <a:ea typeface="+mn-ea"/>
          <a:cs typeface="+mn-cs"/>
        </a:defRPr>
      </a:lvl1pPr>
      <a:lvl2pPr marL="895775" indent="-344529" algn="l" rtl="0" eaLnBrk="1" fontAlgn="base" hangingPunct="1">
        <a:spcBef>
          <a:spcPct val="20000"/>
        </a:spcBef>
        <a:spcAft>
          <a:spcPct val="0"/>
        </a:spcAft>
        <a:buFont typeface="Arial" charset="0"/>
        <a:buChar char="–"/>
        <a:defRPr sz="3400" kern="1200">
          <a:solidFill>
            <a:schemeClr val="tx1"/>
          </a:solidFill>
          <a:latin typeface="+mn-lt"/>
          <a:ea typeface="+mn-ea"/>
          <a:cs typeface="+mn-cs"/>
        </a:defRPr>
      </a:lvl2pPr>
      <a:lvl3pPr marL="1378115" indent="-275623" algn="l" rtl="0" eaLnBrk="1" fontAlgn="base" hangingPunct="1">
        <a:spcBef>
          <a:spcPct val="20000"/>
        </a:spcBef>
        <a:spcAft>
          <a:spcPct val="0"/>
        </a:spcAft>
        <a:buFont typeface="Arial" charset="0"/>
        <a:buChar char="•"/>
        <a:defRPr sz="2900" kern="1200">
          <a:solidFill>
            <a:schemeClr val="tx1"/>
          </a:solidFill>
          <a:latin typeface="+mn-lt"/>
          <a:ea typeface="+mn-ea"/>
          <a:cs typeface="+mn-cs"/>
        </a:defRPr>
      </a:lvl3pPr>
      <a:lvl4pPr marL="1929361"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4pPr>
      <a:lvl5pPr marL="2480607"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5pPr>
      <a:lvl6pPr marL="3031853"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83099"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34345"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85591"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102492" rtl="0" eaLnBrk="1" latinLnBrk="0" hangingPunct="1">
        <a:defRPr sz="2200" kern="1200">
          <a:solidFill>
            <a:schemeClr val="tx1"/>
          </a:solidFill>
          <a:latin typeface="+mn-lt"/>
          <a:ea typeface="+mn-ea"/>
          <a:cs typeface="+mn-cs"/>
        </a:defRPr>
      </a:lvl1pPr>
      <a:lvl2pPr marL="551246" algn="l" defTabSz="1102492" rtl="0" eaLnBrk="1" latinLnBrk="0" hangingPunct="1">
        <a:defRPr sz="2200" kern="1200">
          <a:solidFill>
            <a:schemeClr val="tx1"/>
          </a:solidFill>
          <a:latin typeface="+mn-lt"/>
          <a:ea typeface="+mn-ea"/>
          <a:cs typeface="+mn-cs"/>
        </a:defRPr>
      </a:lvl2pPr>
      <a:lvl3pPr marL="1102492" algn="l" defTabSz="1102492" rtl="0" eaLnBrk="1" latinLnBrk="0" hangingPunct="1">
        <a:defRPr sz="2200" kern="1200">
          <a:solidFill>
            <a:schemeClr val="tx1"/>
          </a:solidFill>
          <a:latin typeface="+mn-lt"/>
          <a:ea typeface="+mn-ea"/>
          <a:cs typeface="+mn-cs"/>
        </a:defRPr>
      </a:lvl3pPr>
      <a:lvl4pPr marL="1653738" algn="l" defTabSz="1102492" rtl="0" eaLnBrk="1" latinLnBrk="0" hangingPunct="1">
        <a:defRPr sz="2200" kern="1200">
          <a:solidFill>
            <a:schemeClr val="tx1"/>
          </a:solidFill>
          <a:latin typeface="+mn-lt"/>
          <a:ea typeface="+mn-ea"/>
          <a:cs typeface="+mn-cs"/>
        </a:defRPr>
      </a:lvl4pPr>
      <a:lvl5pPr marL="2204984" algn="l" defTabSz="1102492" rtl="0" eaLnBrk="1" latinLnBrk="0" hangingPunct="1">
        <a:defRPr sz="2200" kern="1200">
          <a:solidFill>
            <a:schemeClr val="tx1"/>
          </a:solidFill>
          <a:latin typeface="+mn-lt"/>
          <a:ea typeface="+mn-ea"/>
          <a:cs typeface="+mn-cs"/>
        </a:defRPr>
      </a:lvl5pPr>
      <a:lvl6pPr marL="2756230" algn="l" defTabSz="1102492" rtl="0" eaLnBrk="1" latinLnBrk="0" hangingPunct="1">
        <a:defRPr sz="2200" kern="1200">
          <a:solidFill>
            <a:schemeClr val="tx1"/>
          </a:solidFill>
          <a:latin typeface="+mn-lt"/>
          <a:ea typeface="+mn-ea"/>
          <a:cs typeface="+mn-cs"/>
        </a:defRPr>
      </a:lvl6pPr>
      <a:lvl7pPr marL="3307476" algn="l" defTabSz="1102492" rtl="0" eaLnBrk="1" latinLnBrk="0" hangingPunct="1">
        <a:defRPr sz="2200" kern="1200">
          <a:solidFill>
            <a:schemeClr val="tx1"/>
          </a:solidFill>
          <a:latin typeface="+mn-lt"/>
          <a:ea typeface="+mn-ea"/>
          <a:cs typeface="+mn-cs"/>
        </a:defRPr>
      </a:lvl7pPr>
      <a:lvl8pPr marL="3858722" algn="l" defTabSz="1102492" rtl="0" eaLnBrk="1" latinLnBrk="0" hangingPunct="1">
        <a:defRPr sz="2200" kern="1200">
          <a:solidFill>
            <a:schemeClr val="tx1"/>
          </a:solidFill>
          <a:latin typeface="+mn-lt"/>
          <a:ea typeface="+mn-ea"/>
          <a:cs typeface="+mn-cs"/>
        </a:defRPr>
      </a:lvl8pPr>
      <a:lvl9pPr marL="4409968" algn="l" defTabSz="1102492"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hyperlink" Target="https://www.youtube.com/watch?v=CBmtFPMUcr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psu.instructure.com/courses/1806581/pages/chapter-4-types-of-auto-insurance-coverag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slideplayer.com/slide/13871052/"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wallethub.com/edu/med-pay/9255/" TargetMode="External"/><Relationship Id="rId3" Type="http://schemas.openxmlformats.org/officeDocument/2006/relationships/hyperlink" Target="https://www.libertymutual.com/auto/car-insurance-coverage/bodily-injury-liability" TargetMode="External"/><Relationship Id="rId7" Type="http://schemas.openxmlformats.org/officeDocument/2006/relationships/hyperlink" Target="http://businessinsure.about.com/od/commercialauto/a/Insuring-Non-owned-Autos.htm" TargetMode="External"/><Relationship Id="rId12" Type="http://schemas.openxmlformats.org/officeDocument/2006/relationships/image" Target="../media/image5.png"/><Relationship Id="rId2" Type="http://schemas.openxmlformats.org/officeDocument/2006/relationships/hyperlink" Target="https://www.google.co.in/url?sa=t&amp;rct=j&amp;q=&amp;esrc=s&amp;source=video&amp;cd=8&amp;cad=rja&amp;uact=8&amp;ved=0ahUKEwj0_sKun6zNAhXEvY8KHUOEA88QtwIIUjAH&amp;url=https://www.libertymutual.com/auto/car-insurance-coverage/bodily-injury-liability&amp;usg=AFQjCNFPekfqprd8f3N9NgsmmgctNvnP3w&amp;sig2=4tuuSPjddwJCmSfHGNHMfA&amp;bvm=bv.124272578,d.c2I" TargetMode="External"/><Relationship Id="rId1" Type="http://schemas.openxmlformats.org/officeDocument/2006/relationships/slideLayout" Target="../slideLayouts/slideLayout4.xml"/><Relationship Id="rId6" Type="http://schemas.openxmlformats.org/officeDocument/2006/relationships/hyperlink" Target="https://www.allstate.com/tools-and-resources/car-insurance/what-is-comprehensive-auto-insurance.aspx" TargetMode="External"/><Relationship Id="rId11" Type="http://schemas.openxmlformats.org/officeDocument/2006/relationships/hyperlink" Target="https://www.google.co.in/url?sa=t&amp;rct=j&amp;q=&amp;esrc=s&amp;source=video&amp;cd=5&amp;cad=rja&amp;uact=8&amp;ved=0ahUKEwiVs-LJpqzNAhVEpo8KHRIwA_MQtwIISTAE&amp;url=https://www.youtube.com/watch?v%3D22zNFunwxnk&amp;usg=AFQjCNGxEiG148pS_Z1U7ftCk1KitbX2uw&amp;sig2=3llf9BmMWqMaQkf_rDJrJA&amp;bvm=bv.124272578,d.c2I" TargetMode="External"/><Relationship Id="rId5" Type="http://schemas.openxmlformats.org/officeDocument/2006/relationships/hyperlink" Target="https://www.google.co.in/url?sa=t&amp;rct=j&amp;q=&amp;esrc=s&amp;source=video&amp;cd=4&amp;cad=rja&amp;uact=8&amp;ved=0ahUKEwj0_sKun6zNAhXEvY8KHUOEA88QtwIIQDAD&amp;url=https://www.allstate.com/tools-and-resources/car-insurance/what-is-comprehensive-auto-insurance.aspx&amp;usg=AFQjCNFeEemcKLK1TKj1FA3LzSo84S4RoQ&amp;sig2=KwPgWWJ613U2E7drlGXtoA&amp;bvm=bv.124272578,d.c2I" TargetMode="External"/><Relationship Id="rId10" Type="http://schemas.openxmlformats.org/officeDocument/2006/relationships/hyperlink" Target="https://www.youtube.com/watch?v=KJnN0yKlRYk" TargetMode="External"/><Relationship Id="rId4" Type="http://schemas.openxmlformats.org/officeDocument/2006/relationships/hyperlink" Target="https://wallethub.com/edu/liability-car-insurance/7300/" TargetMode="External"/><Relationship Id="rId9" Type="http://schemas.openxmlformats.org/officeDocument/2006/relationships/hyperlink" Target="https://wallethub.com/edu/pip-insurance/9248/"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www.jasonschultzpc.com/blog/the-role-of-your-insurance-and-other-parties-insurance-when-multiple-parties-are-at-fault.cfm" TargetMode="External"/><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hyperlink" Target="http://www.lombardilaw.com/blog/how-do-multiple-passengers-split-the-limits-of-auto-insurance-.cf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LYH37mGcHZw" TargetMode="External"/><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hyperlink" Target="https://www.youtube.com/watch?v=60YFGiqosxo" TargetMode="External"/><Relationship Id="rId4" Type="http://schemas.openxmlformats.org/officeDocument/2006/relationships/hyperlink" Target="https://www.youtube.com/watch?v=lW4MQm2BO4E"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fitsmallbusiness.com/commercial-vs-personal-auto-insurance/" TargetMode="External"/><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hyperlink" Target="https://www.insuranceshopllc.com/business/coverage/commercial-auto.php" TargetMode="External"/><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verisk.com/insurance/visualize/where-is-the-personal-auto-market-and-how-did-we-get-here/" TargetMode="External"/><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www.swampfoxagency.com/benefits-of-commercial-auto-insurance/" TargetMode="External"/><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www.myallianceinsurance.com/how-to-rock-commercial-auto-insurance-in-north-carolina/" TargetMode="External"/><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1055350389"/>
              </p:ext>
            </p:extLst>
          </p:nvPr>
        </p:nvGraphicFramePr>
        <p:xfrm>
          <a:off x="0" y="1036637"/>
          <a:ext cx="12344400" cy="4762500"/>
        </p:xfrm>
        <a:graphic>
          <a:graphicData uri="http://schemas.openxmlformats.org/presentationml/2006/ole">
            <mc:AlternateContent xmlns:mc="http://schemas.openxmlformats.org/markup-compatibility/2006">
              <mc:Choice xmlns:v="urn:schemas-microsoft-com:vml" Requires="v">
                <p:oleObj name="Image" r:id="rId2" imgW="16431480" imgH="6348960" progId="Photoshop.Image.16">
                  <p:embed/>
                </p:oleObj>
              </mc:Choice>
              <mc:Fallback>
                <p:oleObj name="Image" r:id="rId2" imgW="16431480" imgH="6348960" progId="Photoshop.Image.16">
                  <p:embed/>
                  <p:pic>
                    <p:nvPicPr>
                      <p:cNvPr id="0" name=""/>
                      <p:cNvPicPr/>
                      <p:nvPr/>
                    </p:nvPicPr>
                    <p:blipFill>
                      <a:blip r:embed="rId3"/>
                      <a:stretch>
                        <a:fillRect/>
                      </a:stretch>
                    </p:blipFill>
                    <p:spPr>
                      <a:xfrm>
                        <a:off x="0" y="1036637"/>
                        <a:ext cx="12344400" cy="4762500"/>
                      </a:xfrm>
                      <a:prstGeom prst="rect">
                        <a:avLst/>
                      </a:prstGeom>
                    </p:spPr>
                  </p:pic>
                </p:oleObj>
              </mc:Fallback>
            </mc:AlternateContent>
          </a:graphicData>
        </a:graphic>
      </p:graphicFrame>
      <p:sp>
        <p:nvSpPr>
          <p:cNvPr id="6" name="TextBox 5"/>
          <p:cNvSpPr txBox="1"/>
          <p:nvPr/>
        </p:nvSpPr>
        <p:spPr>
          <a:xfrm>
            <a:off x="463550" y="4770437"/>
            <a:ext cx="11417300" cy="1323439"/>
          </a:xfrm>
          <a:prstGeom prst="rect">
            <a:avLst/>
          </a:prstGeom>
          <a:noFill/>
        </p:spPr>
        <p:txBody>
          <a:bodyPr wrap="square" rtlCol="0">
            <a:spAutoFit/>
          </a:bodyPr>
          <a:lstStyle/>
          <a:p>
            <a:r>
              <a:rPr lang="en-US" sz="4000">
                <a:solidFill>
                  <a:srgbClr val="0000FF"/>
                </a:solidFill>
                <a:latin typeface="Segoe UI Semibold" panose="020B0702040204020203" pitchFamily="34" charset="0"/>
              </a:rPr>
              <a:t>Personal Lines – Auto Insurance</a:t>
            </a:r>
            <a:br>
              <a:rPr lang="en-US" sz="4000">
                <a:solidFill>
                  <a:srgbClr val="0000FF"/>
                </a:solidFill>
                <a:latin typeface="Segoe UI Semibold" panose="020B0702040204020203" pitchFamily="34" charset="0"/>
              </a:rPr>
            </a:br>
            <a:endParaRPr lang="en-US" sz="4000">
              <a:solidFill>
                <a:srgbClr val="0000FF"/>
              </a:solidFill>
              <a:latin typeface="Segoe UI Semibold" panose="020B0702040204020203" pitchFamily="34" charset="0"/>
            </a:endParaRPr>
          </a:p>
        </p:txBody>
      </p:sp>
      <p:sp>
        <p:nvSpPr>
          <p:cNvPr id="7" name="Rectangle 6"/>
          <p:cNvSpPr/>
          <p:nvPr/>
        </p:nvSpPr>
        <p:spPr>
          <a:xfrm>
            <a:off x="9544050" y="1157359"/>
            <a:ext cx="1363065" cy="400110"/>
          </a:xfrm>
          <a:prstGeom prst="rect">
            <a:avLst/>
          </a:prstGeom>
        </p:spPr>
        <p:txBody>
          <a:bodyPr wrap="none">
            <a:spAutoFit/>
          </a:bodyPr>
          <a:lstStyle/>
          <a:p>
            <a:r>
              <a:rPr lang="en-US" sz="2000"/>
              <a:t>Worried??</a:t>
            </a:r>
          </a:p>
        </p:txBody>
      </p:sp>
    </p:spTree>
    <p:extLst>
      <p:ext uri="{BB962C8B-B14F-4D97-AF65-F5344CB8AC3E}">
        <p14:creationId xmlns:p14="http://schemas.microsoft.com/office/powerpoint/2010/main" val="418450289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70030"/>
            <a:ext cx="9935818" cy="268206"/>
          </a:xfrm>
          <a:prstGeom prst="rect">
            <a:avLst/>
          </a:prstGeom>
        </p:spPr>
      </p:pic>
      <p:sp>
        <p:nvSpPr>
          <p:cNvPr id="30" name="TextBox 29"/>
          <p:cNvSpPr txBox="1"/>
          <p:nvPr/>
        </p:nvSpPr>
        <p:spPr>
          <a:xfrm>
            <a:off x="0" y="3110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Personal Lines - Auto Program</a:t>
            </a:r>
          </a:p>
        </p:txBody>
      </p:sp>
      <p:sp>
        <p:nvSpPr>
          <p:cNvPr id="12" name="Content Placeholder 2"/>
          <p:cNvSpPr txBox="1">
            <a:spLocks/>
          </p:cNvSpPr>
          <p:nvPr/>
        </p:nvSpPr>
        <p:spPr bwMode="auto">
          <a:xfrm>
            <a:off x="228600" y="1265237"/>
            <a:ext cx="11734800" cy="1524000"/>
          </a:xfrm>
          <a:prstGeom prst="rect">
            <a:avLst/>
          </a:prstGeom>
          <a:noFill/>
          <a:ln>
            <a:miter lim="800000"/>
            <a:headEnd/>
            <a:tailEnd/>
          </a:ln>
        </p:spPr>
        <p:txBody>
          <a:bodyPr/>
          <a:lstStyle/>
          <a:p>
            <a:pPr marL="342900" indent="-342900">
              <a:spcBef>
                <a:spcPct val="20000"/>
              </a:spcBef>
              <a:buClr>
                <a:schemeClr val="tx1"/>
              </a:buClr>
              <a:buFont typeface="Wingdings" pitchFamily="2" charset="2"/>
              <a:buChar char="v"/>
              <a:defRPr/>
            </a:pPr>
            <a:r>
              <a:rPr lang="en-US">
                <a:latin typeface="Segoe UI Light" panose="020B0502040204020203" pitchFamily="34" charset="0"/>
              </a:rPr>
              <a:t>Personal Auto Program : Designed for Vehicle Owners. Vehicles include private passenger car, motorcycles, snowmobiles etc.</a:t>
            </a:r>
          </a:p>
          <a:p>
            <a:pPr marL="342900" indent="-342900">
              <a:spcBef>
                <a:spcPct val="20000"/>
              </a:spcBef>
              <a:buClr>
                <a:schemeClr val="tx1"/>
              </a:buClr>
              <a:buFont typeface="Wingdings" pitchFamily="2" charset="2"/>
              <a:buChar char="v"/>
              <a:defRPr/>
            </a:pPr>
            <a:r>
              <a:rPr lang="en-US">
                <a:latin typeface="Segoe UI Light" panose="020B0502040204020203" pitchFamily="34" charset="0"/>
              </a:rPr>
              <a:t>The program provides protection for Physical Damage to the vehicle and Liability (Bodily Injury and Property Damage). Apart from these, there can be other towing and labor cost coverage etc.</a:t>
            </a:r>
          </a:p>
          <a:p>
            <a:pPr marL="342900" indent="-342900">
              <a:spcBef>
                <a:spcPct val="20000"/>
              </a:spcBef>
              <a:buClr>
                <a:schemeClr val="tx1"/>
              </a:buClr>
              <a:buFont typeface="Wingdings" pitchFamily="2" charset="2"/>
              <a:buChar char="v"/>
              <a:defRPr/>
            </a:pPr>
            <a:r>
              <a:rPr lang="en-US">
                <a:latin typeface="Segoe UI Light" panose="020B0502040204020203" pitchFamily="34" charset="0"/>
              </a:rPr>
              <a:t>Personal Auto  policy provides coverage for all eligible vehicles and drivers.</a:t>
            </a:r>
          </a:p>
          <a:p>
            <a:pPr marL="342900" indent="-342900">
              <a:spcBef>
                <a:spcPct val="20000"/>
              </a:spcBef>
              <a:buClr>
                <a:srgbClr val="C00000"/>
              </a:buClr>
              <a:buFont typeface="Wingdings" pitchFamily="2" charset="2"/>
              <a:buChar char="v"/>
              <a:defRPr/>
            </a:pPr>
            <a:endParaRPr lang="en-US" sz="1600">
              <a:latin typeface="Segoe UI Light" panose="020B0502040204020203" pitchFamily="34" charset="0"/>
            </a:endParaRPr>
          </a:p>
          <a:p>
            <a:pPr>
              <a:spcBef>
                <a:spcPct val="20000"/>
              </a:spcBef>
              <a:buClr>
                <a:srgbClr val="C00000"/>
              </a:buClr>
              <a:defRPr/>
            </a:pPr>
            <a:endParaRPr lang="en-US" sz="1600">
              <a:latin typeface="Segoe UI Light" panose="020B0502040204020203" pitchFamily="34" charset="0"/>
            </a:endParaRPr>
          </a:p>
          <a:p>
            <a:pPr>
              <a:spcBef>
                <a:spcPct val="20000"/>
              </a:spcBef>
              <a:buClr>
                <a:srgbClr val="C00000"/>
              </a:buClr>
              <a:defRPr/>
            </a:pPr>
            <a:r>
              <a:rPr lang="en-US" sz="1600">
                <a:latin typeface="Segoe UI Light" panose="020B0502040204020203" pitchFamily="34" charset="0"/>
              </a:rPr>
              <a:t> </a:t>
            </a:r>
            <a:endParaRPr lang="en-US" sz="1600" b="1">
              <a:latin typeface="Segoe UI Light" panose="020B0502040204020203" pitchFamily="34" charset="0"/>
            </a:endParaRPr>
          </a:p>
        </p:txBody>
      </p:sp>
      <p:pic>
        <p:nvPicPr>
          <p:cNvPr id="3" name="Picture 2"/>
          <p:cNvPicPr>
            <a:picLocks noChangeAspect="1"/>
          </p:cNvPicPr>
          <p:nvPr/>
        </p:nvPicPr>
        <p:blipFill>
          <a:blip r:embed="rId4"/>
          <a:stretch>
            <a:fillRect/>
          </a:stretch>
        </p:blipFill>
        <p:spPr>
          <a:xfrm>
            <a:off x="1497330" y="3475037"/>
            <a:ext cx="9334500" cy="2800350"/>
          </a:xfrm>
          <a:prstGeom prst="rect">
            <a:avLst/>
          </a:prstGeom>
        </p:spPr>
      </p:pic>
      <p:sp>
        <p:nvSpPr>
          <p:cNvPr id="7" name="TextBox 6">
            <a:extLst>
              <a:ext uri="{FF2B5EF4-FFF2-40B4-BE49-F238E27FC236}">
                <a16:creationId xmlns:a16="http://schemas.microsoft.com/office/drawing/2014/main" id="{8FCA4828-2050-4737-AD64-86E36C5BFB71}"/>
              </a:ext>
            </a:extLst>
          </p:cNvPr>
          <p:cNvSpPr txBox="1"/>
          <p:nvPr/>
        </p:nvSpPr>
        <p:spPr>
          <a:xfrm>
            <a:off x="2819400" y="2916238"/>
            <a:ext cx="7497418" cy="646331"/>
          </a:xfrm>
          <a:prstGeom prst="rect">
            <a:avLst/>
          </a:prstGeom>
          <a:noFill/>
        </p:spPr>
        <p:txBody>
          <a:bodyPr wrap="square">
            <a:spAutoFit/>
          </a:bodyPr>
          <a:lstStyle/>
          <a:p>
            <a:r>
              <a:rPr lang="en-US"/>
              <a:t>Basic coverages : </a:t>
            </a:r>
            <a:r>
              <a:rPr lang="en-US">
                <a:hlinkClick r:id="rId5"/>
              </a:rPr>
              <a:t>https://www.youtube.com/watch?v=CBmtFPMUcr0</a:t>
            </a:r>
            <a:endParaRPr lang="en-US"/>
          </a:p>
          <a:p>
            <a:endParaRPr lang="en-US"/>
          </a:p>
        </p:txBody>
      </p:sp>
    </p:spTree>
    <p:extLst>
      <p:ext uri="{BB962C8B-B14F-4D97-AF65-F5344CB8AC3E}">
        <p14:creationId xmlns:p14="http://schemas.microsoft.com/office/powerpoint/2010/main" val="2111001636"/>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0" name="TextBox 29"/>
          <p:cNvSpPr txBox="1"/>
          <p:nvPr/>
        </p:nvSpPr>
        <p:spPr>
          <a:xfrm>
            <a:off x="0" y="3110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Common Personal Auto Coverages:</a:t>
            </a:r>
          </a:p>
        </p:txBody>
      </p:sp>
      <p:sp>
        <p:nvSpPr>
          <p:cNvPr id="6" name="Rectangle 5"/>
          <p:cNvSpPr/>
          <p:nvPr/>
        </p:nvSpPr>
        <p:spPr>
          <a:xfrm>
            <a:off x="1447800" y="1189037"/>
            <a:ext cx="9753600" cy="5016758"/>
          </a:xfrm>
          <a:prstGeom prst="rect">
            <a:avLst/>
          </a:prstGeom>
        </p:spPr>
        <p:txBody>
          <a:bodyPr wrap="square">
            <a:spAutoFit/>
          </a:bodyPr>
          <a:lstStyle/>
          <a:p>
            <a:pPr>
              <a:spcBef>
                <a:spcPct val="20000"/>
              </a:spcBef>
              <a:buClr>
                <a:schemeClr val="tx1"/>
              </a:buClr>
              <a:defRPr/>
            </a:pPr>
            <a:endParaRPr lang="en-US" sz="1600" b="1">
              <a:solidFill>
                <a:srgbClr val="0070C0"/>
              </a:solidFill>
              <a:latin typeface="Segoe UI Light" panose="020B0502040204020203" pitchFamily="34" charset="0"/>
            </a:endParaRPr>
          </a:p>
          <a:p>
            <a:pPr indent="-457583">
              <a:buClr>
                <a:schemeClr val="tx1"/>
              </a:buClr>
              <a:buSzPct val="80000"/>
              <a:buFont typeface="Wingdings" pitchFamily="2" charset="2"/>
              <a:buChar char="v"/>
              <a:defRPr/>
            </a:pPr>
            <a:r>
              <a:rPr lang="en-US" sz="1600" b="1">
                <a:latin typeface="Segoe UI Light" panose="020B0502040204020203" pitchFamily="34" charset="0"/>
              </a:rPr>
              <a:t>Liability</a:t>
            </a:r>
          </a:p>
          <a:p>
            <a:pPr marL="188529" lvl="1" indent="-171450">
              <a:buClr>
                <a:schemeClr val="tx1"/>
              </a:buClr>
              <a:buSzPct val="80000"/>
              <a:buFont typeface="Arial" panose="020B0604020202020204" pitchFamily="34" charset="0"/>
              <a:buChar char="•"/>
              <a:defRPr/>
            </a:pPr>
            <a:r>
              <a:rPr lang="en-US" sz="1600">
                <a:latin typeface="Segoe UI Light" panose="020B0502040204020203" pitchFamily="34" charset="0"/>
              </a:rPr>
              <a:t>Bodily Injury (referred as BI) -Claims for bodily injury may be for such things as medical bills, loss of income or pain and suffering.</a:t>
            </a:r>
          </a:p>
          <a:p>
            <a:pPr marL="188529" lvl="1" indent="-171450">
              <a:buClr>
                <a:schemeClr val="tx1"/>
              </a:buClr>
              <a:buSzPct val="80000"/>
              <a:buFont typeface="Arial" panose="020B0604020202020204" pitchFamily="34" charset="0"/>
              <a:buChar char="•"/>
              <a:defRPr/>
            </a:pPr>
            <a:r>
              <a:rPr lang="en-US" sz="1600">
                <a:latin typeface="Segoe UI Light" panose="020B0502040204020203" pitchFamily="34" charset="0"/>
              </a:rPr>
              <a:t>Property Damage to others</a:t>
            </a:r>
          </a:p>
          <a:p>
            <a:pPr marL="188529" lvl="1" indent="-171450">
              <a:buClr>
                <a:schemeClr val="tx1"/>
              </a:buClr>
              <a:buSzPct val="80000"/>
              <a:buFont typeface="Arial" panose="020B0604020202020204" pitchFamily="34" charset="0"/>
              <a:buChar char="•"/>
              <a:defRPr/>
            </a:pPr>
            <a:endParaRPr lang="en-US" sz="1600">
              <a:latin typeface="Segoe UI Light" panose="020B0502040204020203" pitchFamily="34" charset="0"/>
            </a:endParaRPr>
          </a:p>
          <a:p>
            <a:pPr indent="-457583">
              <a:buClr>
                <a:schemeClr val="tx1"/>
              </a:buClr>
              <a:buSzPct val="80000"/>
              <a:buFont typeface="Wingdings" panose="05000000000000000000" pitchFamily="2" charset="2"/>
              <a:buChar char="v"/>
              <a:defRPr/>
            </a:pPr>
            <a:r>
              <a:rPr lang="en-US" sz="1600" b="1">
                <a:latin typeface="Segoe UI Light" panose="020B0502040204020203" pitchFamily="34" charset="0"/>
              </a:rPr>
              <a:t>Physical Damage</a:t>
            </a:r>
          </a:p>
          <a:p>
            <a:pPr marL="188529" lvl="1" indent="-171450">
              <a:buClr>
                <a:schemeClr val="tx1"/>
              </a:buClr>
              <a:buSzPct val="80000"/>
              <a:buFont typeface="Arial" panose="020B0604020202020204" pitchFamily="34" charset="0"/>
              <a:buChar char="•"/>
              <a:defRPr/>
            </a:pPr>
            <a:r>
              <a:rPr lang="en-US" sz="1600">
                <a:latin typeface="Segoe UI Light" panose="020B0502040204020203" pitchFamily="34" charset="0"/>
              </a:rPr>
              <a:t>Collision : damage to Vehicle caused by collision with an object </a:t>
            </a:r>
          </a:p>
          <a:p>
            <a:pPr marL="188529" lvl="1" indent="-171450">
              <a:buClr>
                <a:schemeClr val="tx1"/>
              </a:buClr>
              <a:buSzPct val="80000"/>
              <a:buFont typeface="Arial" panose="020B0604020202020204" pitchFamily="34" charset="0"/>
              <a:buChar char="•"/>
              <a:defRPr/>
            </a:pPr>
            <a:r>
              <a:rPr lang="en-US" sz="1600">
                <a:latin typeface="Segoe UI Light" panose="020B0502040204020203" pitchFamily="34" charset="0"/>
              </a:rPr>
              <a:t>Other than Collision (referred as OTC) -  </a:t>
            </a:r>
          </a:p>
          <a:p>
            <a:pPr marL="363154" lvl="1" indent="-171450">
              <a:buClr>
                <a:schemeClr val="tx1"/>
              </a:buClr>
              <a:buSzPct val="80000"/>
              <a:defRPr/>
            </a:pPr>
            <a:r>
              <a:rPr lang="en-US" sz="1600">
                <a:latin typeface="Segoe UI Light" panose="020B0502040204020203" pitchFamily="34" charset="0"/>
              </a:rPr>
              <a:t>    1. Comprehensive 2. SCOL (Specified Cause of Loss)</a:t>
            </a:r>
          </a:p>
          <a:p>
            <a:pPr marL="363154" lvl="1" indent="-171450">
              <a:buClr>
                <a:schemeClr val="tx1"/>
              </a:buClr>
              <a:buSzPct val="80000"/>
              <a:defRPr/>
            </a:pPr>
            <a:endParaRPr lang="en-US" sz="1600">
              <a:latin typeface="Segoe UI Light" panose="020B0502040204020203" pitchFamily="34" charset="0"/>
            </a:endParaRPr>
          </a:p>
          <a:p>
            <a:pPr marL="285750" lvl="1" indent="-285750">
              <a:buClr>
                <a:schemeClr val="tx1"/>
              </a:buClr>
              <a:buSzPct val="80000"/>
              <a:buFont typeface="Wingdings" panose="05000000000000000000" pitchFamily="2" charset="2"/>
              <a:buChar char="v"/>
              <a:defRPr/>
            </a:pPr>
            <a:r>
              <a:rPr lang="en-US" sz="1600">
                <a:latin typeface="Segoe UI Light" panose="020B0502040204020203" pitchFamily="34" charset="0"/>
              </a:rPr>
              <a:t>Uninsured/Underinsured Motorist : </a:t>
            </a:r>
          </a:p>
          <a:p>
            <a:pPr marL="285750" lvl="1" indent="-285750">
              <a:buClr>
                <a:schemeClr val="tx1"/>
              </a:buClr>
              <a:buSzPct val="80000"/>
              <a:buFont typeface="Wingdings" panose="05000000000000000000" pitchFamily="2" charset="2"/>
              <a:buChar char="v"/>
              <a:defRPr/>
            </a:pPr>
            <a:r>
              <a:rPr lang="en-US" sz="1600">
                <a:latin typeface="Segoe UI Light" panose="020B0502040204020203" pitchFamily="34" charset="0"/>
              </a:rPr>
              <a:t>Medical Payments </a:t>
            </a:r>
          </a:p>
          <a:p>
            <a:pPr marL="285750" lvl="1" indent="-285750">
              <a:lnSpc>
                <a:spcPct val="150000"/>
              </a:lnSpc>
              <a:buClr>
                <a:schemeClr val="tx1"/>
              </a:buClr>
              <a:buSzPct val="80000"/>
              <a:buFont typeface="Wingdings" panose="05000000000000000000" pitchFamily="2" charset="2"/>
              <a:buChar char="v"/>
              <a:defRPr/>
            </a:pPr>
            <a:r>
              <a:rPr lang="en-US" sz="1600">
                <a:latin typeface="Segoe UI Light" panose="020B0502040204020203" pitchFamily="34" charset="0"/>
              </a:rPr>
              <a:t>No Fault or  PIP </a:t>
            </a:r>
          </a:p>
          <a:p>
            <a:pPr marL="285750" lvl="1" indent="-285750">
              <a:lnSpc>
                <a:spcPct val="150000"/>
              </a:lnSpc>
              <a:buClr>
                <a:schemeClr val="tx1"/>
              </a:buClr>
              <a:buSzPct val="80000"/>
              <a:buFont typeface="Wingdings" panose="05000000000000000000" pitchFamily="2" charset="2"/>
              <a:buChar char="v"/>
              <a:defRPr/>
            </a:pPr>
            <a:r>
              <a:rPr lang="en-US" sz="1600">
                <a:latin typeface="Segoe UI Light" panose="020B0502040204020203" pitchFamily="34" charset="0"/>
              </a:rPr>
              <a:t>Towing</a:t>
            </a:r>
          </a:p>
          <a:p>
            <a:pPr marL="285750" lvl="1" indent="-285750">
              <a:lnSpc>
                <a:spcPct val="150000"/>
              </a:lnSpc>
              <a:buClr>
                <a:schemeClr val="tx1"/>
              </a:buClr>
              <a:buSzPct val="80000"/>
              <a:buFont typeface="Wingdings" panose="05000000000000000000" pitchFamily="2" charset="2"/>
              <a:buChar char="v"/>
              <a:defRPr/>
            </a:pPr>
            <a:r>
              <a:rPr lang="en-US" sz="1600">
                <a:latin typeface="Segoe UI Light" panose="020B0502040204020203" pitchFamily="34" charset="0"/>
              </a:rPr>
              <a:t>Limit- Split Limit/ Combined Limit -&gt; (BI per person: BI per Accident: PD per Acc. :: 50/150/50) / 200</a:t>
            </a:r>
          </a:p>
          <a:p>
            <a:pPr marL="285750" lvl="1" indent="-285750">
              <a:lnSpc>
                <a:spcPct val="150000"/>
              </a:lnSpc>
              <a:buClr>
                <a:schemeClr val="tx1"/>
              </a:buClr>
              <a:buSzPct val="80000"/>
              <a:buFont typeface="Wingdings" panose="05000000000000000000" pitchFamily="2" charset="2"/>
              <a:buChar char="v"/>
              <a:defRPr/>
            </a:pPr>
            <a:r>
              <a:rPr lang="en-US" sz="1600">
                <a:latin typeface="Segoe UI Light" panose="020B0502040204020203" pitchFamily="34" charset="0"/>
              </a:rPr>
              <a:t>Deductibles</a:t>
            </a:r>
          </a:p>
          <a:p>
            <a:pPr marL="0" lvl="1">
              <a:buClr>
                <a:schemeClr val="tx1"/>
              </a:buClr>
              <a:buSzPct val="80000"/>
              <a:defRPr/>
            </a:pPr>
            <a:endParaRPr lang="en-US" sz="1600">
              <a:latin typeface="Segoe UI Light" panose="020B0502040204020203" pitchFamily="34" charset="0"/>
            </a:endParaRPr>
          </a:p>
        </p:txBody>
      </p:sp>
    </p:spTree>
    <p:extLst>
      <p:ext uri="{BB962C8B-B14F-4D97-AF65-F5344CB8AC3E}">
        <p14:creationId xmlns:p14="http://schemas.microsoft.com/office/powerpoint/2010/main" val="953557562"/>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hapter 4. Types of auto insurance coverage : MoneyCounts: A Penn State  Financial Literacy Series">
            <a:extLst>
              <a:ext uri="{FF2B5EF4-FFF2-40B4-BE49-F238E27FC236}">
                <a16:creationId xmlns:a16="http://schemas.microsoft.com/office/drawing/2014/main" id="{2251C665-642C-4252-BBA2-DA20EB6FB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92100"/>
            <a:ext cx="9648825" cy="66579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46AEDE3-FD35-499D-8A11-E7C78A224913}"/>
              </a:ext>
            </a:extLst>
          </p:cNvPr>
          <p:cNvSpPr txBox="1"/>
          <p:nvPr/>
        </p:nvSpPr>
        <p:spPr>
          <a:xfrm>
            <a:off x="152400" y="257347"/>
            <a:ext cx="6174954" cy="923330"/>
          </a:xfrm>
          <a:prstGeom prst="rect">
            <a:avLst/>
          </a:prstGeom>
          <a:noFill/>
        </p:spPr>
        <p:txBody>
          <a:bodyPr wrap="square">
            <a:spAutoFit/>
          </a:bodyPr>
          <a:lstStyle/>
          <a:p>
            <a:r>
              <a:rPr lang="en-IN">
                <a:hlinkClick r:id="rId4"/>
              </a:rPr>
              <a:t>https://psu.instructure.com/courses/1806581/pages/chapter-4-types-of-auto-insurance-coverage</a:t>
            </a:r>
            <a:endParaRPr lang="en-IN"/>
          </a:p>
          <a:p>
            <a:endParaRPr lang="en-IN"/>
          </a:p>
        </p:txBody>
      </p:sp>
    </p:spTree>
    <p:extLst>
      <p:ext uri="{BB962C8B-B14F-4D97-AF65-F5344CB8AC3E}">
        <p14:creationId xmlns:p14="http://schemas.microsoft.com/office/powerpoint/2010/main" val="1165462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3DA68C-7D6F-4183-9713-0EDD741E78A3}"/>
              </a:ext>
            </a:extLst>
          </p:cNvPr>
          <p:cNvSpPr txBox="1"/>
          <p:nvPr/>
        </p:nvSpPr>
        <p:spPr>
          <a:xfrm>
            <a:off x="3581400" y="6262170"/>
            <a:ext cx="4151523" cy="369332"/>
          </a:xfrm>
          <a:prstGeom prst="rect">
            <a:avLst/>
          </a:prstGeom>
          <a:noFill/>
          <a:ln>
            <a:solidFill>
              <a:srgbClr val="0000FF"/>
            </a:solidFill>
          </a:ln>
        </p:spPr>
        <p:txBody>
          <a:bodyPr wrap="square">
            <a:spAutoFit/>
          </a:bodyPr>
          <a:lstStyle/>
          <a:p>
            <a:r>
              <a:rPr lang="en-IN">
                <a:hlinkClick r:id="rId3"/>
              </a:rPr>
              <a:t>https://slideplayer.com/slide/13871052/</a:t>
            </a:r>
            <a:endParaRPr lang="en-IN"/>
          </a:p>
        </p:txBody>
      </p:sp>
      <p:sp>
        <p:nvSpPr>
          <p:cNvPr id="6" name="TextBox 5">
            <a:extLst>
              <a:ext uri="{FF2B5EF4-FFF2-40B4-BE49-F238E27FC236}">
                <a16:creationId xmlns:a16="http://schemas.microsoft.com/office/drawing/2014/main" id="{67A7C65F-D7E8-4430-BABD-6A39CD8B0051}"/>
              </a:ext>
            </a:extLst>
          </p:cNvPr>
          <p:cNvSpPr txBox="1"/>
          <p:nvPr/>
        </p:nvSpPr>
        <p:spPr>
          <a:xfrm>
            <a:off x="685800" y="1622711"/>
            <a:ext cx="10972800" cy="4339650"/>
          </a:xfrm>
          <a:prstGeom prst="rect">
            <a:avLst/>
          </a:prstGeom>
          <a:solidFill>
            <a:srgbClr val="00B0F0"/>
          </a:solidFill>
          <a:ln>
            <a:solidFill>
              <a:srgbClr val="0000FF"/>
            </a:solidFill>
          </a:ln>
          <a:scene3d>
            <a:camera prst="orthographicFront"/>
            <a:lightRig rig="threePt" dir="t"/>
          </a:scene3d>
          <a:sp3d>
            <a:bevelT w="152400" h="50800" prst="softRound"/>
          </a:sp3d>
        </p:spPr>
        <p:txBody>
          <a:bodyPr wrap="square">
            <a:spAutoFit/>
          </a:bodyPr>
          <a:lstStyle/>
          <a:p>
            <a:r>
              <a:rPr lang="en-US" sz="2000"/>
              <a:t>The personal automobile policy (PAP) is the automobile insurance contract purchased by most individuals.</a:t>
            </a:r>
          </a:p>
          <a:p>
            <a:r>
              <a:rPr lang="en-US" sz="2000"/>
              <a:t>It begins with :</a:t>
            </a:r>
          </a:p>
          <a:p>
            <a:pPr marL="836996" lvl="1" indent="-285750">
              <a:buFont typeface="Arial" panose="020B0604020202020204" pitchFamily="34" charset="0"/>
              <a:buChar char="•"/>
            </a:pPr>
            <a:r>
              <a:rPr lang="en-US" sz="2000"/>
              <a:t>a declarations page, </a:t>
            </a:r>
          </a:p>
          <a:p>
            <a:pPr marL="836996" lvl="1" indent="-285750">
              <a:buFont typeface="Arial" panose="020B0604020202020204" pitchFamily="34" charset="0"/>
              <a:buChar char="•"/>
            </a:pPr>
            <a:r>
              <a:rPr lang="en-US" sz="2000"/>
              <a:t>general insuring agreement, </a:t>
            </a:r>
          </a:p>
          <a:p>
            <a:pPr marL="836996" lvl="1" indent="-285750">
              <a:buFont typeface="Arial" panose="020B0604020202020204" pitchFamily="34" charset="0"/>
              <a:buChar char="•"/>
            </a:pPr>
            <a:r>
              <a:rPr lang="en-US" sz="2000"/>
              <a:t>list of important definitions, </a:t>
            </a:r>
          </a:p>
          <a:p>
            <a:pPr marL="836996" lvl="1" indent="-285750">
              <a:buFont typeface="Arial" panose="020B0604020202020204" pitchFamily="34" charset="0"/>
              <a:buChar char="•"/>
            </a:pPr>
            <a:r>
              <a:rPr lang="en-US" sz="2000"/>
              <a:t>followed by the policy’s six major parts.</a:t>
            </a:r>
          </a:p>
          <a:p>
            <a:pPr lvl="1"/>
            <a:endParaRPr lang="en-US"/>
          </a:p>
          <a:p>
            <a:pPr lvl="2"/>
            <a:r>
              <a:rPr lang="en-US" sz="2000"/>
              <a:t>Part A—Liability coverage</a:t>
            </a:r>
          </a:p>
          <a:p>
            <a:pPr lvl="2"/>
            <a:r>
              <a:rPr lang="en-US" sz="2000"/>
              <a:t>Part B—Medical payments coverage</a:t>
            </a:r>
          </a:p>
          <a:p>
            <a:pPr lvl="2"/>
            <a:r>
              <a:rPr lang="en-US" sz="2000"/>
              <a:t>Part C—Uninsured motorists' coverage</a:t>
            </a:r>
          </a:p>
          <a:p>
            <a:pPr lvl="2"/>
            <a:r>
              <a:rPr lang="en-US" sz="2000"/>
              <a:t>Part D—Coverage for damage to your auto</a:t>
            </a:r>
          </a:p>
          <a:p>
            <a:pPr lvl="2"/>
            <a:r>
              <a:rPr lang="en-US" sz="2000"/>
              <a:t>Part E—Duties after an accident or loss</a:t>
            </a:r>
          </a:p>
          <a:p>
            <a:pPr lvl="2"/>
            <a:r>
              <a:rPr lang="en-US" sz="2000"/>
              <a:t>Part F—General provisions</a:t>
            </a:r>
          </a:p>
        </p:txBody>
      </p:sp>
      <p:pic>
        <p:nvPicPr>
          <p:cNvPr id="7" name="Picture 6">
            <a:extLst>
              <a:ext uri="{FF2B5EF4-FFF2-40B4-BE49-F238E27FC236}">
                <a16:creationId xmlns:a16="http://schemas.microsoft.com/office/drawing/2014/main" id="{58C2BB2A-94D6-4802-AFBC-ECEC31DD46C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870030"/>
            <a:ext cx="9935818" cy="268206"/>
          </a:xfrm>
          <a:prstGeom prst="rect">
            <a:avLst/>
          </a:prstGeom>
        </p:spPr>
      </p:pic>
    </p:spTree>
    <p:extLst>
      <p:ext uri="{BB962C8B-B14F-4D97-AF65-F5344CB8AC3E}">
        <p14:creationId xmlns:p14="http://schemas.microsoft.com/office/powerpoint/2010/main" val="2428938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BAD45-B779-41CE-A42D-A314F43B606D}"/>
              </a:ext>
            </a:extLst>
          </p:cNvPr>
          <p:cNvSpPr txBox="1"/>
          <p:nvPr/>
        </p:nvSpPr>
        <p:spPr>
          <a:xfrm>
            <a:off x="2363604" y="1417637"/>
            <a:ext cx="9448800" cy="4860498"/>
          </a:xfrm>
          <a:prstGeom prst="rect">
            <a:avLst/>
          </a:prstGeom>
          <a:solidFill>
            <a:schemeClr val="accent3">
              <a:lumMod val="20000"/>
              <a:lumOff val="80000"/>
            </a:schemeClr>
          </a:solidFill>
          <a:ln>
            <a:solidFill>
              <a:srgbClr val="0000FF"/>
            </a:solidFill>
          </a:ln>
          <a:scene3d>
            <a:camera prst="orthographicFront"/>
            <a:lightRig rig="threePt" dir="t"/>
          </a:scene3d>
          <a:sp3d>
            <a:bevelT w="139700" h="139700" prst="divot"/>
          </a:sp3d>
        </p:spPr>
        <p:txBody>
          <a:bodyPr wrap="square">
            <a:spAutoFit/>
          </a:bodyPr>
          <a:lstStyle/>
          <a:p>
            <a:pPr marL="285750" indent="-285750">
              <a:spcBef>
                <a:spcPct val="20000"/>
              </a:spcBef>
              <a:buClr>
                <a:schemeClr val="tx1"/>
              </a:buClr>
              <a:buFont typeface="Wingdings" panose="05000000000000000000" pitchFamily="2" charset="2"/>
              <a:buChar char="v"/>
              <a:defRPr/>
            </a:pPr>
            <a:endParaRPr lang="en-US" sz="1800">
              <a:solidFill>
                <a:srgbClr val="000000"/>
              </a:solidFill>
              <a:latin typeface="Segoe UI Light" panose="020B0502040204020203" pitchFamily="34" charset="0"/>
            </a:endParaRPr>
          </a:p>
          <a:p>
            <a:pPr marL="742950" lvl="2" indent="-285750">
              <a:buClr>
                <a:schemeClr val="tx1"/>
              </a:buClr>
              <a:buSzPct val="80000"/>
              <a:buFont typeface="Wingdings" panose="05000000000000000000" pitchFamily="2" charset="2"/>
              <a:buChar char="v"/>
              <a:defRPr/>
            </a:pPr>
            <a:r>
              <a:rPr lang="en-US" sz="1800" b="1">
                <a:latin typeface="Segoe UI Light" panose="020B0502040204020203" pitchFamily="34" charset="0"/>
              </a:rPr>
              <a:t>Liability Coverages : </a:t>
            </a:r>
            <a:r>
              <a:rPr lang="en-US" sz="1800" u="sng">
                <a:latin typeface="Segoe UI Light" panose="020B0502040204020203" pitchFamily="34" charset="0"/>
                <a:hlinkClick r:id="rId2"/>
              </a:rPr>
              <a:t>Bodily Injury Liability Coverage | Liberty Mutual</a:t>
            </a:r>
            <a:r>
              <a:rPr lang="en-US" sz="1800" u="sng">
                <a:latin typeface="Segoe UI Light" panose="020B0502040204020203" pitchFamily="34" charset="0"/>
              </a:rPr>
              <a:t>:</a:t>
            </a:r>
          </a:p>
          <a:p>
            <a:pPr marL="457200" lvl="2">
              <a:buClr>
                <a:schemeClr val="tx1"/>
              </a:buClr>
              <a:buSzPct val="80000"/>
              <a:defRPr/>
            </a:pPr>
            <a:r>
              <a:rPr lang="en-US" sz="1800">
                <a:latin typeface="Segoe UI Light" panose="020B0502040204020203" pitchFamily="34" charset="0"/>
                <a:hlinkClick r:id="rId3"/>
              </a:rPr>
              <a:t>https://www.libertymutual.com/auto/car-insurance-coverage/bodily-injury-liability</a:t>
            </a:r>
            <a:r>
              <a:rPr lang="en-US" sz="1800">
                <a:latin typeface="Segoe UI Light" panose="020B0502040204020203" pitchFamily="34" charset="0"/>
              </a:rPr>
              <a:t> , </a:t>
            </a:r>
          </a:p>
          <a:p>
            <a:pPr marL="457200" lvl="2">
              <a:buClr>
                <a:schemeClr val="tx1"/>
              </a:buClr>
              <a:buSzPct val="80000"/>
              <a:defRPr/>
            </a:pPr>
            <a:r>
              <a:rPr lang="en-US" sz="1800">
                <a:latin typeface="Segoe UI Light" panose="020B0502040204020203" pitchFamily="34" charset="0"/>
                <a:hlinkClick r:id="rId4"/>
              </a:rPr>
              <a:t>https://wallethub.com/edu/liability-car-insurance/7300/</a:t>
            </a:r>
            <a:endParaRPr lang="en-US" sz="1800">
              <a:latin typeface="Segoe UI Light" panose="020B0502040204020203" pitchFamily="34" charset="0"/>
            </a:endParaRPr>
          </a:p>
          <a:p>
            <a:pPr marL="465138" lvl="1" indent="-371475">
              <a:buClr>
                <a:schemeClr val="tx1"/>
              </a:buClr>
              <a:buSzPct val="80000"/>
              <a:buFont typeface="Wingdings" panose="05000000000000000000" pitchFamily="2" charset="2"/>
              <a:buChar char="v"/>
              <a:defRPr/>
            </a:pPr>
            <a:endParaRPr lang="en-US" sz="1800" b="1">
              <a:latin typeface="Segoe UI Light" panose="020B0502040204020203" pitchFamily="34" charset="0"/>
            </a:endParaRPr>
          </a:p>
          <a:p>
            <a:pPr marL="750888" indent="-285750">
              <a:spcBef>
                <a:spcPct val="20000"/>
              </a:spcBef>
              <a:buClr>
                <a:srgbClr val="C00000"/>
              </a:buClr>
              <a:buFont typeface="Wingdings" panose="05000000000000000000" pitchFamily="2" charset="2"/>
              <a:buChar char="v"/>
              <a:defRPr/>
            </a:pPr>
            <a:r>
              <a:rPr lang="en-US" sz="1800" b="1">
                <a:latin typeface="Segoe UI Light" panose="020B0502040204020203" pitchFamily="34" charset="0"/>
              </a:rPr>
              <a:t>Physical Damage : </a:t>
            </a:r>
            <a:r>
              <a:rPr lang="en-US" sz="1800" u="sng">
                <a:latin typeface="Segoe UI Light" panose="020B0502040204020203" pitchFamily="34" charset="0"/>
                <a:hlinkClick r:id="rId5"/>
              </a:rPr>
              <a:t>What Is Comprehensive Auto Insurance? | Allstate</a:t>
            </a:r>
            <a:r>
              <a:rPr lang="en-US" sz="1800" u="sng">
                <a:latin typeface="Segoe UI Light" panose="020B0502040204020203" pitchFamily="34" charset="0"/>
              </a:rPr>
              <a:t> :</a:t>
            </a:r>
          </a:p>
          <a:p>
            <a:pPr marL="465138">
              <a:spcBef>
                <a:spcPct val="20000"/>
              </a:spcBef>
              <a:buClr>
                <a:srgbClr val="C00000"/>
              </a:buClr>
              <a:defRPr/>
            </a:pPr>
            <a:r>
              <a:rPr lang="en-US" sz="1800">
                <a:latin typeface="Segoe UI Light" panose="020B0502040204020203" pitchFamily="34" charset="0"/>
                <a:hlinkClick r:id="rId6"/>
              </a:rPr>
              <a:t>https://www.allstate.com/tools-and-resources/car-insurance/what-is-comprehensive-auto-insurance.aspx</a:t>
            </a:r>
            <a:endParaRPr lang="en-US" sz="1800" u="sng">
              <a:latin typeface="Segoe UI Light" panose="020B0502040204020203" pitchFamily="34" charset="0"/>
            </a:endParaRPr>
          </a:p>
          <a:p>
            <a:pPr marL="465138" lvl="1" indent="-371475">
              <a:buClr>
                <a:schemeClr val="tx1"/>
              </a:buClr>
              <a:buSzPct val="80000"/>
              <a:buFont typeface="Wingdings" panose="05000000000000000000" pitchFamily="2" charset="2"/>
              <a:buChar char="v"/>
              <a:defRPr/>
            </a:pPr>
            <a:endParaRPr lang="en-US" sz="1800" b="1">
              <a:latin typeface="Segoe UI Light" panose="020B0502040204020203" pitchFamily="34" charset="0"/>
            </a:endParaRPr>
          </a:p>
          <a:p>
            <a:pPr marL="836996" lvl="2" indent="-285750">
              <a:buClr>
                <a:schemeClr val="tx1"/>
              </a:buClr>
              <a:buSzPct val="80000"/>
              <a:buFont typeface="Wingdings" panose="05000000000000000000" pitchFamily="2" charset="2"/>
              <a:buChar char="v"/>
              <a:defRPr/>
            </a:pPr>
            <a:r>
              <a:rPr lang="en-US" b="1">
                <a:latin typeface="Segoe UI Light" panose="020B0502040204020203" pitchFamily="34" charset="0"/>
              </a:rPr>
              <a:t>Uninsured/Underinsured Motorist : </a:t>
            </a:r>
            <a:r>
              <a:rPr lang="en-US">
                <a:latin typeface="Segoe UI Light" panose="020B0502040204020203" pitchFamily="34" charset="0"/>
                <a:hlinkClick r:id="rId7"/>
              </a:rPr>
              <a:t>http://businessinsure.about.com/od/commercialauto/a/Insuring-Non-owned-Autos.htm</a:t>
            </a:r>
            <a:r>
              <a:rPr lang="en-US">
                <a:latin typeface="Segoe UI Light" panose="020B0502040204020203" pitchFamily="34" charset="0"/>
              </a:rPr>
              <a:t> </a:t>
            </a:r>
          </a:p>
          <a:p>
            <a:pPr marL="836996" lvl="2" indent="-285750">
              <a:buClr>
                <a:schemeClr val="tx1"/>
              </a:buClr>
              <a:buSzPct val="80000"/>
              <a:buFont typeface="Wingdings" panose="05000000000000000000" pitchFamily="2" charset="2"/>
              <a:buChar char="v"/>
              <a:defRPr/>
            </a:pPr>
            <a:r>
              <a:rPr lang="en-US" b="1">
                <a:latin typeface="Segoe UI Light" panose="020B0502040204020203" pitchFamily="34" charset="0"/>
              </a:rPr>
              <a:t>Medical Payments : </a:t>
            </a:r>
            <a:r>
              <a:rPr lang="en-US">
                <a:latin typeface="Segoe UI Light" panose="020B0502040204020203" pitchFamily="34" charset="0"/>
                <a:hlinkClick r:id="rId8"/>
              </a:rPr>
              <a:t>https://wallethub.com/edu/med-pay/9255/</a:t>
            </a:r>
            <a:endParaRPr lang="en-US">
              <a:latin typeface="Segoe UI Light" panose="020B0502040204020203" pitchFamily="34" charset="0"/>
            </a:endParaRPr>
          </a:p>
          <a:p>
            <a:pPr marL="836996" lvl="2" indent="-285750">
              <a:buClr>
                <a:schemeClr val="tx1"/>
              </a:buClr>
              <a:buSzPct val="80000"/>
              <a:buFont typeface="Wingdings" panose="05000000000000000000" pitchFamily="2" charset="2"/>
              <a:buChar char="v"/>
              <a:defRPr/>
            </a:pPr>
            <a:r>
              <a:rPr lang="en-US" b="1">
                <a:latin typeface="Segoe UI Light" panose="020B0502040204020203" pitchFamily="34" charset="0"/>
              </a:rPr>
              <a:t>No Fault or  PIP : </a:t>
            </a:r>
            <a:r>
              <a:rPr lang="en-US">
                <a:latin typeface="Segoe UI Light" panose="020B0502040204020203" pitchFamily="34" charset="0"/>
              </a:rPr>
              <a:t>How PIP Insurance Work - </a:t>
            </a:r>
            <a:r>
              <a:rPr lang="en-US">
                <a:latin typeface="Segoe UI Light" panose="020B0502040204020203" pitchFamily="34" charset="0"/>
                <a:hlinkClick r:id="rId9"/>
              </a:rPr>
              <a:t>https://wallethub.com/edu/pip-insurance/9248/</a:t>
            </a:r>
            <a:endParaRPr lang="en-US">
              <a:latin typeface="Segoe UI Light" panose="020B0502040204020203" pitchFamily="34" charset="0"/>
            </a:endParaRPr>
          </a:p>
          <a:p>
            <a:pPr marL="836996" lvl="2" indent="-285750">
              <a:lnSpc>
                <a:spcPct val="150000"/>
              </a:lnSpc>
              <a:buClr>
                <a:schemeClr val="tx1"/>
              </a:buClr>
              <a:buSzPct val="80000"/>
              <a:buFont typeface="Wingdings" panose="05000000000000000000" pitchFamily="2" charset="2"/>
              <a:buChar char="v"/>
              <a:defRPr/>
            </a:pPr>
            <a:r>
              <a:rPr lang="en-US" b="1">
                <a:latin typeface="Segoe UI Light" panose="020B0502040204020203" pitchFamily="34" charset="0"/>
              </a:rPr>
              <a:t>Limit- Split Limit/ Combined Limit : </a:t>
            </a:r>
            <a:r>
              <a:rPr lang="en-US">
                <a:latin typeface="Segoe UI Light" panose="020B0502040204020203" pitchFamily="34" charset="0"/>
                <a:hlinkClick r:id="rId10"/>
              </a:rPr>
              <a:t>https://www.youtube.com/watch?v=KJnN0yKlRYk</a:t>
            </a:r>
            <a:endParaRPr lang="en-US">
              <a:latin typeface="Segoe UI Light" panose="020B0502040204020203" pitchFamily="34" charset="0"/>
            </a:endParaRPr>
          </a:p>
          <a:p>
            <a:pPr marL="836996" lvl="2" indent="-285750">
              <a:lnSpc>
                <a:spcPct val="150000"/>
              </a:lnSpc>
              <a:buClr>
                <a:schemeClr val="tx1"/>
              </a:buClr>
              <a:buSzPct val="80000"/>
              <a:buFont typeface="Wingdings" panose="05000000000000000000" pitchFamily="2" charset="2"/>
              <a:buChar char="v"/>
              <a:defRPr/>
            </a:pPr>
            <a:r>
              <a:rPr lang="en-US" b="1">
                <a:latin typeface="Segoe UI Light" panose="020B0502040204020203" pitchFamily="34" charset="0"/>
              </a:rPr>
              <a:t>Deductibles : </a:t>
            </a:r>
            <a:r>
              <a:rPr lang="en-US" u="sng">
                <a:latin typeface="Segoe UI Light" panose="020B0502040204020203" pitchFamily="34" charset="0"/>
                <a:hlinkClick r:id="rId11"/>
              </a:rPr>
              <a:t>How Auto Insurance Deductibles Work : Auto Insurance – YouTube</a:t>
            </a:r>
            <a:endParaRPr lang="en-US">
              <a:latin typeface="Segoe UI Light" panose="020B0502040204020203" pitchFamily="34" charset="0"/>
            </a:endParaRPr>
          </a:p>
        </p:txBody>
      </p:sp>
      <p:pic>
        <p:nvPicPr>
          <p:cNvPr id="5" name="Picture 4">
            <a:extLst>
              <a:ext uri="{FF2B5EF4-FFF2-40B4-BE49-F238E27FC236}">
                <a16:creationId xmlns:a16="http://schemas.microsoft.com/office/drawing/2014/main" id="{0257BA28-B7E3-48B9-84B5-FC9EC4CC57B5}"/>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6" name="Callout: Right Arrow 5">
            <a:extLst>
              <a:ext uri="{FF2B5EF4-FFF2-40B4-BE49-F238E27FC236}">
                <a16:creationId xmlns:a16="http://schemas.microsoft.com/office/drawing/2014/main" id="{971C9511-D4A5-47B9-B1D0-48AD5EA0EAA9}"/>
              </a:ext>
            </a:extLst>
          </p:cNvPr>
          <p:cNvSpPr/>
          <p:nvPr/>
        </p:nvSpPr>
        <p:spPr>
          <a:xfrm>
            <a:off x="572904" y="1798636"/>
            <a:ext cx="1790700" cy="4413515"/>
          </a:xfrm>
          <a:prstGeom prst="rightArrowCallout">
            <a:avLst/>
          </a:prstGeom>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Visit without fail</a:t>
            </a:r>
            <a:endParaRPr lang="en-IN" sz="2000" b="1"/>
          </a:p>
        </p:txBody>
      </p:sp>
      <p:sp>
        <p:nvSpPr>
          <p:cNvPr id="7" name="TextBox 6">
            <a:extLst>
              <a:ext uri="{FF2B5EF4-FFF2-40B4-BE49-F238E27FC236}">
                <a16:creationId xmlns:a16="http://schemas.microsoft.com/office/drawing/2014/main" id="{85BBE90D-C6F8-4C70-8495-C4B1EEF932B7}"/>
              </a:ext>
            </a:extLst>
          </p:cNvPr>
          <p:cNvSpPr txBox="1"/>
          <p:nvPr/>
        </p:nvSpPr>
        <p:spPr>
          <a:xfrm>
            <a:off x="-24063" y="23181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Do Watch…</a:t>
            </a:r>
          </a:p>
        </p:txBody>
      </p:sp>
    </p:spTree>
    <p:extLst>
      <p:ext uri="{BB962C8B-B14F-4D97-AF65-F5344CB8AC3E}">
        <p14:creationId xmlns:p14="http://schemas.microsoft.com/office/powerpoint/2010/main" val="3315185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0" name="TextBox 29"/>
          <p:cNvSpPr txBox="1"/>
          <p:nvPr/>
        </p:nvSpPr>
        <p:spPr>
          <a:xfrm>
            <a:off x="0" y="3110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Common Personal Auto Coverages: Scenarios</a:t>
            </a:r>
          </a:p>
        </p:txBody>
      </p:sp>
      <p:sp>
        <p:nvSpPr>
          <p:cNvPr id="6" name="Rectangle 5"/>
          <p:cNvSpPr/>
          <p:nvPr/>
        </p:nvSpPr>
        <p:spPr>
          <a:xfrm>
            <a:off x="182880" y="1189037"/>
            <a:ext cx="11963400" cy="2169825"/>
          </a:xfrm>
          <a:prstGeom prst="rect">
            <a:avLst/>
          </a:prstGeom>
        </p:spPr>
        <p:txBody>
          <a:bodyPr wrap="square">
            <a:spAutoFit/>
          </a:bodyPr>
          <a:lstStyle/>
          <a:p>
            <a:pPr marL="285750" indent="-285750">
              <a:lnSpc>
                <a:spcPct val="150000"/>
              </a:lnSpc>
              <a:buFont typeface="Wingdings" panose="05000000000000000000" pitchFamily="2" charset="2"/>
              <a:buChar char="v"/>
            </a:pPr>
            <a:r>
              <a:rPr lang="en-US">
                <a:latin typeface="Segoe UI Light" panose="020B0502040204020203" pitchFamily="34" charset="0"/>
              </a:rPr>
              <a:t>The Role of Your Insurance and Other Parties Insurance When Multiple Parties Are At Fault: </a:t>
            </a:r>
            <a:r>
              <a:rPr lang="en-US">
                <a:latin typeface="Segoe UI Light" panose="020B0502040204020203" pitchFamily="34" charset="0"/>
                <a:hlinkClick r:id="rId3"/>
              </a:rPr>
              <a:t>http://www.jasonschultzpc.com/blog/the-role-of-your-insurance-and-other-parties-insurance-when-multiple-parties-are-at-fault.cfm</a:t>
            </a:r>
            <a:endParaRPr lang="en-US">
              <a:latin typeface="Segoe UI Light" panose="020B0502040204020203" pitchFamily="34" charset="0"/>
            </a:endParaRPr>
          </a:p>
          <a:p>
            <a:pPr marL="285750" indent="-285750">
              <a:lnSpc>
                <a:spcPct val="150000"/>
              </a:lnSpc>
              <a:buFont typeface="Wingdings" panose="05000000000000000000" pitchFamily="2" charset="2"/>
              <a:buChar char="v"/>
            </a:pPr>
            <a:r>
              <a:rPr lang="en-US">
                <a:latin typeface="Segoe UI Light" panose="020B0502040204020203" pitchFamily="34" charset="0"/>
              </a:rPr>
              <a:t>Multiple Family Members In One Car Accident</a:t>
            </a:r>
          </a:p>
          <a:p>
            <a:pPr marL="290513">
              <a:lnSpc>
                <a:spcPct val="150000"/>
              </a:lnSpc>
            </a:pPr>
            <a:r>
              <a:rPr lang="en-US">
                <a:latin typeface="Segoe UI Light" panose="020B0502040204020203" pitchFamily="34" charset="0"/>
                <a:hlinkClick r:id="rId4"/>
              </a:rPr>
              <a:t>http://www.lombardilaw.com/blog/how-do-multiple-passengers-split-the-limits-of-auto-insurance-.cfm</a:t>
            </a:r>
            <a:endParaRPr lang="en-US">
              <a:latin typeface="Segoe UI Light" panose="020B0502040204020203" pitchFamily="34" charset="0"/>
            </a:endParaRPr>
          </a:p>
        </p:txBody>
      </p:sp>
    </p:spTree>
    <p:extLst>
      <p:ext uri="{BB962C8B-B14F-4D97-AF65-F5344CB8AC3E}">
        <p14:creationId xmlns:p14="http://schemas.microsoft.com/office/powerpoint/2010/main" val="181980798"/>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0" name="TextBox 29"/>
          <p:cNvSpPr txBox="1"/>
          <p:nvPr/>
        </p:nvSpPr>
        <p:spPr>
          <a:xfrm>
            <a:off x="0" y="3110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Personal Vs Commercial Auto Insurance</a:t>
            </a:r>
          </a:p>
        </p:txBody>
      </p:sp>
      <p:sp>
        <p:nvSpPr>
          <p:cNvPr id="2" name="Rounded Rectangle 1"/>
          <p:cNvSpPr/>
          <p:nvPr/>
        </p:nvSpPr>
        <p:spPr>
          <a:xfrm>
            <a:off x="2735943" y="2408237"/>
            <a:ext cx="7315200" cy="2514600"/>
          </a:xfrm>
          <a:prstGeom prst="roundRect">
            <a:avLst>
              <a:gd name="adj" fmla="val 12585"/>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7" name="Rectangle 6"/>
          <p:cNvSpPr/>
          <p:nvPr/>
        </p:nvSpPr>
        <p:spPr>
          <a:xfrm>
            <a:off x="3193143" y="2787511"/>
            <a:ext cx="6858000" cy="2308324"/>
          </a:xfrm>
          <a:prstGeom prst="rect">
            <a:avLst/>
          </a:prstGeom>
        </p:spPr>
        <p:txBody>
          <a:bodyPr wrap="square">
            <a:spAutoFit/>
          </a:bodyPr>
          <a:lstStyle/>
          <a:p>
            <a:pPr>
              <a:lnSpc>
                <a:spcPct val="150000"/>
              </a:lnSpc>
            </a:pPr>
            <a:r>
              <a:rPr lang="en-US">
                <a:latin typeface="Segoe UI Light" panose="020B0502040204020203" pitchFamily="34" charset="0"/>
              </a:rPr>
              <a:t>The Difference Between Personal and Commercial Auto Insurance ...</a:t>
            </a:r>
          </a:p>
          <a:p>
            <a:pPr marL="566738" indent="-285750">
              <a:lnSpc>
                <a:spcPct val="150000"/>
              </a:lnSpc>
              <a:buFont typeface="Arial" panose="020B0604020202020204" pitchFamily="34" charset="0"/>
              <a:buChar char="•"/>
            </a:pPr>
            <a:r>
              <a:rPr lang="en-US">
                <a:latin typeface="Segoe UI Light" panose="020B0502040204020203" pitchFamily="34" charset="0"/>
                <a:hlinkClick r:id="rId3"/>
              </a:rPr>
              <a:t>https://www.youtube.com/watch?v=LYH37mGcHZw</a:t>
            </a:r>
            <a:endParaRPr lang="en-US">
              <a:latin typeface="Segoe UI Light" panose="020B0502040204020203" pitchFamily="34" charset="0"/>
            </a:endParaRPr>
          </a:p>
          <a:p>
            <a:pPr marL="566738" indent="-285750">
              <a:lnSpc>
                <a:spcPct val="150000"/>
              </a:lnSpc>
              <a:buFont typeface="Arial" panose="020B0604020202020204" pitchFamily="34" charset="0"/>
              <a:buChar char="•"/>
            </a:pPr>
            <a:r>
              <a:rPr lang="en-US">
                <a:latin typeface="Segoe UI Light" panose="020B0502040204020203" pitchFamily="34" charset="0"/>
                <a:hlinkClick r:id="rId4"/>
              </a:rPr>
              <a:t>https://www.youtube.com/watch?v=lW4MQm2BO4E</a:t>
            </a:r>
            <a:endParaRPr lang="en-US">
              <a:latin typeface="Segoe UI Light" panose="020B0502040204020203" pitchFamily="34" charset="0"/>
            </a:endParaRPr>
          </a:p>
          <a:p>
            <a:pPr marL="566738" indent="-285750">
              <a:lnSpc>
                <a:spcPct val="150000"/>
              </a:lnSpc>
              <a:buFont typeface="Arial" panose="020B0604020202020204" pitchFamily="34" charset="0"/>
              <a:buChar char="•"/>
            </a:pPr>
            <a:r>
              <a:rPr lang="en-US">
                <a:latin typeface="Segoe UI Light" panose="020B0502040204020203" pitchFamily="34" charset="0"/>
                <a:hlinkClick r:id="rId5"/>
              </a:rPr>
              <a:t>https://www.youtube.com/watch?v=60YFGiqosxo</a:t>
            </a:r>
            <a:endParaRPr lang="en-US">
              <a:latin typeface="Segoe UI Light" panose="020B0502040204020203" pitchFamily="34" charset="0"/>
            </a:endParaRPr>
          </a:p>
          <a:p>
            <a:endParaRPr lang="en-US">
              <a:latin typeface="Segoe UI Light" panose="020B0502040204020203" pitchFamily="34" charset="0"/>
            </a:endParaRPr>
          </a:p>
          <a:p>
            <a:endParaRPr lang="en-US">
              <a:latin typeface="Segoe UI Light" panose="020B0502040204020203" pitchFamily="34" charset="0"/>
            </a:endParaRPr>
          </a:p>
        </p:txBody>
      </p:sp>
    </p:spTree>
    <p:extLst>
      <p:ext uri="{BB962C8B-B14F-4D97-AF65-F5344CB8AC3E}">
        <p14:creationId xmlns:p14="http://schemas.microsoft.com/office/powerpoint/2010/main" val="2179017109"/>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descr="Vehicle insurance - Wikipedia">
            <a:extLst>
              <a:ext uri="{FF2B5EF4-FFF2-40B4-BE49-F238E27FC236}">
                <a16:creationId xmlns:a16="http://schemas.microsoft.com/office/drawing/2014/main" id="{043E92DD-D557-4742-B813-B504D15CF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65295"/>
            <a:ext cx="91440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38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8" name="Picture 6" descr="The Difference Between Personal and Commercial Auto Insurance">
            <a:extLst>
              <a:ext uri="{FF2B5EF4-FFF2-40B4-BE49-F238E27FC236}">
                <a16:creationId xmlns:a16="http://schemas.microsoft.com/office/drawing/2014/main" id="{DA76DCDC-3979-4A66-9B76-7C08CCB072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0" y="198437"/>
            <a:ext cx="5527675" cy="69500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F282DF-8284-4CC6-B142-7C08B935E520}"/>
              </a:ext>
            </a:extLst>
          </p:cNvPr>
          <p:cNvSpPr txBox="1"/>
          <p:nvPr/>
        </p:nvSpPr>
        <p:spPr>
          <a:xfrm>
            <a:off x="762000" y="3246437"/>
            <a:ext cx="3886200" cy="923330"/>
          </a:xfrm>
          <a:prstGeom prst="rect">
            <a:avLst/>
          </a:prstGeom>
          <a:noFill/>
        </p:spPr>
        <p:txBody>
          <a:bodyPr wrap="square">
            <a:spAutoFit/>
          </a:bodyPr>
          <a:lstStyle/>
          <a:p>
            <a:r>
              <a:rPr lang="en-IN">
                <a:hlinkClick r:id="rId3"/>
              </a:rPr>
              <a:t>https://fitsmallbusiness.com/commercial-vs-personal-auto-insurance/</a:t>
            </a:r>
            <a:endParaRPr lang="en-IN"/>
          </a:p>
          <a:p>
            <a:endParaRPr lang="en-IN"/>
          </a:p>
        </p:txBody>
      </p:sp>
      <p:pic>
        <p:nvPicPr>
          <p:cNvPr id="3080" name="Picture 8" descr="Commercial Auto Insurance vs. Personal Auto Insurance | Car insurance,  Commercial vehicle insurance, Online insurance">
            <a:extLst>
              <a:ext uri="{FF2B5EF4-FFF2-40B4-BE49-F238E27FC236}">
                <a16:creationId xmlns:a16="http://schemas.microsoft.com/office/drawing/2014/main" id="{9EC09598-26C3-44D8-8109-B6E5B76C2A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27037"/>
            <a:ext cx="28575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550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22" name="Picture 2" descr="Commercial Auto Insurance | Get Rock-Bottom Rates at Insurance Shop LLC">
            <a:extLst>
              <a:ext uri="{FF2B5EF4-FFF2-40B4-BE49-F238E27FC236}">
                <a16:creationId xmlns:a16="http://schemas.microsoft.com/office/drawing/2014/main" id="{2EB4F6E6-BD35-44B3-A87D-DB45D154D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036637"/>
            <a:ext cx="7848600" cy="563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D54D368-6C83-44B3-8F72-B1FF5F6E36F7}"/>
              </a:ext>
            </a:extLst>
          </p:cNvPr>
          <p:cNvSpPr txBox="1"/>
          <p:nvPr/>
        </p:nvSpPr>
        <p:spPr>
          <a:xfrm>
            <a:off x="685800" y="6352271"/>
            <a:ext cx="8763000" cy="646331"/>
          </a:xfrm>
          <a:prstGeom prst="rect">
            <a:avLst/>
          </a:prstGeom>
          <a:noFill/>
        </p:spPr>
        <p:txBody>
          <a:bodyPr wrap="square">
            <a:spAutoFit/>
          </a:bodyPr>
          <a:lstStyle/>
          <a:p>
            <a:r>
              <a:rPr lang="en-IN">
                <a:hlinkClick r:id="rId3"/>
              </a:rPr>
              <a:t>https://www.insuranceshopllc.com/business/coverage/commercial-auto.php</a:t>
            </a:r>
            <a:endParaRPr lang="en-IN"/>
          </a:p>
          <a:p>
            <a:endParaRPr lang="en-IN"/>
          </a:p>
        </p:txBody>
      </p:sp>
    </p:spTree>
    <p:extLst>
      <p:ext uri="{BB962C8B-B14F-4D97-AF65-F5344CB8AC3E}">
        <p14:creationId xmlns:p14="http://schemas.microsoft.com/office/powerpoint/2010/main" val="2758379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6" name="Picture 2" descr="Where is the personal auto market, and how did we get there? | Visualize |  Verisk Analytics">
            <a:extLst>
              <a:ext uri="{FF2B5EF4-FFF2-40B4-BE49-F238E27FC236}">
                <a16:creationId xmlns:a16="http://schemas.microsoft.com/office/drawing/2014/main" id="{6F1572C1-E44C-4029-AADC-A74E6A5DA3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235725"/>
            <a:ext cx="7620000" cy="57143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C53C16A-295B-4558-BC76-B28F2B022A29}"/>
              </a:ext>
            </a:extLst>
          </p:cNvPr>
          <p:cNvSpPr txBox="1"/>
          <p:nvPr/>
        </p:nvSpPr>
        <p:spPr>
          <a:xfrm>
            <a:off x="228600" y="3094037"/>
            <a:ext cx="3733800" cy="1477328"/>
          </a:xfrm>
          <a:prstGeom prst="rect">
            <a:avLst/>
          </a:prstGeom>
          <a:noFill/>
        </p:spPr>
        <p:txBody>
          <a:bodyPr wrap="square">
            <a:spAutoFit/>
          </a:bodyPr>
          <a:lstStyle/>
          <a:p>
            <a:r>
              <a:rPr lang="en-IN">
                <a:hlinkClick r:id="rId3"/>
              </a:rPr>
              <a:t>https://www.verisk.com/insurance/visualize/where-is-the-personal-auto-market-and-how-did-we-get-here/</a:t>
            </a:r>
            <a:endParaRPr lang="en-IN"/>
          </a:p>
          <a:p>
            <a:endParaRPr lang="en-IN"/>
          </a:p>
        </p:txBody>
      </p:sp>
    </p:spTree>
    <p:extLst>
      <p:ext uri="{BB962C8B-B14F-4D97-AF65-F5344CB8AC3E}">
        <p14:creationId xmlns:p14="http://schemas.microsoft.com/office/powerpoint/2010/main" val="4167685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218" name="Picture 2" descr="Benefits of Commercial Auto Insurance | Swamp Fox Agency">
            <a:extLst>
              <a:ext uri="{FF2B5EF4-FFF2-40B4-BE49-F238E27FC236}">
                <a16:creationId xmlns:a16="http://schemas.microsoft.com/office/drawing/2014/main" id="{EC7B29DA-9956-4C60-AEE5-266351FDC2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0"/>
            <a:ext cx="5368925" cy="69500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B0ADA6-A71C-436A-B405-F3D41F230471}"/>
              </a:ext>
            </a:extLst>
          </p:cNvPr>
          <p:cNvSpPr txBox="1"/>
          <p:nvPr/>
        </p:nvSpPr>
        <p:spPr>
          <a:xfrm>
            <a:off x="152400" y="2838020"/>
            <a:ext cx="6174954" cy="923330"/>
          </a:xfrm>
          <a:prstGeom prst="rect">
            <a:avLst/>
          </a:prstGeom>
          <a:noFill/>
        </p:spPr>
        <p:txBody>
          <a:bodyPr wrap="square">
            <a:spAutoFit/>
          </a:bodyPr>
          <a:lstStyle/>
          <a:p>
            <a:r>
              <a:rPr lang="en-IN">
                <a:hlinkClick r:id="rId3"/>
              </a:rPr>
              <a:t>https://www.swampfoxagency.com/benefits-of-commercial-auto-insurance/</a:t>
            </a:r>
            <a:endParaRPr lang="en-IN"/>
          </a:p>
          <a:p>
            <a:endParaRPr lang="en-IN"/>
          </a:p>
        </p:txBody>
      </p:sp>
    </p:spTree>
    <p:extLst>
      <p:ext uri="{BB962C8B-B14F-4D97-AF65-F5344CB8AC3E}">
        <p14:creationId xmlns:p14="http://schemas.microsoft.com/office/powerpoint/2010/main" val="25635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196" name="Picture 4" descr="Commercial Auto Symbols Chart">
            <a:extLst>
              <a:ext uri="{FF2B5EF4-FFF2-40B4-BE49-F238E27FC236}">
                <a16:creationId xmlns:a16="http://schemas.microsoft.com/office/drawing/2014/main" id="{11E37E01-B8E4-4A74-9B37-66A85A232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122237"/>
            <a:ext cx="3524250" cy="6950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645138D-0E44-4E2B-9A35-7D5AB02CBC61}"/>
              </a:ext>
            </a:extLst>
          </p:cNvPr>
          <p:cNvSpPr txBox="1"/>
          <p:nvPr/>
        </p:nvSpPr>
        <p:spPr>
          <a:xfrm>
            <a:off x="533400" y="2851791"/>
            <a:ext cx="6174954" cy="923330"/>
          </a:xfrm>
          <a:prstGeom prst="rect">
            <a:avLst/>
          </a:prstGeom>
          <a:noFill/>
        </p:spPr>
        <p:txBody>
          <a:bodyPr wrap="square">
            <a:spAutoFit/>
          </a:bodyPr>
          <a:lstStyle/>
          <a:p>
            <a:r>
              <a:rPr lang="en-IN">
                <a:hlinkClick r:id="rId3"/>
              </a:rPr>
              <a:t>https://www.myallianceinsurance.com/how-to-rock-</a:t>
            </a:r>
            <a:r>
              <a:rPr lang="en-IN" b="1">
                <a:hlinkClick r:id="rId3"/>
              </a:rPr>
              <a:t>commercial-auto-insurance</a:t>
            </a:r>
            <a:r>
              <a:rPr lang="en-IN">
                <a:hlinkClick r:id="rId3"/>
              </a:rPr>
              <a:t>-in-north-carolina/</a:t>
            </a:r>
            <a:endParaRPr lang="en-IN"/>
          </a:p>
          <a:p>
            <a:endParaRPr lang="en-IN"/>
          </a:p>
        </p:txBody>
      </p:sp>
    </p:spTree>
    <p:extLst>
      <p:ext uri="{BB962C8B-B14F-4D97-AF65-F5344CB8AC3E}">
        <p14:creationId xmlns:p14="http://schemas.microsoft.com/office/powerpoint/2010/main" val="2836411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Template 2016" id="{90BAF895-86B6-4C60-9208-C4F858343066}" vid="{7154B3E6-577F-4162-B9F9-6A81BF94E4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41087d73-5bfe-4c6e-a130-3d602495565a" ContentTypeId="0x010100F7548365F7A28B41B9A685ED46C1AC26" PreviousValue="false"/>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Training</SubCategory>
    <Tags xmlns="09339d3a-aaa0-497d-ae73-d8a5832d420d">Auto Insurance</Tags>
    <Contributors xmlns="09339d3a-aaa0-497d-ae73-d8a5832d420d">
      <UserInfo>
        <DisplayName>Alok Bharati</DisplayName>
        <AccountId>26</AccountId>
        <AccountType/>
      </UserInfo>
    </Contributors>
  </documentManagement>
</p:properties>
</file>

<file path=customXml/itemProps1.xml><?xml version="1.0" encoding="utf-8"?>
<ds:datastoreItem xmlns:ds="http://schemas.openxmlformats.org/officeDocument/2006/customXml" ds:itemID="{CEF6AC01-3ED6-41F5-9790-8E3D1F2BF2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339d3a-aaa0-497d-ae73-d8a5832d42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322E1D-ED4E-4008-9D28-C01E2698E970}">
  <ds:schemaRefs>
    <ds:schemaRef ds:uri="http://schemas.microsoft.com/sharepoint/v3/contenttype/forms"/>
  </ds:schemaRefs>
</ds:datastoreItem>
</file>

<file path=customXml/itemProps3.xml><?xml version="1.0" encoding="utf-8"?>
<ds:datastoreItem xmlns:ds="http://schemas.openxmlformats.org/officeDocument/2006/customXml" ds:itemID="{98DE6946-9428-40A1-A9BD-B21673F73E45}">
  <ds:schemaRefs>
    <ds:schemaRef ds:uri="Microsoft.SharePoint.Taxonomy.ContentTypeSync"/>
  </ds:schemaRefs>
</ds:datastoreItem>
</file>

<file path=customXml/itemProps4.xml><?xml version="1.0" encoding="utf-8"?>
<ds:datastoreItem xmlns:ds="http://schemas.openxmlformats.org/officeDocument/2006/customXml" ds:itemID="{D19EF8F4-E994-4A09-9696-1955D3D0B0B3}">
  <ds:schemaRefs>
    <ds:schemaRef ds:uri="09339d3a-aaa0-497d-ae73-d8a5832d420d"/>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PowerPoint Template 2016</Template>
  <Application>Microsoft Office PowerPoint</Application>
  <PresentationFormat>Custom</PresentationFormat>
  <Slides>14</Slides>
  <Notes>4</Notes>
  <HiddenSlides>8</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Anupam Baruah</dc:creator>
  <cp:revision>2</cp:revision>
  <cp:lastPrinted>2013-08-22T15:28:58Z</cp:lastPrinted>
  <dcterms:created xsi:type="dcterms:W3CDTF">2016-04-01T14:10:13Z</dcterms:created>
  <dcterms:modified xsi:type="dcterms:W3CDTF">2023-12-10T04:12:32Z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3400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
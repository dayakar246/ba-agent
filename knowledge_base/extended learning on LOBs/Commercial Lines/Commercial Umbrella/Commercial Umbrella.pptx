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8" r:id="rId2"/>
    <p:sldId id="259" r:id="rId3"/>
    <p:sldId id="263" r:id="rId4"/>
    <p:sldId id="257"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3" autoAdjust="0"/>
    <p:restoredTop sz="94660"/>
  </p:normalViewPr>
  <p:slideViewPr>
    <p:cSldViewPr snapToGrid="0">
      <p:cViewPr varScale="1">
        <p:scale>
          <a:sx n="72" d="100"/>
          <a:sy n="72" d="100"/>
        </p:scale>
        <p:origin x="61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17" Type="http://schemas.openxmlformats.org/officeDocument/2006/relationships/customXml" Target="../customXml/item4.xml"/><Relationship Id="rId2" Type="http://schemas.openxmlformats.org/officeDocument/2006/relationships/slide" Target="slides/slide1.xml"/><Relationship Id="rId16"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customXml" Target="../customXml/item2.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8FA40C-D110-48D6-B923-76F91F1C07EC}" type="datetimeFigureOut">
              <a:rPr lang="en-US" smtClean="0"/>
              <a:t>8/9/2019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2F230-A793-4C2D-87B3-8D7A6613FC00}" type="slidenum">
              <a:rPr lang="en-US" smtClean="0"/>
              <a:t>‹#›</a:t>
            </a:fld>
            <a:endParaRPr lang="en-US"/>
          </a:p>
        </p:txBody>
      </p:sp>
    </p:spTree>
    <p:extLst>
      <p:ext uri="{BB962C8B-B14F-4D97-AF65-F5344CB8AC3E}">
        <p14:creationId xmlns:p14="http://schemas.microsoft.com/office/powerpoint/2010/main" val="3233680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A3926EB-BD52-4AE3-B0C0-D240C7C26208}" type="slidenum">
              <a:rPr lang="en-US" smtClean="0"/>
              <a:pPr>
                <a:defRPr/>
              </a:pPr>
              <a:t>1</a:t>
            </a:fld>
            <a:endParaRPr lang="en-US"/>
          </a:p>
        </p:txBody>
      </p:sp>
    </p:spTree>
    <p:extLst>
      <p:ext uri="{BB962C8B-B14F-4D97-AF65-F5344CB8AC3E}">
        <p14:creationId xmlns:p14="http://schemas.microsoft.com/office/powerpoint/2010/main" val="2225105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Umbrella Policy- </a:t>
            </a:r>
            <a:r>
              <a:rPr lang="en-US" sz="1200" b="0" i="0" kern="1200" dirty="0">
                <a:solidFill>
                  <a:schemeClr val="tx1"/>
                </a:solidFill>
                <a:effectLst/>
                <a:latin typeface="+mn-lt"/>
                <a:ea typeface="+mn-ea"/>
                <a:cs typeface="+mn-cs"/>
              </a:rPr>
              <a:t>An umbrella policy is basically an additional policy that kicks in when your other insurance policies have reached their limits. The amount of coverage and types of coverage offered by these policies varies, as will their premiums.</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9A3926EB-BD52-4AE3-B0C0-D240C7C26208}" type="slidenum">
              <a:rPr lang="en-US" smtClean="0"/>
              <a:pPr>
                <a:defRPr/>
              </a:pPr>
              <a:t>4</a:t>
            </a:fld>
            <a:endParaRPr lang="en-US"/>
          </a:p>
        </p:txBody>
      </p:sp>
    </p:spTree>
    <p:extLst>
      <p:ext uri="{BB962C8B-B14F-4D97-AF65-F5344CB8AC3E}">
        <p14:creationId xmlns:p14="http://schemas.microsoft.com/office/powerpoint/2010/main" val="2582897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44F4FE5-383B-42A3-B09D-11644FF49C70}" type="datetimeFigureOut">
              <a:rPr lang="en-US" smtClean="0"/>
              <a:t>8/9/2019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0A82C4-4966-4105-A8F6-7568A3CE5BE0}" type="slidenum">
              <a:rPr lang="en-US" smtClean="0"/>
              <a:t>‹#›</a:t>
            </a:fld>
            <a:endParaRPr lang="en-US"/>
          </a:p>
        </p:txBody>
      </p:sp>
    </p:spTree>
    <p:extLst>
      <p:ext uri="{BB962C8B-B14F-4D97-AF65-F5344CB8AC3E}">
        <p14:creationId xmlns:p14="http://schemas.microsoft.com/office/powerpoint/2010/main" val="377233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4F4FE5-383B-42A3-B09D-11644FF49C70}" type="datetimeFigureOut">
              <a:rPr lang="en-US" smtClean="0"/>
              <a:t>8/9/2019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0A82C4-4966-4105-A8F6-7568A3CE5BE0}" type="slidenum">
              <a:rPr lang="en-US" smtClean="0"/>
              <a:t>‹#›</a:t>
            </a:fld>
            <a:endParaRPr lang="en-US"/>
          </a:p>
        </p:txBody>
      </p:sp>
    </p:spTree>
    <p:extLst>
      <p:ext uri="{BB962C8B-B14F-4D97-AF65-F5344CB8AC3E}">
        <p14:creationId xmlns:p14="http://schemas.microsoft.com/office/powerpoint/2010/main" val="1493525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4F4FE5-383B-42A3-B09D-11644FF49C70}" type="datetimeFigureOut">
              <a:rPr lang="en-US" smtClean="0"/>
              <a:t>8/9/2019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0A82C4-4966-4105-A8F6-7568A3CE5BE0}" type="slidenum">
              <a:rPr lang="en-US" smtClean="0"/>
              <a:t>‹#›</a:t>
            </a:fld>
            <a:endParaRPr lang="en-US"/>
          </a:p>
        </p:txBody>
      </p:sp>
    </p:spTree>
    <p:extLst>
      <p:ext uri="{BB962C8B-B14F-4D97-AF65-F5344CB8AC3E}">
        <p14:creationId xmlns:p14="http://schemas.microsoft.com/office/powerpoint/2010/main" val="2378670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4F4FE5-383B-42A3-B09D-11644FF49C70}" type="datetimeFigureOut">
              <a:rPr lang="en-US" smtClean="0"/>
              <a:t>8/9/2019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0A82C4-4966-4105-A8F6-7568A3CE5BE0}" type="slidenum">
              <a:rPr lang="en-US" smtClean="0"/>
              <a:t>‹#›</a:t>
            </a:fld>
            <a:endParaRPr lang="en-US"/>
          </a:p>
        </p:txBody>
      </p:sp>
    </p:spTree>
    <p:extLst>
      <p:ext uri="{BB962C8B-B14F-4D97-AF65-F5344CB8AC3E}">
        <p14:creationId xmlns:p14="http://schemas.microsoft.com/office/powerpoint/2010/main" val="4141786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4F4FE5-383B-42A3-B09D-11644FF49C70}" type="datetimeFigureOut">
              <a:rPr lang="en-US" smtClean="0"/>
              <a:t>8/9/2019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0A82C4-4966-4105-A8F6-7568A3CE5BE0}" type="slidenum">
              <a:rPr lang="en-US" smtClean="0"/>
              <a:t>‹#›</a:t>
            </a:fld>
            <a:endParaRPr lang="en-US"/>
          </a:p>
        </p:txBody>
      </p:sp>
    </p:spTree>
    <p:extLst>
      <p:ext uri="{BB962C8B-B14F-4D97-AF65-F5344CB8AC3E}">
        <p14:creationId xmlns:p14="http://schemas.microsoft.com/office/powerpoint/2010/main" val="2603412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4F4FE5-383B-42A3-B09D-11644FF49C70}" type="datetimeFigureOut">
              <a:rPr lang="en-US" smtClean="0"/>
              <a:t>8/9/2019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0A82C4-4966-4105-A8F6-7568A3CE5BE0}" type="slidenum">
              <a:rPr lang="en-US" smtClean="0"/>
              <a:t>‹#›</a:t>
            </a:fld>
            <a:endParaRPr lang="en-US"/>
          </a:p>
        </p:txBody>
      </p:sp>
    </p:spTree>
    <p:extLst>
      <p:ext uri="{BB962C8B-B14F-4D97-AF65-F5344CB8AC3E}">
        <p14:creationId xmlns:p14="http://schemas.microsoft.com/office/powerpoint/2010/main" val="2128063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4F4FE5-383B-42A3-B09D-11644FF49C70}" type="datetimeFigureOut">
              <a:rPr lang="en-US" smtClean="0"/>
              <a:t>8/9/2019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20A82C4-4966-4105-A8F6-7568A3CE5BE0}" type="slidenum">
              <a:rPr lang="en-US" smtClean="0"/>
              <a:t>‹#›</a:t>
            </a:fld>
            <a:endParaRPr lang="en-US"/>
          </a:p>
        </p:txBody>
      </p:sp>
    </p:spTree>
    <p:extLst>
      <p:ext uri="{BB962C8B-B14F-4D97-AF65-F5344CB8AC3E}">
        <p14:creationId xmlns:p14="http://schemas.microsoft.com/office/powerpoint/2010/main" val="661625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4F4FE5-383B-42A3-B09D-11644FF49C70}" type="datetimeFigureOut">
              <a:rPr lang="en-US" smtClean="0"/>
              <a:t>8/9/2019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0A82C4-4966-4105-A8F6-7568A3CE5BE0}" type="slidenum">
              <a:rPr lang="en-US" smtClean="0"/>
              <a:t>‹#›</a:t>
            </a:fld>
            <a:endParaRPr lang="en-US"/>
          </a:p>
        </p:txBody>
      </p:sp>
    </p:spTree>
    <p:extLst>
      <p:ext uri="{BB962C8B-B14F-4D97-AF65-F5344CB8AC3E}">
        <p14:creationId xmlns:p14="http://schemas.microsoft.com/office/powerpoint/2010/main" val="2784019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4F4FE5-383B-42A3-B09D-11644FF49C70}" type="datetimeFigureOut">
              <a:rPr lang="en-US" smtClean="0"/>
              <a:t>8/9/2019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0A82C4-4966-4105-A8F6-7568A3CE5BE0}" type="slidenum">
              <a:rPr lang="en-US" smtClean="0"/>
              <a:t>‹#›</a:t>
            </a:fld>
            <a:endParaRPr lang="en-US"/>
          </a:p>
        </p:txBody>
      </p:sp>
    </p:spTree>
    <p:extLst>
      <p:ext uri="{BB962C8B-B14F-4D97-AF65-F5344CB8AC3E}">
        <p14:creationId xmlns:p14="http://schemas.microsoft.com/office/powerpoint/2010/main" val="3849225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4F4FE5-383B-42A3-B09D-11644FF49C70}" type="datetimeFigureOut">
              <a:rPr lang="en-US" smtClean="0"/>
              <a:t>8/9/2019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0A82C4-4966-4105-A8F6-7568A3CE5BE0}" type="slidenum">
              <a:rPr lang="en-US" smtClean="0"/>
              <a:t>‹#›</a:t>
            </a:fld>
            <a:endParaRPr lang="en-US"/>
          </a:p>
        </p:txBody>
      </p:sp>
    </p:spTree>
    <p:extLst>
      <p:ext uri="{BB962C8B-B14F-4D97-AF65-F5344CB8AC3E}">
        <p14:creationId xmlns:p14="http://schemas.microsoft.com/office/powerpoint/2010/main" val="2260566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4F4FE5-383B-42A3-B09D-11644FF49C70}" type="datetimeFigureOut">
              <a:rPr lang="en-US" smtClean="0"/>
              <a:t>8/9/2019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0A82C4-4966-4105-A8F6-7568A3CE5BE0}" type="slidenum">
              <a:rPr lang="en-US" smtClean="0"/>
              <a:t>‹#›</a:t>
            </a:fld>
            <a:endParaRPr lang="en-US"/>
          </a:p>
        </p:txBody>
      </p:sp>
    </p:spTree>
    <p:extLst>
      <p:ext uri="{BB962C8B-B14F-4D97-AF65-F5344CB8AC3E}">
        <p14:creationId xmlns:p14="http://schemas.microsoft.com/office/powerpoint/2010/main" val="1588019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2" name="Rectangle 62"/>
          <p:cNvSpPr>
            <a:spLocks noChangeArrowheads="1"/>
          </p:cNvSpPr>
          <p:nvPr userDrawn="1"/>
        </p:nvSpPr>
        <p:spPr bwMode="auto">
          <a:xfrm>
            <a:off x="0" y="0"/>
            <a:ext cx="9855200" cy="762000"/>
          </a:xfrm>
          <a:prstGeom prst="rect">
            <a:avLst/>
          </a:prstGeom>
          <a:solidFill>
            <a:srgbClr val="5F5F5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3" name="Rectangle 63"/>
          <p:cNvSpPr>
            <a:spLocks noChangeArrowheads="1"/>
          </p:cNvSpPr>
          <p:nvPr userDrawn="1"/>
        </p:nvSpPr>
        <p:spPr bwMode="auto">
          <a:xfrm>
            <a:off x="8534400" y="0"/>
            <a:ext cx="1320800" cy="7635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4" name="Rectangle 64"/>
          <p:cNvSpPr>
            <a:spLocks noChangeArrowheads="1"/>
          </p:cNvSpPr>
          <p:nvPr userDrawn="1"/>
        </p:nvSpPr>
        <p:spPr bwMode="auto">
          <a:xfrm>
            <a:off x="11684000" y="0"/>
            <a:ext cx="508000" cy="763588"/>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5" name="Rectangle 65"/>
          <p:cNvSpPr>
            <a:spLocks noChangeArrowheads="1"/>
          </p:cNvSpPr>
          <p:nvPr userDrawn="1"/>
        </p:nvSpPr>
        <p:spPr bwMode="auto">
          <a:xfrm>
            <a:off x="9042400" y="0"/>
            <a:ext cx="406400" cy="763588"/>
          </a:xfrm>
          <a:prstGeom prst="rect">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pic>
        <p:nvPicPr>
          <p:cNvPr id="6"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956800" y="0"/>
            <a:ext cx="1534584"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pic>
      <p:sp>
        <p:nvSpPr>
          <p:cNvPr id="7" name="Rectangle 67"/>
          <p:cNvSpPr>
            <a:spLocks noChangeArrowheads="1"/>
          </p:cNvSpPr>
          <p:nvPr userDrawn="1"/>
        </p:nvSpPr>
        <p:spPr bwMode="auto">
          <a:xfrm>
            <a:off x="0" y="762000"/>
            <a:ext cx="12192000" cy="762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8" name="Text Box 46"/>
          <p:cNvSpPr txBox="1">
            <a:spLocks noChangeArrowheads="1"/>
          </p:cNvSpPr>
          <p:nvPr userDrawn="1"/>
        </p:nvSpPr>
        <p:spPr bwMode="auto">
          <a:xfrm>
            <a:off x="0" y="6553200"/>
            <a:ext cx="12090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en-US" sz="900">
                <a:solidFill>
                  <a:srgbClr val="5F5F5F"/>
                </a:solidFill>
                <a:latin typeface="Arial Narrow" panose="020B0606020202030204" pitchFamily="34" charset="0"/>
              </a:rPr>
              <a:t>NOTE: All information contained herein is Proprietary &amp; Confidential material of ValueMomentum Inc. All rights are reserved.</a:t>
            </a:r>
          </a:p>
        </p:txBody>
      </p:sp>
      <p:sp>
        <p:nvSpPr>
          <p:cNvPr id="9" name="Rectangle 63"/>
          <p:cNvSpPr>
            <a:spLocks noChangeArrowheads="1"/>
          </p:cNvSpPr>
          <p:nvPr userDrawn="1"/>
        </p:nvSpPr>
        <p:spPr bwMode="auto">
          <a:xfrm>
            <a:off x="11684000" y="0"/>
            <a:ext cx="101600" cy="7635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Tree>
    <p:extLst>
      <p:ext uri="{BB962C8B-B14F-4D97-AF65-F5344CB8AC3E}">
        <p14:creationId xmlns:p14="http://schemas.microsoft.com/office/powerpoint/2010/main" val="18311977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2" name="Rectangle 62"/>
          <p:cNvSpPr>
            <a:spLocks noChangeArrowheads="1"/>
          </p:cNvSpPr>
          <p:nvPr userDrawn="1"/>
        </p:nvSpPr>
        <p:spPr bwMode="auto">
          <a:xfrm>
            <a:off x="0" y="0"/>
            <a:ext cx="9855200" cy="762000"/>
          </a:xfrm>
          <a:prstGeom prst="rect">
            <a:avLst/>
          </a:prstGeom>
          <a:solidFill>
            <a:srgbClr val="5F5F5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3" name="Rectangle 63"/>
          <p:cNvSpPr>
            <a:spLocks noChangeArrowheads="1"/>
          </p:cNvSpPr>
          <p:nvPr userDrawn="1"/>
        </p:nvSpPr>
        <p:spPr bwMode="auto">
          <a:xfrm>
            <a:off x="8534400" y="0"/>
            <a:ext cx="1320800" cy="7635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4" name="Rectangle 64"/>
          <p:cNvSpPr>
            <a:spLocks noChangeArrowheads="1"/>
          </p:cNvSpPr>
          <p:nvPr userDrawn="1"/>
        </p:nvSpPr>
        <p:spPr bwMode="auto">
          <a:xfrm>
            <a:off x="11684000" y="0"/>
            <a:ext cx="508000" cy="763588"/>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5" name="Rectangle 65"/>
          <p:cNvSpPr>
            <a:spLocks noChangeArrowheads="1"/>
          </p:cNvSpPr>
          <p:nvPr userDrawn="1"/>
        </p:nvSpPr>
        <p:spPr bwMode="auto">
          <a:xfrm>
            <a:off x="9042400" y="0"/>
            <a:ext cx="406400" cy="763588"/>
          </a:xfrm>
          <a:prstGeom prst="rect">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pic>
        <p:nvPicPr>
          <p:cNvPr id="6"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956800" y="0"/>
            <a:ext cx="1534584"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pic>
      <p:sp>
        <p:nvSpPr>
          <p:cNvPr id="7" name="Rectangle 67"/>
          <p:cNvSpPr>
            <a:spLocks noChangeArrowheads="1"/>
          </p:cNvSpPr>
          <p:nvPr userDrawn="1"/>
        </p:nvSpPr>
        <p:spPr bwMode="auto">
          <a:xfrm>
            <a:off x="0" y="762000"/>
            <a:ext cx="12192000" cy="762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8" name="Text Box 46"/>
          <p:cNvSpPr txBox="1">
            <a:spLocks noChangeArrowheads="1"/>
          </p:cNvSpPr>
          <p:nvPr userDrawn="1"/>
        </p:nvSpPr>
        <p:spPr bwMode="auto">
          <a:xfrm>
            <a:off x="0" y="6553200"/>
            <a:ext cx="12090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en-US" sz="900">
                <a:solidFill>
                  <a:srgbClr val="5F5F5F"/>
                </a:solidFill>
                <a:latin typeface="Arial Narrow" panose="020B0606020202030204" pitchFamily="34" charset="0"/>
              </a:rPr>
              <a:t>NOTE: All information contained herein is Proprietary &amp; Confidential material of ValueMomentum Inc. All rights are reserved.</a:t>
            </a:r>
          </a:p>
        </p:txBody>
      </p:sp>
      <p:sp>
        <p:nvSpPr>
          <p:cNvPr id="9" name="Rectangle 63"/>
          <p:cNvSpPr>
            <a:spLocks noChangeArrowheads="1"/>
          </p:cNvSpPr>
          <p:nvPr userDrawn="1"/>
        </p:nvSpPr>
        <p:spPr bwMode="auto">
          <a:xfrm>
            <a:off x="11684000" y="0"/>
            <a:ext cx="101600" cy="7635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Tree>
    <p:extLst>
      <p:ext uri="{BB962C8B-B14F-4D97-AF65-F5344CB8AC3E}">
        <p14:creationId xmlns:p14="http://schemas.microsoft.com/office/powerpoint/2010/main" val="1326766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4F4FE5-383B-42A3-B09D-11644FF49C70}" type="datetimeFigureOut">
              <a:rPr lang="en-US" smtClean="0"/>
              <a:t>8/9/2019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0A82C4-4966-4105-A8F6-7568A3CE5BE0}" type="slidenum">
              <a:rPr lang="en-US" smtClean="0"/>
              <a:t>‹#›</a:t>
            </a:fld>
            <a:endParaRPr lang="en-US"/>
          </a:p>
        </p:txBody>
      </p:sp>
    </p:spTree>
    <p:extLst>
      <p:ext uri="{BB962C8B-B14F-4D97-AF65-F5344CB8AC3E}">
        <p14:creationId xmlns:p14="http://schemas.microsoft.com/office/powerpoint/2010/main" val="12115949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hyperlink" Target="https://youtu.be/GsPye8vG-Io" TargetMode="External"/><Relationship Id="rId2" Type="http://schemas.openxmlformats.org/officeDocument/2006/relationships/hyperlink" Target="https://youtu.be/hQuo8kZ5Yms" TargetMode="External"/><Relationship Id="rId1" Type="http://schemas.openxmlformats.org/officeDocument/2006/relationships/slideLayout" Target="../slideLayouts/slideLayout13.xml"/><Relationship Id="rId4" Type="http://schemas.openxmlformats.org/officeDocument/2006/relationships/hyperlink" Target="https://youtu.be/wQ8Eq3FMWGk"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hyperlink" Target="https://youtu.be/UZH__JQ5IqQ" TargetMode="External"/><Relationship Id="rId2" Type="http://schemas.openxmlformats.org/officeDocument/2006/relationships/hyperlink" Target="https://youtu.be/FMRfWyorCFE" TargetMode="External"/><Relationship Id="rId1" Type="http://schemas.openxmlformats.org/officeDocument/2006/relationships/slideLayout" Target="../slideLayouts/slideLayout12.xml"/><Relationship Id="rId5" Type="http://schemas.openxmlformats.org/officeDocument/2006/relationships/hyperlink" Target="https://youtu.be/n-pXlG-Kbfo" TargetMode="External"/><Relationship Id="rId4" Type="http://schemas.openxmlformats.org/officeDocument/2006/relationships/hyperlink" Target="https://youtu.be/_qd4K3HKHP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p:cNvSpPr txBox="1">
            <a:spLocks/>
          </p:cNvSpPr>
          <p:nvPr/>
        </p:nvSpPr>
        <p:spPr bwMode="auto">
          <a:xfrm>
            <a:off x="8458200" y="6553200"/>
            <a:ext cx="2209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CACAED3A-D58B-42F2-AC44-6CCF5080DCCD}" type="slidenum">
              <a:rPr lang="en-US" altLang="en-US" sz="1400"/>
              <a:pPr algn="r" eaLnBrk="1" hangingPunct="1">
                <a:spcBef>
                  <a:spcPct val="0"/>
                </a:spcBef>
                <a:buFontTx/>
                <a:buNone/>
              </a:pPr>
              <a:t>1</a:t>
            </a:fld>
            <a:endParaRPr lang="en-US" altLang="en-US" sz="1400"/>
          </a:p>
        </p:txBody>
      </p:sp>
      <p:sp>
        <p:nvSpPr>
          <p:cNvPr id="21507" name="Rectangle 66"/>
          <p:cNvSpPr>
            <a:spLocks noChangeArrowheads="1"/>
          </p:cNvSpPr>
          <p:nvPr/>
        </p:nvSpPr>
        <p:spPr bwMode="auto">
          <a:xfrm>
            <a:off x="1600200" y="182563"/>
            <a:ext cx="632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tabLst>
                <a:tab pos="18288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18288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18288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9pPr>
          </a:lstStyle>
          <a:p>
            <a:pPr>
              <a:spcBef>
                <a:spcPct val="0"/>
              </a:spcBef>
              <a:buSzPct val="120000"/>
              <a:buFontTx/>
              <a:buNone/>
            </a:pPr>
            <a:r>
              <a:rPr lang="en-US" altLang="en-US" sz="2000" dirty="0">
                <a:solidFill>
                  <a:schemeClr val="bg1"/>
                </a:solidFill>
              </a:rPr>
              <a:t>Commercial Lines</a:t>
            </a:r>
          </a:p>
        </p:txBody>
      </p:sp>
      <p:sp>
        <p:nvSpPr>
          <p:cNvPr id="21508" name="Rectangle 5"/>
          <p:cNvSpPr>
            <a:spLocks noChangeArrowheads="1"/>
          </p:cNvSpPr>
          <p:nvPr/>
        </p:nvSpPr>
        <p:spPr bwMode="auto">
          <a:xfrm>
            <a:off x="1676400" y="3325813"/>
            <a:ext cx="876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SzPct val="120000"/>
              <a:buFontTx/>
              <a:buNone/>
            </a:pPr>
            <a:r>
              <a:rPr lang="en-US" altLang="en-US" sz="2400">
                <a:solidFill>
                  <a:srgbClr val="FF0000"/>
                </a:solidFill>
                <a:latin typeface="Verdana" panose="020B0604030504040204" pitchFamily="34" charset="0"/>
              </a:rPr>
              <a:t> </a:t>
            </a:r>
            <a:endParaRPr lang="en-US" altLang="en-US" sz="2400">
              <a:solidFill>
                <a:srgbClr val="008000"/>
              </a:solidFill>
              <a:latin typeface="Verdana" panose="020B0604030504040204" pitchFamily="34" charset="0"/>
            </a:endParaRPr>
          </a:p>
        </p:txBody>
      </p:sp>
      <p:sp>
        <p:nvSpPr>
          <p:cNvPr id="6" name="Rectangle 6"/>
          <p:cNvSpPr>
            <a:spLocks noChangeArrowheads="1"/>
          </p:cNvSpPr>
          <p:nvPr/>
        </p:nvSpPr>
        <p:spPr bwMode="auto">
          <a:xfrm>
            <a:off x="4648200" y="1981200"/>
            <a:ext cx="2590800" cy="914400"/>
          </a:xfrm>
          <a:prstGeom prst="rect">
            <a:avLst/>
          </a:prstGeom>
          <a:solidFill>
            <a:schemeClr val="accent6"/>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b="1" dirty="0">
                <a:solidFill>
                  <a:schemeClr val="tx1"/>
                </a:solidFill>
              </a:rPr>
              <a:t>Commercial</a:t>
            </a:r>
          </a:p>
        </p:txBody>
      </p:sp>
      <p:sp>
        <p:nvSpPr>
          <p:cNvPr id="7" name="Rectangle 11"/>
          <p:cNvSpPr>
            <a:spLocks noChangeArrowheads="1"/>
          </p:cNvSpPr>
          <p:nvPr/>
        </p:nvSpPr>
        <p:spPr bwMode="auto">
          <a:xfrm>
            <a:off x="1676400" y="4191000"/>
            <a:ext cx="1143000" cy="914400"/>
          </a:xfrm>
          <a:prstGeom prst="rect">
            <a:avLst/>
          </a:prstGeom>
          <a:solidFill>
            <a:schemeClr val="accent1">
              <a:lumMod val="75000"/>
            </a:schemeClr>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General </a:t>
            </a:r>
          </a:p>
          <a:p>
            <a:pPr algn="ctr" eaLnBrk="1" hangingPunct="1">
              <a:defRPr/>
            </a:pPr>
            <a:r>
              <a:rPr lang="en-US" sz="1400" b="1" dirty="0">
                <a:solidFill>
                  <a:prstClr val="black"/>
                </a:solidFill>
              </a:rPr>
              <a:t>Liability</a:t>
            </a:r>
          </a:p>
        </p:txBody>
      </p:sp>
      <p:sp>
        <p:nvSpPr>
          <p:cNvPr id="8" name="Rectangle 12"/>
          <p:cNvSpPr>
            <a:spLocks noChangeArrowheads="1"/>
          </p:cNvSpPr>
          <p:nvPr/>
        </p:nvSpPr>
        <p:spPr bwMode="auto">
          <a:xfrm>
            <a:off x="3048000" y="4191000"/>
            <a:ext cx="1219200" cy="914400"/>
          </a:xfrm>
          <a:prstGeom prst="rect">
            <a:avLst/>
          </a:prstGeom>
          <a:solidFill>
            <a:schemeClr val="accent5"/>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Property</a:t>
            </a:r>
          </a:p>
        </p:txBody>
      </p:sp>
      <p:sp>
        <p:nvSpPr>
          <p:cNvPr id="9" name="Rectangle 13"/>
          <p:cNvSpPr>
            <a:spLocks noChangeArrowheads="1"/>
          </p:cNvSpPr>
          <p:nvPr/>
        </p:nvSpPr>
        <p:spPr bwMode="auto">
          <a:xfrm>
            <a:off x="4419600" y="4191000"/>
            <a:ext cx="1143000" cy="914400"/>
          </a:xfrm>
          <a:prstGeom prst="rect">
            <a:avLst/>
          </a:prstGeom>
          <a:solidFill>
            <a:schemeClr val="accent5"/>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Business</a:t>
            </a:r>
          </a:p>
          <a:p>
            <a:pPr algn="ctr" eaLnBrk="1" hangingPunct="1">
              <a:defRPr/>
            </a:pPr>
            <a:r>
              <a:rPr lang="en-US" sz="1400" b="1" dirty="0">
                <a:solidFill>
                  <a:prstClr val="black"/>
                </a:solidFill>
              </a:rPr>
              <a:t>Owners</a:t>
            </a:r>
          </a:p>
          <a:p>
            <a:pPr algn="ctr" eaLnBrk="1" hangingPunct="1">
              <a:defRPr/>
            </a:pPr>
            <a:r>
              <a:rPr lang="en-US" sz="1400" b="1" dirty="0">
                <a:solidFill>
                  <a:prstClr val="black"/>
                </a:solidFill>
              </a:rPr>
              <a:t>Program</a:t>
            </a:r>
          </a:p>
        </p:txBody>
      </p:sp>
      <p:sp>
        <p:nvSpPr>
          <p:cNvPr id="10" name="Rectangle 14"/>
          <p:cNvSpPr>
            <a:spLocks noChangeArrowheads="1"/>
          </p:cNvSpPr>
          <p:nvPr/>
        </p:nvSpPr>
        <p:spPr bwMode="auto">
          <a:xfrm>
            <a:off x="5638800" y="4191000"/>
            <a:ext cx="1447800" cy="914400"/>
          </a:xfrm>
          <a:prstGeom prst="rect">
            <a:avLst/>
          </a:prstGeom>
          <a:solidFill>
            <a:schemeClr val="accent5"/>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400" b="1" dirty="0">
                <a:solidFill>
                  <a:prstClr val="black"/>
                </a:solidFill>
              </a:rPr>
              <a:t>Commercial </a:t>
            </a:r>
          </a:p>
          <a:p>
            <a:pPr algn="ctr"/>
            <a:r>
              <a:rPr lang="en-US" sz="1400" b="1" dirty="0">
                <a:solidFill>
                  <a:prstClr val="black"/>
                </a:solidFill>
              </a:rPr>
              <a:t>Auto</a:t>
            </a:r>
          </a:p>
        </p:txBody>
      </p:sp>
      <p:sp>
        <p:nvSpPr>
          <p:cNvPr id="11" name="Rectangle 18"/>
          <p:cNvSpPr>
            <a:spLocks noChangeArrowheads="1"/>
          </p:cNvSpPr>
          <p:nvPr/>
        </p:nvSpPr>
        <p:spPr bwMode="auto">
          <a:xfrm>
            <a:off x="7315200" y="4191000"/>
            <a:ext cx="1447800" cy="914400"/>
          </a:xfrm>
          <a:prstGeom prst="rect">
            <a:avLst/>
          </a:prstGeom>
          <a:solidFill>
            <a:srgbClr val="FFFF00"/>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Commercial</a:t>
            </a:r>
          </a:p>
          <a:p>
            <a:pPr algn="ctr" eaLnBrk="1" hangingPunct="1">
              <a:defRPr/>
            </a:pPr>
            <a:r>
              <a:rPr lang="en-US" sz="1400" b="1" dirty="0">
                <a:solidFill>
                  <a:prstClr val="black"/>
                </a:solidFill>
              </a:rPr>
              <a:t> Umbrella</a:t>
            </a:r>
          </a:p>
        </p:txBody>
      </p:sp>
      <p:sp>
        <p:nvSpPr>
          <p:cNvPr id="21515" name="Line 21"/>
          <p:cNvSpPr>
            <a:spLocks noChangeShapeType="1"/>
          </p:cNvSpPr>
          <p:nvPr/>
        </p:nvSpPr>
        <p:spPr bwMode="auto">
          <a:xfrm>
            <a:off x="5943600" y="2895600"/>
            <a:ext cx="0" cy="609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1516" name="Line 22"/>
          <p:cNvSpPr>
            <a:spLocks noChangeShapeType="1"/>
          </p:cNvSpPr>
          <p:nvPr/>
        </p:nvSpPr>
        <p:spPr bwMode="auto">
          <a:xfrm>
            <a:off x="2057400" y="3505200"/>
            <a:ext cx="769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14" name="Rectangle 28"/>
          <p:cNvSpPr>
            <a:spLocks noChangeArrowheads="1"/>
          </p:cNvSpPr>
          <p:nvPr/>
        </p:nvSpPr>
        <p:spPr bwMode="auto">
          <a:xfrm>
            <a:off x="8915400" y="4191000"/>
            <a:ext cx="1600200" cy="914400"/>
          </a:xfrm>
          <a:prstGeom prst="rect">
            <a:avLst/>
          </a:prstGeom>
          <a:solidFill>
            <a:schemeClr val="accent5"/>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Workers </a:t>
            </a:r>
          </a:p>
          <a:p>
            <a:pPr algn="ctr" eaLnBrk="1" hangingPunct="1">
              <a:defRPr/>
            </a:pPr>
            <a:r>
              <a:rPr lang="en-US" sz="1400" b="1" dirty="0">
                <a:solidFill>
                  <a:prstClr val="black"/>
                </a:solidFill>
              </a:rPr>
              <a:t>Compensation</a:t>
            </a:r>
          </a:p>
        </p:txBody>
      </p:sp>
      <p:sp>
        <p:nvSpPr>
          <p:cNvPr id="21518" name="Line 30"/>
          <p:cNvSpPr>
            <a:spLocks noChangeShapeType="1"/>
          </p:cNvSpPr>
          <p:nvPr/>
        </p:nvSpPr>
        <p:spPr bwMode="auto">
          <a:xfrm>
            <a:off x="2057400" y="3505200"/>
            <a:ext cx="0" cy="685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1519" name="Line 31"/>
          <p:cNvSpPr>
            <a:spLocks noChangeShapeType="1"/>
          </p:cNvSpPr>
          <p:nvPr/>
        </p:nvSpPr>
        <p:spPr bwMode="auto">
          <a:xfrm>
            <a:off x="3657600" y="3505200"/>
            <a:ext cx="0" cy="685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1520" name="Line 32"/>
          <p:cNvSpPr>
            <a:spLocks noChangeShapeType="1"/>
          </p:cNvSpPr>
          <p:nvPr/>
        </p:nvSpPr>
        <p:spPr bwMode="auto">
          <a:xfrm>
            <a:off x="4953000" y="3505200"/>
            <a:ext cx="0" cy="685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1521" name="Line 33"/>
          <p:cNvSpPr>
            <a:spLocks noChangeShapeType="1"/>
          </p:cNvSpPr>
          <p:nvPr/>
        </p:nvSpPr>
        <p:spPr bwMode="auto">
          <a:xfrm>
            <a:off x="6324600" y="3505200"/>
            <a:ext cx="0" cy="685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1522" name="Line 34"/>
          <p:cNvSpPr>
            <a:spLocks noChangeShapeType="1"/>
          </p:cNvSpPr>
          <p:nvPr/>
        </p:nvSpPr>
        <p:spPr bwMode="auto">
          <a:xfrm>
            <a:off x="8001000" y="3505200"/>
            <a:ext cx="0" cy="685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1523" name="Line 36"/>
          <p:cNvSpPr>
            <a:spLocks noChangeShapeType="1"/>
          </p:cNvSpPr>
          <p:nvPr/>
        </p:nvSpPr>
        <p:spPr bwMode="auto">
          <a:xfrm>
            <a:off x="9753600" y="3505200"/>
            <a:ext cx="0" cy="685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pic>
        <p:nvPicPr>
          <p:cNvPr id="2" name="Picture 1"/>
          <p:cNvPicPr>
            <a:picLocks noChangeAspect="1"/>
          </p:cNvPicPr>
          <p:nvPr/>
        </p:nvPicPr>
        <p:blipFill>
          <a:blip r:embed="rId3"/>
          <a:stretch>
            <a:fillRect/>
          </a:stretch>
        </p:blipFill>
        <p:spPr>
          <a:xfrm>
            <a:off x="10098025" y="0"/>
            <a:ext cx="1377815" cy="755970"/>
          </a:xfrm>
          <a:prstGeom prst="rect">
            <a:avLst/>
          </a:prstGeom>
        </p:spPr>
      </p:pic>
      <p:pic>
        <p:nvPicPr>
          <p:cNvPr id="3" name="Picture 2"/>
          <p:cNvPicPr>
            <a:picLocks noChangeAspect="1"/>
          </p:cNvPicPr>
          <p:nvPr/>
        </p:nvPicPr>
        <p:blipFill>
          <a:blip r:embed="rId4"/>
          <a:stretch>
            <a:fillRect/>
          </a:stretch>
        </p:blipFill>
        <p:spPr>
          <a:xfrm>
            <a:off x="1645848" y="893555"/>
            <a:ext cx="2609850" cy="1752600"/>
          </a:xfrm>
          <a:prstGeom prst="rect">
            <a:avLst/>
          </a:prstGeom>
        </p:spPr>
      </p:pic>
    </p:spTree>
    <p:extLst>
      <p:ext uri="{BB962C8B-B14F-4D97-AF65-F5344CB8AC3E}">
        <p14:creationId xmlns:p14="http://schemas.microsoft.com/office/powerpoint/2010/main" val="1308413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11"/>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37861" y="4767470"/>
            <a:ext cx="9969500" cy="2654573"/>
          </a:xfrm>
          <a:prstGeom prst="rect">
            <a:avLst/>
          </a:prstGeom>
          <a:noFill/>
        </p:spPr>
        <p:txBody>
          <a:bodyPr wrap="square" rtlCol="0">
            <a:spAutoFit/>
          </a:bodyPr>
          <a:lstStyle/>
          <a:p>
            <a:r>
              <a:rPr lang="en-US" sz="6000" dirty="0"/>
              <a:t>Commercial Umbrella</a:t>
            </a:r>
          </a:p>
          <a:p>
            <a:r>
              <a:rPr lang="en-US" sz="6000" dirty="0"/>
              <a:t> </a:t>
            </a:r>
            <a:r>
              <a:rPr lang="en-US" sz="6000" dirty="0">
                <a:solidFill>
                  <a:srgbClr val="FF0000"/>
                </a:solidFill>
              </a:rPr>
              <a:t>Liability</a:t>
            </a:r>
          </a:p>
          <a:p>
            <a:endParaRPr lang="en-US" dirty="0">
              <a:solidFill>
                <a:srgbClr val="FF0000"/>
              </a:solidFill>
            </a:endParaRPr>
          </a:p>
          <a:p>
            <a:endParaRPr lang="en-US" dirty="0"/>
          </a:p>
          <a:p>
            <a:endParaRPr lang="en-US" sz="1050" dirty="0"/>
          </a:p>
        </p:txBody>
      </p:sp>
      <p:pic>
        <p:nvPicPr>
          <p:cNvPr id="3" name="Picture 2"/>
          <p:cNvPicPr>
            <a:picLocks noChangeAspect="1"/>
          </p:cNvPicPr>
          <p:nvPr/>
        </p:nvPicPr>
        <p:blipFill>
          <a:blip r:embed="rId2"/>
          <a:stretch>
            <a:fillRect/>
          </a:stretch>
        </p:blipFill>
        <p:spPr>
          <a:xfrm>
            <a:off x="3352800" y="1486327"/>
            <a:ext cx="6273800" cy="3187273"/>
          </a:xfrm>
          <a:prstGeom prst="rect">
            <a:avLst/>
          </a:prstGeom>
        </p:spPr>
      </p:pic>
    </p:spTree>
    <p:extLst>
      <p:ext uri="{BB962C8B-B14F-4D97-AF65-F5344CB8AC3E}">
        <p14:creationId xmlns:p14="http://schemas.microsoft.com/office/powerpoint/2010/main" val="169580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Effect transition="in" filter="fade">
                                      <p:cBhvr>
                                        <p:cTn id="21" dur="1000"/>
                                        <p:tgtEl>
                                          <p:spTgt spid="2">
                                            <p:txEl>
                                              <p:pRg st="0" end="0"/>
                                            </p:txEl>
                                          </p:spTgt>
                                        </p:tgtEl>
                                      </p:cBhvr>
                                    </p:animEffect>
                                    <p:anim calcmode="lin" valueType="num">
                                      <p:cBhvr>
                                        <p:cTn id="22"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1" end="1"/>
                                            </p:txEl>
                                          </p:spTgt>
                                        </p:tgtEl>
                                        <p:attrNameLst>
                                          <p:attrName>style.visibility</p:attrName>
                                        </p:attrNameLst>
                                      </p:cBhvr>
                                      <p:to>
                                        <p:strVal val="visible"/>
                                      </p:to>
                                    </p:set>
                                    <p:animEffect transition="in" filter="fade">
                                      <p:cBhvr>
                                        <p:cTn id="28" dur="1000"/>
                                        <p:tgtEl>
                                          <p:spTgt spid="2">
                                            <p:txEl>
                                              <p:pRg st="1" end="1"/>
                                            </p:txEl>
                                          </p:spTgt>
                                        </p:tgtEl>
                                      </p:cBhvr>
                                    </p:animEffect>
                                    <p:anim calcmode="lin" valueType="num">
                                      <p:cBhvr>
                                        <p:cTn id="29"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D2BD3F-2307-42D3-86BD-53DF9D7FAF32}"/>
              </a:ext>
            </a:extLst>
          </p:cNvPr>
          <p:cNvSpPr/>
          <p:nvPr/>
        </p:nvSpPr>
        <p:spPr>
          <a:xfrm>
            <a:off x="1899956" y="2502212"/>
            <a:ext cx="7909858" cy="2308324"/>
          </a:xfrm>
          <a:prstGeom prst="rect">
            <a:avLst/>
          </a:prstGeom>
        </p:spPr>
        <p:txBody>
          <a:bodyPr wrap="none">
            <a:spAutoFit/>
          </a:bodyPr>
          <a:lstStyle/>
          <a:p>
            <a:r>
              <a:rPr lang="en-US" dirty="0"/>
              <a:t>What is LIABILITY INSURANCE? : </a:t>
            </a:r>
            <a:r>
              <a:rPr lang="en-US" dirty="0">
                <a:hlinkClick r:id="rId2"/>
              </a:rPr>
              <a:t>https://youtu.be/hQuo8kZ5Yms</a:t>
            </a:r>
            <a:endParaRPr lang="en-US" dirty="0"/>
          </a:p>
          <a:p>
            <a:endParaRPr lang="en-US" dirty="0"/>
          </a:p>
          <a:p>
            <a:r>
              <a:rPr lang="en-US" dirty="0"/>
              <a:t>Commercial General Liability Insurance Definition : </a:t>
            </a:r>
            <a:r>
              <a:rPr lang="en-US" dirty="0">
                <a:hlinkClick r:id="rId3"/>
              </a:rPr>
              <a:t>https://youtu.be/GsPye8vG-Io</a:t>
            </a:r>
            <a:endParaRPr lang="en-US" dirty="0"/>
          </a:p>
          <a:p>
            <a:endParaRPr lang="en-US" dirty="0"/>
          </a:p>
          <a:p>
            <a:r>
              <a:rPr lang="en-US" dirty="0"/>
              <a:t>What Is Commercial General Liability Insurance: </a:t>
            </a:r>
            <a:r>
              <a:rPr lang="en-US" dirty="0">
                <a:hlinkClick r:id="rId4"/>
              </a:rPr>
              <a:t>https://youtu.be/wQ8Eq3FMWGk</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2275609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p:cNvSpPr txBox="1">
            <a:spLocks/>
          </p:cNvSpPr>
          <p:nvPr/>
        </p:nvSpPr>
        <p:spPr bwMode="auto">
          <a:xfrm>
            <a:off x="8458200" y="6553200"/>
            <a:ext cx="2209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84EFBD51-D6B3-402A-BCDB-1636C25B5935}" type="slidenum">
              <a:rPr lang="en-US" altLang="en-US" sz="1400"/>
              <a:pPr algn="r" eaLnBrk="1" hangingPunct="1">
                <a:spcBef>
                  <a:spcPct val="0"/>
                </a:spcBef>
                <a:buFontTx/>
                <a:buNone/>
              </a:pPr>
              <a:t>4</a:t>
            </a:fld>
            <a:endParaRPr lang="en-US" altLang="en-US" sz="1400"/>
          </a:p>
        </p:txBody>
      </p:sp>
      <p:sp>
        <p:nvSpPr>
          <p:cNvPr id="24579" name="Rectangle 66"/>
          <p:cNvSpPr>
            <a:spLocks noChangeArrowheads="1"/>
          </p:cNvSpPr>
          <p:nvPr/>
        </p:nvSpPr>
        <p:spPr bwMode="auto">
          <a:xfrm>
            <a:off x="1600200" y="182563"/>
            <a:ext cx="632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tabLst>
                <a:tab pos="18288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18288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18288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9pPr>
          </a:lstStyle>
          <a:p>
            <a:pPr>
              <a:spcBef>
                <a:spcPct val="0"/>
              </a:spcBef>
              <a:buSzPct val="120000"/>
              <a:buFontTx/>
              <a:buNone/>
            </a:pPr>
            <a:r>
              <a:rPr lang="en-US" altLang="en-US" sz="2000" dirty="0">
                <a:solidFill>
                  <a:schemeClr val="bg1"/>
                </a:solidFill>
              </a:rPr>
              <a:t>Commercial Lines</a:t>
            </a:r>
          </a:p>
        </p:txBody>
      </p:sp>
      <p:sp>
        <p:nvSpPr>
          <p:cNvPr id="5" name="Content Placeholder 2"/>
          <p:cNvSpPr txBox="1">
            <a:spLocks/>
          </p:cNvSpPr>
          <p:nvPr/>
        </p:nvSpPr>
        <p:spPr bwMode="auto">
          <a:xfrm>
            <a:off x="647700" y="1295400"/>
            <a:ext cx="9077325" cy="5257800"/>
          </a:xfrm>
          <a:prstGeom prst="rect">
            <a:avLst/>
          </a:prstGeom>
          <a:noFill/>
          <a:ln>
            <a:miter lim="800000"/>
            <a:headEnd/>
            <a:tailEnd/>
          </a:ln>
        </p:spPr>
        <p:txBody>
          <a:bodyPr/>
          <a:lstStyle/>
          <a:p>
            <a:pPr marL="342900" indent="-342900">
              <a:spcBef>
                <a:spcPct val="20000"/>
              </a:spcBef>
              <a:buClr>
                <a:srgbClr val="C00000"/>
              </a:buClr>
              <a:buFont typeface="Wingdings" pitchFamily="2" charset="2"/>
              <a:buChar char="v"/>
              <a:defRPr/>
            </a:pPr>
            <a:r>
              <a:rPr lang="en-US" sz="2400" b="1" dirty="0">
                <a:solidFill>
                  <a:srgbClr val="C00000"/>
                </a:solidFill>
              </a:rPr>
              <a:t>Umbrella Liability</a:t>
            </a:r>
          </a:p>
          <a:p>
            <a:pPr eaLnBrk="1" hangingPunct="1">
              <a:spcBef>
                <a:spcPct val="20000"/>
              </a:spcBef>
              <a:buClr>
                <a:srgbClr val="C00000"/>
              </a:buClr>
              <a:defRPr/>
            </a:pPr>
            <a:endParaRPr lang="en-US" sz="2400" b="1" dirty="0">
              <a:solidFill>
                <a:srgbClr val="C00000"/>
              </a:solidFill>
            </a:endParaRPr>
          </a:p>
          <a:p>
            <a:r>
              <a:rPr lang="en-US" sz="2400" b="1" dirty="0">
                <a:solidFill>
                  <a:srgbClr val="C00000"/>
                </a:solidFill>
              </a:rPr>
              <a:t>Liability: </a:t>
            </a:r>
            <a:r>
              <a:rPr lang="en-US" altLang="en-US" sz="2400" dirty="0"/>
              <a:t>Insurer agrees to pay on behalf of the insured sums he or she is legally obliged to pay as damages. As </a:t>
            </a:r>
            <a:r>
              <a:rPr lang="en-US" altLang="en-US" sz="2000" dirty="0"/>
              <a:t> </a:t>
            </a:r>
            <a:r>
              <a:rPr lang="en-US" altLang="en-US" sz="2400" dirty="0"/>
              <a:t>Auto Liability, General Liability, Advertising liability, Personal Liability etc.</a:t>
            </a:r>
          </a:p>
          <a:p>
            <a:pPr eaLnBrk="1" hangingPunct="1">
              <a:spcBef>
                <a:spcPct val="20000"/>
              </a:spcBef>
              <a:buClr>
                <a:srgbClr val="C00000"/>
              </a:buClr>
              <a:defRPr/>
            </a:pPr>
            <a:endParaRPr lang="en-US" sz="2400" b="1" dirty="0">
              <a:solidFill>
                <a:srgbClr val="C00000"/>
              </a:solidFill>
            </a:endParaRPr>
          </a:p>
          <a:p>
            <a:pPr eaLnBrk="1" hangingPunct="1">
              <a:spcBef>
                <a:spcPct val="20000"/>
              </a:spcBef>
              <a:buClr>
                <a:srgbClr val="C00000"/>
              </a:buClr>
              <a:defRPr/>
            </a:pPr>
            <a:endParaRPr lang="en-US" sz="2400" b="1" dirty="0">
              <a:solidFill>
                <a:srgbClr val="C00000"/>
              </a:solidFill>
            </a:endParaRPr>
          </a:p>
          <a:p>
            <a:pPr eaLnBrk="1" hangingPunct="1">
              <a:spcBef>
                <a:spcPct val="20000"/>
              </a:spcBef>
              <a:buClr>
                <a:srgbClr val="C00000"/>
              </a:buClr>
              <a:defRPr/>
            </a:pPr>
            <a:r>
              <a:rPr lang="en-US" sz="2400" b="1" dirty="0">
                <a:solidFill>
                  <a:srgbClr val="C00000"/>
                </a:solidFill>
              </a:rPr>
              <a:t>Umbrella Liability:</a:t>
            </a:r>
          </a:p>
          <a:p>
            <a:pPr eaLnBrk="1" hangingPunct="1">
              <a:spcBef>
                <a:spcPct val="20000"/>
              </a:spcBef>
              <a:buClr>
                <a:srgbClr val="C00000"/>
              </a:buClr>
              <a:defRPr/>
            </a:pPr>
            <a:r>
              <a:rPr lang="en-US" sz="2400" dirty="0"/>
              <a:t> is defined as something which provides protection over a broad range of elements or factors like supplemental protection for catastrophic losses and other losses which would not otherwise be covered by the underlying insurance policies </a:t>
            </a:r>
          </a:p>
        </p:txBody>
      </p:sp>
      <p:pic>
        <p:nvPicPr>
          <p:cNvPr id="2" name="Picture 1"/>
          <p:cNvPicPr>
            <a:picLocks noChangeAspect="1"/>
          </p:cNvPicPr>
          <p:nvPr/>
        </p:nvPicPr>
        <p:blipFill>
          <a:blip r:embed="rId3"/>
          <a:stretch>
            <a:fillRect/>
          </a:stretch>
        </p:blipFill>
        <p:spPr>
          <a:xfrm>
            <a:off x="8864616" y="4603"/>
            <a:ext cx="1377815" cy="755970"/>
          </a:xfrm>
          <a:prstGeom prst="rect">
            <a:avLst/>
          </a:prstGeom>
        </p:spPr>
      </p:pic>
      <p:pic>
        <p:nvPicPr>
          <p:cNvPr id="3" name="Picture 2"/>
          <p:cNvPicPr>
            <a:picLocks noChangeAspect="1"/>
          </p:cNvPicPr>
          <p:nvPr/>
        </p:nvPicPr>
        <p:blipFill>
          <a:blip r:embed="rId4"/>
          <a:stretch>
            <a:fillRect/>
          </a:stretch>
        </p:blipFill>
        <p:spPr>
          <a:xfrm>
            <a:off x="9725025" y="4603584"/>
            <a:ext cx="2466975" cy="1857375"/>
          </a:xfrm>
          <a:prstGeom prst="rect">
            <a:avLst/>
          </a:prstGeom>
        </p:spPr>
      </p:pic>
    </p:spTree>
    <p:extLst>
      <p:ext uri="{BB962C8B-B14F-4D97-AF65-F5344CB8AC3E}">
        <p14:creationId xmlns:p14="http://schemas.microsoft.com/office/powerpoint/2010/main" val="1018781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5" end="5"/>
                                            </p:txEl>
                                          </p:spTgt>
                                        </p:tgtEl>
                                        <p:attrNameLst>
                                          <p:attrName>style.visibility</p:attrName>
                                        </p:attrNameLst>
                                      </p:cBhvr>
                                      <p:to>
                                        <p:strVal val="visible"/>
                                      </p:to>
                                    </p:set>
                                    <p:animEffect transition="in" filter="fade">
                                      <p:cBhvr>
                                        <p:cTn id="14" dur="1000"/>
                                        <p:tgtEl>
                                          <p:spTgt spid="5">
                                            <p:txEl>
                                              <p:pRg st="5" end="5"/>
                                            </p:txEl>
                                          </p:spTgt>
                                        </p:tgtEl>
                                      </p:cBhvr>
                                    </p:animEffect>
                                    <p:anim calcmode="lin" valueType="num">
                                      <p:cBhvr>
                                        <p:cTn id="15"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animEffect transition="in" filter="fade">
                                      <p:cBhvr>
                                        <p:cTn id="21" dur="1000"/>
                                        <p:tgtEl>
                                          <p:spTgt spid="5">
                                            <p:txEl>
                                              <p:pRg st="6" end="6"/>
                                            </p:txEl>
                                          </p:spTgt>
                                        </p:tgtEl>
                                      </p:cBhvr>
                                    </p:animEffect>
                                    <p:anim calcmode="lin" valueType="num">
                                      <p:cBhvr>
                                        <p:cTn id="22"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3000" y="1425290"/>
            <a:ext cx="9677400" cy="3416320"/>
          </a:xfrm>
          <a:prstGeom prst="rect">
            <a:avLst/>
          </a:prstGeom>
        </p:spPr>
        <p:txBody>
          <a:bodyPr wrap="square">
            <a:spAutoFit/>
          </a:bodyPr>
          <a:lstStyle/>
          <a:p>
            <a:pPr>
              <a:spcBef>
                <a:spcPct val="20000"/>
              </a:spcBef>
              <a:buClr>
                <a:srgbClr val="C00000"/>
              </a:buClr>
              <a:defRPr/>
            </a:pPr>
            <a:endParaRPr lang="en-US" sz="2400" dirty="0"/>
          </a:p>
          <a:p>
            <a:pPr marL="342900" indent="-342900">
              <a:spcBef>
                <a:spcPct val="20000"/>
              </a:spcBef>
              <a:buClr>
                <a:srgbClr val="C00000"/>
              </a:buClr>
              <a:buFont typeface="Wingdings" panose="05000000000000000000" pitchFamily="2" charset="2"/>
              <a:buChar char="Ø"/>
              <a:defRPr/>
            </a:pPr>
            <a:r>
              <a:rPr lang="en-US" sz="2400" dirty="0"/>
              <a:t>1. Excess Coverage :</a:t>
            </a:r>
            <a:r>
              <a:rPr lang="en-US" altLang="en-US" sz="2400" dirty="0"/>
              <a:t> for losses which are covered by primary or underlying liability policies</a:t>
            </a:r>
          </a:p>
          <a:p>
            <a:pPr>
              <a:spcBef>
                <a:spcPct val="20000"/>
              </a:spcBef>
              <a:buClr>
                <a:srgbClr val="C00000"/>
              </a:buClr>
              <a:defRPr/>
            </a:pPr>
            <a:endParaRPr lang="en-US" altLang="en-US" sz="2400" dirty="0"/>
          </a:p>
          <a:p>
            <a:pPr marL="342900" indent="-342900">
              <a:spcBef>
                <a:spcPct val="20000"/>
              </a:spcBef>
              <a:buClr>
                <a:srgbClr val="C00000"/>
              </a:buClr>
              <a:buFont typeface="Wingdings" panose="05000000000000000000" pitchFamily="2" charset="2"/>
              <a:buChar char="Ø"/>
              <a:defRPr/>
            </a:pPr>
            <a:r>
              <a:rPr lang="en-US" sz="2400" dirty="0"/>
              <a:t>2. Self Insured Retention Limit : </a:t>
            </a:r>
            <a:r>
              <a:rPr lang="en-US" altLang="en-US" sz="2400" dirty="0"/>
              <a:t>for losses that are not typically covered by the underlying liability policies</a:t>
            </a:r>
          </a:p>
          <a:p>
            <a:pPr>
              <a:spcBef>
                <a:spcPct val="20000"/>
              </a:spcBef>
              <a:buClr>
                <a:srgbClr val="C00000"/>
              </a:buClr>
              <a:defRPr/>
            </a:pPr>
            <a:endParaRPr lang="en-US" sz="2400" dirty="0"/>
          </a:p>
          <a:p>
            <a:pPr>
              <a:spcBef>
                <a:spcPct val="20000"/>
              </a:spcBef>
              <a:buClr>
                <a:srgbClr val="C00000"/>
              </a:buClr>
              <a:defRPr/>
            </a:pPr>
            <a:endParaRPr lang="en-US" sz="2400" dirty="0"/>
          </a:p>
        </p:txBody>
      </p:sp>
      <p:sp>
        <p:nvSpPr>
          <p:cNvPr id="3" name="Rectangle 2"/>
          <p:cNvSpPr/>
          <p:nvPr/>
        </p:nvSpPr>
        <p:spPr>
          <a:xfrm>
            <a:off x="317629" y="247134"/>
            <a:ext cx="2775312" cy="461665"/>
          </a:xfrm>
          <a:prstGeom prst="rect">
            <a:avLst/>
          </a:prstGeom>
        </p:spPr>
        <p:txBody>
          <a:bodyPr wrap="none">
            <a:spAutoFit/>
          </a:bodyPr>
          <a:lstStyle/>
          <a:p>
            <a:r>
              <a:rPr lang="en-US" sz="2400" dirty="0">
                <a:solidFill>
                  <a:schemeClr val="bg1"/>
                </a:solidFill>
              </a:rPr>
              <a:t>Two Main Functions</a:t>
            </a:r>
          </a:p>
        </p:txBody>
      </p:sp>
    </p:spTree>
    <p:extLst>
      <p:ext uri="{BB962C8B-B14F-4D97-AF65-F5344CB8AC3E}">
        <p14:creationId xmlns:p14="http://schemas.microsoft.com/office/powerpoint/2010/main" val="573150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3" end="3"/>
                                            </p:txEl>
                                          </p:spTgt>
                                        </p:tgtEl>
                                        <p:attrNameLst>
                                          <p:attrName>style.visibility</p:attrName>
                                        </p:attrNameLst>
                                      </p:cBhvr>
                                      <p:to>
                                        <p:strVal val="visible"/>
                                      </p:to>
                                    </p:set>
                                    <p:animEffect transition="in" filter="fade">
                                      <p:cBhvr>
                                        <p:cTn id="14" dur="1000"/>
                                        <p:tgtEl>
                                          <p:spTgt spid="2">
                                            <p:txEl>
                                              <p:pRg st="3" end="3"/>
                                            </p:txEl>
                                          </p:spTgt>
                                        </p:tgtEl>
                                      </p:cBhvr>
                                    </p:animEffect>
                                    <p:anim calcmode="lin" valueType="num">
                                      <p:cBhvr>
                                        <p:cTn id="15"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30500" y="2356585"/>
            <a:ext cx="8305800" cy="1643527"/>
          </a:xfrm>
          <a:prstGeom prst="rect">
            <a:avLst/>
          </a:prstGeom>
        </p:spPr>
        <p:txBody>
          <a:bodyPr wrap="square">
            <a:spAutoFit/>
          </a:bodyPr>
          <a:lstStyle/>
          <a:p>
            <a:pPr>
              <a:lnSpc>
                <a:spcPct val="90000"/>
              </a:lnSpc>
              <a:spcBef>
                <a:spcPct val="20000"/>
              </a:spcBef>
              <a:buClr>
                <a:srgbClr val="C00000"/>
              </a:buClr>
              <a:defRPr/>
            </a:pPr>
            <a:endParaRPr lang="en-US" altLang="en-US" sz="2400" b="1" dirty="0">
              <a:solidFill>
                <a:srgbClr val="C00000"/>
              </a:solidFill>
            </a:endParaRPr>
          </a:p>
          <a:p>
            <a:pPr marL="285750" indent="-285750">
              <a:lnSpc>
                <a:spcPct val="90000"/>
              </a:lnSpc>
              <a:spcBef>
                <a:spcPct val="20000"/>
              </a:spcBef>
              <a:buClr>
                <a:srgbClr val="C00000"/>
              </a:buClr>
              <a:buFont typeface="Wingdings" panose="05000000000000000000" pitchFamily="2" charset="2"/>
              <a:buChar char="Ø"/>
              <a:defRPr/>
            </a:pPr>
            <a:r>
              <a:rPr lang="en-US" altLang="en-US" sz="2400" dirty="0"/>
              <a:t>1. Coverage A – Bodily Injury and Property Damage Liability</a:t>
            </a:r>
          </a:p>
          <a:p>
            <a:pPr>
              <a:lnSpc>
                <a:spcPct val="90000"/>
              </a:lnSpc>
              <a:spcBef>
                <a:spcPct val="20000"/>
              </a:spcBef>
              <a:buClr>
                <a:srgbClr val="C00000"/>
              </a:buClr>
              <a:defRPr/>
            </a:pPr>
            <a:endParaRPr lang="en-US" altLang="en-US" sz="2400" dirty="0"/>
          </a:p>
          <a:p>
            <a:pPr marL="285750" indent="-285750">
              <a:lnSpc>
                <a:spcPct val="90000"/>
              </a:lnSpc>
              <a:spcBef>
                <a:spcPct val="20000"/>
              </a:spcBef>
              <a:buClr>
                <a:srgbClr val="C00000"/>
              </a:buClr>
              <a:buFont typeface="Wingdings" panose="05000000000000000000" pitchFamily="2" charset="2"/>
              <a:buChar char="Ø"/>
              <a:defRPr/>
            </a:pPr>
            <a:r>
              <a:rPr lang="en-US" altLang="en-US" sz="2400" dirty="0"/>
              <a:t>2. Coverage B – Personal and Advertising Injury Limits</a:t>
            </a:r>
            <a:endParaRPr lang="en-US" sz="2400" dirty="0"/>
          </a:p>
        </p:txBody>
      </p:sp>
      <p:sp>
        <p:nvSpPr>
          <p:cNvPr id="3" name="Rectangle 2"/>
          <p:cNvSpPr/>
          <p:nvPr/>
        </p:nvSpPr>
        <p:spPr>
          <a:xfrm>
            <a:off x="308001" y="234434"/>
            <a:ext cx="3762761" cy="461665"/>
          </a:xfrm>
          <a:prstGeom prst="rect">
            <a:avLst/>
          </a:prstGeom>
        </p:spPr>
        <p:txBody>
          <a:bodyPr wrap="none">
            <a:spAutoFit/>
          </a:bodyPr>
          <a:lstStyle/>
          <a:p>
            <a:r>
              <a:rPr lang="en-US" altLang="en-US" sz="2400" b="1" dirty="0">
                <a:solidFill>
                  <a:schemeClr val="bg1"/>
                </a:solidFill>
              </a:rPr>
              <a:t>Offers two major coverages </a:t>
            </a:r>
            <a:endParaRPr lang="en-US" sz="2400" dirty="0">
              <a:solidFill>
                <a:schemeClr val="bg1"/>
              </a:solidFill>
            </a:endParaRPr>
          </a:p>
        </p:txBody>
      </p:sp>
    </p:spTree>
    <p:extLst>
      <p:ext uri="{BB962C8B-B14F-4D97-AF65-F5344CB8AC3E}">
        <p14:creationId xmlns:p14="http://schemas.microsoft.com/office/powerpoint/2010/main" val="1289278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3" end="3"/>
                                            </p:txEl>
                                          </p:spTgt>
                                        </p:tgtEl>
                                        <p:attrNameLst>
                                          <p:attrName>style.visibility</p:attrName>
                                        </p:attrNameLst>
                                      </p:cBhvr>
                                      <p:to>
                                        <p:strVal val="visible"/>
                                      </p:to>
                                    </p:set>
                                    <p:animEffect transition="in" filter="fade">
                                      <p:cBhvr>
                                        <p:cTn id="14" dur="1000"/>
                                        <p:tgtEl>
                                          <p:spTgt spid="2">
                                            <p:txEl>
                                              <p:pRg st="3" end="3"/>
                                            </p:txEl>
                                          </p:spTgt>
                                        </p:tgtEl>
                                      </p:cBhvr>
                                    </p:animEffect>
                                    <p:anim calcmode="lin" valueType="num">
                                      <p:cBhvr>
                                        <p:cTn id="15"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D84391-C4A9-4526-A7F3-AA34AF3462C8}"/>
              </a:ext>
            </a:extLst>
          </p:cNvPr>
          <p:cNvSpPr/>
          <p:nvPr/>
        </p:nvSpPr>
        <p:spPr>
          <a:xfrm>
            <a:off x="1575413" y="2409447"/>
            <a:ext cx="8042138" cy="2862322"/>
          </a:xfrm>
          <a:prstGeom prst="rect">
            <a:avLst/>
          </a:prstGeom>
        </p:spPr>
        <p:txBody>
          <a:bodyPr wrap="none">
            <a:spAutoFit/>
          </a:bodyPr>
          <a:lstStyle/>
          <a:p>
            <a:r>
              <a:rPr lang="en-US" dirty="0">
                <a:latin typeface="Roboto"/>
              </a:rPr>
              <a:t>Insurance 101 - Personal Umbrella Policy- </a:t>
            </a:r>
            <a:r>
              <a:rPr lang="en-US" dirty="0">
                <a:latin typeface="Roboto"/>
                <a:hlinkClick r:id="rId2"/>
              </a:rPr>
              <a:t>https://youtu.be/FMRfWyorCFE</a:t>
            </a:r>
            <a:endParaRPr lang="en-US" dirty="0">
              <a:latin typeface="Roboto"/>
            </a:endParaRPr>
          </a:p>
          <a:p>
            <a:r>
              <a:rPr lang="en-US" dirty="0"/>
              <a:t>Personal Umbrella Insurance: A Simple Explanation- </a:t>
            </a:r>
            <a:r>
              <a:rPr lang="en-US" dirty="0">
                <a:hlinkClick r:id="rId3"/>
              </a:rPr>
              <a:t>https://youtu.be/UZH__JQ5IqQ</a:t>
            </a:r>
            <a:endParaRPr lang="en-US" dirty="0">
              <a:latin typeface="Roboto"/>
            </a:endParaRPr>
          </a:p>
          <a:p>
            <a:r>
              <a:rPr lang="en-US" dirty="0"/>
              <a:t>The Benefits of Umbrella Insurance : </a:t>
            </a:r>
            <a:r>
              <a:rPr lang="en-US" dirty="0">
                <a:hlinkClick r:id="rId4"/>
              </a:rPr>
              <a:t>https://youtu.be/_qd4K3HKHPw</a:t>
            </a:r>
            <a:endParaRPr lang="en-US" dirty="0"/>
          </a:p>
          <a:p>
            <a:endParaRPr lang="en-US" dirty="0"/>
          </a:p>
          <a:p>
            <a:r>
              <a:rPr lang="en-US" dirty="0"/>
              <a:t>Commercial Umbrella Coverage : </a:t>
            </a:r>
            <a:r>
              <a:rPr lang="en-US" dirty="0">
                <a:hlinkClick r:id="rId5"/>
              </a:rPr>
              <a:t>https://youtu.be/n-pXlG-Kbfo</a:t>
            </a:r>
            <a:endParaRPr lang="en-US" dirty="0"/>
          </a:p>
          <a:p>
            <a:endParaRPr lang="en-US" dirty="0"/>
          </a:p>
          <a:p>
            <a:endParaRPr lang="en-US" dirty="0"/>
          </a:p>
          <a:p>
            <a:endParaRPr lang="en-US" dirty="0">
              <a:latin typeface="Roboto"/>
            </a:endParaRPr>
          </a:p>
          <a:p>
            <a:endParaRPr lang="en-US" dirty="0">
              <a:latin typeface="Roboto"/>
            </a:endParaRPr>
          </a:p>
          <a:p>
            <a:r>
              <a:rPr lang="en-US" b="0" i="0" dirty="0">
                <a:effectLst/>
                <a:latin typeface="Roboto"/>
              </a:rPr>
              <a:t>	</a:t>
            </a:r>
          </a:p>
        </p:txBody>
      </p:sp>
    </p:spTree>
    <p:extLst>
      <p:ext uri="{BB962C8B-B14F-4D97-AF65-F5344CB8AC3E}">
        <p14:creationId xmlns:p14="http://schemas.microsoft.com/office/powerpoint/2010/main" val="6515131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haredContentType xmlns="Microsoft.SharePoint.Taxonomy.ContentTypeSync" SourceId="41087d73-5bfe-4c6e-a130-3d602495565a" ContentTypeId="0x010100F7548365F7A28B41B9A685ED46C1AC26" PreviousValue="false"/>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Classification xmlns="09339d3a-aaa0-497d-ae73-d8a5832d420d">Internal Use</Classification>
    <SubCategory xmlns="09339d3a-aaa0-497d-ae73-d8a5832d420d">Best Practice</SubCategory>
    <Tags xmlns="09339d3a-aaa0-497d-ae73-d8a5832d420d">commercial Umbrella</Tags>
    <Contributors xmlns="09339d3a-aaa0-497d-ae73-d8a5832d420d">
      <UserInfo>
        <DisplayName>Alok Bharati</DisplayName>
        <AccountId>26</AccountId>
        <AccountType/>
      </UserInfo>
    </Contributors>
  </documentManagement>
</p:properties>
</file>

<file path=customXml/item4.xml><?xml version="1.0" encoding="utf-8"?>
<ct:contentTypeSchema xmlns:ct="http://schemas.microsoft.com/office/2006/metadata/contentType" xmlns:ma="http://schemas.microsoft.com/office/2006/metadata/properties/metaAttributes" ct:_="" ma:_="" ma:contentTypeName="VIKI New Document" ma:contentTypeID="0x010100F7548365F7A28B41B9A685ED46C1AC26001AB29883D45E2C4E9CA6FE95A9034FC3" ma:contentTypeVersion="5" ma:contentTypeDescription="" ma:contentTypeScope="" ma:versionID="bc1a5864616262670162eb204ab13928">
  <xsd:schema xmlns:xsd="http://www.w3.org/2001/XMLSchema" xmlns:xs="http://www.w3.org/2001/XMLSchema" xmlns:p="http://schemas.microsoft.com/office/2006/metadata/properties" xmlns:ns2="09339d3a-aaa0-497d-ae73-d8a5832d420d" targetNamespace="http://schemas.microsoft.com/office/2006/metadata/properties" ma:root="true" ma:fieldsID="86592b75fc3d2fa65ab3e34efd39cedb" ns2:_="">
    <xsd:import namespace="09339d3a-aaa0-497d-ae73-d8a5832d420d"/>
    <xsd:element name="properties">
      <xsd:complexType>
        <xsd:sequence>
          <xsd:element name="documentManagement">
            <xsd:complexType>
              <xsd:all>
                <xsd:element ref="ns2:Classification"/>
                <xsd:element ref="ns2:Contributors"/>
                <xsd:element ref="ns2:Departments"/>
                <xsd:element ref="ns2:SubCategory"/>
                <xsd:element ref="ns2:Tags"/>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Contributors" ma:index="9"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epartments" ma:index="10"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1" ma:displayName="SubCategory" ma:format="Dropdown" ma:internalName="SubCategory" ma:readOnly="false">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2" ma:displayName="Tags" ma:internalName="Tag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68D4540-BF13-4014-AC14-441BB774E8C8}"/>
</file>

<file path=customXml/itemProps2.xml><?xml version="1.0" encoding="utf-8"?>
<ds:datastoreItem xmlns:ds="http://schemas.openxmlformats.org/officeDocument/2006/customXml" ds:itemID="{8DD60C9D-C153-4D81-82F3-40801B66E6BD}"/>
</file>

<file path=customXml/itemProps3.xml><?xml version="1.0" encoding="utf-8"?>
<ds:datastoreItem xmlns:ds="http://schemas.openxmlformats.org/officeDocument/2006/customXml" ds:itemID="{C304949B-7D8C-4EC1-AD53-A6C8AB48CACE}"/>
</file>

<file path=customXml/itemProps4.xml><?xml version="1.0" encoding="utf-8"?>
<ds:datastoreItem xmlns:ds="http://schemas.openxmlformats.org/officeDocument/2006/customXml" ds:itemID="{C9CD2F77-4B62-4B85-87F9-9CCFB9CBFB1D}"/>
</file>

<file path=docProps/app.xml><?xml version="1.0" encoding="utf-8"?>
<Properties xmlns="http://schemas.openxmlformats.org/officeDocument/2006/extended-properties" xmlns:vt="http://schemas.openxmlformats.org/officeDocument/2006/docPropsVTypes">
  <TotalTime>1496</TotalTime>
  <Words>303</Words>
  <Application>Microsoft Office PowerPoint</Application>
  <PresentationFormat>Widescreen</PresentationFormat>
  <Paragraphs>57</Paragraphs>
  <Slides>7</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vt:lpstr>
      <vt:lpstr>Arial Narrow</vt:lpstr>
      <vt:lpstr>Calibri</vt:lpstr>
      <vt:lpstr>Calibri Light</vt:lpstr>
      <vt:lpstr>Roboto</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Alok Bharati</dc:creator>
  <cp:lastModifiedBy>Alok Bharati</cp:lastModifiedBy>
  <cp:revision>8</cp:revision>
  <dcterms:created xsi:type="dcterms:W3CDTF">2016-07-01T11:24:25Z</dcterms:created>
  <dcterms:modified xsi:type="dcterms:W3CDTF">2019-08-09T10:15:08Z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0x010100F7548365F7A28B41B9A685ED46C1AC26001AB29883D45E2C4E9CA6FE95A9034FC3</vt:lpwstr>
  </property>
  <property fmtid="{D5CDD505-2E9C-101B-9397-08002B2CF9AE}" pid="3" name="Order">
    <vt:r8>5100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ies>
</file>
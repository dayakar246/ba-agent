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docx" ContentType="application/vnd.openxmlformats-officedocument.wordprocessingml.document"/>
  <Default Extension="xml" ContentType="application/xml"/>
  <Default Extension="gif" ContentType="image/gif"/>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Masters/slideMaster1.xml" ContentType="application/vnd.openxmlformats-officedocument.presentationml.slideMaster+xml"/>
  <Override PartName="/ppt/slideLayouts/slideLayout12.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7" r:id="rId2"/>
    <p:sldId id="258" r:id="rId3"/>
    <p:sldId id="279" r:id="rId4"/>
    <p:sldId id="260" r:id="rId5"/>
    <p:sldId id="261" r:id="rId6"/>
    <p:sldId id="262" r:id="rId7"/>
    <p:sldId id="263" r:id="rId8"/>
    <p:sldId id="264" r:id="rId9"/>
    <p:sldId id="265" r:id="rId10"/>
    <p:sldId id="280" r:id="rId11"/>
    <p:sldId id="266" r:id="rId12"/>
    <p:sldId id="267" r:id="rId13"/>
    <p:sldId id="305" r:id="rId14"/>
    <p:sldId id="268" r:id="rId15"/>
    <p:sldId id="269" r:id="rId16"/>
    <p:sldId id="285" r:id="rId17"/>
    <p:sldId id="286" r:id="rId18"/>
    <p:sldId id="270" r:id="rId19"/>
    <p:sldId id="271" r:id="rId20"/>
    <p:sldId id="297" r:id="rId21"/>
    <p:sldId id="308" r:id="rId22"/>
    <p:sldId id="292" r:id="rId23"/>
    <p:sldId id="298" r:id="rId24"/>
    <p:sldId id="299" r:id="rId25"/>
    <p:sldId id="300" r:id="rId26"/>
    <p:sldId id="301" r:id="rId27"/>
    <p:sldId id="273" r:id="rId28"/>
    <p:sldId id="316" r:id="rId29"/>
    <p:sldId id="318" r:id="rId30"/>
    <p:sldId id="317" r:id="rId31"/>
    <p:sldId id="304" r:id="rId32"/>
    <p:sldId id="274" r:id="rId33"/>
    <p:sldId id="302" r:id="rId34"/>
    <p:sldId id="309" r:id="rId35"/>
    <p:sldId id="310" r:id="rId36"/>
    <p:sldId id="311" r:id="rId37"/>
    <p:sldId id="312" r:id="rId38"/>
    <p:sldId id="313" r:id="rId39"/>
    <p:sldId id="314" r:id="rId40"/>
    <p:sldId id="315" r:id="rId41"/>
    <p:sldId id="306" r:id="rId42"/>
    <p:sldId id="275" r:id="rId43"/>
    <p:sldId id="272" r:id="rId44"/>
    <p:sldId id="276" r:id="rId45"/>
    <p:sldId id="330" r:id="rId46"/>
    <p:sldId id="331" r:id="rId47"/>
    <p:sldId id="332" r:id="rId48"/>
    <p:sldId id="333" r:id="rId49"/>
    <p:sldId id="334" r:id="rId50"/>
    <p:sldId id="335" r:id="rId51"/>
    <p:sldId id="336" r:id="rId52"/>
    <p:sldId id="337" r:id="rId53"/>
    <p:sldId id="338" r:id="rId54"/>
    <p:sldId id="339"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2998" autoAdjust="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customXml" Target="../customXml/item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customXml" Target="../customXml/item4.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811D48-4D07-495D-B181-64A14549F01E}" type="datetimeFigureOut">
              <a:rPr lang="en-IN" smtClean="0"/>
              <a:t>26-08-2021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7A82DE-F1CC-49FA-A384-1D29AB1B75D3}" type="slidenum">
              <a:rPr lang="en-IN" smtClean="0"/>
              <a:t>‹#›</a:t>
            </a:fld>
            <a:endParaRPr lang="en-IN"/>
          </a:p>
        </p:txBody>
      </p:sp>
    </p:spTree>
    <p:extLst>
      <p:ext uri="{BB962C8B-B14F-4D97-AF65-F5344CB8AC3E}">
        <p14:creationId xmlns:p14="http://schemas.microsoft.com/office/powerpoint/2010/main" val="3929849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youtube.com/watch?v=8jfRW1Hsm2s"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Premiums are based on the employer’s industry classification code and payroll. Premiums for the most dangerous enterprises, such </a:t>
            </a:r>
            <a:r>
              <a:rPr lang="en-US" u="sng" dirty="0">
                <a:solidFill>
                  <a:srgbClr val="0070C0"/>
                </a:solidFill>
              </a:rPr>
              <a:t>as mining,  trash hauling or logging, may be much higher than premiums for an accounting firm.</a:t>
            </a:r>
          </a:p>
          <a:p>
            <a:endParaRPr lang="en-US" dirty="0"/>
          </a:p>
          <a:p>
            <a:r>
              <a:rPr lang="en-US" dirty="0"/>
              <a:t>Location has also become a factor in workers comp premiums. Since the terrorist attacks of September 11, 2001, workers compensation insurers have been taking a closer look at their exposures to catastrophes, both natural and man-made. </a:t>
            </a:r>
            <a:r>
              <a:rPr lang="en-US" u="sng" dirty="0"/>
              <a:t>For businesses located in an area at high risk of catastrophe, premiums may be higher, regardless of the nature of the business itself.</a:t>
            </a:r>
          </a:p>
          <a:p>
            <a:r>
              <a:rPr lang="en-US" dirty="0"/>
              <a:t> </a:t>
            </a:r>
          </a:p>
          <a:p>
            <a:r>
              <a:rPr lang="en-US" dirty="0"/>
              <a:t>Employers with an annual premium above a certain amount are usually eligible for experience rating, which adjusts the premium up or down depending on the claims history of the company relative to other companies in that industry category. </a:t>
            </a:r>
            <a:r>
              <a:rPr lang="en-US" u="sng" dirty="0"/>
              <a:t>Businesses with higher than average claims will pay a higher premium and those with lower claims will generally pay less.</a:t>
            </a:r>
          </a:p>
          <a:p>
            <a:endParaRPr lang="en-US" dirty="0"/>
          </a:p>
          <a:p>
            <a:r>
              <a:rPr lang="en-US" dirty="0"/>
              <a:t>Experience rating is more sensitive to the number of claims (loss frequency) than the dollar value of claims (loss severity). This is because of the insurance industry maxim, “frequency breeds severity.” Insurers know from experience that where more accidents occur, there is a greater likelihood of big losses. </a:t>
            </a:r>
            <a:r>
              <a:rPr lang="en-US" u="sng" dirty="0">
                <a:solidFill>
                  <a:srgbClr val="0070C0"/>
                </a:solidFill>
              </a:rPr>
              <a:t>A greater number of accidents indicates that overall in working conditions are not as safe as an environment where fewer accidents occur, even if in a given year the few accidents that occurred were more costly.</a:t>
            </a:r>
          </a:p>
          <a:p>
            <a:endParaRPr lang="en-IN" dirty="0"/>
          </a:p>
        </p:txBody>
      </p:sp>
      <p:sp>
        <p:nvSpPr>
          <p:cNvPr id="4" name="Slide Number Placeholder 3"/>
          <p:cNvSpPr>
            <a:spLocks noGrp="1"/>
          </p:cNvSpPr>
          <p:nvPr>
            <p:ph type="sldNum" sz="quarter" idx="10"/>
          </p:nvPr>
        </p:nvSpPr>
        <p:spPr/>
        <p:txBody>
          <a:bodyPr/>
          <a:lstStyle/>
          <a:p>
            <a:fld id="{E77A82DE-F1CC-49FA-A384-1D29AB1B75D3}" type="slidenum">
              <a:rPr lang="en-IN" smtClean="0"/>
              <a:t>13</a:t>
            </a:fld>
            <a:endParaRPr lang="en-IN"/>
          </a:p>
        </p:txBody>
      </p:sp>
    </p:spTree>
    <p:extLst>
      <p:ext uri="{BB962C8B-B14F-4D97-AF65-F5344CB8AC3E}">
        <p14:creationId xmlns:p14="http://schemas.microsoft.com/office/powerpoint/2010/main" val="13219633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Filing a WC: </a:t>
            </a:r>
            <a:r>
              <a:rPr lang="en-IN" dirty="0">
                <a:hlinkClick r:id="rId3"/>
              </a:rPr>
              <a:t>https://www.youtube.com/watch?v=8jfRW1Hsm2s</a:t>
            </a:r>
            <a:endParaRPr lang="en-IN" dirty="0"/>
          </a:p>
          <a:p>
            <a:endParaRPr lang="en-IN" dirty="0"/>
          </a:p>
        </p:txBody>
      </p:sp>
      <p:sp>
        <p:nvSpPr>
          <p:cNvPr id="4" name="Slide Number Placeholder 3"/>
          <p:cNvSpPr>
            <a:spLocks noGrp="1"/>
          </p:cNvSpPr>
          <p:nvPr>
            <p:ph type="sldNum" sz="quarter" idx="10"/>
          </p:nvPr>
        </p:nvSpPr>
        <p:spPr/>
        <p:txBody>
          <a:bodyPr/>
          <a:lstStyle/>
          <a:p>
            <a:fld id="{E77A82DE-F1CC-49FA-A384-1D29AB1B75D3}" type="slidenum">
              <a:rPr lang="en-IN" smtClean="0"/>
              <a:t>32</a:t>
            </a:fld>
            <a:endParaRPr lang="en-IN"/>
          </a:p>
        </p:txBody>
      </p:sp>
    </p:spTree>
    <p:extLst>
      <p:ext uri="{BB962C8B-B14F-4D97-AF65-F5344CB8AC3E}">
        <p14:creationId xmlns:p14="http://schemas.microsoft.com/office/powerpoint/2010/main" val="4195379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65EC78E-C9E4-401E-B79F-357D27614E8A}" type="datetimeFigureOut">
              <a:rPr lang="en-IN" smtClean="0"/>
              <a:t>26-08-2021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A22B8-7778-47C4-AA40-BA250852DF18}" type="slidenum">
              <a:rPr lang="en-IN" smtClean="0"/>
              <a:t>‹#›</a:t>
            </a:fld>
            <a:endParaRPr lang="en-IN"/>
          </a:p>
        </p:txBody>
      </p:sp>
    </p:spTree>
    <p:extLst>
      <p:ext uri="{BB962C8B-B14F-4D97-AF65-F5344CB8AC3E}">
        <p14:creationId xmlns:p14="http://schemas.microsoft.com/office/powerpoint/2010/main" val="2730632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65EC78E-C9E4-401E-B79F-357D27614E8A}" type="datetimeFigureOut">
              <a:rPr lang="en-IN" smtClean="0"/>
              <a:t>26-08-2021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A22B8-7778-47C4-AA40-BA250852DF18}" type="slidenum">
              <a:rPr lang="en-IN" smtClean="0"/>
              <a:t>‹#›</a:t>
            </a:fld>
            <a:endParaRPr lang="en-IN"/>
          </a:p>
        </p:txBody>
      </p:sp>
    </p:spTree>
    <p:extLst>
      <p:ext uri="{BB962C8B-B14F-4D97-AF65-F5344CB8AC3E}">
        <p14:creationId xmlns:p14="http://schemas.microsoft.com/office/powerpoint/2010/main" val="3045754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5EC78E-C9E4-401E-B79F-357D27614E8A}" type="datetimeFigureOut">
              <a:rPr lang="en-IN" smtClean="0"/>
              <a:t>26-08-2021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A22B8-7778-47C4-AA40-BA250852DF18}" type="slidenum">
              <a:rPr lang="en-IN" smtClean="0"/>
              <a:t>‹#›</a:t>
            </a:fld>
            <a:endParaRPr lang="en-IN"/>
          </a:p>
        </p:txBody>
      </p:sp>
    </p:spTree>
    <p:extLst>
      <p:ext uri="{BB962C8B-B14F-4D97-AF65-F5344CB8AC3E}">
        <p14:creationId xmlns:p14="http://schemas.microsoft.com/office/powerpoint/2010/main" val="4126018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65EC78E-C9E4-401E-B79F-357D27614E8A}" type="datetimeFigureOut">
              <a:rPr lang="en-IN" smtClean="0"/>
              <a:t>26-08-2021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9A22B8-7778-47C4-AA40-BA250852DF18}" type="slidenum">
              <a:rPr lang="en-IN" smtClean="0"/>
              <a:t>‹#›</a:t>
            </a:fld>
            <a:endParaRPr lang="en-IN"/>
          </a:p>
        </p:txBody>
      </p:sp>
    </p:spTree>
    <p:extLst>
      <p:ext uri="{BB962C8B-B14F-4D97-AF65-F5344CB8AC3E}">
        <p14:creationId xmlns:p14="http://schemas.microsoft.com/office/powerpoint/2010/main" val="96908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65EC78E-C9E4-401E-B79F-357D27614E8A}" type="datetimeFigureOut">
              <a:rPr lang="en-IN" smtClean="0"/>
              <a:t>26-08-2021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49A22B8-7778-47C4-AA40-BA250852DF18}" type="slidenum">
              <a:rPr lang="en-IN" smtClean="0"/>
              <a:t>‹#›</a:t>
            </a:fld>
            <a:endParaRPr lang="en-IN"/>
          </a:p>
        </p:txBody>
      </p:sp>
    </p:spTree>
    <p:extLst>
      <p:ext uri="{BB962C8B-B14F-4D97-AF65-F5344CB8AC3E}">
        <p14:creationId xmlns:p14="http://schemas.microsoft.com/office/powerpoint/2010/main" val="877115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65EC78E-C9E4-401E-B79F-357D27614E8A}" type="datetimeFigureOut">
              <a:rPr lang="en-IN" smtClean="0"/>
              <a:t>26-08-2021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49A22B8-7778-47C4-AA40-BA250852DF18}" type="slidenum">
              <a:rPr lang="en-IN" smtClean="0"/>
              <a:t>‹#›</a:t>
            </a:fld>
            <a:endParaRPr lang="en-IN"/>
          </a:p>
        </p:txBody>
      </p:sp>
    </p:spTree>
    <p:extLst>
      <p:ext uri="{BB962C8B-B14F-4D97-AF65-F5344CB8AC3E}">
        <p14:creationId xmlns:p14="http://schemas.microsoft.com/office/powerpoint/2010/main" val="4044656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5EC78E-C9E4-401E-B79F-357D27614E8A}" type="datetimeFigureOut">
              <a:rPr lang="en-IN" smtClean="0"/>
              <a:t>26-08-2021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49A22B8-7778-47C4-AA40-BA250852DF18}" type="slidenum">
              <a:rPr lang="en-IN" smtClean="0"/>
              <a:t>‹#›</a:t>
            </a:fld>
            <a:endParaRPr lang="en-IN"/>
          </a:p>
        </p:txBody>
      </p:sp>
    </p:spTree>
    <p:extLst>
      <p:ext uri="{BB962C8B-B14F-4D97-AF65-F5344CB8AC3E}">
        <p14:creationId xmlns:p14="http://schemas.microsoft.com/office/powerpoint/2010/main" val="1908111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5EC78E-C9E4-401E-B79F-357D27614E8A}" type="datetimeFigureOut">
              <a:rPr lang="en-IN" smtClean="0"/>
              <a:t>26-08-2021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9A22B8-7778-47C4-AA40-BA250852DF18}" type="slidenum">
              <a:rPr lang="en-IN" smtClean="0"/>
              <a:t>‹#›</a:t>
            </a:fld>
            <a:endParaRPr lang="en-IN"/>
          </a:p>
        </p:txBody>
      </p:sp>
    </p:spTree>
    <p:extLst>
      <p:ext uri="{BB962C8B-B14F-4D97-AF65-F5344CB8AC3E}">
        <p14:creationId xmlns:p14="http://schemas.microsoft.com/office/powerpoint/2010/main" val="599568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5EC78E-C9E4-401E-B79F-357D27614E8A}" type="datetimeFigureOut">
              <a:rPr lang="en-IN" smtClean="0"/>
              <a:t>26-08-2021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49A22B8-7778-47C4-AA40-BA250852DF18}" type="slidenum">
              <a:rPr lang="en-IN" smtClean="0"/>
              <a:t>‹#›</a:t>
            </a:fld>
            <a:endParaRPr lang="en-IN"/>
          </a:p>
        </p:txBody>
      </p:sp>
    </p:spTree>
    <p:extLst>
      <p:ext uri="{BB962C8B-B14F-4D97-AF65-F5344CB8AC3E}">
        <p14:creationId xmlns:p14="http://schemas.microsoft.com/office/powerpoint/2010/main" val="2296794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65EC78E-C9E4-401E-B79F-357D27614E8A}" type="datetimeFigureOut">
              <a:rPr lang="en-IN" smtClean="0"/>
              <a:t>26-08-2021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A22B8-7778-47C4-AA40-BA250852DF18}" type="slidenum">
              <a:rPr lang="en-IN" smtClean="0"/>
              <a:t>‹#›</a:t>
            </a:fld>
            <a:endParaRPr lang="en-IN"/>
          </a:p>
        </p:txBody>
      </p:sp>
    </p:spTree>
    <p:extLst>
      <p:ext uri="{BB962C8B-B14F-4D97-AF65-F5344CB8AC3E}">
        <p14:creationId xmlns:p14="http://schemas.microsoft.com/office/powerpoint/2010/main" val="3032407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65EC78E-C9E4-401E-B79F-357D27614E8A}" type="datetimeFigureOut">
              <a:rPr lang="en-IN" smtClean="0"/>
              <a:t>26-08-2021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49A22B8-7778-47C4-AA40-BA250852DF18}" type="slidenum">
              <a:rPr lang="en-IN" smtClean="0"/>
              <a:t>‹#›</a:t>
            </a:fld>
            <a:endParaRPr lang="en-IN"/>
          </a:p>
        </p:txBody>
      </p:sp>
    </p:spTree>
    <p:extLst>
      <p:ext uri="{BB962C8B-B14F-4D97-AF65-F5344CB8AC3E}">
        <p14:creationId xmlns:p14="http://schemas.microsoft.com/office/powerpoint/2010/main" val="2601284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4" name="TextBox 3"/>
          <p:cNvSpPr txBox="1"/>
          <p:nvPr userDrawn="1"/>
        </p:nvSpPr>
        <p:spPr>
          <a:xfrm>
            <a:off x="11371554" y="6363129"/>
            <a:ext cx="608274" cy="364439"/>
          </a:xfrm>
          <a:prstGeom prst="rect">
            <a:avLst/>
          </a:prstGeom>
          <a:noFill/>
        </p:spPr>
        <p:txBody>
          <a:bodyPr wrap="square" rtlCol="0">
            <a:spAutoFit/>
          </a:bodyPr>
          <a:lstStyle/>
          <a:p>
            <a:fld id="{65B66DB6-D71E-4B3E-9AE0-4919FDE04E8D}" type="slidenum">
              <a:rPr lang="en-US" sz="1776" smtClean="0">
                <a:solidFill>
                  <a:schemeClr val="tx1"/>
                </a:solidFill>
              </a:rPr>
              <a:t>‹#›</a:t>
            </a:fld>
            <a:endParaRPr lang="en-US" sz="1776" dirty="0">
              <a:solidFill>
                <a:schemeClr val="tx1"/>
              </a:solidFill>
            </a:endParaRPr>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36297" y="195809"/>
            <a:ext cx="1297157" cy="843001"/>
          </a:xfrm>
          <a:prstGeom prst="rect">
            <a:avLst/>
          </a:prstGeom>
        </p:spPr>
      </p:pic>
    </p:spTree>
    <p:extLst>
      <p:ext uri="{BB962C8B-B14F-4D97-AF65-F5344CB8AC3E}">
        <p14:creationId xmlns:p14="http://schemas.microsoft.com/office/powerpoint/2010/main" val="986611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5EC78E-C9E4-401E-B79F-357D27614E8A}" type="datetimeFigureOut">
              <a:rPr lang="en-IN" smtClean="0"/>
              <a:t>26-08-2021</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9A22B8-7778-47C4-AA40-BA250852DF18}" type="slidenum">
              <a:rPr lang="en-IN" smtClean="0"/>
              <a:t>‹#›</a:t>
            </a:fld>
            <a:endParaRPr lang="en-IN"/>
          </a:p>
        </p:txBody>
      </p:sp>
    </p:spTree>
    <p:extLst>
      <p:ext uri="{BB962C8B-B14F-4D97-AF65-F5344CB8AC3E}">
        <p14:creationId xmlns:p14="http://schemas.microsoft.com/office/powerpoint/2010/main" val="31192567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image" Target="../media/image7.gif"/></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5.png"/><Relationship Id="rId1" Type="http://schemas.openxmlformats.org/officeDocument/2006/relationships/slideLayout" Target="../slideLayouts/slideLayout12.xml"/><Relationship Id="rId5" Type="http://schemas.openxmlformats.org/officeDocument/2006/relationships/hyperlink" Target="https://www.youtube.com/watch?v=19gHOmzY2IY" TargetMode="External"/><Relationship Id="rId4" Type="http://schemas.openxmlformats.org/officeDocument/2006/relationships/hyperlink" Target="https://www.youtube.com/watch?v=G66cG0Go8qE"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tMR7cqmoeB0" TargetMode="External"/><Relationship Id="rId2" Type="http://schemas.openxmlformats.org/officeDocument/2006/relationships/image" Target="../media/image5.png"/><Relationship Id="rId1" Type="http://schemas.openxmlformats.org/officeDocument/2006/relationships/slideLayout" Target="../slideLayouts/slideLayout12.xml"/><Relationship Id="rId4" Type="http://schemas.openxmlformats.org/officeDocument/2006/relationships/hyperlink" Target="https://www.youtube.com/watch?v=hgeC_kpF0d8"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TFp7-8x1fno" TargetMode="External"/><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youtube.com/watch?v=14-G_sDWAxI" TargetMode="External"/><Relationship Id="rId1" Type="http://schemas.openxmlformats.org/officeDocument/2006/relationships/slideLayout" Target="../slideLayouts/slideLayout12.xml"/><Relationship Id="rId4" Type="http://schemas.openxmlformats.org/officeDocument/2006/relationships/hyperlink" Target="http://www.techinsurance.com/workers-compensation-insurance/"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12.emf"/><Relationship Id="rId13" Type="http://schemas.openxmlformats.org/officeDocument/2006/relationships/oleObject" Target="../embeddings/oleObject5.bin"/><Relationship Id="rId3" Type="http://schemas.openxmlformats.org/officeDocument/2006/relationships/hyperlink" Target="http://digitalcommons.ilr.cornell.edu/cgi/viewcontent.cgi?article=1043&amp;context=reports" TargetMode="External"/><Relationship Id="rId7" Type="http://schemas.openxmlformats.org/officeDocument/2006/relationships/oleObject" Target="../embeddings/oleObject2.bin"/><Relationship Id="rId12" Type="http://schemas.openxmlformats.org/officeDocument/2006/relationships/image" Target="../media/image14.emf"/><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image" Target="../media/image11.emf"/><Relationship Id="rId11" Type="http://schemas.openxmlformats.org/officeDocument/2006/relationships/oleObject" Target="../embeddings/oleObject4.bin"/><Relationship Id="rId5" Type="http://schemas.openxmlformats.org/officeDocument/2006/relationships/oleObject" Target="../embeddings/oleObject1.bin"/><Relationship Id="rId10" Type="http://schemas.openxmlformats.org/officeDocument/2006/relationships/image" Target="../media/image13.emf"/><Relationship Id="rId4" Type="http://schemas.openxmlformats.org/officeDocument/2006/relationships/hyperlink" Target="http://www.wcb.ny.gov/content/main/forms/Forms_EMPLOYER.jsp" TargetMode="External"/><Relationship Id="rId9" Type="http://schemas.openxmlformats.org/officeDocument/2006/relationships/oleObject" Target="../embeddings/oleObject3.bin"/><Relationship Id="rId14" Type="http://schemas.openxmlformats.org/officeDocument/2006/relationships/image" Target="../media/image15.emf"/></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youtu.be/e-6hYqXaKSA" TargetMode="Externa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hyperlink" Target="https://youtu.be/gujXDWSOYTM" TargetMode="External"/><Relationship Id="rId4" Type="http://schemas.openxmlformats.org/officeDocument/2006/relationships/hyperlink" Target="https://www.youtube.com/watch?v=8jfRW1Hsm2s"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youtu.be/MBxiJvQi1dc" TargetMode="External"/><Relationship Id="rId2" Type="http://schemas.openxmlformats.org/officeDocument/2006/relationships/hyperlink" Target="https://youtu.be/MEqcgH1PUGs" TargetMode="Externa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guideone.com/safety_resource/workers-compensation-glossary-of-terms/#class" TargetMode="Externa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package" Target="../embeddings/Microsoft_Word_Document.docx"/><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8" Type="http://schemas.openxmlformats.org/officeDocument/2006/relationships/hyperlink" Target="http://www.hrhero.com/hl/articles/2009/04/24/definitions-of-common-workers-compensation-terms-and-jargon/" TargetMode="External"/><Relationship Id="rId3" Type="http://schemas.openxmlformats.org/officeDocument/2006/relationships/hyperlink" Target="https://www.acgov.org/cao/rmu/documents/Workers_Compensation_Abbreviations.pdf" TargetMode="External"/><Relationship Id="rId7" Type="http://schemas.openxmlformats.org/officeDocument/2006/relationships/hyperlink" Target="https://youtu.be/zFmPjh702gw" TargetMode="External"/><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hyperlink" Target="https://youtu.be/7KI-jBbSxTU" TargetMode="External"/><Relationship Id="rId5" Type="http://schemas.openxmlformats.org/officeDocument/2006/relationships/hyperlink" Target="http://smallbusiness.findlaw.com/liability-and-insurance/workers-compensation-glossary.html" TargetMode="External"/><Relationship Id="rId10" Type="http://schemas.openxmlformats.org/officeDocument/2006/relationships/image" Target="../media/image17.emf"/><Relationship Id="rId4" Type="http://schemas.openxmlformats.org/officeDocument/2006/relationships/hyperlink" Target="https://www.guideone.com/safety_resource/workers-compensation-glossary-of-terms/" TargetMode="External"/><Relationship Id="rId9" Type="http://schemas.openxmlformats.org/officeDocument/2006/relationships/oleObject" Target="../embeddings/oleObject6.bin"/></Relationships>
</file>

<file path=ppt/slides/_rels/slide43.xml.rels><?xml version="1.0" encoding="UTF-8" standalone="yes"?>
<Relationships xmlns="http://schemas.openxmlformats.org/package/2006/relationships"><Relationship Id="rId3" Type="http://schemas.openxmlformats.org/officeDocument/2006/relationships/hyperlink" Target="https://ua.apps.insureon.com/TIG/Quote/" TargetMode="External"/><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8" Type="http://schemas.openxmlformats.org/officeDocument/2006/relationships/hyperlink" Target="https://youtu.be/nWZ71zIj7z4" TargetMode="External"/><Relationship Id="rId13" Type="http://schemas.openxmlformats.org/officeDocument/2006/relationships/image" Target="../media/image20.png"/><Relationship Id="rId18" Type="http://schemas.openxmlformats.org/officeDocument/2006/relationships/hyperlink" Target="http://www.pcisvision.com/" TargetMode="External"/><Relationship Id="rId3" Type="http://schemas.openxmlformats.org/officeDocument/2006/relationships/hyperlink" Target="https://youtu.be/-NacLf5P5SE" TargetMode="External"/><Relationship Id="rId7" Type="http://schemas.openxmlformats.org/officeDocument/2006/relationships/hyperlink" Target="https://youtu.be/iMZEPfcZW8o" TargetMode="External"/><Relationship Id="rId12" Type="http://schemas.openxmlformats.org/officeDocument/2006/relationships/image" Target="../media/image19.png"/><Relationship Id="rId17" Type="http://schemas.openxmlformats.org/officeDocument/2006/relationships/hyperlink" Target="http://www.systemasoft.com/" TargetMode="External"/><Relationship Id="rId2" Type="http://schemas.openxmlformats.org/officeDocument/2006/relationships/image" Target="../media/image5.png"/><Relationship Id="rId16" Type="http://schemas.openxmlformats.org/officeDocument/2006/relationships/hyperlink" Target="http://www.stoneriver.com/" TargetMode="External"/><Relationship Id="rId1" Type="http://schemas.openxmlformats.org/officeDocument/2006/relationships/slideLayout" Target="../slideLayouts/slideLayout12.xml"/><Relationship Id="rId6" Type="http://schemas.openxmlformats.org/officeDocument/2006/relationships/hyperlink" Target="https://www.youtube.com/channel/UC6wxfX2JJ2ih07qF2HTxbbA" TargetMode="External"/><Relationship Id="rId11" Type="http://schemas.openxmlformats.org/officeDocument/2006/relationships/hyperlink" Target="http://www.gotropics.com/claim/" TargetMode="External"/><Relationship Id="rId5" Type="http://schemas.openxmlformats.org/officeDocument/2006/relationships/hyperlink" Target="https://youtu.be/h5x1AsdkJYs" TargetMode="External"/><Relationship Id="rId15" Type="http://schemas.openxmlformats.org/officeDocument/2006/relationships/image" Target="../media/image22.png"/><Relationship Id="rId10" Type="http://schemas.openxmlformats.org/officeDocument/2006/relationships/image" Target="../media/image18.png"/><Relationship Id="rId4" Type="http://schemas.openxmlformats.org/officeDocument/2006/relationships/hyperlink" Target="https://youtu.be/KxewQHxC2MA" TargetMode="External"/><Relationship Id="rId9" Type="http://schemas.openxmlformats.org/officeDocument/2006/relationships/hyperlink" Target="https://youtu.be/XLgZ1wJi4hE" TargetMode="External"/><Relationship Id="rId14" Type="http://schemas.openxmlformats.org/officeDocument/2006/relationships/image" Target="../media/image21.png"/></Relationships>
</file>

<file path=ppt/slides/_rels/slide45.xml.rels><?xml version="1.0" encoding="UTF-8" standalone="yes"?>
<Relationships xmlns="http://schemas.openxmlformats.org/package/2006/relationships"><Relationship Id="rId3" Type="http://schemas.openxmlformats.org/officeDocument/2006/relationships/hyperlink" Target="http://www.gotropics.com/claim/" TargetMode="External"/><Relationship Id="rId2" Type="http://schemas.openxmlformats.org/officeDocument/2006/relationships/image" Target="../media/image18.png"/><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23.png"/></Relationships>
</file>

<file path=ppt/slides/_rels/slide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7.png"/><Relationship Id="rId7" Type="http://schemas.openxmlformats.org/officeDocument/2006/relationships/hyperlink" Target="http://www.pcisvision.com/" TargetMode="External"/><Relationship Id="rId2" Type="http://schemas.openxmlformats.org/officeDocument/2006/relationships/image" Target="../media/image26.png"/><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hyperlink" Target="http://www.stoneriver.com/" TargetMode="External"/><Relationship Id="rId4" Type="http://schemas.openxmlformats.org/officeDocument/2006/relationships/hyperlink" Target="http://www.systemasoft.com/" TargetMode="External"/></Relationships>
</file>

<file path=ppt/slides/_rels/slide5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hyperlink" Target="http://www.prosightspecialty.com/solutions/excess-workers-compensation/" TargetMode="External"/><Relationship Id="rId7" Type="http://schemas.openxmlformats.org/officeDocument/2006/relationships/image" Target="../media/image5.png"/><Relationship Id="rId2" Type="http://schemas.openxmlformats.org/officeDocument/2006/relationships/hyperlink" Target="http://www.acegroup.com/us-en/businesses/workers-compensation.aspx" TargetMode="External"/><Relationship Id="rId1" Type="http://schemas.openxmlformats.org/officeDocument/2006/relationships/slideLayout" Target="../slideLayouts/slideLayout12.xml"/><Relationship Id="rId6" Type="http://schemas.openxmlformats.org/officeDocument/2006/relationships/hyperlink" Target="http://www.capterra.com/claims-processing-software/?utf8=%E2%9C%93&amp;users=&amp;platform%5b1%5d=8&amp;platform%5b2%5d=23&amp;feature%5b1%5d=30735&amp;commit=Filter+Results" TargetMode="External"/><Relationship Id="rId5" Type="http://schemas.openxmlformats.org/officeDocument/2006/relationships/hyperlink" Target="http://www.aoc.gov/workers-compensation" TargetMode="External"/><Relationship Id="rId4" Type="http://schemas.openxmlformats.org/officeDocument/2006/relationships/hyperlink" Target="https://www.archcapgroup.com/Insurance/Regions/United-States/Products/Excess-Workers-Compens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t="2762" b="12526"/>
          <a:stretch/>
        </p:blipFill>
        <p:spPr>
          <a:xfrm>
            <a:off x="-62572" y="-29764"/>
            <a:ext cx="12249003" cy="6917527"/>
          </a:xfrm>
          <a:prstGeom prst="rect">
            <a:avLst/>
          </a:prstGeom>
        </p:spPr>
      </p:pic>
      <p:pic>
        <p:nvPicPr>
          <p:cNvPr id="11" name="Picture 10"/>
          <p:cNvPicPr>
            <a:picLocks noChangeAspect="1"/>
          </p:cNvPicPr>
          <p:nvPr/>
        </p:nvPicPr>
        <p:blipFill>
          <a:blip r:embed="rId3"/>
          <a:stretch>
            <a:fillRect/>
          </a:stretch>
        </p:blipFill>
        <p:spPr>
          <a:xfrm>
            <a:off x="767124" y="6211049"/>
            <a:ext cx="3183064" cy="125317"/>
          </a:xfrm>
          <a:prstGeom prst="rect">
            <a:avLst/>
          </a:prstGeom>
        </p:spPr>
      </p:pic>
      <p:pic>
        <p:nvPicPr>
          <p:cNvPr id="12" name="Picture 11"/>
          <p:cNvPicPr>
            <a:picLocks noChangeAspect="1"/>
          </p:cNvPicPr>
          <p:nvPr/>
        </p:nvPicPr>
        <p:blipFill>
          <a:blip r:embed="rId3">
            <a:alphaModFix amt="43000"/>
          </a:blip>
          <a:stretch>
            <a:fillRect/>
          </a:stretch>
        </p:blipFill>
        <p:spPr>
          <a:xfrm>
            <a:off x="2516288" y="6361430"/>
            <a:ext cx="3183064" cy="125317"/>
          </a:xfrm>
          <a:prstGeom prst="rect">
            <a:avLst/>
          </a:prstGeom>
        </p:spPr>
      </p:pic>
      <p:sp>
        <p:nvSpPr>
          <p:cNvPr id="13" name="Parallelogram 12"/>
          <p:cNvSpPr/>
          <p:nvPr/>
        </p:nvSpPr>
        <p:spPr>
          <a:xfrm>
            <a:off x="4727494" y="-42294"/>
            <a:ext cx="7464308" cy="6956463"/>
          </a:xfrm>
          <a:custGeom>
            <a:avLst/>
            <a:gdLst>
              <a:gd name="connsiteX0" fmla="*/ 0 w 6383423"/>
              <a:gd name="connsiteY0" fmla="*/ 6950074 h 6950074"/>
              <a:gd name="connsiteX1" fmla="*/ 1595856 w 6383423"/>
              <a:gd name="connsiteY1" fmla="*/ 0 h 6950074"/>
              <a:gd name="connsiteX2" fmla="*/ 6383423 w 6383423"/>
              <a:gd name="connsiteY2" fmla="*/ 0 h 6950074"/>
              <a:gd name="connsiteX3" fmla="*/ 4787567 w 6383423"/>
              <a:gd name="connsiteY3" fmla="*/ 6950074 h 6950074"/>
              <a:gd name="connsiteX4" fmla="*/ 0 w 6383423"/>
              <a:gd name="connsiteY4" fmla="*/ 6950074 h 6950074"/>
              <a:gd name="connsiteX0" fmla="*/ 0 w 6383423"/>
              <a:gd name="connsiteY0" fmla="*/ 6975474 h 6975474"/>
              <a:gd name="connsiteX1" fmla="*/ 3665956 w 6383423"/>
              <a:gd name="connsiteY1" fmla="*/ 0 h 6975474"/>
              <a:gd name="connsiteX2" fmla="*/ 6383423 w 6383423"/>
              <a:gd name="connsiteY2" fmla="*/ 25400 h 6975474"/>
              <a:gd name="connsiteX3" fmla="*/ 4787567 w 6383423"/>
              <a:gd name="connsiteY3" fmla="*/ 6975474 h 6975474"/>
              <a:gd name="connsiteX4" fmla="*/ 0 w 6383423"/>
              <a:gd name="connsiteY4" fmla="*/ 6975474 h 6975474"/>
              <a:gd name="connsiteX0" fmla="*/ 0 w 6383423"/>
              <a:gd name="connsiteY0" fmla="*/ 6950074 h 6950074"/>
              <a:gd name="connsiteX1" fmla="*/ 4351756 w 6383423"/>
              <a:gd name="connsiteY1" fmla="*/ 12700 h 6950074"/>
              <a:gd name="connsiteX2" fmla="*/ 6383423 w 6383423"/>
              <a:gd name="connsiteY2" fmla="*/ 0 h 6950074"/>
              <a:gd name="connsiteX3" fmla="*/ 4787567 w 6383423"/>
              <a:gd name="connsiteY3" fmla="*/ 6950074 h 6950074"/>
              <a:gd name="connsiteX4" fmla="*/ 0 w 6383423"/>
              <a:gd name="connsiteY4" fmla="*/ 6950074 h 6950074"/>
              <a:gd name="connsiteX0" fmla="*/ 0 w 6383423"/>
              <a:gd name="connsiteY0" fmla="*/ 6950074 h 6962774"/>
              <a:gd name="connsiteX1" fmla="*/ 4351756 w 6383423"/>
              <a:gd name="connsiteY1" fmla="*/ 12700 h 6962774"/>
              <a:gd name="connsiteX2" fmla="*/ 6383423 w 6383423"/>
              <a:gd name="connsiteY2" fmla="*/ 0 h 6962774"/>
              <a:gd name="connsiteX3" fmla="*/ 5587667 w 6383423"/>
              <a:gd name="connsiteY3" fmla="*/ 6962774 h 6962774"/>
              <a:gd name="connsiteX4" fmla="*/ 0 w 6383423"/>
              <a:gd name="connsiteY4" fmla="*/ 6950074 h 6962774"/>
              <a:gd name="connsiteX0" fmla="*/ 0 w 6383423"/>
              <a:gd name="connsiteY0" fmla="*/ 6950074 h 6962774"/>
              <a:gd name="connsiteX1" fmla="*/ 4351756 w 6383423"/>
              <a:gd name="connsiteY1" fmla="*/ 12700 h 6962774"/>
              <a:gd name="connsiteX2" fmla="*/ 6383423 w 6383423"/>
              <a:gd name="connsiteY2" fmla="*/ 0 h 6962774"/>
              <a:gd name="connsiteX3" fmla="*/ 5799223 w 6383423"/>
              <a:gd name="connsiteY3" fmla="*/ 4902201 h 6962774"/>
              <a:gd name="connsiteX4" fmla="*/ 5587667 w 6383423"/>
              <a:gd name="connsiteY4" fmla="*/ 6962774 h 6962774"/>
              <a:gd name="connsiteX5" fmla="*/ 0 w 6383423"/>
              <a:gd name="connsiteY5" fmla="*/ 6950074 h 6962774"/>
              <a:gd name="connsiteX0" fmla="*/ 0 w 7564523"/>
              <a:gd name="connsiteY0" fmla="*/ 6950074 h 6962774"/>
              <a:gd name="connsiteX1" fmla="*/ 4351756 w 7564523"/>
              <a:gd name="connsiteY1" fmla="*/ 12700 h 6962774"/>
              <a:gd name="connsiteX2" fmla="*/ 6383423 w 7564523"/>
              <a:gd name="connsiteY2" fmla="*/ 0 h 6962774"/>
              <a:gd name="connsiteX3" fmla="*/ 7564523 w 7564523"/>
              <a:gd name="connsiteY3" fmla="*/ 4660901 h 6962774"/>
              <a:gd name="connsiteX4" fmla="*/ 5587667 w 7564523"/>
              <a:gd name="connsiteY4" fmla="*/ 6962774 h 6962774"/>
              <a:gd name="connsiteX5" fmla="*/ 0 w 7564523"/>
              <a:gd name="connsiteY5" fmla="*/ 6950074 h 6962774"/>
              <a:gd name="connsiteX0" fmla="*/ 0 w 7602623"/>
              <a:gd name="connsiteY0" fmla="*/ 6962774 h 6975474"/>
              <a:gd name="connsiteX1" fmla="*/ 4351756 w 7602623"/>
              <a:gd name="connsiteY1" fmla="*/ 25400 h 6975474"/>
              <a:gd name="connsiteX2" fmla="*/ 7602623 w 7602623"/>
              <a:gd name="connsiteY2" fmla="*/ 0 h 6975474"/>
              <a:gd name="connsiteX3" fmla="*/ 7564523 w 7602623"/>
              <a:gd name="connsiteY3" fmla="*/ 4673601 h 6975474"/>
              <a:gd name="connsiteX4" fmla="*/ 5587667 w 7602623"/>
              <a:gd name="connsiteY4" fmla="*/ 6975474 h 6975474"/>
              <a:gd name="connsiteX5" fmla="*/ 0 w 7602623"/>
              <a:gd name="connsiteY5" fmla="*/ 6962774 h 6975474"/>
              <a:gd name="connsiteX0" fmla="*/ 0 w 7602623"/>
              <a:gd name="connsiteY0" fmla="*/ 7026274 h 7038974"/>
              <a:gd name="connsiteX1" fmla="*/ 4415256 w 7602623"/>
              <a:gd name="connsiteY1" fmla="*/ 0 h 7038974"/>
              <a:gd name="connsiteX2" fmla="*/ 7602623 w 7602623"/>
              <a:gd name="connsiteY2" fmla="*/ 63500 h 7038974"/>
              <a:gd name="connsiteX3" fmla="*/ 7564523 w 7602623"/>
              <a:gd name="connsiteY3" fmla="*/ 4737101 h 7038974"/>
              <a:gd name="connsiteX4" fmla="*/ 5587667 w 7602623"/>
              <a:gd name="connsiteY4" fmla="*/ 7038974 h 7038974"/>
              <a:gd name="connsiteX5" fmla="*/ 0 w 7602623"/>
              <a:gd name="connsiteY5" fmla="*/ 7026274 h 7038974"/>
              <a:gd name="connsiteX0" fmla="*/ 0 w 7716923"/>
              <a:gd name="connsiteY0" fmla="*/ 7178674 h 7178674"/>
              <a:gd name="connsiteX1" fmla="*/ 4529556 w 7716923"/>
              <a:gd name="connsiteY1" fmla="*/ 0 h 7178674"/>
              <a:gd name="connsiteX2" fmla="*/ 7716923 w 7716923"/>
              <a:gd name="connsiteY2" fmla="*/ 63500 h 7178674"/>
              <a:gd name="connsiteX3" fmla="*/ 7678823 w 7716923"/>
              <a:gd name="connsiteY3" fmla="*/ 4737101 h 7178674"/>
              <a:gd name="connsiteX4" fmla="*/ 5701967 w 7716923"/>
              <a:gd name="connsiteY4" fmla="*/ 7038974 h 7178674"/>
              <a:gd name="connsiteX5" fmla="*/ 0 w 7716923"/>
              <a:gd name="connsiteY5" fmla="*/ 7178674 h 7178674"/>
              <a:gd name="connsiteX0" fmla="*/ 0 w 7716923"/>
              <a:gd name="connsiteY0" fmla="*/ 7178674 h 7292974"/>
              <a:gd name="connsiteX1" fmla="*/ 4529556 w 7716923"/>
              <a:gd name="connsiteY1" fmla="*/ 0 h 7292974"/>
              <a:gd name="connsiteX2" fmla="*/ 7716923 w 7716923"/>
              <a:gd name="connsiteY2" fmla="*/ 63500 h 7292974"/>
              <a:gd name="connsiteX3" fmla="*/ 7678823 w 7716923"/>
              <a:gd name="connsiteY3" fmla="*/ 4737101 h 7292974"/>
              <a:gd name="connsiteX4" fmla="*/ 5473367 w 7716923"/>
              <a:gd name="connsiteY4" fmla="*/ 7292974 h 7292974"/>
              <a:gd name="connsiteX5" fmla="*/ 0 w 7716923"/>
              <a:gd name="connsiteY5" fmla="*/ 7178674 h 7292974"/>
              <a:gd name="connsiteX0" fmla="*/ 0 w 7716923"/>
              <a:gd name="connsiteY0" fmla="*/ 7115174 h 7229474"/>
              <a:gd name="connsiteX1" fmla="*/ 6377406 w 7716923"/>
              <a:gd name="connsiteY1" fmla="*/ 107950 h 7229474"/>
              <a:gd name="connsiteX2" fmla="*/ 7716923 w 7716923"/>
              <a:gd name="connsiteY2" fmla="*/ 0 h 7229474"/>
              <a:gd name="connsiteX3" fmla="*/ 7678823 w 7716923"/>
              <a:gd name="connsiteY3" fmla="*/ 4673601 h 7229474"/>
              <a:gd name="connsiteX4" fmla="*/ 5473367 w 7716923"/>
              <a:gd name="connsiteY4" fmla="*/ 7229474 h 7229474"/>
              <a:gd name="connsiteX5" fmla="*/ 0 w 7716923"/>
              <a:gd name="connsiteY5" fmla="*/ 7115174 h 7229474"/>
              <a:gd name="connsiteX0" fmla="*/ 0 w 7659773"/>
              <a:gd name="connsiteY0" fmla="*/ 7191374 h 7229474"/>
              <a:gd name="connsiteX1" fmla="*/ 6320256 w 7659773"/>
              <a:gd name="connsiteY1" fmla="*/ 107950 h 7229474"/>
              <a:gd name="connsiteX2" fmla="*/ 7659773 w 7659773"/>
              <a:gd name="connsiteY2" fmla="*/ 0 h 7229474"/>
              <a:gd name="connsiteX3" fmla="*/ 7621673 w 7659773"/>
              <a:gd name="connsiteY3" fmla="*/ 4673601 h 7229474"/>
              <a:gd name="connsiteX4" fmla="*/ 5416217 w 7659773"/>
              <a:gd name="connsiteY4" fmla="*/ 7229474 h 7229474"/>
              <a:gd name="connsiteX5" fmla="*/ 0 w 7659773"/>
              <a:gd name="connsiteY5" fmla="*/ 7191374 h 7229474"/>
              <a:gd name="connsiteX0" fmla="*/ 0 w 7659773"/>
              <a:gd name="connsiteY0" fmla="*/ 7191374 h 7400924"/>
              <a:gd name="connsiteX1" fmla="*/ 6320256 w 7659773"/>
              <a:gd name="connsiteY1" fmla="*/ 107950 h 7400924"/>
              <a:gd name="connsiteX2" fmla="*/ 7659773 w 7659773"/>
              <a:gd name="connsiteY2" fmla="*/ 0 h 7400924"/>
              <a:gd name="connsiteX3" fmla="*/ 7621673 w 7659773"/>
              <a:gd name="connsiteY3" fmla="*/ 4673601 h 7400924"/>
              <a:gd name="connsiteX4" fmla="*/ 5378117 w 7659773"/>
              <a:gd name="connsiteY4" fmla="*/ 7400924 h 7400924"/>
              <a:gd name="connsiteX5" fmla="*/ 0 w 7659773"/>
              <a:gd name="connsiteY5" fmla="*/ 7191374 h 7400924"/>
              <a:gd name="connsiteX0" fmla="*/ 0 w 7659773"/>
              <a:gd name="connsiteY0" fmla="*/ 7191374 h 7419974"/>
              <a:gd name="connsiteX1" fmla="*/ 6320256 w 7659773"/>
              <a:gd name="connsiteY1" fmla="*/ 107950 h 7419974"/>
              <a:gd name="connsiteX2" fmla="*/ 7659773 w 7659773"/>
              <a:gd name="connsiteY2" fmla="*/ 0 h 7419974"/>
              <a:gd name="connsiteX3" fmla="*/ 7621673 w 7659773"/>
              <a:gd name="connsiteY3" fmla="*/ 4673601 h 7419974"/>
              <a:gd name="connsiteX4" fmla="*/ 5263817 w 7659773"/>
              <a:gd name="connsiteY4" fmla="*/ 7419974 h 7419974"/>
              <a:gd name="connsiteX5" fmla="*/ 0 w 7659773"/>
              <a:gd name="connsiteY5" fmla="*/ 7191374 h 7419974"/>
              <a:gd name="connsiteX0" fmla="*/ 0 w 7983623"/>
              <a:gd name="connsiteY0" fmla="*/ 7534274 h 7534274"/>
              <a:gd name="connsiteX1" fmla="*/ 6644106 w 7983623"/>
              <a:gd name="connsiteY1" fmla="*/ 107950 h 7534274"/>
              <a:gd name="connsiteX2" fmla="*/ 7983623 w 7983623"/>
              <a:gd name="connsiteY2" fmla="*/ 0 h 7534274"/>
              <a:gd name="connsiteX3" fmla="*/ 7945523 w 7983623"/>
              <a:gd name="connsiteY3" fmla="*/ 4673601 h 7534274"/>
              <a:gd name="connsiteX4" fmla="*/ 5587667 w 7983623"/>
              <a:gd name="connsiteY4" fmla="*/ 7419974 h 7534274"/>
              <a:gd name="connsiteX5" fmla="*/ 0 w 7983623"/>
              <a:gd name="connsiteY5" fmla="*/ 7534274 h 7534274"/>
              <a:gd name="connsiteX0" fmla="*/ 0 w 7983623"/>
              <a:gd name="connsiteY0" fmla="*/ 7534274 h 7534274"/>
              <a:gd name="connsiteX1" fmla="*/ 6644106 w 7983623"/>
              <a:gd name="connsiteY1" fmla="*/ 107950 h 7534274"/>
              <a:gd name="connsiteX2" fmla="*/ 7983623 w 7983623"/>
              <a:gd name="connsiteY2" fmla="*/ 0 h 7534274"/>
              <a:gd name="connsiteX3" fmla="*/ 7831223 w 7983623"/>
              <a:gd name="connsiteY3" fmla="*/ 4864101 h 7534274"/>
              <a:gd name="connsiteX4" fmla="*/ 5587667 w 7983623"/>
              <a:gd name="connsiteY4" fmla="*/ 7419974 h 7534274"/>
              <a:gd name="connsiteX5" fmla="*/ 0 w 7983623"/>
              <a:gd name="connsiteY5" fmla="*/ 7534274 h 7534274"/>
              <a:gd name="connsiteX0" fmla="*/ 0 w 7831223"/>
              <a:gd name="connsiteY0" fmla="*/ 7426324 h 7426324"/>
              <a:gd name="connsiteX1" fmla="*/ 6644106 w 7831223"/>
              <a:gd name="connsiteY1" fmla="*/ 0 h 7426324"/>
              <a:gd name="connsiteX2" fmla="*/ 7793123 w 7831223"/>
              <a:gd name="connsiteY2" fmla="*/ 82550 h 7426324"/>
              <a:gd name="connsiteX3" fmla="*/ 7831223 w 7831223"/>
              <a:gd name="connsiteY3" fmla="*/ 4756151 h 7426324"/>
              <a:gd name="connsiteX4" fmla="*/ 5587667 w 7831223"/>
              <a:gd name="connsiteY4" fmla="*/ 7312024 h 7426324"/>
              <a:gd name="connsiteX5" fmla="*/ 0 w 7831223"/>
              <a:gd name="connsiteY5" fmla="*/ 7426324 h 7426324"/>
              <a:gd name="connsiteX0" fmla="*/ 0 w 7831223"/>
              <a:gd name="connsiteY0" fmla="*/ 7343774 h 7343774"/>
              <a:gd name="connsiteX1" fmla="*/ 6548856 w 7831223"/>
              <a:gd name="connsiteY1" fmla="*/ 12700 h 7343774"/>
              <a:gd name="connsiteX2" fmla="*/ 7793123 w 7831223"/>
              <a:gd name="connsiteY2" fmla="*/ 0 h 7343774"/>
              <a:gd name="connsiteX3" fmla="*/ 7831223 w 7831223"/>
              <a:gd name="connsiteY3" fmla="*/ 4673601 h 7343774"/>
              <a:gd name="connsiteX4" fmla="*/ 5587667 w 7831223"/>
              <a:gd name="connsiteY4" fmla="*/ 7229474 h 7343774"/>
              <a:gd name="connsiteX5" fmla="*/ 0 w 7831223"/>
              <a:gd name="connsiteY5" fmla="*/ 7343774 h 7343774"/>
              <a:gd name="connsiteX0" fmla="*/ 0 w 7831223"/>
              <a:gd name="connsiteY0" fmla="*/ 7343774 h 7343774"/>
              <a:gd name="connsiteX1" fmla="*/ 6574256 w 7831223"/>
              <a:gd name="connsiteY1" fmla="*/ 0 h 7343774"/>
              <a:gd name="connsiteX2" fmla="*/ 7793123 w 7831223"/>
              <a:gd name="connsiteY2" fmla="*/ 0 h 7343774"/>
              <a:gd name="connsiteX3" fmla="*/ 7831223 w 7831223"/>
              <a:gd name="connsiteY3" fmla="*/ 4673601 h 7343774"/>
              <a:gd name="connsiteX4" fmla="*/ 5587667 w 7831223"/>
              <a:gd name="connsiteY4" fmla="*/ 7229474 h 7343774"/>
              <a:gd name="connsiteX5" fmla="*/ 0 w 7831223"/>
              <a:gd name="connsiteY5" fmla="*/ 7343774 h 7343774"/>
              <a:gd name="connsiteX0" fmla="*/ 0 w 7831223"/>
              <a:gd name="connsiteY0" fmla="*/ 7343774 h 7343774"/>
              <a:gd name="connsiteX1" fmla="*/ 6574256 w 7831223"/>
              <a:gd name="connsiteY1" fmla="*/ 0 h 7343774"/>
              <a:gd name="connsiteX2" fmla="*/ 7793123 w 7831223"/>
              <a:gd name="connsiteY2" fmla="*/ 0 h 7343774"/>
              <a:gd name="connsiteX3" fmla="*/ 7831223 w 7831223"/>
              <a:gd name="connsiteY3" fmla="*/ 4673601 h 7343774"/>
              <a:gd name="connsiteX4" fmla="*/ 5778167 w 7831223"/>
              <a:gd name="connsiteY4" fmla="*/ 6962774 h 7343774"/>
              <a:gd name="connsiteX5" fmla="*/ 0 w 7831223"/>
              <a:gd name="connsiteY5" fmla="*/ 7343774 h 7343774"/>
              <a:gd name="connsiteX0" fmla="*/ 0 w 7501023"/>
              <a:gd name="connsiteY0" fmla="*/ 6988174 h 6988174"/>
              <a:gd name="connsiteX1" fmla="*/ 6244056 w 7501023"/>
              <a:gd name="connsiteY1" fmla="*/ 0 h 6988174"/>
              <a:gd name="connsiteX2" fmla="*/ 7462923 w 7501023"/>
              <a:gd name="connsiteY2" fmla="*/ 0 h 6988174"/>
              <a:gd name="connsiteX3" fmla="*/ 7501023 w 7501023"/>
              <a:gd name="connsiteY3" fmla="*/ 4673601 h 6988174"/>
              <a:gd name="connsiteX4" fmla="*/ 5447967 w 7501023"/>
              <a:gd name="connsiteY4" fmla="*/ 6962774 h 6988174"/>
              <a:gd name="connsiteX5" fmla="*/ 0 w 7501023"/>
              <a:gd name="connsiteY5" fmla="*/ 6988174 h 6988174"/>
              <a:gd name="connsiteX0" fmla="*/ 0 w 7506466"/>
              <a:gd name="connsiteY0" fmla="*/ 6988174 h 6988174"/>
              <a:gd name="connsiteX1" fmla="*/ 6244056 w 7506466"/>
              <a:gd name="connsiteY1" fmla="*/ 0 h 6988174"/>
              <a:gd name="connsiteX2" fmla="*/ 7506466 w 7506466"/>
              <a:gd name="connsiteY2" fmla="*/ 0 h 6988174"/>
              <a:gd name="connsiteX3" fmla="*/ 7501023 w 7506466"/>
              <a:gd name="connsiteY3" fmla="*/ 4673601 h 6988174"/>
              <a:gd name="connsiteX4" fmla="*/ 5447967 w 7506466"/>
              <a:gd name="connsiteY4" fmla="*/ 6962774 h 6988174"/>
              <a:gd name="connsiteX5" fmla="*/ 0 w 7506466"/>
              <a:gd name="connsiteY5" fmla="*/ 6988174 h 6988174"/>
              <a:gd name="connsiteX0" fmla="*/ 0 w 7506466"/>
              <a:gd name="connsiteY0" fmla="*/ 6988174 h 7006317"/>
              <a:gd name="connsiteX1" fmla="*/ 6244056 w 7506466"/>
              <a:gd name="connsiteY1" fmla="*/ 0 h 7006317"/>
              <a:gd name="connsiteX2" fmla="*/ 7506466 w 7506466"/>
              <a:gd name="connsiteY2" fmla="*/ 0 h 7006317"/>
              <a:gd name="connsiteX3" fmla="*/ 7501023 w 7506466"/>
              <a:gd name="connsiteY3" fmla="*/ 4673601 h 7006317"/>
              <a:gd name="connsiteX4" fmla="*/ 5360881 w 7506466"/>
              <a:gd name="connsiteY4" fmla="*/ 7006317 h 7006317"/>
              <a:gd name="connsiteX5" fmla="*/ 0 w 7506466"/>
              <a:gd name="connsiteY5" fmla="*/ 6988174 h 7006317"/>
              <a:gd name="connsiteX0" fmla="*/ 0 w 7564523"/>
              <a:gd name="connsiteY0" fmla="*/ 7046231 h 7046231"/>
              <a:gd name="connsiteX1" fmla="*/ 6302113 w 7564523"/>
              <a:gd name="connsiteY1" fmla="*/ 0 h 7046231"/>
              <a:gd name="connsiteX2" fmla="*/ 7564523 w 7564523"/>
              <a:gd name="connsiteY2" fmla="*/ 0 h 7046231"/>
              <a:gd name="connsiteX3" fmla="*/ 7559080 w 7564523"/>
              <a:gd name="connsiteY3" fmla="*/ 4673601 h 7046231"/>
              <a:gd name="connsiteX4" fmla="*/ 5418938 w 7564523"/>
              <a:gd name="connsiteY4" fmla="*/ 7006317 h 7046231"/>
              <a:gd name="connsiteX5" fmla="*/ 0 w 7564523"/>
              <a:gd name="connsiteY5" fmla="*/ 7046231 h 7046231"/>
              <a:gd name="connsiteX0" fmla="*/ 0 w 7564523"/>
              <a:gd name="connsiteY0" fmla="*/ 7046231 h 7049860"/>
              <a:gd name="connsiteX1" fmla="*/ 6302113 w 7564523"/>
              <a:gd name="connsiteY1" fmla="*/ 0 h 7049860"/>
              <a:gd name="connsiteX2" fmla="*/ 7564523 w 7564523"/>
              <a:gd name="connsiteY2" fmla="*/ 0 h 7049860"/>
              <a:gd name="connsiteX3" fmla="*/ 7559080 w 7564523"/>
              <a:gd name="connsiteY3" fmla="*/ 4673601 h 7049860"/>
              <a:gd name="connsiteX4" fmla="*/ 5389909 w 7564523"/>
              <a:gd name="connsiteY4" fmla="*/ 7049860 h 7049860"/>
              <a:gd name="connsiteX5" fmla="*/ 0 w 7564523"/>
              <a:gd name="connsiteY5" fmla="*/ 7046231 h 7049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564523" h="7049860">
                <a:moveTo>
                  <a:pt x="0" y="7046231"/>
                </a:moveTo>
                <a:lnTo>
                  <a:pt x="6302113" y="0"/>
                </a:lnTo>
                <a:lnTo>
                  <a:pt x="7564523" y="0"/>
                </a:lnTo>
                <a:cubicBezTo>
                  <a:pt x="7562709" y="1557867"/>
                  <a:pt x="7560894" y="3115734"/>
                  <a:pt x="7559080" y="4673601"/>
                </a:cubicBezTo>
                <a:lnTo>
                  <a:pt x="5389909" y="7049860"/>
                </a:lnTo>
                <a:lnTo>
                  <a:pt x="0" y="7046231"/>
                </a:lnTo>
                <a:close/>
              </a:path>
            </a:pathLst>
          </a:custGeom>
          <a:solidFill>
            <a:srgbClr val="D55819">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76"/>
          </a:p>
        </p:txBody>
      </p:sp>
      <p:sp>
        <p:nvSpPr>
          <p:cNvPr id="16" name="Title 1"/>
          <p:cNvSpPr txBox="1">
            <a:spLocks/>
          </p:cNvSpPr>
          <p:nvPr/>
        </p:nvSpPr>
        <p:spPr>
          <a:xfrm>
            <a:off x="6923095" y="3955333"/>
            <a:ext cx="4812192" cy="1380685"/>
          </a:xfrm>
          <a:prstGeom prst="rect">
            <a:avLst/>
          </a:prstGeom>
        </p:spPr>
        <p:txBody>
          <a:bodyPr lIns="0" tIns="0" rIns="0" bIns="54395" anchor="t"/>
          <a:lstStyle>
            <a:lvl1pPr algn="ctr" rtl="0" eaLnBrk="0" fontAlgn="base" hangingPunct="0">
              <a:lnSpc>
                <a:spcPct val="90000"/>
              </a:lnSpc>
              <a:spcBef>
                <a:spcPct val="0"/>
              </a:spcBef>
              <a:spcAft>
                <a:spcPct val="0"/>
              </a:spcAft>
              <a:defRPr sz="4000" kern="1200">
                <a:solidFill>
                  <a:schemeClr val="accent4"/>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r>
              <a:rPr lang="en-US" sz="6000" b="1" dirty="0">
                <a:solidFill>
                  <a:schemeClr val="bg1"/>
                </a:solidFill>
              </a:rPr>
              <a:t>Workers’ Compensation Insurance</a:t>
            </a:r>
          </a:p>
        </p:txBody>
      </p:sp>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03620" y="1850000"/>
            <a:ext cx="2656731" cy="1728144"/>
          </a:xfrm>
          <a:prstGeom prst="rect">
            <a:avLst/>
          </a:prstGeom>
        </p:spPr>
      </p:pic>
    </p:spTree>
    <p:extLst>
      <p:ext uri="{BB962C8B-B14F-4D97-AF65-F5344CB8AC3E}">
        <p14:creationId xmlns:p14="http://schemas.microsoft.com/office/powerpoint/2010/main" val="1147875162"/>
      </p:ext>
    </p:extLst>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30" name="TextBox 29"/>
          <p:cNvSpPr txBox="1"/>
          <p:nvPr/>
        </p:nvSpPr>
        <p:spPr>
          <a:xfrm>
            <a:off x="36281" y="26366"/>
            <a:ext cx="12165823" cy="833238"/>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defPPr>
              <a:defRPr lang="en-US"/>
            </a:defPPr>
            <a:lvl1pPr eaLnBrk="0" hangingPunct="0">
              <a:defRPr sz="2800" b="1">
                <a:solidFill>
                  <a:srgbClr val="205595"/>
                </a:solidFill>
                <a:latin typeface="Arial"/>
                <a:ea typeface="+mj-ea"/>
                <a:cs typeface="Arial"/>
              </a:defRPr>
            </a:lvl1pPr>
            <a:lvl2pPr algn="ctr" eaLnBrk="0" hangingPunct="0">
              <a:defRPr sz="4400">
                <a:latin typeface="Calibri" pitchFamily="34" charset="0"/>
              </a:defRPr>
            </a:lvl2pPr>
            <a:lvl3pPr algn="ctr" eaLnBrk="0" hangingPunct="0">
              <a:defRPr sz="4400">
                <a:latin typeface="Calibri" pitchFamily="34" charset="0"/>
              </a:defRPr>
            </a:lvl3pPr>
            <a:lvl4pPr algn="ctr" eaLnBrk="0" hangingPunct="0">
              <a:defRPr sz="4400">
                <a:latin typeface="Calibri" pitchFamily="34" charset="0"/>
              </a:defRPr>
            </a:lvl4pPr>
            <a:lvl5pPr algn="ctr" eaLnBrk="0" hangingPunct="0">
              <a:defRPr sz="4400">
                <a:latin typeface="Calibri" pitchFamily="34" charset="0"/>
              </a:defRPr>
            </a:lvl5pPr>
            <a:lvl6pPr marL="457200" algn="ctr" fontAlgn="base">
              <a:spcBef>
                <a:spcPct val="0"/>
              </a:spcBef>
              <a:spcAft>
                <a:spcPct val="0"/>
              </a:spcAft>
              <a:defRPr sz="4400">
                <a:latin typeface="Calibri" pitchFamily="34" charset="0"/>
              </a:defRPr>
            </a:lvl6pPr>
            <a:lvl7pPr marL="914400" algn="ctr" fontAlgn="base">
              <a:spcBef>
                <a:spcPct val="0"/>
              </a:spcBef>
              <a:spcAft>
                <a:spcPct val="0"/>
              </a:spcAft>
              <a:defRPr sz="4400">
                <a:latin typeface="Calibri" pitchFamily="34" charset="0"/>
              </a:defRPr>
            </a:lvl7pPr>
            <a:lvl8pPr marL="1371600" algn="ctr" fontAlgn="base">
              <a:spcBef>
                <a:spcPct val="0"/>
              </a:spcBef>
              <a:spcAft>
                <a:spcPct val="0"/>
              </a:spcAft>
              <a:defRPr sz="4400">
                <a:latin typeface="Calibri" pitchFamily="34" charset="0"/>
              </a:defRPr>
            </a:lvl8pPr>
            <a:lvl9pPr marL="1828800" algn="ctr" fontAlgn="base">
              <a:spcBef>
                <a:spcPct val="0"/>
              </a:spcBef>
              <a:spcAft>
                <a:spcPct val="0"/>
              </a:spcAft>
              <a:defRPr sz="4400">
                <a:latin typeface="Calibri" pitchFamily="34" charset="0"/>
              </a:defRPr>
            </a:lvl9pPr>
          </a:lstStyle>
          <a:p>
            <a:pPr>
              <a:buSzPct val="120000"/>
            </a:pPr>
            <a:r>
              <a:rPr lang="en-US" altLang="en-US" sz="3454" dirty="0">
                <a:solidFill>
                  <a:schemeClr val="tx1"/>
                </a:solidFill>
                <a:latin typeface="Segoe UI Semibold" panose="020B0702040204020203" pitchFamily="34" charset="0"/>
                <a:cs typeface="BrowalliaUPC" panose="020B0604020202020204" pitchFamily="34" charset="-34"/>
              </a:rPr>
              <a:t> Objectives</a:t>
            </a:r>
          </a:p>
        </p:txBody>
      </p:sp>
      <p:sp>
        <p:nvSpPr>
          <p:cNvPr id="12" name="Content Placeholder 2"/>
          <p:cNvSpPr txBox="1">
            <a:spLocks/>
          </p:cNvSpPr>
          <p:nvPr/>
        </p:nvSpPr>
        <p:spPr bwMode="auto">
          <a:xfrm>
            <a:off x="620785" y="1089281"/>
            <a:ext cx="8879998" cy="1503810"/>
          </a:xfrm>
          <a:prstGeom prst="rect">
            <a:avLst/>
          </a:prstGeom>
          <a:noFill/>
          <a:ln>
            <a:miter lim="800000"/>
            <a:headEnd/>
            <a:tailEnd/>
          </a:ln>
        </p:spPr>
        <p:txBody>
          <a:bodyPr/>
          <a:lstStyle/>
          <a:p>
            <a:pPr marL="338374" indent="-338374">
              <a:spcBef>
                <a:spcPct val="20000"/>
              </a:spcBef>
              <a:buClr>
                <a:schemeClr val="tx1"/>
              </a:buClr>
              <a:buFont typeface="Wingdings" pitchFamily="2" charset="2"/>
              <a:buChar char="v"/>
              <a:defRPr/>
            </a:pPr>
            <a:r>
              <a:rPr lang="en-US" sz="1579" b="1" dirty="0">
                <a:solidFill>
                  <a:srgbClr val="C00000"/>
                </a:solidFill>
                <a:latin typeface="Segoe UI Light" panose="020B0502040204020203" pitchFamily="34" charset="0"/>
              </a:rPr>
              <a:t>Section 1 – WC introduction</a:t>
            </a:r>
          </a:p>
          <a:p>
            <a:pPr marL="742950" lvl="1" indent="-285750">
              <a:spcBef>
                <a:spcPct val="20000"/>
              </a:spcBef>
              <a:buClr>
                <a:schemeClr val="tx1"/>
              </a:buClr>
              <a:buFont typeface="Arial" panose="020B0604020202020204" pitchFamily="34" charset="0"/>
              <a:buChar char="•"/>
              <a:defRPr/>
            </a:pPr>
            <a:r>
              <a:rPr lang="en-IN" sz="1579" dirty="0">
                <a:latin typeface="Segoe UI Light" panose="020B0502040204020203" pitchFamily="34" charset="0"/>
              </a:rPr>
              <a:t>WC Concepts</a:t>
            </a:r>
          </a:p>
          <a:p>
            <a:pPr marL="742950" lvl="1" indent="-285750">
              <a:spcBef>
                <a:spcPct val="20000"/>
              </a:spcBef>
              <a:buClr>
                <a:schemeClr val="tx1"/>
              </a:buClr>
              <a:buFont typeface="Arial" panose="020B0604020202020204" pitchFamily="34" charset="0"/>
              <a:buChar char="•"/>
              <a:defRPr/>
            </a:pPr>
            <a:r>
              <a:rPr lang="en-US" sz="1579" dirty="0">
                <a:latin typeface="Segoe UI Light" panose="020B0502040204020203" pitchFamily="34" charset="0"/>
              </a:rPr>
              <a:t>Workers’ Compensation benefits</a:t>
            </a:r>
          </a:p>
          <a:p>
            <a:pPr marL="742950" lvl="1" indent="-285750">
              <a:spcBef>
                <a:spcPct val="20000"/>
              </a:spcBef>
              <a:buClr>
                <a:schemeClr val="tx1"/>
              </a:buClr>
              <a:buFont typeface="Arial" panose="020B0604020202020204" pitchFamily="34" charset="0"/>
              <a:buChar char="•"/>
              <a:defRPr/>
            </a:pPr>
            <a:r>
              <a:rPr lang="en-US" sz="1579" dirty="0">
                <a:latin typeface="Segoe UI Light" panose="020B0502040204020203" pitchFamily="34" charset="0"/>
              </a:rPr>
              <a:t>Workers Compensation  and Employers Liability Introduction</a:t>
            </a:r>
          </a:p>
          <a:p>
            <a:pPr marL="742950" lvl="1" indent="-285750">
              <a:spcBef>
                <a:spcPct val="20000"/>
              </a:spcBef>
              <a:buClr>
                <a:schemeClr val="tx1"/>
              </a:buClr>
              <a:buFont typeface="Arial" panose="020B0604020202020204" pitchFamily="34" charset="0"/>
              <a:buChar char="•"/>
              <a:defRPr/>
            </a:pPr>
            <a:r>
              <a:rPr lang="en-US" sz="1579" dirty="0">
                <a:latin typeface="Segoe UI Light" panose="020B0502040204020203" pitchFamily="34" charset="0"/>
              </a:rPr>
              <a:t>Workers Compensation Exclusions</a:t>
            </a:r>
          </a:p>
          <a:p>
            <a:pPr marL="338374" indent="-338374">
              <a:spcBef>
                <a:spcPct val="20000"/>
              </a:spcBef>
              <a:buClr>
                <a:schemeClr val="tx1"/>
              </a:buClr>
              <a:buFont typeface="Wingdings" pitchFamily="2" charset="2"/>
              <a:buChar char="v"/>
              <a:defRPr/>
            </a:pPr>
            <a:endParaRPr lang="en-US" sz="1579" b="1" dirty="0">
              <a:solidFill>
                <a:srgbClr val="C00000"/>
              </a:solidFill>
              <a:latin typeface="Segoe UI Light" panose="020B0502040204020203" pitchFamily="34" charset="0"/>
            </a:endParaRPr>
          </a:p>
          <a:p>
            <a:pPr marL="338374" indent="-338374">
              <a:spcBef>
                <a:spcPct val="20000"/>
              </a:spcBef>
              <a:buClr>
                <a:schemeClr val="tx1"/>
              </a:buClr>
              <a:buFont typeface="Wingdings" pitchFamily="2" charset="2"/>
              <a:buChar char="v"/>
              <a:defRPr/>
            </a:pPr>
            <a:r>
              <a:rPr lang="en-US" sz="1579" b="1" dirty="0">
                <a:solidFill>
                  <a:srgbClr val="C00000"/>
                </a:solidFill>
                <a:latin typeface="Segoe UI Light" panose="020B0502040204020203" pitchFamily="34" charset="0"/>
              </a:rPr>
              <a:t>Section 2  -  Various Types of Insurance</a:t>
            </a:r>
          </a:p>
          <a:p>
            <a:pPr marL="742950" lvl="1" indent="-285750">
              <a:spcBef>
                <a:spcPct val="20000"/>
              </a:spcBef>
              <a:buClr>
                <a:schemeClr val="tx1"/>
              </a:buClr>
              <a:buFont typeface="Arial" panose="020B0604020202020204" pitchFamily="34" charset="0"/>
              <a:buChar char="•"/>
              <a:defRPr/>
            </a:pPr>
            <a:r>
              <a:rPr lang="en-US" sz="1579" dirty="0">
                <a:latin typeface="Segoe UI Light" panose="020B0502040204020203" pitchFamily="34" charset="0"/>
              </a:rPr>
              <a:t>Premium Setting and Cost</a:t>
            </a:r>
          </a:p>
          <a:p>
            <a:pPr marL="742950" lvl="1" indent="-285750">
              <a:spcBef>
                <a:spcPct val="20000"/>
              </a:spcBef>
              <a:buClr>
                <a:schemeClr val="tx1"/>
              </a:buClr>
              <a:buFont typeface="Arial" panose="020B0604020202020204" pitchFamily="34" charset="0"/>
              <a:buChar char="•"/>
              <a:defRPr/>
            </a:pPr>
            <a:r>
              <a:rPr lang="en-US" sz="1579" dirty="0">
                <a:latin typeface="Segoe UI Light" panose="020B0502040204020203" pitchFamily="34" charset="0"/>
              </a:rPr>
              <a:t>Classification , Premium Calculation and Algorithm in brief</a:t>
            </a:r>
          </a:p>
          <a:p>
            <a:pPr marL="742950" lvl="1" indent="-285750">
              <a:spcBef>
                <a:spcPct val="20000"/>
              </a:spcBef>
              <a:buClr>
                <a:schemeClr val="tx1"/>
              </a:buClr>
              <a:buFont typeface="Arial" panose="020B0604020202020204" pitchFamily="34" charset="0"/>
              <a:buChar char="•"/>
              <a:defRPr/>
            </a:pPr>
            <a:r>
              <a:rPr lang="en-US" sz="1579" dirty="0">
                <a:latin typeface="Segoe UI Light" panose="020B0502040204020203" pitchFamily="34" charset="0"/>
              </a:rPr>
              <a:t>Deductibles, Rate establishment and rating overview</a:t>
            </a:r>
          </a:p>
          <a:p>
            <a:pPr marL="742950" lvl="1" indent="-285750">
              <a:spcBef>
                <a:spcPct val="20000"/>
              </a:spcBef>
              <a:buClr>
                <a:schemeClr val="tx1"/>
              </a:buClr>
              <a:buFont typeface="Arial" panose="020B0604020202020204" pitchFamily="34" charset="0"/>
              <a:buChar char="•"/>
              <a:defRPr/>
            </a:pPr>
            <a:r>
              <a:rPr lang="en-US" sz="1579" dirty="0">
                <a:latin typeface="Segoe UI Light" panose="020B0502040204020203" pitchFamily="34" charset="0"/>
              </a:rPr>
              <a:t>State wise Bureau List</a:t>
            </a:r>
          </a:p>
          <a:p>
            <a:pPr marL="742950" lvl="1" indent="-285750">
              <a:spcBef>
                <a:spcPct val="20000"/>
              </a:spcBef>
              <a:buClr>
                <a:schemeClr val="tx1"/>
              </a:buClr>
              <a:buFont typeface="Arial" panose="020B0604020202020204" pitchFamily="34" charset="0"/>
              <a:buChar char="•"/>
              <a:defRPr/>
            </a:pPr>
            <a:r>
              <a:rPr lang="en-US" sz="1579" dirty="0">
                <a:latin typeface="Segoe UI Light" panose="020B0502040204020203" pitchFamily="34" charset="0"/>
              </a:rPr>
              <a:t>WC Forms for employers</a:t>
            </a:r>
          </a:p>
          <a:p>
            <a:pPr marL="742950" lvl="1" indent="-285750">
              <a:spcBef>
                <a:spcPct val="20000"/>
              </a:spcBef>
              <a:buClr>
                <a:schemeClr val="tx1"/>
              </a:buClr>
              <a:buFont typeface="Arial" panose="020B0604020202020204" pitchFamily="34" charset="0"/>
              <a:buChar char="•"/>
              <a:defRPr/>
            </a:pPr>
            <a:r>
              <a:rPr lang="en-US" sz="1579" dirty="0">
                <a:latin typeface="Segoe UI Light" panose="020B0502040204020203" pitchFamily="34" charset="0"/>
              </a:rPr>
              <a:t>Filing a Claim</a:t>
            </a:r>
          </a:p>
          <a:p>
            <a:pPr marL="742950" lvl="1" indent="-285750">
              <a:spcBef>
                <a:spcPct val="20000"/>
              </a:spcBef>
              <a:buClr>
                <a:schemeClr val="tx1"/>
              </a:buClr>
              <a:buFont typeface="Arial" panose="020B0604020202020204" pitchFamily="34" charset="0"/>
              <a:buChar char="•"/>
              <a:defRPr/>
            </a:pPr>
            <a:r>
              <a:rPr lang="en-US" sz="1579" dirty="0">
                <a:latin typeface="Segoe UI Light" panose="020B0502040204020203" pitchFamily="34" charset="0"/>
              </a:rPr>
              <a:t>Claim Settlement</a:t>
            </a:r>
          </a:p>
          <a:p>
            <a:pPr marL="742950" lvl="1" indent="-285750">
              <a:spcBef>
                <a:spcPct val="20000"/>
              </a:spcBef>
              <a:buClr>
                <a:schemeClr val="tx1"/>
              </a:buClr>
              <a:buFont typeface="Arial" panose="020B0604020202020204" pitchFamily="34" charset="0"/>
              <a:buChar char="•"/>
              <a:defRPr/>
            </a:pPr>
            <a:r>
              <a:rPr lang="en-US" sz="1579" dirty="0">
                <a:latin typeface="Segoe UI Light" panose="020B0502040204020203" pitchFamily="34" charset="0"/>
              </a:rPr>
              <a:t>WC Terminologies</a:t>
            </a:r>
          </a:p>
          <a:p>
            <a:pPr marL="285750" indent="-285750">
              <a:spcBef>
                <a:spcPct val="20000"/>
              </a:spcBef>
              <a:buClr>
                <a:schemeClr val="tx1"/>
              </a:buClr>
              <a:buFont typeface="Arial" panose="020B0604020202020204" pitchFamily="34" charset="0"/>
              <a:buChar char="•"/>
              <a:defRPr/>
            </a:pPr>
            <a:endParaRPr lang="en-US" sz="1579" dirty="0">
              <a:latin typeface="Segoe UI Light" panose="020B0502040204020203" pitchFamily="34" charset="0"/>
            </a:endParaRPr>
          </a:p>
          <a:p>
            <a:pPr marL="338374" indent="-338374">
              <a:spcBef>
                <a:spcPct val="20000"/>
              </a:spcBef>
              <a:buClr>
                <a:schemeClr val="tx1"/>
              </a:buClr>
              <a:buFont typeface="Wingdings" pitchFamily="2" charset="2"/>
              <a:buChar char="v"/>
              <a:defRPr/>
            </a:pPr>
            <a:r>
              <a:rPr lang="en-US" sz="1579" b="1" dirty="0">
                <a:solidFill>
                  <a:srgbClr val="C00000"/>
                </a:solidFill>
                <a:latin typeface="Segoe UI Light" panose="020B0502040204020203" pitchFamily="34" charset="0"/>
              </a:rPr>
              <a:t>Section 3 – WC Implementation</a:t>
            </a:r>
          </a:p>
          <a:p>
            <a:pPr marL="742950" lvl="1" indent="-285750">
              <a:spcBef>
                <a:spcPct val="20000"/>
              </a:spcBef>
              <a:buClr>
                <a:schemeClr val="tx1"/>
              </a:buClr>
              <a:buFont typeface="Arial" panose="020B0604020202020204" pitchFamily="34" charset="0"/>
              <a:buChar char="•"/>
              <a:defRPr/>
            </a:pPr>
            <a:r>
              <a:rPr lang="en-US" sz="1579" b="1" dirty="0">
                <a:solidFill>
                  <a:srgbClr val="C00000"/>
                </a:solidFill>
                <a:latin typeface="Segoe UI Light" panose="020B0502040204020203" pitchFamily="34" charset="0"/>
              </a:rPr>
              <a:t>       </a:t>
            </a:r>
            <a:r>
              <a:rPr lang="en-US" sz="1579" dirty="0">
                <a:latin typeface="Segoe UI Light" panose="020B0502040204020203" pitchFamily="34" charset="0"/>
              </a:rPr>
              <a:t>WC software and Implementations</a:t>
            </a:r>
          </a:p>
        </p:txBody>
      </p:sp>
      <p:pic>
        <p:nvPicPr>
          <p:cNvPr id="13" name="Picture 12"/>
          <p:cNvPicPr>
            <a:picLocks noChangeAspect="1"/>
          </p:cNvPicPr>
          <p:nvPr/>
        </p:nvPicPr>
        <p:blipFill>
          <a:blip r:embed="rId3"/>
          <a:stretch>
            <a:fillRect/>
          </a:stretch>
        </p:blipFill>
        <p:spPr>
          <a:xfrm>
            <a:off x="8728787" y="4248467"/>
            <a:ext cx="2757241" cy="1436248"/>
          </a:xfrm>
          <a:prstGeom prst="rect">
            <a:avLst/>
          </a:prstGeom>
        </p:spPr>
      </p:pic>
      <p:pic>
        <p:nvPicPr>
          <p:cNvPr id="2050" name="Picture 2" descr="http://www.belrim.com/app/uploads/2013/11/target-thumb1.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97967" y="1588123"/>
            <a:ext cx="2725656" cy="2086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4828289"/>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fade">
                                      <p:cBhvr>
                                        <p:cTn id="7" dur="1000"/>
                                        <p:tgtEl>
                                          <p:spTgt spid="12">
                                            <p:txEl>
                                              <p:pRg st="0" end="0"/>
                                            </p:txEl>
                                          </p:spTgt>
                                        </p:tgtEl>
                                      </p:cBhvr>
                                    </p:animEffect>
                                    <p:anim calcmode="lin" valueType="num">
                                      <p:cBhvr>
                                        <p:cTn id="8"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fade">
                                      <p:cBhvr>
                                        <p:cTn id="12" dur="1000"/>
                                        <p:tgtEl>
                                          <p:spTgt spid="12">
                                            <p:txEl>
                                              <p:pRg st="1" end="1"/>
                                            </p:txEl>
                                          </p:spTgt>
                                        </p:tgtEl>
                                      </p:cBhvr>
                                    </p:animEffect>
                                    <p:anim calcmode="lin" valueType="num">
                                      <p:cBhvr>
                                        <p:cTn id="13"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2">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fade">
                                      <p:cBhvr>
                                        <p:cTn id="17" dur="1000"/>
                                        <p:tgtEl>
                                          <p:spTgt spid="12">
                                            <p:txEl>
                                              <p:pRg st="2" end="2"/>
                                            </p:txEl>
                                          </p:spTgt>
                                        </p:tgtEl>
                                      </p:cBhvr>
                                    </p:animEffect>
                                    <p:anim calcmode="lin" valueType="num">
                                      <p:cBhvr>
                                        <p:cTn id="18"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2">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2">
                                            <p:txEl>
                                              <p:pRg st="3" end="3"/>
                                            </p:txEl>
                                          </p:spTgt>
                                        </p:tgtEl>
                                        <p:attrNameLst>
                                          <p:attrName>style.visibility</p:attrName>
                                        </p:attrNameLst>
                                      </p:cBhvr>
                                      <p:to>
                                        <p:strVal val="visible"/>
                                      </p:to>
                                    </p:set>
                                    <p:animEffect transition="in" filter="fade">
                                      <p:cBhvr>
                                        <p:cTn id="22" dur="1000"/>
                                        <p:tgtEl>
                                          <p:spTgt spid="12">
                                            <p:txEl>
                                              <p:pRg st="3" end="3"/>
                                            </p:txEl>
                                          </p:spTgt>
                                        </p:tgtEl>
                                      </p:cBhvr>
                                    </p:animEffect>
                                    <p:anim calcmode="lin" valueType="num">
                                      <p:cBhvr>
                                        <p:cTn id="23" dur="1000" fill="hold"/>
                                        <p:tgtEl>
                                          <p:spTgt spid="12">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12">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2">
                                            <p:txEl>
                                              <p:pRg st="4" end="4"/>
                                            </p:txEl>
                                          </p:spTgt>
                                        </p:tgtEl>
                                        <p:attrNameLst>
                                          <p:attrName>style.visibility</p:attrName>
                                        </p:attrNameLst>
                                      </p:cBhvr>
                                      <p:to>
                                        <p:strVal val="visible"/>
                                      </p:to>
                                    </p:set>
                                    <p:animEffect transition="in" filter="fade">
                                      <p:cBhvr>
                                        <p:cTn id="27" dur="1000"/>
                                        <p:tgtEl>
                                          <p:spTgt spid="12">
                                            <p:txEl>
                                              <p:pRg st="4" end="4"/>
                                            </p:txEl>
                                          </p:spTgt>
                                        </p:tgtEl>
                                      </p:cBhvr>
                                    </p:animEffect>
                                    <p:anim calcmode="lin" valueType="num">
                                      <p:cBhvr>
                                        <p:cTn id="28" dur="10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1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2">
                                            <p:txEl>
                                              <p:pRg st="6" end="6"/>
                                            </p:txEl>
                                          </p:spTgt>
                                        </p:tgtEl>
                                        <p:attrNameLst>
                                          <p:attrName>style.visibility</p:attrName>
                                        </p:attrNameLst>
                                      </p:cBhvr>
                                      <p:to>
                                        <p:strVal val="visible"/>
                                      </p:to>
                                    </p:set>
                                    <p:animEffect transition="in" filter="fade">
                                      <p:cBhvr>
                                        <p:cTn id="34" dur="1000"/>
                                        <p:tgtEl>
                                          <p:spTgt spid="12">
                                            <p:txEl>
                                              <p:pRg st="6" end="6"/>
                                            </p:txEl>
                                          </p:spTgt>
                                        </p:tgtEl>
                                      </p:cBhvr>
                                    </p:animEffect>
                                    <p:anim calcmode="lin" valueType="num">
                                      <p:cBhvr>
                                        <p:cTn id="35" dur="1000" fill="hold"/>
                                        <p:tgtEl>
                                          <p:spTgt spid="12">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12">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2">
                                            <p:txEl>
                                              <p:pRg st="7" end="7"/>
                                            </p:txEl>
                                          </p:spTgt>
                                        </p:tgtEl>
                                        <p:attrNameLst>
                                          <p:attrName>style.visibility</p:attrName>
                                        </p:attrNameLst>
                                      </p:cBhvr>
                                      <p:to>
                                        <p:strVal val="visible"/>
                                      </p:to>
                                    </p:set>
                                    <p:animEffect transition="in" filter="fade">
                                      <p:cBhvr>
                                        <p:cTn id="39" dur="1000"/>
                                        <p:tgtEl>
                                          <p:spTgt spid="12">
                                            <p:txEl>
                                              <p:pRg st="7" end="7"/>
                                            </p:txEl>
                                          </p:spTgt>
                                        </p:tgtEl>
                                      </p:cBhvr>
                                    </p:animEffect>
                                    <p:anim calcmode="lin" valueType="num">
                                      <p:cBhvr>
                                        <p:cTn id="40" dur="1000" fill="hold"/>
                                        <p:tgtEl>
                                          <p:spTgt spid="12">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12">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2">
                                            <p:txEl>
                                              <p:pRg st="8" end="8"/>
                                            </p:txEl>
                                          </p:spTgt>
                                        </p:tgtEl>
                                        <p:attrNameLst>
                                          <p:attrName>style.visibility</p:attrName>
                                        </p:attrNameLst>
                                      </p:cBhvr>
                                      <p:to>
                                        <p:strVal val="visible"/>
                                      </p:to>
                                    </p:set>
                                    <p:animEffect transition="in" filter="fade">
                                      <p:cBhvr>
                                        <p:cTn id="44" dur="1000"/>
                                        <p:tgtEl>
                                          <p:spTgt spid="12">
                                            <p:txEl>
                                              <p:pRg st="8" end="8"/>
                                            </p:txEl>
                                          </p:spTgt>
                                        </p:tgtEl>
                                      </p:cBhvr>
                                    </p:animEffect>
                                    <p:anim calcmode="lin" valueType="num">
                                      <p:cBhvr>
                                        <p:cTn id="45" dur="1000" fill="hold"/>
                                        <p:tgtEl>
                                          <p:spTgt spid="12">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12">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2">
                                            <p:txEl>
                                              <p:pRg st="9" end="9"/>
                                            </p:txEl>
                                          </p:spTgt>
                                        </p:tgtEl>
                                        <p:attrNameLst>
                                          <p:attrName>style.visibility</p:attrName>
                                        </p:attrNameLst>
                                      </p:cBhvr>
                                      <p:to>
                                        <p:strVal val="visible"/>
                                      </p:to>
                                    </p:set>
                                    <p:animEffect transition="in" filter="fade">
                                      <p:cBhvr>
                                        <p:cTn id="49" dur="1000"/>
                                        <p:tgtEl>
                                          <p:spTgt spid="12">
                                            <p:txEl>
                                              <p:pRg st="9" end="9"/>
                                            </p:txEl>
                                          </p:spTgt>
                                        </p:tgtEl>
                                      </p:cBhvr>
                                    </p:animEffect>
                                    <p:anim calcmode="lin" valueType="num">
                                      <p:cBhvr>
                                        <p:cTn id="50" dur="1000" fill="hold"/>
                                        <p:tgtEl>
                                          <p:spTgt spid="12">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12">
                                            <p:txEl>
                                              <p:pRg st="9" end="9"/>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12">
                                            <p:txEl>
                                              <p:pRg st="10" end="10"/>
                                            </p:txEl>
                                          </p:spTgt>
                                        </p:tgtEl>
                                        <p:attrNameLst>
                                          <p:attrName>style.visibility</p:attrName>
                                        </p:attrNameLst>
                                      </p:cBhvr>
                                      <p:to>
                                        <p:strVal val="visible"/>
                                      </p:to>
                                    </p:set>
                                    <p:animEffect transition="in" filter="fade">
                                      <p:cBhvr>
                                        <p:cTn id="54" dur="1000"/>
                                        <p:tgtEl>
                                          <p:spTgt spid="12">
                                            <p:txEl>
                                              <p:pRg st="10" end="10"/>
                                            </p:txEl>
                                          </p:spTgt>
                                        </p:tgtEl>
                                      </p:cBhvr>
                                    </p:animEffect>
                                    <p:anim calcmode="lin" valueType="num">
                                      <p:cBhvr>
                                        <p:cTn id="55" dur="1000" fill="hold"/>
                                        <p:tgtEl>
                                          <p:spTgt spid="12">
                                            <p:txEl>
                                              <p:pRg st="10" end="10"/>
                                            </p:txEl>
                                          </p:spTgt>
                                        </p:tgtEl>
                                        <p:attrNameLst>
                                          <p:attrName>ppt_x</p:attrName>
                                        </p:attrNameLst>
                                      </p:cBhvr>
                                      <p:tavLst>
                                        <p:tav tm="0">
                                          <p:val>
                                            <p:strVal val="#ppt_x"/>
                                          </p:val>
                                        </p:tav>
                                        <p:tav tm="100000">
                                          <p:val>
                                            <p:strVal val="#ppt_x"/>
                                          </p:val>
                                        </p:tav>
                                      </p:tavLst>
                                    </p:anim>
                                    <p:anim calcmode="lin" valueType="num">
                                      <p:cBhvr>
                                        <p:cTn id="56" dur="1000" fill="hold"/>
                                        <p:tgtEl>
                                          <p:spTgt spid="12">
                                            <p:txEl>
                                              <p:pRg st="10" end="10"/>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12">
                                            <p:txEl>
                                              <p:pRg st="11" end="11"/>
                                            </p:txEl>
                                          </p:spTgt>
                                        </p:tgtEl>
                                        <p:attrNameLst>
                                          <p:attrName>style.visibility</p:attrName>
                                        </p:attrNameLst>
                                      </p:cBhvr>
                                      <p:to>
                                        <p:strVal val="visible"/>
                                      </p:to>
                                    </p:set>
                                    <p:animEffect transition="in" filter="fade">
                                      <p:cBhvr>
                                        <p:cTn id="59" dur="1000"/>
                                        <p:tgtEl>
                                          <p:spTgt spid="12">
                                            <p:txEl>
                                              <p:pRg st="11" end="11"/>
                                            </p:txEl>
                                          </p:spTgt>
                                        </p:tgtEl>
                                      </p:cBhvr>
                                    </p:animEffect>
                                    <p:anim calcmode="lin" valueType="num">
                                      <p:cBhvr>
                                        <p:cTn id="60" dur="1000" fill="hold"/>
                                        <p:tgtEl>
                                          <p:spTgt spid="12">
                                            <p:txEl>
                                              <p:pRg st="11" end="11"/>
                                            </p:txEl>
                                          </p:spTgt>
                                        </p:tgtEl>
                                        <p:attrNameLst>
                                          <p:attrName>ppt_x</p:attrName>
                                        </p:attrNameLst>
                                      </p:cBhvr>
                                      <p:tavLst>
                                        <p:tav tm="0">
                                          <p:val>
                                            <p:strVal val="#ppt_x"/>
                                          </p:val>
                                        </p:tav>
                                        <p:tav tm="100000">
                                          <p:val>
                                            <p:strVal val="#ppt_x"/>
                                          </p:val>
                                        </p:tav>
                                      </p:tavLst>
                                    </p:anim>
                                    <p:anim calcmode="lin" valueType="num">
                                      <p:cBhvr>
                                        <p:cTn id="61" dur="1000" fill="hold"/>
                                        <p:tgtEl>
                                          <p:spTgt spid="12">
                                            <p:txEl>
                                              <p:pRg st="11" end="11"/>
                                            </p:txEl>
                                          </p:spTgt>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12">
                                            <p:txEl>
                                              <p:pRg st="12" end="12"/>
                                            </p:txEl>
                                          </p:spTgt>
                                        </p:tgtEl>
                                        <p:attrNameLst>
                                          <p:attrName>style.visibility</p:attrName>
                                        </p:attrNameLst>
                                      </p:cBhvr>
                                      <p:to>
                                        <p:strVal val="visible"/>
                                      </p:to>
                                    </p:set>
                                    <p:animEffect transition="in" filter="fade">
                                      <p:cBhvr>
                                        <p:cTn id="64" dur="1000"/>
                                        <p:tgtEl>
                                          <p:spTgt spid="12">
                                            <p:txEl>
                                              <p:pRg st="12" end="12"/>
                                            </p:txEl>
                                          </p:spTgt>
                                        </p:tgtEl>
                                      </p:cBhvr>
                                    </p:animEffect>
                                    <p:anim calcmode="lin" valueType="num">
                                      <p:cBhvr>
                                        <p:cTn id="65" dur="1000" fill="hold"/>
                                        <p:tgtEl>
                                          <p:spTgt spid="12">
                                            <p:txEl>
                                              <p:pRg st="12" end="12"/>
                                            </p:txEl>
                                          </p:spTgt>
                                        </p:tgtEl>
                                        <p:attrNameLst>
                                          <p:attrName>ppt_x</p:attrName>
                                        </p:attrNameLst>
                                      </p:cBhvr>
                                      <p:tavLst>
                                        <p:tav tm="0">
                                          <p:val>
                                            <p:strVal val="#ppt_x"/>
                                          </p:val>
                                        </p:tav>
                                        <p:tav tm="100000">
                                          <p:val>
                                            <p:strVal val="#ppt_x"/>
                                          </p:val>
                                        </p:tav>
                                      </p:tavLst>
                                    </p:anim>
                                    <p:anim calcmode="lin" valueType="num">
                                      <p:cBhvr>
                                        <p:cTn id="66" dur="1000" fill="hold"/>
                                        <p:tgtEl>
                                          <p:spTgt spid="12">
                                            <p:txEl>
                                              <p:pRg st="12" end="12"/>
                                            </p:txEl>
                                          </p:spTgt>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12">
                                            <p:txEl>
                                              <p:pRg st="13" end="13"/>
                                            </p:txEl>
                                          </p:spTgt>
                                        </p:tgtEl>
                                        <p:attrNameLst>
                                          <p:attrName>style.visibility</p:attrName>
                                        </p:attrNameLst>
                                      </p:cBhvr>
                                      <p:to>
                                        <p:strVal val="visible"/>
                                      </p:to>
                                    </p:set>
                                    <p:animEffect transition="in" filter="fade">
                                      <p:cBhvr>
                                        <p:cTn id="69" dur="1000"/>
                                        <p:tgtEl>
                                          <p:spTgt spid="12">
                                            <p:txEl>
                                              <p:pRg st="13" end="13"/>
                                            </p:txEl>
                                          </p:spTgt>
                                        </p:tgtEl>
                                      </p:cBhvr>
                                    </p:animEffect>
                                    <p:anim calcmode="lin" valueType="num">
                                      <p:cBhvr>
                                        <p:cTn id="70" dur="1000" fill="hold"/>
                                        <p:tgtEl>
                                          <p:spTgt spid="12">
                                            <p:txEl>
                                              <p:pRg st="13" end="13"/>
                                            </p:txEl>
                                          </p:spTgt>
                                        </p:tgtEl>
                                        <p:attrNameLst>
                                          <p:attrName>ppt_x</p:attrName>
                                        </p:attrNameLst>
                                      </p:cBhvr>
                                      <p:tavLst>
                                        <p:tav tm="0">
                                          <p:val>
                                            <p:strVal val="#ppt_x"/>
                                          </p:val>
                                        </p:tav>
                                        <p:tav tm="100000">
                                          <p:val>
                                            <p:strVal val="#ppt_x"/>
                                          </p:val>
                                        </p:tav>
                                      </p:tavLst>
                                    </p:anim>
                                    <p:anim calcmode="lin" valueType="num">
                                      <p:cBhvr>
                                        <p:cTn id="71" dur="1000" fill="hold"/>
                                        <p:tgtEl>
                                          <p:spTgt spid="12">
                                            <p:txEl>
                                              <p:pRg st="13" end="13"/>
                                            </p:txEl>
                                          </p:spTgt>
                                        </p:tgtEl>
                                        <p:attrNameLst>
                                          <p:attrName>ppt_y</p:attrName>
                                        </p:attrNameLst>
                                      </p:cBhvr>
                                      <p:tavLst>
                                        <p:tav tm="0">
                                          <p:val>
                                            <p:strVal val="#ppt_y+.1"/>
                                          </p:val>
                                        </p:tav>
                                        <p:tav tm="100000">
                                          <p:val>
                                            <p:strVal val="#ppt_y"/>
                                          </p:val>
                                        </p:tav>
                                      </p:tavLst>
                                    </p:anim>
                                  </p:childTnLst>
                                </p:cTn>
                              </p:par>
                              <p:par>
                                <p:cTn id="72" presetID="42" presetClass="entr" presetSubtype="0" fill="hold" nodeType="withEffect">
                                  <p:stCondLst>
                                    <p:cond delay="0"/>
                                  </p:stCondLst>
                                  <p:childTnLst>
                                    <p:set>
                                      <p:cBhvr>
                                        <p:cTn id="73" dur="1" fill="hold">
                                          <p:stCondLst>
                                            <p:cond delay="0"/>
                                          </p:stCondLst>
                                        </p:cTn>
                                        <p:tgtEl>
                                          <p:spTgt spid="12">
                                            <p:txEl>
                                              <p:pRg st="14" end="14"/>
                                            </p:txEl>
                                          </p:spTgt>
                                        </p:tgtEl>
                                        <p:attrNameLst>
                                          <p:attrName>style.visibility</p:attrName>
                                        </p:attrNameLst>
                                      </p:cBhvr>
                                      <p:to>
                                        <p:strVal val="visible"/>
                                      </p:to>
                                    </p:set>
                                    <p:animEffect transition="in" filter="fade">
                                      <p:cBhvr>
                                        <p:cTn id="74" dur="1000"/>
                                        <p:tgtEl>
                                          <p:spTgt spid="12">
                                            <p:txEl>
                                              <p:pRg st="14" end="14"/>
                                            </p:txEl>
                                          </p:spTgt>
                                        </p:tgtEl>
                                      </p:cBhvr>
                                    </p:animEffect>
                                    <p:anim calcmode="lin" valueType="num">
                                      <p:cBhvr>
                                        <p:cTn id="75" dur="1000" fill="hold"/>
                                        <p:tgtEl>
                                          <p:spTgt spid="12">
                                            <p:txEl>
                                              <p:pRg st="14" end="14"/>
                                            </p:txEl>
                                          </p:spTgt>
                                        </p:tgtEl>
                                        <p:attrNameLst>
                                          <p:attrName>ppt_x</p:attrName>
                                        </p:attrNameLst>
                                      </p:cBhvr>
                                      <p:tavLst>
                                        <p:tav tm="0">
                                          <p:val>
                                            <p:strVal val="#ppt_x"/>
                                          </p:val>
                                        </p:tav>
                                        <p:tav tm="100000">
                                          <p:val>
                                            <p:strVal val="#ppt_x"/>
                                          </p:val>
                                        </p:tav>
                                      </p:tavLst>
                                    </p:anim>
                                    <p:anim calcmode="lin" valueType="num">
                                      <p:cBhvr>
                                        <p:cTn id="76" dur="1000" fill="hold"/>
                                        <p:tgtEl>
                                          <p:spTgt spid="12">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nodeType="clickEffect">
                                  <p:stCondLst>
                                    <p:cond delay="0"/>
                                  </p:stCondLst>
                                  <p:childTnLst>
                                    <p:set>
                                      <p:cBhvr>
                                        <p:cTn id="80" dur="1" fill="hold">
                                          <p:stCondLst>
                                            <p:cond delay="0"/>
                                          </p:stCondLst>
                                        </p:cTn>
                                        <p:tgtEl>
                                          <p:spTgt spid="12">
                                            <p:txEl>
                                              <p:pRg st="16" end="16"/>
                                            </p:txEl>
                                          </p:spTgt>
                                        </p:tgtEl>
                                        <p:attrNameLst>
                                          <p:attrName>style.visibility</p:attrName>
                                        </p:attrNameLst>
                                      </p:cBhvr>
                                      <p:to>
                                        <p:strVal val="visible"/>
                                      </p:to>
                                    </p:set>
                                    <p:animEffect transition="in" filter="fade">
                                      <p:cBhvr>
                                        <p:cTn id="81" dur="1000"/>
                                        <p:tgtEl>
                                          <p:spTgt spid="12">
                                            <p:txEl>
                                              <p:pRg st="16" end="16"/>
                                            </p:txEl>
                                          </p:spTgt>
                                        </p:tgtEl>
                                      </p:cBhvr>
                                    </p:animEffect>
                                    <p:anim calcmode="lin" valueType="num">
                                      <p:cBhvr>
                                        <p:cTn id="82" dur="1000" fill="hold"/>
                                        <p:tgtEl>
                                          <p:spTgt spid="12">
                                            <p:txEl>
                                              <p:pRg st="16" end="16"/>
                                            </p:txEl>
                                          </p:spTgt>
                                        </p:tgtEl>
                                        <p:attrNameLst>
                                          <p:attrName>ppt_x</p:attrName>
                                        </p:attrNameLst>
                                      </p:cBhvr>
                                      <p:tavLst>
                                        <p:tav tm="0">
                                          <p:val>
                                            <p:strVal val="#ppt_x"/>
                                          </p:val>
                                        </p:tav>
                                        <p:tav tm="100000">
                                          <p:val>
                                            <p:strVal val="#ppt_x"/>
                                          </p:val>
                                        </p:tav>
                                      </p:tavLst>
                                    </p:anim>
                                    <p:anim calcmode="lin" valueType="num">
                                      <p:cBhvr>
                                        <p:cTn id="83" dur="1000" fill="hold"/>
                                        <p:tgtEl>
                                          <p:spTgt spid="12">
                                            <p:txEl>
                                              <p:pRg st="16" end="16"/>
                                            </p:txEl>
                                          </p:spTgt>
                                        </p:tgtEl>
                                        <p:attrNameLst>
                                          <p:attrName>ppt_y</p:attrName>
                                        </p:attrNameLst>
                                      </p:cBhvr>
                                      <p:tavLst>
                                        <p:tav tm="0">
                                          <p:val>
                                            <p:strVal val="#ppt_y+.1"/>
                                          </p:val>
                                        </p:tav>
                                        <p:tav tm="100000">
                                          <p:val>
                                            <p:strVal val="#ppt_y"/>
                                          </p:val>
                                        </p:tav>
                                      </p:tavLst>
                                    </p:anim>
                                  </p:childTnLst>
                                </p:cTn>
                              </p:par>
                              <p:par>
                                <p:cTn id="84" presetID="42" presetClass="entr" presetSubtype="0" fill="hold" nodeType="withEffect">
                                  <p:stCondLst>
                                    <p:cond delay="0"/>
                                  </p:stCondLst>
                                  <p:childTnLst>
                                    <p:set>
                                      <p:cBhvr>
                                        <p:cTn id="85" dur="1" fill="hold">
                                          <p:stCondLst>
                                            <p:cond delay="0"/>
                                          </p:stCondLst>
                                        </p:cTn>
                                        <p:tgtEl>
                                          <p:spTgt spid="12">
                                            <p:txEl>
                                              <p:pRg st="17" end="17"/>
                                            </p:txEl>
                                          </p:spTgt>
                                        </p:tgtEl>
                                        <p:attrNameLst>
                                          <p:attrName>style.visibility</p:attrName>
                                        </p:attrNameLst>
                                      </p:cBhvr>
                                      <p:to>
                                        <p:strVal val="visible"/>
                                      </p:to>
                                    </p:set>
                                    <p:animEffect transition="in" filter="fade">
                                      <p:cBhvr>
                                        <p:cTn id="86" dur="1000"/>
                                        <p:tgtEl>
                                          <p:spTgt spid="12">
                                            <p:txEl>
                                              <p:pRg st="17" end="17"/>
                                            </p:txEl>
                                          </p:spTgt>
                                        </p:tgtEl>
                                      </p:cBhvr>
                                    </p:animEffect>
                                    <p:anim calcmode="lin" valueType="num">
                                      <p:cBhvr>
                                        <p:cTn id="87" dur="1000" fill="hold"/>
                                        <p:tgtEl>
                                          <p:spTgt spid="12">
                                            <p:txEl>
                                              <p:pRg st="17" end="17"/>
                                            </p:txEl>
                                          </p:spTgt>
                                        </p:tgtEl>
                                        <p:attrNameLst>
                                          <p:attrName>ppt_x</p:attrName>
                                        </p:attrNameLst>
                                      </p:cBhvr>
                                      <p:tavLst>
                                        <p:tav tm="0">
                                          <p:val>
                                            <p:strVal val="#ppt_x"/>
                                          </p:val>
                                        </p:tav>
                                        <p:tav tm="100000">
                                          <p:val>
                                            <p:strVal val="#ppt_x"/>
                                          </p:val>
                                        </p:tav>
                                      </p:tavLst>
                                    </p:anim>
                                    <p:anim calcmode="lin" valueType="num">
                                      <p:cBhvr>
                                        <p:cTn id="88" dur="1000" fill="hold"/>
                                        <p:tgtEl>
                                          <p:spTgt spid="12">
                                            <p:txEl>
                                              <p:pRg st="17" end="1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7999" y="2441037"/>
            <a:ext cx="7177825" cy="1698927"/>
          </a:xfrm>
          <a:prstGeom prst="rect">
            <a:avLst/>
          </a:prstGeom>
        </p:spPr>
        <p:txBody>
          <a:bodyPr wrap="square">
            <a:spAutoFit/>
          </a:bodyPr>
          <a:lstStyle/>
          <a:p>
            <a:pPr marL="338374" indent="-338374">
              <a:spcBef>
                <a:spcPct val="20000"/>
              </a:spcBef>
              <a:buClr>
                <a:schemeClr val="tx1"/>
              </a:buClr>
              <a:buFont typeface="Wingdings" pitchFamily="2" charset="2"/>
              <a:buChar char="v"/>
              <a:defRPr/>
            </a:pPr>
            <a:r>
              <a:rPr lang="en-US" b="1" dirty="0">
                <a:solidFill>
                  <a:srgbClr val="C00000"/>
                </a:solidFill>
                <a:latin typeface="Segoe UI Light" panose="020B0502040204020203" pitchFamily="34" charset="0"/>
              </a:rPr>
              <a:t>Section 1 – WC introduction</a:t>
            </a:r>
          </a:p>
          <a:p>
            <a:pPr marL="742950" lvl="1" indent="-285750">
              <a:spcBef>
                <a:spcPct val="20000"/>
              </a:spcBef>
              <a:buClr>
                <a:schemeClr val="tx1"/>
              </a:buClr>
              <a:buFont typeface="Arial" panose="020B0604020202020204" pitchFamily="34" charset="0"/>
              <a:buChar char="•"/>
              <a:defRPr/>
            </a:pPr>
            <a:r>
              <a:rPr lang="en-IN" dirty="0">
                <a:latin typeface="Segoe UI Light" panose="020B0502040204020203" pitchFamily="34" charset="0"/>
              </a:rPr>
              <a:t>WC Concepts</a:t>
            </a:r>
          </a:p>
          <a:p>
            <a:pPr marL="742950" lvl="1" indent="-285750">
              <a:spcBef>
                <a:spcPct val="20000"/>
              </a:spcBef>
              <a:buClr>
                <a:schemeClr val="tx1"/>
              </a:buClr>
              <a:buFont typeface="Arial" panose="020B0604020202020204" pitchFamily="34" charset="0"/>
              <a:buChar char="•"/>
              <a:defRPr/>
            </a:pPr>
            <a:r>
              <a:rPr lang="en-US" dirty="0">
                <a:latin typeface="Segoe UI Light" panose="020B0502040204020203" pitchFamily="34" charset="0"/>
              </a:rPr>
              <a:t>Workers’ Compensation benefits</a:t>
            </a:r>
          </a:p>
          <a:p>
            <a:pPr marL="742950" lvl="1" indent="-285750">
              <a:spcBef>
                <a:spcPct val="20000"/>
              </a:spcBef>
              <a:buClr>
                <a:schemeClr val="tx1"/>
              </a:buClr>
              <a:buFont typeface="Arial" panose="020B0604020202020204" pitchFamily="34" charset="0"/>
              <a:buChar char="•"/>
              <a:defRPr/>
            </a:pPr>
            <a:r>
              <a:rPr lang="en-US" dirty="0">
                <a:latin typeface="Segoe UI Light" panose="020B0502040204020203" pitchFamily="34" charset="0"/>
              </a:rPr>
              <a:t>Workers Compensation  and Employers Liability Introduction</a:t>
            </a:r>
          </a:p>
          <a:p>
            <a:pPr marL="742950" lvl="1" indent="-285750">
              <a:spcBef>
                <a:spcPct val="20000"/>
              </a:spcBef>
              <a:buClr>
                <a:schemeClr val="tx1"/>
              </a:buClr>
              <a:buFont typeface="Arial" panose="020B0604020202020204" pitchFamily="34" charset="0"/>
              <a:buChar char="•"/>
              <a:defRPr/>
            </a:pPr>
            <a:r>
              <a:rPr lang="en-US" dirty="0">
                <a:latin typeface="Segoe UI Light" panose="020B0502040204020203" pitchFamily="34" charset="0"/>
              </a:rPr>
              <a:t>Workers Compensation Exclusions</a:t>
            </a: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Tree>
    <p:extLst>
      <p:ext uri="{BB962C8B-B14F-4D97-AF65-F5344CB8AC3E}">
        <p14:creationId xmlns:p14="http://schemas.microsoft.com/office/powerpoint/2010/main" val="1355896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3" name="Rectangle 66"/>
          <p:cNvSpPr>
            <a:spLocks noChangeArrowheads="1"/>
          </p:cNvSpPr>
          <p:nvPr/>
        </p:nvSpPr>
        <p:spPr bwMode="auto">
          <a:xfrm>
            <a:off x="0" y="204047"/>
            <a:ext cx="7675808" cy="721597"/>
          </a:xfrm>
          <a:prstGeom prst="rect">
            <a:avLst/>
          </a:prstGeom>
          <a:noFill/>
          <a:ln w="9525">
            <a:noFill/>
            <a:miter lim="800000"/>
            <a:headEnd/>
            <a:tailEnd/>
          </a:ln>
        </p:spPr>
        <p:txBody>
          <a:bodyPr vert="horz" wrap="square" lIns="108788" tIns="108788" rIns="108788" bIns="108788" numCol="1" anchor="ctr" anchorCtr="0" compatLnSpc="1">
            <a:prstTxWarp prst="textNoShape">
              <a:avLst/>
            </a:prstTxWarp>
          </a:bodyPr>
          <a:lstStyle/>
          <a:p>
            <a:pPr lvl="1" eaLnBrk="0" hangingPunct="0"/>
            <a:r>
              <a:rPr lang="en-IN" sz="2800" dirty="0">
                <a:latin typeface="Calibri" pitchFamily="34" charset="0"/>
              </a:rPr>
              <a:t>Workers Compensation Introduction </a:t>
            </a:r>
            <a:endParaRPr lang="en-IN" sz="4000" dirty="0">
              <a:latin typeface="Calibri" pitchFamily="34" charset="0"/>
            </a:endParaRPr>
          </a:p>
        </p:txBody>
      </p:sp>
      <p:pic>
        <p:nvPicPr>
          <p:cNvPr id="4" name="Picture 2" descr="E:\Documents and Settings\ankurkumar\Desktop\construction-worker.jpg"/>
          <p:cNvPicPr>
            <a:picLocks noChangeAspect="1" noChangeArrowheads="1"/>
          </p:cNvPicPr>
          <p:nvPr/>
        </p:nvPicPr>
        <p:blipFill>
          <a:blip r:embed="rId3" cstate="print"/>
          <a:srcRect/>
          <a:stretch>
            <a:fillRect/>
          </a:stretch>
        </p:blipFill>
        <p:spPr bwMode="auto">
          <a:xfrm>
            <a:off x="8642797" y="3258234"/>
            <a:ext cx="3238500" cy="2971800"/>
          </a:xfrm>
          <a:prstGeom prst="rect">
            <a:avLst/>
          </a:prstGeom>
          <a:noFill/>
        </p:spPr>
      </p:pic>
      <p:sp>
        <p:nvSpPr>
          <p:cNvPr id="5" name="TextBox 4"/>
          <p:cNvSpPr txBox="1"/>
          <p:nvPr/>
        </p:nvSpPr>
        <p:spPr>
          <a:xfrm>
            <a:off x="669702" y="2761471"/>
            <a:ext cx="7848600" cy="2313454"/>
          </a:xfrm>
          <a:prstGeom prst="rect">
            <a:avLst/>
          </a:prstGeom>
          <a:noFill/>
        </p:spPr>
        <p:txBody>
          <a:bodyPr wrap="square" rtlCol="0">
            <a:spAutoFit/>
          </a:bodyPr>
          <a:lstStyle/>
          <a:p>
            <a:pPr marL="285750" indent="-285750">
              <a:lnSpc>
                <a:spcPct val="80000"/>
              </a:lnSpc>
              <a:spcBef>
                <a:spcPct val="20000"/>
              </a:spcBef>
              <a:buClr>
                <a:schemeClr val="tx1"/>
              </a:buClr>
              <a:buSzPct val="90000"/>
              <a:buFont typeface="Arial" panose="020B0604020202020204" pitchFamily="34"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579" dirty="0">
                <a:latin typeface="Segoe UI Light" panose="020B0502040204020203" pitchFamily="34" charset="0"/>
              </a:rPr>
              <a:t>Workers Compensation and EL Insurance responds to two basic loss exposure faced by employer: </a:t>
            </a:r>
          </a:p>
          <a:p>
            <a:pPr marL="285750" indent="-285750">
              <a:lnSpc>
                <a:spcPct val="80000"/>
              </a:lnSpc>
              <a:spcBef>
                <a:spcPct val="20000"/>
              </a:spcBef>
              <a:buClr>
                <a:schemeClr val="tx1"/>
              </a:buClr>
              <a:buSzPct val="90000"/>
              <a:buFont typeface="Arial" panose="020B0604020202020204" pitchFamily="34"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579" dirty="0">
              <a:latin typeface="Segoe UI Light" panose="020B0502040204020203" pitchFamily="34" charset="0"/>
            </a:endParaRPr>
          </a:p>
          <a:p>
            <a:pPr marL="742950" lvl="1" indent="-285750">
              <a:lnSpc>
                <a:spcPct val="80000"/>
              </a:lnSpc>
              <a:spcBef>
                <a:spcPct val="20000"/>
              </a:spcBef>
              <a:buClr>
                <a:schemeClr val="tx1"/>
              </a:buClr>
              <a:buSzPct val="90000"/>
              <a:buFont typeface="Arial" panose="020B0604020202020204" pitchFamily="34"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579" dirty="0">
                <a:latin typeface="Segoe UI Light" panose="020B0502040204020203" pitchFamily="34" charset="0"/>
              </a:rPr>
              <a:t> 1. The legal responsibility  to pay benefits to employees as required by state workers compensation statutes.</a:t>
            </a:r>
          </a:p>
          <a:p>
            <a:pPr marL="742950" lvl="1" indent="-285750">
              <a:lnSpc>
                <a:spcPct val="80000"/>
              </a:lnSpc>
              <a:spcBef>
                <a:spcPct val="20000"/>
              </a:spcBef>
              <a:buClr>
                <a:schemeClr val="tx1"/>
              </a:buClr>
              <a:buSzPct val="90000"/>
              <a:buFont typeface="Arial" panose="020B0604020202020204" pitchFamily="34"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579" dirty="0">
              <a:latin typeface="Segoe UI Light" panose="020B0502040204020203" pitchFamily="34" charset="0"/>
            </a:endParaRPr>
          </a:p>
          <a:p>
            <a:pPr marL="742950" lvl="1" indent="-285750">
              <a:lnSpc>
                <a:spcPct val="80000"/>
              </a:lnSpc>
              <a:spcBef>
                <a:spcPct val="20000"/>
              </a:spcBef>
              <a:buClr>
                <a:schemeClr val="tx1"/>
              </a:buClr>
              <a:buSzPct val="90000"/>
              <a:buFont typeface="Arial" panose="020B0604020202020204" pitchFamily="34"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579" dirty="0">
                <a:latin typeface="Segoe UI Light" panose="020B0502040204020203" pitchFamily="34" charset="0"/>
              </a:rPr>
              <a:t> 2. The cost to defend against and possibly pay, liability claims made against the employer on account of bodily injury to an employee. Thus, Provides protection for employers from lawsuits by workers injured while working.</a:t>
            </a:r>
          </a:p>
          <a:p>
            <a:endParaRPr lang="en-US" dirty="0">
              <a:latin typeface="Arial" pitchFamily="34" charset="0"/>
              <a:cs typeface="Arial" pitchFamily="34" charset="0"/>
            </a:endParaRPr>
          </a:p>
        </p:txBody>
      </p:sp>
      <p:sp>
        <p:nvSpPr>
          <p:cNvPr id="6" name="Rectangle 5"/>
          <p:cNvSpPr/>
          <p:nvPr/>
        </p:nvSpPr>
        <p:spPr>
          <a:xfrm>
            <a:off x="1318214" y="5268450"/>
            <a:ext cx="6096000" cy="646331"/>
          </a:xfrm>
          <a:prstGeom prst="rect">
            <a:avLst/>
          </a:prstGeom>
        </p:spPr>
        <p:txBody>
          <a:bodyPr>
            <a:spAutoFit/>
          </a:bodyPr>
          <a:lstStyle/>
          <a:p>
            <a:r>
              <a:rPr lang="en-IN" dirty="0">
                <a:hlinkClick r:id="rId4"/>
              </a:rPr>
              <a:t>https://www.youtube.com/watch?v=G66cG0Go8qE</a:t>
            </a:r>
            <a:endParaRPr lang="en-IN" dirty="0"/>
          </a:p>
          <a:p>
            <a:r>
              <a:rPr lang="en-IN" dirty="0">
                <a:hlinkClick r:id="rId5"/>
              </a:rPr>
              <a:t>https://www.youtube.com/watch?v=19gHOmzY2IY</a:t>
            </a:r>
            <a:endParaRPr lang="en-IN" dirty="0"/>
          </a:p>
        </p:txBody>
      </p:sp>
      <p:sp>
        <p:nvSpPr>
          <p:cNvPr id="7" name="TextBox 6"/>
          <p:cNvSpPr txBox="1"/>
          <p:nvPr/>
        </p:nvSpPr>
        <p:spPr>
          <a:xfrm>
            <a:off x="669702" y="1163331"/>
            <a:ext cx="6143222" cy="1404615"/>
          </a:xfrm>
          <a:prstGeom prst="rect">
            <a:avLst/>
          </a:prstGeom>
          <a:noFill/>
        </p:spPr>
        <p:txBody>
          <a:bodyPr wrap="square" rtlCol="0">
            <a:spAutoFit/>
          </a:bodyPr>
          <a:lstStyle/>
          <a:p>
            <a:pPr marL="285750" indent="-285750">
              <a:lnSpc>
                <a:spcPct val="80000"/>
              </a:lnSpc>
              <a:spcBef>
                <a:spcPct val="20000"/>
              </a:spcBef>
              <a:buClr>
                <a:schemeClr val="tx1"/>
              </a:buClr>
              <a:buSzPct val="90000"/>
              <a:buFont typeface="Arial" panose="020B0604020202020204" pitchFamily="34"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579" dirty="0" err="1">
                <a:latin typeface="Segoe UI Light" panose="020B0502040204020203" pitchFamily="34" charset="0"/>
              </a:rPr>
              <a:t>Nofault</a:t>
            </a:r>
            <a:r>
              <a:rPr lang="en-IN" sz="1579" dirty="0">
                <a:latin typeface="Segoe UI Light" panose="020B0502040204020203" pitchFamily="34" charset="0"/>
              </a:rPr>
              <a:t> Insurance that Covers Medical Costs and wages for Employees</a:t>
            </a:r>
          </a:p>
          <a:p>
            <a:pPr marL="742950" lvl="1" indent="-285750">
              <a:lnSpc>
                <a:spcPct val="80000"/>
              </a:lnSpc>
              <a:spcBef>
                <a:spcPct val="20000"/>
              </a:spcBef>
              <a:buClr>
                <a:schemeClr val="tx1"/>
              </a:buClr>
              <a:buSzPct val="90000"/>
              <a:buFont typeface="Arial" panose="020B0604020202020204" pitchFamily="34"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579" dirty="0">
                <a:latin typeface="Segoe UI Light" panose="020B0502040204020203" pitchFamily="34" charset="0"/>
              </a:rPr>
              <a:t>Who are injured</a:t>
            </a:r>
          </a:p>
          <a:p>
            <a:pPr marL="742950" lvl="1" indent="-285750">
              <a:lnSpc>
                <a:spcPct val="80000"/>
              </a:lnSpc>
              <a:spcBef>
                <a:spcPct val="20000"/>
              </a:spcBef>
              <a:buClr>
                <a:schemeClr val="tx1"/>
              </a:buClr>
              <a:buSzPct val="90000"/>
              <a:buFont typeface="Arial" panose="020B0604020202020204" pitchFamily="34"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579" dirty="0">
                <a:latin typeface="Segoe UI Light" panose="020B0502040204020203" pitchFamily="34" charset="0"/>
              </a:rPr>
              <a:t>Who become Ill while performing</a:t>
            </a:r>
          </a:p>
          <a:p>
            <a:pPr marL="285750" indent="-285750">
              <a:lnSpc>
                <a:spcPct val="80000"/>
              </a:lnSpc>
              <a:spcBef>
                <a:spcPct val="20000"/>
              </a:spcBef>
              <a:buClr>
                <a:schemeClr val="tx1"/>
              </a:buClr>
              <a:buSzPct val="90000"/>
              <a:buFont typeface="Arial" panose="020B0604020202020204" pitchFamily="34"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579" dirty="0">
                <a:latin typeface="Segoe UI Light" panose="020B0502040204020203" pitchFamily="34" charset="0"/>
              </a:rPr>
              <a:t>Failure not to have WC will lead to penalty to the employer. He has to handle as well, the lawsuits from his pocket</a:t>
            </a:r>
          </a:p>
        </p:txBody>
      </p:sp>
    </p:spTree>
    <p:extLst>
      <p:ext uri="{BB962C8B-B14F-4D97-AF65-F5344CB8AC3E}">
        <p14:creationId xmlns:p14="http://schemas.microsoft.com/office/powerpoint/2010/main" val="3066154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1000"/>
                                        <p:tgtEl>
                                          <p:spTgt spid="7">
                                            <p:txEl>
                                              <p:pRg st="1" end="1"/>
                                            </p:txEl>
                                          </p:spTgt>
                                        </p:tgtEl>
                                      </p:cBhvr>
                                    </p:animEffect>
                                    <p:anim calcmode="lin" valueType="num">
                                      <p:cBhvr>
                                        <p:cTn id="1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1000"/>
                                        <p:tgtEl>
                                          <p:spTgt spid="7">
                                            <p:txEl>
                                              <p:pRg st="2" end="2"/>
                                            </p:txEl>
                                          </p:spTgt>
                                        </p:tgtEl>
                                      </p:cBhvr>
                                    </p:animEffect>
                                    <p:anim calcmode="lin" valueType="num">
                                      <p:cBhvr>
                                        <p:cTn id="1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7">
                                            <p:txEl>
                                              <p:pRg st="3" end="3"/>
                                            </p:txEl>
                                          </p:spTgt>
                                        </p:tgtEl>
                                        <p:attrNameLst>
                                          <p:attrName>style.visibility</p:attrName>
                                        </p:attrNameLst>
                                      </p:cBhvr>
                                      <p:to>
                                        <p:strVal val="visible"/>
                                      </p:to>
                                    </p:set>
                                    <p:animEffect transition="in" filter="fade">
                                      <p:cBhvr>
                                        <p:cTn id="24" dur="1000"/>
                                        <p:tgtEl>
                                          <p:spTgt spid="7">
                                            <p:txEl>
                                              <p:pRg st="3" end="3"/>
                                            </p:txEl>
                                          </p:spTgt>
                                        </p:tgtEl>
                                      </p:cBhvr>
                                    </p:animEffect>
                                    <p:anim calcmode="lin" valueType="num">
                                      <p:cBhvr>
                                        <p:cTn id="25"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5">
                                            <p:txEl>
                                              <p:pRg st="0" end="0"/>
                                            </p:txEl>
                                          </p:spTgt>
                                        </p:tgtEl>
                                        <p:attrNameLst>
                                          <p:attrName>style.visibility</p:attrName>
                                        </p:attrNameLst>
                                      </p:cBhvr>
                                      <p:to>
                                        <p:strVal val="visible"/>
                                      </p:to>
                                    </p:set>
                                    <p:animEffect transition="in" filter="fade">
                                      <p:cBhvr>
                                        <p:cTn id="31" dur="1000"/>
                                        <p:tgtEl>
                                          <p:spTgt spid="5">
                                            <p:txEl>
                                              <p:pRg st="0" end="0"/>
                                            </p:txEl>
                                          </p:spTgt>
                                        </p:tgtEl>
                                      </p:cBhvr>
                                    </p:animEffect>
                                    <p:anim calcmode="lin" valueType="num">
                                      <p:cBhvr>
                                        <p:cTn id="32"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33"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5">
                                            <p:txEl>
                                              <p:pRg st="2" end="2"/>
                                            </p:txEl>
                                          </p:spTgt>
                                        </p:tgtEl>
                                        <p:attrNameLst>
                                          <p:attrName>style.visibility</p:attrName>
                                        </p:attrNameLst>
                                      </p:cBhvr>
                                      <p:to>
                                        <p:strVal val="visible"/>
                                      </p:to>
                                    </p:set>
                                    <p:animEffect transition="in" filter="fade">
                                      <p:cBhvr>
                                        <p:cTn id="38" dur="1000"/>
                                        <p:tgtEl>
                                          <p:spTgt spid="5">
                                            <p:txEl>
                                              <p:pRg st="2" end="2"/>
                                            </p:txEl>
                                          </p:spTgt>
                                        </p:tgtEl>
                                      </p:cBhvr>
                                    </p:animEffect>
                                    <p:anim calcmode="lin" valueType="num">
                                      <p:cBhvr>
                                        <p:cTn id="39"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40"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5">
                                            <p:txEl>
                                              <p:pRg st="4" end="4"/>
                                            </p:txEl>
                                          </p:spTgt>
                                        </p:tgtEl>
                                        <p:attrNameLst>
                                          <p:attrName>style.visibility</p:attrName>
                                        </p:attrNameLst>
                                      </p:cBhvr>
                                      <p:to>
                                        <p:strVal val="visible"/>
                                      </p:to>
                                    </p:set>
                                    <p:animEffect transition="in" filter="fade">
                                      <p:cBhvr>
                                        <p:cTn id="45" dur="1000"/>
                                        <p:tgtEl>
                                          <p:spTgt spid="5">
                                            <p:txEl>
                                              <p:pRg st="4" end="4"/>
                                            </p:txEl>
                                          </p:spTgt>
                                        </p:tgtEl>
                                      </p:cBhvr>
                                    </p:animEffect>
                                    <p:anim calcmode="lin" valueType="num">
                                      <p:cBhvr>
                                        <p:cTn id="46"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47"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fade">
                                      <p:cBhvr>
                                        <p:cTn id="52" dur="1000"/>
                                        <p:tgtEl>
                                          <p:spTgt spid="6"/>
                                        </p:tgtEl>
                                      </p:cBhvr>
                                    </p:animEffect>
                                    <p:anim calcmode="lin" valueType="num">
                                      <p:cBhvr>
                                        <p:cTn id="53" dur="1000" fill="hold"/>
                                        <p:tgtEl>
                                          <p:spTgt spid="6"/>
                                        </p:tgtEl>
                                        <p:attrNameLst>
                                          <p:attrName>ppt_x</p:attrName>
                                        </p:attrNameLst>
                                      </p:cBhvr>
                                      <p:tavLst>
                                        <p:tav tm="0">
                                          <p:val>
                                            <p:strVal val="#ppt_x"/>
                                          </p:val>
                                        </p:tav>
                                        <p:tav tm="100000">
                                          <p:val>
                                            <p:strVal val="#ppt_x"/>
                                          </p:val>
                                        </p:tav>
                                      </p:tavLst>
                                    </p:anim>
                                    <p:anim calcmode="lin" valueType="num">
                                      <p:cBhvr>
                                        <p:cTn id="5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3" name="Rectangle 66"/>
          <p:cNvSpPr>
            <a:spLocks noChangeArrowheads="1"/>
          </p:cNvSpPr>
          <p:nvPr/>
        </p:nvSpPr>
        <p:spPr bwMode="auto">
          <a:xfrm>
            <a:off x="138716" y="449121"/>
            <a:ext cx="10769690" cy="1015663"/>
          </a:xfrm>
          <a:prstGeom prst="rect">
            <a:avLst/>
          </a:prstGeom>
          <a:noFill/>
          <a:ln w="12700">
            <a:noFill/>
            <a:miter lim="800000"/>
            <a:headEnd/>
            <a:tailEnd/>
          </a:ln>
        </p:spPr>
        <p:txBody>
          <a:bodyPr wrap="square" anchor="ctr">
            <a:spAutoFit/>
          </a:bodyPr>
          <a:lstStyle/>
          <a:p>
            <a:pPr marL="0" lvl="1" eaLnBrk="0" hangingPunct="0">
              <a:buSzPct val="120000"/>
              <a:tabLst>
                <a:tab pos="1828800" algn="l"/>
              </a:tabLst>
              <a:defRPr/>
            </a:pPr>
            <a:r>
              <a:rPr lang="en-IN" sz="2800" dirty="0">
                <a:latin typeface="Calibri" pitchFamily="34" charset="0"/>
              </a:rPr>
              <a:t>Workers Compensation (Cont….)</a:t>
            </a:r>
          </a:p>
          <a:p>
            <a:pPr eaLnBrk="0" hangingPunct="0">
              <a:buSzPct val="120000"/>
              <a:tabLst>
                <a:tab pos="1828800" algn="l"/>
              </a:tabLst>
              <a:defRPr/>
            </a:pPr>
            <a:endParaRPr lang="en-US" sz="3200" dirty="0">
              <a:latin typeface="Calibri" pitchFamily="34" charset="0"/>
            </a:endParaRPr>
          </a:p>
        </p:txBody>
      </p:sp>
      <p:sp>
        <p:nvSpPr>
          <p:cNvPr id="4" name="TextBox 3"/>
          <p:cNvSpPr txBox="1"/>
          <p:nvPr/>
        </p:nvSpPr>
        <p:spPr>
          <a:xfrm>
            <a:off x="1752600" y="1295401"/>
            <a:ext cx="7848600" cy="2507866"/>
          </a:xfrm>
          <a:prstGeom prst="rect">
            <a:avLst/>
          </a:prstGeom>
          <a:noFill/>
        </p:spPr>
        <p:txBody>
          <a:bodyPr wrap="square" rtlCol="0">
            <a:spAutoFit/>
          </a:bodyPr>
          <a:lstStyle/>
          <a:p>
            <a:pPr marL="0" lvl="1">
              <a:lnSpc>
                <a:spcPct val="80000"/>
              </a:lnSpc>
              <a:spcBef>
                <a:spcPct val="20000"/>
              </a:spcBef>
              <a:buClr>
                <a:schemeClr val="tx1"/>
              </a:buClr>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b="1" dirty="0">
                <a:latin typeface="Segoe UI Light" panose="020B0502040204020203" pitchFamily="34" charset="0"/>
              </a:rPr>
              <a:t>Benefits:</a:t>
            </a:r>
          </a:p>
          <a:p>
            <a:pPr marL="285750" lvl="1" indent="-285750">
              <a:lnSpc>
                <a:spcPct val="80000"/>
              </a:lnSpc>
              <a:spcBef>
                <a:spcPct val="20000"/>
              </a:spcBef>
              <a:buClr>
                <a:schemeClr val="tx1"/>
              </a:buClr>
              <a:buSzPct val="90000"/>
              <a:buFont typeface="Arial" panose="020B0604020202020204" pitchFamily="34"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579" dirty="0">
              <a:latin typeface="Segoe UI Light" panose="020B0502040204020203" pitchFamily="34" charset="0"/>
            </a:endParaRPr>
          </a:p>
          <a:p>
            <a:pPr marL="285750" lvl="1" indent="-285750">
              <a:lnSpc>
                <a:spcPct val="80000"/>
              </a:lnSpc>
              <a:spcBef>
                <a:spcPct val="20000"/>
              </a:spcBef>
              <a:buClr>
                <a:schemeClr val="tx1"/>
              </a:buClr>
              <a:buSzPct val="90000"/>
              <a:buFont typeface="Arial" panose="020B0604020202020204" pitchFamily="34"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579" dirty="0">
                <a:latin typeface="Segoe UI Light" panose="020B0502040204020203" pitchFamily="34" charset="0"/>
              </a:rPr>
              <a:t>Provides Benefits for Medical Expenses from either occupational injury/disease.</a:t>
            </a:r>
          </a:p>
          <a:p>
            <a:pPr marL="285750" lvl="1" indent="-285750">
              <a:lnSpc>
                <a:spcPct val="80000"/>
              </a:lnSpc>
              <a:spcBef>
                <a:spcPct val="20000"/>
              </a:spcBef>
              <a:buClr>
                <a:schemeClr val="tx1"/>
              </a:buClr>
              <a:buSzPct val="90000"/>
              <a:buFont typeface="Arial" panose="020B0604020202020204" pitchFamily="34"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579" dirty="0">
              <a:latin typeface="Segoe UI Light" panose="020B0502040204020203" pitchFamily="34" charset="0"/>
            </a:endParaRPr>
          </a:p>
          <a:p>
            <a:pPr marL="285750" lvl="1" indent="-285750">
              <a:lnSpc>
                <a:spcPct val="80000"/>
              </a:lnSpc>
              <a:spcBef>
                <a:spcPct val="20000"/>
              </a:spcBef>
              <a:buClr>
                <a:schemeClr val="tx1"/>
              </a:buClr>
              <a:buSzPct val="90000"/>
              <a:buFont typeface="Arial" panose="020B0604020202020204" pitchFamily="34"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579" dirty="0">
                <a:latin typeface="Segoe UI Light" panose="020B0502040204020203" pitchFamily="34" charset="0"/>
              </a:rPr>
              <a:t>Cause of Injury/Disease must be related to employment &amp; in course of employment.</a:t>
            </a:r>
          </a:p>
          <a:p>
            <a:pPr marL="285750" lvl="1" indent="-285750">
              <a:lnSpc>
                <a:spcPct val="80000"/>
              </a:lnSpc>
              <a:spcBef>
                <a:spcPct val="20000"/>
              </a:spcBef>
              <a:buClr>
                <a:schemeClr val="tx1"/>
              </a:buClr>
              <a:buSzPct val="90000"/>
              <a:buFont typeface="Arial" panose="020B0604020202020204" pitchFamily="34"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579" dirty="0">
              <a:latin typeface="Segoe UI Light" panose="020B0502040204020203" pitchFamily="34" charset="0"/>
            </a:endParaRPr>
          </a:p>
          <a:p>
            <a:pPr marL="285750" lvl="1" indent="-285750">
              <a:lnSpc>
                <a:spcPct val="80000"/>
              </a:lnSpc>
              <a:spcBef>
                <a:spcPct val="20000"/>
              </a:spcBef>
              <a:buClr>
                <a:schemeClr val="tx1"/>
              </a:buClr>
              <a:buSzPct val="90000"/>
              <a:buFont typeface="Arial" panose="020B0604020202020204" pitchFamily="34"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579" dirty="0">
                <a:latin typeface="Segoe UI Light" panose="020B0502040204020203" pitchFamily="34" charset="0"/>
              </a:rPr>
              <a:t>There must be A CAUSE &amp; EFFECT RELATION between the OCCUPATION &amp; DISEASE</a:t>
            </a:r>
          </a:p>
          <a:p>
            <a:pPr marL="285750" lvl="1" indent="-285750">
              <a:lnSpc>
                <a:spcPct val="80000"/>
              </a:lnSpc>
              <a:spcBef>
                <a:spcPct val="20000"/>
              </a:spcBef>
              <a:buClr>
                <a:schemeClr val="tx1"/>
              </a:buClr>
              <a:buSzPct val="90000"/>
              <a:buFont typeface="Arial" panose="020B0604020202020204" pitchFamily="34"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579" dirty="0">
              <a:latin typeface="Segoe UI Light" panose="020B0502040204020203" pitchFamily="34" charset="0"/>
            </a:endParaRPr>
          </a:p>
          <a:p>
            <a:pPr marL="285750" lvl="1" indent="-285750">
              <a:lnSpc>
                <a:spcPct val="80000"/>
              </a:lnSpc>
              <a:spcBef>
                <a:spcPct val="20000"/>
              </a:spcBef>
              <a:buClr>
                <a:schemeClr val="tx1"/>
              </a:buClr>
              <a:buSzPct val="90000"/>
              <a:buFont typeface="Arial" panose="020B0604020202020204" pitchFamily="34"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579" dirty="0">
                <a:latin typeface="Segoe UI Light" panose="020B0502040204020203" pitchFamily="34" charset="0"/>
              </a:rPr>
              <a:t>Provides benefits for wage loss from either occupational injury/disease.</a:t>
            </a:r>
            <a:endParaRPr lang="en-US" sz="1579" dirty="0">
              <a:latin typeface="Segoe UI Light" panose="020B0502040204020203" pitchFamily="34" charset="0"/>
            </a:endParaRPr>
          </a:p>
          <a:p>
            <a:endParaRPr lang="en-US" dirty="0">
              <a:latin typeface="Arial" pitchFamily="34" charset="0"/>
              <a:cs typeface="Arial" pitchFamily="34" charset="0"/>
            </a:endParaRPr>
          </a:p>
        </p:txBody>
      </p:sp>
      <p:sp>
        <p:nvSpPr>
          <p:cNvPr id="5" name="Rectangle 4"/>
          <p:cNvSpPr/>
          <p:nvPr/>
        </p:nvSpPr>
        <p:spPr>
          <a:xfrm>
            <a:off x="1752600" y="4355085"/>
            <a:ext cx="6096000" cy="646331"/>
          </a:xfrm>
          <a:prstGeom prst="rect">
            <a:avLst/>
          </a:prstGeom>
        </p:spPr>
        <p:txBody>
          <a:bodyPr>
            <a:spAutoFit/>
          </a:bodyPr>
          <a:lstStyle/>
          <a:p>
            <a:r>
              <a:rPr lang="en-IN" dirty="0">
                <a:hlinkClick r:id="rId3"/>
              </a:rPr>
              <a:t>https://www.youtube.com/watch?v=tMR7cqmoeB0</a:t>
            </a:r>
            <a:endParaRPr lang="en-IN" dirty="0"/>
          </a:p>
          <a:p>
            <a:r>
              <a:rPr lang="en-IN" dirty="0">
                <a:hlinkClick r:id="rId4"/>
              </a:rPr>
              <a:t>https://www.youtube.com/watch?v=hgeC_kpF0d8</a:t>
            </a:r>
            <a:endParaRPr lang="en-IN" dirty="0"/>
          </a:p>
        </p:txBody>
      </p:sp>
    </p:spTree>
    <p:extLst>
      <p:ext uri="{BB962C8B-B14F-4D97-AF65-F5344CB8AC3E}">
        <p14:creationId xmlns:p14="http://schemas.microsoft.com/office/powerpoint/2010/main" val="2429868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1000"/>
                                        <p:tgtEl>
                                          <p:spTgt spid="4">
                                            <p:txEl>
                                              <p:pRg st="2" end="2"/>
                                            </p:txEl>
                                          </p:spTgt>
                                        </p:tgtEl>
                                      </p:cBhvr>
                                    </p:animEffect>
                                    <p:anim calcmode="lin" valueType="num">
                                      <p:cBhvr>
                                        <p:cTn id="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4" end="4"/>
                                            </p:txEl>
                                          </p:spTgt>
                                        </p:tgtEl>
                                        <p:attrNameLst>
                                          <p:attrName>style.visibility</p:attrName>
                                        </p:attrNameLst>
                                      </p:cBhvr>
                                      <p:to>
                                        <p:strVal val="visible"/>
                                      </p:to>
                                    </p:set>
                                    <p:animEffect transition="in" filter="fade">
                                      <p:cBhvr>
                                        <p:cTn id="14" dur="1000"/>
                                        <p:tgtEl>
                                          <p:spTgt spid="4">
                                            <p:txEl>
                                              <p:pRg st="4" end="4"/>
                                            </p:txEl>
                                          </p:spTgt>
                                        </p:tgtEl>
                                      </p:cBhvr>
                                    </p:animEffect>
                                    <p:anim calcmode="lin" valueType="num">
                                      <p:cBhvr>
                                        <p:cTn id="15"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animEffect transition="in" filter="fade">
                                      <p:cBhvr>
                                        <p:cTn id="21" dur="1000"/>
                                        <p:tgtEl>
                                          <p:spTgt spid="4">
                                            <p:txEl>
                                              <p:pRg st="6" end="6"/>
                                            </p:txEl>
                                          </p:spTgt>
                                        </p:tgtEl>
                                      </p:cBhvr>
                                    </p:animEffect>
                                    <p:anim calcmode="lin" valueType="num">
                                      <p:cBhvr>
                                        <p:cTn id="22"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8" end="8"/>
                                            </p:txEl>
                                          </p:spTgt>
                                        </p:tgtEl>
                                        <p:attrNameLst>
                                          <p:attrName>style.visibility</p:attrName>
                                        </p:attrNameLst>
                                      </p:cBhvr>
                                      <p:to>
                                        <p:strVal val="visible"/>
                                      </p:to>
                                    </p:set>
                                    <p:animEffect transition="in" filter="fade">
                                      <p:cBhvr>
                                        <p:cTn id="28" dur="1000"/>
                                        <p:tgtEl>
                                          <p:spTgt spid="4">
                                            <p:txEl>
                                              <p:pRg st="8" end="8"/>
                                            </p:txEl>
                                          </p:spTgt>
                                        </p:tgtEl>
                                      </p:cBhvr>
                                    </p:animEffect>
                                    <p:anim calcmode="lin" valueType="num">
                                      <p:cBhvr>
                                        <p:cTn id="29"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1000"/>
                                        <p:tgtEl>
                                          <p:spTgt spid="5"/>
                                        </p:tgtEl>
                                      </p:cBhvr>
                                    </p:animEffect>
                                    <p:anim calcmode="lin" valueType="num">
                                      <p:cBhvr>
                                        <p:cTn id="36" dur="1000" fill="hold"/>
                                        <p:tgtEl>
                                          <p:spTgt spid="5"/>
                                        </p:tgtEl>
                                        <p:attrNameLst>
                                          <p:attrName>ppt_x</p:attrName>
                                        </p:attrNameLst>
                                      </p:cBhvr>
                                      <p:tavLst>
                                        <p:tav tm="0">
                                          <p:val>
                                            <p:strVal val="#ppt_x"/>
                                          </p:val>
                                        </p:tav>
                                        <p:tav tm="100000">
                                          <p:val>
                                            <p:strVal val="#ppt_x"/>
                                          </p:val>
                                        </p:tav>
                                      </p:tavLst>
                                    </p:anim>
                                    <p:anim calcmode="lin" valueType="num">
                                      <p:cBhvr>
                                        <p:cTn id="3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3" name="TextBox 2"/>
          <p:cNvSpPr txBox="1"/>
          <p:nvPr/>
        </p:nvSpPr>
        <p:spPr>
          <a:xfrm>
            <a:off x="101959" y="314287"/>
            <a:ext cx="11835683" cy="523220"/>
          </a:xfrm>
          <a:prstGeom prst="rect">
            <a:avLst/>
          </a:prstGeom>
          <a:noFill/>
        </p:spPr>
        <p:txBody>
          <a:bodyPr wrap="square" rtlCol="0">
            <a:spAutoFit/>
          </a:bodyPr>
          <a:lstStyle/>
          <a:p>
            <a:pPr marL="0" lvl="1" eaLnBrk="0" hangingPunct="0">
              <a:buSzPct val="120000"/>
              <a:tabLst>
                <a:tab pos="1828800" algn="l"/>
              </a:tabLst>
              <a:defRPr/>
            </a:pPr>
            <a:r>
              <a:rPr lang="en-IN" sz="2800" dirty="0">
                <a:latin typeface="Calibri" pitchFamily="34" charset="0"/>
              </a:rPr>
              <a:t>Workers Compensation (</a:t>
            </a:r>
            <a:r>
              <a:rPr lang="en-IN" sz="2800" dirty="0" err="1">
                <a:latin typeface="Calibri" pitchFamily="34" charset="0"/>
              </a:rPr>
              <a:t>Cont</a:t>
            </a:r>
            <a:r>
              <a:rPr lang="en-IN" sz="2800" dirty="0">
                <a:latin typeface="Calibri" pitchFamily="34" charset="0"/>
              </a:rPr>
              <a:t>….)</a:t>
            </a:r>
          </a:p>
        </p:txBody>
      </p:sp>
      <p:pic>
        <p:nvPicPr>
          <p:cNvPr id="4" name="Picture 3"/>
          <p:cNvPicPr>
            <a:picLocks noChangeAspect="1" noChangeArrowheads="1"/>
          </p:cNvPicPr>
          <p:nvPr/>
        </p:nvPicPr>
        <p:blipFill>
          <a:blip r:embed="rId3" cstate="print"/>
          <a:srcRect/>
          <a:stretch>
            <a:fillRect/>
          </a:stretch>
        </p:blipFill>
        <p:spPr bwMode="auto">
          <a:xfrm>
            <a:off x="1905000" y="1347848"/>
            <a:ext cx="8229600" cy="5289550"/>
          </a:xfrm>
          <a:prstGeom prst="rect">
            <a:avLst/>
          </a:prstGeom>
          <a:noFill/>
          <a:ln w="9525">
            <a:noFill/>
            <a:round/>
            <a:headEnd/>
            <a:tailEnd/>
          </a:ln>
        </p:spPr>
      </p:pic>
    </p:spTree>
    <p:extLst>
      <p:ext uri="{BB962C8B-B14F-4D97-AF65-F5344CB8AC3E}">
        <p14:creationId xmlns:p14="http://schemas.microsoft.com/office/powerpoint/2010/main" val="908357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3" name="TextBox 2"/>
          <p:cNvSpPr txBox="1"/>
          <p:nvPr/>
        </p:nvSpPr>
        <p:spPr>
          <a:xfrm>
            <a:off x="1981200" y="1295401"/>
            <a:ext cx="7467600" cy="2535053"/>
          </a:xfrm>
          <a:prstGeom prst="rect">
            <a:avLst/>
          </a:prstGeom>
          <a:noFill/>
        </p:spPr>
        <p:txBody>
          <a:bodyPr wrap="square" rtlCol="0">
            <a:spAutoFit/>
          </a:bodyPr>
          <a:lstStyle/>
          <a:p>
            <a:pPr lvl="1" indent="-457200">
              <a:lnSpc>
                <a:spcPct val="80000"/>
              </a:lnSpc>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b="1" dirty="0">
              <a:latin typeface="Arial" pitchFamily="34" charset="0"/>
              <a:cs typeface="Arial" pitchFamily="34" charset="0"/>
            </a:endParaRPr>
          </a:p>
          <a:p>
            <a:pPr marL="285750" lvl="1" indent="-285750" algn="just">
              <a:buSzPct val="80000"/>
              <a:buFont typeface="Arial" panose="020B0604020202020204" pitchFamily="34" charset="0"/>
              <a:buChar char="•"/>
              <a:defRPr/>
            </a:pPr>
            <a:r>
              <a:rPr lang="en-IN" sz="1579" dirty="0">
                <a:latin typeface="Segoe UI Light" panose="020B0502040204020203" pitchFamily="34" charset="0"/>
              </a:rPr>
              <a:t>Damages for injury or death for any illegally employed person.</a:t>
            </a:r>
          </a:p>
          <a:p>
            <a:pPr marL="285750" lvl="1" indent="-285750" algn="just">
              <a:buSzPct val="80000"/>
              <a:buFont typeface="Arial" panose="020B0604020202020204" pitchFamily="34" charset="0"/>
              <a:buChar char="•"/>
              <a:defRPr/>
            </a:pPr>
            <a:endParaRPr lang="en-IN" sz="1579" dirty="0">
              <a:latin typeface="Segoe UI Light" panose="020B0502040204020203" pitchFamily="34" charset="0"/>
            </a:endParaRPr>
          </a:p>
          <a:p>
            <a:pPr marL="285750" lvl="1" indent="-285750" algn="just">
              <a:buSzPct val="80000"/>
              <a:buFont typeface="Arial" panose="020B0604020202020204" pitchFamily="34" charset="0"/>
              <a:buChar char="•"/>
              <a:defRPr/>
            </a:pPr>
            <a:r>
              <a:rPr lang="en-IN" sz="1579" dirty="0">
                <a:latin typeface="Segoe UI Light" panose="020B0502040204020203" pitchFamily="34" charset="0"/>
              </a:rPr>
              <a:t>Bodily injury intentionally caused by the insured.</a:t>
            </a:r>
          </a:p>
          <a:p>
            <a:pPr marL="285750" lvl="1" indent="-285750" algn="just">
              <a:buSzPct val="80000"/>
              <a:buFont typeface="Arial" panose="020B0604020202020204" pitchFamily="34" charset="0"/>
              <a:buChar char="•"/>
              <a:defRPr/>
            </a:pPr>
            <a:endParaRPr lang="en-IN" sz="1579" dirty="0">
              <a:latin typeface="Segoe UI Light" panose="020B0502040204020203" pitchFamily="34" charset="0"/>
            </a:endParaRPr>
          </a:p>
          <a:p>
            <a:pPr marL="285750" lvl="1" indent="-285750" algn="just">
              <a:buSzPct val="80000"/>
              <a:buFont typeface="Arial" panose="020B0604020202020204" pitchFamily="34" charset="0"/>
              <a:buChar char="•"/>
              <a:defRPr/>
            </a:pPr>
            <a:r>
              <a:rPr lang="en-IN" sz="1579" dirty="0">
                <a:latin typeface="Segoe UI Light" panose="020B0502040204020203" pitchFamily="34" charset="0"/>
              </a:rPr>
              <a:t>Damages arising out of employment practices, including  demotion, harassment, discrimination, and termination.</a:t>
            </a:r>
          </a:p>
          <a:p>
            <a:pPr marL="285750" lvl="1" indent="-285750" algn="just">
              <a:buSzPct val="80000"/>
              <a:buFont typeface="Arial" panose="020B0604020202020204" pitchFamily="34" charset="0"/>
              <a:buChar char="•"/>
              <a:defRPr/>
            </a:pPr>
            <a:endParaRPr lang="en-IN" sz="1579" dirty="0">
              <a:latin typeface="Segoe UI Light" panose="020B0502040204020203" pitchFamily="34" charset="0"/>
            </a:endParaRPr>
          </a:p>
          <a:p>
            <a:pPr marL="285750" lvl="1" indent="-285750" algn="just">
              <a:buSzPct val="80000"/>
              <a:buFont typeface="Arial" panose="020B0604020202020204" pitchFamily="34" charset="0"/>
              <a:buChar char="•"/>
              <a:defRPr/>
            </a:pPr>
            <a:r>
              <a:rPr lang="en-IN" sz="1579" dirty="0">
                <a:latin typeface="Segoe UI Light" panose="020B0502040204020203" pitchFamily="34" charset="0"/>
              </a:rPr>
              <a:t>Fines or penalties imposed for violation of federal or state law.</a:t>
            </a:r>
          </a:p>
          <a:p>
            <a:endParaRPr lang="en-US" dirty="0">
              <a:latin typeface="Arial" pitchFamily="34" charset="0"/>
              <a:cs typeface="Arial" pitchFamily="34" charset="0"/>
            </a:endParaRPr>
          </a:p>
        </p:txBody>
      </p:sp>
      <p:sp>
        <p:nvSpPr>
          <p:cNvPr id="4" name="TextBox 3"/>
          <p:cNvSpPr txBox="1"/>
          <p:nvPr/>
        </p:nvSpPr>
        <p:spPr>
          <a:xfrm>
            <a:off x="347730" y="356898"/>
            <a:ext cx="5486400" cy="523220"/>
          </a:xfrm>
          <a:prstGeom prst="rect">
            <a:avLst/>
          </a:prstGeom>
          <a:noFill/>
        </p:spPr>
        <p:txBody>
          <a:bodyPr wrap="square" rtlCol="0">
            <a:spAutoFit/>
          </a:bodyPr>
          <a:lstStyle/>
          <a:p>
            <a:pPr marL="0" lvl="1"/>
            <a:r>
              <a:rPr lang="en-IN" sz="2800" dirty="0">
                <a:latin typeface="Calibri" pitchFamily="34" charset="0"/>
              </a:rPr>
              <a:t>Workers Compensation Exclusions </a:t>
            </a:r>
          </a:p>
        </p:txBody>
      </p:sp>
      <p:sp>
        <p:nvSpPr>
          <p:cNvPr id="5" name="Rectangle 4"/>
          <p:cNvSpPr/>
          <p:nvPr/>
        </p:nvSpPr>
        <p:spPr>
          <a:xfrm>
            <a:off x="3090930" y="4277813"/>
            <a:ext cx="6096000" cy="612347"/>
          </a:xfrm>
          <a:prstGeom prst="rect">
            <a:avLst/>
          </a:prstGeom>
        </p:spPr>
        <p:txBody>
          <a:bodyPr>
            <a:spAutoFit/>
          </a:bodyPr>
          <a:lstStyle/>
          <a:p>
            <a:r>
              <a:rPr lang="en-IN" sz="1579" dirty="0">
                <a:latin typeface="Segoe UI Light" panose="020B0502040204020203" pitchFamily="34" charset="0"/>
              </a:rPr>
              <a:t>What WC does not cover: </a:t>
            </a:r>
            <a:r>
              <a:rPr lang="en-IN" dirty="0">
                <a:hlinkClick r:id="rId3"/>
              </a:rPr>
              <a:t>https://www.youtube.com/watch?v=TFp7-8x1fno</a:t>
            </a:r>
            <a:endParaRPr lang="en-IN" dirty="0"/>
          </a:p>
        </p:txBody>
      </p:sp>
    </p:spTree>
    <p:extLst>
      <p:ext uri="{BB962C8B-B14F-4D97-AF65-F5344CB8AC3E}">
        <p14:creationId xmlns:p14="http://schemas.microsoft.com/office/powerpoint/2010/main" val="785204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anim calcmode="lin" valueType="num">
                                      <p:cBhvr>
                                        <p:cTn id="2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1000"/>
                                        <p:tgtEl>
                                          <p:spTgt spid="3">
                                            <p:txEl>
                                              <p:pRg st="7" end="7"/>
                                            </p:txEl>
                                          </p:spTgt>
                                        </p:tgtEl>
                                      </p:cBhvr>
                                    </p:animEffect>
                                    <p:anim calcmode="lin" valueType="num">
                                      <p:cBhvr>
                                        <p:cTn id="2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3" name="Title 1"/>
          <p:cNvSpPr txBox="1">
            <a:spLocks/>
          </p:cNvSpPr>
          <p:nvPr/>
        </p:nvSpPr>
        <p:spPr>
          <a:xfrm>
            <a:off x="838200" y="294173"/>
            <a:ext cx="6193665" cy="523220"/>
          </a:xfrm>
          <a:prstGeom prst="rect">
            <a:avLst/>
          </a:prstGeom>
          <a:noFill/>
        </p:spPr>
        <p:txBody>
          <a:bodyPr wrap="square" rtlCol="0">
            <a:spAutoFit/>
          </a:bodyPr>
          <a:lstStyle>
            <a:defPPr>
              <a:defRPr lang="en-US"/>
            </a:defPPr>
            <a:lvl2pPr marL="0" lvl="1">
              <a:defRPr sz="2800">
                <a:latin typeface="Calibri" pitchFamily="34" charset="0"/>
              </a:defRPr>
            </a:lvl2pPr>
          </a:lstStyle>
          <a:p>
            <a:pPr lvl="1"/>
            <a:r>
              <a:rPr lang="en-US" dirty="0"/>
              <a:t>Employer's Liability Insurance</a:t>
            </a:r>
          </a:p>
        </p:txBody>
      </p:sp>
      <p:sp>
        <p:nvSpPr>
          <p:cNvPr id="4" name="Content Placeholder 2"/>
          <p:cNvSpPr txBox="1">
            <a:spLocks/>
          </p:cNvSpPr>
          <p:nvPr/>
        </p:nvSpPr>
        <p:spPr>
          <a:xfrm>
            <a:off x="838200" y="1825625"/>
            <a:ext cx="10515600" cy="275925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1" indent="-285750" algn="just">
              <a:buSzPct val="80000"/>
              <a:defRPr/>
            </a:pPr>
            <a:r>
              <a:rPr lang="en-US" sz="1600" dirty="0">
                <a:latin typeface="Segoe UI Light" panose="020B0502040204020203" pitchFamily="34" charset="0"/>
              </a:rPr>
              <a:t>An insurance policy that provides coverage for an employer's two key exposures arising out of injuries sustained by employees. </a:t>
            </a:r>
          </a:p>
          <a:p>
            <a:pPr marL="285750" lvl="1" indent="-285750" algn="just">
              <a:buSzPct val="80000"/>
              <a:defRPr/>
            </a:pPr>
            <a:r>
              <a:rPr lang="en-US" sz="1600" b="1" dirty="0">
                <a:latin typeface="Segoe UI Light" panose="020B0502040204020203" pitchFamily="34" charset="0"/>
              </a:rPr>
              <a:t>Part One </a:t>
            </a:r>
            <a:r>
              <a:rPr lang="en-US" sz="1600" dirty="0">
                <a:latin typeface="Segoe UI Light" panose="020B0502040204020203" pitchFamily="34" charset="0"/>
              </a:rPr>
              <a:t>of the policy covers the employer's statutory liabilities under workers compensation laws, and </a:t>
            </a:r>
          </a:p>
          <a:p>
            <a:pPr marL="285750" lvl="1" indent="-285750" algn="just">
              <a:buSzPct val="80000"/>
              <a:defRPr/>
            </a:pPr>
            <a:r>
              <a:rPr lang="en-US" sz="1600" b="1" dirty="0">
                <a:latin typeface="Segoe UI Light" panose="020B0502040204020203" pitchFamily="34" charset="0"/>
              </a:rPr>
              <a:t>Part Two </a:t>
            </a:r>
            <a:r>
              <a:rPr lang="en-US" sz="1600" dirty="0">
                <a:latin typeface="Segoe UI Light" panose="020B0502040204020203" pitchFamily="34" charset="0"/>
              </a:rPr>
              <a:t>of the policy covers liability arising out of employees' work-related injuries that do not fall under the workers compensation statute. </a:t>
            </a:r>
          </a:p>
          <a:p>
            <a:pPr marL="0" lvl="1" indent="0" algn="just">
              <a:buSzPct val="80000"/>
              <a:buNone/>
              <a:defRPr/>
            </a:pPr>
            <a:r>
              <a:rPr lang="en-US" sz="1600" dirty="0">
                <a:latin typeface="Segoe UI Light" panose="020B0502040204020203" pitchFamily="34" charset="0"/>
              </a:rPr>
              <a:t>In most states, the standard workers compensation and employers liability policy published by the National Council on Compensation Insurance (NCCI) is the required policy form.</a:t>
            </a:r>
          </a:p>
          <a:p>
            <a:pPr marL="285750" lvl="1" indent="-285750" algn="just">
              <a:buSzPct val="80000"/>
              <a:defRPr/>
            </a:pPr>
            <a:endParaRPr lang="en-US" sz="1600" dirty="0">
              <a:latin typeface="Segoe UI Light" panose="020B0502040204020203" pitchFamily="34" charset="0"/>
            </a:endParaRPr>
          </a:p>
          <a:p>
            <a:pPr marL="285750" lvl="1" indent="-285750" algn="just">
              <a:buSzPct val="80000"/>
              <a:defRPr/>
            </a:pPr>
            <a:r>
              <a:rPr lang="en-US" sz="1600" dirty="0">
                <a:latin typeface="Segoe UI Light" panose="020B0502040204020203" pitchFamily="34" charset="0"/>
              </a:rPr>
              <a:t>Employer's liability insurance can be packaged with workers compensation insurance to further protect companies against the costs associated with workplace injuries, illnesses and deaths that aren’t covered under workers compensation. Employer's liability insurance is also called “part 2” of a workers’ compensation policy.</a:t>
            </a:r>
          </a:p>
          <a:p>
            <a:pPr marL="285750" lvl="1" indent="-285750" algn="just">
              <a:buSzPct val="80000"/>
              <a:defRPr/>
            </a:pPr>
            <a:endParaRPr lang="en-US" sz="1600" dirty="0">
              <a:latin typeface="Segoe UI Light" panose="020B0502040204020203" pitchFamily="34" charset="0"/>
            </a:endParaRPr>
          </a:p>
          <a:p>
            <a:pPr marL="285750" lvl="1" indent="-285750" algn="just">
              <a:buSzPct val="80000"/>
              <a:defRPr/>
            </a:pPr>
            <a:r>
              <a:rPr lang="en-US" sz="1600" dirty="0">
                <a:latin typeface="Segoe UI Light" panose="020B0502040204020203" pitchFamily="34" charset="0"/>
              </a:rPr>
              <a:t>This coverage provided by part 2 of the workers compensation policy provides coverage to the insured (employer) for liability to employees for work-related bodily injury or disease, other than liability imposed on the insured by a workers compensation law.</a:t>
            </a:r>
          </a:p>
          <a:p>
            <a:pPr marL="0" indent="0">
              <a:buNone/>
            </a:pPr>
            <a:endParaRPr lang="en-US" dirty="0"/>
          </a:p>
        </p:txBody>
      </p:sp>
    </p:spTree>
    <p:extLst>
      <p:ext uri="{BB962C8B-B14F-4D97-AF65-F5344CB8AC3E}">
        <p14:creationId xmlns:p14="http://schemas.microsoft.com/office/powerpoint/2010/main" val="1008409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1000"/>
                                        <p:tgtEl>
                                          <p:spTgt spid="4">
                                            <p:txEl>
                                              <p:pRg st="2" end="2"/>
                                            </p:txEl>
                                          </p:spTgt>
                                        </p:tgtEl>
                                      </p:cBhvr>
                                    </p:animEffect>
                                    <p:anim calcmode="lin" valueType="num">
                                      <p:cBhvr>
                                        <p:cTn id="1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1000"/>
                                        <p:tgtEl>
                                          <p:spTgt spid="4">
                                            <p:txEl>
                                              <p:pRg st="3" end="3"/>
                                            </p:txEl>
                                          </p:spTgt>
                                        </p:tgtEl>
                                      </p:cBhvr>
                                    </p:animEffect>
                                    <p:anim calcmode="lin" valueType="num">
                                      <p:cBhvr>
                                        <p:cTn id="2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Effect transition="in" filter="fade">
                                      <p:cBhvr>
                                        <p:cTn id="29" dur="1000"/>
                                        <p:tgtEl>
                                          <p:spTgt spid="4">
                                            <p:txEl>
                                              <p:pRg st="5" end="5"/>
                                            </p:txEl>
                                          </p:spTgt>
                                        </p:tgtEl>
                                      </p:cBhvr>
                                    </p:animEffect>
                                    <p:anim calcmode="lin" valueType="num">
                                      <p:cBhvr>
                                        <p:cTn id="30"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Effect transition="in" filter="fade">
                                      <p:cBhvr>
                                        <p:cTn id="34" dur="1000"/>
                                        <p:tgtEl>
                                          <p:spTgt spid="4">
                                            <p:txEl>
                                              <p:pRg st="7" end="7"/>
                                            </p:txEl>
                                          </p:spTgt>
                                        </p:tgtEl>
                                      </p:cBhvr>
                                    </p:animEffect>
                                    <p:anim calcmode="lin" valueType="num">
                                      <p:cBhvr>
                                        <p:cTn id="35"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3" name="TextBox 2"/>
          <p:cNvSpPr txBox="1"/>
          <p:nvPr/>
        </p:nvSpPr>
        <p:spPr>
          <a:xfrm>
            <a:off x="2018763" y="1549897"/>
            <a:ext cx="7620000" cy="3154710"/>
          </a:xfrm>
          <a:prstGeom prst="rect">
            <a:avLst/>
          </a:prstGeom>
          <a:noFill/>
        </p:spPr>
        <p:txBody>
          <a:bodyPr wrap="square" rtlCol="0">
            <a:spAutoFit/>
          </a:bodyPr>
          <a:lstStyle/>
          <a:p>
            <a:pPr>
              <a:defRPr/>
            </a:pPr>
            <a:endParaRPr lang="en-US" sz="1600" dirty="0">
              <a:latin typeface="Arial" pitchFamily="34" charset="0"/>
              <a:cs typeface="Arial" pitchFamily="34" charset="0"/>
            </a:endParaRPr>
          </a:p>
          <a:p>
            <a:pPr algn="just">
              <a:defRPr/>
            </a:pPr>
            <a:r>
              <a:rPr lang="en-US" sz="1500" dirty="0">
                <a:latin typeface="Segoe UI Light" panose="020B0502040204020203" pitchFamily="34" charset="0"/>
              </a:rPr>
              <a:t>The insurer agrees to defend the insured against claims and suits seeking covered damages. There are ways in which the employer can be held liable under the common law as the result of  employee injury:</a:t>
            </a:r>
          </a:p>
          <a:p>
            <a:pPr algn="just">
              <a:defRPr/>
            </a:pPr>
            <a:endParaRPr lang="en-US" sz="1500" dirty="0">
              <a:latin typeface="Segoe UI Light" panose="020B0502040204020203" pitchFamily="34" charset="0"/>
            </a:endParaRPr>
          </a:p>
          <a:p>
            <a:pPr marL="285750" lvl="1" indent="-285750" algn="just">
              <a:buSzPct val="80000"/>
              <a:buFont typeface="Arial" panose="020B0604020202020204" pitchFamily="34" charset="0"/>
              <a:buChar char="•"/>
              <a:defRPr/>
            </a:pPr>
            <a:r>
              <a:rPr lang="en-US" sz="1500" dirty="0">
                <a:latin typeface="Segoe UI Light" panose="020B0502040204020203" pitchFamily="34" charset="0"/>
              </a:rPr>
              <a:t>An employee of the insured sues a third party (such as machine manufacturer) for an occupational injury, and the third party then sues the employer. The third party’s suit might allege, for example, that the employer was negligent in maintaining the machine.</a:t>
            </a:r>
          </a:p>
          <a:p>
            <a:pPr marL="285750" lvl="1" indent="-285750" algn="just">
              <a:buSzPct val="80000"/>
              <a:buFont typeface="Arial" panose="020B0604020202020204" pitchFamily="34" charset="0"/>
              <a:buChar char="•"/>
              <a:defRPr/>
            </a:pPr>
            <a:endParaRPr lang="en-US" sz="1500" dirty="0">
              <a:latin typeface="Segoe UI Light" panose="020B0502040204020203" pitchFamily="34" charset="0"/>
            </a:endParaRPr>
          </a:p>
          <a:p>
            <a:pPr marL="285750" lvl="1" indent="-285750" algn="just">
              <a:buSzPct val="80000"/>
              <a:buFont typeface="Arial" panose="020B0604020202020204" pitchFamily="34" charset="0"/>
              <a:buChar char="•"/>
              <a:defRPr/>
            </a:pPr>
            <a:r>
              <a:rPr lang="en-US" sz="1500" dirty="0">
                <a:latin typeface="Segoe UI Light" panose="020B0502040204020203" pitchFamily="34" charset="0"/>
              </a:rPr>
              <a:t>The spouse or family member of an injured employee sues the employer for loss of companionship or services (such as housekeeping or yard work that the employee would otherwise have performed) resulting from the injury.</a:t>
            </a:r>
          </a:p>
          <a:p>
            <a:endParaRPr lang="en-US" dirty="0">
              <a:latin typeface="Arial" pitchFamily="34" charset="0"/>
              <a:cs typeface="Arial" pitchFamily="34" charset="0"/>
            </a:endParaRPr>
          </a:p>
        </p:txBody>
      </p:sp>
      <p:sp>
        <p:nvSpPr>
          <p:cNvPr id="4" name="TextBox 3"/>
          <p:cNvSpPr txBox="1"/>
          <p:nvPr/>
        </p:nvSpPr>
        <p:spPr>
          <a:xfrm>
            <a:off x="245771" y="289062"/>
            <a:ext cx="5791200" cy="800219"/>
          </a:xfrm>
          <a:prstGeom prst="rect">
            <a:avLst/>
          </a:prstGeom>
          <a:noFill/>
        </p:spPr>
        <p:txBody>
          <a:bodyPr wrap="square" rtlCol="0">
            <a:spAutoFit/>
          </a:bodyPr>
          <a:lstStyle>
            <a:defPPr>
              <a:defRPr lang="en-US"/>
            </a:defPPr>
            <a:lvl2pPr marL="0" lvl="1">
              <a:defRPr sz="2800">
                <a:latin typeface="Calibri" pitchFamily="34" charset="0"/>
              </a:defRPr>
            </a:lvl2pPr>
          </a:lstStyle>
          <a:p>
            <a:pPr lvl="1"/>
            <a:r>
              <a:rPr lang="en-IN" dirty="0"/>
              <a:t>Employers Liability Scenarios </a:t>
            </a:r>
          </a:p>
          <a:p>
            <a:endParaRPr lang="en-US" dirty="0"/>
          </a:p>
        </p:txBody>
      </p:sp>
    </p:spTree>
    <p:extLst>
      <p:ext uri="{BB962C8B-B14F-4D97-AF65-F5344CB8AC3E}">
        <p14:creationId xmlns:p14="http://schemas.microsoft.com/office/powerpoint/2010/main" val="518945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5" end="5"/>
                                            </p:txEl>
                                          </p:spTgt>
                                        </p:tgtEl>
                                        <p:attrNameLst>
                                          <p:attrName>style.visibility</p:attrName>
                                        </p:attrNameLst>
                                      </p:cBhvr>
                                      <p:to>
                                        <p:strVal val="visible"/>
                                      </p:to>
                                    </p:set>
                                    <p:animEffect transition="in" filter="fade">
                                      <p:cBhvr>
                                        <p:cTn id="14" dur="1000"/>
                                        <p:tgtEl>
                                          <p:spTgt spid="3">
                                            <p:txEl>
                                              <p:pRg st="5" end="5"/>
                                            </p:txEl>
                                          </p:spTgt>
                                        </p:tgtEl>
                                      </p:cBhvr>
                                    </p:animEffect>
                                    <p:anim calcmode="lin" valueType="num">
                                      <p:cBhvr>
                                        <p:cTn id="1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96485" y="3286139"/>
            <a:ext cx="6096000" cy="646331"/>
          </a:xfrm>
          <a:prstGeom prst="rect">
            <a:avLst/>
          </a:prstGeom>
        </p:spPr>
        <p:txBody>
          <a:bodyPr>
            <a:spAutoFit/>
          </a:bodyPr>
          <a:lstStyle/>
          <a:p>
            <a:pPr>
              <a:spcBef>
                <a:spcPct val="20000"/>
              </a:spcBef>
              <a:buClr>
                <a:schemeClr val="tx1"/>
              </a:buClr>
              <a:defRPr/>
            </a:pPr>
            <a:r>
              <a:rPr lang="en-US" dirty="0">
                <a:latin typeface="Segoe UI Light" panose="020B0502040204020203" pitchFamily="34" charset="0"/>
              </a:rPr>
              <a:t>Suggested watch- WC Intro </a:t>
            </a:r>
            <a:r>
              <a:rPr lang="en-US" dirty="0">
                <a:latin typeface="Segoe UI Light" panose="020B0502040204020203" pitchFamily="34" charset="0"/>
                <a:hlinkClick r:id="rId2"/>
              </a:rPr>
              <a:t>https://www.youtube.com/watch?v=14-G_sDWAxI</a:t>
            </a:r>
            <a:endParaRPr lang="en-US" dirty="0">
              <a:latin typeface="Segoe UI Light" panose="020B0502040204020203" pitchFamily="34" charset="0"/>
            </a:endParaRPr>
          </a:p>
        </p:txBody>
      </p:sp>
      <p:pic>
        <p:nvPicPr>
          <p:cNvPr id="3" name="Picture 2"/>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4" name="TextBox 3"/>
          <p:cNvSpPr txBox="1"/>
          <p:nvPr/>
        </p:nvSpPr>
        <p:spPr>
          <a:xfrm>
            <a:off x="2996485" y="4195483"/>
            <a:ext cx="6813273" cy="923330"/>
          </a:xfrm>
          <a:prstGeom prst="rect">
            <a:avLst/>
          </a:prstGeom>
          <a:noFill/>
        </p:spPr>
        <p:txBody>
          <a:bodyPr wrap="square" rtlCol="0">
            <a:spAutoFit/>
          </a:bodyPr>
          <a:lstStyle/>
          <a:p>
            <a:r>
              <a:rPr lang="en-IN" dirty="0">
                <a:latin typeface="Segoe UI Light" panose="020B0502040204020203" pitchFamily="34" charset="0"/>
              </a:rPr>
              <a:t>Suggested Reading –</a:t>
            </a:r>
          </a:p>
          <a:p>
            <a:r>
              <a:rPr lang="en-IN" dirty="0">
                <a:hlinkClick r:id="rId4"/>
              </a:rPr>
              <a:t>http://www.techinsurance.com/workers-compensation-insurance/</a:t>
            </a:r>
            <a:endParaRPr lang="en-IN" dirty="0"/>
          </a:p>
          <a:p>
            <a:endParaRPr lang="en-IN" dirty="0"/>
          </a:p>
        </p:txBody>
      </p:sp>
    </p:spTree>
    <p:extLst>
      <p:ext uri="{BB962C8B-B14F-4D97-AF65-F5344CB8AC3E}">
        <p14:creationId xmlns:p14="http://schemas.microsoft.com/office/powerpoint/2010/main" val="2019724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3" name="Rectangle 2"/>
          <p:cNvSpPr/>
          <p:nvPr/>
        </p:nvSpPr>
        <p:spPr>
          <a:xfrm>
            <a:off x="3048000" y="1914740"/>
            <a:ext cx="6096000" cy="3028521"/>
          </a:xfrm>
          <a:prstGeom prst="rect">
            <a:avLst/>
          </a:prstGeom>
        </p:spPr>
        <p:txBody>
          <a:bodyPr>
            <a:spAutoFit/>
          </a:bodyPr>
          <a:lstStyle/>
          <a:p>
            <a:pPr marL="338374" indent="-338374">
              <a:spcBef>
                <a:spcPct val="20000"/>
              </a:spcBef>
              <a:buClr>
                <a:schemeClr val="tx1"/>
              </a:buClr>
              <a:buFont typeface="Wingdings" pitchFamily="2" charset="2"/>
              <a:buChar char="v"/>
              <a:defRPr/>
            </a:pPr>
            <a:r>
              <a:rPr lang="en-US" b="1" dirty="0">
                <a:solidFill>
                  <a:srgbClr val="C00000"/>
                </a:solidFill>
                <a:latin typeface="Segoe UI Light" panose="020B0502040204020203" pitchFamily="34" charset="0"/>
              </a:rPr>
              <a:t>Section 2  -  Various Types of Insurance</a:t>
            </a:r>
          </a:p>
          <a:p>
            <a:pPr marL="285750" indent="-285750">
              <a:spcBef>
                <a:spcPct val="20000"/>
              </a:spcBef>
              <a:buClr>
                <a:schemeClr val="tx1"/>
              </a:buClr>
              <a:buFont typeface="Arial" panose="020B0604020202020204" pitchFamily="34" charset="0"/>
              <a:buChar char="•"/>
              <a:defRPr/>
            </a:pPr>
            <a:r>
              <a:rPr lang="en-US" dirty="0">
                <a:latin typeface="Segoe UI Light" panose="020B0502040204020203" pitchFamily="34" charset="0"/>
              </a:rPr>
              <a:t>Premium Setting and Cost</a:t>
            </a:r>
          </a:p>
          <a:p>
            <a:pPr marL="285750" indent="-285750">
              <a:spcBef>
                <a:spcPct val="20000"/>
              </a:spcBef>
              <a:buClr>
                <a:schemeClr val="tx1"/>
              </a:buClr>
              <a:buFont typeface="Arial" panose="020B0604020202020204" pitchFamily="34" charset="0"/>
              <a:buChar char="•"/>
              <a:defRPr/>
            </a:pPr>
            <a:r>
              <a:rPr lang="en-US" dirty="0">
                <a:latin typeface="Segoe UI Light" panose="020B0502040204020203" pitchFamily="34" charset="0"/>
              </a:rPr>
              <a:t>Classification , Premium Calculation and Algorithm in brief</a:t>
            </a:r>
          </a:p>
          <a:p>
            <a:pPr marL="285750" indent="-285750">
              <a:spcBef>
                <a:spcPct val="20000"/>
              </a:spcBef>
              <a:buClr>
                <a:schemeClr val="tx1"/>
              </a:buClr>
              <a:buFont typeface="Arial" panose="020B0604020202020204" pitchFamily="34" charset="0"/>
              <a:buChar char="•"/>
              <a:defRPr/>
            </a:pPr>
            <a:r>
              <a:rPr lang="en-US" dirty="0">
                <a:latin typeface="Segoe UI Light" panose="020B0502040204020203" pitchFamily="34" charset="0"/>
              </a:rPr>
              <a:t>Deductibles, Rate establishment and rating overview</a:t>
            </a:r>
          </a:p>
          <a:p>
            <a:pPr marL="285750" indent="-285750">
              <a:spcBef>
                <a:spcPct val="20000"/>
              </a:spcBef>
              <a:buClr>
                <a:schemeClr val="tx1"/>
              </a:buClr>
              <a:buFont typeface="Arial" panose="020B0604020202020204" pitchFamily="34" charset="0"/>
              <a:buChar char="•"/>
              <a:defRPr/>
            </a:pPr>
            <a:r>
              <a:rPr lang="en-US" dirty="0">
                <a:latin typeface="Segoe UI Light" panose="020B0502040204020203" pitchFamily="34" charset="0"/>
              </a:rPr>
              <a:t>State wise Bureau List</a:t>
            </a:r>
          </a:p>
          <a:p>
            <a:pPr marL="285750" indent="-285750">
              <a:spcBef>
                <a:spcPct val="20000"/>
              </a:spcBef>
              <a:buClr>
                <a:schemeClr val="tx1"/>
              </a:buClr>
              <a:buFont typeface="Arial" panose="020B0604020202020204" pitchFamily="34" charset="0"/>
              <a:buChar char="•"/>
              <a:defRPr/>
            </a:pPr>
            <a:r>
              <a:rPr lang="en-US" dirty="0">
                <a:latin typeface="Segoe UI Light" panose="020B0502040204020203" pitchFamily="34" charset="0"/>
              </a:rPr>
              <a:t>WC Forms for employers</a:t>
            </a:r>
          </a:p>
          <a:p>
            <a:pPr marL="285750" indent="-285750">
              <a:spcBef>
                <a:spcPct val="20000"/>
              </a:spcBef>
              <a:buClr>
                <a:schemeClr val="tx1"/>
              </a:buClr>
              <a:buFont typeface="Arial" panose="020B0604020202020204" pitchFamily="34" charset="0"/>
              <a:buChar char="•"/>
              <a:defRPr/>
            </a:pPr>
            <a:r>
              <a:rPr lang="en-US" dirty="0">
                <a:latin typeface="Segoe UI Light" panose="020B0502040204020203" pitchFamily="34" charset="0"/>
              </a:rPr>
              <a:t>Filing a Claim</a:t>
            </a:r>
          </a:p>
          <a:p>
            <a:pPr marL="285750" indent="-285750">
              <a:spcBef>
                <a:spcPct val="20000"/>
              </a:spcBef>
              <a:buClr>
                <a:schemeClr val="tx1"/>
              </a:buClr>
              <a:buFont typeface="Arial" panose="020B0604020202020204" pitchFamily="34" charset="0"/>
              <a:buChar char="•"/>
              <a:defRPr/>
            </a:pPr>
            <a:r>
              <a:rPr lang="en-US" dirty="0">
                <a:latin typeface="Segoe UI Light" panose="020B0502040204020203" pitchFamily="34" charset="0"/>
              </a:rPr>
              <a:t>Claim Settlement</a:t>
            </a:r>
          </a:p>
          <a:p>
            <a:pPr marL="285750" indent="-285750">
              <a:spcBef>
                <a:spcPct val="20000"/>
              </a:spcBef>
              <a:buClr>
                <a:schemeClr val="tx1"/>
              </a:buClr>
              <a:buFont typeface="Arial" panose="020B0604020202020204" pitchFamily="34" charset="0"/>
              <a:buChar char="•"/>
              <a:defRPr/>
            </a:pPr>
            <a:r>
              <a:rPr lang="en-US" dirty="0">
                <a:latin typeface="Segoe UI Light" panose="020B0502040204020203" pitchFamily="34" charset="0"/>
              </a:rPr>
              <a:t>WC Terminologies</a:t>
            </a:r>
          </a:p>
        </p:txBody>
      </p:sp>
    </p:spTree>
    <p:extLst>
      <p:ext uri="{BB962C8B-B14F-4D97-AF65-F5344CB8AC3E}">
        <p14:creationId xmlns:p14="http://schemas.microsoft.com/office/powerpoint/2010/main" val="39736137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3" name="TextBox 2"/>
          <p:cNvSpPr txBox="1"/>
          <p:nvPr/>
        </p:nvSpPr>
        <p:spPr>
          <a:xfrm>
            <a:off x="502276" y="1262130"/>
            <a:ext cx="6272012" cy="5058308"/>
          </a:xfrm>
          <a:prstGeom prst="rect">
            <a:avLst/>
          </a:prstGeom>
          <a:noFill/>
        </p:spPr>
        <p:txBody>
          <a:bodyPr wrap="square" rtlCol="0">
            <a:spAutoFit/>
          </a:bodyPr>
          <a:lstStyle/>
          <a:p>
            <a:endParaRPr lang="en-IN" dirty="0"/>
          </a:p>
          <a:p>
            <a:pPr marL="0" lvl="1" algn="just">
              <a:buSzPct val="80000"/>
              <a:defRPr/>
            </a:pPr>
            <a:r>
              <a:rPr lang="en-IN" sz="1500" b="1" dirty="0">
                <a:latin typeface="Segoe UI Light" panose="020B0502040204020203" pitchFamily="34" charset="0"/>
              </a:rPr>
              <a:t>1. </a:t>
            </a:r>
            <a:r>
              <a:rPr lang="en-IN" sz="1500" dirty="0">
                <a:latin typeface="Segoe UI Light" panose="020B0502040204020203" pitchFamily="34" charset="0"/>
              </a:rPr>
              <a:t>Type of Work performed- Job Classification Code called ‘</a:t>
            </a:r>
            <a:r>
              <a:rPr lang="en-IN" sz="1500" b="1" dirty="0">
                <a:latin typeface="Segoe UI Light" panose="020B0502040204020203" pitchFamily="34" charset="0"/>
              </a:rPr>
              <a:t>’Class Codes’’. </a:t>
            </a:r>
            <a:r>
              <a:rPr lang="en-IN" sz="1500" dirty="0">
                <a:latin typeface="Segoe UI Light" panose="020B0502040204020203" pitchFamily="34" charset="0"/>
              </a:rPr>
              <a:t>A different Cost is assigned to each code. Most common codes are Clerical and out side Sales</a:t>
            </a:r>
          </a:p>
          <a:p>
            <a:pPr marL="0" lvl="1" algn="just">
              <a:lnSpc>
                <a:spcPct val="90000"/>
              </a:lnSpc>
              <a:spcBef>
                <a:spcPts val="450"/>
              </a:spcBef>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500" dirty="0">
                <a:latin typeface="Segoe UI Light" panose="020B0502040204020203" pitchFamily="34" charset="0"/>
              </a:rPr>
              <a:t>Classification is represented by a four digit number and groups businesses together that share common exposures to hazards.</a:t>
            </a:r>
          </a:p>
          <a:p>
            <a:pPr indent="-330200" algn="just">
              <a:lnSpc>
                <a:spcPct val="9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a:latin typeface="Arial" pitchFamily="34" charset="0"/>
              <a:cs typeface="Arial" pitchFamily="34" charset="0"/>
            </a:endParaRPr>
          </a:p>
          <a:p>
            <a:pPr indent="-330200" algn="just">
              <a:lnSpc>
                <a:spcPct val="9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500" dirty="0">
                <a:latin typeface="Segoe UI Light" panose="020B0502040204020203" pitchFamily="34" charset="0"/>
              </a:rPr>
              <a:t>For example,</a:t>
            </a:r>
          </a:p>
          <a:p>
            <a:pPr indent="-330200" algn="just">
              <a:lnSpc>
                <a:spcPct val="9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500" dirty="0">
                <a:latin typeface="Segoe UI Light" panose="020B0502040204020203" pitchFamily="34" charset="0"/>
              </a:rPr>
              <a:t>Dairy Farms are grouped together using Code 0036 – Farm: Dairy</a:t>
            </a:r>
          </a:p>
          <a:p>
            <a:pPr indent="-330200" algn="just">
              <a:lnSpc>
                <a:spcPct val="9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500" dirty="0">
                <a:latin typeface="Segoe UI Light" panose="020B0502040204020203" pitchFamily="34" charset="0"/>
              </a:rPr>
              <a:t>Plumbers are grouped together using Code 5183 – Plumbing NOC</a:t>
            </a:r>
          </a:p>
          <a:p>
            <a:pPr indent="-330200" algn="just">
              <a:lnSpc>
                <a:spcPct val="9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a:latin typeface="Arial" pitchFamily="34" charset="0"/>
              <a:cs typeface="Arial" pitchFamily="34" charset="0"/>
            </a:endParaRPr>
          </a:p>
          <a:p>
            <a:pPr indent="-330200" algn="just">
              <a:lnSpc>
                <a:spcPct val="9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500" dirty="0">
                <a:latin typeface="Segoe UI Light" panose="020B0502040204020203" pitchFamily="34" charset="0"/>
              </a:rPr>
              <a:t>Note: The rate is different for these two classes as the exposure to workplace injury is different.</a:t>
            </a:r>
          </a:p>
          <a:p>
            <a:pPr indent="-330200" algn="just">
              <a:lnSpc>
                <a:spcPct val="9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a:latin typeface="Arial" pitchFamily="34" charset="0"/>
              <a:cs typeface="Arial" pitchFamily="34" charset="0"/>
            </a:endParaRPr>
          </a:p>
          <a:p>
            <a:pPr indent="-330200" algn="just">
              <a:lnSpc>
                <a:spcPct val="9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500" dirty="0">
                <a:latin typeface="Segoe UI Light" panose="020B0502040204020203" pitchFamily="34" charset="0"/>
              </a:rPr>
              <a:t>In establishing a classification, the following criteria is considered:</a:t>
            </a:r>
          </a:p>
          <a:p>
            <a:pPr marL="0" lvl="1" indent="-330200" algn="just">
              <a:lnSpc>
                <a:spcPct val="9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500" dirty="0">
              <a:latin typeface="Segoe UI Light" panose="020B0502040204020203" pitchFamily="34" charset="0"/>
            </a:endParaRPr>
          </a:p>
          <a:p>
            <a:pPr marL="0" lvl="1" indent="-330200" algn="just">
              <a:lnSpc>
                <a:spcPct val="90000"/>
              </a:lnSpc>
              <a:spcBef>
                <a:spcPts val="450"/>
              </a:spcBef>
              <a:buSzPct val="9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500" dirty="0">
                <a:latin typeface="Segoe UI Light" panose="020B0502040204020203" pitchFamily="34" charset="0"/>
              </a:rPr>
              <a:t>There must be a large enough group of employers so that a statistically credible rate can be produced.</a:t>
            </a:r>
          </a:p>
          <a:p>
            <a:pPr marL="0" lvl="1" indent="-330200" algn="just">
              <a:lnSpc>
                <a:spcPct val="90000"/>
              </a:lnSpc>
              <a:spcBef>
                <a:spcPts val="450"/>
              </a:spcBef>
              <a:buSzPct val="9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500" dirty="0">
                <a:latin typeface="Segoe UI Light" panose="020B0502040204020203" pitchFamily="34" charset="0"/>
              </a:rPr>
              <a:t>The businesses must be readily identifiable.</a:t>
            </a:r>
          </a:p>
        </p:txBody>
      </p:sp>
      <p:sp>
        <p:nvSpPr>
          <p:cNvPr id="4" name="TextBox 3"/>
          <p:cNvSpPr txBox="1"/>
          <p:nvPr/>
        </p:nvSpPr>
        <p:spPr>
          <a:xfrm>
            <a:off x="7405352" y="2292412"/>
            <a:ext cx="4404575" cy="3516860"/>
          </a:xfrm>
          <a:prstGeom prst="rect">
            <a:avLst/>
          </a:prstGeom>
          <a:noFill/>
        </p:spPr>
        <p:txBody>
          <a:bodyPr wrap="square" rtlCol="0">
            <a:spAutoFit/>
          </a:bodyPr>
          <a:lstStyle/>
          <a:p>
            <a:pPr marL="342900" indent="-342900">
              <a:buAutoNum type="arabicPeriod"/>
            </a:pPr>
            <a:endParaRPr lang="en-IN" dirty="0"/>
          </a:p>
          <a:p>
            <a:pPr marL="0" lvl="1" algn="just">
              <a:lnSpc>
                <a:spcPct val="90000"/>
              </a:lnSpc>
              <a:spcBef>
                <a:spcPts val="450"/>
              </a:spcBef>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dirty="0"/>
              <a:t>2. </a:t>
            </a:r>
            <a:r>
              <a:rPr lang="en-IN" sz="1500" b="1" dirty="0">
                <a:latin typeface="Segoe UI Light" panose="020B0502040204020203" pitchFamily="34" charset="0"/>
              </a:rPr>
              <a:t>Employers Gross Payroll</a:t>
            </a:r>
          </a:p>
          <a:p>
            <a:pPr marL="0" lvl="1" algn="just">
              <a:lnSpc>
                <a:spcPct val="90000"/>
              </a:lnSpc>
              <a:spcBef>
                <a:spcPts val="450"/>
              </a:spcBef>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500" dirty="0">
                <a:latin typeface="Segoe UI Light" panose="020B0502040204020203" pitchFamily="34" charset="0"/>
              </a:rPr>
              <a:t>      Applied to every for ex- $100 of your payroll (Payroll refers to the amount paid to employees by the business for services they provide during a certain period of time.)</a:t>
            </a:r>
          </a:p>
          <a:p>
            <a:endParaRPr lang="en-IN" dirty="0"/>
          </a:p>
          <a:p>
            <a:endParaRPr lang="en-IN" dirty="0"/>
          </a:p>
          <a:p>
            <a:pPr marL="0" lvl="1" algn="just">
              <a:lnSpc>
                <a:spcPct val="90000"/>
              </a:lnSpc>
              <a:spcBef>
                <a:spcPts val="450"/>
              </a:spcBef>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dirty="0"/>
              <a:t>3. </a:t>
            </a:r>
            <a:r>
              <a:rPr lang="en-IN" sz="1500" b="1" dirty="0">
                <a:latin typeface="Segoe UI Light" panose="020B0502040204020203" pitchFamily="34" charset="0"/>
              </a:rPr>
              <a:t>Past work related illness or injuries. </a:t>
            </a:r>
            <a:r>
              <a:rPr lang="en-IN" sz="1500" dirty="0">
                <a:latin typeface="Segoe UI Light" panose="020B0502040204020203" pitchFamily="34" charset="0"/>
              </a:rPr>
              <a:t>The number and severity of employee work –related illness and injuries.</a:t>
            </a:r>
          </a:p>
          <a:p>
            <a:pPr marL="342900" indent="-342900">
              <a:buAutoNum type="arabicPeriod"/>
            </a:pPr>
            <a:endParaRPr lang="en-IN" dirty="0"/>
          </a:p>
          <a:p>
            <a:endParaRPr lang="en-IN" dirty="0"/>
          </a:p>
        </p:txBody>
      </p:sp>
      <p:sp>
        <p:nvSpPr>
          <p:cNvPr id="5" name="Rectangle 4"/>
          <p:cNvSpPr/>
          <p:nvPr/>
        </p:nvSpPr>
        <p:spPr>
          <a:xfrm>
            <a:off x="502276" y="206209"/>
            <a:ext cx="5653825" cy="646331"/>
          </a:xfrm>
          <a:prstGeom prst="rect">
            <a:avLst/>
          </a:prstGeom>
          <a:noFill/>
        </p:spPr>
        <p:txBody>
          <a:bodyPr wrap="square" rtlCol="0">
            <a:spAutoFit/>
          </a:bodyPr>
          <a:lstStyle/>
          <a:p>
            <a:r>
              <a:rPr lang="en-IN" sz="2800" b="1" dirty="0"/>
              <a:t>Understanding WC Premium </a:t>
            </a:r>
            <a:r>
              <a:rPr lang="en-IN" sz="3600" b="1" dirty="0"/>
              <a:t>Cost</a:t>
            </a:r>
            <a:endParaRPr lang="en-IN" sz="2800" b="1" dirty="0"/>
          </a:p>
        </p:txBody>
      </p:sp>
    </p:spTree>
    <p:extLst>
      <p:ext uri="{BB962C8B-B14F-4D97-AF65-F5344CB8AC3E}">
        <p14:creationId xmlns:p14="http://schemas.microsoft.com/office/powerpoint/2010/main" val="1773273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70076" y="1696072"/>
            <a:ext cx="7750223" cy="1366528"/>
          </a:xfrm>
          <a:prstGeom prst="rect">
            <a:avLst/>
          </a:prstGeom>
        </p:spPr>
        <p:txBody>
          <a:bodyPr wrap="square">
            <a:spAutoFit/>
          </a:bodyPr>
          <a:lstStyle/>
          <a:p>
            <a:pPr marL="285750" indent="-285750">
              <a:spcBef>
                <a:spcPct val="20000"/>
              </a:spcBef>
              <a:buClr>
                <a:schemeClr val="tx1"/>
              </a:buClr>
              <a:buFont typeface="Arial" panose="020B0604020202020204" pitchFamily="34" charset="0"/>
              <a:buChar char="•"/>
              <a:defRPr/>
            </a:pPr>
            <a:r>
              <a:rPr lang="en-US" dirty="0">
                <a:latin typeface="Segoe UI Light" panose="020B0502040204020203" pitchFamily="34" charset="0"/>
              </a:rPr>
              <a:t>Employer’s industry classification code and payroll( Mining, Coal/ IT)</a:t>
            </a:r>
          </a:p>
          <a:p>
            <a:pPr marL="285750" indent="-285750">
              <a:spcBef>
                <a:spcPct val="20000"/>
              </a:spcBef>
              <a:buClr>
                <a:schemeClr val="tx1"/>
              </a:buClr>
              <a:buFont typeface="Arial" panose="020B0604020202020204" pitchFamily="34" charset="0"/>
              <a:buChar char="•"/>
              <a:defRPr/>
            </a:pPr>
            <a:r>
              <a:rPr lang="en-US" dirty="0">
                <a:latin typeface="Segoe UI Light" panose="020B0502040204020203" pitchFamily="34" charset="0"/>
              </a:rPr>
              <a:t>Location (Catastrophic area)</a:t>
            </a:r>
          </a:p>
          <a:p>
            <a:pPr marL="285750" indent="-285750">
              <a:spcBef>
                <a:spcPct val="20000"/>
              </a:spcBef>
              <a:buClr>
                <a:schemeClr val="tx1"/>
              </a:buClr>
              <a:buFont typeface="Arial" panose="020B0604020202020204" pitchFamily="34" charset="0"/>
              <a:buChar char="•"/>
              <a:defRPr/>
            </a:pPr>
            <a:r>
              <a:rPr lang="en-US" dirty="0">
                <a:latin typeface="Segoe UI Light" panose="020B0502040204020203" pitchFamily="34" charset="0"/>
              </a:rPr>
              <a:t>Claims patters of the organization</a:t>
            </a:r>
          </a:p>
          <a:p>
            <a:pPr marL="285750" indent="-285750">
              <a:spcBef>
                <a:spcPct val="20000"/>
              </a:spcBef>
              <a:buClr>
                <a:schemeClr val="tx1"/>
              </a:buClr>
              <a:buFont typeface="Arial" panose="020B0604020202020204" pitchFamily="34" charset="0"/>
              <a:buChar char="•"/>
              <a:defRPr/>
            </a:pPr>
            <a:r>
              <a:rPr lang="en-US" dirty="0">
                <a:latin typeface="Segoe UI Light" panose="020B0502040204020203" pitchFamily="34" charset="0"/>
              </a:rPr>
              <a:t>“frequency breeds severity.”</a:t>
            </a:r>
          </a:p>
        </p:txBody>
      </p:sp>
      <p:sp>
        <p:nvSpPr>
          <p:cNvPr id="3" name="Rectangle 2"/>
          <p:cNvSpPr/>
          <p:nvPr/>
        </p:nvSpPr>
        <p:spPr>
          <a:xfrm>
            <a:off x="914224" y="337484"/>
            <a:ext cx="4991276" cy="400110"/>
          </a:xfrm>
          <a:prstGeom prst="rect">
            <a:avLst/>
          </a:prstGeom>
          <a:noFill/>
        </p:spPr>
        <p:txBody>
          <a:bodyPr wrap="square" rtlCol="0">
            <a:spAutoFit/>
          </a:bodyPr>
          <a:lstStyle/>
          <a:p>
            <a:r>
              <a:rPr lang="en-US" sz="2000" b="1" dirty="0"/>
              <a:t>HOW ARE PREMIUMS SET?</a:t>
            </a:r>
          </a:p>
        </p:txBody>
      </p:sp>
      <p:pic>
        <p:nvPicPr>
          <p:cNvPr id="4" name="Picture 3"/>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Tree>
    <p:extLst>
      <p:ext uri="{BB962C8B-B14F-4D97-AF65-F5344CB8AC3E}">
        <p14:creationId xmlns:p14="http://schemas.microsoft.com/office/powerpoint/2010/main" val="1392541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37507"/>
            <a:ext cx="9804188" cy="264653"/>
          </a:xfrm>
          <a:prstGeom prst="rect">
            <a:avLst/>
          </a:prstGeom>
        </p:spPr>
      </p:pic>
      <p:sp>
        <p:nvSpPr>
          <p:cNvPr id="3" name="TextBox 2"/>
          <p:cNvSpPr txBox="1"/>
          <p:nvPr/>
        </p:nvSpPr>
        <p:spPr>
          <a:xfrm>
            <a:off x="1054994" y="1385552"/>
            <a:ext cx="10626143" cy="4548938"/>
          </a:xfrm>
          <a:prstGeom prst="rect">
            <a:avLst/>
          </a:prstGeom>
          <a:noFill/>
        </p:spPr>
        <p:txBody>
          <a:bodyPr wrap="square" rtlCol="0">
            <a:spAutoFit/>
          </a:bodyPr>
          <a:lstStyle/>
          <a:p>
            <a:endParaRPr lang="en-US" sz="1600" dirty="0">
              <a:latin typeface="Arial" pitchFamily="34" charset="0"/>
              <a:cs typeface="Arial" pitchFamily="34" charset="0"/>
            </a:endParaRPr>
          </a:p>
          <a:p>
            <a:pPr marL="285750" indent="-285750">
              <a:spcBef>
                <a:spcPct val="20000"/>
              </a:spcBef>
              <a:buClr>
                <a:schemeClr val="tx1"/>
              </a:buClr>
              <a:buFont typeface="Arial" panose="020B0604020202020204" pitchFamily="34" charset="0"/>
              <a:buChar char="•"/>
              <a:defRPr/>
            </a:pPr>
            <a:r>
              <a:rPr lang="en-US" dirty="0">
                <a:latin typeface="Segoe UI Light" panose="020B0502040204020203" pitchFamily="34" charset="0"/>
              </a:rPr>
              <a:t>Premium is calculated by </a:t>
            </a:r>
            <a:r>
              <a:rPr lang="en-US" b="1" dirty="0">
                <a:latin typeface="Segoe UI Light" panose="020B0502040204020203" pitchFamily="34" charset="0"/>
              </a:rPr>
              <a:t>assigning a business classification code </a:t>
            </a:r>
            <a:r>
              <a:rPr lang="en-US" dirty="0">
                <a:latin typeface="Segoe UI Light" panose="020B0502040204020203" pitchFamily="34" charset="0"/>
              </a:rPr>
              <a:t>(or combination of codes) that best describes the business operations. </a:t>
            </a:r>
          </a:p>
          <a:p>
            <a:pPr marL="285750" indent="-285750">
              <a:spcBef>
                <a:spcPct val="20000"/>
              </a:spcBef>
              <a:buClr>
                <a:schemeClr val="tx1"/>
              </a:buClr>
              <a:buFont typeface="Arial" panose="020B0604020202020204" pitchFamily="34" charset="0"/>
              <a:buChar char="•"/>
              <a:defRPr/>
            </a:pPr>
            <a:r>
              <a:rPr lang="en-US" dirty="0">
                <a:latin typeface="Segoe UI Light" panose="020B0502040204020203" pitchFamily="34" charset="0"/>
              </a:rPr>
              <a:t>Each code represents a rate per $100 of payroll( Salary/ Compensation) that is multiplied by the total estimated annual payroll for that code. This gives </a:t>
            </a:r>
            <a:r>
              <a:rPr lang="en-US" b="1" dirty="0">
                <a:latin typeface="Segoe UI Light" panose="020B0502040204020203" pitchFamily="34" charset="0"/>
              </a:rPr>
              <a:t>estimated Annual Premium</a:t>
            </a:r>
          </a:p>
          <a:p>
            <a:pPr marL="285750" indent="-285750">
              <a:spcBef>
                <a:spcPct val="20000"/>
              </a:spcBef>
              <a:buClr>
                <a:schemeClr val="tx1"/>
              </a:buClr>
              <a:buFont typeface="Arial" panose="020B0604020202020204" pitchFamily="34" charset="0"/>
              <a:buChar char="•"/>
              <a:defRPr/>
            </a:pPr>
            <a:r>
              <a:rPr lang="en-US" dirty="0">
                <a:latin typeface="Segoe UI Light" panose="020B0502040204020203" pitchFamily="34" charset="0"/>
              </a:rPr>
              <a:t>Other factors may affect the calculation, such as business's safety practices, past history and experience modification. </a:t>
            </a:r>
            <a:r>
              <a:rPr lang="en-US" b="1" dirty="0">
                <a:latin typeface="Segoe UI Light" panose="020B0502040204020203" pitchFamily="34" charset="0"/>
              </a:rPr>
              <a:t>Modifiers get applied to the estimated premium</a:t>
            </a:r>
          </a:p>
          <a:p>
            <a:pPr marL="285750" indent="-285750">
              <a:spcBef>
                <a:spcPct val="20000"/>
              </a:spcBef>
              <a:buClr>
                <a:schemeClr val="tx1"/>
              </a:buClr>
              <a:buFont typeface="Arial" panose="020B0604020202020204" pitchFamily="34" charset="0"/>
              <a:buChar char="•"/>
              <a:defRPr/>
            </a:pPr>
            <a:r>
              <a:rPr lang="en-IN" b="1" dirty="0">
                <a:latin typeface="Segoe UI Light" panose="020B0502040204020203" pitchFamily="34" charset="0"/>
              </a:rPr>
              <a:t>Insurance company’s examination </a:t>
            </a:r>
            <a:r>
              <a:rPr lang="en-IN" dirty="0">
                <a:latin typeface="Segoe UI Light" panose="020B0502040204020203" pitchFamily="34" charset="0"/>
              </a:rPr>
              <a:t>of an insured business’s payroll records in order to determine the final premium due on a workers’ compensation insurance policy.</a:t>
            </a:r>
          </a:p>
          <a:p>
            <a:pPr marL="285750" indent="-285750">
              <a:spcBef>
                <a:spcPct val="20000"/>
              </a:spcBef>
              <a:buClr>
                <a:schemeClr val="tx1"/>
              </a:buClr>
              <a:buFont typeface="Arial" panose="020B0604020202020204" pitchFamily="34" charset="0"/>
              <a:buChar char="•"/>
              <a:defRPr/>
            </a:pPr>
            <a:r>
              <a:rPr lang="en-IN" dirty="0">
                <a:latin typeface="Segoe UI Light" panose="020B0502040204020203" pitchFamily="34" charset="0"/>
              </a:rPr>
              <a:t>A </a:t>
            </a:r>
            <a:r>
              <a:rPr lang="en-IN" b="1" dirty="0">
                <a:latin typeface="Segoe UI Light" panose="020B0502040204020203" pitchFamily="34" charset="0"/>
              </a:rPr>
              <a:t>premium audit </a:t>
            </a:r>
            <a:r>
              <a:rPr lang="en-IN" dirty="0">
                <a:latin typeface="Segoe UI Light" panose="020B0502040204020203" pitchFamily="34" charset="0"/>
              </a:rPr>
              <a:t>is conducted on Workers' Compensation policy. The primary function of the audit process is </a:t>
            </a:r>
            <a:r>
              <a:rPr lang="en-IN" u="sng" dirty="0">
                <a:latin typeface="Segoe UI Light" panose="020B0502040204020203" pitchFamily="34" charset="0"/>
              </a:rPr>
              <a:t>to determine the actual payroll used in calculating the final premium on the policy</a:t>
            </a:r>
            <a:r>
              <a:rPr lang="en-IN" dirty="0">
                <a:latin typeface="Segoe UI Light" panose="020B0502040204020203" pitchFamily="34" charset="0"/>
              </a:rPr>
              <a:t>. The premium will be adjusted as a result of the audit. If payroll have been underestimated, this will result in additional billing &amp; if payroll have been overestimated, a billing credit will result.</a:t>
            </a:r>
          </a:p>
          <a:p>
            <a:pPr marL="285750" indent="-285750">
              <a:spcBef>
                <a:spcPct val="20000"/>
              </a:spcBef>
              <a:buClr>
                <a:schemeClr val="tx1"/>
              </a:buClr>
              <a:buFont typeface="Arial" panose="020B0604020202020204" pitchFamily="34" charset="0"/>
              <a:buChar char="•"/>
              <a:defRPr/>
            </a:pPr>
            <a:r>
              <a:rPr lang="en-IN" dirty="0">
                <a:latin typeface="Segoe UI Light" panose="020B0502040204020203" pitchFamily="34" charset="0"/>
              </a:rPr>
              <a:t>That is why while issuing a policy premium is always estimated premium which is audited later on to get the final premium.</a:t>
            </a:r>
          </a:p>
        </p:txBody>
      </p:sp>
      <p:sp>
        <p:nvSpPr>
          <p:cNvPr id="4" name="Rectangle 3"/>
          <p:cNvSpPr/>
          <p:nvPr/>
        </p:nvSpPr>
        <p:spPr>
          <a:xfrm>
            <a:off x="396667" y="468175"/>
            <a:ext cx="3404778" cy="400110"/>
          </a:xfrm>
          <a:prstGeom prst="rect">
            <a:avLst/>
          </a:prstGeom>
        </p:spPr>
        <p:txBody>
          <a:bodyPr wrap="none">
            <a:spAutoFit/>
          </a:bodyPr>
          <a:lstStyle/>
          <a:p>
            <a:pPr>
              <a:spcBef>
                <a:spcPct val="20000"/>
              </a:spcBef>
              <a:buClr>
                <a:schemeClr val="tx1"/>
              </a:buClr>
              <a:defRPr/>
            </a:pPr>
            <a:r>
              <a:rPr lang="en-US" sz="2000" b="1" dirty="0">
                <a:latin typeface="Segoe UI Light" panose="020B0502040204020203" pitchFamily="34" charset="0"/>
              </a:rPr>
              <a:t>Stepwise Premium Calculation</a:t>
            </a:r>
          </a:p>
        </p:txBody>
      </p:sp>
    </p:spTree>
    <p:extLst>
      <p:ext uri="{BB962C8B-B14F-4D97-AF65-F5344CB8AC3E}">
        <p14:creationId xmlns:p14="http://schemas.microsoft.com/office/powerpoint/2010/main" val="1786927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3" name="TextBox 2"/>
          <p:cNvSpPr txBox="1"/>
          <p:nvPr/>
        </p:nvSpPr>
        <p:spPr>
          <a:xfrm>
            <a:off x="647700" y="359558"/>
            <a:ext cx="5943600" cy="400110"/>
          </a:xfrm>
          <a:prstGeom prst="rect">
            <a:avLst/>
          </a:prstGeom>
          <a:noFill/>
        </p:spPr>
        <p:txBody>
          <a:bodyPr wrap="square" rtlCol="0">
            <a:spAutoFit/>
          </a:bodyPr>
          <a:lstStyle/>
          <a:p>
            <a:r>
              <a:rPr lang="en-US" sz="2000" b="1" dirty="0">
                <a:latin typeface="Arial" pitchFamily="34" charset="0"/>
                <a:cs typeface="Arial" pitchFamily="34" charset="0"/>
              </a:rPr>
              <a:t>Workers Compensation Algorithm</a:t>
            </a:r>
          </a:p>
        </p:txBody>
      </p:sp>
      <p:sp>
        <p:nvSpPr>
          <p:cNvPr id="4" name="TextBox 3"/>
          <p:cNvSpPr txBox="1"/>
          <p:nvPr/>
        </p:nvSpPr>
        <p:spPr>
          <a:xfrm>
            <a:off x="1828800" y="1219201"/>
            <a:ext cx="8229600" cy="4838248"/>
          </a:xfrm>
          <a:prstGeom prst="rect">
            <a:avLst/>
          </a:prstGeom>
          <a:noFill/>
        </p:spPr>
        <p:txBody>
          <a:bodyPr wrap="square" rtlCol="0">
            <a:spAutoFit/>
          </a:bodyPr>
          <a:lstStyle/>
          <a:p>
            <a:pPr marL="285750" indent="-285750">
              <a:spcBef>
                <a:spcPct val="20000"/>
              </a:spcBef>
              <a:buClr>
                <a:schemeClr val="tx1"/>
              </a:buClr>
              <a:buFont typeface="Arial" panose="020B0604020202020204" pitchFamily="34" charset="0"/>
              <a:buChar char="•"/>
              <a:defRPr/>
            </a:pPr>
            <a:r>
              <a:rPr lang="en-US" dirty="0">
                <a:latin typeface="Segoe UI Light" panose="020B0502040204020203" pitchFamily="34" charset="0"/>
              </a:rPr>
              <a:t>While calculating the premium of a policy, Algorithm for that particular state should always been taken care of.</a:t>
            </a:r>
          </a:p>
          <a:p>
            <a:pPr marL="285750" indent="-285750">
              <a:spcBef>
                <a:spcPct val="20000"/>
              </a:spcBef>
              <a:buClr>
                <a:schemeClr val="tx1"/>
              </a:buClr>
              <a:buFont typeface="Arial" panose="020B0604020202020204" pitchFamily="34" charset="0"/>
              <a:buChar char="•"/>
              <a:defRPr/>
            </a:pPr>
            <a:endParaRPr lang="en-US" dirty="0">
              <a:latin typeface="Segoe UI Light" panose="020B0502040204020203" pitchFamily="34" charset="0"/>
            </a:endParaRPr>
          </a:p>
          <a:p>
            <a:pPr marL="285750" indent="-285750">
              <a:spcBef>
                <a:spcPct val="20000"/>
              </a:spcBef>
              <a:buClr>
                <a:schemeClr val="tx1"/>
              </a:buClr>
              <a:buFont typeface="Arial" panose="020B0604020202020204" pitchFamily="34" charset="0"/>
              <a:buChar char="•"/>
              <a:defRPr/>
            </a:pPr>
            <a:r>
              <a:rPr lang="en-US" dirty="0">
                <a:latin typeface="Segoe UI Light" panose="020B0502040204020203" pitchFamily="34" charset="0"/>
              </a:rPr>
              <a:t>Premium Algorithm comprises of 4 different components which are in subtle order and cumulatively arrive at the Estimated Annual premium.</a:t>
            </a:r>
          </a:p>
          <a:p>
            <a:pPr marL="342900" indent="-342900">
              <a:spcBef>
                <a:spcPct val="20000"/>
              </a:spcBef>
              <a:buClr>
                <a:srgbClr val="C00000"/>
              </a:buClr>
              <a:buFont typeface="Wingdings" pitchFamily="2" charset="2"/>
              <a:buChar char="v"/>
            </a:pPr>
            <a:endParaRPr lang="en-US" sz="1600" dirty="0">
              <a:latin typeface="Arial" pitchFamily="34" charset="0"/>
              <a:cs typeface="Arial" pitchFamily="34" charset="0"/>
            </a:endParaRPr>
          </a:p>
          <a:p>
            <a:pPr marL="342900" indent="-342900"/>
            <a:r>
              <a:rPr lang="en-IN" sz="1600" b="1" dirty="0">
                <a:latin typeface="Arial" pitchFamily="34" charset="0"/>
                <a:cs typeface="Arial" pitchFamily="34" charset="0"/>
              </a:rPr>
              <a:t>	4 Components of Premium computation flowchart:</a:t>
            </a:r>
          </a:p>
          <a:p>
            <a:pPr marL="342900" indent="-342900"/>
            <a:endParaRPr lang="en-US" sz="1600" dirty="0">
              <a:latin typeface="Arial" pitchFamily="34" charset="0"/>
              <a:cs typeface="Arial" pitchFamily="34" charset="0"/>
            </a:endParaRPr>
          </a:p>
          <a:p>
            <a:pPr marL="342900" indent="-342900">
              <a:buFont typeface="Wingdings" pitchFamily="2" charset="2"/>
              <a:buChar char="Ø"/>
            </a:pPr>
            <a:r>
              <a:rPr lang="en-US" sz="1600" dirty="0">
                <a:latin typeface="Arial" pitchFamily="34" charset="0"/>
                <a:cs typeface="Arial" pitchFamily="34" charset="0"/>
              </a:rPr>
              <a:t>    </a:t>
            </a:r>
            <a:r>
              <a:rPr lang="en-US" sz="1600" dirty="0">
                <a:solidFill>
                  <a:srgbClr val="C00000"/>
                </a:solidFill>
                <a:latin typeface="Arial" pitchFamily="34" charset="0"/>
                <a:cs typeface="Arial" pitchFamily="34" charset="0"/>
              </a:rPr>
              <a:t>Manual Premium</a:t>
            </a:r>
          </a:p>
          <a:p>
            <a:pPr marL="342900" indent="-342900">
              <a:buFont typeface="Wingdings" pitchFamily="2" charset="2"/>
              <a:buChar char="Ø"/>
            </a:pPr>
            <a:endParaRPr lang="en-US" sz="1600" dirty="0">
              <a:solidFill>
                <a:srgbClr val="C00000"/>
              </a:solidFill>
              <a:latin typeface="Arial" pitchFamily="34" charset="0"/>
              <a:cs typeface="Arial" pitchFamily="34" charset="0"/>
            </a:endParaRPr>
          </a:p>
          <a:p>
            <a:pPr marL="342900" indent="-342900">
              <a:buFont typeface="Wingdings" pitchFamily="2" charset="2"/>
              <a:buChar char="Ø"/>
            </a:pPr>
            <a:r>
              <a:rPr lang="en-US" sz="1600" dirty="0">
                <a:solidFill>
                  <a:srgbClr val="C00000"/>
                </a:solidFill>
                <a:latin typeface="Arial" pitchFamily="34" charset="0"/>
                <a:cs typeface="Arial" pitchFamily="34" charset="0"/>
              </a:rPr>
              <a:t>    Subject Premium</a:t>
            </a:r>
          </a:p>
          <a:p>
            <a:pPr marL="342900" indent="-342900">
              <a:buFont typeface="Wingdings" pitchFamily="2" charset="2"/>
              <a:buChar char="Ø"/>
            </a:pPr>
            <a:endParaRPr lang="en-US" sz="1600" dirty="0">
              <a:latin typeface="Arial" pitchFamily="34" charset="0"/>
              <a:cs typeface="Arial" pitchFamily="34" charset="0"/>
            </a:endParaRPr>
          </a:p>
          <a:p>
            <a:pPr marL="342900" indent="-342900">
              <a:buFont typeface="Wingdings" pitchFamily="2" charset="2"/>
              <a:buChar char="Ø"/>
            </a:pPr>
            <a:r>
              <a:rPr lang="en-US" sz="1600" dirty="0">
                <a:latin typeface="Arial" pitchFamily="34" charset="0"/>
                <a:cs typeface="Arial" pitchFamily="34" charset="0"/>
              </a:rPr>
              <a:t>    </a:t>
            </a:r>
            <a:r>
              <a:rPr lang="en-US" sz="1600" dirty="0">
                <a:solidFill>
                  <a:srgbClr val="C00000"/>
                </a:solidFill>
                <a:latin typeface="Arial" pitchFamily="34" charset="0"/>
                <a:cs typeface="Arial" pitchFamily="34" charset="0"/>
              </a:rPr>
              <a:t>Modified Premium</a:t>
            </a:r>
          </a:p>
          <a:p>
            <a:pPr marL="342900" indent="-342900">
              <a:buFont typeface="Wingdings" pitchFamily="2" charset="2"/>
              <a:buChar char="Ø"/>
            </a:pPr>
            <a:endParaRPr lang="en-US" sz="1600" dirty="0">
              <a:latin typeface="Arial" pitchFamily="34" charset="0"/>
              <a:cs typeface="Arial" pitchFamily="34" charset="0"/>
            </a:endParaRPr>
          </a:p>
          <a:p>
            <a:pPr marL="342900" indent="-342900">
              <a:buFont typeface="Wingdings" pitchFamily="2" charset="2"/>
              <a:buChar char="Ø"/>
            </a:pPr>
            <a:r>
              <a:rPr lang="en-US" sz="1600" dirty="0">
                <a:latin typeface="Arial" pitchFamily="34" charset="0"/>
                <a:cs typeface="Arial" pitchFamily="34" charset="0"/>
              </a:rPr>
              <a:t>    </a:t>
            </a:r>
            <a:r>
              <a:rPr lang="en-US" sz="1600" dirty="0">
                <a:solidFill>
                  <a:srgbClr val="C00000"/>
                </a:solidFill>
                <a:latin typeface="Arial" pitchFamily="34" charset="0"/>
                <a:cs typeface="Arial" pitchFamily="34" charset="0"/>
              </a:rPr>
              <a:t>Standard Premium</a:t>
            </a:r>
          </a:p>
          <a:p>
            <a:pPr marL="573088" indent="-573088"/>
            <a:endParaRPr lang="en-US" sz="1600" dirty="0">
              <a:latin typeface="Arial" pitchFamily="34" charset="0"/>
              <a:cs typeface="Arial" pitchFamily="34" charset="0"/>
            </a:endParaRPr>
          </a:p>
          <a:p>
            <a:pPr marL="573088" indent="-573088"/>
            <a:r>
              <a:rPr lang="en-US" sz="1600" b="1" dirty="0">
                <a:latin typeface="Arial" pitchFamily="34" charset="0"/>
                <a:cs typeface="Arial" pitchFamily="34" charset="0"/>
              </a:rPr>
              <a:t>These adds up to Estimated Annual Premium</a:t>
            </a:r>
          </a:p>
          <a:p>
            <a:pPr marL="573088" indent="-573088"/>
            <a:r>
              <a:rPr lang="en-US" sz="1600" dirty="0">
                <a:latin typeface="Arial" pitchFamily="34" charset="0"/>
                <a:cs typeface="Arial" pitchFamily="34" charset="0"/>
              </a:rPr>
              <a:t>	</a:t>
            </a:r>
            <a:endParaRPr lang="en-US" dirty="0">
              <a:latin typeface="Arial" pitchFamily="34" charset="0"/>
              <a:cs typeface="Arial" pitchFamily="34" charset="0"/>
            </a:endParaRPr>
          </a:p>
        </p:txBody>
      </p:sp>
    </p:spTree>
    <p:extLst>
      <p:ext uri="{BB962C8B-B14F-4D97-AF65-F5344CB8AC3E}">
        <p14:creationId xmlns:p14="http://schemas.microsoft.com/office/powerpoint/2010/main" val="26650498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54"/>
          <p:cNvGraphicFramePr>
            <a:graphicFrameLocks noGrp="1"/>
          </p:cNvGraphicFramePr>
          <p:nvPr>
            <p:extLst>
              <p:ext uri="{D42A27DB-BD31-4B8C-83A1-F6EECF244321}">
                <p14:modId xmlns:p14="http://schemas.microsoft.com/office/powerpoint/2010/main" val="3857544359"/>
              </p:ext>
            </p:extLst>
          </p:nvPr>
        </p:nvGraphicFramePr>
        <p:xfrm>
          <a:off x="1981200" y="1905000"/>
          <a:ext cx="8229600" cy="3733800"/>
        </p:xfrm>
        <a:graphic>
          <a:graphicData uri="http://schemas.openxmlformats.org/drawingml/2006/table">
            <a:tbl>
              <a:tblPr>
                <a:tableStyleId>{3C2FFA5D-87B4-456A-9821-1D502468CF0F}</a:tableStyleId>
              </a:tblPr>
              <a:tblGrid>
                <a:gridCol w="40386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tblGrid>
              <a:tr h="746760">
                <a:tc>
                  <a:txBody>
                    <a:bodyPr/>
                    <a:lstStyle/>
                    <a:p>
                      <a:pPr marL="342900" marR="0" lvl="0" indent="-342900" algn="ctr" defTabSz="914400" rtl="0" eaLnBrk="0" fontAlgn="b" latinLnBrk="0" hangingPunct="0">
                        <a:lnSpc>
                          <a:spcPct val="100000"/>
                        </a:lnSpc>
                        <a:spcBef>
                          <a:spcPct val="0"/>
                        </a:spcBef>
                        <a:spcAft>
                          <a:spcPct val="0"/>
                        </a:spcAft>
                        <a:buClrTx/>
                        <a:buSzTx/>
                        <a:buFont typeface="Arial" pitchFamily="34" charset="0"/>
                        <a:buNone/>
                        <a:tabLst/>
                      </a:pPr>
                      <a:r>
                        <a:rPr kumimoji="0" lang="en-US" sz="1000" u="none" strike="noStrike" cap="none" normalizeH="0" baseline="0" dirty="0">
                          <a:ln>
                            <a:noFill/>
                          </a:ln>
                          <a:effectLst/>
                        </a:rPr>
                        <a:t>PREMIUM ELEMENTS </a:t>
                      </a:r>
                      <a:endParaRPr kumimoji="0" lang="en-US" sz="1800" b="0" i="0" u="none" strike="noStrike" cap="none" normalizeH="0" baseline="0" dirty="0">
                        <a:ln>
                          <a:noFill/>
                        </a:ln>
                        <a:solidFill>
                          <a:schemeClr val="tx1"/>
                        </a:solidFill>
                        <a:effectLst/>
                        <a:latin typeface="Calibri" pitchFamily="34" charset="0"/>
                      </a:endParaRPr>
                    </a:p>
                  </a:txBody>
                  <a:tcPr anchor="ctr" horzOverflow="overflow"/>
                </a:tc>
                <a:tc>
                  <a:txBody>
                    <a:bodyPr/>
                    <a:lstStyle/>
                    <a:p>
                      <a:pPr marL="342900" marR="0" lvl="0" indent="-342900" algn="ctr" defTabSz="914400" rtl="0" eaLnBrk="0" fontAlgn="b" latinLnBrk="0" hangingPunct="0">
                        <a:lnSpc>
                          <a:spcPct val="100000"/>
                        </a:lnSpc>
                        <a:spcBef>
                          <a:spcPct val="0"/>
                        </a:spcBef>
                        <a:spcAft>
                          <a:spcPct val="0"/>
                        </a:spcAft>
                        <a:buClrTx/>
                        <a:buSzTx/>
                        <a:buFont typeface="Arial" pitchFamily="34" charset="0"/>
                        <a:buNone/>
                        <a:tabLst/>
                      </a:pPr>
                      <a:r>
                        <a:rPr kumimoji="0" lang="en-US" sz="1000" u="none" strike="noStrike" cap="none" normalizeH="0" baseline="0" dirty="0">
                          <a:ln>
                            <a:noFill/>
                          </a:ln>
                          <a:effectLst/>
                        </a:rPr>
                        <a:t>EXPLANATORY NOTES</a:t>
                      </a:r>
                      <a:endParaRPr kumimoji="0" lang="en-US" sz="1800" b="0" i="0" u="none" strike="noStrike" cap="none" normalizeH="0" baseline="0" dirty="0">
                        <a:ln>
                          <a:noFill/>
                        </a:ln>
                        <a:solidFill>
                          <a:schemeClr val="tx1"/>
                        </a:solidFill>
                        <a:effectLst/>
                        <a:latin typeface="Calibri" pitchFamily="34" charset="0"/>
                      </a:endParaRPr>
                    </a:p>
                  </a:txBody>
                  <a:tcPr anchor="ctr" horzOverflow="overflow"/>
                </a:tc>
                <a:extLst>
                  <a:ext uri="{0D108BD9-81ED-4DB2-BD59-A6C34878D82A}">
                    <a16:rowId xmlns:a16="http://schemas.microsoft.com/office/drawing/2014/main" val="10000"/>
                  </a:ext>
                </a:extLst>
              </a:tr>
              <a:tr h="746760">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a:ln>
                            <a:noFill/>
                          </a:ln>
                          <a:effectLst/>
                        </a:rPr>
                        <a:t>MANUAL PREMIUM </a:t>
                      </a:r>
                      <a:endParaRPr kumimoji="0" lang="en-US" sz="1200" b="0" i="0" u="none" strike="noStrike" cap="none" normalizeH="0" baseline="0" dirty="0">
                        <a:ln>
                          <a:noFill/>
                        </a:ln>
                        <a:solidFill>
                          <a:schemeClr val="tx1"/>
                        </a:solidFill>
                        <a:effectLst/>
                        <a:latin typeface="Calibri" pitchFamily="34" charset="0"/>
                      </a:endParaRPr>
                    </a:p>
                  </a:txBody>
                  <a:tcPr anchor="ctr" horzOverflow="overflow"/>
                </a:tc>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a:ln>
                            <a:noFill/>
                          </a:ln>
                          <a:effectLst/>
                        </a:rPr>
                        <a:t>[(PAYROLL / 100) * RATE]</a:t>
                      </a:r>
                      <a:endParaRPr kumimoji="0" lang="en-US" sz="1200" b="0" i="0" u="none" strike="noStrike" cap="none" normalizeH="0" baseline="0" dirty="0">
                        <a:ln>
                          <a:noFill/>
                        </a:ln>
                        <a:solidFill>
                          <a:schemeClr val="tx1"/>
                        </a:solidFill>
                        <a:effectLst/>
                        <a:latin typeface="Calibri" pitchFamily="34" charset="0"/>
                      </a:endParaRPr>
                    </a:p>
                  </a:txBody>
                  <a:tcPr anchor="ctr" horzOverflow="overflow"/>
                </a:tc>
                <a:extLst>
                  <a:ext uri="{0D108BD9-81ED-4DB2-BD59-A6C34878D82A}">
                    <a16:rowId xmlns:a16="http://schemas.microsoft.com/office/drawing/2014/main" val="10001"/>
                  </a:ext>
                </a:extLst>
              </a:tr>
              <a:tr h="746760">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a:ln>
                            <a:noFill/>
                          </a:ln>
                          <a:effectLst/>
                        </a:rPr>
                        <a:t>Supplementary Disease (foundry, abrasive, sandblasting) </a:t>
                      </a:r>
                      <a:endParaRPr kumimoji="0" lang="en-US" sz="1200" b="0" i="0" u="none" strike="noStrike" cap="none" normalizeH="0" baseline="0" dirty="0">
                        <a:ln>
                          <a:noFill/>
                        </a:ln>
                        <a:solidFill>
                          <a:schemeClr val="tx1"/>
                        </a:solidFill>
                        <a:effectLst/>
                        <a:latin typeface="Calibri" pitchFamily="34" charset="0"/>
                      </a:endParaRPr>
                    </a:p>
                  </a:txBody>
                  <a:tcPr anchor="ctr" horzOverflow="overflow"/>
                </a:tc>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a:ln>
                            <a:noFill/>
                          </a:ln>
                          <a:effectLst/>
                        </a:rPr>
                        <a:t>[(SUBJECT PAYROLL / 100) * DISEASE RATE]</a:t>
                      </a:r>
                      <a:endParaRPr kumimoji="0" lang="en-US" sz="1200" b="0" i="0" u="none" strike="noStrike" cap="none" normalizeH="0" baseline="0" dirty="0">
                        <a:ln>
                          <a:noFill/>
                        </a:ln>
                        <a:solidFill>
                          <a:schemeClr val="tx1"/>
                        </a:solidFill>
                        <a:effectLst/>
                        <a:latin typeface="Calibri" pitchFamily="34" charset="0"/>
                      </a:endParaRPr>
                    </a:p>
                  </a:txBody>
                  <a:tcPr anchor="ctr" horzOverflow="overflow"/>
                </a:tc>
                <a:extLst>
                  <a:ext uri="{0D108BD9-81ED-4DB2-BD59-A6C34878D82A}">
                    <a16:rowId xmlns:a16="http://schemas.microsoft.com/office/drawing/2014/main" val="10002"/>
                  </a:ext>
                </a:extLst>
              </a:tr>
              <a:tr h="746760">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a:ln>
                            <a:noFill/>
                          </a:ln>
                          <a:effectLst/>
                        </a:rPr>
                        <a:t>USL&amp;H Exposure for non-F classification codes </a:t>
                      </a:r>
                      <a:endParaRPr kumimoji="0" lang="en-US" sz="1200" b="0" i="0" u="none" strike="noStrike" cap="none" normalizeH="0" baseline="0" dirty="0">
                        <a:ln>
                          <a:noFill/>
                        </a:ln>
                        <a:solidFill>
                          <a:schemeClr val="tx1"/>
                        </a:solidFill>
                        <a:effectLst/>
                        <a:latin typeface="Calibri" pitchFamily="34" charset="0"/>
                      </a:endParaRPr>
                    </a:p>
                  </a:txBody>
                  <a:tcPr anchor="ctr" horzOverflow="overflow"/>
                </a:tc>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a:ln>
                            <a:noFill/>
                          </a:ln>
                          <a:effectLst/>
                        </a:rPr>
                        <a:t>[(SUBJECT PAYROLL / 100) * (RATE * USL&amp;H FACTOR)]</a:t>
                      </a:r>
                      <a:endParaRPr kumimoji="0" lang="en-US" sz="1200" b="0" i="0" u="none" strike="noStrike" cap="none" normalizeH="0" baseline="0" dirty="0">
                        <a:ln>
                          <a:noFill/>
                        </a:ln>
                        <a:solidFill>
                          <a:schemeClr val="tx1"/>
                        </a:solidFill>
                        <a:effectLst/>
                        <a:latin typeface="Calibri" pitchFamily="34" charset="0"/>
                      </a:endParaRPr>
                    </a:p>
                  </a:txBody>
                  <a:tcPr anchor="ctr" horzOverflow="overflow"/>
                </a:tc>
                <a:extLst>
                  <a:ext uri="{0D108BD9-81ED-4DB2-BD59-A6C34878D82A}">
                    <a16:rowId xmlns:a16="http://schemas.microsoft.com/office/drawing/2014/main" val="10003"/>
                  </a:ext>
                </a:extLst>
              </a:tr>
              <a:tr h="746760">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b="1" u="none" strike="noStrike" cap="none" normalizeH="0" baseline="0" dirty="0">
                          <a:ln>
                            <a:noFill/>
                          </a:ln>
                          <a:solidFill>
                            <a:srgbClr val="C00000"/>
                          </a:solidFill>
                          <a:effectLst/>
                        </a:rPr>
                        <a:t>TOTAL MANUAL PREMIUM</a:t>
                      </a:r>
                      <a:endParaRPr kumimoji="0" lang="en-US" sz="1200" b="1" i="0" u="none" strike="noStrike" cap="none" normalizeH="0" baseline="0" dirty="0">
                        <a:ln>
                          <a:noFill/>
                        </a:ln>
                        <a:solidFill>
                          <a:srgbClr val="C00000"/>
                        </a:solidFill>
                        <a:effectLst/>
                        <a:latin typeface="Calibri" pitchFamily="34" charset="0"/>
                        <a:cs typeface="Arial" pitchFamily="34" charset="0"/>
                      </a:endParaRPr>
                    </a:p>
                  </a:txBody>
                  <a:tcPr anchor="ctr" horzOverflow="overflow"/>
                </a:tc>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a:ln>
                            <a:noFill/>
                          </a:ln>
                          <a:effectLst/>
                        </a:rPr>
                        <a:t> </a:t>
                      </a:r>
                      <a:endParaRPr kumimoji="0" lang="en-US" sz="1200" b="0" i="0" u="none" strike="noStrike" cap="none" normalizeH="0" baseline="0" dirty="0">
                        <a:ln>
                          <a:noFill/>
                        </a:ln>
                        <a:solidFill>
                          <a:schemeClr val="tx1"/>
                        </a:solidFill>
                        <a:effectLst/>
                        <a:latin typeface="Calibri" pitchFamily="34" charset="0"/>
                      </a:endParaRPr>
                    </a:p>
                  </a:txBody>
                  <a:tcPr anchor="ctr" horzOverflow="overflow"/>
                </a:tc>
                <a:extLst>
                  <a:ext uri="{0D108BD9-81ED-4DB2-BD59-A6C34878D82A}">
                    <a16:rowId xmlns:a16="http://schemas.microsoft.com/office/drawing/2014/main" val="10004"/>
                  </a:ext>
                </a:extLst>
              </a:tr>
            </a:tbl>
          </a:graphicData>
        </a:graphic>
      </p:graphicFrame>
      <p:sp>
        <p:nvSpPr>
          <p:cNvPr id="3" name="Rectangle 53"/>
          <p:cNvSpPr>
            <a:spLocks noChangeArrowheads="1"/>
          </p:cNvSpPr>
          <p:nvPr/>
        </p:nvSpPr>
        <p:spPr bwMode="auto">
          <a:xfrm>
            <a:off x="1828800" y="1300163"/>
            <a:ext cx="3409908" cy="369332"/>
          </a:xfrm>
          <a:prstGeom prst="rect">
            <a:avLst/>
          </a:prstGeom>
          <a:noFill/>
          <a:ln w="9525">
            <a:noFill/>
            <a:miter lim="800000"/>
            <a:headEnd/>
            <a:tailEnd/>
          </a:ln>
        </p:spPr>
        <p:txBody>
          <a:bodyPr wrap="none">
            <a:spAutoFit/>
          </a:bodyPr>
          <a:lstStyle/>
          <a:p>
            <a:r>
              <a:rPr lang="en-US" dirty="0"/>
              <a:t> </a:t>
            </a:r>
            <a:r>
              <a:rPr lang="en-IN" sz="1600" dirty="0">
                <a:latin typeface="Verdana" pitchFamily="34" charset="0"/>
              </a:rPr>
              <a:t>Essentials for these premium:</a:t>
            </a:r>
            <a:r>
              <a:rPr lang="en-US" sz="1600" dirty="0">
                <a:latin typeface="Verdana" pitchFamily="34" charset="0"/>
              </a:rPr>
              <a:t> </a:t>
            </a:r>
            <a:endParaRPr lang="en-IN" sz="1600" dirty="0">
              <a:latin typeface="Verdana" pitchFamily="34" charset="0"/>
            </a:endParaRPr>
          </a:p>
        </p:txBody>
      </p:sp>
      <p:sp>
        <p:nvSpPr>
          <p:cNvPr id="4" name="Rectangle 23"/>
          <p:cNvSpPr>
            <a:spLocks noChangeArrowheads="1"/>
          </p:cNvSpPr>
          <p:nvPr/>
        </p:nvSpPr>
        <p:spPr bwMode="auto">
          <a:xfrm>
            <a:off x="762803" y="420221"/>
            <a:ext cx="4475905" cy="369332"/>
          </a:xfrm>
          <a:prstGeom prst="rect">
            <a:avLst/>
          </a:prstGeom>
          <a:noFill/>
          <a:ln w="9525">
            <a:noFill/>
            <a:miter lim="800000"/>
            <a:headEnd/>
            <a:tailEnd/>
          </a:ln>
        </p:spPr>
        <p:txBody>
          <a:bodyPr wrap="none">
            <a:spAutoFit/>
          </a:bodyPr>
          <a:lstStyle/>
          <a:p>
            <a:r>
              <a:rPr lang="en-US" b="1" dirty="0">
                <a:latin typeface="Verdana" pitchFamily="34" charset="0"/>
              </a:rPr>
              <a:t>A Snap shot: GA State Algorithm </a:t>
            </a:r>
          </a:p>
        </p:txBody>
      </p:sp>
      <p:pic>
        <p:nvPicPr>
          <p:cNvPr id="5" name="Picture 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Tree>
    <p:extLst>
      <p:ext uri="{BB962C8B-B14F-4D97-AF65-F5344CB8AC3E}">
        <p14:creationId xmlns:p14="http://schemas.microsoft.com/office/powerpoint/2010/main" val="1973690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3" name="Rectangle 66"/>
          <p:cNvSpPr>
            <a:spLocks noChangeArrowheads="1"/>
          </p:cNvSpPr>
          <p:nvPr/>
        </p:nvSpPr>
        <p:spPr bwMode="auto">
          <a:xfrm>
            <a:off x="1275358" y="455296"/>
            <a:ext cx="5867400" cy="369332"/>
          </a:xfrm>
          <a:prstGeom prst="rect">
            <a:avLst/>
          </a:prstGeom>
          <a:noFill/>
          <a:ln w="12700">
            <a:noFill/>
            <a:miter lim="800000"/>
            <a:headEnd/>
            <a:tailEnd/>
          </a:ln>
        </p:spPr>
        <p:txBody>
          <a:bodyPr anchor="ctr">
            <a:spAutoFit/>
          </a:bodyPr>
          <a:lstStyle/>
          <a:p>
            <a:pPr eaLnBrk="0" hangingPunct="0">
              <a:buSzPct val="120000"/>
              <a:tabLst>
                <a:tab pos="1828800" algn="l"/>
              </a:tabLst>
            </a:pPr>
            <a:r>
              <a:rPr lang="en-US" b="1" dirty="0">
                <a:latin typeface="Verdana" pitchFamily="34" charset="0"/>
              </a:rPr>
              <a:t>GA State Algorithm (Cont…)</a:t>
            </a:r>
          </a:p>
        </p:txBody>
      </p:sp>
      <p:graphicFrame>
        <p:nvGraphicFramePr>
          <p:cNvPr id="4" name="Group 223"/>
          <p:cNvGraphicFramePr>
            <a:graphicFrameLocks noGrp="1"/>
          </p:cNvGraphicFramePr>
          <p:nvPr>
            <p:extLst>
              <p:ext uri="{D42A27DB-BD31-4B8C-83A1-F6EECF244321}">
                <p14:modId xmlns:p14="http://schemas.microsoft.com/office/powerpoint/2010/main" val="1323981151"/>
              </p:ext>
            </p:extLst>
          </p:nvPr>
        </p:nvGraphicFramePr>
        <p:xfrm>
          <a:off x="1808758" y="1242419"/>
          <a:ext cx="8001000" cy="5155572"/>
        </p:xfrm>
        <a:graphic>
          <a:graphicData uri="http://schemas.openxmlformats.org/drawingml/2006/table">
            <a:tbl>
              <a:tblPr>
                <a:tableStyleId>{3C2FFA5D-87B4-456A-9821-1D502468CF0F}</a:tableStyleId>
              </a:tblPr>
              <a:tblGrid>
                <a:gridCol w="4365625">
                  <a:extLst>
                    <a:ext uri="{9D8B030D-6E8A-4147-A177-3AD203B41FA5}">
                      <a16:colId xmlns:a16="http://schemas.microsoft.com/office/drawing/2014/main" val="20000"/>
                    </a:ext>
                  </a:extLst>
                </a:gridCol>
                <a:gridCol w="3635375">
                  <a:extLst>
                    <a:ext uri="{9D8B030D-6E8A-4147-A177-3AD203B41FA5}">
                      <a16:colId xmlns:a16="http://schemas.microsoft.com/office/drawing/2014/main" val="20001"/>
                    </a:ext>
                  </a:extLst>
                </a:gridCol>
              </a:tblGrid>
              <a:tr h="423863">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a:ln>
                            <a:noFill/>
                          </a:ln>
                          <a:effectLst/>
                        </a:rPr>
                        <a:t>Waiver of Subrogation</a:t>
                      </a:r>
                      <a:endParaRPr kumimoji="0" lang="en-US" sz="1100" b="0" i="0" u="none" strike="noStrike" cap="none" normalizeH="0" baseline="0" dirty="0">
                        <a:ln>
                          <a:noFill/>
                        </a:ln>
                        <a:solidFill>
                          <a:schemeClr val="tx1"/>
                        </a:solidFill>
                        <a:effectLst/>
                        <a:latin typeface="Calibri"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a:ln>
                            <a:noFill/>
                          </a:ln>
                          <a:effectLst/>
                        </a:rPr>
                        <a:t>[% applied to the portion of Total manual Premium where waiver is applied]</a:t>
                      </a:r>
                      <a:endParaRPr kumimoji="0" lang="en-US" sz="1100" b="0" i="0" u="none" strike="noStrike" cap="none" normalizeH="0" baseline="0" dirty="0">
                        <a:ln>
                          <a:noFill/>
                        </a:ln>
                        <a:solidFill>
                          <a:schemeClr val="tx1"/>
                        </a:solidFill>
                        <a:effectLst/>
                        <a:latin typeface="Calibri" pitchFamily="34" charset="0"/>
                      </a:endParaRPr>
                    </a:p>
                  </a:txBody>
                  <a:tcPr horzOverflow="overflow"/>
                </a:tc>
                <a:extLst>
                  <a:ext uri="{0D108BD9-81ED-4DB2-BD59-A6C34878D82A}">
                    <a16:rowId xmlns:a16="http://schemas.microsoft.com/office/drawing/2014/main" val="10000"/>
                  </a:ext>
                </a:extLst>
              </a:tr>
              <a:tr h="26193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a:ln>
                            <a:noFill/>
                          </a:ln>
                          <a:effectLst/>
                        </a:rPr>
                        <a:t>Employers Liability (E/L) increased limits factor </a:t>
                      </a:r>
                      <a:endParaRPr kumimoji="0" lang="en-US" sz="1100" b="0" i="0" u="none" strike="noStrike" cap="none" normalizeH="0" baseline="0" dirty="0">
                        <a:ln>
                          <a:noFill/>
                        </a:ln>
                        <a:solidFill>
                          <a:schemeClr val="tx1"/>
                        </a:solidFill>
                        <a:effectLst/>
                        <a:latin typeface="Calibri"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a:ln>
                            <a:noFill/>
                          </a:ln>
                          <a:effectLst/>
                        </a:rPr>
                        <a:t>[% applied to Total Manual Premium]</a:t>
                      </a:r>
                      <a:endParaRPr kumimoji="0" lang="en-US" sz="1100" b="0" i="0" u="none" strike="noStrike" cap="none" normalizeH="0" baseline="0" dirty="0">
                        <a:ln>
                          <a:noFill/>
                        </a:ln>
                        <a:solidFill>
                          <a:schemeClr val="tx1"/>
                        </a:solidFill>
                        <a:effectLst/>
                        <a:latin typeface="Calibri" pitchFamily="34" charset="0"/>
                      </a:endParaRPr>
                    </a:p>
                  </a:txBody>
                  <a:tcPr horzOverflow="overflow"/>
                </a:tc>
                <a:extLst>
                  <a:ext uri="{0D108BD9-81ED-4DB2-BD59-A6C34878D82A}">
                    <a16:rowId xmlns:a16="http://schemas.microsoft.com/office/drawing/2014/main" val="10001"/>
                  </a:ext>
                </a:extLst>
              </a:tr>
              <a:tr h="422275">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a:ln>
                            <a:noFill/>
                          </a:ln>
                          <a:effectLst/>
                        </a:rPr>
                        <a:t>Employers Liability increased limits charge </a:t>
                      </a:r>
                      <a:endParaRPr kumimoji="0" lang="en-US" sz="1100" b="0" i="0" u="none" strike="noStrike" cap="none" normalizeH="0" baseline="0" dirty="0">
                        <a:ln>
                          <a:noFill/>
                        </a:ln>
                        <a:solidFill>
                          <a:schemeClr val="tx1"/>
                        </a:solidFill>
                        <a:effectLst/>
                        <a:latin typeface="Calibri"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a:ln>
                            <a:noFill/>
                          </a:ln>
                          <a:effectLst/>
                        </a:rPr>
                        <a:t>[Balance to E/L increased limits minimum premium]</a:t>
                      </a:r>
                      <a:endParaRPr kumimoji="0" lang="en-US" sz="1100" b="0" i="0" u="none" strike="noStrike" cap="none" normalizeH="0" baseline="0" dirty="0">
                        <a:ln>
                          <a:noFill/>
                        </a:ln>
                        <a:solidFill>
                          <a:schemeClr val="tx1"/>
                        </a:solidFill>
                        <a:effectLst/>
                        <a:latin typeface="Calibri" pitchFamily="34" charset="0"/>
                      </a:endParaRPr>
                    </a:p>
                  </a:txBody>
                  <a:tcPr horzOverflow="overflow"/>
                </a:tc>
                <a:extLst>
                  <a:ext uri="{0D108BD9-81ED-4DB2-BD59-A6C34878D82A}">
                    <a16:rowId xmlns:a16="http://schemas.microsoft.com/office/drawing/2014/main" val="10002"/>
                  </a:ext>
                </a:extLst>
              </a:tr>
              <a:tr h="412750">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a:ln>
                            <a:noFill/>
                          </a:ln>
                          <a:effectLst/>
                        </a:rPr>
                        <a:t>Employers Liability increased limits factor (Admiralty, FELA) </a:t>
                      </a:r>
                      <a:endParaRPr kumimoji="0" lang="en-US" sz="1100" b="0" i="0" u="none" strike="noStrike" cap="none" normalizeH="0" baseline="0" dirty="0">
                        <a:ln>
                          <a:noFill/>
                        </a:ln>
                        <a:solidFill>
                          <a:schemeClr val="tx1"/>
                        </a:solidFill>
                        <a:effectLst/>
                        <a:latin typeface="Calibri"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a:ln>
                            <a:noFill/>
                          </a:ln>
                          <a:effectLst/>
                        </a:rPr>
                        <a:t>[Factor applied to the portion of Manual Premium where Admiralty/FELA coverage is applicable] </a:t>
                      </a:r>
                      <a:endParaRPr kumimoji="0" lang="en-US" sz="1100" b="0" i="0" u="none" strike="noStrike" cap="none" normalizeH="0" baseline="0" dirty="0">
                        <a:ln>
                          <a:noFill/>
                        </a:ln>
                        <a:solidFill>
                          <a:schemeClr val="tx1"/>
                        </a:solidFill>
                        <a:effectLst/>
                        <a:latin typeface="Calibri" pitchFamily="34" charset="0"/>
                      </a:endParaRPr>
                    </a:p>
                  </a:txBody>
                  <a:tcPr horzOverflow="overflow"/>
                </a:tc>
                <a:extLst>
                  <a:ext uri="{0D108BD9-81ED-4DB2-BD59-A6C34878D82A}">
                    <a16:rowId xmlns:a16="http://schemas.microsoft.com/office/drawing/2014/main" val="10003"/>
                  </a:ext>
                </a:extLst>
              </a:tr>
              <a:tr h="35718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a:ln>
                            <a:noFill/>
                          </a:ln>
                          <a:effectLst/>
                        </a:rPr>
                        <a:t>Employers Liability/Voluntary Compensation flat charge</a:t>
                      </a:r>
                      <a:endParaRPr kumimoji="0" lang="en-US" sz="1100" b="0" i="0" u="none" strike="noStrike" cap="none" normalizeH="0" baseline="0" dirty="0">
                        <a:ln>
                          <a:noFill/>
                        </a:ln>
                        <a:solidFill>
                          <a:schemeClr val="tx1"/>
                        </a:solidFill>
                        <a:effectLst/>
                        <a:latin typeface="Calibri"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a:ln>
                            <a:noFill/>
                          </a:ln>
                          <a:effectLst/>
                        </a:rPr>
                        <a:t>[Coverage in Monopolistic State Funds]</a:t>
                      </a:r>
                      <a:endParaRPr kumimoji="0" lang="en-US" sz="1100" b="0" i="0" u="none" strike="noStrike" cap="none" normalizeH="0" baseline="0" dirty="0">
                        <a:ln>
                          <a:noFill/>
                        </a:ln>
                        <a:solidFill>
                          <a:schemeClr val="tx1"/>
                        </a:solidFill>
                        <a:effectLst/>
                        <a:latin typeface="Calibri" pitchFamily="34" charset="0"/>
                      </a:endParaRPr>
                    </a:p>
                  </a:txBody>
                  <a:tcPr horzOverflow="overflow"/>
                </a:tc>
                <a:extLst>
                  <a:ext uri="{0D108BD9-81ED-4DB2-BD59-A6C34878D82A}">
                    <a16:rowId xmlns:a16="http://schemas.microsoft.com/office/drawing/2014/main" val="10004"/>
                  </a:ext>
                </a:extLst>
              </a:tr>
              <a:tr h="35718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a:ln>
                            <a:noFill/>
                          </a:ln>
                          <a:effectLst/>
                        </a:rPr>
                        <a:t>Small Deductible Credit </a:t>
                      </a:r>
                      <a:endParaRPr kumimoji="0" lang="en-US" sz="1100" b="0" i="0" u="none" strike="noStrike" cap="none" normalizeH="0" baseline="0" dirty="0">
                        <a:ln>
                          <a:noFill/>
                        </a:ln>
                        <a:solidFill>
                          <a:schemeClr val="tx1"/>
                        </a:solidFill>
                        <a:effectLst/>
                        <a:latin typeface="Calibri"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a:ln>
                            <a:noFill/>
                          </a:ln>
                          <a:effectLst/>
                        </a:rPr>
                        <a:t>[% applied to Total Manual Premium] </a:t>
                      </a:r>
                      <a:endParaRPr kumimoji="0" lang="en-US" sz="1100" b="0" i="0" u="none" strike="noStrike" cap="none" normalizeH="0" baseline="0" dirty="0">
                        <a:ln>
                          <a:noFill/>
                        </a:ln>
                        <a:solidFill>
                          <a:schemeClr val="tx1"/>
                        </a:solidFill>
                        <a:effectLst/>
                        <a:latin typeface="Calibri" pitchFamily="34" charset="0"/>
                      </a:endParaRPr>
                    </a:p>
                  </a:txBody>
                  <a:tcPr horzOverflow="overflow"/>
                </a:tc>
                <a:extLst>
                  <a:ext uri="{0D108BD9-81ED-4DB2-BD59-A6C34878D82A}">
                    <a16:rowId xmlns:a16="http://schemas.microsoft.com/office/drawing/2014/main" val="10005"/>
                  </a:ext>
                </a:extLst>
              </a:tr>
              <a:tr h="26193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b="1" u="none" strike="noStrike" cap="none" normalizeH="0" baseline="0" dirty="0">
                          <a:ln>
                            <a:noFill/>
                          </a:ln>
                          <a:solidFill>
                            <a:srgbClr val="C00000"/>
                          </a:solidFill>
                          <a:effectLst/>
                        </a:rPr>
                        <a:t>TOTAL SUBJECT PREMIUM</a:t>
                      </a:r>
                      <a:endParaRPr kumimoji="0" lang="en-US" sz="1100" b="1" i="0" u="none" strike="noStrike" cap="none" normalizeH="0" baseline="0" dirty="0">
                        <a:ln>
                          <a:noFill/>
                        </a:ln>
                        <a:solidFill>
                          <a:srgbClr val="C00000"/>
                        </a:solidFill>
                        <a:effectLst/>
                        <a:latin typeface="Calibri" pitchFamily="34" charset="0"/>
                        <a:cs typeface="Arial"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endParaRPr kumimoji="0" lang="en-US" sz="1100" b="0" i="0" u="none" strike="noStrike" cap="none" normalizeH="0" baseline="0" dirty="0">
                        <a:ln>
                          <a:noFill/>
                        </a:ln>
                        <a:solidFill>
                          <a:schemeClr val="tx1"/>
                        </a:solidFill>
                        <a:effectLst/>
                        <a:latin typeface="Calibri" pitchFamily="34" charset="0"/>
                      </a:endParaRPr>
                    </a:p>
                  </a:txBody>
                  <a:tcPr horzOverflow="overflow"/>
                </a:tc>
                <a:extLst>
                  <a:ext uri="{0D108BD9-81ED-4DB2-BD59-A6C34878D82A}">
                    <a16:rowId xmlns:a16="http://schemas.microsoft.com/office/drawing/2014/main" val="10006"/>
                  </a:ext>
                </a:extLst>
              </a:tr>
              <a:tr h="284163">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a:ln>
                            <a:noFill/>
                          </a:ln>
                          <a:effectLst/>
                        </a:rPr>
                        <a:t>Experience Modification (Exp Mod)</a:t>
                      </a:r>
                      <a:endParaRPr kumimoji="0" lang="en-US" sz="1100" b="0" i="0" u="none" strike="noStrike" cap="none" normalizeH="0" baseline="0" dirty="0">
                        <a:ln>
                          <a:noFill/>
                        </a:ln>
                        <a:solidFill>
                          <a:schemeClr val="tx1"/>
                        </a:solidFill>
                        <a:effectLst/>
                        <a:latin typeface="Calibri"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endParaRPr kumimoji="0" lang="en-US" sz="1100" b="0" i="0" u="none" strike="noStrike" cap="none" normalizeH="0" baseline="0" dirty="0">
                        <a:ln>
                          <a:noFill/>
                        </a:ln>
                        <a:solidFill>
                          <a:schemeClr val="tx1"/>
                        </a:solidFill>
                        <a:effectLst/>
                        <a:latin typeface="Calibri" pitchFamily="34" charset="0"/>
                      </a:endParaRPr>
                    </a:p>
                  </a:txBody>
                  <a:tcPr horzOverflow="overflow"/>
                </a:tc>
                <a:extLst>
                  <a:ext uri="{0D108BD9-81ED-4DB2-BD59-A6C34878D82A}">
                    <a16:rowId xmlns:a16="http://schemas.microsoft.com/office/drawing/2014/main" val="10007"/>
                  </a:ext>
                </a:extLst>
              </a:tr>
              <a:tr h="26193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a:ln>
                            <a:noFill/>
                          </a:ln>
                          <a:effectLst/>
                        </a:rPr>
                        <a:t>TOTAL MODIFIED PREMIUM</a:t>
                      </a:r>
                      <a:endParaRPr kumimoji="0" lang="en-US" sz="1100" b="1" i="0" u="none" strike="noStrike" cap="none" normalizeH="0" baseline="0" dirty="0">
                        <a:ln>
                          <a:noFill/>
                        </a:ln>
                        <a:solidFill>
                          <a:srgbClr val="FF0000"/>
                        </a:solidFill>
                        <a:effectLst/>
                        <a:latin typeface="Calibri"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endParaRPr kumimoji="0" lang="en-US" sz="1100" b="0" i="0" u="none" strike="noStrike" cap="none" normalizeH="0" baseline="0" dirty="0">
                        <a:ln>
                          <a:noFill/>
                        </a:ln>
                        <a:solidFill>
                          <a:schemeClr val="tx1"/>
                        </a:solidFill>
                        <a:effectLst/>
                        <a:latin typeface="Calibri" pitchFamily="34" charset="0"/>
                      </a:endParaRPr>
                    </a:p>
                  </a:txBody>
                  <a:tcPr horzOverflow="overflow"/>
                </a:tc>
                <a:extLst>
                  <a:ext uri="{0D108BD9-81ED-4DB2-BD59-A6C34878D82A}">
                    <a16:rowId xmlns:a16="http://schemas.microsoft.com/office/drawing/2014/main" val="10008"/>
                  </a:ext>
                </a:extLst>
              </a:tr>
              <a:tr h="26193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a:ln>
                            <a:noFill/>
                          </a:ln>
                          <a:effectLst/>
                        </a:rPr>
                        <a:t>Georgia Schedule Rating Factor (1-SR Credit%) or (1-SR Debit%)</a:t>
                      </a:r>
                      <a:endParaRPr kumimoji="0" lang="en-US" sz="1100" b="0" i="0" u="none" strike="noStrike" cap="none" normalizeH="0" baseline="0" dirty="0">
                        <a:ln>
                          <a:noFill/>
                        </a:ln>
                        <a:solidFill>
                          <a:srgbClr val="000000"/>
                        </a:solidFill>
                        <a:effectLst/>
                        <a:latin typeface="Calibri" pitchFamily="34" charset="0"/>
                        <a:cs typeface="Arial"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endParaRPr kumimoji="0" lang="en-US" sz="1100" b="0" i="0" u="none" strike="noStrike" cap="none" normalizeH="0" baseline="0" dirty="0">
                        <a:ln>
                          <a:noFill/>
                        </a:ln>
                        <a:solidFill>
                          <a:schemeClr val="tx1"/>
                        </a:solidFill>
                        <a:effectLst/>
                        <a:latin typeface="Calibri" pitchFamily="34" charset="0"/>
                      </a:endParaRPr>
                    </a:p>
                  </a:txBody>
                  <a:tcPr horzOverflow="overflow"/>
                </a:tc>
                <a:extLst>
                  <a:ext uri="{0D108BD9-81ED-4DB2-BD59-A6C34878D82A}">
                    <a16:rowId xmlns:a16="http://schemas.microsoft.com/office/drawing/2014/main" val="10009"/>
                  </a:ext>
                </a:extLst>
              </a:tr>
              <a:tr h="26193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a:ln>
                            <a:noFill/>
                          </a:ln>
                          <a:effectLst/>
                        </a:rPr>
                        <a:t>Managed Care factor (1-M/C Credit%)</a:t>
                      </a:r>
                      <a:endParaRPr kumimoji="0" lang="en-US" sz="1100" b="0" i="0" u="none" strike="noStrike" cap="none" normalizeH="0" baseline="0" dirty="0">
                        <a:ln>
                          <a:noFill/>
                        </a:ln>
                        <a:solidFill>
                          <a:srgbClr val="000000"/>
                        </a:solidFill>
                        <a:effectLst/>
                        <a:latin typeface="Calibri" pitchFamily="34" charset="0"/>
                        <a:cs typeface="Arial"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endParaRPr kumimoji="0" lang="en-US" sz="1100" b="0" i="0" u="none" strike="noStrike" cap="none" normalizeH="0" baseline="0" dirty="0">
                        <a:ln>
                          <a:noFill/>
                        </a:ln>
                        <a:solidFill>
                          <a:schemeClr val="tx1"/>
                        </a:solidFill>
                        <a:effectLst/>
                        <a:latin typeface="Calibri" pitchFamily="34" charset="0"/>
                      </a:endParaRPr>
                    </a:p>
                  </a:txBody>
                  <a:tcPr horzOverflow="overflow"/>
                </a:tc>
                <a:extLst>
                  <a:ext uri="{0D108BD9-81ED-4DB2-BD59-A6C34878D82A}">
                    <a16:rowId xmlns:a16="http://schemas.microsoft.com/office/drawing/2014/main" val="10010"/>
                  </a:ext>
                </a:extLst>
              </a:tr>
              <a:tr h="26193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a:ln>
                            <a:noFill/>
                          </a:ln>
                          <a:effectLst/>
                        </a:rPr>
                        <a:t>Drug-Free Workplace factor (1-DFW Credit%)</a:t>
                      </a:r>
                      <a:endParaRPr kumimoji="0" lang="en-US" sz="1100" b="0" i="0" u="none" strike="noStrike" cap="none" normalizeH="0" baseline="0" dirty="0">
                        <a:ln>
                          <a:noFill/>
                        </a:ln>
                        <a:solidFill>
                          <a:srgbClr val="000000"/>
                        </a:solidFill>
                        <a:effectLst/>
                        <a:latin typeface="Calibri" pitchFamily="34" charset="0"/>
                        <a:cs typeface="Arial"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endParaRPr kumimoji="0" lang="en-US" sz="1100" b="0" i="0" u="none" strike="noStrike" cap="none" normalizeH="0" baseline="0" dirty="0">
                        <a:ln>
                          <a:noFill/>
                        </a:ln>
                        <a:solidFill>
                          <a:schemeClr val="tx1"/>
                        </a:solidFill>
                        <a:effectLst/>
                        <a:latin typeface="Calibri" pitchFamily="34" charset="0"/>
                      </a:endParaRPr>
                    </a:p>
                  </a:txBody>
                  <a:tcPr horzOverflow="overflow"/>
                </a:tc>
                <a:extLst>
                  <a:ext uri="{0D108BD9-81ED-4DB2-BD59-A6C34878D82A}">
                    <a16:rowId xmlns:a16="http://schemas.microsoft.com/office/drawing/2014/main" val="10011"/>
                  </a:ext>
                </a:extLst>
              </a:tr>
              <a:tr h="26193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a:ln>
                            <a:noFill/>
                          </a:ln>
                          <a:effectLst/>
                        </a:rPr>
                        <a:t>Supplemental Disease Exposure (Asbestos, NOC)</a:t>
                      </a:r>
                      <a:endParaRPr kumimoji="0" lang="en-US" sz="1100" b="0" i="0" u="none" strike="noStrike" cap="none" normalizeH="0" baseline="0" dirty="0">
                        <a:ln>
                          <a:noFill/>
                        </a:ln>
                        <a:solidFill>
                          <a:srgbClr val="000000"/>
                        </a:solidFill>
                        <a:effectLst/>
                        <a:latin typeface="Calibri" pitchFamily="34" charset="0"/>
                        <a:cs typeface="Arial"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endParaRPr kumimoji="0" lang="en-US" sz="1100" b="0" i="0" u="none" strike="noStrike" cap="none" normalizeH="0" baseline="0" dirty="0">
                        <a:ln>
                          <a:noFill/>
                        </a:ln>
                        <a:solidFill>
                          <a:schemeClr val="tx1"/>
                        </a:solidFill>
                        <a:effectLst/>
                        <a:latin typeface="Calibri" pitchFamily="34" charset="0"/>
                      </a:endParaRPr>
                    </a:p>
                  </a:txBody>
                  <a:tcPr horzOverflow="overflow"/>
                </a:tc>
                <a:extLst>
                  <a:ext uri="{0D108BD9-81ED-4DB2-BD59-A6C34878D82A}">
                    <a16:rowId xmlns:a16="http://schemas.microsoft.com/office/drawing/2014/main" val="10012"/>
                  </a:ext>
                </a:extLst>
              </a:tr>
              <a:tr h="26193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a:ln>
                            <a:noFill/>
                          </a:ln>
                          <a:effectLst/>
                        </a:rPr>
                        <a:t>Atomic Energy radiation Exposure NOC </a:t>
                      </a:r>
                      <a:endParaRPr kumimoji="0" lang="en-US" sz="1100" b="0" i="0" u="none" strike="noStrike" cap="none" normalizeH="0" baseline="0" dirty="0">
                        <a:ln>
                          <a:noFill/>
                        </a:ln>
                        <a:solidFill>
                          <a:srgbClr val="000000"/>
                        </a:solidFill>
                        <a:effectLst/>
                        <a:latin typeface="Calibri" pitchFamily="34" charset="0"/>
                        <a:cs typeface="Arial"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endParaRPr kumimoji="0" lang="en-US" sz="1100" b="0" i="0" u="none" strike="noStrike" cap="none" normalizeH="0" baseline="0" dirty="0">
                        <a:ln>
                          <a:noFill/>
                        </a:ln>
                        <a:solidFill>
                          <a:schemeClr val="tx1"/>
                        </a:solidFill>
                        <a:effectLst/>
                        <a:latin typeface="Calibri" pitchFamily="34" charset="0"/>
                      </a:endParaRPr>
                    </a:p>
                  </a:txBody>
                  <a:tcPr horzOverflow="overflow"/>
                </a:tc>
                <a:extLst>
                  <a:ext uri="{0D108BD9-81ED-4DB2-BD59-A6C34878D82A}">
                    <a16:rowId xmlns:a16="http://schemas.microsoft.com/office/drawing/2014/main" val="10013"/>
                  </a:ext>
                </a:extLst>
              </a:tr>
              <a:tr h="26193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a:ln>
                            <a:noFill/>
                          </a:ln>
                          <a:effectLst/>
                        </a:rPr>
                        <a:t>Aircraft Seat Surcharge</a:t>
                      </a:r>
                      <a:endParaRPr kumimoji="0" lang="en-US" sz="1100" b="0" i="0" u="none" strike="noStrike" cap="none" normalizeH="0" baseline="0" dirty="0">
                        <a:ln>
                          <a:noFill/>
                        </a:ln>
                        <a:solidFill>
                          <a:srgbClr val="000000"/>
                        </a:solidFill>
                        <a:effectLst/>
                        <a:latin typeface="Calibri" pitchFamily="34" charset="0"/>
                        <a:cs typeface="Arial"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endParaRPr kumimoji="0" lang="en-US" sz="1100" b="0" i="0" u="none" strike="noStrike" cap="none" normalizeH="0" baseline="0" dirty="0">
                        <a:ln>
                          <a:noFill/>
                        </a:ln>
                        <a:solidFill>
                          <a:schemeClr val="tx1"/>
                        </a:solidFill>
                        <a:effectLst/>
                        <a:latin typeface="Calibri" pitchFamily="34" charset="0"/>
                      </a:endParaRPr>
                    </a:p>
                  </a:txBody>
                  <a:tcPr horzOverflow="overflow"/>
                </a:tc>
                <a:extLst>
                  <a:ext uri="{0D108BD9-81ED-4DB2-BD59-A6C34878D82A}">
                    <a16:rowId xmlns:a16="http://schemas.microsoft.com/office/drawing/2014/main" val="10014"/>
                  </a:ext>
                </a:extLst>
              </a:tr>
              <a:tr h="26193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a:ln>
                            <a:noFill/>
                          </a:ln>
                          <a:effectLst/>
                        </a:rPr>
                        <a:t>Balance to Minimum Premium </a:t>
                      </a:r>
                      <a:endParaRPr kumimoji="0" lang="en-US" sz="1100" b="0" i="0" u="none" strike="noStrike" cap="none" normalizeH="0" baseline="0" dirty="0">
                        <a:ln>
                          <a:noFill/>
                        </a:ln>
                        <a:solidFill>
                          <a:srgbClr val="000000"/>
                        </a:solidFill>
                        <a:effectLst/>
                        <a:latin typeface="Calibri" pitchFamily="34" charset="0"/>
                        <a:cs typeface="Arial"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u="none" strike="noStrike" cap="none" normalizeH="0" baseline="0" dirty="0">
                          <a:ln>
                            <a:noFill/>
                          </a:ln>
                          <a:effectLst/>
                        </a:rPr>
                        <a:t>[Balance to minimum premium at Standard Limits]</a:t>
                      </a:r>
                      <a:endParaRPr kumimoji="0" lang="en-US" sz="1100" b="0" i="0" u="none" strike="noStrike" cap="none" normalizeH="0" baseline="0" dirty="0">
                        <a:ln>
                          <a:noFill/>
                        </a:ln>
                        <a:solidFill>
                          <a:schemeClr val="tx1"/>
                        </a:solidFill>
                        <a:effectLst/>
                        <a:latin typeface="Calibri" pitchFamily="34" charset="0"/>
                      </a:endParaRPr>
                    </a:p>
                  </a:txBody>
                  <a:tcPr horzOverflow="overflow"/>
                </a:tc>
                <a:extLst>
                  <a:ext uri="{0D108BD9-81ED-4DB2-BD59-A6C34878D82A}">
                    <a16:rowId xmlns:a16="http://schemas.microsoft.com/office/drawing/2014/main" val="10015"/>
                  </a:ext>
                </a:extLst>
              </a:tr>
              <a:tr h="261938">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r>
                        <a:rPr kumimoji="0" lang="en-US" sz="1100" b="1" u="none" strike="noStrike" cap="none" normalizeH="0" baseline="0" dirty="0">
                          <a:ln>
                            <a:noFill/>
                          </a:ln>
                          <a:solidFill>
                            <a:srgbClr val="C00000"/>
                          </a:solidFill>
                          <a:effectLst/>
                        </a:rPr>
                        <a:t>TOTAL STANDARD PREMIUM</a:t>
                      </a:r>
                      <a:endParaRPr kumimoji="0" lang="en-US" sz="1100" b="1" i="0" u="none" strike="noStrike" cap="none" normalizeH="0" baseline="0" dirty="0">
                        <a:ln>
                          <a:noFill/>
                        </a:ln>
                        <a:solidFill>
                          <a:srgbClr val="C00000"/>
                        </a:solidFill>
                        <a:effectLst/>
                        <a:latin typeface="Calibri" pitchFamily="34" charset="0"/>
                        <a:cs typeface="Arial" pitchFamily="34" charset="0"/>
                      </a:endParaRPr>
                    </a:p>
                  </a:txBody>
                  <a:tcPr horzOverflow="overflow"/>
                </a:tc>
                <a:tc>
                  <a:txBody>
                    <a:bodyPr/>
                    <a:lstStyle/>
                    <a:p>
                      <a:pPr marL="0" marR="0" lvl="0" indent="0" algn="l" defTabSz="914400" rtl="0" eaLnBrk="0" fontAlgn="t" latinLnBrk="0" hangingPunct="0">
                        <a:lnSpc>
                          <a:spcPct val="100000"/>
                        </a:lnSpc>
                        <a:spcBef>
                          <a:spcPct val="0"/>
                        </a:spcBef>
                        <a:spcAft>
                          <a:spcPct val="0"/>
                        </a:spcAft>
                        <a:buClrTx/>
                        <a:buSzTx/>
                        <a:buFont typeface="Arial" pitchFamily="34" charset="0"/>
                        <a:buNone/>
                        <a:tabLst/>
                      </a:pPr>
                      <a:endParaRPr kumimoji="0" lang="en-US" sz="1100" b="0" i="0" u="none" strike="noStrike" cap="none" normalizeH="0" baseline="0" dirty="0">
                        <a:ln>
                          <a:noFill/>
                        </a:ln>
                        <a:solidFill>
                          <a:schemeClr val="tx1"/>
                        </a:solidFill>
                        <a:effectLst/>
                        <a:latin typeface="Calibri" pitchFamily="34" charset="0"/>
                      </a:endParaRPr>
                    </a:p>
                  </a:txBody>
                  <a:tcPr horzOverflow="overflow"/>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521879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3" name="TextBox 27"/>
          <p:cNvSpPr txBox="1">
            <a:spLocks noChangeArrowheads="1"/>
          </p:cNvSpPr>
          <p:nvPr/>
        </p:nvSpPr>
        <p:spPr bwMode="auto">
          <a:xfrm>
            <a:off x="1676400" y="152400"/>
            <a:ext cx="4572000" cy="369332"/>
          </a:xfrm>
          <a:prstGeom prst="rect">
            <a:avLst/>
          </a:prstGeom>
          <a:noFill/>
          <a:ln w="9525">
            <a:noFill/>
            <a:miter lim="800000"/>
            <a:headEnd/>
            <a:tailEnd/>
          </a:ln>
        </p:spPr>
        <p:txBody>
          <a:bodyPr>
            <a:spAutoFit/>
          </a:bodyPr>
          <a:lstStyle/>
          <a:p>
            <a:pPr eaLnBrk="0" hangingPunct="0">
              <a:buSzPct val="120000"/>
              <a:tabLst>
                <a:tab pos="1828800" algn="l"/>
              </a:tabLst>
            </a:pPr>
            <a:r>
              <a:rPr lang="en-US" b="1" dirty="0">
                <a:latin typeface="Verdana" pitchFamily="34" charset="0"/>
              </a:rPr>
              <a:t>GA State Algorithm (Cont…)</a:t>
            </a:r>
          </a:p>
        </p:txBody>
      </p:sp>
      <p:graphicFrame>
        <p:nvGraphicFramePr>
          <p:cNvPr id="5" name="Group 42"/>
          <p:cNvGraphicFramePr>
            <a:graphicFrameLocks noGrp="1"/>
          </p:cNvGraphicFramePr>
          <p:nvPr>
            <p:extLst>
              <p:ext uri="{D42A27DB-BD31-4B8C-83A1-F6EECF244321}">
                <p14:modId xmlns:p14="http://schemas.microsoft.com/office/powerpoint/2010/main" val="3952766328"/>
              </p:ext>
            </p:extLst>
          </p:nvPr>
        </p:nvGraphicFramePr>
        <p:xfrm>
          <a:off x="1676400" y="2041301"/>
          <a:ext cx="8229600" cy="2468880"/>
        </p:xfrm>
        <a:graphic>
          <a:graphicData uri="http://schemas.openxmlformats.org/drawingml/2006/table">
            <a:tbl>
              <a:tblPr>
                <a:tableStyleId>{3C2FFA5D-87B4-456A-9821-1D502468CF0F}</a:tableStyleId>
              </a:tblPr>
              <a:tblGrid>
                <a:gridCol w="3863975">
                  <a:extLst>
                    <a:ext uri="{9D8B030D-6E8A-4147-A177-3AD203B41FA5}">
                      <a16:colId xmlns:a16="http://schemas.microsoft.com/office/drawing/2014/main" val="20000"/>
                    </a:ext>
                  </a:extLst>
                </a:gridCol>
                <a:gridCol w="4365625">
                  <a:extLst>
                    <a:ext uri="{9D8B030D-6E8A-4147-A177-3AD203B41FA5}">
                      <a16:colId xmlns:a16="http://schemas.microsoft.com/office/drawing/2014/main" val="20001"/>
                    </a:ext>
                  </a:extLst>
                </a:gridCol>
              </a:tblGrid>
              <a:tr h="304800">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a:ln>
                            <a:noFill/>
                          </a:ln>
                          <a:effectLst/>
                        </a:rPr>
                        <a:t>Premium Discount[§]</a:t>
                      </a:r>
                      <a:endParaRPr kumimoji="0" lang="en-US" sz="1200" b="0" i="0" u="none" strike="noStrike" cap="none" normalizeH="0" baseline="0" dirty="0">
                        <a:ln>
                          <a:noFill/>
                        </a:ln>
                        <a:solidFill>
                          <a:schemeClr val="tx1"/>
                        </a:solidFill>
                        <a:effectLst/>
                        <a:latin typeface="Calibri" pitchFamily="34" charset="0"/>
                      </a:endParaRPr>
                    </a:p>
                  </a:txBody>
                  <a:tcPr anchor="ctr" horzOverflow="overflow"/>
                </a:tc>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a:ln>
                            <a:noFill/>
                          </a:ln>
                          <a:effectLst/>
                        </a:rPr>
                        <a:t>[% applied to Standard Premium] </a:t>
                      </a:r>
                      <a:endParaRPr kumimoji="0" lang="en-US" sz="1200" b="0" i="0" u="none" strike="noStrike" cap="none" normalizeH="0" baseline="0" dirty="0">
                        <a:ln>
                          <a:noFill/>
                        </a:ln>
                        <a:solidFill>
                          <a:schemeClr val="tx1"/>
                        </a:solidFill>
                        <a:effectLst/>
                        <a:latin typeface="Calibri" pitchFamily="34" charset="0"/>
                      </a:endParaRPr>
                    </a:p>
                  </a:txBody>
                  <a:tcPr anchor="ctr" horzOverflow="overflow"/>
                </a:tc>
                <a:extLst>
                  <a:ext uri="{0D108BD9-81ED-4DB2-BD59-A6C34878D82A}">
                    <a16:rowId xmlns:a16="http://schemas.microsoft.com/office/drawing/2014/main" val="10000"/>
                  </a:ext>
                </a:extLst>
              </a:tr>
              <a:tr h="304800">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a:ln>
                            <a:noFill/>
                          </a:ln>
                          <a:effectLst/>
                        </a:rPr>
                        <a:t>Coal Mine Disease Charge</a:t>
                      </a:r>
                      <a:endParaRPr kumimoji="0" lang="en-US" sz="1200" b="0" i="0" u="none" strike="noStrike" cap="none" normalizeH="0" baseline="0" dirty="0">
                        <a:ln>
                          <a:noFill/>
                        </a:ln>
                        <a:solidFill>
                          <a:schemeClr val="tx1"/>
                        </a:solidFill>
                        <a:effectLst/>
                        <a:latin typeface="Calibri" pitchFamily="34" charset="0"/>
                      </a:endParaRPr>
                    </a:p>
                  </a:txBody>
                  <a:tcPr anchor="ctr" horzOverflow="overflow"/>
                </a:tc>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endParaRPr kumimoji="0" lang="en-US" sz="1200" b="0" i="0" u="none" strike="noStrike" cap="none" normalizeH="0" baseline="0" dirty="0">
                        <a:ln>
                          <a:noFill/>
                        </a:ln>
                        <a:solidFill>
                          <a:schemeClr val="tx1"/>
                        </a:solidFill>
                        <a:effectLst/>
                        <a:latin typeface="Calibri" pitchFamily="34" charset="0"/>
                      </a:endParaRPr>
                    </a:p>
                  </a:txBody>
                  <a:tcPr anchor="ctr" horzOverflow="overflow"/>
                </a:tc>
                <a:extLst>
                  <a:ext uri="{0D108BD9-81ED-4DB2-BD59-A6C34878D82A}">
                    <a16:rowId xmlns:a16="http://schemas.microsoft.com/office/drawing/2014/main" val="10001"/>
                  </a:ext>
                </a:extLst>
              </a:tr>
              <a:tr h="304800">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a:ln>
                            <a:noFill/>
                          </a:ln>
                          <a:effectLst/>
                        </a:rPr>
                        <a:t>Expense Constant </a:t>
                      </a:r>
                      <a:endParaRPr kumimoji="0" lang="en-US" sz="1200" b="0" i="0" u="none" strike="noStrike" cap="none" normalizeH="0" baseline="0" dirty="0">
                        <a:ln>
                          <a:noFill/>
                        </a:ln>
                        <a:solidFill>
                          <a:schemeClr val="tx1"/>
                        </a:solidFill>
                        <a:effectLst/>
                        <a:latin typeface="Calibri" pitchFamily="34" charset="0"/>
                      </a:endParaRPr>
                    </a:p>
                  </a:txBody>
                  <a:tcPr anchor="ctr" horzOverflow="overflow"/>
                </a:tc>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a:ln>
                            <a:noFill/>
                          </a:ln>
                          <a:effectLst/>
                        </a:rPr>
                        <a:t>  </a:t>
                      </a:r>
                      <a:endParaRPr kumimoji="0" lang="en-US" sz="1200" b="0" i="0" u="none" strike="noStrike" cap="none" normalizeH="0" baseline="0" dirty="0">
                        <a:ln>
                          <a:noFill/>
                        </a:ln>
                        <a:solidFill>
                          <a:schemeClr val="tx1"/>
                        </a:solidFill>
                        <a:effectLst/>
                        <a:latin typeface="Calibri" pitchFamily="34" charset="0"/>
                      </a:endParaRPr>
                    </a:p>
                  </a:txBody>
                  <a:tcPr anchor="ctr" horzOverflow="overflow"/>
                </a:tc>
                <a:extLst>
                  <a:ext uri="{0D108BD9-81ED-4DB2-BD59-A6C34878D82A}">
                    <a16:rowId xmlns:a16="http://schemas.microsoft.com/office/drawing/2014/main" val="10002"/>
                  </a:ext>
                </a:extLst>
              </a:tr>
              <a:tr h="304800">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a:ln>
                            <a:noFill/>
                          </a:ln>
                          <a:effectLst/>
                        </a:rPr>
                        <a:t>Terrorism</a:t>
                      </a:r>
                      <a:endParaRPr kumimoji="0" lang="en-US" sz="1200" b="0" i="0" u="none" strike="noStrike" cap="none" normalizeH="0" baseline="0" dirty="0">
                        <a:ln>
                          <a:noFill/>
                        </a:ln>
                        <a:solidFill>
                          <a:schemeClr val="tx1"/>
                        </a:solidFill>
                        <a:effectLst/>
                        <a:latin typeface="Calibri" pitchFamily="34" charset="0"/>
                      </a:endParaRPr>
                    </a:p>
                  </a:txBody>
                  <a:tcPr anchor="ctr" horzOverflow="overflow"/>
                </a:tc>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a:ln>
                            <a:noFill/>
                          </a:ln>
                          <a:effectLst/>
                        </a:rPr>
                        <a:t>[(PAYROLL / 100) * TERRORISM VALUE] </a:t>
                      </a:r>
                      <a:endParaRPr kumimoji="0" lang="en-US" sz="1200" b="0" i="0" u="none" strike="noStrike" cap="none" normalizeH="0" baseline="0" dirty="0">
                        <a:ln>
                          <a:noFill/>
                        </a:ln>
                        <a:solidFill>
                          <a:schemeClr val="tx1"/>
                        </a:solidFill>
                        <a:effectLst/>
                        <a:latin typeface="Calibri" pitchFamily="34" charset="0"/>
                      </a:endParaRPr>
                    </a:p>
                  </a:txBody>
                  <a:tcPr anchor="ctr" horzOverflow="overflow"/>
                </a:tc>
                <a:extLst>
                  <a:ext uri="{0D108BD9-81ED-4DB2-BD59-A6C34878D82A}">
                    <a16:rowId xmlns:a16="http://schemas.microsoft.com/office/drawing/2014/main" val="10003"/>
                  </a:ext>
                </a:extLst>
              </a:tr>
              <a:tr h="304800">
                <a:tc>
                  <a:txBody>
                    <a:bodyPr/>
                    <a:lstStyle/>
                    <a:p>
                      <a:r>
                        <a:rPr kumimoji="0" lang="en-US" sz="1200" u="none" strike="noStrike" kern="1200" cap="none" normalizeH="0" baseline="0" dirty="0">
                          <a:ln>
                            <a:noFill/>
                          </a:ln>
                          <a:effectLst/>
                        </a:rPr>
                        <a:t>Catastrophe (other than Certified</a:t>
                      </a:r>
                    </a:p>
                    <a:p>
                      <a:r>
                        <a:rPr kumimoji="0" lang="en-US" sz="1200" u="none" strike="noStrike" kern="1200" cap="none" normalizeH="0" baseline="0" dirty="0">
                          <a:ln>
                            <a:noFill/>
                          </a:ln>
                          <a:effectLst/>
                        </a:rPr>
                        <a:t>Acts of Terrorism)</a:t>
                      </a:r>
                      <a:endParaRPr kumimoji="0" lang="en-US" sz="1200" b="0" i="0" u="none" strike="noStrike" kern="1200" cap="none" normalizeH="0" baseline="0" dirty="0">
                        <a:ln>
                          <a:noFill/>
                        </a:ln>
                        <a:solidFill>
                          <a:schemeClr val="tx1"/>
                        </a:solidFill>
                        <a:effectLst/>
                        <a:latin typeface="Calibri" pitchFamily="34" charset="0"/>
                        <a:ea typeface="+mn-ea"/>
                        <a:cs typeface="Arial" pitchFamily="34" charset="0"/>
                      </a:endParaRPr>
                    </a:p>
                  </a:txBody>
                  <a:tcPr anchor="ctr" horzOverflow="overflow"/>
                </a:tc>
                <a:tc>
                  <a:txBody>
                    <a:bodyPr/>
                    <a:lstStyle/>
                    <a:p>
                      <a:r>
                        <a:rPr kumimoji="0" lang="en-US" sz="1200" u="none" strike="noStrike" cap="none" normalizeH="0" baseline="0" dirty="0">
                          <a:ln>
                            <a:noFill/>
                          </a:ln>
                          <a:effectLst/>
                        </a:rPr>
                        <a:t>[(PAYROLL / 100) *</a:t>
                      </a:r>
                      <a:r>
                        <a:rPr kumimoji="0" lang="en-US" sz="1200" u="none" strike="noStrike" kern="1200" cap="none" normalizeH="0" baseline="0" dirty="0">
                          <a:ln>
                            <a:noFill/>
                          </a:ln>
                          <a:effectLst/>
                        </a:rPr>
                        <a:t>CATASTROPHE</a:t>
                      </a:r>
                    </a:p>
                    <a:p>
                      <a:r>
                        <a:rPr kumimoji="0" lang="en-US" sz="1200" u="none" strike="noStrike" kern="1200" cap="none" normalizeH="0" baseline="0" dirty="0">
                          <a:ln>
                            <a:noFill/>
                          </a:ln>
                          <a:effectLst/>
                        </a:rPr>
                        <a:t>(OTHER THAN CERTIFIED ACTS OF</a:t>
                      </a:r>
                    </a:p>
                    <a:p>
                      <a:r>
                        <a:rPr kumimoji="0" lang="en-US" sz="1200" u="none" strike="noStrike" kern="1200" cap="none" normalizeH="0" baseline="0" dirty="0">
                          <a:ln>
                            <a:noFill/>
                          </a:ln>
                          <a:effectLst/>
                        </a:rPr>
                        <a:t>TERRORISM) VALUE] </a:t>
                      </a:r>
                      <a:endParaRPr kumimoji="0" lang="en-US" sz="1200" b="0" i="0" u="none" strike="noStrike" kern="1200" cap="none" normalizeH="0" baseline="0" dirty="0">
                        <a:ln>
                          <a:noFill/>
                        </a:ln>
                        <a:solidFill>
                          <a:srgbClr val="000000"/>
                        </a:solidFill>
                        <a:effectLst/>
                        <a:latin typeface="Calibri" pitchFamily="34" charset="0"/>
                        <a:ea typeface="+mn-ea"/>
                        <a:cs typeface="Arial" pitchFamily="34" charset="0"/>
                      </a:endParaRPr>
                    </a:p>
                  </a:txBody>
                  <a:tcPr anchor="ctr" horzOverflow="overflow"/>
                </a:tc>
                <a:extLst>
                  <a:ext uri="{0D108BD9-81ED-4DB2-BD59-A6C34878D82A}">
                    <a16:rowId xmlns:a16="http://schemas.microsoft.com/office/drawing/2014/main" val="10004"/>
                  </a:ext>
                </a:extLst>
              </a:tr>
              <a:tr h="304800">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b="1" u="none" strike="noStrike" cap="none" normalizeH="0" baseline="0" dirty="0">
                          <a:ln>
                            <a:noFill/>
                          </a:ln>
                          <a:solidFill>
                            <a:srgbClr val="C00000"/>
                          </a:solidFill>
                          <a:effectLst/>
                        </a:rPr>
                        <a:t>ESTIMATED ANNUAL PREMIUM</a:t>
                      </a:r>
                      <a:endParaRPr kumimoji="0" lang="en-US" sz="1200" b="1" i="0" u="none" strike="noStrike" cap="none" normalizeH="0" baseline="0" dirty="0">
                        <a:ln>
                          <a:noFill/>
                        </a:ln>
                        <a:solidFill>
                          <a:srgbClr val="C00000"/>
                        </a:solidFill>
                        <a:effectLst/>
                        <a:latin typeface="Calibri" pitchFamily="34" charset="0"/>
                      </a:endParaRPr>
                    </a:p>
                  </a:txBody>
                  <a:tcPr anchor="ctr" horzOverflow="overflow"/>
                </a:tc>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a:ln>
                            <a:noFill/>
                          </a:ln>
                          <a:effectLst/>
                        </a:rPr>
                        <a:t>  </a:t>
                      </a:r>
                      <a:endParaRPr kumimoji="0" lang="en-US" sz="1200" b="0" i="0" u="none" strike="noStrike" cap="none" normalizeH="0" baseline="0" dirty="0">
                        <a:ln>
                          <a:noFill/>
                        </a:ln>
                        <a:solidFill>
                          <a:schemeClr val="tx1"/>
                        </a:solidFill>
                        <a:effectLst/>
                        <a:latin typeface="Calibri" pitchFamily="34" charset="0"/>
                      </a:endParaRPr>
                    </a:p>
                  </a:txBody>
                  <a:tcPr anchor="ctr" horzOverflow="overflow"/>
                </a:tc>
                <a:extLst>
                  <a:ext uri="{0D108BD9-81ED-4DB2-BD59-A6C34878D82A}">
                    <a16:rowId xmlns:a16="http://schemas.microsoft.com/office/drawing/2014/main" val="10005"/>
                  </a:ext>
                </a:extLst>
              </a:tr>
              <a:tr h="304800">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a:ln>
                            <a:noFill/>
                          </a:ln>
                          <a:effectLst/>
                        </a:rPr>
                        <a:t>TOTAL AMOUNT DUE</a:t>
                      </a:r>
                      <a:endParaRPr kumimoji="0" lang="en-US" sz="1200" b="0" i="0" u="none" strike="noStrike" cap="none" normalizeH="0" baseline="0" dirty="0">
                        <a:ln>
                          <a:noFill/>
                        </a:ln>
                        <a:solidFill>
                          <a:srgbClr val="FF0000"/>
                        </a:solidFill>
                        <a:effectLst/>
                        <a:latin typeface="Calibri" pitchFamily="34" charset="0"/>
                      </a:endParaRPr>
                    </a:p>
                  </a:txBody>
                  <a:tcPr anchor="ctr" horzOverflow="overflow"/>
                </a:tc>
                <a:tc>
                  <a:txBody>
                    <a:bodyPr/>
                    <a:lstStyle/>
                    <a:p>
                      <a:pPr marL="342900" marR="0" lvl="0" indent="-342900" algn="l" defTabSz="914400" rtl="0" eaLnBrk="0" fontAlgn="b" latinLnBrk="0" hangingPunct="0">
                        <a:lnSpc>
                          <a:spcPct val="100000"/>
                        </a:lnSpc>
                        <a:spcBef>
                          <a:spcPct val="0"/>
                        </a:spcBef>
                        <a:spcAft>
                          <a:spcPct val="0"/>
                        </a:spcAft>
                        <a:buClrTx/>
                        <a:buSzTx/>
                        <a:buFont typeface="Arial" pitchFamily="34" charset="0"/>
                        <a:buNone/>
                        <a:tabLst/>
                      </a:pPr>
                      <a:r>
                        <a:rPr kumimoji="0" lang="en-US" sz="1200" u="none" strike="noStrike" cap="none" normalizeH="0" baseline="0" dirty="0">
                          <a:ln>
                            <a:noFill/>
                          </a:ln>
                          <a:effectLst/>
                        </a:rPr>
                        <a:t>  </a:t>
                      </a:r>
                      <a:endParaRPr kumimoji="0" lang="en-US" sz="1200" b="0" i="0" u="none" strike="noStrike" cap="none" normalizeH="0" baseline="0" dirty="0">
                        <a:ln>
                          <a:noFill/>
                        </a:ln>
                        <a:solidFill>
                          <a:schemeClr val="tx1"/>
                        </a:solidFill>
                        <a:effectLst/>
                        <a:latin typeface="Calibri" pitchFamily="34" charset="0"/>
                      </a:endParaRPr>
                    </a:p>
                  </a:txBody>
                  <a:tcPr anchor="ctr" horzOverflow="overflow"/>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4891152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3" name="TextBox 2"/>
          <p:cNvSpPr txBox="1"/>
          <p:nvPr/>
        </p:nvSpPr>
        <p:spPr>
          <a:xfrm>
            <a:off x="373487" y="352032"/>
            <a:ext cx="5562600" cy="461665"/>
          </a:xfrm>
          <a:prstGeom prst="rect">
            <a:avLst/>
          </a:prstGeom>
          <a:noFill/>
        </p:spPr>
        <p:txBody>
          <a:bodyPr wrap="square" rtlCol="0">
            <a:spAutoFit/>
          </a:bodyPr>
          <a:lstStyle/>
          <a:p>
            <a:r>
              <a:rPr lang="en-US" sz="2400" b="1" dirty="0">
                <a:latin typeface="Segoe UI Light" panose="020B0502040204020203" pitchFamily="34" charset="0"/>
              </a:rPr>
              <a:t>Deductible</a:t>
            </a:r>
          </a:p>
        </p:txBody>
      </p:sp>
      <p:sp>
        <p:nvSpPr>
          <p:cNvPr id="4" name="TextBox 3"/>
          <p:cNvSpPr txBox="1"/>
          <p:nvPr/>
        </p:nvSpPr>
        <p:spPr>
          <a:xfrm>
            <a:off x="373487" y="1297548"/>
            <a:ext cx="11372045" cy="1169551"/>
          </a:xfrm>
          <a:prstGeom prst="rect">
            <a:avLst/>
          </a:prstGeom>
          <a:noFill/>
          <a:ln>
            <a:solidFill>
              <a:schemeClr val="accent1"/>
            </a:solidFill>
          </a:ln>
        </p:spPr>
        <p:txBody>
          <a:bodyPr wrap="square" rtlCol="0">
            <a:spAutoFit/>
          </a:bodyPr>
          <a:lstStyle/>
          <a:p>
            <a:r>
              <a:rPr lang="en-US" sz="1600" b="1" dirty="0">
                <a:latin typeface="Arial" pitchFamily="34" charset="0"/>
                <a:cs typeface="Arial" pitchFamily="34" charset="0"/>
              </a:rPr>
              <a:t>Deductible:</a:t>
            </a:r>
          </a:p>
          <a:p>
            <a:r>
              <a:rPr lang="en-US" dirty="0">
                <a:latin typeface="Segoe UI Light" panose="020B0502040204020203" pitchFamily="34" charset="0"/>
              </a:rPr>
              <a:t>An Insurance Deductible is the amount, the insured is required and obligated to pay by the insurance policy. The deductible is chosen by the insured and is usually applied to coverage's. Generally the lower the deductible, the higher the insurance premium.</a:t>
            </a:r>
          </a:p>
        </p:txBody>
      </p:sp>
      <p:sp>
        <p:nvSpPr>
          <p:cNvPr id="5" name="TextBox 4"/>
          <p:cNvSpPr txBox="1"/>
          <p:nvPr/>
        </p:nvSpPr>
        <p:spPr>
          <a:xfrm>
            <a:off x="373487" y="2891444"/>
            <a:ext cx="6001555" cy="3410164"/>
          </a:xfrm>
          <a:prstGeom prst="rect">
            <a:avLst/>
          </a:prstGeom>
          <a:noFill/>
          <a:ln>
            <a:solidFill>
              <a:schemeClr val="accent1"/>
            </a:solidFill>
          </a:ln>
        </p:spPr>
        <p:txBody>
          <a:bodyPr wrap="square" rtlCol="0">
            <a:spAutoFit/>
          </a:bodyPr>
          <a:lstStyle/>
          <a:p>
            <a:r>
              <a:rPr lang="en-US" sz="1600" b="1" dirty="0">
                <a:latin typeface="Arial" pitchFamily="34" charset="0"/>
                <a:cs typeface="Arial" pitchFamily="34" charset="0"/>
              </a:rPr>
              <a:t>Small Deductible:</a:t>
            </a:r>
          </a:p>
          <a:p>
            <a:endParaRPr lang="en-US" sz="1600" b="1" dirty="0">
              <a:latin typeface="Arial" pitchFamily="34" charset="0"/>
              <a:cs typeface="Arial" pitchFamily="34" charset="0"/>
            </a:endParaRPr>
          </a:p>
          <a:p>
            <a:pPr marL="285750" indent="-285750">
              <a:spcBef>
                <a:spcPct val="20000"/>
              </a:spcBef>
              <a:buClr>
                <a:schemeClr val="tx1"/>
              </a:buClr>
              <a:buFont typeface="Arial" panose="020B0604020202020204" pitchFamily="34" charset="0"/>
              <a:buChar char="•"/>
              <a:defRPr/>
            </a:pPr>
            <a:r>
              <a:rPr lang="en-US" dirty="0">
                <a:latin typeface="Segoe UI Light" panose="020B0502040204020203" pitchFamily="34" charset="0"/>
              </a:rPr>
              <a:t>Small deductible plans were developed for those employers who are not eligible for more complex premium savings programs or who may not be of the size to qualify for those other plans. These plans were also developed with the idea in mind to provide incentives for employers to implement loss control programs that ultimately assist in reducing the employers cost for workers compensation insurance. Small deductible plans vary from state to state with many approved deductibles ranging from $500 to $5,000. </a:t>
            </a:r>
          </a:p>
        </p:txBody>
      </p:sp>
      <p:sp>
        <p:nvSpPr>
          <p:cNvPr id="6" name="TextBox 5"/>
          <p:cNvSpPr txBox="1"/>
          <p:nvPr/>
        </p:nvSpPr>
        <p:spPr>
          <a:xfrm>
            <a:off x="6536354" y="2891444"/>
            <a:ext cx="5209178" cy="3416320"/>
          </a:xfrm>
          <a:prstGeom prst="rect">
            <a:avLst/>
          </a:prstGeom>
          <a:noFill/>
          <a:ln>
            <a:solidFill>
              <a:schemeClr val="accent1"/>
            </a:solidFill>
          </a:ln>
        </p:spPr>
        <p:txBody>
          <a:bodyPr wrap="square" rtlCol="0">
            <a:spAutoFit/>
          </a:bodyPr>
          <a:lstStyle/>
          <a:p>
            <a:r>
              <a:rPr lang="en-US" b="1" dirty="0">
                <a:latin typeface="Arial" pitchFamily="34" charset="0"/>
                <a:cs typeface="Arial" pitchFamily="34" charset="0"/>
              </a:rPr>
              <a:t>Large Deductible:</a:t>
            </a:r>
          </a:p>
          <a:p>
            <a:endParaRPr lang="en-US" b="1" dirty="0">
              <a:latin typeface="Arial" pitchFamily="34" charset="0"/>
              <a:cs typeface="Arial" pitchFamily="34" charset="0"/>
            </a:endParaRPr>
          </a:p>
          <a:p>
            <a:pPr marL="285750" indent="-285750">
              <a:buFont typeface="Arial" panose="020B0604020202020204" pitchFamily="34" charset="0"/>
              <a:buChar char="•"/>
            </a:pPr>
            <a:r>
              <a:rPr lang="en-US" dirty="0">
                <a:latin typeface="Segoe UI Light" panose="020B0502040204020203" pitchFamily="34" charset="0"/>
              </a:rPr>
              <a:t>Large deductible policies are designed to give employers that are willing to retain most of the risk an option that reduces their insurance costs without  depriving employees of the certainty of insured benefits. When large deductible policies operate as intended, they provide the best of both worlds. The employer gets cost savings from quasi-self-insurance, while its employees remain fully insured.</a:t>
            </a:r>
          </a:p>
          <a:p>
            <a:pPr marL="285750" indent="-285750">
              <a:buFont typeface="Arial" panose="020B0604020202020204" pitchFamily="34" charset="0"/>
              <a:buChar char="•"/>
            </a:pPr>
            <a:endParaRPr lang="en-US" dirty="0">
              <a:latin typeface="Segoe UI Light" panose="020B0502040204020203" pitchFamily="34" charset="0"/>
            </a:endParaRPr>
          </a:p>
        </p:txBody>
      </p:sp>
    </p:spTree>
    <p:extLst>
      <p:ext uri="{BB962C8B-B14F-4D97-AF65-F5344CB8AC3E}">
        <p14:creationId xmlns:p14="http://schemas.microsoft.com/office/powerpoint/2010/main" val="333630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0506" y="455296"/>
            <a:ext cx="6324600" cy="369332"/>
          </a:xfrm>
          <a:prstGeom prst="rect">
            <a:avLst/>
          </a:prstGeom>
          <a:noFill/>
        </p:spPr>
        <p:txBody>
          <a:bodyPr wrap="square" rtlCol="0">
            <a:spAutoFit/>
          </a:bodyPr>
          <a:lstStyle/>
          <a:p>
            <a:r>
              <a:rPr lang="en-US" b="1" dirty="0">
                <a:latin typeface="Arial" pitchFamily="34" charset="0"/>
                <a:cs typeface="Arial" pitchFamily="34" charset="0"/>
              </a:rPr>
              <a:t>Rate Establishment &amp; NCCI</a:t>
            </a:r>
          </a:p>
        </p:txBody>
      </p:sp>
      <p:sp>
        <p:nvSpPr>
          <p:cNvPr id="3" name="Rectangle 2"/>
          <p:cNvSpPr/>
          <p:nvPr/>
        </p:nvSpPr>
        <p:spPr>
          <a:xfrm>
            <a:off x="300506" y="1140241"/>
            <a:ext cx="6995644" cy="4708981"/>
          </a:xfrm>
          <a:prstGeom prst="rect">
            <a:avLst/>
          </a:prstGeom>
        </p:spPr>
        <p:txBody>
          <a:bodyPr wrap="square">
            <a:spAutoFit/>
          </a:bodyPr>
          <a:lstStyle/>
          <a:p>
            <a:r>
              <a:rPr lang="en-US" sz="1600" b="1" dirty="0">
                <a:latin typeface="Arial" pitchFamily="34" charset="0"/>
                <a:cs typeface="Arial" pitchFamily="34" charset="0"/>
              </a:rPr>
              <a:t>Rate Establishment</a:t>
            </a:r>
            <a:endParaRPr lang="en-US" sz="1600" dirty="0">
              <a:latin typeface="Arial" pitchFamily="34" charset="0"/>
              <a:cs typeface="Arial" pitchFamily="34" charset="0"/>
            </a:endParaRPr>
          </a:p>
          <a:p>
            <a:pPr marL="463550" indent="-463550"/>
            <a:endParaRPr lang="en-US" sz="1600" dirty="0">
              <a:latin typeface="Arial" pitchFamily="34" charset="0"/>
              <a:cs typeface="Arial" pitchFamily="34" charset="0"/>
            </a:endParaRPr>
          </a:p>
          <a:p>
            <a:pPr marL="287338" indent="-285750">
              <a:buFont typeface="Wingdings" pitchFamily="2" charset="2"/>
              <a:buChar char="Ø"/>
            </a:pPr>
            <a:r>
              <a:rPr lang="en-US" dirty="0">
                <a:latin typeface="Segoe UI Light" panose="020B0502040204020203" pitchFamily="34" charset="0"/>
              </a:rPr>
              <a:t>Most states require an insurer to belong to a single approved rating organization in order to write WC Insurance in a specific state.</a:t>
            </a:r>
          </a:p>
          <a:p>
            <a:pPr marL="287338" indent="-285750">
              <a:buFont typeface="Wingdings" pitchFamily="2" charset="2"/>
              <a:buChar char="Ø"/>
            </a:pPr>
            <a:endParaRPr lang="en-US" sz="1600" dirty="0">
              <a:latin typeface="Arial" pitchFamily="34" charset="0"/>
              <a:cs typeface="Arial" pitchFamily="34" charset="0"/>
            </a:endParaRPr>
          </a:p>
          <a:p>
            <a:pPr marL="287338" indent="-285750">
              <a:buFont typeface="Wingdings" pitchFamily="2" charset="2"/>
              <a:buChar char="Ø"/>
            </a:pPr>
            <a:r>
              <a:rPr lang="en-US" dirty="0">
                <a:latin typeface="Segoe UI Light" panose="020B0502040204020203" pitchFamily="34" charset="0"/>
              </a:rPr>
              <a:t>Rating data is filed either through an independent state bureau or via a large rating/ statistical information gathering organization, such as NCCI</a:t>
            </a:r>
          </a:p>
          <a:p>
            <a:pPr marL="287338" indent="-285750">
              <a:buFont typeface="Wingdings" pitchFamily="2" charset="2"/>
              <a:buChar char="Ø"/>
            </a:pPr>
            <a:r>
              <a:rPr lang="en-US" dirty="0">
                <a:latin typeface="Segoe UI Light" panose="020B0502040204020203" pitchFamily="34" charset="0"/>
              </a:rPr>
              <a:t>Serves as the filing agency for insured in most states.</a:t>
            </a:r>
          </a:p>
          <a:p>
            <a:pPr marL="287338" indent="-285750">
              <a:buFont typeface="Wingdings" pitchFamily="2" charset="2"/>
              <a:buChar char="Ø"/>
            </a:pPr>
            <a:endParaRPr lang="en-US" dirty="0">
              <a:latin typeface="Segoe UI Light" panose="020B0502040204020203" pitchFamily="34" charset="0"/>
            </a:endParaRPr>
          </a:p>
          <a:p>
            <a:pPr marL="287338" indent="-285750">
              <a:buFont typeface="Wingdings" pitchFamily="2" charset="2"/>
              <a:buChar char="Ø"/>
            </a:pPr>
            <a:r>
              <a:rPr lang="en-US" dirty="0">
                <a:latin typeface="Segoe UI Light" panose="020B0502040204020203" pitchFamily="34" charset="0"/>
              </a:rPr>
              <a:t>Prepares standard form and endorsements.</a:t>
            </a:r>
          </a:p>
          <a:p>
            <a:pPr marL="287338" indent="-285750">
              <a:buFont typeface="Wingdings" pitchFamily="2" charset="2"/>
              <a:buChar char="Ø"/>
            </a:pPr>
            <a:endParaRPr lang="en-US" dirty="0">
              <a:latin typeface="Segoe UI Light" panose="020B0502040204020203" pitchFamily="34" charset="0"/>
            </a:endParaRPr>
          </a:p>
          <a:p>
            <a:pPr marL="287338" indent="-285750">
              <a:buFont typeface="Wingdings" pitchFamily="2" charset="2"/>
              <a:buChar char="Ø"/>
            </a:pPr>
            <a:r>
              <a:rPr lang="en-US" dirty="0">
                <a:latin typeface="Segoe UI Light" panose="020B0502040204020203" pitchFamily="34" charset="0"/>
              </a:rPr>
              <a:t>Many independent rating bureaus use NCCI for their data.</a:t>
            </a:r>
          </a:p>
          <a:p>
            <a:pPr marL="287338" indent="-285750">
              <a:buFont typeface="Wingdings" pitchFamily="2" charset="2"/>
              <a:buChar char="Ø"/>
            </a:pPr>
            <a:endParaRPr lang="en-US" dirty="0">
              <a:latin typeface="Segoe UI Light" panose="020B0502040204020203" pitchFamily="34" charset="0"/>
            </a:endParaRPr>
          </a:p>
          <a:p>
            <a:pPr marL="287338" indent="-285750">
              <a:buFont typeface="Wingdings" pitchFamily="2" charset="2"/>
              <a:buChar char="Ø"/>
            </a:pPr>
            <a:r>
              <a:rPr lang="en-US" dirty="0">
                <a:latin typeface="Segoe UI Light" panose="020B0502040204020203" pitchFamily="34" charset="0"/>
              </a:rPr>
              <a:t>Even in states that don’t utilize any NCCI service, most procedures generating resemble those of NCCI.</a:t>
            </a:r>
          </a:p>
          <a:p>
            <a:pPr marL="287338" indent="-285750">
              <a:buFont typeface="Wingdings" pitchFamily="2" charset="2"/>
              <a:buChar char="Ø"/>
            </a:pPr>
            <a:endParaRPr lang="en-US" dirty="0">
              <a:latin typeface="Segoe UI Light" panose="020B0502040204020203" pitchFamily="34" charset="0"/>
            </a:endParaRPr>
          </a:p>
        </p:txBody>
      </p:sp>
      <p:sp>
        <p:nvSpPr>
          <p:cNvPr id="4" name="TextBox 3"/>
          <p:cNvSpPr txBox="1"/>
          <p:nvPr/>
        </p:nvSpPr>
        <p:spPr>
          <a:xfrm>
            <a:off x="7296150" y="1727188"/>
            <a:ext cx="4724400" cy="3877985"/>
          </a:xfrm>
          <a:prstGeom prst="rect">
            <a:avLst/>
          </a:prstGeom>
          <a:noFill/>
          <a:ln>
            <a:solidFill>
              <a:schemeClr val="accent1"/>
            </a:solidFill>
          </a:ln>
        </p:spPr>
        <p:txBody>
          <a:bodyPr wrap="square" rtlCol="0">
            <a:spAutoFit/>
          </a:bodyPr>
          <a:lstStyle/>
          <a:p>
            <a:r>
              <a:rPr lang="en-US" sz="1600" b="1" dirty="0">
                <a:latin typeface="Arial" pitchFamily="34" charset="0"/>
                <a:cs typeface="Arial" pitchFamily="34" charset="0"/>
              </a:rPr>
              <a:t>The National Council on Compensation Insurance (NCCI)</a:t>
            </a:r>
          </a:p>
          <a:p>
            <a:endParaRPr lang="en-US" sz="1600" b="1" dirty="0">
              <a:latin typeface="Arial" pitchFamily="34" charset="0"/>
              <a:cs typeface="Arial" pitchFamily="34" charset="0"/>
            </a:endParaRPr>
          </a:p>
          <a:p>
            <a:pPr marL="287338" indent="-285750">
              <a:buFont typeface="Wingdings" pitchFamily="2" charset="2"/>
              <a:buChar char="Ø"/>
            </a:pPr>
            <a:r>
              <a:rPr lang="en-US" dirty="0">
                <a:latin typeface="Segoe UI Light" panose="020B0502040204020203" pitchFamily="34" charset="0"/>
              </a:rPr>
              <a:t>The National Council on Compensation Insurance (NCCI) is a U.S. insurance rating and data collection bureau specializing in workers' compensation. Operating with a not-for-profit philosophy and owned by its member insurers, NCCI annually collects data covering more than four million workers compensation claims and two million policies. </a:t>
            </a:r>
          </a:p>
          <a:p>
            <a:r>
              <a:rPr lang="en-US" dirty="0">
                <a:latin typeface="Segoe UI Light" panose="020B0502040204020203" pitchFamily="34" charset="0"/>
              </a:rPr>
              <a:t> </a:t>
            </a:r>
          </a:p>
          <a:p>
            <a:endParaRPr lang="en-US" dirty="0">
              <a:latin typeface="Arial" pitchFamily="34" charset="0"/>
              <a:cs typeface="Arial" pitchFamily="34" charset="0"/>
            </a:endParaRPr>
          </a:p>
        </p:txBody>
      </p:sp>
      <p:pic>
        <p:nvPicPr>
          <p:cNvPr id="5" name="Picture 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Tree>
    <p:extLst>
      <p:ext uri="{BB962C8B-B14F-4D97-AF65-F5344CB8AC3E}">
        <p14:creationId xmlns:p14="http://schemas.microsoft.com/office/powerpoint/2010/main" val="12793033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8200" y="430788"/>
            <a:ext cx="5715000" cy="646331"/>
          </a:xfrm>
          <a:prstGeom prst="rect">
            <a:avLst/>
          </a:prstGeom>
          <a:noFill/>
        </p:spPr>
        <p:txBody>
          <a:bodyPr wrap="square" rtlCol="0">
            <a:spAutoFit/>
          </a:bodyPr>
          <a:lstStyle/>
          <a:p>
            <a:r>
              <a:rPr lang="en-US" b="1" dirty="0">
                <a:latin typeface="Arial" pitchFamily="34" charset="0"/>
                <a:cs typeface="Arial" pitchFamily="34" charset="0"/>
              </a:rPr>
              <a:t>State Wise Bureau List</a:t>
            </a:r>
          </a:p>
          <a:p>
            <a:endParaRPr lang="en-US" dirty="0">
              <a:latin typeface="Arial" pitchFamily="34" charset="0"/>
              <a:cs typeface="Arial" pitchFamily="34" charset="0"/>
            </a:endParaRPr>
          </a:p>
        </p:txBody>
      </p:sp>
      <p:sp>
        <p:nvSpPr>
          <p:cNvPr id="3" name="TextBox 2"/>
          <p:cNvSpPr txBox="1"/>
          <p:nvPr/>
        </p:nvSpPr>
        <p:spPr>
          <a:xfrm>
            <a:off x="1733550" y="1384518"/>
            <a:ext cx="8001000" cy="1969770"/>
          </a:xfrm>
          <a:prstGeom prst="rect">
            <a:avLst/>
          </a:prstGeom>
          <a:noFill/>
        </p:spPr>
        <p:txBody>
          <a:bodyPr wrap="square" rtlCol="0">
            <a:spAutoFit/>
          </a:bodyPr>
          <a:lstStyle/>
          <a:p>
            <a:pPr marL="1588" lvl="1" indent="-285750">
              <a:lnSpc>
                <a:spcPct val="90000"/>
              </a:lnSpc>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1600" b="1" dirty="0">
                <a:latin typeface="Arial" pitchFamily="34" charset="0"/>
                <a:cs typeface="Arial" pitchFamily="34" charset="0"/>
              </a:rPr>
              <a:t>NCCI States – </a:t>
            </a:r>
            <a:r>
              <a:rPr lang="en-US" sz="2000" dirty="0">
                <a:latin typeface="Segoe UI Light" panose="020B0502040204020203" pitchFamily="34" charset="0"/>
              </a:rPr>
              <a:t>Rating and data collection is done by the NCCI.</a:t>
            </a:r>
          </a:p>
          <a:p>
            <a:pPr marL="287338" indent="-285750">
              <a:buFont typeface="Wingdings" pitchFamily="2" charset="2"/>
              <a:buChar char="Ø"/>
            </a:pPr>
            <a:endParaRPr lang="en-US" sz="1600" dirty="0">
              <a:latin typeface="Arial" pitchFamily="34" charset="0"/>
              <a:cs typeface="Arial" pitchFamily="34" charset="0"/>
            </a:endParaRPr>
          </a:p>
          <a:p>
            <a:pPr marL="1588" lvl="1" indent="-285750">
              <a:lnSpc>
                <a:spcPct val="90000"/>
              </a:lnSpc>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1600" b="1" dirty="0">
                <a:latin typeface="Arial" pitchFamily="34" charset="0"/>
                <a:cs typeface="Arial" pitchFamily="34" charset="0"/>
              </a:rPr>
              <a:t>Independent Bureau State- </a:t>
            </a:r>
            <a:r>
              <a:rPr lang="en-US" sz="2000" dirty="0">
                <a:latin typeface="Segoe UI Light" panose="020B0502040204020203" pitchFamily="34" charset="0"/>
              </a:rPr>
              <a:t>Rating and data collection is done by the Private state bureaus.</a:t>
            </a:r>
          </a:p>
          <a:p>
            <a:pPr marL="287338" indent="-285750">
              <a:buFont typeface="Wingdings" pitchFamily="2" charset="2"/>
              <a:buChar char="Ø"/>
            </a:pPr>
            <a:endParaRPr lang="en-US" sz="1600" dirty="0">
              <a:latin typeface="Arial" pitchFamily="34" charset="0"/>
              <a:cs typeface="Arial" pitchFamily="34" charset="0"/>
            </a:endParaRPr>
          </a:p>
          <a:p>
            <a:pPr marL="1588" lvl="1" indent="-285750">
              <a:lnSpc>
                <a:spcPct val="90000"/>
              </a:lnSpc>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1600" b="1" dirty="0">
                <a:latin typeface="Arial" pitchFamily="34" charset="0"/>
                <a:cs typeface="Arial" pitchFamily="34" charset="0"/>
              </a:rPr>
              <a:t>Monopolistic State- </a:t>
            </a:r>
            <a:r>
              <a:rPr lang="en-US" sz="2000" dirty="0">
                <a:latin typeface="Segoe UI Light" panose="020B0502040204020203" pitchFamily="34" charset="0"/>
              </a:rPr>
              <a:t>Only state fund can provide the insurance. Private insurers are not allowed to operate in the states.</a:t>
            </a:r>
          </a:p>
        </p:txBody>
      </p:sp>
      <p:pic>
        <p:nvPicPr>
          <p:cNvPr id="4" name="Picture 1"/>
          <p:cNvPicPr>
            <a:picLocks noChangeAspect="1" noChangeArrowheads="1"/>
          </p:cNvPicPr>
          <p:nvPr/>
        </p:nvPicPr>
        <p:blipFill>
          <a:blip r:embed="rId2" cstate="print"/>
          <a:srcRect/>
          <a:stretch>
            <a:fillRect/>
          </a:stretch>
        </p:blipFill>
        <p:spPr bwMode="auto">
          <a:xfrm>
            <a:off x="3695700" y="3495637"/>
            <a:ext cx="4743450" cy="3200400"/>
          </a:xfrm>
          <a:prstGeom prst="rect">
            <a:avLst/>
          </a:prstGeom>
          <a:noFill/>
          <a:ln w="9525">
            <a:noFill/>
            <a:miter lim="800000"/>
            <a:headEnd/>
            <a:tailEnd/>
          </a:ln>
        </p:spPr>
      </p:pic>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Tree>
    <p:extLst>
      <p:ext uri="{BB962C8B-B14F-4D97-AF65-F5344CB8AC3E}">
        <p14:creationId xmlns:p14="http://schemas.microsoft.com/office/powerpoint/2010/main" val="1111436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341377"/>
            <a:ext cx="10998200" cy="5007012"/>
          </a:xfrm>
          <a:prstGeom prst="rect">
            <a:avLst/>
          </a:prstGeom>
        </p:spPr>
        <p:txBody>
          <a:bodyPr wrap="square">
            <a:spAutoFit/>
          </a:bodyPr>
          <a:lstStyle/>
          <a:p>
            <a:pPr marL="0" lvl="1" algn="just">
              <a:buClr>
                <a:srgbClr val="C00000"/>
              </a:buClr>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b="1" dirty="0">
                <a:latin typeface="Arial" pitchFamily="34" charset="0"/>
                <a:cs typeface="Arial" pitchFamily="34" charset="0"/>
              </a:rPr>
              <a:t>Experience Rating</a:t>
            </a:r>
          </a:p>
          <a:p>
            <a:pPr marL="287338" lvl="1" indent="-285750">
              <a:lnSpc>
                <a:spcPct val="90000"/>
              </a:lnSpc>
              <a:spcBef>
                <a:spcPts val="500"/>
              </a:spcBef>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dirty="0">
                <a:latin typeface="Segoe UI Light" panose="020B0502040204020203" pitchFamily="34" charset="0"/>
              </a:rPr>
              <a:t>Experience Rating uses the employer’s past experience” (losses) to project future losses.</a:t>
            </a:r>
          </a:p>
          <a:p>
            <a:pPr>
              <a:spcBef>
                <a:spcPts val="5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a:latin typeface="Arial" pitchFamily="34" charset="0"/>
              <a:cs typeface="Arial" pitchFamily="34" charset="0"/>
            </a:endParaRPr>
          </a:p>
          <a:p>
            <a:pPr>
              <a:lnSpc>
                <a:spcPct val="80000"/>
              </a:lnSpc>
              <a:spcBef>
                <a:spcPts val="5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1600" b="1" dirty="0">
                <a:latin typeface="Arial" pitchFamily="34" charset="0"/>
                <a:cs typeface="Arial" pitchFamily="34" charset="0"/>
              </a:rPr>
              <a:t>Schedule Rating:</a:t>
            </a:r>
            <a:endParaRPr lang="en-US" sz="1600" b="1" dirty="0">
              <a:solidFill>
                <a:srgbClr val="C00000"/>
              </a:solidFill>
              <a:latin typeface="Arial" pitchFamily="34" charset="0"/>
              <a:cs typeface="Arial" pitchFamily="34" charset="0"/>
            </a:endParaRPr>
          </a:p>
          <a:p>
            <a:pPr marL="287338" lvl="1" indent="-285750">
              <a:lnSpc>
                <a:spcPct val="90000"/>
              </a:lnSpc>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dirty="0">
                <a:latin typeface="Segoe UI Light" panose="020B0502040204020203" pitchFamily="34" charset="0"/>
              </a:rPr>
              <a:t>Schedule rating may be used in addition to experience rating. The NCCI or other appropriate rating bureaus administer the Schedule rating plans. </a:t>
            </a:r>
          </a:p>
          <a:p>
            <a:pPr marL="287338" lvl="1" indent="-285750">
              <a:lnSpc>
                <a:spcPct val="90000"/>
              </a:lnSpc>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dirty="0">
              <a:latin typeface="Segoe UI Light" panose="020B0502040204020203" pitchFamily="34" charset="0"/>
            </a:endParaRPr>
          </a:p>
          <a:p>
            <a:pPr marL="287338" lvl="1" indent="-285750">
              <a:lnSpc>
                <a:spcPct val="90000"/>
              </a:lnSpc>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dirty="0">
                <a:latin typeface="Segoe UI Light" panose="020B0502040204020203" pitchFamily="34" charset="0"/>
              </a:rPr>
              <a:t>Schedule rating credits or debits are applied after the Experience modification. The maximum credit or debit is 25 percent. The goal of schedule rating is to reflect characteristics of a particular company that are not reflected in experience rating. </a:t>
            </a:r>
          </a:p>
          <a:p>
            <a:pPr>
              <a:lnSpc>
                <a:spcPct val="80000"/>
              </a:lnSpc>
              <a:spcBef>
                <a:spcPts val="5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b="1" dirty="0">
              <a:latin typeface="Arial" pitchFamily="34" charset="0"/>
              <a:cs typeface="Arial" pitchFamily="34" charset="0"/>
            </a:endParaRPr>
          </a:p>
          <a:p>
            <a:pPr>
              <a:lnSpc>
                <a:spcPct val="80000"/>
              </a:lnSpc>
              <a:spcBef>
                <a:spcPts val="5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b="1" dirty="0">
                <a:latin typeface="Arial" pitchFamily="34" charset="0"/>
                <a:cs typeface="Arial" pitchFamily="34" charset="0"/>
              </a:rPr>
              <a:t>Retrospective Rating:</a:t>
            </a:r>
          </a:p>
          <a:p>
            <a:pPr>
              <a:lnSpc>
                <a:spcPct val="80000"/>
              </a:lnSpc>
              <a:spcBef>
                <a:spcPts val="5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a:latin typeface="Arial" pitchFamily="34" charset="0"/>
              <a:cs typeface="Arial" pitchFamily="34" charset="0"/>
            </a:endParaRPr>
          </a:p>
          <a:p>
            <a:pPr marL="287338" lvl="1" indent="-285750" fontAlgn="auto">
              <a:lnSpc>
                <a:spcPct val="90000"/>
              </a:lnSpc>
              <a:spcBef>
                <a:spcPts val="0"/>
              </a:spcBef>
              <a:spcAft>
                <a:spcPts val="0"/>
              </a:spcAft>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dirty="0">
                <a:latin typeface="Segoe UI Light" panose="020B0502040204020203" pitchFamily="34" charset="0"/>
              </a:rPr>
              <a:t>The Retrospective Rating Plan bases the employer’s premium on its size and actual experience for the policy period, subject to maximum and minimum limits.</a:t>
            </a:r>
          </a:p>
          <a:p>
            <a:pPr marL="287338" lvl="1" indent="-285750" fontAlgn="auto">
              <a:lnSpc>
                <a:spcPct val="90000"/>
              </a:lnSpc>
              <a:spcBef>
                <a:spcPts val="0"/>
              </a:spcBef>
              <a:spcAft>
                <a:spcPts val="0"/>
              </a:spcAft>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dirty="0">
              <a:latin typeface="Segoe UI Light" panose="020B0502040204020203" pitchFamily="34" charset="0"/>
            </a:endParaRPr>
          </a:p>
          <a:p>
            <a:pPr marL="287338" lvl="1" indent="-285750" fontAlgn="auto">
              <a:lnSpc>
                <a:spcPct val="90000"/>
              </a:lnSpc>
              <a:spcBef>
                <a:spcPts val="0"/>
              </a:spcBef>
              <a:spcAft>
                <a:spcPts val="0"/>
              </a:spcAft>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dirty="0">
                <a:latin typeface="Segoe UI Light" panose="020B0502040204020203" pitchFamily="34" charset="0"/>
              </a:rPr>
              <a:t>An initial premium is charged and then adjusted at the end of the policy period to reflect the actual losses. </a:t>
            </a:r>
          </a:p>
          <a:p>
            <a:pPr marL="287338" lvl="1" indent="-285750" fontAlgn="auto">
              <a:lnSpc>
                <a:spcPct val="90000"/>
              </a:lnSpc>
              <a:spcBef>
                <a:spcPts val="0"/>
              </a:spcBef>
              <a:spcAft>
                <a:spcPts val="0"/>
              </a:spcAft>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dirty="0">
                <a:latin typeface="Segoe UI Light" panose="020B0502040204020203" pitchFamily="34" charset="0"/>
              </a:rPr>
              <a:t>A premium discount does not apply to policies written under a retrospective rating plan at the inception.</a:t>
            </a:r>
          </a:p>
          <a:p>
            <a:pPr>
              <a:lnSpc>
                <a:spcPct val="80000"/>
              </a:lnSpc>
              <a:spcBef>
                <a:spcPts val="50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a:latin typeface="Arial" pitchFamily="34" charset="0"/>
              <a:cs typeface="Arial" pitchFamily="34" charset="0"/>
            </a:endParaRPr>
          </a:p>
        </p:txBody>
      </p:sp>
      <p:sp>
        <p:nvSpPr>
          <p:cNvPr id="3" name="TextBox 2"/>
          <p:cNvSpPr txBox="1"/>
          <p:nvPr/>
        </p:nvSpPr>
        <p:spPr>
          <a:xfrm>
            <a:off x="457200" y="203200"/>
            <a:ext cx="5029200" cy="400110"/>
          </a:xfrm>
          <a:prstGeom prst="rect">
            <a:avLst/>
          </a:prstGeom>
          <a:noFill/>
        </p:spPr>
        <p:txBody>
          <a:bodyPr wrap="square" rtlCol="0">
            <a:spAutoFit/>
          </a:bodyPr>
          <a:lstStyle/>
          <a:p>
            <a:r>
              <a:rPr lang="en-IN" sz="2000" b="1" dirty="0">
                <a:latin typeface="Arial" pitchFamily="34" charset="0"/>
                <a:cs typeface="Arial" pitchFamily="34" charset="0"/>
              </a:rPr>
              <a:t>Rating</a:t>
            </a:r>
            <a:endParaRPr lang="en-US" sz="2000" dirty="0">
              <a:latin typeface="Arial" pitchFamily="34" charset="0"/>
              <a:cs typeface="Arial" pitchFamily="34" charset="0"/>
            </a:endParaRPr>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Tree>
    <p:extLst>
      <p:ext uri="{BB962C8B-B14F-4D97-AF65-F5344CB8AC3E}">
        <p14:creationId xmlns:p14="http://schemas.microsoft.com/office/powerpoint/2010/main" val="35487901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4850" y="1317602"/>
            <a:ext cx="6873026" cy="4832092"/>
          </a:xfrm>
          <a:prstGeom prst="rect">
            <a:avLst/>
          </a:prstGeom>
        </p:spPr>
        <p:txBody>
          <a:bodyPr wrap="square">
            <a:spAutoFit/>
          </a:bodyPr>
          <a:lstStyle/>
          <a:p>
            <a:pPr marL="287338" lvl="1" indent="-285750">
              <a:lnSpc>
                <a:spcPct val="90000"/>
              </a:lnSpc>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Just for info.,  the most offered WC coverages are as below. They may vary state wise. (They all constitute the WC Basic Premium Rating Formula )</a:t>
            </a:r>
            <a:endParaRPr lang="en-IN" sz="2000" dirty="0">
              <a:latin typeface="Segoe UI Light" panose="020B0502040204020203" pitchFamily="34" charset="0"/>
            </a:endParaRPr>
          </a:p>
          <a:p>
            <a:pPr marL="1588" lvl="1">
              <a:lnSpc>
                <a:spcPct val="90000"/>
              </a:lnSpc>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Supplemental Disease</a:t>
            </a:r>
            <a:endParaRPr lang="en-IN" sz="2000" dirty="0">
              <a:latin typeface="Segoe UI Light" panose="020B0502040204020203" pitchFamily="34" charset="0"/>
            </a:endParaRPr>
          </a:p>
          <a:p>
            <a:pPr marL="1588" lvl="1">
              <a:lnSpc>
                <a:spcPct val="90000"/>
              </a:lnSpc>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US Longshore &amp; Harbor workers Charge- USLHW</a:t>
            </a:r>
            <a:endParaRPr lang="en-IN" sz="2000" dirty="0">
              <a:latin typeface="Segoe UI Light" panose="020B0502040204020203" pitchFamily="34" charset="0"/>
            </a:endParaRPr>
          </a:p>
          <a:p>
            <a:pPr marL="1588" lvl="1">
              <a:lnSpc>
                <a:spcPct val="90000"/>
              </a:lnSpc>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Waiver of Subrogation Factor</a:t>
            </a:r>
            <a:endParaRPr lang="en-IN" sz="2000" dirty="0">
              <a:latin typeface="Segoe UI Light" panose="020B0502040204020203" pitchFamily="34" charset="0"/>
            </a:endParaRPr>
          </a:p>
          <a:p>
            <a:pPr marL="1588" lvl="1">
              <a:lnSpc>
                <a:spcPct val="90000"/>
              </a:lnSpc>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Increased Employers Liability Limit Factor</a:t>
            </a:r>
            <a:endParaRPr lang="en-IN" sz="2000" dirty="0">
              <a:latin typeface="Segoe UI Light" panose="020B0502040204020203" pitchFamily="34" charset="0"/>
            </a:endParaRPr>
          </a:p>
          <a:p>
            <a:pPr marL="1588" lvl="1">
              <a:lnSpc>
                <a:spcPct val="90000"/>
              </a:lnSpc>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Increased Employers Liability Balance to Minimum   </a:t>
            </a:r>
          </a:p>
          <a:p>
            <a:pPr marL="1588" lvl="1">
              <a:lnSpc>
                <a:spcPct val="90000"/>
              </a:lnSpc>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Charge</a:t>
            </a:r>
            <a:endParaRPr lang="en-IN" sz="2000" dirty="0">
              <a:latin typeface="Segoe UI Light" panose="020B0502040204020203" pitchFamily="34" charset="0"/>
            </a:endParaRPr>
          </a:p>
          <a:p>
            <a:pPr marL="1588" lvl="1">
              <a:lnSpc>
                <a:spcPct val="90000"/>
              </a:lnSpc>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Increased Employers Liability Admiralty-FELA Factor</a:t>
            </a:r>
            <a:endParaRPr lang="en-IN" sz="2000" dirty="0">
              <a:latin typeface="Segoe UI Light" panose="020B0502040204020203" pitchFamily="34" charset="0"/>
            </a:endParaRPr>
          </a:p>
          <a:p>
            <a:pPr marL="1588" lvl="1">
              <a:lnSpc>
                <a:spcPct val="90000"/>
              </a:lnSpc>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Employers Liability Voluntary Compensation Charge</a:t>
            </a:r>
            <a:endParaRPr lang="en-IN" sz="2000" dirty="0">
              <a:latin typeface="Segoe UI Light" panose="020B0502040204020203" pitchFamily="34" charset="0"/>
            </a:endParaRPr>
          </a:p>
          <a:p>
            <a:pPr marL="1588" lvl="1">
              <a:lnSpc>
                <a:spcPct val="90000"/>
              </a:lnSpc>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Experience Modification Factor or EMR</a:t>
            </a:r>
            <a:endParaRPr lang="en-IN" sz="2000" dirty="0">
              <a:latin typeface="Segoe UI Light" panose="020B0502040204020203" pitchFamily="34" charset="0"/>
            </a:endParaRPr>
          </a:p>
          <a:p>
            <a:pPr marL="1588" lvl="1">
              <a:lnSpc>
                <a:spcPct val="90000"/>
              </a:lnSpc>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CCPAP Factor(Contracting Classification Premium           </a:t>
            </a:r>
          </a:p>
          <a:p>
            <a:pPr marL="1588" lvl="1">
              <a:lnSpc>
                <a:spcPct val="90000"/>
              </a:lnSpc>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Adjustment Program)</a:t>
            </a:r>
            <a:endParaRPr lang="en-IN" sz="2000" dirty="0">
              <a:latin typeface="Segoe UI Light" panose="020B0502040204020203" pitchFamily="34" charset="0"/>
            </a:endParaRPr>
          </a:p>
          <a:p>
            <a:pPr marL="1588" lvl="1">
              <a:lnSpc>
                <a:spcPct val="90000"/>
              </a:lnSpc>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Schedule Credit</a:t>
            </a:r>
            <a:endParaRPr lang="en-IN" sz="2000" dirty="0">
              <a:latin typeface="Segoe UI Light" panose="020B0502040204020203" pitchFamily="34" charset="0"/>
            </a:endParaRPr>
          </a:p>
          <a:p>
            <a:pPr marL="1588" lvl="1">
              <a:lnSpc>
                <a:spcPct val="90000"/>
              </a:lnSpc>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Disease Supplement Exposure</a:t>
            </a:r>
            <a:endParaRPr lang="en-IN" sz="2000" dirty="0">
              <a:latin typeface="Segoe UI Light" panose="020B0502040204020203" pitchFamily="34" charset="0"/>
            </a:endParaRPr>
          </a:p>
          <a:p>
            <a:pPr>
              <a:spcAft>
                <a:spcPts val="0"/>
              </a:spcAft>
            </a:pPr>
            <a:r>
              <a:rPr lang="en-US" sz="2000" dirty="0">
                <a:solidFill>
                  <a:srgbClr val="1F497D"/>
                </a:solidFill>
                <a:latin typeface="Calibri" panose="020F0502020204030204" pitchFamily="34" charset="0"/>
                <a:ea typeface="Calibri" panose="020F0502020204030204" pitchFamily="34"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7207876" y="1421458"/>
            <a:ext cx="4511899" cy="3693319"/>
          </a:xfrm>
          <a:prstGeom prst="rect">
            <a:avLst/>
          </a:prstGeom>
        </p:spPr>
        <p:txBody>
          <a:bodyPr wrap="square">
            <a:spAutoFit/>
          </a:bodyPr>
          <a:lstStyle/>
          <a:p>
            <a:pPr marL="1588" lvl="1" indent="-285750">
              <a:lnSpc>
                <a:spcPct val="90000"/>
              </a:lnSpc>
              <a:spcAft>
                <a:spcPts val="0"/>
              </a:spcAft>
              <a:buSzPct val="80000"/>
              <a:buFont typeface="Arial" panose="020B0604020202020204" pitchFamily="34" charset="0"/>
              <a:buChar char="•"/>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Atomic Energy Radiation   </a:t>
            </a:r>
          </a:p>
          <a:p>
            <a:pPr marL="0" lvl="1">
              <a:lnSpc>
                <a:spcPct val="90000"/>
              </a:lnSpc>
              <a:spcAft>
                <a:spcPts val="0"/>
              </a:spcAft>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Exposure</a:t>
            </a:r>
            <a:endParaRPr lang="en-IN" sz="2000" dirty="0">
              <a:latin typeface="Segoe UI Light" panose="020B0502040204020203" pitchFamily="34" charset="0"/>
            </a:endParaRPr>
          </a:p>
          <a:p>
            <a:pPr marL="1588" lvl="1">
              <a:lnSpc>
                <a:spcPct val="90000"/>
              </a:lnSpc>
              <a:spcAft>
                <a:spcPts val="0"/>
              </a:spcAft>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Non-Ratable Catastrophe Load</a:t>
            </a:r>
            <a:endParaRPr lang="en-IN" sz="2000" dirty="0">
              <a:latin typeface="Segoe UI Light" panose="020B0502040204020203" pitchFamily="34" charset="0"/>
            </a:endParaRPr>
          </a:p>
          <a:p>
            <a:pPr marL="1588" lvl="1">
              <a:lnSpc>
                <a:spcPct val="90000"/>
              </a:lnSpc>
              <a:spcAft>
                <a:spcPts val="0"/>
              </a:spcAft>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Aircraft Seat Surcharge</a:t>
            </a:r>
            <a:endParaRPr lang="en-IN" sz="2000" dirty="0">
              <a:latin typeface="Segoe UI Light" panose="020B0502040204020203" pitchFamily="34" charset="0"/>
            </a:endParaRPr>
          </a:p>
          <a:p>
            <a:pPr marL="1588" lvl="1">
              <a:lnSpc>
                <a:spcPct val="90000"/>
              </a:lnSpc>
              <a:spcAft>
                <a:spcPts val="0"/>
              </a:spcAft>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Balance to Minimum Premium</a:t>
            </a:r>
            <a:endParaRPr lang="en-IN" sz="2000" dirty="0">
              <a:latin typeface="Segoe UI Light" panose="020B0502040204020203" pitchFamily="34" charset="0"/>
            </a:endParaRPr>
          </a:p>
          <a:p>
            <a:pPr marL="1588" lvl="1">
              <a:lnSpc>
                <a:spcPct val="90000"/>
              </a:lnSpc>
              <a:spcAft>
                <a:spcPts val="0"/>
              </a:spcAft>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Balance to Minimum Premium </a:t>
            </a:r>
          </a:p>
          <a:p>
            <a:pPr marL="1588" lvl="1">
              <a:lnSpc>
                <a:spcPct val="90000"/>
              </a:lnSpc>
              <a:spcAft>
                <a:spcPts val="0"/>
              </a:spcAft>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Admiralty/FELA</a:t>
            </a:r>
            <a:endParaRPr lang="en-IN" sz="2000" dirty="0">
              <a:latin typeface="Segoe UI Light" panose="020B0502040204020203" pitchFamily="34" charset="0"/>
            </a:endParaRPr>
          </a:p>
          <a:p>
            <a:pPr marL="1588" lvl="1">
              <a:lnSpc>
                <a:spcPct val="90000"/>
              </a:lnSpc>
              <a:spcAft>
                <a:spcPts val="0"/>
              </a:spcAft>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Premium Discount</a:t>
            </a:r>
            <a:endParaRPr lang="en-IN" sz="2000" dirty="0">
              <a:latin typeface="Segoe UI Light" panose="020B0502040204020203" pitchFamily="34" charset="0"/>
            </a:endParaRPr>
          </a:p>
          <a:p>
            <a:pPr marL="1588" lvl="1">
              <a:lnSpc>
                <a:spcPct val="90000"/>
              </a:lnSpc>
              <a:spcAft>
                <a:spcPts val="0"/>
              </a:spcAft>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Coal Mine Disease Charge</a:t>
            </a:r>
            <a:endParaRPr lang="en-IN" sz="2000" dirty="0">
              <a:latin typeface="Segoe UI Light" panose="020B0502040204020203" pitchFamily="34" charset="0"/>
            </a:endParaRPr>
          </a:p>
          <a:p>
            <a:pPr marL="1588" lvl="1">
              <a:lnSpc>
                <a:spcPct val="90000"/>
              </a:lnSpc>
              <a:spcAft>
                <a:spcPts val="0"/>
              </a:spcAft>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Expense Constant</a:t>
            </a:r>
            <a:endParaRPr lang="en-IN" sz="2000" dirty="0">
              <a:latin typeface="Segoe UI Light" panose="020B0502040204020203" pitchFamily="34" charset="0"/>
            </a:endParaRPr>
          </a:p>
          <a:p>
            <a:pPr marL="1588" lvl="1">
              <a:lnSpc>
                <a:spcPct val="90000"/>
              </a:lnSpc>
              <a:spcAft>
                <a:spcPts val="0"/>
              </a:spcAft>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Terrorism Charge</a:t>
            </a:r>
            <a:endParaRPr lang="en-IN" sz="2000" dirty="0">
              <a:latin typeface="Segoe UI Light" panose="020B0502040204020203" pitchFamily="34" charset="0"/>
            </a:endParaRPr>
          </a:p>
          <a:p>
            <a:pPr marL="1588" lvl="1">
              <a:lnSpc>
                <a:spcPct val="90000"/>
              </a:lnSpc>
              <a:spcAft>
                <a:spcPts val="0"/>
              </a:spcAft>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State Surcharge</a:t>
            </a:r>
            <a:endParaRPr lang="en-IN" sz="2000" dirty="0">
              <a:latin typeface="Segoe UI Light" panose="020B0502040204020203" pitchFamily="34" charset="0"/>
            </a:endParaRPr>
          </a:p>
          <a:p>
            <a:pPr marL="1588" lvl="1">
              <a:lnSpc>
                <a:spcPct val="90000"/>
              </a:lnSpc>
              <a:spcAft>
                <a:spcPts val="0"/>
              </a:spcAft>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US" sz="2000" dirty="0">
                <a:latin typeface="Segoe UI Light" panose="020B0502040204020203" pitchFamily="34" charset="0"/>
              </a:rPr>
              <a:t>•             Audit Non-Compliance Charge</a:t>
            </a:r>
            <a:endParaRPr lang="en-IN" sz="2000" dirty="0">
              <a:latin typeface="Segoe UI Light" panose="020B0502040204020203" pitchFamily="34" charset="0"/>
            </a:endParaRPr>
          </a:p>
        </p:txBody>
      </p:sp>
      <p:sp>
        <p:nvSpPr>
          <p:cNvPr id="4" name="Rectangle 3"/>
          <p:cNvSpPr/>
          <p:nvPr/>
        </p:nvSpPr>
        <p:spPr>
          <a:xfrm>
            <a:off x="736137" y="303919"/>
            <a:ext cx="4171527" cy="584775"/>
          </a:xfrm>
          <a:prstGeom prst="rect">
            <a:avLst/>
          </a:prstGeom>
        </p:spPr>
        <p:txBody>
          <a:bodyPr wrap="none">
            <a:spAutoFit/>
          </a:bodyPr>
          <a:lstStyle/>
          <a:p>
            <a:r>
              <a:rPr lang="en-IN" sz="2400" b="1" dirty="0"/>
              <a:t>Most offered WC </a:t>
            </a:r>
            <a:r>
              <a:rPr lang="en-IN" sz="3200" b="1" dirty="0"/>
              <a:t>coverages</a:t>
            </a:r>
            <a:r>
              <a:rPr lang="en-IN" sz="2400" b="1" dirty="0"/>
              <a:t> </a:t>
            </a:r>
          </a:p>
        </p:txBody>
      </p:sp>
      <p:pic>
        <p:nvPicPr>
          <p:cNvPr id="5" name="Picture 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Tree>
    <p:extLst>
      <p:ext uri="{BB962C8B-B14F-4D97-AF65-F5344CB8AC3E}">
        <p14:creationId xmlns:p14="http://schemas.microsoft.com/office/powerpoint/2010/main" val="35731033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19955" y="1267323"/>
            <a:ext cx="11080124" cy="646331"/>
          </a:xfrm>
          <a:prstGeom prst="rect">
            <a:avLst/>
          </a:prstGeom>
        </p:spPr>
        <p:txBody>
          <a:bodyPr wrap="square">
            <a:spAutoFit/>
          </a:bodyPr>
          <a:lstStyle/>
          <a:p>
            <a:r>
              <a:rPr lang="en-US" b="1" dirty="0">
                <a:latin typeface="Calibri" panose="020F0502020204030204" pitchFamily="34" charset="0"/>
                <a:ea typeface="Calibri" panose="020F0502020204030204" pitchFamily="34" charset="0"/>
                <a:cs typeface="Times New Roman" panose="02020603050405020304" pitchFamily="18" charset="0"/>
              </a:rPr>
              <a:t>Anniversary Rating Date (ARD)</a:t>
            </a:r>
            <a:r>
              <a:rPr lang="en-US" dirty="0">
                <a:latin typeface="Calibri" panose="020F0502020204030204" pitchFamily="34" charset="0"/>
                <a:ea typeface="Calibri" panose="020F0502020204030204" pitchFamily="34" charset="0"/>
                <a:cs typeface="Times New Roman" panose="02020603050405020304" pitchFamily="18" charset="0"/>
              </a:rPr>
              <a:t> is all about timing and the application of rules, classification and rates on a workers compensation policy; </a:t>
            </a:r>
            <a:endParaRPr lang="en-IN" dirty="0"/>
          </a:p>
        </p:txBody>
      </p:sp>
      <p:sp>
        <p:nvSpPr>
          <p:cNvPr id="3" name="Rectangle 2"/>
          <p:cNvSpPr/>
          <p:nvPr/>
        </p:nvSpPr>
        <p:spPr>
          <a:xfrm>
            <a:off x="974501" y="2531840"/>
            <a:ext cx="10771031" cy="2862322"/>
          </a:xfrm>
          <a:prstGeom prst="rect">
            <a:avLst/>
          </a:prstGeom>
        </p:spPr>
        <p:txBody>
          <a:bodyPr wrap="square">
            <a:spAutoFit/>
          </a:bodyPr>
          <a:lstStyle/>
          <a:p>
            <a:pPr>
              <a:spcAft>
                <a:spcPts val="0"/>
              </a:spcAft>
            </a:pPr>
            <a:r>
              <a:rPr lang="en-US" b="1" dirty="0">
                <a:latin typeface="Calibri" panose="020F0502020204030204" pitchFamily="34" charset="0"/>
                <a:ea typeface="Calibri" panose="020F0502020204030204" pitchFamily="34" charset="0"/>
                <a:cs typeface="Times New Roman" panose="02020603050405020304" pitchFamily="18" charset="0"/>
              </a:rPr>
              <a:t>Illustration 1.</a:t>
            </a:r>
            <a:endParaRPr lang="en-IN"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a:t>
            </a:r>
            <a:endParaRPr lang="en-IN"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An employer has had continuous coverage on a policy with an </a:t>
            </a:r>
            <a:r>
              <a:rPr lang="en-US" u="sng" dirty="0">
                <a:latin typeface="Calibri" panose="020F0502020204030204" pitchFamily="34" charset="0"/>
                <a:ea typeface="Calibri" panose="020F0502020204030204" pitchFamily="34" charset="0"/>
                <a:cs typeface="Times New Roman" panose="02020603050405020304" pitchFamily="18" charset="0"/>
              </a:rPr>
              <a:t>original effective date of 1-1-2008</a:t>
            </a:r>
            <a:r>
              <a:rPr lang="en-US" dirty="0">
                <a:latin typeface="Calibri" panose="020F0502020204030204" pitchFamily="34" charset="0"/>
                <a:ea typeface="Calibri" panose="020F0502020204030204" pitchFamily="34" charset="0"/>
                <a:cs typeface="Times New Roman" panose="02020603050405020304" pitchFamily="18" charset="0"/>
              </a:rPr>
              <a:t>; </a:t>
            </a:r>
            <a:endParaRPr lang="en-IN"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They have year after year </a:t>
            </a:r>
            <a:r>
              <a:rPr lang="en-US" u="sng" dirty="0">
                <a:latin typeface="Calibri" panose="020F0502020204030204" pitchFamily="34" charset="0"/>
                <a:ea typeface="Calibri" panose="020F0502020204030204" pitchFamily="34" charset="0"/>
                <a:cs typeface="Times New Roman" panose="02020603050405020304" pitchFamily="18" charset="0"/>
              </a:rPr>
              <a:t>renewed consecutively with the same effective date</a:t>
            </a:r>
            <a:r>
              <a:rPr lang="en-US" dirty="0">
                <a:latin typeface="Calibri" panose="020F0502020204030204" pitchFamily="34" charset="0"/>
                <a:ea typeface="Calibri" panose="020F0502020204030204" pitchFamily="34" charset="0"/>
                <a:cs typeface="Times New Roman" panose="02020603050405020304" pitchFamily="18" charset="0"/>
              </a:rPr>
              <a:t> and the policies have not been cancelled causing a gap in coverage or rewritten with another effective date.</a:t>
            </a:r>
            <a:endParaRPr lang="en-IN"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Insurance companies may have changed but the effective date has always remained the same, </a:t>
            </a:r>
            <a:r>
              <a:rPr lang="en-US" u="sng" dirty="0">
                <a:latin typeface="Calibri" panose="020F0502020204030204" pitchFamily="34" charset="0"/>
                <a:ea typeface="Calibri" panose="020F0502020204030204" pitchFamily="34" charset="0"/>
                <a:cs typeface="Times New Roman" panose="02020603050405020304" pitchFamily="18" charset="0"/>
              </a:rPr>
              <a:t>that’s the key here.</a:t>
            </a:r>
            <a:r>
              <a:rPr lang="en-US" dirty="0">
                <a:latin typeface="Calibri" panose="020F0502020204030204" pitchFamily="34" charset="0"/>
                <a:ea typeface="Calibri" panose="020F0502020204030204" pitchFamily="34" charset="0"/>
                <a:cs typeface="Times New Roman" panose="02020603050405020304" pitchFamily="18" charset="0"/>
              </a:rPr>
              <a:t> </a:t>
            </a:r>
            <a:endParaRPr lang="en-IN"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a:t>
            </a:r>
            <a:endParaRPr lang="en-IN"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The insurance company must use rules, classes and rates that apply for the term effective on the renewal date</a:t>
            </a:r>
          </a:p>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rates prevailing at that time), so the ARD for this employer is the effective date of the policy.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5" name="Rectangle 4"/>
          <p:cNvSpPr/>
          <p:nvPr/>
        </p:nvSpPr>
        <p:spPr>
          <a:xfrm>
            <a:off x="343479" y="455296"/>
            <a:ext cx="2146998" cy="461665"/>
          </a:xfrm>
          <a:prstGeom prst="rect">
            <a:avLst/>
          </a:prstGeom>
        </p:spPr>
        <p:txBody>
          <a:bodyPr wrap="none">
            <a:spAutoFit/>
          </a:bodyPr>
          <a:lstStyle/>
          <a:p>
            <a:r>
              <a:rPr lang="en-IN" sz="2400" dirty="0"/>
              <a:t>Concept of ARD</a:t>
            </a:r>
          </a:p>
        </p:txBody>
      </p:sp>
    </p:spTree>
    <p:extLst>
      <p:ext uri="{BB962C8B-B14F-4D97-AF65-F5344CB8AC3E}">
        <p14:creationId xmlns:p14="http://schemas.microsoft.com/office/powerpoint/2010/main" val="11513492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6974" y="1214572"/>
            <a:ext cx="10869769" cy="5355312"/>
          </a:xfrm>
          <a:prstGeom prst="rect">
            <a:avLst/>
          </a:prstGeom>
        </p:spPr>
        <p:txBody>
          <a:bodyPr wrap="square">
            <a:spAutoFit/>
          </a:bodyPr>
          <a:lstStyle/>
          <a:p>
            <a:pPr>
              <a:spcAft>
                <a:spcPts val="0"/>
              </a:spcAft>
            </a:pPr>
            <a:r>
              <a:rPr lang="en-US" b="1" dirty="0">
                <a:latin typeface="Calibri" panose="020F0502020204030204" pitchFamily="34" charset="0"/>
                <a:ea typeface="Calibri" panose="020F0502020204030204" pitchFamily="34" charset="0"/>
                <a:cs typeface="Times New Roman" panose="02020603050405020304" pitchFamily="18" charset="0"/>
              </a:rPr>
              <a:t>Illustration2.</a:t>
            </a:r>
            <a:endParaRPr lang="en-IN"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a:t>
            </a:r>
            <a:endParaRPr lang="en-IN"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Now let’s use the same employer who started his </a:t>
            </a:r>
            <a:r>
              <a:rPr lang="en-US" u="sng" dirty="0">
                <a:latin typeface="Calibri" panose="020F0502020204030204" pitchFamily="34" charset="0"/>
                <a:ea typeface="Calibri" panose="020F0502020204030204" pitchFamily="34" charset="0"/>
                <a:cs typeface="Times New Roman" panose="02020603050405020304" pitchFamily="18" charset="0"/>
              </a:rPr>
              <a:t>policy on 1-1-2008,</a:t>
            </a:r>
            <a:r>
              <a:rPr lang="en-US" dirty="0">
                <a:latin typeface="Calibri" panose="020F0502020204030204" pitchFamily="34" charset="0"/>
                <a:ea typeface="Calibri" panose="020F0502020204030204" pitchFamily="34" charset="0"/>
                <a:cs typeface="Times New Roman" panose="02020603050405020304" pitchFamily="18" charset="0"/>
              </a:rPr>
              <a:t> </a:t>
            </a:r>
            <a:endParaRPr lang="en-IN"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With no coverage gaps and who </a:t>
            </a:r>
            <a:r>
              <a:rPr lang="en-US" u="sng" dirty="0">
                <a:latin typeface="Calibri" panose="020F0502020204030204" pitchFamily="34" charset="0"/>
                <a:ea typeface="Calibri" panose="020F0502020204030204" pitchFamily="34" charset="0"/>
                <a:cs typeface="Times New Roman" panose="02020603050405020304" pitchFamily="18" charset="0"/>
              </a:rPr>
              <a:t>renewed it on 1-1-2012.</a:t>
            </a:r>
            <a:r>
              <a:rPr lang="en-US" dirty="0">
                <a:latin typeface="Calibri" panose="020F0502020204030204" pitchFamily="34" charset="0"/>
                <a:ea typeface="Calibri" panose="020F0502020204030204" pitchFamily="34" charset="0"/>
                <a:cs typeface="Times New Roman" panose="02020603050405020304" pitchFamily="18" charset="0"/>
              </a:rPr>
              <a:t> </a:t>
            </a:r>
            <a:endParaRPr lang="en-IN"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But </a:t>
            </a:r>
            <a:r>
              <a:rPr lang="en-US" u="sng" dirty="0">
                <a:latin typeface="Calibri" panose="020F0502020204030204" pitchFamily="34" charset="0"/>
                <a:ea typeface="Calibri" panose="020F0502020204030204" pitchFamily="34" charset="0"/>
                <a:cs typeface="Times New Roman" panose="02020603050405020304" pitchFamily="18" charset="0"/>
              </a:rPr>
              <a:t>on 9-1-2012 they decide to cancel</a:t>
            </a:r>
            <a:r>
              <a:rPr lang="en-US" dirty="0">
                <a:latin typeface="Calibri" panose="020F0502020204030204" pitchFamily="34" charset="0"/>
                <a:ea typeface="Calibri" panose="020F0502020204030204" pitchFamily="34" charset="0"/>
                <a:cs typeface="Times New Roman" panose="02020603050405020304" pitchFamily="18" charset="0"/>
              </a:rPr>
              <a:t> the old policy and move it to another carrier with a </a:t>
            </a:r>
            <a:r>
              <a:rPr lang="en-US" u="sng" dirty="0">
                <a:latin typeface="Calibri" panose="020F0502020204030204" pitchFamily="34" charset="0"/>
                <a:ea typeface="Calibri" panose="020F0502020204030204" pitchFamily="34" charset="0"/>
                <a:cs typeface="Times New Roman" panose="02020603050405020304" pitchFamily="18" charset="0"/>
              </a:rPr>
              <a:t>new effective date of 9-1-2012.</a:t>
            </a:r>
            <a:r>
              <a:rPr lang="en-US" dirty="0">
                <a:latin typeface="Calibri" panose="020F0502020204030204" pitchFamily="34" charset="0"/>
                <a:ea typeface="Calibri" panose="020F0502020204030204" pitchFamily="34" charset="0"/>
                <a:cs typeface="Times New Roman" panose="02020603050405020304" pitchFamily="18" charset="0"/>
              </a:rPr>
              <a:t> (After Cancellation the period may be called </a:t>
            </a:r>
            <a:r>
              <a:rPr lang="en-US" b="1" dirty="0">
                <a:latin typeface="Calibri" panose="020F0502020204030204" pitchFamily="34" charset="0"/>
                <a:ea typeface="Calibri" panose="020F0502020204030204" pitchFamily="34" charset="0"/>
                <a:cs typeface="Times New Roman" panose="02020603050405020304" pitchFamily="18" charset="0"/>
              </a:rPr>
              <a:t>Second Period</a:t>
            </a:r>
            <a:r>
              <a:rPr lang="en-US" dirty="0">
                <a:latin typeface="Calibri" panose="020F0502020204030204" pitchFamily="34" charset="0"/>
                <a:ea typeface="Calibri" panose="020F0502020204030204" pitchFamily="34" charset="0"/>
                <a:cs typeface="Times New Roman" panose="02020603050405020304" pitchFamily="18" charset="0"/>
              </a:rPr>
              <a:t>)</a:t>
            </a:r>
            <a:endParaRPr lang="en-IN"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a:t>
            </a:r>
            <a:endParaRPr lang="en-IN"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Applying ARD guidelines, the new policy effective 9-1-2012 will use the ARD of 1-1-2012. </a:t>
            </a:r>
            <a:endParaRPr lang="en-IN"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a:t>
            </a:r>
            <a:endParaRPr lang="en-IN"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The new policy will have split rating.  </a:t>
            </a:r>
            <a:endParaRPr lang="en-IN"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For the 9-1-12 to 1-1-13 part of the policy insurance company rates effective 1-1-12 will apply. </a:t>
            </a:r>
            <a:endParaRPr lang="en-IN"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a:t>
            </a:r>
            <a:endParaRPr lang="en-IN"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Then for the rest of the policy, 1-1-13 to 9-1-13, rates effective 1-1-13 will apply. </a:t>
            </a:r>
            <a:endParaRPr lang="en-IN"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a:t>
            </a:r>
            <a:endParaRPr lang="en-IN"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To be Note: </a:t>
            </a:r>
            <a:endParaRPr lang="en-IN"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After the first new policy term has been completed the normal ARD will then be moved to the 9-1-13 date and all rates, rules and classes effective on that date will be applied to the 9-1-13 to 9-1-14 renewal. This applies regardless if the employer rewrote his policy with the same insurance company of if he moved to a different insurance company. </a:t>
            </a: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Tree>
    <p:extLst>
      <p:ext uri="{BB962C8B-B14F-4D97-AF65-F5344CB8AC3E}">
        <p14:creationId xmlns:p14="http://schemas.microsoft.com/office/powerpoint/2010/main" val="29524788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98490" y="1826420"/>
            <a:ext cx="11088709" cy="2862322"/>
          </a:xfrm>
          <a:prstGeom prst="rect">
            <a:avLst/>
          </a:prstGeom>
        </p:spPr>
        <p:txBody>
          <a:bodyPr wrap="square">
            <a:spAutoFit/>
          </a:bodyPr>
          <a:lstStyle/>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Rates are constantly changing. The employer as in last Illustration may have decided to change his policy to another insurance company who on 9-1-2012 had lower rates than his current company. </a:t>
            </a:r>
          </a:p>
          <a:p>
            <a:pPr>
              <a:spcAft>
                <a:spcPts val="0"/>
              </a:spcAft>
            </a:pPr>
            <a:endParaRPr lang="en-US" u="sng"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u="sng" dirty="0">
                <a:latin typeface="Calibri" panose="020F0502020204030204" pitchFamily="34" charset="0"/>
                <a:ea typeface="Calibri" panose="020F0502020204030204" pitchFamily="34" charset="0"/>
                <a:cs typeface="Times New Roman" panose="02020603050405020304" pitchFamily="18" charset="0"/>
              </a:rPr>
              <a:t>It’s the ARD that attempts to keep some control over the action of moving to different carriers just for cheaper rates or to take advantage of new rule or classification changes.</a:t>
            </a:r>
            <a:r>
              <a:rPr lang="en-US" dirty="0">
                <a:latin typeface="Calibri" panose="020F0502020204030204" pitchFamily="34" charset="0"/>
                <a:ea typeface="Calibri" panose="020F0502020204030204" pitchFamily="34" charset="0"/>
                <a:cs typeface="Times New Roman" panose="02020603050405020304" pitchFamily="18" charset="0"/>
              </a:rPr>
              <a:t>  </a:t>
            </a:r>
            <a:endParaRPr lang="en-IN"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a:t>
            </a:r>
            <a:endParaRPr lang="en-IN"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So in the above example let’s say the new insurance company had just lowered their rates on the 9-1-2012 date. Under ARD guidelines the new company must use the rates they had in place on 1-1-12 to rate the policy. Not the new lower rates that were in effect on 9-1-12!</a:t>
            </a:r>
            <a:endParaRPr lang="en-IN" dirty="0">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US" dirty="0">
                <a:latin typeface="Calibri" panose="020F0502020204030204" pitchFamily="34" charset="0"/>
                <a:ea typeface="Calibri" panose="020F0502020204030204" pitchFamily="34" charset="0"/>
                <a:cs typeface="Times New Roman" panose="02020603050405020304" pitchFamily="18" charset="0"/>
              </a:rPr>
              <a:t> </a:t>
            </a:r>
            <a:endParaRPr lang="en-IN" dirty="0">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4" name="Rectangle 3"/>
          <p:cNvSpPr/>
          <p:nvPr/>
        </p:nvSpPr>
        <p:spPr>
          <a:xfrm>
            <a:off x="293357" y="455296"/>
            <a:ext cx="3348161" cy="400110"/>
          </a:xfrm>
          <a:prstGeom prst="rect">
            <a:avLst/>
          </a:prstGeom>
        </p:spPr>
        <p:txBody>
          <a:bodyPr wrap="none">
            <a:spAutoFit/>
          </a:bodyPr>
          <a:lstStyle/>
          <a:p>
            <a:pPr>
              <a:spcAft>
                <a:spcPts val="0"/>
              </a:spcAft>
            </a:pPr>
            <a:r>
              <a:rPr lang="en-US" b="1" dirty="0">
                <a:latin typeface="Calibri" panose="020F0502020204030204" pitchFamily="34" charset="0"/>
                <a:ea typeface="Calibri" panose="020F0502020204030204" pitchFamily="34" charset="0"/>
                <a:cs typeface="Times New Roman" panose="02020603050405020304" pitchFamily="18" charset="0"/>
              </a:rPr>
              <a:t>What’s </a:t>
            </a:r>
            <a:r>
              <a:rPr lang="en-US" sz="2000" b="1" dirty="0">
                <a:latin typeface="Calibri" panose="020F0502020204030204" pitchFamily="34" charset="0"/>
                <a:ea typeface="Calibri" panose="020F0502020204030204" pitchFamily="34" charset="0"/>
                <a:cs typeface="Times New Roman" panose="02020603050405020304" pitchFamily="18" charset="0"/>
              </a:rPr>
              <a:t>the</a:t>
            </a:r>
            <a:r>
              <a:rPr lang="en-US" b="1" dirty="0">
                <a:latin typeface="Calibri" panose="020F0502020204030204" pitchFamily="34" charset="0"/>
                <a:ea typeface="Calibri" panose="020F0502020204030204" pitchFamily="34" charset="0"/>
                <a:cs typeface="Times New Roman" panose="02020603050405020304" pitchFamily="18" charset="0"/>
              </a:rPr>
              <a:t> purpose of the ARD?</a:t>
            </a:r>
            <a:r>
              <a:rPr lang="en-US" dirty="0">
                <a:latin typeface="Calibri" panose="020F0502020204030204" pitchFamily="34" charset="0"/>
                <a:ea typeface="Calibri" panose="020F0502020204030204" pitchFamily="34" charset="0"/>
                <a:cs typeface="Times New Roman" panose="02020603050405020304" pitchFamily="18" charset="0"/>
              </a:rPr>
              <a:t> </a:t>
            </a:r>
            <a:endParaRPr lang="en-IN"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412707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3" name="Rectangle 2"/>
          <p:cNvSpPr/>
          <p:nvPr/>
        </p:nvSpPr>
        <p:spPr>
          <a:xfrm>
            <a:off x="458664" y="455296"/>
            <a:ext cx="2858603" cy="400110"/>
          </a:xfrm>
          <a:prstGeom prst="rect">
            <a:avLst/>
          </a:prstGeom>
        </p:spPr>
        <p:txBody>
          <a:bodyPr wrap="none">
            <a:spAutoFit/>
          </a:bodyPr>
          <a:lstStyle/>
          <a:p>
            <a:pPr>
              <a:spcBef>
                <a:spcPct val="20000"/>
              </a:spcBef>
              <a:buClr>
                <a:schemeClr val="tx1"/>
              </a:buClr>
              <a:defRPr/>
            </a:pPr>
            <a:r>
              <a:rPr lang="en-US" sz="2000" b="1" dirty="0">
                <a:latin typeface="Segoe UI Light" panose="020B0502040204020203" pitchFamily="34" charset="0"/>
              </a:rPr>
              <a:t>WC Forms for employers</a:t>
            </a:r>
          </a:p>
        </p:txBody>
      </p:sp>
      <p:sp>
        <p:nvSpPr>
          <p:cNvPr id="4" name="Rectangle 3"/>
          <p:cNvSpPr/>
          <p:nvPr/>
        </p:nvSpPr>
        <p:spPr>
          <a:xfrm>
            <a:off x="912147" y="5142166"/>
            <a:ext cx="8897611" cy="1477328"/>
          </a:xfrm>
          <a:prstGeom prst="rect">
            <a:avLst/>
          </a:prstGeom>
        </p:spPr>
        <p:txBody>
          <a:bodyPr wrap="square">
            <a:spAutoFit/>
          </a:bodyPr>
          <a:lstStyle/>
          <a:p>
            <a:r>
              <a:rPr lang="en-IN" dirty="0"/>
              <a:t>ADR - </a:t>
            </a:r>
            <a:r>
              <a:rPr lang="en-IN" dirty="0">
                <a:hlinkClick r:id="rId3"/>
              </a:rPr>
              <a:t>http://digitalcommons.ilr.cornell.edu/cgi/viewcontent.cgi?article=1043&amp;context=reports</a:t>
            </a:r>
            <a:endParaRPr lang="en-IN" dirty="0"/>
          </a:p>
          <a:p>
            <a:endParaRPr lang="en-IN" dirty="0"/>
          </a:p>
          <a:p>
            <a:r>
              <a:rPr lang="en-IN" dirty="0"/>
              <a:t>Workers' Compensation Forms for Employers: </a:t>
            </a:r>
            <a:r>
              <a:rPr lang="en-IN" dirty="0">
                <a:hlinkClick r:id="rId4"/>
              </a:rPr>
              <a:t>http://www.wcb.ny.gov/content/main/forms/Forms_EMPLOYER.jsp</a:t>
            </a:r>
            <a:endParaRPr lang="en-IN" dirty="0"/>
          </a:p>
        </p:txBody>
      </p:sp>
      <p:sp>
        <p:nvSpPr>
          <p:cNvPr id="6" name="Rectangle 5"/>
          <p:cNvSpPr/>
          <p:nvPr/>
        </p:nvSpPr>
        <p:spPr>
          <a:xfrm>
            <a:off x="458665" y="1177625"/>
            <a:ext cx="11480050" cy="3139321"/>
          </a:xfrm>
          <a:prstGeom prst="rect">
            <a:avLst/>
          </a:prstGeom>
        </p:spPr>
        <p:txBody>
          <a:bodyPr wrap="square">
            <a:spAutoFit/>
          </a:bodyPr>
          <a:lstStyle/>
          <a:p>
            <a:r>
              <a:rPr lang="en-IN" b="1" dirty="0"/>
              <a:t>Popular Forms</a:t>
            </a:r>
          </a:p>
          <a:p>
            <a:endParaRPr lang="en-IN" dirty="0"/>
          </a:p>
          <a:p>
            <a:pPr marL="285750" indent="-285750">
              <a:buFont typeface="Arial" panose="020B0604020202020204" pitchFamily="34" charset="0"/>
              <a:buChar char="•"/>
            </a:pPr>
            <a:r>
              <a:rPr lang="en-IN" dirty="0"/>
              <a:t>C-2F Employer's Report of Work-Related Injury/Illness  -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CLAIMANT INFORMATION PACKET -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C-11 Employer's Report of Injured Employee's Change in Status or Return to Work -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C-240 Employer's Statement of Wage Earnings Preceding Date of Accident - </a:t>
            </a:r>
          </a:p>
          <a:p>
            <a:pPr marL="285750" indent="-285750">
              <a:buFont typeface="Arial" panose="020B0604020202020204" pitchFamily="34" charset="0"/>
              <a:buChar char="•"/>
            </a:pPr>
            <a:r>
              <a:rPr lang="en-IN" dirty="0"/>
              <a:t>CE-200 Certificate of Attestation of Exemption from NYS Workers' Compensation and/or Disability Benefits Coverage – </a:t>
            </a:r>
          </a:p>
          <a:p>
            <a:r>
              <a:rPr lang="en-IN" dirty="0"/>
              <a:t>     (To report an employer that you suspect is violating the workers’ compensation coverage requirements)- </a:t>
            </a:r>
          </a:p>
        </p:txBody>
      </p:sp>
      <p:graphicFrame>
        <p:nvGraphicFramePr>
          <p:cNvPr id="8" name="Object 7"/>
          <p:cNvGraphicFramePr>
            <a:graphicFrameLocks noChangeAspect="1"/>
          </p:cNvGraphicFramePr>
          <p:nvPr>
            <p:extLst>
              <p:ext uri="{D42A27DB-BD31-4B8C-83A1-F6EECF244321}">
                <p14:modId xmlns:p14="http://schemas.microsoft.com/office/powerpoint/2010/main" val="1981292401"/>
              </p:ext>
            </p:extLst>
          </p:nvPr>
        </p:nvGraphicFramePr>
        <p:xfrm>
          <a:off x="6091707" y="1729382"/>
          <a:ext cx="749004" cy="386839"/>
        </p:xfrm>
        <a:graphic>
          <a:graphicData uri="http://schemas.openxmlformats.org/presentationml/2006/ole">
            <mc:AlternateContent xmlns:mc="http://schemas.openxmlformats.org/markup-compatibility/2006">
              <mc:Choice xmlns:v="urn:schemas-microsoft-com:vml" Requires="v">
                <p:oleObj name="Acrobat Document" r:id="rId5" imgW="5828995" imgH="7543485" progId="AcroExch.Document.11">
                  <p:embed/>
                </p:oleObj>
              </mc:Choice>
              <mc:Fallback>
                <p:oleObj name="Acrobat Document" r:id="rId5" imgW="5828995" imgH="7543485" progId="AcroExch.Document.11">
                  <p:embed/>
                  <p:pic>
                    <p:nvPicPr>
                      <p:cNvPr id="0" name=""/>
                      <p:cNvPicPr/>
                      <p:nvPr/>
                    </p:nvPicPr>
                    <p:blipFill>
                      <a:blip r:embed="rId6"/>
                      <a:stretch>
                        <a:fillRect/>
                      </a:stretch>
                    </p:blipFill>
                    <p:spPr>
                      <a:xfrm>
                        <a:off x="6091707" y="1729382"/>
                        <a:ext cx="749004" cy="386839"/>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498358064"/>
              </p:ext>
            </p:extLst>
          </p:nvPr>
        </p:nvGraphicFramePr>
        <p:xfrm>
          <a:off x="4200436" y="2198030"/>
          <a:ext cx="820072" cy="363221"/>
        </p:xfrm>
        <a:graphic>
          <a:graphicData uri="http://schemas.openxmlformats.org/presentationml/2006/ole">
            <mc:AlternateContent xmlns:mc="http://schemas.openxmlformats.org/markup-compatibility/2006">
              <mc:Choice xmlns:v="urn:schemas-microsoft-com:vml" Requires="v">
                <p:oleObj name="Acrobat Document" r:id="rId7" imgW="5828995" imgH="7543485" progId="AcroExch.Document.11">
                  <p:embed/>
                </p:oleObj>
              </mc:Choice>
              <mc:Fallback>
                <p:oleObj name="Acrobat Document" r:id="rId7" imgW="5828995" imgH="7543485" progId="AcroExch.Document.11">
                  <p:embed/>
                  <p:pic>
                    <p:nvPicPr>
                      <p:cNvPr id="0" name=""/>
                      <p:cNvPicPr/>
                      <p:nvPr/>
                    </p:nvPicPr>
                    <p:blipFill>
                      <a:blip r:embed="rId8"/>
                      <a:stretch>
                        <a:fillRect/>
                      </a:stretch>
                    </p:blipFill>
                    <p:spPr>
                      <a:xfrm>
                        <a:off x="4200436" y="2198030"/>
                        <a:ext cx="820072" cy="363221"/>
                      </a:xfrm>
                      <a:prstGeom prst="rect">
                        <a:avLst/>
                      </a:prstGeom>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3912049560"/>
              </p:ext>
            </p:extLst>
          </p:nvPr>
        </p:nvGraphicFramePr>
        <p:xfrm>
          <a:off x="8617889" y="2772823"/>
          <a:ext cx="820072" cy="363221"/>
        </p:xfrm>
        <a:graphic>
          <a:graphicData uri="http://schemas.openxmlformats.org/presentationml/2006/ole">
            <mc:AlternateContent xmlns:mc="http://schemas.openxmlformats.org/markup-compatibility/2006">
              <mc:Choice xmlns:v="urn:schemas-microsoft-com:vml" Requires="v">
                <p:oleObj name="Acrobat Document" r:id="rId9" imgW="5828995" imgH="7543485" progId="AcroExch.Document.11">
                  <p:embed/>
                </p:oleObj>
              </mc:Choice>
              <mc:Fallback>
                <p:oleObj name="Acrobat Document" r:id="rId9" imgW="5828995" imgH="7543485" progId="AcroExch.Document.11">
                  <p:embed/>
                  <p:pic>
                    <p:nvPicPr>
                      <p:cNvPr id="0" name=""/>
                      <p:cNvPicPr/>
                      <p:nvPr/>
                    </p:nvPicPr>
                    <p:blipFill>
                      <a:blip r:embed="rId10"/>
                      <a:stretch>
                        <a:fillRect/>
                      </a:stretch>
                    </p:blipFill>
                    <p:spPr>
                      <a:xfrm>
                        <a:off x="8617889" y="2772823"/>
                        <a:ext cx="820072" cy="363221"/>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3055660910"/>
              </p:ext>
            </p:extLst>
          </p:nvPr>
        </p:nvGraphicFramePr>
        <p:xfrm>
          <a:off x="7896672" y="3347617"/>
          <a:ext cx="616263" cy="363221"/>
        </p:xfrm>
        <a:graphic>
          <a:graphicData uri="http://schemas.openxmlformats.org/presentationml/2006/ole">
            <mc:AlternateContent xmlns:mc="http://schemas.openxmlformats.org/markup-compatibility/2006">
              <mc:Choice xmlns:v="urn:schemas-microsoft-com:vml" Requires="v">
                <p:oleObj name="Acrobat Document" r:id="rId11" imgW="5828995" imgH="7543485" progId="AcroExch.Document.11">
                  <p:embed/>
                </p:oleObj>
              </mc:Choice>
              <mc:Fallback>
                <p:oleObj name="Acrobat Document" r:id="rId11" imgW="5828995" imgH="7543485" progId="AcroExch.Document.11">
                  <p:embed/>
                  <p:pic>
                    <p:nvPicPr>
                      <p:cNvPr id="0" name=""/>
                      <p:cNvPicPr/>
                      <p:nvPr/>
                    </p:nvPicPr>
                    <p:blipFill>
                      <a:blip r:embed="rId12"/>
                      <a:stretch>
                        <a:fillRect/>
                      </a:stretch>
                    </p:blipFill>
                    <p:spPr>
                      <a:xfrm>
                        <a:off x="7896672" y="3347617"/>
                        <a:ext cx="616263" cy="363221"/>
                      </a:xfrm>
                      <a:prstGeom prst="rect">
                        <a:avLst/>
                      </a:prstGeom>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3072454282"/>
              </p:ext>
            </p:extLst>
          </p:nvPr>
        </p:nvGraphicFramePr>
        <p:xfrm>
          <a:off x="10575478" y="3967823"/>
          <a:ext cx="925356" cy="467900"/>
        </p:xfrm>
        <a:graphic>
          <a:graphicData uri="http://schemas.openxmlformats.org/presentationml/2006/ole">
            <mc:AlternateContent xmlns:mc="http://schemas.openxmlformats.org/markup-compatibility/2006">
              <mc:Choice xmlns:v="urn:schemas-microsoft-com:vml" Requires="v">
                <p:oleObj name="Acrobat Document" r:id="rId13" imgW="5828995" imgH="7543485" progId="AcroExch.Document.11">
                  <p:embed/>
                </p:oleObj>
              </mc:Choice>
              <mc:Fallback>
                <p:oleObj name="Acrobat Document" r:id="rId13" imgW="5828995" imgH="7543485" progId="AcroExch.Document.11">
                  <p:embed/>
                  <p:pic>
                    <p:nvPicPr>
                      <p:cNvPr id="0" name=""/>
                      <p:cNvPicPr/>
                      <p:nvPr/>
                    </p:nvPicPr>
                    <p:blipFill>
                      <a:blip r:embed="rId14"/>
                      <a:stretch>
                        <a:fillRect/>
                      </a:stretch>
                    </p:blipFill>
                    <p:spPr>
                      <a:xfrm>
                        <a:off x="10575478" y="3967823"/>
                        <a:ext cx="925356" cy="467900"/>
                      </a:xfrm>
                      <a:prstGeom prst="rect">
                        <a:avLst/>
                      </a:prstGeom>
                    </p:spPr>
                  </p:pic>
                </p:oleObj>
              </mc:Fallback>
            </mc:AlternateContent>
          </a:graphicData>
        </a:graphic>
      </p:graphicFrame>
    </p:spTree>
    <p:extLst>
      <p:ext uri="{BB962C8B-B14F-4D97-AF65-F5344CB8AC3E}">
        <p14:creationId xmlns:p14="http://schemas.microsoft.com/office/powerpoint/2010/main" val="30877146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495300"/>
            <a:ext cx="8477250" cy="461665"/>
          </a:xfrm>
          <a:prstGeom prst="rect">
            <a:avLst/>
          </a:prstGeom>
          <a:noFill/>
        </p:spPr>
        <p:txBody>
          <a:bodyPr wrap="square" rtlCol="0">
            <a:spAutoFit/>
          </a:bodyPr>
          <a:lstStyle/>
          <a:p>
            <a:r>
              <a:rPr lang="en-IN" sz="2400" b="1" dirty="0"/>
              <a:t>Filing a Case</a:t>
            </a:r>
          </a:p>
        </p:txBody>
      </p:sp>
      <p:sp>
        <p:nvSpPr>
          <p:cNvPr id="3" name="TextBox 2"/>
          <p:cNvSpPr txBox="1"/>
          <p:nvPr/>
        </p:nvSpPr>
        <p:spPr>
          <a:xfrm>
            <a:off x="1057273" y="1125883"/>
            <a:ext cx="3638550" cy="369332"/>
          </a:xfrm>
          <a:prstGeom prst="rect">
            <a:avLst/>
          </a:prstGeom>
          <a:noFill/>
          <a:ln>
            <a:solidFill>
              <a:srgbClr val="0070C0"/>
            </a:solidFill>
          </a:ln>
        </p:spPr>
        <p:txBody>
          <a:bodyPr wrap="square" rtlCol="0">
            <a:spAutoFit/>
          </a:bodyPr>
          <a:lstStyle/>
          <a:p>
            <a:r>
              <a:rPr lang="en-IN" dirty="0"/>
              <a:t>Workers’ Compensation Compliance </a:t>
            </a:r>
          </a:p>
        </p:txBody>
      </p:sp>
      <p:sp>
        <p:nvSpPr>
          <p:cNvPr id="4" name="Rectangle 3"/>
          <p:cNvSpPr/>
          <p:nvPr/>
        </p:nvSpPr>
        <p:spPr>
          <a:xfrm>
            <a:off x="1069974" y="1930453"/>
            <a:ext cx="2829301" cy="369332"/>
          </a:xfrm>
          <a:prstGeom prst="rect">
            <a:avLst/>
          </a:prstGeom>
          <a:ln>
            <a:solidFill>
              <a:srgbClr val="0070C0"/>
            </a:solidFill>
          </a:ln>
        </p:spPr>
        <p:txBody>
          <a:bodyPr wrap="none">
            <a:spAutoFit/>
          </a:bodyPr>
          <a:lstStyle/>
          <a:p>
            <a:r>
              <a:rPr lang="en-IN" dirty="0"/>
              <a:t>Notice of Injury to Employer</a:t>
            </a:r>
          </a:p>
        </p:txBody>
      </p:sp>
      <p:sp>
        <p:nvSpPr>
          <p:cNvPr id="5" name="Rectangle 4"/>
          <p:cNvSpPr/>
          <p:nvPr/>
        </p:nvSpPr>
        <p:spPr>
          <a:xfrm>
            <a:off x="1069973" y="2673923"/>
            <a:ext cx="1848070" cy="369332"/>
          </a:xfrm>
          <a:prstGeom prst="rect">
            <a:avLst/>
          </a:prstGeom>
          <a:ln>
            <a:solidFill>
              <a:srgbClr val="0070C0"/>
            </a:solidFill>
          </a:ln>
        </p:spPr>
        <p:txBody>
          <a:bodyPr wrap="none">
            <a:spAutoFit/>
          </a:bodyPr>
          <a:lstStyle/>
          <a:p>
            <a:r>
              <a:rPr lang="en-IN" dirty="0"/>
              <a:t>Claim for Benefits</a:t>
            </a:r>
          </a:p>
        </p:txBody>
      </p:sp>
      <p:sp>
        <p:nvSpPr>
          <p:cNvPr id="6" name="Rectangle 5"/>
          <p:cNvSpPr/>
          <p:nvPr/>
        </p:nvSpPr>
        <p:spPr>
          <a:xfrm>
            <a:off x="1057271" y="3452312"/>
            <a:ext cx="2113271" cy="369332"/>
          </a:xfrm>
          <a:prstGeom prst="rect">
            <a:avLst/>
          </a:prstGeom>
          <a:ln>
            <a:solidFill>
              <a:srgbClr val="0070C0"/>
            </a:solidFill>
          </a:ln>
        </p:spPr>
        <p:txBody>
          <a:bodyPr wrap="none">
            <a:spAutoFit/>
          </a:bodyPr>
          <a:lstStyle/>
          <a:p>
            <a:r>
              <a:rPr lang="en-IN" dirty="0"/>
              <a:t>First Report of Injury</a:t>
            </a:r>
          </a:p>
        </p:txBody>
      </p:sp>
      <p:sp>
        <p:nvSpPr>
          <p:cNvPr id="7" name="Rectangle 6"/>
          <p:cNvSpPr/>
          <p:nvPr/>
        </p:nvSpPr>
        <p:spPr>
          <a:xfrm>
            <a:off x="1685848" y="4268732"/>
            <a:ext cx="2211118" cy="369332"/>
          </a:xfrm>
          <a:prstGeom prst="rect">
            <a:avLst/>
          </a:prstGeom>
          <a:ln>
            <a:solidFill>
              <a:srgbClr val="0070C0"/>
            </a:solidFill>
          </a:ln>
        </p:spPr>
        <p:txBody>
          <a:bodyPr wrap="none">
            <a:spAutoFit/>
          </a:bodyPr>
          <a:lstStyle/>
          <a:p>
            <a:r>
              <a:rPr lang="en-IN" dirty="0"/>
              <a:t>Notification of Rights </a:t>
            </a:r>
          </a:p>
        </p:txBody>
      </p:sp>
      <p:sp>
        <p:nvSpPr>
          <p:cNvPr id="8" name="Rectangle 7"/>
          <p:cNvSpPr/>
          <p:nvPr/>
        </p:nvSpPr>
        <p:spPr>
          <a:xfrm>
            <a:off x="1728193" y="4944162"/>
            <a:ext cx="2354299" cy="369332"/>
          </a:xfrm>
          <a:prstGeom prst="rect">
            <a:avLst/>
          </a:prstGeom>
          <a:ln>
            <a:solidFill>
              <a:srgbClr val="0070C0"/>
            </a:solidFill>
          </a:ln>
        </p:spPr>
        <p:txBody>
          <a:bodyPr wrap="none">
            <a:spAutoFit/>
          </a:bodyPr>
          <a:lstStyle/>
          <a:p>
            <a:r>
              <a:rPr lang="en-IN" dirty="0"/>
              <a:t>Notice of Award Order </a:t>
            </a:r>
          </a:p>
        </p:txBody>
      </p:sp>
      <p:sp>
        <p:nvSpPr>
          <p:cNvPr id="9" name="Rectangle 8"/>
          <p:cNvSpPr/>
          <p:nvPr/>
        </p:nvSpPr>
        <p:spPr>
          <a:xfrm>
            <a:off x="1694853" y="5751343"/>
            <a:ext cx="4041619" cy="369332"/>
          </a:xfrm>
          <a:prstGeom prst="rect">
            <a:avLst/>
          </a:prstGeom>
          <a:ln>
            <a:solidFill>
              <a:srgbClr val="0070C0"/>
            </a:solidFill>
          </a:ln>
        </p:spPr>
        <p:txBody>
          <a:bodyPr wrap="none">
            <a:spAutoFit/>
          </a:bodyPr>
          <a:lstStyle/>
          <a:p>
            <a:r>
              <a:rPr lang="en-IN" dirty="0"/>
              <a:t>Agreement to Stop Weekly WC Payments</a:t>
            </a:r>
          </a:p>
        </p:txBody>
      </p:sp>
      <p:sp>
        <p:nvSpPr>
          <p:cNvPr id="10" name="Rectangle 9"/>
          <p:cNvSpPr/>
          <p:nvPr/>
        </p:nvSpPr>
        <p:spPr>
          <a:xfrm>
            <a:off x="1728194" y="6398147"/>
            <a:ext cx="2051908" cy="369332"/>
          </a:xfrm>
          <a:prstGeom prst="rect">
            <a:avLst/>
          </a:prstGeom>
          <a:ln>
            <a:solidFill>
              <a:srgbClr val="0070C0"/>
            </a:solidFill>
          </a:ln>
        </p:spPr>
        <p:txBody>
          <a:bodyPr wrap="none">
            <a:spAutoFit/>
          </a:bodyPr>
          <a:lstStyle/>
          <a:p>
            <a:r>
              <a:rPr lang="en-IN" dirty="0"/>
              <a:t>Request for Hearing</a:t>
            </a:r>
          </a:p>
        </p:txBody>
      </p:sp>
      <p:cxnSp>
        <p:nvCxnSpPr>
          <p:cNvPr id="12" name="Elbow Connector 11"/>
          <p:cNvCxnSpPr>
            <a:stCxn id="3" idx="1"/>
            <a:endCxn id="4" idx="1"/>
          </p:cNvCxnSpPr>
          <p:nvPr/>
        </p:nvCxnSpPr>
        <p:spPr>
          <a:xfrm rot="10800000" flipH="1" flipV="1">
            <a:off x="1057272" y="1310549"/>
            <a:ext cx="12701" cy="804570"/>
          </a:xfrm>
          <a:prstGeom prst="bentConnector3">
            <a:avLst>
              <a:gd name="adj1" fmla="val -179985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Elbow Connector 15"/>
          <p:cNvCxnSpPr>
            <a:stCxn id="4" idx="3"/>
            <a:endCxn id="5" idx="3"/>
          </p:cNvCxnSpPr>
          <p:nvPr/>
        </p:nvCxnSpPr>
        <p:spPr>
          <a:xfrm flipH="1">
            <a:off x="2918043" y="2115119"/>
            <a:ext cx="981232" cy="743470"/>
          </a:xfrm>
          <a:prstGeom prst="bentConnector3">
            <a:avLst>
              <a:gd name="adj1" fmla="val -2329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Elbow Connector 17"/>
          <p:cNvCxnSpPr>
            <a:stCxn id="5" idx="1"/>
            <a:endCxn id="6" idx="1"/>
          </p:cNvCxnSpPr>
          <p:nvPr/>
        </p:nvCxnSpPr>
        <p:spPr>
          <a:xfrm rot="10800000" flipV="1">
            <a:off x="1057271" y="2858588"/>
            <a:ext cx="12702" cy="778389"/>
          </a:xfrm>
          <a:prstGeom prst="bentConnector3">
            <a:avLst>
              <a:gd name="adj1" fmla="val 189971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p:nvPr/>
        </p:nvCxnSpPr>
        <p:spPr>
          <a:xfrm rot="16200000" flipH="1">
            <a:off x="193387" y="4921849"/>
            <a:ext cx="2635011" cy="43460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Elbow Connector 21"/>
          <p:cNvCxnSpPr>
            <a:endCxn id="7" idx="1"/>
          </p:cNvCxnSpPr>
          <p:nvPr/>
        </p:nvCxnSpPr>
        <p:spPr>
          <a:xfrm>
            <a:off x="1251246" y="4453398"/>
            <a:ext cx="434602" cy="127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1260251" y="5218314"/>
            <a:ext cx="4346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8" idx="2"/>
          </p:cNvCxnSpPr>
          <p:nvPr/>
        </p:nvCxnSpPr>
        <p:spPr>
          <a:xfrm flipH="1">
            <a:off x="2905342" y="5313494"/>
            <a:ext cx="1" cy="300736"/>
          </a:xfrm>
          <a:prstGeom prst="straightConnector1">
            <a:avLst/>
          </a:prstGeom>
          <a:ln w="19050">
            <a:prstDash val="dashDot"/>
            <a:tailEnd type="triangle"/>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4907664" y="1340539"/>
            <a:ext cx="5331131" cy="738664"/>
          </a:xfrm>
          <a:prstGeom prst="rect">
            <a:avLst/>
          </a:prstGeom>
          <a:ln>
            <a:solidFill>
              <a:srgbClr val="0070C0"/>
            </a:solidFill>
          </a:ln>
        </p:spPr>
        <p:txBody>
          <a:bodyPr wrap="square">
            <a:spAutoFit/>
          </a:bodyPr>
          <a:lstStyle/>
          <a:p>
            <a:r>
              <a:rPr lang="en-IN" sz="1400" dirty="0"/>
              <a:t>It is important to give immediate notice to your employer about your </a:t>
            </a:r>
          </a:p>
          <a:p>
            <a:r>
              <a:rPr lang="en-IN" sz="1400" dirty="0"/>
              <a:t>injury. If not done within thirty (30) days you may lose your rights to any workers’ compensation (WC) benefits.</a:t>
            </a:r>
          </a:p>
        </p:txBody>
      </p:sp>
      <p:sp>
        <p:nvSpPr>
          <p:cNvPr id="43" name="Rectangle 42"/>
          <p:cNvSpPr/>
          <p:nvPr/>
        </p:nvSpPr>
        <p:spPr>
          <a:xfrm>
            <a:off x="4907664" y="2290135"/>
            <a:ext cx="5232651" cy="307777"/>
          </a:xfrm>
          <a:prstGeom prst="rect">
            <a:avLst/>
          </a:prstGeom>
          <a:ln>
            <a:solidFill>
              <a:srgbClr val="0070C0"/>
            </a:solidFill>
          </a:ln>
        </p:spPr>
        <p:txBody>
          <a:bodyPr wrap="none">
            <a:spAutoFit/>
          </a:bodyPr>
          <a:lstStyle/>
          <a:p>
            <a:r>
              <a:rPr lang="en-IN" sz="1400" dirty="0"/>
              <a:t>Award Order from the Commission, if not received, file within 2 years</a:t>
            </a:r>
          </a:p>
        </p:txBody>
      </p:sp>
      <p:sp>
        <p:nvSpPr>
          <p:cNvPr id="44" name="Rectangle 43"/>
          <p:cNvSpPr/>
          <p:nvPr/>
        </p:nvSpPr>
        <p:spPr>
          <a:xfrm>
            <a:off x="4907664" y="2728307"/>
            <a:ext cx="6096000" cy="954107"/>
          </a:xfrm>
          <a:prstGeom prst="rect">
            <a:avLst/>
          </a:prstGeom>
          <a:ln>
            <a:solidFill>
              <a:srgbClr val="0070C0"/>
            </a:solidFill>
          </a:ln>
        </p:spPr>
        <p:txBody>
          <a:bodyPr>
            <a:spAutoFit/>
          </a:bodyPr>
          <a:lstStyle/>
          <a:p>
            <a:r>
              <a:rPr lang="en-IN" sz="1400" dirty="0"/>
              <a:t>Employers are required to file a First Report of Injury (FROI) with the Commission within ten (10) days of having knowledge of any injury or death in the course of employment (30 days for minor injuries). This is not a claim and does not protect your rights.</a:t>
            </a:r>
          </a:p>
        </p:txBody>
      </p:sp>
      <p:sp>
        <p:nvSpPr>
          <p:cNvPr id="51" name="Rectangle 50"/>
          <p:cNvSpPr/>
          <p:nvPr/>
        </p:nvSpPr>
        <p:spPr>
          <a:xfrm>
            <a:off x="4907664" y="3819527"/>
            <a:ext cx="6096000" cy="523220"/>
          </a:xfrm>
          <a:prstGeom prst="rect">
            <a:avLst/>
          </a:prstGeom>
          <a:ln>
            <a:solidFill>
              <a:srgbClr val="0070C0"/>
            </a:solidFill>
          </a:ln>
        </p:spPr>
        <p:txBody>
          <a:bodyPr>
            <a:spAutoFit/>
          </a:bodyPr>
          <a:lstStyle/>
          <a:p>
            <a:r>
              <a:rPr lang="en-IN" sz="1400" dirty="0"/>
              <a:t>Once the Commission receives the FROI, the Commission will send the injured worker information about their rights and responsibilities.</a:t>
            </a:r>
          </a:p>
        </p:txBody>
      </p:sp>
      <p:sp>
        <p:nvSpPr>
          <p:cNvPr id="52" name="Rectangle 51"/>
          <p:cNvSpPr/>
          <p:nvPr/>
        </p:nvSpPr>
        <p:spPr>
          <a:xfrm>
            <a:off x="4907664" y="4493080"/>
            <a:ext cx="7146077" cy="738664"/>
          </a:xfrm>
          <a:prstGeom prst="rect">
            <a:avLst/>
          </a:prstGeom>
          <a:ln>
            <a:solidFill>
              <a:srgbClr val="0070C0"/>
            </a:solidFill>
          </a:ln>
        </p:spPr>
        <p:txBody>
          <a:bodyPr wrap="square">
            <a:spAutoFit/>
          </a:bodyPr>
          <a:lstStyle/>
          <a:p>
            <a:r>
              <a:rPr lang="en-IN" sz="1400" dirty="0"/>
              <a:t>If the claims administrator accepts the claim, an Award Agreement is sent to the injured worker. Once signed by all parties the agreement must be filed with the Commission. The Commission will enter an Award Order which protects the injured worker’s rights. </a:t>
            </a:r>
          </a:p>
        </p:txBody>
      </p:sp>
      <p:sp>
        <p:nvSpPr>
          <p:cNvPr id="53" name="Rectangle 52"/>
          <p:cNvSpPr/>
          <p:nvPr/>
        </p:nvSpPr>
        <p:spPr>
          <a:xfrm>
            <a:off x="5886450" y="5368857"/>
            <a:ext cx="6096000" cy="738664"/>
          </a:xfrm>
          <a:prstGeom prst="rect">
            <a:avLst/>
          </a:prstGeom>
          <a:ln>
            <a:solidFill>
              <a:srgbClr val="0070C0"/>
            </a:solidFill>
          </a:ln>
        </p:spPr>
        <p:txBody>
          <a:bodyPr>
            <a:spAutoFit/>
          </a:bodyPr>
          <a:lstStyle/>
          <a:p>
            <a:r>
              <a:rPr lang="en-IN" sz="1400" dirty="0"/>
              <a:t>The Termination of Wage Loss Award form is signed by all parties when they agree that weekly benefits should be reduced or stopped. (Ex. the employee is able to return to unrestricted pre-injury work) </a:t>
            </a:r>
          </a:p>
        </p:txBody>
      </p:sp>
      <p:pic>
        <p:nvPicPr>
          <p:cNvPr id="55" name="Picture 5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62" name="Rectangle 61"/>
          <p:cNvSpPr/>
          <p:nvPr/>
        </p:nvSpPr>
        <p:spPr>
          <a:xfrm>
            <a:off x="4082492" y="6154624"/>
            <a:ext cx="7164351" cy="738664"/>
          </a:xfrm>
          <a:prstGeom prst="rect">
            <a:avLst/>
          </a:prstGeom>
          <a:ln>
            <a:solidFill>
              <a:srgbClr val="0070C0"/>
            </a:solidFill>
          </a:ln>
        </p:spPr>
        <p:txBody>
          <a:bodyPr wrap="square">
            <a:spAutoFit/>
          </a:bodyPr>
          <a:lstStyle/>
          <a:p>
            <a:r>
              <a:rPr lang="en-IN" sz="1400" dirty="0"/>
              <a:t>When filing a Claim for Benefits the injured worker is free to pursue a claim through the</a:t>
            </a:r>
            <a:r>
              <a:rPr lang="en-IN" sz="1400" b="1" dirty="0"/>
              <a:t> Virginia </a:t>
            </a:r>
            <a:r>
              <a:rPr lang="en-IN" sz="1400" dirty="0"/>
              <a:t>Workers’ Compensation hearing process. The injured worker should indicate the benefits sought and request a hearing</a:t>
            </a:r>
          </a:p>
        </p:txBody>
      </p:sp>
    </p:spTree>
    <p:extLst>
      <p:ext uri="{BB962C8B-B14F-4D97-AF65-F5344CB8AC3E}">
        <p14:creationId xmlns:p14="http://schemas.microsoft.com/office/powerpoint/2010/main" val="773160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2"/>
                                        </p:tgtEl>
                                        <p:attrNameLst>
                                          <p:attrName>style.visibility</p:attrName>
                                        </p:attrNameLst>
                                      </p:cBhvr>
                                      <p:to>
                                        <p:strVal val="visible"/>
                                      </p:to>
                                    </p:set>
                                    <p:animEffect transition="in" filter="fade">
                                      <p:cBhvr>
                                        <p:cTn id="28" dur="1000"/>
                                        <p:tgtEl>
                                          <p:spTgt spid="42"/>
                                        </p:tgtEl>
                                      </p:cBhvr>
                                    </p:animEffect>
                                    <p:anim calcmode="lin" valueType="num">
                                      <p:cBhvr>
                                        <p:cTn id="29" dur="1000" fill="hold"/>
                                        <p:tgtEl>
                                          <p:spTgt spid="42"/>
                                        </p:tgtEl>
                                        <p:attrNameLst>
                                          <p:attrName>ppt_x</p:attrName>
                                        </p:attrNameLst>
                                      </p:cBhvr>
                                      <p:tavLst>
                                        <p:tav tm="0">
                                          <p:val>
                                            <p:strVal val="#ppt_x"/>
                                          </p:val>
                                        </p:tav>
                                        <p:tav tm="100000">
                                          <p:val>
                                            <p:strVal val="#ppt_x"/>
                                          </p:val>
                                        </p:tav>
                                      </p:tavLst>
                                    </p:anim>
                                    <p:anim calcmode="lin" valueType="num">
                                      <p:cBhvr>
                                        <p:cTn id="30"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1000"/>
                                        <p:tgtEl>
                                          <p:spTgt spid="16"/>
                                        </p:tgtEl>
                                      </p:cBhvr>
                                    </p:animEffect>
                                    <p:anim calcmode="lin" valueType="num">
                                      <p:cBhvr>
                                        <p:cTn id="36" dur="1000" fill="hold"/>
                                        <p:tgtEl>
                                          <p:spTgt spid="16"/>
                                        </p:tgtEl>
                                        <p:attrNameLst>
                                          <p:attrName>ppt_x</p:attrName>
                                        </p:attrNameLst>
                                      </p:cBhvr>
                                      <p:tavLst>
                                        <p:tav tm="0">
                                          <p:val>
                                            <p:strVal val="#ppt_x"/>
                                          </p:val>
                                        </p:tav>
                                        <p:tav tm="100000">
                                          <p:val>
                                            <p:strVal val="#ppt_x"/>
                                          </p:val>
                                        </p:tav>
                                      </p:tavLst>
                                    </p:anim>
                                    <p:anim calcmode="lin" valueType="num">
                                      <p:cBhvr>
                                        <p:cTn id="3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fade">
                                      <p:cBhvr>
                                        <p:cTn id="42" dur="1000"/>
                                        <p:tgtEl>
                                          <p:spTgt spid="5"/>
                                        </p:tgtEl>
                                      </p:cBhvr>
                                    </p:animEffect>
                                    <p:anim calcmode="lin" valueType="num">
                                      <p:cBhvr>
                                        <p:cTn id="43" dur="1000" fill="hold"/>
                                        <p:tgtEl>
                                          <p:spTgt spid="5"/>
                                        </p:tgtEl>
                                        <p:attrNameLst>
                                          <p:attrName>ppt_x</p:attrName>
                                        </p:attrNameLst>
                                      </p:cBhvr>
                                      <p:tavLst>
                                        <p:tav tm="0">
                                          <p:val>
                                            <p:strVal val="#ppt_x"/>
                                          </p:val>
                                        </p:tav>
                                        <p:tav tm="100000">
                                          <p:val>
                                            <p:strVal val="#ppt_x"/>
                                          </p:val>
                                        </p:tav>
                                      </p:tavLst>
                                    </p:anim>
                                    <p:anim calcmode="lin" valueType="num">
                                      <p:cBhvr>
                                        <p:cTn id="4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3"/>
                                        </p:tgtEl>
                                        <p:attrNameLst>
                                          <p:attrName>style.visibility</p:attrName>
                                        </p:attrNameLst>
                                      </p:cBhvr>
                                      <p:to>
                                        <p:strVal val="visible"/>
                                      </p:to>
                                    </p:set>
                                    <p:animEffect transition="in" filter="fade">
                                      <p:cBhvr>
                                        <p:cTn id="49" dur="1000"/>
                                        <p:tgtEl>
                                          <p:spTgt spid="43"/>
                                        </p:tgtEl>
                                      </p:cBhvr>
                                    </p:animEffect>
                                    <p:anim calcmode="lin" valueType="num">
                                      <p:cBhvr>
                                        <p:cTn id="50" dur="1000" fill="hold"/>
                                        <p:tgtEl>
                                          <p:spTgt spid="43"/>
                                        </p:tgtEl>
                                        <p:attrNameLst>
                                          <p:attrName>ppt_x</p:attrName>
                                        </p:attrNameLst>
                                      </p:cBhvr>
                                      <p:tavLst>
                                        <p:tav tm="0">
                                          <p:val>
                                            <p:strVal val="#ppt_x"/>
                                          </p:val>
                                        </p:tav>
                                        <p:tav tm="100000">
                                          <p:val>
                                            <p:strVal val="#ppt_x"/>
                                          </p:val>
                                        </p:tav>
                                      </p:tavLst>
                                    </p:anim>
                                    <p:anim calcmode="lin" valueType="num">
                                      <p:cBhvr>
                                        <p:cTn id="51"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1000"/>
                                        <p:tgtEl>
                                          <p:spTgt spid="18"/>
                                        </p:tgtEl>
                                      </p:cBhvr>
                                    </p:animEffect>
                                    <p:anim calcmode="lin" valueType="num">
                                      <p:cBhvr>
                                        <p:cTn id="57" dur="1000" fill="hold"/>
                                        <p:tgtEl>
                                          <p:spTgt spid="18"/>
                                        </p:tgtEl>
                                        <p:attrNameLst>
                                          <p:attrName>ppt_x</p:attrName>
                                        </p:attrNameLst>
                                      </p:cBhvr>
                                      <p:tavLst>
                                        <p:tav tm="0">
                                          <p:val>
                                            <p:strVal val="#ppt_x"/>
                                          </p:val>
                                        </p:tav>
                                        <p:tav tm="100000">
                                          <p:val>
                                            <p:strVal val="#ppt_x"/>
                                          </p:val>
                                        </p:tav>
                                      </p:tavLst>
                                    </p:anim>
                                    <p:anim calcmode="lin" valueType="num">
                                      <p:cBhvr>
                                        <p:cTn id="5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6"/>
                                        </p:tgtEl>
                                        <p:attrNameLst>
                                          <p:attrName>style.visibility</p:attrName>
                                        </p:attrNameLst>
                                      </p:cBhvr>
                                      <p:to>
                                        <p:strVal val="visible"/>
                                      </p:to>
                                    </p:set>
                                    <p:animEffect transition="in" filter="fade">
                                      <p:cBhvr>
                                        <p:cTn id="63" dur="1000"/>
                                        <p:tgtEl>
                                          <p:spTgt spid="6"/>
                                        </p:tgtEl>
                                      </p:cBhvr>
                                    </p:animEffect>
                                    <p:anim calcmode="lin" valueType="num">
                                      <p:cBhvr>
                                        <p:cTn id="64" dur="1000" fill="hold"/>
                                        <p:tgtEl>
                                          <p:spTgt spid="6"/>
                                        </p:tgtEl>
                                        <p:attrNameLst>
                                          <p:attrName>ppt_x</p:attrName>
                                        </p:attrNameLst>
                                      </p:cBhvr>
                                      <p:tavLst>
                                        <p:tav tm="0">
                                          <p:val>
                                            <p:strVal val="#ppt_x"/>
                                          </p:val>
                                        </p:tav>
                                        <p:tav tm="100000">
                                          <p:val>
                                            <p:strVal val="#ppt_x"/>
                                          </p:val>
                                        </p:tav>
                                      </p:tavLst>
                                    </p:anim>
                                    <p:anim calcmode="lin" valueType="num">
                                      <p:cBhvr>
                                        <p:cTn id="6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44"/>
                                        </p:tgtEl>
                                        <p:attrNameLst>
                                          <p:attrName>style.visibility</p:attrName>
                                        </p:attrNameLst>
                                      </p:cBhvr>
                                      <p:to>
                                        <p:strVal val="visible"/>
                                      </p:to>
                                    </p:set>
                                    <p:animEffect transition="in" filter="fade">
                                      <p:cBhvr>
                                        <p:cTn id="70" dur="1000"/>
                                        <p:tgtEl>
                                          <p:spTgt spid="44"/>
                                        </p:tgtEl>
                                      </p:cBhvr>
                                    </p:animEffect>
                                    <p:anim calcmode="lin" valueType="num">
                                      <p:cBhvr>
                                        <p:cTn id="71" dur="1000" fill="hold"/>
                                        <p:tgtEl>
                                          <p:spTgt spid="44"/>
                                        </p:tgtEl>
                                        <p:attrNameLst>
                                          <p:attrName>ppt_x</p:attrName>
                                        </p:attrNameLst>
                                      </p:cBhvr>
                                      <p:tavLst>
                                        <p:tav tm="0">
                                          <p:val>
                                            <p:strVal val="#ppt_x"/>
                                          </p:val>
                                        </p:tav>
                                        <p:tav tm="100000">
                                          <p:val>
                                            <p:strVal val="#ppt_x"/>
                                          </p:val>
                                        </p:tav>
                                      </p:tavLst>
                                    </p:anim>
                                    <p:anim calcmode="lin" valueType="num">
                                      <p:cBhvr>
                                        <p:cTn id="72"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1000"/>
                                        <p:tgtEl>
                                          <p:spTgt spid="20"/>
                                        </p:tgtEl>
                                      </p:cBhvr>
                                    </p:animEffect>
                                    <p:anim calcmode="lin" valueType="num">
                                      <p:cBhvr>
                                        <p:cTn id="78" dur="1000" fill="hold"/>
                                        <p:tgtEl>
                                          <p:spTgt spid="20"/>
                                        </p:tgtEl>
                                        <p:attrNameLst>
                                          <p:attrName>ppt_x</p:attrName>
                                        </p:attrNameLst>
                                      </p:cBhvr>
                                      <p:tavLst>
                                        <p:tav tm="0">
                                          <p:val>
                                            <p:strVal val="#ppt_x"/>
                                          </p:val>
                                        </p:tav>
                                        <p:tav tm="100000">
                                          <p:val>
                                            <p:strVal val="#ppt_x"/>
                                          </p:val>
                                        </p:tav>
                                      </p:tavLst>
                                    </p:anim>
                                    <p:anim calcmode="lin" valueType="num">
                                      <p:cBhvr>
                                        <p:cTn id="7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22"/>
                                        </p:tgtEl>
                                        <p:attrNameLst>
                                          <p:attrName>style.visibility</p:attrName>
                                        </p:attrNameLst>
                                      </p:cBhvr>
                                      <p:to>
                                        <p:strVal val="visible"/>
                                      </p:to>
                                    </p:set>
                                    <p:animEffect transition="in" filter="fade">
                                      <p:cBhvr>
                                        <p:cTn id="84" dur="1000"/>
                                        <p:tgtEl>
                                          <p:spTgt spid="22"/>
                                        </p:tgtEl>
                                      </p:cBhvr>
                                    </p:animEffect>
                                    <p:anim calcmode="lin" valueType="num">
                                      <p:cBhvr>
                                        <p:cTn id="85" dur="1000" fill="hold"/>
                                        <p:tgtEl>
                                          <p:spTgt spid="22"/>
                                        </p:tgtEl>
                                        <p:attrNameLst>
                                          <p:attrName>ppt_x</p:attrName>
                                        </p:attrNameLst>
                                      </p:cBhvr>
                                      <p:tavLst>
                                        <p:tav tm="0">
                                          <p:val>
                                            <p:strVal val="#ppt_x"/>
                                          </p:val>
                                        </p:tav>
                                        <p:tav tm="100000">
                                          <p:val>
                                            <p:strVal val="#ppt_x"/>
                                          </p:val>
                                        </p:tav>
                                      </p:tavLst>
                                    </p:anim>
                                    <p:anim calcmode="lin" valueType="num">
                                      <p:cBhvr>
                                        <p:cTn id="86"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7"/>
                                        </p:tgtEl>
                                        <p:attrNameLst>
                                          <p:attrName>style.visibility</p:attrName>
                                        </p:attrNameLst>
                                      </p:cBhvr>
                                      <p:to>
                                        <p:strVal val="visible"/>
                                      </p:to>
                                    </p:set>
                                    <p:animEffect transition="in" filter="fade">
                                      <p:cBhvr>
                                        <p:cTn id="91" dur="1000"/>
                                        <p:tgtEl>
                                          <p:spTgt spid="7"/>
                                        </p:tgtEl>
                                      </p:cBhvr>
                                    </p:animEffect>
                                    <p:anim calcmode="lin" valueType="num">
                                      <p:cBhvr>
                                        <p:cTn id="92" dur="1000" fill="hold"/>
                                        <p:tgtEl>
                                          <p:spTgt spid="7"/>
                                        </p:tgtEl>
                                        <p:attrNameLst>
                                          <p:attrName>ppt_x</p:attrName>
                                        </p:attrNameLst>
                                      </p:cBhvr>
                                      <p:tavLst>
                                        <p:tav tm="0">
                                          <p:val>
                                            <p:strVal val="#ppt_x"/>
                                          </p:val>
                                        </p:tav>
                                        <p:tav tm="100000">
                                          <p:val>
                                            <p:strVal val="#ppt_x"/>
                                          </p:val>
                                        </p:tav>
                                      </p:tavLst>
                                    </p:anim>
                                    <p:anim calcmode="lin" valueType="num">
                                      <p:cBhvr>
                                        <p:cTn id="9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51"/>
                                        </p:tgtEl>
                                        <p:attrNameLst>
                                          <p:attrName>style.visibility</p:attrName>
                                        </p:attrNameLst>
                                      </p:cBhvr>
                                      <p:to>
                                        <p:strVal val="visible"/>
                                      </p:to>
                                    </p:set>
                                    <p:animEffect transition="in" filter="fade">
                                      <p:cBhvr>
                                        <p:cTn id="98" dur="1000"/>
                                        <p:tgtEl>
                                          <p:spTgt spid="51"/>
                                        </p:tgtEl>
                                      </p:cBhvr>
                                    </p:animEffect>
                                    <p:anim calcmode="lin" valueType="num">
                                      <p:cBhvr>
                                        <p:cTn id="99" dur="1000" fill="hold"/>
                                        <p:tgtEl>
                                          <p:spTgt spid="51"/>
                                        </p:tgtEl>
                                        <p:attrNameLst>
                                          <p:attrName>ppt_x</p:attrName>
                                        </p:attrNameLst>
                                      </p:cBhvr>
                                      <p:tavLst>
                                        <p:tav tm="0">
                                          <p:val>
                                            <p:strVal val="#ppt_x"/>
                                          </p:val>
                                        </p:tav>
                                        <p:tav tm="100000">
                                          <p:val>
                                            <p:strVal val="#ppt_x"/>
                                          </p:val>
                                        </p:tav>
                                      </p:tavLst>
                                    </p:anim>
                                    <p:anim calcmode="lin" valueType="num">
                                      <p:cBhvr>
                                        <p:cTn id="100"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31"/>
                                        </p:tgtEl>
                                        <p:attrNameLst>
                                          <p:attrName>style.visibility</p:attrName>
                                        </p:attrNameLst>
                                      </p:cBhvr>
                                      <p:to>
                                        <p:strVal val="visible"/>
                                      </p:to>
                                    </p:set>
                                    <p:animEffect transition="in" filter="fade">
                                      <p:cBhvr>
                                        <p:cTn id="105" dur="1000"/>
                                        <p:tgtEl>
                                          <p:spTgt spid="31"/>
                                        </p:tgtEl>
                                      </p:cBhvr>
                                    </p:animEffect>
                                    <p:anim calcmode="lin" valueType="num">
                                      <p:cBhvr>
                                        <p:cTn id="106" dur="1000" fill="hold"/>
                                        <p:tgtEl>
                                          <p:spTgt spid="31"/>
                                        </p:tgtEl>
                                        <p:attrNameLst>
                                          <p:attrName>ppt_x</p:attrName>
                                        </p:attrNameLst>
                                      </p:cBhvr>
                                      <p:tavLst>
                                        <p:tav tm="0">
                                          <p:val>
                                            <p:strVal val="#ppt_x"/>
                                          </p:val>
                                        </p:tav>
                                        <p:tav tm="100000">
                                          <p:val>
                                            <p:strVal val="#ppt_x"/>
                                          </p:val>
                                        </p:tav>
                                      </p:tavLst>
                                    </p:anim>
                                    <p:anim calcmode="lin" valueType="num">
                                      <p:cBhvr>
                                        <p:cTn id="10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8"/>
                                        </p:tgtEl>
                                        <p:attrNameLst>
                                          <p:attrName>style.visibility</p:attrName>
                                        </p:attrNameLst>
                                      </p:cBhvr>
                                      <p:to>
                                        <p:strVal val="visible"/>
                                      </p:to>
                                    </p:set>
                                    <p:animEffect transition="in" filter="fade">
                                      <p:cBhvr>
                                        <p:cTn id="112" dur="1000"/>
                                        <p:tgtEl>
                                          <p:spTgt spid="8"/>
                                        </p:tgtEl>
                                      </p:cBhvr>
                                    </p:animEffect>
                                    <p:anim calcmode="lin" valueType="num">
                                      <p:cBhvr>
                                        <p:cTn id="113" dur="1000" fill="hold"/>
                                        <p:tgtEl>
                                          <p:spTgt spid="8"/>
                                        </p:tgtEl>
                                        <p:attrNameLst>
                                          <p:attrName>ppt_x</p:attrName>
                                        </p:attrNameLst>
                                      </p:cBhvr>
                                      <p:tavLst>
                                        <p:tav tm="0">
                                          <p:val>
                                            <p:strVal val="#ppt_x"/>
                                          </p:val>
                                        </p:tav>
                                        <p:tav tm="100000">
                                          <p:val>
                                            <p:strVal val="#ppt_x"/>
                                          </p:val>
                                        </p:tav>
                                      </p:tavLst>
                                    </p:anim>
                                    <p:anim calcmode="lin" valueType="num">
                                      <p:cBhvr>
                                        <p:cTn id="1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52"/>
                                        </p:tgtEl>
                                        <p:attrNameLst>
                                          <p:attrName>style.visibility</p:attrName>
                                        </p:attrNameLst>
                                      </p:cBhvr>
                                      <p:to>
                                        <p:strVal val="visible"/>
                                      </p:to>
                                    </p:set>
                                    <p:animEffect transition="in" filter="fade">
                                      <p:cBhvr>
                                        <p:cTn id="119" dur="1000"/>
                                        <p:tgtEl>
                                          <p:spTgt spid="52"/>
                                        </p:tgtEl>
                                      </p:cBhvr>
                                    </p:animEffect>
                                    <p:anim calcmode="lin" valueType="num">
                                      <p:cBhvr>
                                        <p:cTn id="120" dur="1000" fill="hold"/>
                                        <p:tgtEl>
                                          <p:spTgt spid="52"/>
                                        </p:tgtEl>
                                        <p:attrNameLst>
                                          <p:attrName>ppt_x</p:attrName>
                                        </p:attrNameLst>
                                      </p:cBhvr>
                                      <p:tavLst>
                                        <p:tav tm="0">
                                          <p:val>
                                            <p:strVal val="#ppt_x"/>
                                          </p:val>
                                        </p:tav>
                                        <p:tav tm="100000">
                                          <p:val>
                                            <p:strVal val="#ppt_x"/>
                                          </p:val>
                                        </p:tav>
                                      </p:tavLst>
                                    </p:anim>
                                    <p:anim calcmode="lin" valueType="num">
                                      <p:cBhvr>
                                        <p:cTn id="121"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nodeType="clickEffect">
                                  <p:stCondLst>
                                    <p:cond delay="0"/>
                                  </p:stCondLst>
                                  <p:childTnLst>
                                    <p:set>
                                      <p:cBhvr>
                                        <p:cTn id="125" dur="1" fill="hold">
                                          <p:stCondLst>
                                            <p:cond delay="0"/>
                                          </p:stCondLst>
                                        </p:cTn>
                                        <p:tgtEl>
                                          <p:spTgt spid="41"/>
                                        </p:tgtEl>
                                        <p:attrNameLst>
                                          <p:attrName>style.visibility</p:attrName>
                                        </p:attrNameLst>
                                      </p:cBhvr>
                                      <p:to>
                                        <p:strVal val="visible"/>
                                      </p:to>
                                    </p:set>
                                    <p:animEffect transition="in" filter="fade">
                                      <p:cBhvr>
                                        <p:cTn id="126" dur="1000"/>
                                        <p:tgtEl>
                                          <p:spTgt spid="41"/>
                                        </p:tgtEl>
                                      </p:cBhvr>
                                    </p:animEffect>
                                    <p:anim calcmode="lin" valueType="num">
                                      <p:cBhvr>
                                        <p:cTn id="127" dur="1000" fill="hold"/>
                                        <p:tgtEl>
                                          <p:spTgt spid="41"/>
                                        </p:tgtEl>
                                        <p:attrNameLst>
                                          <p:attrName>ppt_x</p:attrName>
                                        </p:attrNameLst>
                                      </p:cBhvr>
                                      <p:tavLst>
                                        <p:tav tm="0">
                                          <p:val>
                                            <p:strVal val="#ppt_x"/>
                                          </p:val>
                                        </p:tav>
                                        <p:tav tm="100000">
                                          <p:val>
                                            <p:strVal val="#ppt_x"/>
                                          </p:val>
                                        </p:tav>
                                      </p:tavLst>
                                    </p:anim>
                                    <p:anim calcmode="lin" valueType="num">
                                      <p:cBhvr>
                                        <p:cTn id="128"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grpId="0" nodeType="clickEffect">
                                  <p:stCondLst>
                                    <p:cond delay="0"/>
                                  </p:stCondLst>
                                  <p:childTnLst>
                                    <p:set>
                                      <p:cBhvr>
                                        <p:cTn id="132" dur="1" fill="hold">
                                          <p:stCondLst>
                                            <p:cond delay="0"/>
                                          </p:stCondLst>
                                        </p:cTn>
                                        <p:tgtEl>
                                          <p:spTgt spid="9"/>
                                        </p:tgtEl>
                                        <p:attrNameLst>
                                          <p:attrName>style.visibility</p:attrName>
                                        </p:attrNameLst>
                                      </p:cBhvr>
                                      <p:to>
                                        <p:strVal val="visible"/>
                                      </p:to>
                                    </p:set>
                                    <p:animEffect transition="in" filter="fade">
                                      <p:cBhvr>
                                        <p:cTn id="133" dur="1000"/>
                                        <p:tgtEl>
                                          <p:spTgt spid="9"/>
                                        </p:tgtEl>
                                      </p:cBhvr>
                                    </p:animEffect>
                                    <p:anim calcmode="lin" valueType="num">
                                      <p:cBhvr>
                                        <p:cTn id="134" dur="1000" fill="hold"/>
                                        <p:tgtEl>
                                          <p:spTgt spid="9"/>
                                        </p:tgtEl>
                                        <p:attrNameLst>
                                          <p:attrName>ppt_x</p:attrName>
                                        </p:attrNameLst>
                                      </p:cBhvr>
                                      <p:tavLst>
                                        <p:tav tm="0">
                                          <p:val>
                                            <p:strVal val="#ppt_x"/>
                                          </p:val>
                                        </p:tav>
                                        <p:tav tm="100000">
                                          <p:val>
                                            <p:strVal val="#ppt_x"/>
                                          </p:val>
                                        </p:tav>
                                      </p:tavLst>
                                    </p:anim>
                                    <p:anim calcmode="lin" valueType="num">
                                      <p:cBhvr>
                                        <p:cTn id="13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53"/>
                                        </p:tgtEl>
                                        <p:attrNameLst>
                                          <p:attrName>style.visibility</p:attrName>
                                        </p:attrNameLst>
                                      </p:cBhvr>
                                      <p:to>
                                        <p:strVal val="visible"/>
                                      </p:to>
                                    </p:set>
                                    <p:animEffect transition="in" filter="fade">
                                      <p:cBhvr>
                                        <p:cTn id="140" dur="1000"/>
                                        <p:tgtEl>
                                          <p:spTgt spid="53"/>
                                        </p:tgtEl>
                                      </p:cBhvr>
                                    </p:animEffect>
                                    <p:anim calcmode="lin" valueType="num">
                                      <p:cBhvr>
                                        <p:cTn id="141" dur="1000" fill="hold"/>
                                        <p:tgtEl>
                                          <p:spTgt spid="53"/>
                                        </p:tgtEl>
                                        <p:attrNameLst>
                                          <p:attrName>ppt_x</p:attrName>
                                        </p:attrNameLst>
                                      </p:cBhvr>
                                      <p:tavLst>
                                        <p:tav tm="0">
                                          <p:val>
                                            <p:strVal val="#ppt_x"/>
                                          </p:val>
                                        </p:tav>
                                        <p:tav tm="100000">
                                          <p:val>
                                            <p:strVal val="#ppt_x"/>
                                          </p:val>
                                        </p:tav>
                                      </p:tavLst>
                                    </p:anim>
                                    <p:anim calcmode="lin" valueType="num">
                                      <p:cBhvr>
                                        <p:cTn id="142"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42" presetClass="entr" presetSubtype="0" fill="hold" grpId="0" nodeType="clickEffect">
                                  <p:stCondLst>
                                    <p:cond delay="0"/>
                                  </p:stCondLst>
                                  <p:childTnLst>
                                    <p:set>
                                      <p:cBhvr>
                                        <p:cTn id="146" dur="1" fill="hold">
                                          <p:stCondLst>
                                            <p:cond delay="0"/>
                                          </p:stCondLst>
                                        </p:cTn>
                                        <p:tgtEl>
                                          <p:spTgt spid="10"/>
                                        </p:tgtEl>
                                        <p:attrNameLst>
                                          <p:attrName>style.visibility</p:attrName>
                                        </p:attrNameLst>
                                      </p:cBhvr>
                                      <p:to>
                                        <p:strVal val="visible"/>
                                      </p:to>
                                    </p:set>
                                    <p:animEffect transition="in" filter="fade">
                                      <p:cBhvr>
                                        <p:cTn id="147" dur="1000"/>
                                        <p:tgtEl>
                                          <p:spTgt spid="10"/>
                                        </p:tgtEl>
                                      </p:cBhvr>
                                    </p:animEffect>
                                    <p:anim calcmode="lin" valueType="num">
                                      <p:cBhvr>
                                        <p:cTn id="148" dur="1000" fill="hold"/>
                                        <p:tgtEl>
                                          <p:spTgt spid="10"/>
                                        </p:tgtEl>
                                        <p:attrNameLst>
                                          <p:attrName>ppt_x</p:attrName>
                                        </p:attrNameLst>
                                      </p:cBhvr>
                                      <p:tavLst>
                                        <p:tav tm="0">
                                          <p:val>
                                            <p:strVal val="#ppt_x"/>
                                          </p:val>
                                        </p:tav>
                                        <p:tav tm="100000">
                                          <p:val>
                                            <p:strVal val="#ppt_x"/>
                                          </p:val>
                                        </p:tav>
                                      </p:tavLst>
                                    </p:anim>
                                    <p:anim calcmode="lin" valueType="num">
                                      <p:cBhvr>
                                        <p:cTn id="14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42" presetClass="entr" presetSubtype="0" fill="hold" grpId="0" nodeType="clickEffect">
                                  <p:stCondLst>
                                    <p:cond delay="0"/>
                                  </p:stCondLst>
                                  <p:childTnLst>
                                    <p:set>
                                      <p:cBhvr>
                                        <p:cTn id="153" dur="1" fill="hold">
                                          <p:stCondLst>
                                            <p:cond delay="0"/>
                                          </p:stCondLst>
                                        </p:cTn>
                                        <p:tgtEl>
                                          <p:spTgt spid="62"/>
                                        </p:tgtEl>
                                        <p:attrNameLst>
                                          <p:attrName>style.visibility</p:attrName>
                                        </p:attrNameLst>
                                      </p:cBhvr>
                                      <p:to>
                                        <p:strVal val="visible"/>
                                      </p:to>
                                    </p:set>
                                    <p:animEffect transition="in" filter="fade">
                                      <p:cBhvr>
                                        <p:cTn id="154" dur="1000"/>
                                        <p:tgtEl>
                                          <p:spTgt spid="62"/>
                                        </p:tgtEl>
                                      </p:cBhvr>
                                    </p:animEffect>
                                    <p:anim calcmode="lin" valueType="num">
                                      <p:cBhvr>
                                        <p:cTn id="155" dur="1000" fill="hold"/>
                                        <p:tgtEl>
                                          <p:spTgt spid="62"/>
                                        </p:tgtEl>
                                        <p:attrNameLst>
                                          <p:attrName>ppt_x</p:attrName>
                                        </p:attrNameLst>
                                      </p:cBhvr>
                                      <p:tavLst>
                                        <p:tav tm="0">
                                          <p:val>
                                            <p:strVal val="#ppt_x"/>
                                          </p:val>
                                        </p:tav>
                                        <p:tav tm="100000">
                                          <p:val>
                                            <p:strVal val="#ppt_x"/>
                                          </p:val>
                                        </p:tav>
                                      </p:tavLst>
                                    </p:anim>
                                    <p:anim calcmode="lin" valueType="num">
                                      <p:cBhvr>
                                        <p:cTn id="156"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42" grpId="0" animBg="1"/>
      <p:bldP spid="43" grpId="0" animBg="1"/>
      <p:bldP spid="44" grpId="0" animBg="1"/>
      <p:bldP spid="51" grpId="0" animBg="1"/>
      <p:bldP spid="52" grpId="0" animBg="1"/>
      <p:bldP spid="53" grpId="0" animBg="1"/>
      <p:bldP spid="6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02327" y="1385455"/>
            <a:ext cx="8756073" cy="1477328"/>
          </a:xfrm>
          <a:prstGeom prst="rect">
            <a:avLst/>
          </a:prstGeom>
          <a:noFill/>
        </p:spPr>
        <p:txBody>
          <a:bodyPr wrap="square" rtlCol="0">
            <a:spAutoFit/>
          </a:bodyPr>
          <a:lstStyle/>
          <a:p>
            <a:r>
              <a:rPr lang="en-IN" dirty="0"/>
              <a:t>Request for a Hearing</a:t>
            </a:r>
          </a:p>
          <a:p>
            <a:endParaRPr lang="en-IN" dirty="0"/>
          </a:p>
          <a:p>
            <a:r>
              <a:rPr lang="en-IN" dirty="0"/>
              <a:t>How to File a Workers' Compensation Claim in California</a:t>
            </a:r>
          </a:p>
          <a:p>
            <a:r>
              <a:rPr lang="en-IN" dirty="0">
                <a:hlinkClick r:id="rId2"/>
              </a:rPr>
              <a:t>https://youtu.be/e-6hYqXaKSA</a:t>
            </a:r>
            <a:endParaRPr lang="en-IN" dirty="0"/>
          </a:p>
          <a:p>
            <a:endParaRPr lang="en-IN" dirty="0"/>
          </a:p>
        </p:txBody>
      </p:sp>
      <p:pic>
        <p:nvPicPr>
          <p:cNvPr id="3" name="Picture 2"/>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Tree>
    <p:extLst>
      <p:ext uri="{BB962C8B-B14F-4D97-AF65-F5344CB8AC3E}">
        <p14:creationId xmlns:p14="http://schemas.microsoft.com/office/powerpoint/2010/main" val="29660573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7636" y="1114079"/>
            <a:ext cx="2104807" cy="369332"/>
          </a:xfrm>
          <a:prstGeom prst="rect">
            <a:avLst/>
          </a:prstGeom>
          <a:ln>
            <a:solidFill>
              <a:srgbClr val="0070C0"/>
            </a:solidFill>
          </a:ln>
        </p:spPr>
        <p:txBody>
          <a:bodyPr wrap="none">
            <a:spAutoFit/>
          </a:bodyPr>
          <a:lstStyle/>
          <a:p>
            <a:r>
              <a:rPr lang="en-IN" dirty="0"/>
              <a:t>Request for Hearing </a:t>
            </a:r>
          </a:p>
        </p:txBody>
      </p:sp>
      <p:sp>
        <p:nvSpPr>
          <p:cNvPr id="3" name="Rectangle 2"/>
          <p:cNvSpPr/>
          <p:nvPr/>
        </p:nvSpPr>
        <p:spPr>
          <a:xfrm>
            <a:off x="367636" y="1674865"/>
            <a:ext cx="2853932" cy="646331"/>
          </a:xfrm>
          <a:prstGeom prst="rect">
            <a:avLst/>
          </a:prstGeom>
          <a:ln>
            <a:solidFill>
              <a:srgbClr val="0070C0"/>
            </a:solidFill>
          </a:ln>
        </p:spPr>
        <p:txBody>
          <a:bodyPr wrap="square">
            <a:spAutoFit/>
          </a:bodyPr>
          <a:lstStyle/>
          <a:p>
            <a:r>
              <a:rPr lang="en-IN" dirty="0"/>
              <a:t>WC Mediation </a:t>
            </a:r>
          </a:p>
          <a:p>
            <a:r>
              <a:rPr lang="en-IN" dirty="0"/>
              <a:t>Session Held (optional)</a:t>
            </a:r>
          </a:p>
        </p:txBody>
      </p:sp>
      <p:sp>
        <p:nvSpPr>
          <p:cNvPr id="4" name="Rectangle 3"/>
          <p:cNvSpPr/>
          <p:nvPr/>
        </p:nvSpPr>
        <p:spPr>
          <a:xfrm>
            <a:off x="367636" y="2464730"/>
            <a:ext cx="2731582" cy="369332"/>
          </a:xfrm>
          <a:prstGeom prst="rect">
            <a:avLst/>
          </a:prstGeom>
          <a:ln>
            <a:solidFill>
              <a:srgbClr val="0070C0"/>
            </a:solidFill>
          </a:ln>
        </p:spPr>
        <p:txBody>
          <a:bodyPr wrap="none">
            <a:spAutoFit/>
          </a:bodyPr>
          <a:lstStyle/>
          <a:p>
            <a:r>
              <a:rPr lang="en-IN" dirty="0"/>
              <a:t>Case Assigned to WC Judge</a:t>
            </a:r>
          </a:p>
        </p:txBody>
      </p:sp>
      <p:sp>
        <p:nvSpPr>
          <p:cNvPr id="5" name="Rectangle 4"/>
          <p:cNvSpPr/>
          <p:nvPr/>
        </p:nvSpPr>
        <p:spPr>
          <a:xfrm>
            <a:off x="914902" y="3216979"/>
            <a:ext cx="2378280" cy="369332"/>
          </a:xfrm>
          <a:prstGeom prst="rect">
            <a:avLst/>
          </a:prstGeom>
          <a:ln>
            <a:solidFill>
              <a:srgbClr val="0070C0"/>
            </a:solidFill>
          </a:ln>
        </p:spPr>
        <p:txBody>
          <a:bodyPr wrap="none">
            <a:spAutoFit/>
          </a:bodyPr>
          <a:lstStyle/>
          <a:p>
            <a:r>
              <a:rPr lang="en-IN" dirty="0"/>
              <a:t>WC Hearing Scheduled </a:t>
            </a:r>
          </a:p>
        </p:txBody>
      </p:sp>
      <p:sp>
        <p:nvSpPr>
          <p:cNvPr id="6" name="Rectangle 5"/>
          <p:cNvSpPr/>
          <p:nvPr/>
        </p:nvSpPr>
        <p:spPr>
          <a:xfrm>
            <a:off x="914902" y="3873379"/>
            <a:ext cx="1838067" cy="369332"/>
          </a:xfrm>
          <a:prstGeom prst="rect">
            <a:avLst/>
          </a:prstGeom>
          <a:ln>
            <a:solidFill>
              <a:srgbClr val="0070C0"/>
            </a:solidFill>
          </a:ln>
        </p:spPr>
        <p:txBody>
          <a:bodyPr wrap="none">
            <a:spAutoFit/>
          </a:bodyPr>
          <a:lstStyle/>
          <a:p>
            <a:r>
              <a:rPr lang="en-IN" dirty="0"/>
              <a:t>WC Hearing Held </a:t>
            </a:r>
          </a:p>
        </p:txBody>
      </p:sp>
      <p:sp>
        <p:nvSpPr>
          <p:cNvPr id="7" name="Rectangle 6"/>
          <p:cNvSpPr/>
          <p:nvPr/>
        </p:nvSpPr>
        <p:spPr>
          <a:xfrm>
            <a:off x="914902" y="4345113"/>
            <a:ext cx="1942519" cy="369332"/>
          </a:xfrm>
          <a:prstGeom prst="rect">
            <a:avLst/>
          </a:prstGeom>
          <a:ln>
            <a:solidFill>
              <a:srgbClr val="0070C0"/>
            </a:solidFill>
          </a:ln>
        </p:spPr>
        <p:txBody>
          <a:bodyPr wrap="none">
            <a:spAutoFit/>
          </a:bodyPr>
          <a:lstStyle/>
          <a:p>
            <a:r>
              <a:rPr lang="en-IN" dirty="0"/>
              <a:t>Decision Rendered</a:t>
            </a:r>
          </a:p>
        </p:txBody>
      </p:sp>
      <p:sp>
        <p:nvSpPr>
          <p:cNvPr id="8" name="Rectangle 7"/>
          <p:cNvSpPr/>
          <p:nvPr/>
        </p:nvSpPr>
        <p:spPr>
          <a:xfrm>
            <a:off x="368138" y="4838841"/>
            <a:ext cx="3038973" cy="369332"/>
          </a:xfrm>
          <a:prstGeom prst="rect">
            <a:avLst/>
          </a:prstGeom>
          <a:ln>
            <a:solidFill>
              <a:srgbClr val="0070C0"/>
            </a:solidFill>
          </a:ln>
        </p:spPr>
        <p:txBody>
          <a:bodyPr wrap="none">
            <a:spAutoFit/>
          </a:bodyPr>
          <a:lstStyle/>
          <a:p>
            <a:r>
              <a:rPr lang="en-IN" dirty="0"/>
              <a:t>Appeal to the Full Commission</a:t>
            </a:r>
          </a:p>
        </p:txBody>
      </p:sp>
      <p:sp>
        <p:nvSpPr>
          <p:cNvPr id="9" name="Rectangle 8"/>
          <p:cNvSpPr/>
          <p:nvPr/>
        </p:nvSpPr>
        <p:spPr>
          <a:xfrm>
            <a:off x="406953" y="5593353"/>
            <a:ext cx="3130344" cy="369332"/>
          </a:xfrm>
          <a:prstGeom prst="rect">
            <a:avLst/>
          </a:prstGeom>
          <a:ln>
            <a:solidFill>
              <a:srgbClr val="0070C0"/>
            </a:solidFill>
          </a:ln>
        </p:spPr>
        <p:txBody>
          <a:bodyPr wrap="none">
            <a:spAutoFit/>
          </a:bodyPr>
          <a:lstStyle/>
          <a:p>
            <a:r>
              <a:rPr lang="en-IN" dirty="0"/>
              <a:t>Appeal to the Court of Appeals </a:t>
            </a:r>
          </a:p>
        </p:txBody>
      </p:sp>
      <p:sp>
        <p:nvSpPr>
          <p:cNvPr id="10" name="Rectangle 9"/>
          <p:cNvSpPr/>
          <p:nvPr/>
        </p:nvSpPr>
        <p:spPr>
          <a:xfrm>
            <a:off x="406953" y="6244720"/>
            <a:ext cx="3016723" cy="369332"/>
          </a:xfrm>
          <a:prstGeom prst="rect">
            <a:avLst/>
          </a:prstGeom>
          <a:ln>
            <a:solidFill>
              <a:srgbClr val="0070C0"/>
            </a:solidFill>
          </a:ln>
        </p:spPr>
        <p:txBody>
          <a:bodyPr wrap="none">
            <a:spAutoFit/>
          </a:bodyPr>
          <a:lstStyle/>
          <a:p>
            <a:r>
              <a:rPr lang="en-IN" dirty="0"/>
              <a:t>Appeal to The Supreme Court</a:t>
            </a:r>
          </a:p>
        </p:txBody>
      </p:sp>
      <p:pic>
        <p:nvPicPr>
          <p:cNvPr id="11" name="Picture 10"/>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12" name="Rectangle 11"/>
          <p:cNvSpPr/>
          <p:nvPr/>
        </p:nvSpPr>
        <p:spPr>
          <a:xfrm>
            <a:off x="4613564" y="1173200"/>
            <a:ext cx="6096000" cy="307777"/>
          </a:xfrm>
          <a:prstGeom prst="rect">
            <a:avLst/>
          </a:prstGeom>
          <a:ln>
            <a:solidFill>
              <a:srgbClr val="0070C0"/>
            </a:solidFill>
          </a:ln>
        </p:spPr>
        <p:txBody>
          <a:bodyPr>
            <a:spAutoFit/>
          </a:bodyPr>
          <a:lstStyle/>
          <a:p>
            <a:r>
              <a:rPr lang="en-IN" sz="1400" dirty="0"/>
              <a:t>The injured worker should indicate the benefits sought and request a hearing. </a:t>
            </a:r>
          </a:p>
        </p:txBody>
      </p:sp>
      <p:sp>
        <p:nvSpPr>
          <p:cNvPr id="13" name="Rectangle 12"/>
          <p:cNvSpPr/>
          <p:nvPr/>
        </p:nvSpPr>
        <p:spPr>
          <a:xfrm>
            <a:off x="3563065" y="1543262"/>
            <a:ext cx="8811491" cy="523220"/>
          </a:xfrm>
          <a:prstGeom prst="rect">
            <a:avLst/>
          </a:prstGeom>
          <a:ln>
            <a:solidFill>
              <a:srgbClr val="0070C0"/>
            </a:solidFill>
          </a:ln>
        </p:spPr>
        <p:txBody>
          <a:bodyPr wrap="square">
            <a:spAutoFit/>
          </a:bodyPr>
          <a:lstStyle/>
          <a:p>
            <a:r>
              <a:rPr lang="en-IN" sz="1400" dirty="0"/>
              <a:t>If both parties are represented, counsels may request mediation. If mediation is not successful the case is returned to the hearing docket. </a:t>
            </a:r>
          </a:p>
        </p:txBody>
      </p:sp>
      <p:sp>
        <p:nvSpPr>
          <p:cNvPr id="14" name="Rectangle 13"/>
          <p:cNvSpPr/>
          <p:nvPr/>
        </p:nvSpPr>
        <p:spPr>
          <a:xfrm>
            <a:off x="3325091" y="2429935"/>
            <a:ext cx="8866909" cy="523220"/>
          </a:xfrm>
          <a:prstGeom prst="rect">
            <a:avLst/>
          </a:prstGeom>
          <a:ln>
            <a:solidFill>
              <a:srgbClr val="0070C0"/>
            </a:solidFill>
          </a:ln>
        </p:spPr>
        <p:txBody>
          <a:bodyPr wrap="square">
            <a:spAutoFit/>
          </a:bodyPr>
          <a:lstStyle/>
          <a:p>
            <a:r>
              <a:rPr lang="en-IN" sz="1400" dirty="0"/>
              <a:t>Hearing requests normally are assigned to workers’ compensation judges by the Commission according to the </a:t>
            </a:r>
            <a:r>
              <a:rPr lang="en-IN" sz="1400" u="sng" dirty="0"/>
              <a:t>locality in which the injury occurred.</a:t>
            </a:r>
            <a:r>
              <a:rPr lang="en-IN" sz="1400" dirty="0"/>
              <a:t> The Commission will send all parties a notice that the claim has been referred to a judge.</a:t>
            </a:r>
          </a:p>
        </p:txBody>
      </p:sp>
      <p:sp>
        <p:nvSpPr>
          <p:cNvPr id="15" name="Rectangle 14"/>
          <p:cNvSpPr/>
          <p:nvPr/>
        </p:nvSpPr>
        <p:spPr>
          <a:xfrm>
            <a:off x="3563064" y="3216980"/>
            <a:ext cx="8337991" cy="307777"/>
          </a:xfrm>
          <a:prstGeom prst="rect">
            <a:avLst/>
          </a:prstGeom>
          <a:ln>
            <a:solidFill>
              <a:srgbClr val="0070C0"/>
            </a:solidFill>
          </a:ln>
        </p:spPr>
        <p:txBody>
          <a:bodyPr wrap="square">
            <a:spAutoFit/>
          </a:bodyPr>
          <a:lstStyle/>
          <a:p>
            <a:r>
              <a:rPr lang="en-IN" sz="1400" dirty="0"/>
              <a:t>Once assigned, all parties involved in the case are notified in writing as to the date, time and place of hearing.</a:t>
            </a:r>
          </a:p>
        </p:txBody>
      </p:sp>
      <p:sp>
        <p:nvSpPr>
          <p:cNvPr id="16" name="Rectangle 15"/>
          <p:cNvSpPr/>
          <p:nvPr/>
        </p:nvSpPr>
        <p:spPr>
          <a:xfrm>
            <a:off x="3293182" y="3790164"/>
            <a:ext cx="8790824" cy="523220"/>
          </a:xfrm>
          <a:prstGeom prst="rect">
            <a:avLst/>
          </a:prstGeom>
          <a:ln>
            <a:solidFill>
              <a:srgbClr val="0070C0"/>
            </a:solidFill>
          </a:ln>
        </p:spPr>
        <p:txBody>
          <a:bodyPr wrap="square">
            <a:spAutoFit/>
          </a:bodyPr>
          <a:lstStyle/>
          <a:p>
            <a:r>
              <a:rPr lang="en-IN" sz="1400" dirty="0"/>
              <a:t>A workers’ compensation judge hears evidence presented by both the injured worker and the defendant (employer/insurer) at a hearing.</a:t>
            </a:r>
          </a:p>
        </p:txBody>
      </p:sp>
      <p:sp>
        <p:nvSpPr>
          <p:cNvPr id="17" name="Rectangle 16"/>
          <p:cNvSpPr/>
          <p:nvPr/>
        </p:nvSpPr>
        <p:spPr>
          <a:xfrm>
            <a:off x="3234921" y="4417824"/>
            <a:ext cx="8790824" cy="307777"/>
          </a:xfrm>
          <a:prstGeom prst="rect">
            <a:avLst/>
          </a:prstGeom>
          <a:ln>
            <a:solidFill>
              <a:srgbClr val="0070C0"/>
            </a:solidFill>
          </a:ln>
        </p:spPr>
        <p:txBody>
          <a:bodyPr wrap="square">
            <a:spAutoFit/>
          </a:bodyPr>
          <a:lstStyle/>
          <a:p>
            <a:r>
              <a:rPr lang="en-IN" sz="1400" dirty="0"/>
              <a:t>A written decision (also known as Opinion) is mailed to involved parties after a case is heard and the record is closed. </a:t>
            </a:r>
          </a:p>
        </p:txBody>
      </p:sp>
      <p:sp>
        <p:nvSpPr>
          <p:cNvPr id="18" name="Rectangle 17"/>
          <p:cNvSpPr/>
          <p:nvPr/>
        </p:nvSpPr>
        <p:spPr>
          <a:xfrm>
            <a:off x="3953875" y="4874939"/>
            <a:ext cx="8071870" cy="523220"/>
          </a:xfrm>
          <a:prstGeom prst="rect">
            <a:avLst/>
          </a:prstGeom>
          <a:ln>
            <a:solidFill>
              <a:srgbClr val="0070C0"/>
            </a:solidFill>
          </a:ln>
        </p:spPr>
        <p:txBody>
          <a:bodyPr wrap="square">
            <a:spAutoFit/>
          </a:bodyPr>
          <a:lstStyle/>
          <a:p>
            <a:r>
              <a:rPr lang="en-IN" sz="1400" dirty="0"/>
              <a:t>Any party has thirty (30) days from the date the workers’ compensation judge’s opinion is issued to file an appeal with the Virginia Workers’ Compensation Commission.</a:t>
            </a:r>
          </a:p>
        </p:txBody>
      </p:sp>
      <p:sp>
        <p:nvSpPr>
          <p:cNvPr id="19" name="Rectangle 18"/>
          <p:cNvSpPr/>
          <p:nvPr/>
        </p:nvSpPr>
        <p:spPr>
          <a:xfrm>
            <a:off x="3947421" y="5562317"/>
            <a:ext cx="8078324" cy="523220"/>
          </a:xfrm>
          <a:prstGeom prst="rect">
            <a:avLst/>
          </a:prstGeom>
          <a:ln>
            <a:solidFill>
              <a:srgbClr val="0070C0"/>
            </a:solidFill>
          </a:ln>
        </p:spPr>
        <p:txBody>
          <a:bodyPr wrap="square">
            <a:spAutoFit/>
          </a:bodyPr>
          <a:lstStyle/>
          <a:p>
            <a:r>
              <a:rPr lang="en-IN" sz="1400" dirty="0"/>
              <a:t>Any party has thirty (30) days from the date of the opinion of the Full Commission to appeal to the Virginia Court of Appeals.</a:t>
            </a:r>
          </a:p>
        </p:txBody>
      </p:sp>
      <p:sp>
        <p:nvSpPr>
          <p:cNvPr id="20" name="Rectangle 19"/>
          <p:cNvSpPr/>
          <p:nvPr/>
        </p:nvSpPr>
        <p:spPr>
          <a:xfrm>
            <a:off x="4005292" y="6191263"/>
            <a:ext cx="8020453" cy="523220"/>
          </a:xfrm>
          <a:prstGeom prst="rect">
            <a:avLst/>
          </a:prstGeom>
          <a:ln>
            <a:solidFill>
              <a:srgbClr val="0070C0"/>
            </a:solidFill>
          </a:ln>
        </p:spPr>
        <p:txBody>
          <a:bodyPr wrap="square">
            <a:spAutoFit/>
          </a:bodyPr>
          <a:lstStyle/>
          <a:p>
            <a:r>
              <a:rPr lang="en-IN" sz="1400" dirty="0"/>
              <a:t>Any party has thirty (30) days from the date of the Virginia Court of Appeals’ decision to file a request for appeal to The Supreme Court of </a:t>
            </a:r>
            <a:r>
              <a:rPr lang="en-IN" sz="1400" b="1" dirty="0"/>
              <a:t>Virginia</a:t>
            </a:r>
          </a:p>
        </p:txBody>
      </p:sp>
      <p:cxnSp>
        <p:nvCxnSpPr>
          <p:cNvPr id="22" name="Elbow Connector 21"/>
          <p:cNvCxnSpPr>
            <a:stCxn id="2" idx="1"/>
            <a:endCxn id="4" idx="1"/>
          </p:cNvCxnSpPr>
          <p:nvPr/>
        </p:nvCxnSpPr>
        <p:spPr>
          <a:xfrm rot="10800000" flipV="1">
            <a:off x="367636" y="1298744"/>
            <a:ext cx="12700" cy="1350651"/>
          </a:xfrm>
          <a:prstGeom prst="bentConnector3">
            <a:avLst>
              <a:gd name="adj1" fmla="val 180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Elbow Connector 23"/>
          <p:cNvCxnSpPr>
            <a:stCxn id="2" idx="3"/>
            <a:endCxn id="3" idx="3"/>
          </p:cNvCxnSpPr>
          <p:nvPr/>
        </p:nvCxnSpPr>
        <p:spPr>
          <a:xfrm>
            <a:off x="2472443" y="1298745"/>
            <a:ext cx="749125" cy="699286"/>
          </a:xfrm>
          <a:prstGeom prst="bentConnector3">
            <a:avLst>
              <a:gd name="adj1" fmla="val 130516"/>
            </a:avLst>
          </a:prstGeom>
          <a:ln>
            <a:prstDash val="lgDashDotDot"/>
            <a:tailEnd type="triangle"/>
          </a:ln>
        </p:spPr>
        <p:style>
          <a:lnRef idx="1">
            <a:schemeClr val="accent1"/>
          </a:lnRef>
          <a:fillRef idx="0">
            <a:schemeClr val="accent1"/>
          </a:fillRef>
          <a:effectRef idx="0">
            <a:schemeClr val="accent1"/>
          </a:effectRef>
          <a:fontRef idx="minor">
            <a:schemeClr val="tx1"/>
          </a:fontRef>
        </p:style>
      </p:cxnSp>
      <p:cxnSp>
        <p:nvCxnSpPr>
          <p:cNvPr id="26" name="Elbow Connector 25"/>
          <p:cNvCxnSpPr>
            <a:stCxn id="4" idx="2"/>
            <a:endCxn id="5" idx="1"/>
          </p:cNvCxnSpPr>
          <p:nvPr/>
        </p:nvCxnSpPr>
        <p:spPr>
          <a:xfrm rot="5400000">
            <a:off x="1040374" y="2708591"/>
            <a:ext cx="567583" cy="818525"/>
          </a:xfrm>
          <a:prstGeom prst="bentConnector4">
            <a:avLst>
              <a:gd name="adj1" fmla="val 33732"/>
              <a:gd name="adj2" fmla="val 12792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Elbow Connector 27"/>
          <p:cNvCxnSpPr>
            <a:stCxn id="5" idx="2"/>
            <a:endCxn id="6" idx="1"/>
          </p:cNvCxnSpPr>
          <p:nvPr/>
        </p:nvCxnSpPr>
        <p:spPr>
          <a:xfrm rot="5400000">
            <a:off x="1273605" y="3227608"/>
            <a:ext cx="471734" cy="1189140"/>
          </a:xfrm>
          <a:prstGeom prst="bentConnector4">
            <a:avLst>
              <a:gd name="adj1" fmla="val 30427"/>
              <a:gd name="adj2" fmla="val 11922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Elbow Connector 29"/>
          <p:cNvCxnSpPr>
            <a:stCxn id="7" idx="1"/>
            <a:endCxn id="8" idx="1"/>
          </p:cNvCxnSpPr>
          <p:nvPr/>
        </p:nvCxnSpPr>
        <p:spPr>
          <a:xfrm rot="10800000" flipV="1">
            <a:off x="368138" y="4529779"/>
            <a:ext cx="546764" cy="493728"/>
          </a:xfrm>
          <a:prstGeom prst="bentConnector3">
            <a:avLst>
              <a:gd name="adj1" fmla="val 14181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Elbow Connector 31"/>
          <p:cNvCxnSpPr>
            <a:stCxn id="8" idx="2"/>
            <a:endCxn id="9" idx="1"/>
          </p:cNvCxnSpPr>
          <p:nvPr/>
        </p:nvCxnSpPr>
        <p:spPr>
          <a:xfrm rot="5400000">
            <a:off x="862366" y="4752760"/>
            <a:ext cx="569846" cy="1480672"/>
          </a:xfrm>
          <a:prstGeom prst="bentConnector4">
            <a:avLst>
              <a:gd name="adj1" fmla="val 33797"/>
              <a:gd name="adj2" fmla="val 11543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Elbow Connector 33"/>
          <p:cNvCxnSpPr>
            <a:stCxn id="9" idx="2"/>
            <a:endCxn id="10" idx="1"/>
          </p:cNvCxnSpPr>
          <p:nvPr/>
        </p:nvCxnSpPr>
        <p:spPr>
          <a:xfrm rot="5400000">
            <a:off x="956189" y="5413449"/>
            <a:ext cx="466701" cy="1565172"/>
          </a:xfrm>
          <a:prstGeom prst="bentConnector4">
            <a:avLst>
              <a:gd name="adj1" fmla="val 30216"/>
              <a:gd name="adj2" fmla="val 11460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Elbow Connector 37"/>
          <p:cNvCxnSpPr>
            <a:stCxn id="6" idx="3"/>
            <a:endCxn id="7" idx="3"/>
          </p:cNvCxnSpPr>
          <p:nvPr/>
        </p:nvCxnSpPr>
        <p:spPr>
          <a:xfrm>
            <a:off x="2752969" y="4058045"/>
            <a:ext cx="104452" cy="471734"/>
          </a:xfrm>
          <a:prstGeom prst="bentConnector3">
            <a:avLst>
              <a:gd name="adj1" fmla="val 318857"/>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367635" y="332509"/>
            <a:ext cx="6615056" cy="461665"/>
          </a:xfrm>
          <a:prstGeom prst="rect">
            <a:avLst/>
          </a:prstGeom>
          <a:noFill/>
        </p:spPr>
        <p:txBody>
          <a:bodyPr wrap="square" rtlCol="0">
            <a:spAutoFit/>
          </a:bodyPr>
          <a:lstStyle/>
          <a:p>
            <a:r>
              <a:rPr lang="en-IN" sz="2400" b="1" dirty="0"/>
              <a:t>When the filing gets litigated….</a:t>
            </a:r>
          </a:p>
        </p:txBody>
      </p:sp>
    </p:spTree>
    <p:extLst>
      <p:ext uri="{BB962C8B-B14F-4D97-AF65-F5344CB8AC3E}">
        <p14:creationId xmlns:p14="http://schemas.microsoft.com/office/powerpoint/2010/main" val="2336392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1000"/>
                                        <p:tgtEl>
                                          <p:spTgt spid="24"/>
                                        </p:tgtEl>
                                      </p:cBhvr>
                                    </p:animEffect>
                                    <p:anim calcmode="lin" valueType="num">
                                      <p:cBhvr>
                                        <p:cTn id="22" dur="1000" fill="hold"/>
                                        <p:tgtEl>
                                          <p:spTgt spid="24"/>
                                        </p:tgtEl>
                                        <p:attrNameLst>
                                          <p:attrName>ppt_x</p:attrName>
                                        </p:attrNameLst>
                                      </p:cBhvr>
                                      <p:tavLst>
                                        <p:tav tm="0">
                                          <p:val>
                                            <p:strVal val="#ppt_x"/>
                                          </p:val>
                                        </p:tav>
                                        <p:tav tm="100000">
                                          <p:val>
                                            <p:strVal val="#ppt_x"/>
                                          </p:val>
                                        </p:tav>
                                      </p:tavLst>
                                    </p:anim>
                                    <p:anim calcmode="lin" valueType="num">
                                      <p:cBhvr>
                                        <p:cTn id="23"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000"/>
                                        <p:tgtEl>
                                          <p:spTgt spid="3"/>
                                        </p:tgtEl>
                                      </p:cBhvr>
                                    </p:animEffect>
                                    <p:anim calcmode="lin" valueType="num">
                                      <p:cBhvr>
                                        <p:cTn id="29" dur="1000" fill="hold"/>
                                        <p:tgtEl>
                                          <p:spTgt spid="3"/>
                                        </p:tgtEl>
                                        <p:attrNameLst>
                                          <p:attrName>ppt_x</p:attrName>
                                        </p:attrNameLst>
                                      </p:cBhvr>
                                      <p:tavLst>
                                        <p:tav tm="0">
                                          <p:val>
                                            <p:strVal val="#ppt_x"/>
                                          </p:val>
                                        </p:tav>
                                        <p:tav tm="100000">
                                          <p:val>
                                            <p:strVal val="#ppt_x"/>
                                          </p:val>
                                        </p:tav>
                                      </p:tavLst>
                                    </p:anim>
                                    <p:anim calcmode="lin" valueType="num">
                                      <p:cBhvr>
                                        <p:cTn id="3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1000"/>
                                        <p:tgtEl>
                                          <p:spTgt spid="13"/>
                                        </p:tgtEl>
                                      </p:cBhvr>
                                    </p:animEffect>
                                    <p:anim calcmode="lin" valueType="num">
                                      <p:cBhvr>
                                        <p:cTn id="36" dur="1000" fill="hold"/>
                                        <p:tgtEl>
                                          <p:spTgt spid="13"/>
                                        </p:tgtEl>
                                        <p:attrNameLst>
                                          <p:attrName>ppt_x</p:attrName>
                                        </p:attrNameLst>
                                      </p:cBhvr>
                                      <p:tavLst>
                                        <p:tav tm="0">
                                          <p:val>
                                            <p:strVal val="#ppt_x"/>
                                          </p:val>
                                        </p:tav>
                                        <p:tav tm="100000">
                                          <p:val>
                                            <p:strVal val="#ppt_x"/>
                                          </p:val>
                                        </p:tav>
                                      </p:tavLst>
                                    </p:anim>
                                    <p:anim calcmode="lin" valueType="num">
                                      <p:cBhvr>
                                        <p:cTn id="3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1000"/>
                                        <p:tgtEl>
                                          <p:spTgt spid="22"/>
                                        </p:tgtEl>
                                      </p:cBhvr>
                                    </p:animEffect>
                                    <p:anim calcmode="lin" valueType="num">
                                      <p:cBhvr>
                                        <p:cTn id="43" dur="1000" fill="hold"/>
                                        <p:tgtEl>
                                          <p:spTgt spid="22"/>
                                        </p:tgtEl>
                                        <p:attrNameLst>
                                          <p:attrName>ppt_x</p:attrName>
                                        </p:attrNameLst>
                                      </p:cBhvr>
                                      <p:tavLst>
                                        <p:tav tm="0">
                                          <p:val>
                                            <p:strVal val="#ppt_x"/>
                                          </p:val>
                                        </p:tav>
                                        <p:tav tm="100000">
                                          <p:val>
                                            <p:strVal val="#ppt_x"/>
                                          </p:val>
                                        </p:tav>
                                      </p:tavLst>
                                    </p:anim>
                                    <p:anim calcmode="lin" valueType="num">
                                      <p:cBhvr>
                                        <p:cTn id="44"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fade">
                                      <p:cBhvr>
                                        <p:cTn id="49" dur="1000"/>
                                        <p:tgtEl>
                                          <p:spTgt spid="4"/>
                                        </p:tgtEl>
                                      </p:cBhvr>
                                    </p:animEffect>
                                    <p:anim calcmode="lin" valueType="num">
                                      <p:cBhvr>
                                        <p:cTn id="50" dur="1000" fill="hold"/>
                                        <p:tgtEl>
                                          <p:spTgt spid="4"/>
                                        </p:tgtEl>
                                        <p:attrNameLst>
                                          <p:attrName>ppt_x</p:attrName>
                                        </p:attrNameLst>
                                      </p:cBhvr>
                                      <p:tavLst>
                                        <p:tav tm="0">
                                          <p:val>
                                            <p:strVal val="#ppt_x"/>
                                          </p:val>
                                        </p:tav>
                                        <p:tav tm="100000">
                                          <p:val>
                                            <p:strVal val="#ppt_x"/>
                                          </p:val>
                                        </p:tav>
                                      </p:tavLst>
                                    </p:anim>
                                    <p:anim calcmode="lin" valueType="num">
                                      <p:cBhvr>
                                        <p:cTn id="5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1000"/>
                                        <p:tgtEl>
                                          <p:spTgt spid="14"/>
                                        </p:tgtEl>
                                      </p:cBhvr>
                                    </p:animEffect>
                                    <p:anim calcmode="lin" valueType="num">
                                      <p:cBhvr>
                                        <p:cTn id="57" dur="1000" fill="hold"/>
                                        <p:tgtEl>
                                          <p:spTgt spid="14"/>
                                        </p:tgtEl>
                                        <p:attrNameLst>
                                          <p:attrName>ppt_x</p:attrName>
                                        </p:attrNameLst>
                                      </p:cBhvr>
                                      <p:tavLst>
                                        <p:tav tm="0">
                                          <p:val>
                                            <p:strVal val="#ppt_x"/>
                                          </p:val>
                                        </p:tav>
                                        <p:tav tm="100000">
                                          <p:val>
                                            <p:strVal val="#ppt_x"/>
                                          </p:val>
                                        </p:tav>
                                      </p:tavLst>
                                    </p:anim>
                                    <p:anim calcmode="lin" valueType="num">
                                      <p:cBhvr>
                                        <p:cTn id="58"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1000"/>
                                        <p:tgtEl>
                                          <p:spTgt spid="26"/>
                                        </p:tgtEl>
                                      </p:cBhvr>
                                    </p:animEffect>
                                    <p:anim calcmode="lin" valueType="num">
                                      <p:cBhvr>
                                        <p:cTn id="64" dur="1000" fill="hold"/>
                                        <p:tgtEl>
                                          <p:spTgt spid="26"/>
                                        </p:tgtEl>
                                        <p:attrNameLst>
                                          <p:attrName>ppt_x</p:attrName>
                                        </p:attrNameLst>
                                      </p:cBhvr>
                                      <p:tavLst>
                                        <p:tav tm="0">
                                          <p:val>
                                            <p:strVal val="#ppt_x"/>
                                          </p:val>
                                        </p:tav>
                                        <p:tav tm="100000">
                                          <p:val>
                                            <p:strVal val="#ppt_x"/>
                                          </p:val>
                                        </p:tav>
                                      </p:tavLst>
                                    </p:anim>
                                    <p:anim calcmode="lin" valueType="num">
                                      <p:cBhvr>
                                        <p:cTn id="65"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5"/>
                                        </p:tgtEl>
                                        <p:attrNameLst>
                                          <p:attrName>style.visibility</p:attrName>
                                        </p:attrNameLst>
                                      </p:cBhvr>
                                      <p:to>
                                        <p:strVal val="visible"/>
                                      </p:to>
                                    </p:set>
                                    <p:animEffect transition="in" filter="fade">
                                      <p:cBhvr>
                                        <p:cTn id="70" dur="1000"/>
                                        <p:tgtEl>
                                          <p:spTgt spid="5"/>
                                        </p:tgtEl>
                                      </p:cBhvr>
                                    </p:animEffect>
                                    <p:anim calcmode="lin" valueType="num">
                                      <p:cBhvr>
                                        <p:cTn id="71" dur="1000" fill="hold"/>
                                        <p:tgtEl>
                                          <p:spTgt spid="5"/>
                                        </p:tgtEl>
                                        <p:attrNameLst>
                                          <p:attrName>ppt_x</p:attrName>
                                        </p:attrNameLst>
                                      </p:cBhvr>
                                      <p:tavLst>
                                        <p:tav tm="0">
                                          <p:val>
                                            <p:strVal val="#ppt_x"/>
                                          </p:val>
                                        </p:tav>
                                        <p:tav tm="100000">
                                          <p:val>
                                            <p:strVal val="#ppt_x"/>
                                          </p:val>
                                        </p:tav>
                                      </p:tavLst>
                                    </p:anim>
                                    <p:anim calcmode="lin" valueType="num">
                                      <p:cBhvr>
                                        <p:cTn id="7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5"/>
                                        </p:tgtEl>
                                        <p:attrNameLst>
                                          <p:attrName>style.visibility</p:attrName>
                                        </p:attrNameLst>
                                      </p:cBhvr>
                                      <p:to>
                                        <p:strVal val="visible"/>
                                      </p:to>
                                    </p:set>
                                    <p:animEffect transition="in" filter="fade">
                                      <p:cBhvr>
                                        <p:cTn id="77" dur="1000"/>
                                        <p:tgtEl>
                                          <p:spTgt spid="15"/>
                                        </p:tgtEl>
                                      </p:cBhvr>
                                    </p:animEffect>
                                    <p:anim calcmode="lin" valueType="num">
                                      <p:cBhvr>
                                        <p:cTn id="78" dur="1000" fill="hold"/>
                                        <p:tgtEl>
                                          <p:spTgt spid="15"/>
                                        </p:tgtEl>
                                        <p:attrNameLst>
                                          <p:attrName>ppt_x</p:attrName>
                                        </p:attrNameLst>
                                      </p:cBhvr>
                                      <p:tavLst>
                                        <p:tav tm="0">
                                          <p:val>
                                            <p:strVal val="#ppt_x"/>
                                          </p:val>
                                        </p:tav>
                                        <p:tav tm="100000">
                                          <p:val>
                                            <p:strVal val="#ppt_x"/>
                                          </p:val>
                                        </p:tav>
                                      </p:tavLst>
                                    </p:anim>
                                    <p:anim calcmode="lin" valueType="num">
                                      <p:cBhvr>
                                        <p:cTn id="7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1000"/>
                                        <p:tgtEl>
                                          <p:spTgt spid="28"/>
                                        </p:tgtEl>
                                      </p:cBhvr>
                                    </p:animEffect>
                                    <p:anim calcmode="lin" valueType="num">
                                      <p:cBhvr>
                                        <p:cTn id="85" dur="1000" fill="hold"/>
                                        <p:tgtEl>
                                          <p:spTgt spid="28"/>
                                        </p:tgtEl>
                                        <p:attrNameLst>
                                          <p:attrName>ppt_x</p:attrName>
                                        </p:attrNameLst>
                                      </p:cBhvr>
                                      <p:tavLst>
                                        <p:tav tm="0">
                                          <p:val>
                                            <p:strVal val="#ppt_x"/>
                                          </p:val>
                                        </p:tav>
                                        <p:tav tm="100000">
                                          <p:val>
                                            <p:strVal val="#ppt_x"/>
                                          </p:val>
                                        </p:tav>
                                      </p:tavLst>
                                    </p:anim>
                                    <p:anim calcmode="lin" valueType="num">
                                      <p:cBhvr>
                                        <p:cTn id="86"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6"/>
                                        </p:tgtEl>
                                        <p:attrNameLst>
                                          <p:attrName>style.visibility</p:attrName>
                                        </p:attrNameLst>
                                      </p:cBhvr>
                                      <p:to>
                                        <p:strVal val="visible"/>
                                      </p:to>
                                    </p:set>
                                    <p:animEffect transition="in" filter="fade">
                                      <p:cBhvr>
                                        <p:cTn id="91" dur="1000"/>
                                        <p:tgtEl>
                                          <p:spTgt spid="6"/>
                                        </p:tgtEl>
                                      </p:cBhvr>
                                    </p:animEffect>
                                    <p:anim calcmode="lin" valueType="num">
                                      <p:cBhvr>
                                        <p:cTn id="92" dur="1000" fill="hold"/>
                                        <p:tgtEl>
                                          <p:spTgt spid="6"/>
                                        </p:tgtEl>
                                        <p:attrNameLst>
                                          <p:attrName>ppt_x</p:attrName>
                                        </p:attrNameLst>
                                      </p:cBhvr>
                                      <p:tavLst>
                                        <p:tav tm="0">
                                          <p:val>
                                            <p:strVal val="#ppt_x"/>
                                          </p:val>
                                        </p:tav>
                                        <p:tav tm="100000">
                                          <p:val>
                                            <p:strVal val="#ppt_x"/>
                                          </p:val>
                                        </p:tav>
                                      </p:tavLst>
                                    </p:anim>
                                    <p:anim calcmode="lin" valueType="num">
                                      <p:cBhvr>
                                        <p:cTn id="9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1000"/>
                                        <p:tgtEl>
                                          <p:spTgt spid="16"/>
                                        </p:tgtEl>
                                      </p:cBhvr>
                                    </p:animEffect>
                                    <p:anim calcmode="lin" valueType="num">
                                      <p:cBhvr>
                                        <p:cTn id="99" dur="1000" fill="hold"/>
                                        <p:tgtEl>
                                          <p:spTgt spid="16"/>
                                        </p:tgtEl>
                                        <p:attrNameLst>
                                          <p:attrName>ppt_x</p:attrName>
                                        </p:attrNameLst>
                                      </p:cBhvr>
                                      <p:tavLst>
                                        <p:tav tm="0">
                                          <p:val>
                                            <p:strVal val="#ppt_x"/>
                                          </p:val>
                                        </p:tav>
                                        <p:tav tm="100000">
                                          <p:val>
                                            <p:strVal val="#ppt_x"/>
                                          </p:val>
                                        </p:tav>
                                      </p:tavLst>
                                    </p:anim>
                                    <p:anim calcmode="lin" valueType="num">
                                      <p:cBhvr>
                                        <p:cTn id="10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1000"/>
                                        <p:tgtEl>
                                          <p:spTgt spid="38"/>
                                        </p:tgtEl>
                                      </p:cBhvr>
                                    </p:animEffect>
                                    <p:anim calcmode="lin" valueType="num">
                                      <p:cBhvr>
                                        <p:cTn id="106" dur="1000" fill="hold"/>
                                        <p:tgtEl>
                                          <p:spTgt spid="38"/>
                                        </p:tgtEl>
                                        <p:attrNameLst>
                                          <p:attrName>ppt_x</p:attrName>
                                        </p:attrNameLst>
                                      </p:cBhvr>
                                      <p:tavLst>
                                        <p:tav tm="0">
                                          <p:val>
                                            <p:strVal val="#ppt_x"/>
                                          </p:val>
                                        </p:tav>
                                        <p:tav tm="100000">
                                          <p:val>
                                            <p:strVal val="#ppt_x"/>
                                          </p:val>
                                        </p:tav>
                                      </p:tavLst>
                                    </p:anim>
                                    <p:anim calcmode="lin" valueType="num">
                                      <p:cBhvr>
                                        <p:cTn id="107"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7"/>
                                        </p:tgtEl>
                                        <p:attrNameLst>
                                          <p:attrName>style.visibility</p:attrName>
                                        </p:attrNameLst>
                                      </p:cBhvr>
                                      <p:to>
                                        <p:strVal val="visible"/>
                                      </p:to>
                                    </p:set>
                                    <p:animEffect transition="in" filter="fade">
                                      <p:cBhvr>
                                        <p:cTn id="112" dur="1000"/>
                                        <p:tgtEl>
                                          <p:spTgt spid="7"/>
                                        </p:tgtEl>
                                      </p:cBhvr>
                                    </p:animEffect>
                                    <p:anim calcmode="lin" valueType="num">
                                      <p:cBhvr>
                                        <p:cTn id="113" dur="1000" fill="hold"/>
                                        <p:tgtEl>
                                          <p:spTgt spid="7"/>
                                        </p:tgtEl>
                                        <p:attrNameLst>
                                          <p:attrName>ppt_x</p:attrName>
                                        </p:attrNameLst>
                                      </p:cBhvr>
                                      <p:tavLst>
                                        <p:tav tm="0">
                                          <p:val>
                                            <p:strVal val="#ppt_x"/>
                                          </p:val>
                                        </p:tav>
                                        <p:tav tm="100000">
                                          <p:val>
                                            <p:strVal val="#ppt_x"/>
                                          </p:val>
                                        </p:tav>
                                      </p:tavLst>
                                    </p:anim>
                                    <p:anim calcmode="lin" valueType="num">
                                      <p:cBhvr>
                                        <p:cTn id="1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17"/>
                                        </p:tgtEl>
                                        <p:attrNameLst>
                                          <p:attrName>style.visibility</p:attrName>
                                        </p:attrNameLst>
                                      </p:cBhvr>
                                      <p:to>
                                        <p:strVal val="visible"/>
                                      </p:to>
                                    </p:set>
                                    <p:animEffect transition="in" filter="fade">
                                      <p:cBhvr>
                                        <p:cTn id="119" dur="1000"/>
                                        <p:tgtEl>
                                          <p:spTgt spid="17"/>
                                        </p:tgtEl>
                                      </p:cBhvr>
                                    </p:animEffect>
                                    <p:anim calcmode="lin" valueType="num">
                                      <p:cBhvr>
                                        <p:cTn id="120" dur="1000" fill="hold"/>
                                        <p:tgtEl>
                                          <p:spTgt spid="17"/>
                                        </p:tgtEl>
                                        <p:attrNameLst>
                                          <p:attrName>ppt_x</p:attrName>
                                        </p:attrNameLst>
                                      </p:cBhvr>
                                      <p:tavLst>
                                        <p:tav tm="0">
                                          <p:val>
                                            <p:strVal val="#ppt_x"/>
                                          </p:val>
                                        </p:tav>
                                        <p:tav tm="100000">
                                          <p:val>
                                            <p:strVal val="#ppt_x"/>
                                          </p:val>
                                        </p:tav>
                                      </p:tavLst>
                                    </p:anim>
                                    <p:anim calcmode="lin" valueType="num">
                                      <p:cBhvr>
                                        <p:cTn id="12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nodeType="clickEffect">
                                  <p:stCondLst>
                                    <p:cond delay="0"/>
                                  </p:stCondLst>
                                  <p:childTnLst>
                                    <p:set>
                                      <p:cBhvr>
                                        <p:cTn id="125" dur="1" fill="hold">
                                          <p:stCondLst>
                                            <p:cond delay="0"/>
                                          </p:stCondLst>
                                        </p:cTn>
                                        <p:tgtEl>
                                          <p:spTgt spid="30"/>
                                        </p:tgtEl>
                                        <p:attrNameLst>
                                          <p:attrName>style.visibility</p:attrName>
                                        </p:attrNameLst>
                                      </p:cBhvr>
                                      <p:to>
                                        <p:strVal val="visible"/>
                                      </p:to>
                                    </p:set>
                                    <p:animEffect transition="in" filter="fade">
                                      <p:cBhvr>
                                        <p:cTn id="126" dur="1000"/>
                                        <p:tgtEl>
                                          <p:spTgt spid="30"/>
                                        </p:tgtEl>
                                      </p:cBhvr>
                                    </p:animEffect>
                                    <p:anim calcmode="lin" valueType="num">
                                      <p:cBhvr>
                                        <p:cTn id="127" dur="1000" fill="hold"/>
                                        <p:tgtEl>
                                          <p:spTgt spid="30"/>
                                        </p:tgtEl>
                                        <p:attrNameLst>
                                          <p:attrName>ppt_x</p:attrName>
                                        </p:attrNameLst>
                                      </p:cBhvr>
                                      <p:tavLst>
                                        <p:tav tm="0">
                                          <p:val>
                                            <p:strVal val="#ppt_x"/>
                                          </p:val>
                                        </p:tav>
                                        <p:tav tm="100000">
                                          <p:val>
                                            <p:strVal val="#ppt_x"/>
                                          </p:val>
                                        </p:tav>
                                      </p:tavLst>
                                    </p:anim>
                                    <p:anim calcmode="lin" valueType="num">
                                      <p:cBhvr>
                                        <p:cTn id="128"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grpId="0" nodeType="clickEffect">
                                  <p:stCondLst>
                                    <p:cond delay="0"/>
                                  </p:stCondLst>
                                  <p:childTnLst>
                                    <p:set>
                                      <p:cBhvr>
                                        <p:cTn id="132" dur="1" fill="hold">
                                          <p:stCondLst>
                                            <p:cond delay="0"/>
                                          </p:stCondLst>
                                        </p:cTn>
                                        <p:tgtEl>
                                          <p:spTgt spid="8"/>
                                        </p:tgtEl>
                                        <p:attrNameLst>
                                          <p:attrName>style.visibility</p:attrName>
                                        </p:attrNameLst>
                                      </p:cBhvr>
                                      <p:to>
                                        <p:strVal val="visible"/>
                                      </p:to>
                                    </p:set>
                                    <p:animEffect transition="in" filter="fade">
                                      <p:cBhvr>
                                        <p:cTn id="133" dur="1000"/>
                                        <p:tgtEl>
                                          <p:spTgt spid="8"/>
                                        </p:tgtEl>
                                      </p:cBhvr>
                                    </p:animEffect>
                                    <p:anim calcmode="lin" valueType="num">
                                      <p:cBhvr>
                                        <p:cTn id="134" dur="1000" fill="hold"/>
                                        <p:tgtEl>
                                          <p:spTgt spid="8"/>
                                        </p:tgtEl>
                                        <p:attrNameLst>
                                          <p:attrName>ppt_x</p:attrName>
                                        </p:attrNameLst>
                                      </p:cBhvr>
                                      <p:tavLst>
                                        <p:tav tm="0">
                                          <p:val>
                                            <p:strVal val="#ppt_x"/>
                                          </p:val>
                                        </p:tav>
                                        <p:tav tm="100000">
                                          <p:val>
                                            <p:strVal val="#ppt_x"/>
                                          </p:val>
                                        </p:tav>
                                      </p:tavLst>
                                    </p:anim>
                                    <p:anim calcmode="lin" valueType="num">
                                      <p:cBhvr>
                                        <p:cTn id="13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18"/>
                                        </p:tgtEl>
                                        <p:attrNameLst>
                                          <p:attrName>style.visibility</p:attrName>
                                        </p:attrNameLst>
                                      </p:cBhvr>
                                      <p:to>
                                        <p:strVal val="visible"/>
                                      </p:to>
                                    </p:set>
                                    <p:animEffect transition="in" filter="fade">
                                      <p:cBhvr>
                                        <p:cTn id="140" dur="1000"/>
                                        <p:tgtEl>
                                          <p:spTgt spid="18"/>
                                        </p:tgtEl>
                                      </p:cBhvr>
                                    </p:animEffect>
                                    <p:anim calcmode="lin" valueType="num">
                                      <p:cBhvr>
                                        <p:cTn id="141" dur="1000" fill="hold"/>
                                        <p:tgtEl>
                                          <p:spTgt spid="18"/>
                                        </p:tgtEl>
                                        <p:attrNameLst>
                                          <p:attrName>ppt_x</p:attrName>
                                        </p:attrNameLst>
                                      </p:cBhvr>
                                      <p:tavLst>
                                        <p:tav tm="0">
                                          <p:val>
                                            <p:strVal val="#ppt_x"/>
                                          </p:val>
                                        </p:tav>
                                        <p:tav tm="100000">
                                          <p:val>
                                            <p:strVal val="#ppt_x"/>
                                          </p:val>
                                        </p:tav>
                                      </p:tavLst>
                                    </p:anim>
                                    <p:anim calcmode="lin" valueType="num">
                                      <p:cBhvr>
                                        <p:cTn id="142"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43" fill="hold">
                      <p:stCondLst>
                        <p:cond delay="indefinite"/>
                      </p:stCondLst>
                      <p:childTnLst>
                        <p:par>
                          <p:cTn id="144" fill="hold">
                            <p:stCondLst>
                              <p:cond delay="0"/>
                            </p:stCondLst>
                            <p:childTnLst>
                              <p:par>
                                <p:cTn id="145" presetID="42" presetClass="entr" presetSubtype="0" fill="hold" nodeType="clickEffect">
                                  <p:stCondLst>
                                    <p:cond delay="0"/>
                                  </p:stCondLst>
                                  <p:childTnLst>
                                    <p:set>
                                      <p:cBhvr>
                                        <p:cTn id="146" dur="1" fill="hold">
                                          <p:stCondLst>
                                            <p:cond delay="0"/>
                                          </p:stCondLst>
                                        </p:cTn>
                                        <p:tgtEl>
                                          <p:spTgt spid="32"/>
                                        </p:tgtEl>
                                        <p:attrNameLst>
                                          <p:attrName>style.visibility</p:attrName>
                                        </p:attrNameLst>
                                      </p:cBhvr>
                                      <p:to>
                                        <p:strVal val="visible"/>
                                      </p:to>
                                    </p:set>
                                    <p:animEffect transition="in" filter="fade">
                                      <p:cBhvr>
                                        <p:cTn id="147" dur="1000"/>
                                        <p:tgtEl>
                                          <p:spTgt spid="32"/>
                                        </p:tgtEl>
                                      </p:cBhvr>
                                    </p:animEffect>
                                    <p:anim calcmode="lin" valueType="num">
                                      <p:cBhvr>
                                        <p:cTn id="148" dur="1000" fill="hold"/>
                                        <p:tgtEl>
                                          <p:spTgt spid="32"/>
                                        </p:tgtEl>
                                        <p:attrNameLst>
                                          <p:attrName>ppt_x</p:attrName>
                                        </p:attrNameLst>
                                      </p:cBhvr>
                                      <p:tavLst>
                                        <p:tav tm="0">
                                          <p:val>
                                            <p:strVal val="#ppt_x"/>
                                          </p:val>
                                        </p:tav>
                                        <p:tav tm="100000">
                                          <p:val>
                                            <p:strVal val="#ppt_x"/>
                                          </p:val>
                                        </p:tav>
                                      </p:tavLst>
                                    </p:anim>
                                    <p:anim calcmode="lin" valueType="num">
                                      <p:cBhvr>
                                        <p:cTn id="149"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42" presetClass="entr" presetSubtype="0" fill="hold" grpId="0" nodeType="clickEffect">
                                  <p:stCondLst>
                                    <p:cond delay="0"/>
                                  </p:stCondLst>
                                  <p:childTnLst>
                                    <p:set>
                                      <p:cBhvr>
                                        <p:cTn id="153" dur="1" fill="hold">
                                          <p:stCondLst>
                                            <p:cond delay="0"/>
                                          </p:stCondLst>
                                        </p:cTn>
                                        <p:tgtEl>
                                          <p:spTgt spid="9"/>
                                        </p:tgtEl>
                                        <p:attrNameLst>
                                          <p:attrName>style.visibility</p:attrName>
                                        </p:attrNameLst>
                                      </p:cBhvr>
                                      <p:to>
                                        <p:strVal val="visible"/>
                                      </p:to>
                                    </p:set>
                                    <p:animEffect transition="in" filter="fade">
                                      <p:cBhvr>
                                        <p:cTn id="154" dur="1000"/>
                                        <p:tgtEl>
                                          <p:spTgt spid="9"/>
                                        </p:tgtEl>
                                      </p:cBhvr>
                                    </p:animEffect>
                                    <p:anim calcmode="lin" valueType="num">
                                      <p:cBhvr>
                                        <p:cTn id="155" dur="1000" fill="hold"/>
                                        <p:tgtEl>
                                          <p:spTgt spid="9"/>
                                        </p:tgtEl>
                                        <p:attrNameLst>
                                          <p:attrName>ppt_x</p:attrName>
                                        </p:attrNameLst>
                                      </p:cBhvr>
                                      <p:tavLst>
                                        <p:tav tm="0">
                                          <p:val>
                                            <p:strVal val="#ppt_x"/>
                                          </p:val>
                                        </p:tav>
                                        <p:tav tm="100000">
                                          <p:val>
                                            <p:strVal val="#ppt_x"/>
                                          </p:val>
                                        </p:tav>
                                      </p:tavLst>
                                    </p:anim>
                                    <p:anim calcmode="lin" valueType="num">
                                      <p:cBhvr>
                                        <p:cTn id="15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presetID="42" presetClass="entr" presetSubtype="0" fill="hold" grpId="0" nodeType="clickEffect">
                                  <p:stCondLst>
                                    <p:cond delay="0"/>
                                  </p:stCondLst>
                                  <p:childTnLst>
                                    <p:set>
                                      <p:cBhvr>
                                        <p:cTn id="160" dur="1" fill="hold">
                                          <p:stCondLst>
                                            <p:cond delay="0"/>
                                          </p:stCondLst>
                                        </p:cTn>
                                        <p:tgtEl>
                                          <p:spTgt spid="19"/>
                                        </p:tgtEl>
                                        <p:attrNameLst>
                                          <p:attrName>style.visibility</p:attrName>
                                        </p:attrNameLst>
                                      </p:cBhvr>
                                      <p:to>
                                        <p:strVal val="visible"/>
                                      </p:to>
                                    </p:set>
                                    <p:animEffect transition="in" filter="fade">
                                      <p:cBhvr>
                                        <p:cTn id="161" dur="1000"/>
                                        <p:tgtEl>
                                          <p:spTgt spid="19"/>
                                        </p:tgtEl>
                                      </p:cBhvr>
                                    </p:animEffect>
                                    <p:anim calcmode="lin" valueType="num">
                                      <p:cBhvr>
                                        <p:cTn id="162" dur="1000" fill="hold"/>
                                        <p:tgtEl>
                                          <p:spTgt spid="19"/>
                                        </p:tgtEl>
                                        <p:attrNameLst>
                                          <p:attrName>ppt_x</p:attrName>
                                        </p:attrNameLst>
                                      </p:cBhvr>
                                      <p:tavLst>
                                        <p:tav tm="0">
                                          <p:val>
                                            <p:strVal val="#ppt_x"/>
                                          </p:val>
                                        </p:tav>
                                        <p:tav tm="100000">
                                          <p:val>
                                            <p:strVal val="#ppt_x"/>
                                          </p:val>
                                        </p:tav>
                                      </p:tavLst>
                                    </p:anim>
                                    <p:anim calcmode="lin" valueType="num">
                                      <p:cBhvr>
                                        <p:cTn id="163"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64" fill="hold">
                      <p:stCondLst>
                        <p:cond delay="indefinite"/>
                      </p:stCondLst>
                      <p:childTnLst>
                        <p:par>
                          <p:cTn id="165" fill="hold">
                            <p:stCondLst>
                              <p:cond delay="0"/>
                            </p:stCondLst>
                            <p:childTnLst>
                              <p:par>
                                <p:cTn id="166" presetID="42" presetClass="entr" presetSubtype="0" fill="hold" nodeType="clickEffect">
                                  <p:stCondLst>
                                    <p:cond delay="0"/>
                                  </p:stCondLst>
                                  <p:childTnLst>
                                    <p:set>
                                      <p:cBhvr>
                                        <p:cTn id="167" dur="1" fill="hold">
                                          <p:stCondLst>
                                            <p:cond delay="0"/>
                                          </p:stCondLst>
                                        </p:cTn>
                                        <p:tgtEl>
                                          <p:spTgt spid="34"/>
                                        </p:tgtEl>
                                        <p:attrNameLst>
                                          <p:attrName>style.visibility</p:attrName>
                                        </p:attrNameLst>
                                      </p:cBhvr>
                                      <p:to>
                                        <p:strVal val="visible"/>
                                      </p:to>
                                    </p:set>
                                    <p:animEffect transition="in" filter="fade">
                                      <p:cBhvr>
                                        <p:cTn id="168" dur="1000"/>
                                        <p:tgtEl>
                                          <p:spTgt spid="34"/>
                                        </p:tgtEl>
                                      </p:cBhvr>
                                    </p:animEffect>
                                    <p:anim calcmode="lin" valueType="num">
                                      <p:cBhvr>
                                        <p:cTn id="169" dur="1000" fill="hold"/>
                                        <p:tgtEl>
                                          <p:spTgt spid="34"/>
                                        </p:tgtEl>
                                        <p:attrNameLst>
                                          <p:attrName>ppt_x</p:attrName>
                                        </p:attrNameLst>
                                      </p:cBhvr>
                                      <p:tavLst>
                                        <p:tav tm="0">
                                          <p:val>
                                            <p:strVal val="#ppt_x"/>
                                          </p:val>
                                        </p:tav>
                                        <p:tav tm="100000">
                                          <p:val>
                                            <p:strVal val="#ppt_x"/>
                                          </p:val>
                                        </p:tav>
                                      </p:tavLst>
                                    </p:anim>
                                    <p:anim calcmode="lin" valueType="num">
                                      <p:cBhvr>
                                        <p:cTn id="170"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171" fill="hold">
                      <p:stCondLst>
                        <p:cond delay="indefinite"/>
                      </p:stCondLst>
                      <p:childTnLst>
                        <p:par>
                          <p:cTn id="172" fill="hold">
                            <p:stCondLst>
                              <p:cond delay="0"/>
                            </p:stCondLst>
                            <p:childTnLst>
                              <p:par>
                                <p:cTn id="173" presetID="42" presetClass="entr" presetSubtype="0" fill="hold" grpId="0" nodeType="clickEffect">
                                  <p:stCondLst>
                                    <p:cond delay="0"/>
                                  </p:stCondLst>
                                  <p:childTnLst>
                                    <p:set>
                                      <p:cBhvr>
                                        <p:cTn id="174" dur="1" fill="hold">
                                          <p:stCondLst>
                                            <p:cond delay="0"/>
                                          </p:stCondLst>
                                        </p:cTn>
                                        <p:tgtEl>
                                          <p:spTgt spid="10"/>
                                        </p:tgtEl>
                                        <p:attrNameLst>
                                          <p:attrName>style.visibility</p:attrName>
                                        </p:attrNameLst>
                                      </p:cBhvr>
                                      <p:to>
                                        <p:strVal val="visible"/>
                                      </p:to>
                                    </p:set>
                                    <p:animEffect transition="in" filter="fade">
                                      <p:cBhvr>
                                        <p:cTn id="175" dur="1000"/>
                                        <p:tgtEl>
                                          <p:spTgt spid="10"/>
                                        </p:tgtEl>
                                      </p:cBhvr>
                                    </p:animEffect>
                                    <p:anim calcmode="lin" valueType="num">
                                      <p:cBhvr>
                                        <p:cTn id="176" dur="1000" fill="hold"/>
                                        <p:tgtEl>
                                          <p:spTgt spid="10"/>
                                        </p:tgtEl>
                                        <p:attrNameLst>
                                          <p:attrName>ppt_x</p:attrName>
                                        </p:attrNameLst>
                                      </p:cBhvr>
                                      <p:tavLst>
                                        <p:tav tm="0">
                                          <p:val>
                                            <p:strVal val="#ppt_x"/>
                                          </p:val>
                                        </p:tav>
                                        <p:tav tm="100000">
                                          <p:val>
                                            <p:strVal val="#ppt_x"/>
                                          </p:val>
                                        </p:tav>
                                      </p:tavLst>
                                    </p:anim>
                                    <p:anim calcmode="lin" valueType="num">
                                      <p:cBhvr>
                                        <p:cTn id="17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8" fill="hold">
                      <p:stCondLst>
                        <p:cond delay="indefinite"/>
                      </p:stCondLst>
                      <p:childTnLst>
                        <p:par>
                          <p:cTn id="179" fill="hold">
                            <p:stCondLst>
                              <p:cond delay="0"/>
                            </p:stCondLst>
                            <p:childTnLst>
                              <p:par>
                                <p:cTn id="180" presetID="42" presetClass="entr" presetSubtype="0" fill="hold" grpId="0" nodeType="clickEffect">
                                  <p:stCondLst>
                                    <p:cond delay="0"/>
                                  </p:stCondLst>
                                  <p:childTnLst>
                                    <p:set>
                                      <p:cBhvr>
                                        <p:cTn id="181" dur="1" fill="hold">
                                          <p:stCondLst>
                                            <p:cond delay="0"/>
                                          </p:stCondLst>
                                        </p:cTn>
                                        <p:tgtEl>
                                          <p:spTgt spid="20"/>
                                        </p:tgtEl>
                                        <p:attrNameLst>
                                          <p:attrName>style.visibility</p:attrName>
                                        </p:attrNameLst>
                                      </p:cBhvr>
                                      <p:to>
                                        <p:strVal val="visible"/>
                                      </p:to>
                                    </p:set>
                                    <p:animEffect transition="in" filter="fade">
                                      <p:cBhvr>
                                        <p:cTn id="182" dur="1000"/>
                                        <p:tgtEl>
                                          <p:spTgt spid="20"/>
                                        </p:tgtEl>
                                      </p:cBhvr>
                                    </p:animEffect>
                                    <p:anim calcmode="lin" valueType="num">
                                      <p:cBhvr>
                                        <p:cTn id="183" dur="1000" fill="hold"/>
                                        <p:tgtEl>
                                          <p:spTgt spid="20"/>
                                        </p:tgtEl>
                                        <p:attrNameLst>
                                          <p:attrName>ppt_x</p:attrName>
                                        </p:attrNameLst>
                                      </p:cBhvr>
                                      <p:tavLst>
                                        <p:tav tm="0">
                                          <p:val>
                                            <p:strVal val="#ppt_x"/>
                                          </p:val>
                                        </p:tav>
                                        <p:tav tm="100000">
                                          <p:val>
                                            <p:strVal val="#ppt_x"/>
                                          </p:val>
                                        </p:tav>
                                      </p:tavLst>
                                    </p:anim>
                                    <p:anim calcmode="lin" valueType="num">
                                      <p:cBhvr>
                                        <p:cTn id="184"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3" name="TextBox 2"/>
          <p:cNvSpPr txBox="1"/>
          <p:nvPr/>
        </p:nvSpPr>
        <p:spPr>
          <a:xfrm>
            <a:off x="382137" y="272955"/>
            <a:ext cx="7478973" cy="461665"/>
          </a:xfrm>
          <a:prstGeom prst="rect">
            <a:avLst/>
          </a:prstGeom>
          <a:noFill/>
        </p:spPr>
        <p:txBody>
          <a:bodyPr wrap="square" rtlCol="0">
            <a:spAutoFit/>
          </a:bodyPr>
          <a:lstStyle/>
          <a:p>
            <a:r>
              <a:rPr lang="en-IN" sz="2400" b="1" dirty="0"/>
              <a:t>Basis of Workmen compensation Settlement</a:t>
            </a:r>
          </a:p>
        </p:txBody>
      </p:sp>
      <p:sp>
        <p:nvSpPr>
          <p:cNvPr id="4" name="TextBox 3"/>
          <p:cNvSpPr txBox="1"/>
          <p:nvPr/>
        </p:nvSpPr>
        <p:spPr>
          <a:xfrm>
            <a:off x="1009934" y="1392072"/>
            <a:ext cx="8666329" cy="2862322"/>
          </a:xfrm>
          <a:prstGeom prst="rect">
            <a:avLst/>
          </a:prstGeom>
          <a:noFill/>
        </p:spPr>
        <p:txBody>
          <a:bodyPr wrap="square" rtlCol="0">
            <a:spAutoFit/>
          </a:bodyPr>
          <a:lstStyle/>
          <a:p>
            <a:pPr marL="285750" indent="-285750">
              <a:buFont typeface="Arial" panose="020B0604020202020204" pitchFamily="34" charset="0"/>
              <a:buChar char="•"/>
            </a:pPr>
            <a:r>
              <a:rPr lang="en-IN" dirty="0"/>
              <a:t>Age</a:t>
            </a:r>
          </a:p>
          <a:p>
            <a:pPr marL="285750" indent="-285750">
              <a:buFont typeface="Arial" panose="020B0604020202020204" pitchFamily="34" charset="0"/>
              <a:buChar char="•"/>
            </a:pPr>
            <a:r>
              <a:rPr lang="en-IN" dirty="0"/>
              <a:t>Occupation</a:t>
            </a:r>
          </a:p>
          <a:p>
            <a:pPr marL="285750" indent="-285750">
              <a:buFont typeface="Arial" panose="020B0604020202020204" pitchFamily="34" charset="0"/>
              <a:buChar char="•"/>
            </a:pPr>
            <a:r>
              <a:rPr lang="en-IN" dirty="0"/>
              <a:t>Future earning potential</a:t>
            </a:r>
          </a:p>
          <a:p>
            <a:pPr marL="285750" indent="-285750">
              <a:buFont typeface="Arial" panose="020B0604020202020204" pitchFamily="34" charset="0"/>
              <a:buChar char="•"/>
            </a:pPr>
            <a:r>
              <a:rPr lang="en-IN" dirty="0"/>
              <a:t>AMA (American Medical Association)guidelines to Impairment</a:t>
            </a:r>
          </a:p>
          <a:p>
            <a:pPr marL="285750" indent="-285750">
              <a:buFont typeface="Arial" panose="020B0604020202020204" pitchFamily="34" charset="0"/>
              <a:buChar char="•"/>
            </a:pPr>
            <a:r>
              <a:rPr lang="en-IN" dirty="0"/>
              <a:t>Testimony of the injured worker as how the injury has affected his life &amp; Medical evidence.</a:t>
            </a:r>
          </a:p>
          <a:p>
            <a:pPr marL="285750" indent="-285750">
              <a:buFont typeface="Arial" panose="020B0604020202020204" pitchFamily="34" charset="0"/>
              <a:buChar char="•"/>
            </a:pPr>
            <a:r>
              <a:rPr lang="en-IN" dirty="0"/>
              <a:t>Time of Work loss?</a:t>
            </a:r>
          </a:p>
          <a:p>
            <a:pPr marL="285750" indent="-285750">
              <a:buFont typeface="Arial" panose="020B0604020202020204" pitchFamily="34" charset="0"/>
              <a:buChar char="•"/>
            </a:pPr>
            <a:r>
              <a:rPr lang="en-IN" dirty="0"/>
              <a:t>What parts of body temp/ Perm?</a:t>
            </a:r>
          </a:p>
          <a:p>
            <a:pPr marL="285750" indent="-285750">
              <a:buFont typeface="Arial" panose="020B0604020202020204" pitchFamily="34" charset="0"/>
              <a:buChar char="•"/>
            </a:pPr>
            <a:r>
              <a:rPr lang="en-IN" dirty="0"/>
              <a:t>Full duty allowed or permanent restriction?</a:t>
            </a:r>
          </a:p>
          <a:p>
            <a:pPr marL="285750" indent="-285750">
              <a:buFont typeface="Arial" panose="020B0604020202020204" pitchFamily="34" charset="0"/>
              <a:buChar char="•"/>
            </a:pPr>
            <a:r>
              <a:rPr lang="en-IN" dirty="0"/>
              <a:t>How much $ per week? How much per hour?</a:t>
            </a:r>
          </a:p>
        </p:txBody>
      </p:sp>
    </p:spTree>
    <p:extLst>
      <p:ext uri="{BB962C8B-B14F-4D97-AF65-F5344CB8AC3E}">
        <p14:creationId xmlns:p14="http://schemas.microsoft.com/office/powerpoint/2010/main" val="5495905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6" name="Rectangle 5"/>
          <p:cNvSpPr/>
          <p:nvPr/>
        </p:nvSpPr>
        <p:spPr>
          <a:xfrm>
            <a:off x="329215" y="1508749"/>
            <a:ext cx="785611" cy="29492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sz="2800" b="1" dirty="0"/>
              <a:t>Notification</a:t>
            </a:r>
          </a:p>
        </p:txBody>
      </p:sp>
      <p:cxnSp>
        <p:nvCxnSpPr>
          <p:cNvPr id="8" name="Straight Connector 7"/>
          <p:cNvCxnSpPr>
            <a:stCxn id="6" idx="3"/>
          </p:cNvCxnSpPr>
          <p:nvPr/>
        </p:nvCxnSpPr>
        <p:spPr>
          <a:xfrm flipV="1">
            <a:off x="1114826" y="2902701"/>
            <a:ext cx="10995071" cy="806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085204" y="2673324"/>
            <a:ext cx="0" cy="618186"/>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506549" y="2520752"/>
            <a:ext cx="2047741" cy="461665"/>
          </a:xfrm>
          <a:prstGeom prst="rect">
            <a:avLst/>
          </a:prstGeom>
          <a:noFill/>
        </p:spPr>
        <p:txBody>
          <a:bodyPr wrap="square" rtlCol="0">
            <a:spAutoFit/>
          </a:bodyPr>
          <a:lstStyle/>
          <a:p>
            <a:r>
              <a:rPr lang="en-IN" sz="2400" b="1" dirty="0"/>
              <a:t>Active Phase</a:t>
            </a:r>
          </a:p>
        </p:txBody>
      </p:sp>
      <p:sp>
        <p:nvSpPr>
          <p:cNvPr id="12" name="TextBox 11"/>
          <p:cNvSpPr txBox="1"/>
          <p:nvPr/>
        </p:nvSpPr>
        <p:spPr>
          <a:xfrm>
            <a:off x="7054401" y="2486879"/>
            <a:ext cx="3651699" cy="461665"/>
          </a:xfrm>
          <a:prstGeom prst="rect">
            <a:avLst/>
          </a:prstGeom>
          <a:noFill/>
        </p:spPr>
        <p:txBody>
          <a:bodyPr wrap="square" rtlCol="0">
            <a:spAutoFit/>
          </a:bodyPr>
          <a:lstStyle/>
          <a:p>
            <a:r>
              <a:rPr lang="en-IN" sz="2400" b="1" dirty="0"/>
              <a:t>Permanent Phase</a:t>
            </a:r>
          </a:p>
        </p:txBody>
      </p:sp>
      <p:cxnSp>
        <p:nvCxnSpPr>
          <p:cNvPr id="14" name="Straight Connector 13"/>
          <p:cNvCxnSpPr/>
          <p:nvPr/>
        </p:nvCxnSpPr>
        <p:spPr>
          <a:xfrm>
            <a:off x="12109898" y="1486823"/>
            <a:ext cx="0" cy="2717443"/>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4512435" y="3111086"/>
            <a:ext cx="1522391" cy="646331"/>
          </a:xfrm>
          <a:prstGeom prst="rect">
            <a:avLst/>
          </a:prstGeom>
          <a:noFill/>
        </p:spPr>
        <p:txBody>
          <a:bodyPr wrap="square" rtlCol="0">
            <a:spAutoFit/>
          </a:bodyPr>
          <a:lstStyle/>
          <a:p>
            <a:r>
              <a:rPr lang="en-IN" b="1" dirty="0"/>
              <a:t>Max. Medical Improvement</a:t>
            </a:r>
          </a:p>
        </p:txBody>
      </p:sp>
      <p:sp>
        <p:nvSpPr>
          <p:cNvPr id="18" name="TextBox 17"/>
          <p:cNvSpPr txBox="1"/>
          <p:nvPr/>
        </p:nvSpPr>
        <p:spPr>
          <a:xfrm>
            <a:off x="1441628" y="3330032"/>
            <a:ext cx="2459865" cy="1477328"/>
          </a:xfrm>
          <a:prstGeom prst="rect">
            <a:avLst/>
          </a:prstGeom>
          <a:noFill/>
        </p:spPr>
        <p:txBody>
          <a:bodyPr wrap="square" rtlCol="0">
            <a:spAutoFit/>
          </a:bodyPr>
          <a:lstStyle/>
          <a:p>
            <a:r>
              <a:rPr lang="en-IN" dirty="0"/>
              <a:t>Benefits-</a:t>
            </a:r>
          </a:p>
          <a:p>
            <a:pPr marL="342900" indent="-342900">
              <a:buAutoNum type="arabicPeriod"/>
            </a:pPr>
            <a:r>
              <a:rPr lang="en-IN" dirty="0"/>
              <a:t>Medical Care-Surgery/ treatment</a:t>
            </a:r>
          </a:p>
          <a:p>
            <a:pPr marL="342900" indent="-342900">
              <a:buAutoNum type="arabicPeriod"/>
            </a:pPr>
            <a:r>
              <a:rPr lang="en-IN" dirty="0"/>
              <a:t>66% of Avg. monthly wage</a:t>
            </a:r>
          </a:p>
        </p:txBody>
      </p:sp>
      <p:sp>
        <p:nvSpPr>
          <p:cNvPr id="19" name="TextBox 18"/>
          <p:cNvSpPr txBox="1"/>
          <p:nvPr/>
        </p:nvSpPr>
        <p:spPr>
          <a:xfrm>
            <a:off x="6177029" y="2890084"/>
            <a:ext cx="5932869" cy="3139321"/>
          </a:xfrm>
          <a:prstGeom prst="rect">
            <a:avLst/>
          </a:prstGeom>
          <a:noFill/>
        </p:spPr>
        <p:txBody>
          <a:bodyPr wrap="square" rtlCol="0">
            <a:spAutoFit/>
          </a:bodyPr>
          <a:lstStyle/>
          <a:p>
            <a:r>
              <a:rPr lang="en-IN" dirty="0"/>
              <a:t>Doctor recommendation</a:t>
            </a:r>
          </a:p>
          <a:p>
            <a:pPr marL="342900" indent="-342900">
              <a:buAutoNum type="arabicPeriod"/>
            </a:pPr>
            <a:r>
              <a:rPr lang="en-IN" dirty="0"/>
              <a:t>100% normal- back to work</a:t>
            </a:r>
          </a:p>
          <a:p>
            <a:pPr marL="342900" indent="-342900">
              <a:buAutoNum type="arabicPeriod"/>
            </a:pPr>
            <a:r>
              <a:rPr lang="en-IN" dirty="0"/>
              <a:t>Supportive care – monitor/ tracking the condition for rest of life</a:t>
            </a:r>
          </a:p>
          <a:p>
            <a:pPr marL="342900" indent="-342900">
              <a:buAutoNum type="arabicPeriod"/>
            </a:pPr>
            <a:r>
              <a:rPr lang="en-IN" dirty="0"/>
              <a:t>%age impairment rating- it determines the compensation</a:t>
            </a:r>
          </a:p>
          <a:p>
            <a:endParaRPr lang="en-IN" dirty="0"/>
          </a:p>
          <a:p>
            <a:r>
              <a:rPr lang="en-IN" dirty="0"/>
              <a:t>Compensation- </a:t>
            </a:r>
          </a:p>
          <a:p>
            <a:pPr marL="285750" indent="-285750">
              <a:buFont typeface="Arial" panose="020B0604020202020204" pitchFamily="34" charset="0"/>
              <a:buChar char="•"/>
            </a:pPr>
            <a:r>
              <a:rPr lang="en-IN" dirty="0"/>
              <a:t>Scheduled injury- upper extremities-limbs(per month for a period)</a:t>
            </a:r>
          </a:p>
          <a:p>
            <a:pPr marL="285750" indent="-285750">
              <a:buFont typeface="Arial" panose="020B0604020202020204" pitchFamily="34" charset="0"/>
              <a:buChar char="•"/>
            </a:pPr>
            <a:r>
              <a:rPr lang="en-IN" dirty="0"/>
              <a:t>Unscheduled Injury- Neck/ back injury-Loss of earning capacity (per month life long)</a:t>
            </a:r>
          </a:p>
        </p:txBody>
      </p:sp>
      <p:sp>
        <p:nvSpPr>
          <p:cNvPr id="22" name="TextBox 21"/>
          <p:cNvSpPr txBox="1"/>
          <p:nvPr/>
        </p:nvSpPr>
        <p:spPr>
          <a:xfrm>
            <a:off x="573206" y="341692"/>
            <a:ext cx="7096835" cy="461665"/>
          </a:xfrm>
          <a:prstGeom prst="rect">
            <a:avLst/>
          </a:prstGeom>
          <a:noFill/>
        </p:spPr>
        <p:txBody>
          <a:bodyPr wrap="square" rtlCol="0">
            <a:spAutoFit/>
          </a:bodyPr>
          <a:lstStyle/>
          <a:p>
            <a:r>
              <a:rPr lang="en-IN" sz="2400" b="1" dirty="0"/>
              <a:t>A WC Settlement</a:t>
            </a:r>
          </a:p>
        </p:txBody>
      </p:sp>
      <p:sp>
        <p:nvSpPr>
          <p:cNvPr id="25" name="Rectangle 24"/>
          <p:cNvSpPr/>
          <p:nvPr/>
        </p:nvSpPr>
        <p:spPr>
          <a:xfrm>
            <a:off x="175943" y="5970945"/>
            <a:ext cx="7679584" cy="646331"/>
          </a:xfrm>
          <a:prstGeom prst="rect">
            <a:avLst/>
          </a:prstGeom>
        </p:spPr>
        <p:txBody>
          <a:bodyPr wrap="square">
            <a:spAutoFit/>
          </a:bodyPr>
          <a:lstStyle/>
          <a:p>
            <a:r>
              <a:rPr lang="en-IN" dirty="0"/>
              <a:t>Filing a WC: </a:t>
            </a:r>
            <a:r>
              <a:rPr lang="en-IN" dirty="0">
                <a:hlinkClick r:id="rId4"/>
              </a:rPr>
              <a:t>https://www.youtube.com/watch?v=8jfRW1Hsm2s</a:t>
            </a:r>
            <a:endParaRPr lang="en-IN" dirty="0"/>
          </a:p>
          <a:p>
            <a:r>
              <a:rPr lang="en-IN" dirty="0"/>
              <a:t>Workers Compensation Claims Process: </a:t>
            </a:r>
            <a:r>
              <a:rPr lang="en-IN" dirty="0">
                <a:hlinkClick r:id="rId5"/>
              </a:rPr>
              <a:t>https://youtu.be/gujXDWSOYTM</a:t>
            </a:r>
            <a:endParaRPr lang="en-IN" dirty="0"/>
          </a:p>
        </p:txBody>
      </p:sp>
    </p:spTree>
    <p:extLst>
      <p:ext uri="{BB962C8B-B14F-4D97-AF65-F5344CB8AC3E}">
        <p14:creationId xmlns:p14="http://schemas.microsoft.com/office/powerpoint/2010/main" val="2321585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1000"/>
                                        <p:tgtEl>
                                          <p:spTgt spid="19"/>
                                        </p:tgtEl>
                                      </p:cBhvr>
                                    </p:animEffect>
                                    <p:anim calcmode="lin" valueType="num">
                                      <p:cBhvr>
                                        <p:cTn id="15" dur="1000" fill="hold"/>
                                        <p:tgtEl>
                                          <p:spTgt spid="19"/>
                                        </p:tgtEl>
                                        <p:attrNameLst>
                                          <p:attrName>ppt_x</p:attrName>
                                        </p:attrNameLst>
                                      </p:cBhvr>
                                      <p:tavLst>
                                        <p:tav tm="0">
                                          <p:val>
                                            <p:strVal val="#ppt_x"/>
                                          </p:val>
                                        </p:tav>
                                        <p:tav tm="100000">
                                          <p:val>
                                            <p:strVal val="#ppt_x"/>
                                          </p:val>
                                        </p:tav>
                                      </p:tavLst>
                                    </p:anim>
                                    <p:anim calcmode="lin" valueType="num">
                                      <p:cBhvr>
                                        <p:cTn id="1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1000"/>
                                        <p:tgtEl>
                                          <p:spTgt spid="25"/>
                                        </p:tgtEl>
                                      </p:cBhvr>
                                    </p:animEffect>
                                    <p:anim calcmode="lin" valueType="num">
                                      <p:cBhvr>
                                        <p:cTn id="22" dur="1000" fill="hold"/>
                                        <p:tgtEl>
                                          <p:spTgt spid="25"/>
                                        </p:tgtEl>
                                        <p:attrNameLst>
                                          <p:attrName>ppt_x</p:attrName>
                                        </p:attrNameLst>
                                      </p:cBhvr>
                                      <p:tavLst>
                                        <p:tav tm="0">
                                          <p:val>
                                            <p:strVal val="#ppt_x"/>
                                          </p:val>
                                        </p:tav>
                                        <p:tav tm="100000">
                                          <p:val>
                                            <p:strVal val="#ppt_x"/>
                                          </p:val>
                                        </p:tav>
                                      </p:tavLst>
                                    </p:anim>
                                    <p:anim calcmode="lin" valueType="num">
                                      <p:cBhvr>
                                        <p:cTn id="23"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33600" y="1324136"/>
            <a:ext cx="6096000" cy="2862322"/>
          </a:xfrm>
          <a:prstGeom prst="rect">
            <a:avLst/>
          </a:prstGeom>
        </p:spPr>
        <p:txBody>
          <a:bodyPr>
            <a:spAutoFit/>
          </a:bodyPr>
          <a:lstStyle/>
          <a:p>
            <a:r>
              <a:rPr lang="en-IN" dirty="0"/>
              <a:t>Claims Settlement</a:t>
            </a:r>
          </a:p>
          <a:p>
            <a:pPr lvl="1"/>
            <a:endParaRPr lang="en-IN" dirty="0"/>
          </a:p>
          <a:p>
            <a:pPr lvl="1"/>
            <a:r>
              <a:rPr lang="en-IN" dirty="0"/>
              <a:t>801 Workers' Compensation Claim: Data captured and direction for filling the Injury form</a:t>
            </a:r>
          </a:p>
          <a:p>
            <a:pPr lvl="1"/>
            <a:r>
              <a:rPr lang="en-IN" dirty="0">
                <a:hlinkClick r:id="rId2"/>
              </a:rPr>
              <a:t>https://youtu.be/MEqcgH1PUGs</a:t>
            </a:r>
            <a:endParaRPr lang="en-IN" dirty="0"/>
          </a:p>
          <a:p>
            <a:pPr lvl="1"/>
            <a:endParaRPr lang="en-IN" dirty="0"/>
          </a:p>
          <a:p>
            <a:pPr lvl="1"/>
            <a:endParaRPr lang="en-IN" dirty="0"/>
          </a:p>
          <a:p>
            <a:pPr lvl="1"/>
            <a:r>
              <a:rPr lang="en-IN" dirty="0"/>
              <a:t>Settling Your Claim- sec 32 waiver : One time settlement between the Victim and the insurer</a:t>
            </a:r>
          </a:p>
          <a:p>
            <a:pPr lvl="1"/>
            <a:r>
              <a:rPr lang="en-IN" dirty="0">
                <a:hlinkClick r:id="rId3"/>
              </a:rPr>
              <a:t>https://youtu.be/MBxiJvQi1dc</a:t>
            </a:r>
            <a:endParaRPr lang="en-IN" dirty="0"/>
          </a:p>
        </p:txBody>
      </p:sp>
      <p:pic>
        <p:nvPicPr>
          <p:cNvPr id="5" name="Picture 4"/>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6" name="TextBox 5"/>
          <p:cNvSpPr txBox="1"/>
          <p:nvPr/>
        </p:nvSpPr>
        <p:spPr>
          <a:xfrm>
            <a:off x="152400" y="381000"/>
            <a:ext cx="5314950" cy="461665"/>
          </a:xfrm>
          <a:prstGeom prst="rect">
            <a:avLst/>
          </a:prstGeom>
          <a:noFill/>
        </p:spPr>
        <p:txBody>
          <a:bodyPr wrap="square" rtlCol="0">
            <a:spAutoFit/>
          </a:bodyPr>
          <a:lstStyle/>
          <a:p>
            <a:r>
              <a:rPr lang="en-IN" sz="2400" b="1" dirty="0"/>
              <a:t>Suggested Video Watch</a:t>
            </a:r>
          </a:p>
        </p:txBody>
      </p:sp>
    </p:spTree>
    <p:extLst>
      <p:ext uri="{BB962C8B-B14F-4D97-AF65-F5344CB8AC3E}">
        <p14:creationId xmlns:p14="http://schemas.microsoft.com/office/powerpoint/2010/main" val="12410310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5859" y="1502688"/>
            <a:ext cx="11487150" cy="5355312"/>
          </a:xfrm>
          <a:prstGeom prst="rect">
            <a:avLst/>
          </a:prstGeom>
          <a:noFill/>
        </p:spPr>
        <p:txBody>
          <a:bodyPr wrap="square" rtlCol="0">
            <a:spAutoFit/>
          </a:bodyPr>
          <a:lstStyle/>
          <a:p>
            <a:r>
              <a:rPr lang="en-IN" b="1" dirty="0"/>
              <a:t>Accepted claim/admitted claim. </a:t>
            </a:r>
            <a:r>
              <a:rPr lang="en-IN" dirty="0"/>
              <a:t>A WC claim in which the claims administrator agrees that the worker’s injury or illness is covered by workers’ compensation</a:t>
            </a:r>
          </a:p>
          <a:p>
            <a:endParaRPr lang="en-IN" dirty="0"/>
          </a:p>
          <a:p>
            <a:r>
              <a:rPr lang="en-IN" b="1" dirty="0"/>
              <a:t>Agreed medical evaluation (AME). </a:t>
            </a:r>
            <a:r>
              <a:rPr lang="en-IN" dirty="0"/>
              <a:t>A doctor who is selected by agreement between the injured workers’ attorney and the claims administrator to conduct a medical examination and prepare a medical-legal report to help resolve a dispute.</a:t>
            </a:r>
          </a:p>
          <a:p>
            <a:endParaRPr lang="en-IN" dirty="0"/>
          </a:p>
          <a:p>
            <a:r>
              <a:rPr lang="en-IN" b="1" dirty="0"/>
              <a:t>Alternative work</a:t>
            </a:r>
            <a:r>
              <a:rPr lang="en-IN" dirty="0"/>
              <a:t>. If the treating physician reports that the injured worker will probably never be able to return to the usual and customary occupation that was held at the time of the injury, the employer has the option of offering an alternative position. The new position must be at least 12 months in duration and must pay at least 85 percent of the wages and benefits that were being paid at that the time of injury. It also must be within a reasonable commuting distance of where the injured worker lived at the time of the injury.</a:t>
            </a:r>
          </a:p>
          <a:p>
            <a:endParaRPr lang="en-IN" dirty="0"/>
          </a:p>
          <a:p>
            <a:r>
              <a:rPr lang="en-IN" b="1" dirty="0"/>
              <a:t>Americans with Disabilities Act (ADA). </a:t>
            </a:r>
            <a:r>
              <a:rPr lang="en-IN" dirty="0"/>
              <a:t>A federal law that prohibits discrimination against people with disabilities. If you believe you’ve been discriminated against at work because you’re disabled and want information on your rights under the ADA, contact a U.S. Equal Employment Opportunity Commission office (EEOC</a:t>
            </a:r>
          </a:p>
          <a:p>
            <a:endParaRPr lang="en-IN" dirty="0"/>
          </a:p>
          <a:p>
            <a:r>
              <a:rPr lang="en-IN" b="1" dirty="0"/>
              <a:t>AOE/COE</a:t>
            </a:r>
            <a:r>
              <a:rPr lang="en-IN" dirty="0"/>
              <a:t> – Arising Out of Employment, and in the Course Of Employment or caused by a worker’s job and occurring while working. An injury or illness must be AOE/COE to be covered by workers’ compensation.</a:t>
            </a:r>
          </a:p>
          <a:p>
            <a:endParaRPr lang="en-IN" dirty="0"/>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7970" y="977028"/>
            <a:ext cx="9804188" cy="264653"/>
          </a:xfrm>
          <a:prstGeom prst="rect">
            <a:avLst/>
          </a:prstGeom>
        </p:spPr>
      </p:pic>
    </p:spTree>
    <p:extLst>
      <p:ext uri="{BB962C8B-B14F-4D97-AF65-F5344CB8AC3E}">
        <p14:creationId xmlns:p14="http://schemas.microsoft.com/office/powerpoint/2010/main" val="3785456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1000"/>
                                        <p:tgtEl>
                                          <p:spTgt spid="2">
                                            <p:txEl>
                                              <p:pRg st="2" end="2"/>
                                            </p:txEl>
                                          </p:spTgt>
                                        </p:tgtEl>
                                      </p:cBhvr>
                                    </p:animEffect>
                                    <p:anim calcmode="lin" valueType="num">
                                      <p:cBhvr>
                                        <p:cTn id="13"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1000"/>
                                        <p:tgtEl>
                                          <p:spTgt spid="2">
                                            <p:txEl>
                                              <p:pRg st="4" end="4"/>
                                            </p:txEl>
                                          </p:spTgt>
                                        </p:tgtEl>
                                      </p:cBhvr>
                                    </p:animEffect>
                                    <p:anim calcmode="lin" valueType="num">
                                      <p:cBhvr>
                                        <p:cTn id="20"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
                                            <p:txEl>
                                              <p:pRg st="6" end="6"/>
                                            </p:txEl>
                                          </p:spTgt>
                                        </p:tgtEl>
                                        <p:attrNameLst>
                                          <p:attrName>style.visibility</p:attrName>
                                        </p:attrNameLst>
                                      </p:cBhvr>
                                      <p:to>
                                        <p:strVal val="visible"/>
                                      </p:to>
                                    </p:set>
                                    <p:animEffect transition="in" filter="fade">
                                      <p:cBhvr>
                                        <p:cTn id="26" dur="1000"/>
                                        <p:tgtEl>
                                          <p:spTgt spid="2">
                                            <p:txEl>
                                              <p:pRg st="6" end="6"/>
                                            </p:txEl>
                                          </p:spTgt>
                                        </p:tgtEl>
                                      </p:cBhvr>
                                    </p:animEffect>
                                    <p:anim calcmode="lin" valueType="num">
                                      <p:cBhvr>
                                        <p:cTn id="2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28" dur="1000" fill="hold"/>
                                        <p:tgtEl>
                                          <p:spTgt spid="2">
                                            <p:txEl>
                                              <p:pRg st="6" end="6"/>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animEffect transition="in" filter="fade">
                                      <p:cBhvr>
                                        <p:cTn id="31" dur="1000"/>
                                        <p:tgtEl>
                                          <p:spTgt spid="2">
                                            <p:txEl>
                                              <p:pRg st="8" end="8"/>
                                            </p:txEl>
                                          </p:spTgt>
                                        </p:tgtEl>
                                      </p:cBhvr>
                                    </p:animEffect>
                                    <p:anim calcmode="lin" valueType="num">
                                      <p:cBhvr>
                                        <p:cTn id="32"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33"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0105" y="1241681"/>
            <a:ext cx="11220450" cy="5078313"/>
          </a:xfrm>
          <a:prstGeom prst="rect">
            <a:avLst/>
          </a:prstGeom>
        </p:spPr>
        <p:txBody>
          <a:bodyPr wrap="square">
            <a:spAutoFit/>
          </a:bodyPr>
          <a:lstStyle/>
          <a:p>
            <a:r>
              <a:rPr lang="en-IN" b="1" dirty="0"/>
              <a:t>Appeals board. </a:t>
            </a:r>
            <a:r>
              <a:rPr lang="en-IN" dirty="0"/>
              <a:t>A group of seven commissioners who review and reconsider decisions of workers’ compensation administrative law judges. Also called the Reconsideration Unit. </a:t>
            </a:r>
          </a:p>
          <a:p>
            <a:endParaRPr lang="en-IN" dirty="0"/>
          </a:p>
          <a:p>
            <a:r>
              <a:rPr lang="en-IN" b="1" dirty="0"/>
              <a:t>Applicant/associate/employee (EE). </a:t>
            </a:r>
            <a:r>
              <a:rPr lang="en-IN" dirty="0"/>
              <a:t>The injured worker.</a:t>
            </a:r>
          </a:p>
          <a:p>
            <a:endParaRPr lang="en-IN" dirty="0"/>
          </a:p>
          <a:p>
            <a:r>
              <a:rPr lang="en-IN" b="1" dirty="0"/>
              <a:t>Applicants’ attorney (A/A). </a:t>
            </a:r>
            <a:r>
              <a:rPr lang="en-IN" dirty="0"/>
              <a:t>A lawyer who represents injured workers in their workers’ compensation cases.</a:t>
            </a:r>
          </a:p>
          <a:p>
            <a:endParaRPr lang="en-IN" dirty="0"/>
          </a:p>
          <a:p>
            <a:r>
              <a:rPr lang="en-IN" b="1" dirty="0"/>
              <a:t>Application for adjudication of claim (application or app) : </a:t>
            </a:r>
            <a:r>
              <a:rPr lang="en-IN" dirty="0"/>
              <a:t>A form (PDF) you file to open a case at the local Workers’ Compensation Appeals Board (WCAB) office if you have a disagreement with the insurance company about your claim.</a:t>
            </a:r>
          </a:p>
          <a:p>
            <a:endParaRPr lang="en-IN" b="1" dirty="0"/>
          </a:p>
          <a:p>
            <a:r>
              <a:rPr lang="en-IN" b="1" dirty="0"/>
              <a:t>benefit structure. </a:t>
            </a:r>
            <a:r>
              <a:rPr lang="en-IN" dirty="0"/>
              <a:t>The benefit structure defines what injured workers are entitled to receive when they sustain an injury “arising out of and in the course of” (AOE/COE) their employment. There are five basic types of workers’ compensation benefits available, depending on the nature and severity of the worker’s injury:</a:t>
            </a:r>
          </a:p>
          <a:p>
            <a:pPr lvl="1"/>
            <a:r>
              <a:rPr lang="en-IN" dirty="0"/>
              <a:t>medical care,</a:t>
            </a:r>
          </a:p>
          <a:p>
            <a:pPr lvl="1"/>
            <a:r>
              <a:rPr lang="en-IN" dirty="0"/>
              <a:t>temporary disability benefits,</a:t>
            </a:r>
          </a:p>
          <a:p>
            <a:pPr lvl="1"/>
            <a:r>
              <a:rPr lang="en-IN" dirty="0"/>
              <a:t>permanent disability benefits,</a:t>
            </a:r>
          </a:p>
          <a:p>
            <a:pPr lvl="1"/>
            <a:r>
              <a:rPr lang="en-IN" dirty="0"/>
              <a:t>vocational rehabilitation services, and</a:t>
            </a:r>
          </a:p>
          <a:p>
            <a:pPr lvl="1"/>
            <a:r>
              <a:rPr lang="en-IN" dirty="0"/>
              <a:t>death benefits</a:t>
            </a: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7970" y="977028"/>
            <a:ext cx="9804188" cy="264653"/>
          </a:xfrm>
          <a:prstGeom prst="rect">
            <a:avLst/>
          </a:prstGeom>
        </p:spPr>
      </p:pic>
    </p:spTree>
    <p:extLst>
      <p:ext uri="{BB962C8B-B14F-4D97-AF65-F5344CB8AC3E}">
        <p14:creationId xmlns:p14="http://schemas.microsoft.com/office/powerpoint/2010/main" val="2950748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1000"/>
                                        <p:tgtEl>
                                          <p:spTgt spid="2">
                                            <p:txEl>
                                              <p:pRg st="2" end="2"/>
                                            </p:txEl>
                                          </p:spTgt>
                                        </p:tgtEl>
                                      </p:cBhvr>
                                    </p:animEffect>
                                    <p:anim calcmode="lin" valueType="num">
                                      <p:cBhvr>
                                        <p:cTn id="13"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1000"/>
                                        <p:tgtEl>
                                          <p:spTgt spid="2">
                                            <p:txEl>
                                              <p:pRg st="4" end="4"/>
                                            </p:txEl>
                                          </p:spTgt>
                                        </p:tgtEl>
                                      </p:cBhvr>
                                    </p:animEffect>
                                    <p:anim calcmode="lin" valueType="num">
                                      <p:cBhvr>
                                        <p:cTn id="20"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4" end="4"/>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
                                            <p:txEl>
                                              <p:pRg st="6" end="6"/>
                                            </p:txEl>
                                          </p:spTgt>
                                        </p:tgtEl>
                                        <p:attrNameLst>
                                          <p:attrName>style.visibility</p:attrName>
                                        </p:attrNameLst>
                                      </p:cBhvr>
                                      <p:to>
                                        <p:strVal val="visible"/>
                                      </p:to>
                                    </p:set>
                                    <p:animEffect transition="in" filter="fade">
                                      <p:cBhvr>
                                        <p:cTn id="24" dur="1000"/>
                                        <p:tgtEl>
                                          <p:spTgt spid="2">
                                            <p:txEl>
                                              <p:pRg st="6" end="6"/>
                                            </p:txEl>
                                          </p:spTgt>
                                        </p:tgtEl>
                                      </p:cBhvr>
                                    </p:animEffect>
                                    <p:anim calcmode="lin" valueType="num">
                                      <p:cBhvr>
                                        <p:cTn id="25"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animEffect transition="in" filter="fade">
                                      <p:cBhvr>
                                        <p:cTn id="31" dur="1000"/>
                                        <p:tgtEl>
                                          <p:spTgt spid="2">
                                            <p:txEl>
                                              <p:pRg st="8" end="8"/>
                                            </p:txEl>
                                          </p:spTgt>
                                        </p:tgtEl>
                                      </p:cBhvr>
                                    </p:animEffect>
                                    <p:anim calcmode="lin" valueType="num">
                                      <p:cBhvr>
                                        <p:cTn id="32"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33" dur="1000" fill="hold"/>
                                        <p:tgtEl>
                                          <p:spTgt spid="2">
                                            <p:txEl>
                                              <p:pRg st="8" end="8"/>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2">
                                            <p:txEl>
                                              <p:pRg st="9" end="9"/>
                                            </p:txEl>
                                          </p:spTgt>
                                        </p:tgtEl>
                                        <p:attrNameLst>
                                          <p:attrName>style.visibility</p:attrName>
                                        </p:attrNameLst>
                                      </p:cBhvr>
                                      <p:to>
                                        <p:strVal val="visible"/>
                                      </p:to>
                                    </p:set>
                                    <p:animEffect transition="in" filter="fade">
                                      <p:cBhvr>
                                        <p:cTn id="36" dur="1000"/>
                                        <p:tgtEl>
                                          <p:spTgt spid="2">
                                            <p:txEl>
                                              <p:pRg st="9" end="9"/>
                                            </p:txEl>
                                          </p:spTgt>
                                        </p:tgtEl>
                                      </p:cBhvr>
                                    </p:animEffect>
                                    <p:anim calcmode="lin" valueType="num">
                                      <p:cBhvr>
                                        <p:cTn id="37"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38" dur="1000" fill="hold"/>
                                        <p:tgtEl>
                                          <p:spTgt spid="2">
                                            <p:txEl>
                                              <p:pRg st="9" end="9"/>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2">
                                            <p:txEl>
                                              <p:pRg st="10" end="10"/>
                                            </p:txEl>
                                          </p:spTgt>
                                        </p:tgtEl>
                                        <p:attrNameLst>
                                          <p:attrName>style.visibility</p:attrName>
                                        </p:attrNameLst>
                                      </p:cBhvr>
                                      <p:to>
                                        <p:strVal val="visible"/>
                                      </p:to>
                                    </p:set>
                                    <p:animEffect transition="in" filter="fade">
                                      <p:cBhvr>
                                        <p:cTn id="41" dur="1000"/>
                                        <p:tgtEl>
                                          <p:spTgt spid="2">
                                            <p:txEl>
                                              <p:pRg st="10" end="10"/>
                                            </p:txEl>
                                          </p:spTgt>
                                        </p:tgtEl>
                                      </p:cBhvr>
                                    </p:animEffect>
                                    <p:anim calcmode="lin" valueType="num">
                                      <p:cBhvr>
                                        <p:cTn id="42"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43" dur="1000" fill="hold"/>
                                        <p:tgtEl>
                                          <p:spTgt spid="2">
                                            <p:txEl>
                                              <p:pRg st="10" end="10"/>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2">
                                            <p:txEl>
                                              <p:pRg st="11" end="11"/>
                                            </p:txEl>
                                          </p:spTgt>
                                        </p:tgtEl>
                                        <p:attrNameLst>
                                          <p:attrName>style.visibility</p:attrName>
                                        </p:attrNameLst>
                                      </p:cBhvr>
                                      <p:to>
                                        <p:strVal val="visible"/>
                                      </p:to>
                                    </p:set>
                                    <p:animEffect transition="in" filter="fade">
                                      <p:cBhvr>
                                        <p:cTn id="46" dur="1000"/>
                                        <p:tgtEl>
                                          <p:spTgt spid="2">
                                            <p:txEl>
                                              <p:pRg st="11" end="11"/>
                                            </p:txEl>
                                          </p:spTgt>
                                        </p:tgtEl>
                                      </p:cBhvr>
                                    </p:animEffect>
                                    <p:anim calcmode="lin" valueType="num">
                                      <p:cBhvr>
                                        <p:cTn id="47"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48" dur="1000" fill="hold"/>
                                        <p:tgtEl>
                                          <p:spTgt spid="2">
                                            <p:txEl>
                                              <p:pRg st="11" end="11"/>
                                            </p:txEl>
                                          </p:spTgt>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2">
                                            <p:txEl>
                                              <p:pRg st="12" end="12"/>
                                            </p:txEl>
                                          </p:spTgt>
                                        </p:tgtEl>
                                        <p:attrNameLst>
                                          <p:attrName>style.visibility</p:attrName>
                                        </p:attrNameLst>
                                      </p:cBhvr>
                                      <p:to>
                                        <p:strVal val="visible"/>
                                      </p:to>
                                    </p:set>
                                    <p:animEffect transition="in" filter="fade">
                                      <p:cBhvr>
                                        <p:cTn id="51" dur="1000"/>
                                        <p:tgtEl>
                                          <p:spTgt spid="2">
                                            <p:txEl>
                                              <p:pRg st="12" end="12"/>
                                            </p:txEl>
                                          </p:spTgt>
                                        </p:tgtEl>
                                      </p:cBhvr>
                                    </p:animEffect>
                                    <p:anim calcmode="lin" valueType="num">
                                      <p:cBhvr>
                                        <p:cTn id="52" dur="1000" fill="hold"/>
                                        <p:tgtEl>
                                          <p:spTgt spid="2">
                                            <p:txEl>
                                              <p:pRg st="12" end="12"/>
                                            </p:txEl>
                                          </p:spTgt>
                                        </p:tgtEl>
                                        <p:attrNameLst>
                                          <p:attrName>ppt_x</p:attrName>
                                        </p:attrNameLst>
                                      </p:cBhvr>
                                      <p:tavLst>
                                        <p:tav tm="0">
                                          <p:val>
                                            <p:strVal val="#ppt_x"/>
                                          </p:val>
                                        </p:tav>
                                        <p:tav tm="100000">
                                          <p:val>
                                            <p:strVal val="#ppt_x"/>
                                          </p:val>
                                        </p:tav>
                                      </p:tavLst>
                                    </p:anim>
                                    <p:anim calcmode="lin" valueType="num">
                                      <p:cBhvr>
                                        <p:cTn id="53" dur="1000" fill="hold"/>
                                        <p:tgtEl>
                                          <p:spTgt spid="2">
                                            <p:txEl>
                                              <p:pRg st="12" end="12"/>
                                            </p:txEl>
                                          </p:spTgt>
                                        </p:tgtEl>
                                        <p:attrNameLst>
                                          <p:attrName>ppt_y</p:attrName>
                                        </p:attrNameLst>
                                      </p:cBhvr>
                                      <p:tavLst>
                                        <p:tav tm="0">
                                          <p:val>
                                            <p:strVal val="#ppt_y+.1"/>
                                          </p:val>
                                        </p:tav>
                                        <p:tav tm="100000">
                                          <p:val>
                                            <p:strVal val="#ppt_y"/>
                                          </p:val>
                                        </p:tav>
                                      </p:tavLst>
                                    </p:anim>
                                  </p:childTnLst>
                                </p:cTn>
                              </p:par>
                              <p:par>
                                <p:cTn id="54" presetID="42" presetClass="entr" presetSubtype="0" fill="hold" nodeType="withEffect">
                                  <p:stCondLst>
                                    <p:cond delay="0"/>
                                  </p:stCondLst>
                                  <p:childTnLst>
                                    <p:set>
                                      <p:cBhvr>
                                        <p:cTn id="55" dur="1" fill="hold">
                                          <p:stCondLst>
                                            <p:cond delay="0"/>
                                          </p:stCondLst>
                                        </p:cTn>
                                        <p:tgtEl>
                                          <p:spTgt spid="2">
                                            <p:txEl>
                                              <p:pRg st="13" end="13"/>
                                            </p:txEl>
                                          </p:spTgt>
                                        </p:tgtEl>
                                        <p:attrNameLst>
                                          <p:attrName>style.visibility</p:attrName>
                                        </p:attrNameLst>
                                      </p:cBhvr>
                                      <p:to>
                                        <p:strVal val="visible"/>
                                      </p:to>
                                    </p:set>
                                    <p:animEffect transition="in" filter="fade">
                                      <p:cBhvr>
                                        <p:cTn id="56" dur="1000"/>
                                        <p:tgtEl>
                                          <p:spTgt spid="2">
                                            <p:txEl>
                                              <p:pRg st="13" end="13"/>
                                            </p:txEl>
                                          </p:spTgt>
                                        </p:tgtEl>
                                      </p:cBhvr>
                                    </p:animEffect>
                                    <p:anim calcmode="lin" valueType="num">
                                      <p:cBhvr>
                                        <p:cTn id="57" dur="1000" fill="hold"/>
                                        <p:tgtEl>
                                          <p:spTgt spid="2">
                                            <p:txEl>
                                              <p:pRg st="13" end="13"/>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1446" y="1552486"/>
            <a:ext cx="11144250" cy="5078313"/>
          </a:xfrm>
          <a:prstGeom prst="rect">
            <a:avLst/>
          </a:prstGeom>
        </p:spPr>
        <p:txBody>
          <a:bodyPr wrap="square">
            <a:spAutoFit/>
          </a:bodyPr>
          <a:lstStyle/>
          <a:p>
            <a:r>
              <a:rPr lang="en-IN" b="1" dirty="0">
                <a:solidFill>
                  <a:srgbClr val="333333"/>
                </a:solidFill>
                <a:latin typeface="Frutiger"/>
              </a:rPr>
              <a:t>Cal/OSHA</a:t>
            </a:r>
            <a:r>
              <a:rPr lang="en-IN" dirty="0">
                <a:solidFill>
                  <a:srgbClr val="333333"/>
                </a:solidFill>
                <a:latin typeface="Frutiger"/>
              </a:rPr>
              <a:t>. A unit within the state Division of Occupational Safety and Health (DOSH). Cal/OSHA inspects workplaces and enforces laws to protect the health and safety of workers in California. </a:t>
            </a:r>
          </a:p>
          <a:p>
            <a:endParaRPr lang="en-IN" dirty="0">
              <a:solidFill>
                <a:srgbClr val="333333"/>
              </a:solidFill>
              <a:latin typeface="Frutiger"/>
            </a:endParaRPr>
          </a:p>
          <a:p>
            <a:r>
              <a:rPr lang="en-IN" b="1" dirty="0"/>
              <a:t>challenge</a:t>
            </a:r>
            <a:r>
              <a:rPr lang="en-IN" dirty="0"/>
              <a:t>. Disagree with, object to, or place in dispute</a:t>
            </a:r>
          </a:p>
          <a:p>
            <a:endParaRPr lang="en-IN" dirty="0"/>
          </a:p>
          <a:p>
            <a:r>
              <a:rPr lang="en-IN" b="1" dirty="0"/>
              <a:t>claim adjuster/claim administrator/claim examiner</a:t>
            </a:r>
            <a:r>
              <a:rPr lang="en-IN" dirty="0"/>
              <a:t>. A person who handles workers’ compensation claims for employers. Some claims administrators work directly for large employers that handle their own claims.</a:t>
            </a:r>
          </a:p>
          <a:p>
            <a:endParaRPr lang="en-IN" dirty="0"/>
          </a:p>
          <a:p>
            <a:r>
              <a:rPr lang="en-IN" b="1" dirty="0"/>
              <a:t>compensation.</a:t>
            </a:r>
            <a:r>
              <a:rPr lang="en-IN" dirty="0"/>
              <a:t> Something (such as money) given or received as payment or reparation (as for a service or loss or injury).</a:t>
            </a:r>
          </a:p>
          <a:p>
            <a:endParaRPr lang="en-IN" dirty="0"/>
          </a:p>
          <a:p>
            <a:r>
              <a:rPr lang="en-IN" b="1" dirty="0"/>
              <a:t>compromise and release (C&amp;R)</a:t>
            </a:r>
            <a:r>
              <a:rPr lang="en-IN" dirty="0"/>
              <a:t>. A type of settlement where the workers receive a lump sum payment, which includes the permanent disability amount and the estimate future medical care costs.</a:t>
            </a:r>
          </a:p>
          <a:p>
            <a:endParaRPr lang="en-IN" dirty="0"/>
          </a:p>
          <a:p>
            <a:r>
              <a:rPr lang="en-IN" b="1" dirty="0"/>
              <a:t>cumulative trauma (CT) injury</a:t>
            </a:r>
            <a:r>
              <a:rPr lang="en-IN" dirty="0"/>
              <a:t>. An injury that was caused by repeated events or repeated exposures at work. </a:t>
            </a:r>
            <a:r>
              <a:rPr lang="en-IN" b="1" dirty="0"/>
              <a:t>Examples:</a:t>
            </a:r>
            <a:r>
              <a:rPr lang="en-IN" dirty="0"/>
              <a:t> hurting your wrist from doing the same motion over and over or losing your hearing because of constant loud noise.</a:t>
            </a:r>
          </a:p>
          <a:p>
            <a:endParaRPr lang="en-IN" dirty="0"/>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7970" y="977028"/>
            <a:ext cx="9804188" cy="264653"/>
          </a:xfrm>
          <a:prstGeom prst="rect">
            <a:avLst/>
          </a:prstGeom>
        </p:spPr>
      </p:pic>
    </p:spTree>
    <p:extLst>
      <p:ext uri="{BB962C8B-B14F-4D97-AF65-F5344CB8AC3E}">
        <p14:creationId xmlns:p14="http://schemas.microsoft.com/office/powerpoint/2010/main" val="754592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1000"/>
                                        <p:tgtEl>
                                          <p:spTgt spid="2">
                                            <p:txEl>
                                              <p:pRg st="2" end="2"/>
                                            </p:txEl>
                                          </p:spTgt>
                                        </p:tgtEl>
                                      </p:cBhvr>
                                    </p:animEffect>
                                    <p:anim calcmode="lin" valueType="num">
                                      <p:cBhvr>
                                        <p:cTn id="13"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1000"/>
                                        <p:tgtEl>
                                          <p:spTgt spid="2">
                                            <p:txEl>
                                              <p:pRg st="4" end="4"/>
                                            </p:txEl>
                                          </p:spTgt>
                                        </p:tgtEl>
                                      </p:cBhvr>
                                    </p:animEffect>
                                    <p:anim calcmode="lin" valueType="num">
                                      <p:cBhvr>
                                        <p:cTn id="20"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4" end="4"/>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
                                            <p:txEl>
                                              <p:pRg st="6" end="6"/>
                                            </p:txEl>
                                          </p:spTgt>
                                        </p:tgtEl>
                                        <p:attrNameLst>
                                          <p:attrName>style.visibility</p:attrName>
                                        </p:attrNameLst>
                                      </p:cBhvr>
                                      <p:to>
                                        <p:strVal val="visible"/>
                                      </p:to>
                                    </p:set>
                                    <p:animEffect transition="in" filter="fade">
                                      <p:cBhvr>
                                        <p:cTn id="24" dur="1000"/>
                                        <p:tgtEl>
                                          <p:spTgt spid="2">
                                            <p:txEl>
                                              <p:pRg st="6" end="6"/>
                                            </p:txEl>
                                          </p:spTgt>
                                        </p:tgtEl>
                                      </p:cBhvr>
                                    </p:animEffect>
                                    <p:anim calcmode="lin" valueType="num">
                                      <p:cBhvr>
                                        <p:cTn id="25"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animEffect transition="in" filter="fade">
                                      <p:cBhvr>
                                        <p:cTn id="31" dur="1000"/>
                                        <p:tgtEl>
                                          <p:spTgt spid="2">
                                            <p:txEl>
                                              <p:pRg st="8" end="8"/>
                                            </p:txEl>
                                          </p:spTgt>
                                        </p:tgtEl>
                                      </p:cBhvr>
                                    </p:animEffect>
                                    <p:anim calcmode="lin" valueType="num">
                                      <p:cBhvr>
                                        <p:cTn id="32"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33" dur="1000" fill="hold"/>
                                        <p:tgtEl>
                                          <p:spTgt spid="2">
                                            <p:txEl>
                                              <p:pRg st="8" end="8"/>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2">
                                            <p:txEl>
                                              <p:pRg st="10" end="10"/>
                                            </p:txEl>
                                          </p:spTgt>
                                        </p:tgtEl>
                                        <p:attrNameLst>
                                          <p:attrName>style.visibility</p:attrName>
                                        </p:attrNameLst>
                                      </p:cBhvr>
                                      <p:to>
                                        <p:strVal val="visible"/>
                                      </p:to>
                                    </p:set>
                                    <p:animEffect transition="in" filter="fade">
                                      <p:cBhvr>
                                        <p:cTn id="36" dur="1000"/>
                                        <p:tgtEl>
                                          <p:spTgt spid="2">
                                            <p:txEl>
                                              <p:pRg st="10" end="10"/>
                                            </p:txEl>
                                          </p:spTgt>
                                        </p:tgtEl>
                                      </p:cBhvr>
                                    </p:animEffect>
                                    <p:anim calcmode="lin" valueType="num">
                                      <p:cBhvr>
                                        <p:cTn id="37"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38"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5973" y="1369869"/>
            <a:ext cx="11525250" cy="5078313"/>
          </a:xfrm>
          <a:prstGeom prst="rect">
            <a:avLst/>
          </a:prstGeom>
          <a:noFill/>
        </p:spPr>
        <p:txBody>
          <a:bodyPr wrap="square" rtlCol="0">
            <a:spAutoFit/>
          </a:bodyPr>
          <a:lstStyle/>
          <a:p>
            <a:r>
              <a:rPr lang="en-IN" b="1" dirty="0"/>
              <a:t>Disability evaluation unit (DEU). </a:t>
            </a:r>
            <a:r>
              <a:rPr lang="en-IN" dirty="0"/>
              <a:t>A service provided by the state whereby the final medical reports of the Primary Treating Physician or Qualified Medical Examiner are evaluated to provide a summary rating of the permanent disability.</a:t>
            </a:r>
          </a:p>
          <a:p>
            <a:endParaRPr lang="en-IN" dirty="0"/>
          </a:p>
          <a:p>
            <a:r>
              <a:rPr lang="en-IN" b="1" dirty="0"/>
              <a:t>experience modification factor</a:t>
            </a:r>
            <a:r>
              <a:rPr lang="en-IN" dirty="0"/>
              <a:t>. A calculation that applies to policies with more than $5,000 in premium. Carriers compare individual employers with other employers within the </a:t>
            </a:r>
            <a:r>
              <a:rPr lang="en-IN" b="1" u="sng" dirty="0">
                <a:hlinkClick r:id="rId2"/>
              </a:rPr>
              <a:t>classification</a:t>
            </a:r>
            <a:r>
              <a:rPr lang="en-IN" dirty="0"/>
              <a:t> based upon the frequency of accidents and severity of injuries.</a:t>
            </a:r>
          </a:p>
          <a:p>
            <a:endParaRPr lang="en-IN" dirty="0"/>
          </a:p>
          <a:p>
            <a:r>
              <a:rPr lang="en-IN" b="1" dirty="0"/>
              <a:t>exposures.</a:t>
            </a:r>
            <a:r>
              <a:rPr lang="en-IN" dirty="0"/>
              <a:t> Measure of vulnerability to loss, usually expressed in dollars or units.</a:t>
            </a:r>
          </a:p>
          <a:p>
            <a:endParaRPr lang="en-IN" dirty="0"/>
          </a:p>
          <a:p>
            <a:r>
              <a:rPr lang="en-IN" b="1" dirty="0"/>
              <a:t>family and medical leave act (FMLA): </a:t>
            </a:r>
            <a:r>
              <a:rPr lang="en-IN" dirty="0"/>
              <a:t>A federal law that provides certain employees with serious health problems or who need to care for a child or other family member with up to 12 weeks of unpaid, job-protected leave per year. It also requires that group health benefits be maintained during the leave.</a:t>
            </a:r>
          </a:p>
          <a:p>
            <a:endParaRPr lang="en-IN" dirty="0"/>
          </a:p>
          <a:p>
            <a:r>
              <a:rPr lang="en-IN" b="1" dirty="0"/>
              <a:t>field nurse case managers</a:t>
            </a:r>
            <a:r>
              <a:rPr lang="en-IN" dirty="0"/>
              <a:t>. A nurse assigned to the case, by the insurance company, to </a:t>
            </a:r>
            <a:r>
              <a:rPr lang="en-IN" b="1" dirty="0"/>
              <a:t>attend </a:t>
            </a:r>
            <a:r>
              <a:rPr lang="en-IN" dirty="0"/>
              <a:t>medical evaluations with the injured worker</a:t>
            </a:r>
          </a:p>
          <a:p>
            <a:endParaRPr lang="en-IN" dirty="0"/>
          </a:p>
          <a:p>
            <a:r>
              <a:rPr lang="en-IN" b="1" dirty="0"/>
              <a:t>hearing</a:t>
            </a:r>
            <a:r>
              <a:rPr lang="en-IN" dirty="0"/>
              <a:t>. A legal proceeding</a:t>
            </a:r>
          </a:p>
          <a:p>
            <a:endParaRPr lang="en-IN" dirty="0"/>
          </a:p>
        </p:txBody>
      </p:sp>
      <p:pic>
        <p:nvPicPr>
          <p:cNvPr id="3" name="Picture 2"/>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7970" y="977028"/>
            <a:ext cx="9804188" cy="264653"/>
          </a:xfrm>
          <a:prstGeom prst="rect">
            <a:avLst/>
          </a:prstGeom>
        </p:spPr>
      </p:pic>
    </p:spTree>
    <p:extLst>
      <p:ext uri="{BB962C8B-B14F-4D97-AF65-F5344CB8AC3E}">
        <p14:creationId xmlns:p14="http://schemas.microsoft.com/office/powerpoint/2010/main" val="4012878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1000"/>
                                        <p:tgtEl>
                                          <p:spTgt spid="2">
                                            <p:txEl>
                                              <p:pRg st="2" end="2"/>
                                            </p:txEl>
                                          </p:spTgt>
                                        </p:tgtEl>
                                      </p:cBhvr>
                                    </p:animEffect>
                                    <p:anim calcmode="lin" valueType="num">
                                      <p:cBhvr>
                                        <p:cTn id="13"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1000"/>
                                        <p:tgtEl>
                                          <p:spTgt spid="2">
                                            <p:txEl>
                                              <p:pRg st="4" end="4"/>
                                            </p:txEl>
                                          </p:spTgt>
                                        </p:tgtEl>
                                      </p:cBhvr>
                                    </p:animEffect>
                                    <p:anim calcmode="lin" valueType="num">
                                      <p:cBhvr>
                                        <p:cTn id="20"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4" end="4"/>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
                                            <p:txEl>
                                              <p:pRg st="6" end="6"/>
                                            </p:txEl>
                                          </p:spTgt>
                                        </p:tgtEl>
                                        <p:attrNameLst>
                                          <p:attrName>style.visibility</p:attrName>
                                        </p:attrNameLst>
                                      </p:cBhvr>
                                      <p:to>
                                        <p:strVal val="visible"/>
                                      </p:to>
                                    </p:set>
                                    <p:animEffect transition="in" filter="fade">
                                      <p:cBhvr>
                                        <p:cTn id="24" dur="1000"/>
                                        <p:tgtEl>
                                          <p:spTgt spid="2">
                                            <p:txEl>
                                              <p:pRg st="6" end="6"/>
                                            </p:txEl>
                                          </p:spTgt>
                                        </p:tgtEl>
                                      </p:cBhvr>
                                    </p:animEffect>
                                    <p:anim calcmode="lin" valueType="num">
                                      <p:cBhvr>
                                        <p:cTn id="25"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
                                            <p:txEl>
                                              <p:pRg st="8" end="8"/>
                                            </p:txEl>
                                          </p:spTgt>
                                        </p:tgtEl>
                                        <p:attrNameLst>
                                          <p:attrName>style.visibility</p:attrName>
                                        </p:attrNameLst>
                                      </p:cBhvr>
                                      <p:to>
                                        <p:strVal val="visible"/>
                                      </p:to>
                                    </p:set>
                                    <p:animEffect transition="in" filter="fade">
                                      <p:cBhvr>
                                        <p:cTn id="31" dur="1000"/>
                                        <p:tgtEl>
                                          <p:spTgt spid="2">
                                            <p:txEl>
                                              <p:pRg st="8" end="8"/>
                                            </p:txEl>
                                          </p:spTgt>
                                        </p:tgtEl>
                                      </p:cBhvr>
                                    </p:animEffect>
                                    <p:anim calcmode="lin" valueType="num">
                                      <p:cBhvr>
                                        <p:cTn id="32"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33" dur="1000" fill="hold"/>
                                        <p:tgtEl>
                                          <p:spTgt spid="2">
                                            <p:txEl>
                                              <p:pRg st="8" end="8"/>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2">
                                            <p:txEl>
                                              <p:pRg st="10" end="10"/>
                                            </p:txEl>
                                          </p:spTgt>
                                        </p:tgtEl>
                                        <p:attrNameLst>
                                          <p:attrName>style.visibility</p:attrName>
                                        </p:attrNameLst>
                                      </p:cBhvr>
                                      <p:to>
                                        <p:strVal val="visible"/>
                                      </p:to>
                                    </p:set>
                                    <p:animEffect transition="in" filter="fade">
                                      <p:cBhvr>
                                        <p:cTn id="36" dur="1000"/>
                                        <p:tgtEl>
                                          <p:spTgt spid="2">
                                            <p:txEl>
                                              <p:pRg st="10" end="10"/>
                                            </p:txEl>
                                          </p:spTgt>
                                        </p:tgtEl>
                                      </p:cBhvr>
                                    </p:animEffect>
                                    <p:anim calcmode="lin" valueType="num">
                                      <p:cBhvr>
                                        <p:cTn id="37"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38"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7297" y="1943100"/>
            <a:ext cx="11811000" cy="4801314"/>
          </a:xfrm>
          <a:prstGeom prst="rect">
            <a:avLst/>
          </a:prstGeom>
          <a:noFill/>
        </p:spPr>
        <p:txBody>
          <a:bodyPr wrap="square" rtlCol="0">
            <a:spAutoFit/>
          </a:bodyPr>
          <a:lstStyle/>
          <a:p>
            <a:r>
              <a:rPr lang="en-IN" b="1" dirty="0"/>
              <a:t>independent medical evaluator (IME)</a:t>
            </a:r>
            <a:r>
              <a:rPr lang="en-IN" dirty="0"/>
              <a:t>. A physician selected by the judge (in California) or by the adjuster (in Arizona) to determine the cause of the medical condition, the permanent impairment of the injury, and/or the permanent limitations, if any, that the worker has sustained</a:t>
            </a:r>
          </a:p>
          <a:p>
            <a:endParaRPr lang="en-IN" dirty="0"/>
          </a:p>
          <a:p>
            <a:r>
              <a:rPr lang="en-IN" b="1" dirty="0"/>
              <a:t>maximum medical improvement (MMI) report</a:t>
            </a:r>
            <a:r>
              <a:rPr lang="en-IN" dirty="0"/>
              <a:t>. A medical report written by a treating physician that describes the injured worker’s medical condition when it has stabilized</a:t>
            </a:r>
          </a:p>
          <a:p>
            <a:endParaRPr lang="en-IN" dirty="0"/>
          </a:p>
          <a:p>
            <a:r>
              <a:rPr lang="en-IN" b="1" dirty="0"/>
              <a:t>modified job (mod work)</a:t>
            </a:r>
            <a:r>
              <a:rPr lang="en-IN" dirty="0"/>
              <a:t>. If the treating physician reports that the injured worker will never be able to return to the same job duties that they had at the time they were injured, the employer is permitted to offer the injured worker a modified job instead of vocational rehabilitation benefits; that is the current job at the time of the injury with changes that meet the doctor’s work restrictions. It must last at least 12 months and pay the same wages and benefits as the job at the time of the injury</a:t>
            </a:r>
          </a:p>
          <a:p>
            <a:endParaRPr lang="en-IN" dirty="0"/>
          </a:p>
          <a:p>
            <a:r>
              <a:rPr lang="en-IN" b="1" dirty="0"/>
              <a:t>objective factors. </a:t>
            </a:r>
            <a:r>
              <a:rPr lang="en-IN" dirty="0"/>
              <a:t>Measurements, direct observations, and test results that a treating physician, a QME, or an AME describes as contributing to an injured worker’s permanent disability</a:t>
            </a:r>
          </a:p>
          <a:p>
            <a:endParaRPr lang="en-IN" dirty="0"/>
          </a:p>
          <a:p>
            <a:endParaRPr lang="en-IN" dirty="0"/>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7970" y="977028"/>
            <a:ext cx="9804188" cy="264653"/>
          </a:xfrm>
          <a:prstGeom prst="rect">
            <a:avLst/>
          </a:prstGeom>
        </p:spPr>
      </p:pic>
    </p:spTree>
    <p:extLst>
      <p:ext uri="{BB962C8B-B14F-4D97-AF65-F5344CB8AC3E}">
        <p14:creationId xmlns:p14="http://schemas.microsoft.com/office/powerpoint/2010/main" val="1058460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1000"/>
                                        <p:tgtEl>
                                          <p:spTgt spid="2">
                                            <p:txEl>
                                              <p:pRg st="2" end="2"/>
                                            </p:txEl>
                                          </p:spTgt>
                                        </p:tgtEl>
                                      </p:cBhvr>
                                    </p:animEffect>
                                    <p:anim calcmode="lin" valueType="num">
                                      <p:cBhvr>
                                        <p:cTn id="13"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1000"/>
                                        <p:tgtEl>
                                          <p:spTgt spid="2">
                                            <p:txEl>
                                              <p:pRg st="4" end="4"/>
                                            </p:txEl>
                                          </p:spTgt>
                                        </p:tgtEl>
                                      </p:cBhvr>
                                    </p:animEffect>
                                    <p:anim calcmode="lin" valueType="num">
                                      <p:cBhvr>
                                        <p:cTn id="20"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
                                            <p:txEl>
                                              <p:pRg st="6" end="6"/>
                                            </p:txEl>
                                          </p:spTgt>
                                        </p:tgtEl>
                                        <p:attrNameLst>
                                          <p:attrName>style.visibility</p:attrName>
                                        </p:attrNameLst>
                                      </p:cBhvr>
                                      <p:to>
                                        <p:strVal val="visible"/>
                                      </p:to>
                                    </p:set>
                                    <p:animEffect transition="in" filter="fade">
                                      <p:cBhvr>
                                        <p:cTn id="26" dur="1000"/>
                                        <p:tgtEl>
                                          <p:spTgt spid="2">
                                            <p:txEl>
                                              <p:pRg st="6" end="6"/>
                                            </p:txEl>
                                          </p:spTgt>
                                        </p:tgtEl>
                                      </p:cBhvr>
                                    </p:animEffect>
                                    <p:anim calcmode="lin" valueType="num">
                                      <p:cBhvr>
                                        <p:cTn id="2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2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914400"/>
            <a:ext cx="11830050" cy="5909310"/>
          </a:xfrm>
          <a:prstGeom prst="rect">
            <a:avLst/>
          </a:prstGeom>
          <a:noFill/>
        </p:spPr>
        <p:txBody>
          <a:bodyPr wrap="square" rtlCol="0">
            <a:spAutoFit/>
          </a:bodyPr>
          <a:lstStyle/>
          <a:p>
            <a:endParaRPr lang="en-IN" b="1" dirty="0"/>
          </a:p>
          <a:p>
            <a:r>
              <a:rPr lang="en-IN" b="1" dirty="0"/>
              <a:t>permanent alternate position</a:t>
            </a:r>
            <a:r>
              <a:rPr lang="en-IN" dirty="0"/>
              <a:t>. If the treating physician reports that the injured worker will never be able to return to the same job duties that they had at the time they were injured, the employer is permitted to offer the injured worker an alternate position job instead of vocational rehabilitation benefits. The new position must last at least 12 months, and </a:t>
            </a:r>
            <a:r>
              <a:rPr lang="en-IN" u="sng" dirty="0"/>
              <a:t>pay at least 85 percent of the wages that the injured worker was making at the time of the injury.</a:t>
            </a:r>
          </a:p>
          <a:p>
            <a:endParaRPr lang="en-IN" dirty="0"/>
          </a:p>
          <a:p>
            <a:r>
              <a:rPr lang="en-IN" b="1" dirty="0"/>
              <a:t>permanent and stationary (P&amp;S) report</a:t>
            </a:r>
            <a:r>
              <a:rPr lang="en-IN" dirty="0"/>
              <a:t>. A medical report written by a treating physician that describes the injured worker’s medical condition when it has stabilized</a:t>
            </a:r>
          </a:p>
          <a:p>
            <a:endParaRPr lang="en-IN" dirty="0"/>
          </a:p>
          <a:p>
            <a:r>
              <a:rPr lang="en-IN" b="1" dirty="0"/>
              <a:t>primary treating physician (PTP)</a:t>
            </a:r>
            <a:r>
              <a:rPr lang="en-IN" dirty="0"/>
              <a:t>. The doctor who is responsible for managing the overall care of the injured worker and who writes medical reports that affect the worker’s benefits.</a:t>
            </a:r>
          </a:p>
          <a:p>
            <a:endParaRPr lang="en-IN" dirty="0"/>
          </a:p>
          <a:p>
            <a:r>
              <a:rPr lang="en-IN" b="1" dirty="0"/>
              <a:t>qualified injured worker (QIW)</a:t>
            </a:r>
            <a:r>
              <a:rPr lang="en-IN" dirty="0"/>
              <a:t>. An injured worker who probably will never be able to return to his or her usual job and working conditions, and who probably could find a suitable job after receiving vocational rehabilitation services</a:t>
            </a:r>
          </a:p>
          <a:p>
            <a:endParaRPr lang="en-IN" dirty="0"/>
          </a:p>
          <a:p>
            <a:r>
              <a:rPr lang="en-IN" b="1" dirty="0"/>
              <a:t>reconsideration (recon). </a:t>
            </a:r>
            <a:r>
              <a:rPr lang="en-IN" dirty="0"/>
              <a:t>A legal process for appealing a decision made by a workers’ compensation administrative law judge.</a:t>
            </a:r>
          </a:p>
          <a:p>
            <a:endParaRPr lang="en-IN" dirty="0"/>
          </a:p>
          <a:p>
            <a:r>
              <a:rPr lang="en-IN" b="1" dirty="0"/>
              <a:t>serious and </a:t>
            </a:r>
            <a:r>
              <a:rPr lang="en-IN" b="1" dirty="0" err="1"/>
              <a:t>willful</a:t>
            </a:r>
            <a:r>
              <a:rPr lang="en-IN" b="1" dirty="0"/>
              <a:t> misconduct (S&amp;W). </a:t>
            </a:r>
            <a:r>
              <a:rPr lang="en-IN" dirty="0"/>
              <a:t>A petition (PDF) filed if your injury is caused by the serious and </a:t>
            </a:r>
            <a:r>
              <a:rPr lang="en-IN" dirty="0" err="1"/>
              <a:t>willful</a:t>
            </a:r>
            <a:r>
              <a:rPr lang="en-IN" dirty="0"/>
              <a:t> misconduct of your employer</a:t>
            </a:r>
          </a:p>
          <a:p>
            <a:r>
              <a:rPr lang="en-IN" b="1" dirty="0"/>
              <a:t>subjective factors.</a:t>
            </a:r>
            <a:r>
              <a:rPr lang="en-IN" dirty="0"/>
              <a:t> The amount of pain and other symptoms reported by an injured worker, which cannot be directly measured or observed, that a doctor describes as contributing to the worker’s permanent disability.</a:t>
            </a: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7970" y="977028"/>
            <a:ext cx="9804188" cy="264653"/>
          </a:xfrm>
          <a:prstGeom prst="rect">
            <a:avLst/>
          </a:prstGeom>
        </p:spPr>
      </p:pic>
    </p:spTree>
    <p:extLst>
      <p:ext uri="{BB962C8B-B14F-4D97-AF65-F5344CB8AC3E}">
        <p14:creationId xmlns:p14="http://schemas.microsoft.com/office/powerpoint/2010/main" val="1081335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3" end="3"/>
                                            </p:txEl>
                                          </p:spTgt>
                                        </p:tgtEl>
                                        <p:attrNameLst>
                                          <p:attrName>style.visibility</p:attrName>
                                        </p:attrNameLst>
                                      </p:cBhvr>
                                      <p:to>
                                        <p:strVal val="visible"/>
                                      </p:to>
                                    </p:set>
                                    <p:animEffect transition="in" filter="fade">
                                      <p:cBhvr>
                                        <p:cTn id="14" dur="1000"/>
                                        <p:tgtEl>
                                          <p:spTgt spid="2">
                                            <p:txEl>
                                              <p:pRg st="3" end="3"/>
                                            </p:txEl>
                                          </p:spTgt>
                                        </p:tgtEl>
                                      </p:cBhvr>
                                    </p:animEffect>
                                    <p:anim calcmode="lin" valueType="num">
                                      <p:cBhvr>
                                        <p:cTn id="15"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3" end="3"/>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animEffect transition="in" filter="fade">
                                      <p:cBhvr>
                                        <p:cTn id="19" dur="1000"/>
                                        <p:tgtEl>
                                          <p:spTgt spid="2">
                                            <p:txEl>
                                              <p:pRg st="5" end="5"/>
                                            </p:txEl>
                                          </p:spTgt>
                                        </p:tgtEl>
                                      </p:cBhvr>
                                    </p:animEffect>
                                    <p:anim calcmode="lin" valueType="num">
                                      <p:cBhvr>
                                        <p:cTn id="2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
                                            <p:txEl>
                                              <p:pRg st="7" end="7"/>
                                            </p:txEl>
                                          </p:spTgt>
                                        </p:tgtEl>
                                        <p:attrNameLst>
                                          <p:attrName>style.visibility</p:attrName>
                                        </p:attrNameLst>
                                      </p:cBhvr>
                                      <p:to>
                                        <p:strVal val="visible"/>
                                      </p:to>
                                    </p:set>
                                    <p:animEffect transition="in" filter="fade">
                                      <p:cBhvr>
                                        <p:cTn id="26" dur="1000"/>
                                        <p:tgtEl>
                                          <p:spTgt spid="2">
                                            <p:txEl>
                                              <p:pRg st="7" end="7"/>
                                            </p:txEl>
                                          </p:spTgt>
                                        </p:tgtEl>
                                      </p:cBhvr>
                                    </p:animEffect>
                                    <p:anim calcmode="lin" valueType="num">
                                      <p:cBhvr>
                                        <p:cTn id="27"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28" dur="1000" fill="hold"/>
                                        <p:tgtEl>
                                          <p:spTgt spid="2">
                                            <p:txEl>
                                              <p:pRg st="7" end="7"/>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animEffect transition="in" filter="fade">
                                      <p:cBhvr>
                                        <p:cTn id="31" dur="1000"/>
                                        <p:tgtEl>
                                          <p:spTgt spid="2">
                                            <p:txEl>
                                              <p:pRg st="9" end="9"/>
                                            </p:txEl>
                                          </p:spTgt>
                                        </p:tgtEl>
                                      </p:cBhvr>
                                    </p:animEffect>
                                    <p:anim calcmode="lin" valueType="num">
                                      <p:cBhvr>
                                        <p:cTn id="32"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33"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2">
                                            <p:txEl>
                                              <p:pRg st="11" end="11"/>
                                            </p:txEl>
                                          </p:spTgt>
                                        </p:tgtEl>
                                        <p:attrNameLst>
                                          <p:attrName>style.visibility</p:attrName>
                                        </p:attrNameLst>
                                      </p:cBhvr>
                                      <p:to>
                                        <p:strVal val="visible"/>
                                      </p:to>
                                    </p:set>
                                    <p:animEffect transition="in" filter="fade">
                                      <p:cBhvr>
                                        <p:cTn id="38" dur="1000"/>
                                        <p:tgtEl>
                                          <p:spTgt spid="2">
                                            <p:txEl>
                                              <p:pRg st="11" end="11"/>
                                            </p:txEl>
                                          </p:spTgt>
                                        </p:tgtEl>
                                      </p:cBhvr>
                                    </p:animEffect>
                                    <p:anim calcmode="lin" valueType="num">
                                      <p:cBhvr>
                                        <p:cTn id="39"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40" dur="1000" fill="hold"/>
                                        <p:tgtEl>
                                          <p:spTgt spid="2">
                                            <p:txEl>
                                              <p:pRg st="11" end="11"/>
                                            </p:txEl>
                                          </p:spTgt>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2">
                                            <p:txEl>
                                              <p:pRg st="12" end="12"/>
                                            </p:txEl>
                                          </p:spTgt>
                                        </p:tgtEl>
                                        <p:attrNameLst>
                                          <p:attrName>style.visibility</p:attrName>
                                        </p:attrNameLst>
                                      </p:cBhvr>
                                      <p:to>
                                        <p:strVal val="visible"/>
                                      </p:to>
                                    </p:set>
                                    <p:animEffect transition="in" filter="fade">
                                      <p:cBhvr>
                                        <p:cTn id="43" dur="1000"/>
                                        <p:tgtEl>
                                          <p:spTgt spid="2">
                                            <p:txEl>
                                              <p:pRg st="12" end="12"/>
                                            </p:txEl>
                                          </p:spTgt>
                                        </p:tgtEl>
                                      </p:cBhvr>
                                    </p:animEffect>
                                    <p:anim calcmode="lin" valueType="num">
                                      <p:cBhvr>
                                        <p:cTn id="44" dur="1000" fill="hold"/>
                                        <p:tgtEl>
                                          <p:spTgt spid="2">
                                            <p:txEl>
                                              <p:pRg st="12" end="12"/>
                                            </p:txEl>
                                          </p:spTgt>
                                        </p:tgtEl>
                                        <p:attrNameLst>
                                          <p:attrName>ppt_x</p:attrName>
                                        </p:attrNameLst>
                                      </p:cBhvr>
                                      <p:tavLst>
                                        <p:tav tm="0">
                                          <p:val>
                                            <p:strVal val="#ppt_x"/>
                                          </p:val>
                                        </p:tav>
                                        <p:tav tm="100000">
                                          <p:val>
                                            <p:strVal val="#ppt_x"/>
                                          </p:val>
                                        </p:tav>
                                      </p:tavLst>
                                    </p:anim>
                                    <p:anim calcmode="lin" valueType="num">
                                      <p:cBhvr>
                                        <p:cTn id="45" dur="1000" fill="hold"/>
                                        <p:tgtEl>
                                          <p:spTgt spid="2">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773382"/>
            <a:ext cx="11487150" cy="3139321"/>
          </a:xfrm>
          <a:prstGeom prst="rect">
            <a:avLst/>
          </a:prstGeom>
          <a:noFill/>
        </p:spPr>
        <p:txBody>
          <a:bodyPr wrap="square" rtlCol="0">
            <a:spAutoFit/>
          </a:bodyPr>
          <a:lstStyle/>
          <a:p>
            <a:r>
              <a:rPr lang="en-IN" b="1" dirty="0"/>
              <a:t>telephonic Nurse Case Manager (TCM)</a:t>
            </a:r>
            <a:r>
              <a:rPr lang="en-IN" dirty="0"/>
              <a:t>. A nurse, assigned to the case by the insurance carrier, to contact the doctor to get updated medical and work status, or to assist with getting a treatment plan</a:t>
            </a:r>
          </a:p>
          <a:p>
            <a:endParaRPr lang="en-IN" dirty="0"/>
          </a:p>
          <a:p>
            <a:r>
              <a:rPr lang="en-IN" b="1" dirty="0"/>
              <a:t>utilization review (UR)</a:t>
            </a:r>
            <a:r>
              <a:rPr lang="en-IN" dirty="0"/>
              <a:t>. The process used by insurance companies to decide whether to authorize and pay for treatment recommended by your treating physician or another doctor. </a:t>
            </a:r>
          </a:p>
          <a:p>
            <a:endParaRPr lang="en-IN" dirty="0"/>
          </a:p>
          <a:p>
            <a:r>
              <a:rPr lang="en-IN" b="1" dirty="0"/>
              <a:t>vocational rehabilitation maintenance allowance benefits (VRMA)</a:t>
            </a:r>
            <a:r>
              <a:rPr lang="en-IN" dirty="0"/>
              <a:t> are paid while the employee is participating in vocational rehabilitation. VRMA is paid every two weeks for as long as the employee is eligible.</a:t>
            </a:r>
          </a:p>
          <a:p>
            <a:endParaRPr lang="en-IN" dirty="0"/>
          </a:p>
          <a:p>
            <a:r>
              <a:rPr lang="en-IN" b="1" dirty="0"/>
              <a:t>work restrictions. </a:t>
            </a:r>
            <a:r>
              <a:rPr lang="en-IN" dirty="0"/>
              <a:t>A doctor’s description of clear and specific limits on an injured worker’s job tasks, usually designed to protect the worker from further injury.</a:t>
            </a: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7970" y="977028"/>
            <a:ext cx="9804188" cy="264653"/>
          </a:xfrm>
          <a:prstGeom prst="rect">
            <a:avLst/>
          </a:prstGeom>
        </p:spPr>
      </p:pic>
    </p:spTree>
    <p:extLst>
      <p:ext uri="{BB962C8B-B14F-4D97-AF65-F5344CB8AC3E}">
        <p14:creationId xmlns:p14="http://schemas.microsoft.com/office/powerpoint/2010/main" val="1696474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1000"/>
                                        <p:tgtEl>
                                          <p:spTgt spid="2">
                                            <p:txEl>
                                              <p:pRg st="2" end="2"/>
                                            </p:txEl>
                                          </p:spTgt>
                                        </p:tgtEl>
                                      </p:cBhvr>
                                    </p:animEffect>
                                    <p:anim calcmode="lin" valueType="num">
                                      <p:cBhvr>
                                        <p:cTn id="13"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1000"/>
                                        <p:tgtEl>
                                          <p:spTgt spid="2">
                                            <p:txEl>
                                              <p:pRg st="4" end="4"/>
                                            </p:txEl>
                                          </p:spTgt>
                                        </p:tgtEl>
                                      </p:cBhvr>
                                    </p:animEffect>
                                    <p:anim calcmode="lin" valueType="num">
                                      <p:cBhvr>
                                        <p:cTn id="20"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4" end="4"/>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
                                            <p:txEl>
                                              <p:pRg st="6" end="6"/>
                                            </p:txEl>
                                          </p:spTgt>
                                        </p:tgtEl>
                                        <p:attrNameLst>
                                          <p:attrName>style.visibility</p:attrName>
                                        </p:attrNameLst>
                                      </p:cBhvr>
                                      <p:to>
                                        <p:strVal val="visible"/>
                                      </p:to>
                                    </p:set>
                                    <p:animEffect transition="in" filter="fade">
                                      <p:cBhvr>
                                        <p:cTn id="24" dur="1000"/>
                                        <p:tgtEl>
                                          <p:spTgt spid="2">
                                            <p:txEl>
                                              <p:pRg st="6" end="6"/>
                                            </p:txEl>
                                          </p:spTgt>
                                        </p:tgtEl>
                                      </p:cBhvr>
                                    </p:animEffect>
                                    <p:anim calcmode="lin" valueType="num">
                                      <p:cBhvr>
                                        <p:cTn id="25"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26"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p:cNvGraphicFramePr>
            <a:graphicFrameLocks noChangeAspect="1"/>
          </p:cNvGraphicFramePr>
          <p:nvPr>
            <p:extLst>
              <p:ext uri="{D42A27DB-BD31-4B8C-83A1-F6EECF244321}">
                <p14:modId xmlns:p14="http://schemas.microsoft.com/office/powerpoint/2010/main" val="1904439940"/>
              </p:ext>
            </p:extLst>
          </p:nvPr>
        </p:nvGraphicFramePr>
        <p:xfrm>
          <a:off x="342900" y="1257300"/>
          <a:ext cx="11430000" cy="5170302"/>
        </p:xfrm>
        <a:graphic>
          <a:graphicData uri="http://schemas.openxmlformats.org/presentationml/2006/ole">
            <mc:AlternateContent xmlns:mc="http://schemas.openxmlformats.org/markup-compatibility/2006">
              <mc:Choice xmlns:v="urn:schemas-microsoft-com:vml" Requires="v">
                <p:oleObj name="Document" r:id="rId2" imgW="6860843" imgH="8102001" progId="Word.Document.12">
                  <p:embed/>
                </p:oleObj>
              </mc:Choice>
              <mc:Fallback>
                <p:oleObj name="Document" r:id="rId2" imgW="6860843" imgH="8102001" progId="Word.Document.12">
                  <p:embed/>
                  <p:pic>
                    <p:nvPicPr>
                      <p:cNvPr id="0" name=""/>
                      <p:cNvPicPr/>
                      <p:nvPr/>
                    </p:nvPicPr>
                    <p:blipFill>
                      <a:blip r:embed="rId3"/>
                      <a:stretch>
                        <a:fillRect/>
                      </a:stretch>
                    </p:blipFill>
                    <p:spPr>
                      <a:xfrm>
                        <a:off x="342900" y="1257300"/>
                        <a:ext cx="11430000" cy="5170302"/>
                      </a:xfrm>
                      <a:prstGeom prst="rect">
                        <a:avLst/>
                      </a:prstGeom>
                    </p:spPr>
                  </p:pic>
                </p:oleObj>
              </mc:Fallback>
            </mc:AlternateContent>
          </a:graphicData>
        </a:graphic>
      </p:graphicFrame>
      <p:pic>
        <p:nvPicPr>
          <p:cNvPr id="3" name="Picture 2"/>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Tree>
    <p:extLst>
      <p:ext uri="{BB962C8B-B14F-4D97-AF65-F5344CB8AC3E}">
        <p14:creationId xmlns:p14="http://schemas.microsoft.com/office/powerpoint/2010/main" val="33415618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3" name="Rectangle 2"/>
          <p:cNvSpPr/>
          <p:nvPr/>
        </p:nvSpPr>
        <p:spPr>
          <a:xfrm>
            <a:off x="598227" y="1089281"/>
            <a:ext cx="11027391" cy="5632311"/>
          </a:xfrm>
          <a:prstGeom prst="rect">
            <a:avLst/>
          </a:prstGeom>
        </p:spPr>
        <p:txBody>
          <a:bodyPr wrap="square">
            <a:spAutoFit/>
          </a:bodyPr>
          <a:lstStyle/>
          <a:p>
            <a:r>
              <a:rPr lang="en-IN" dirty="0"/>
              <a:t>Terminologies</a:t>
            </a:r>
          </a:p>
          <a:p>
            <a:endParaRPr lang="en-IN" b="1" dirty="0"/>
          </a:p>
          <a:p>
            <a:r>
              <a:rPr lang="en-IN" b="1" dirty="0" err="1">
                <a:hlinkClick r:id="rId3"/>
              </a:rPr>
              <a:t>Abbrevation</a:t>
            </a:r>
            <a:r>
              <a:rPr lang="en-IN" b="1" dirty="0">
                <a:hlinkClick r:id="rId3"/>
              </a:rPr>
              <a:t>:</a:t>
            </a:r>
          </a:p>
          <a:p>
            <a:r>
              <a:rPr lang="en-IN" dirty="0">
                <a:hlinkClick r:id="rId3"/>
              </a:rPr>
              <a:t>https://www.acgov.org/cao/rmu/documents/Workers_Compensation_Abbreviations.pdf</a:t>
            </a:r>
            <a:r>
              <a:rPr lang="en-IN" dirty="0"/>
              <a:t> - </a:t>
            </a:r>
          </a:p>
          <a:p>
            <a:endParaRPr lang="en-IN" dirty="0"/>
          </a:p>
          <a:p>
            <a:r>
              <a:rPr lang="en-IN" dirty="0">
                <a:hlinkClick r:id="rId4"/>
              </a:rPr>
              <a:t>https://www.guideone.com/safety_resource/workers-compensation-glossary-of-terms/</a:t>
            </a:r>
            <a:endParaRPr lang="en-IN" dirty="0"/>
          </a:p>
          <a:p>
            <a:endParaRPr lang="en-IN" dirty="0"/>
          </a:p>
          <a:p>
            <a:r>
              <a:rPr lang="en-IN" dirty="0">
                <a:hlinkClick r:id="rId5"/>
              </a:rPr>
              <a:t>http://smallbusiness.findlaw.com/liability-and-insurance/workers-compensation-glossary.html</a:t>
            </a:r>
            <a:endParaRPr lang="en-IN" dirty="0"/>
          </a:p>
          <a:p>
            <a:endParaRPr lang="en-IN" dirty="0"/>
          </a:p>
          <a:p>
            <a:r>
              <a:rPr lang="en-IN" dirty="0"/>
              <a:t>OSHA / ANSI Safety Sign Standards :</a:t>
            </a:r>
          </a:p>
          <a:p>
            <a:r>
              <a:rPr lang="en-IN" dirty="0">
                <a:hlinkClick r:id="rId6"/>
              </a:rPr>
              <a:t>https://youtu.be/7KI-jBbSxTU</a:t>
            </a:r>
            <a:endParaRPr lang="en-IN" dirty="0"/>
          </a:p>
          <a:p>
            <a:endParaRPr lang="en-IN" dirty="0"/>
          </a:p>
          <a:p>
            <a:r>
              <a:rPr lang="en-IN" dirty="0"/>
              <a:t>HIPAA stands for the Health Insurance Portability and Accountability Act, enacted in 1996.</a:t>
            </a:r>
          </a:p>
          <a:p>
            <a:r>
              <a:rPr lang="en-IN" dirty="0">
                <a:hlinkClick r:id="rId7"/>
              </a:rPr>
              <a:t>https://youtu.be/zFmPjh702gw</a:t>
            </a:r>
            <a:endParaRPr lang="en-IN" dirty="0"/>
          </a:p>
          <a:p>
            <a:endParaRPr lang="en-IN" dirty="0"/>
          </a:p>
          <a:p>
            <a:r>
              <a:rPr lang="en-IN" dirty="0"/>
              <a:t>A window to  access various posts and discussion for WC:</a:t>
            </a:r>
          </a:p>
          <a:p>
            <a:r>
              <a:rPr lang="en-IN" b="1" dirty="0">
                <a:hlinkClick r:id="rId8"/>
              </a:rPr>
              <a:t>http://www.hrhero.com/hl/articles/2009/04/24/definitions-of-common-workers-compensation-terms-and-jargon/</a:t>
            </a:r>
            <a:endParaRPr lang="en-IN" b="1" dirty="0"/>
          </a:p>
          <a:p>
            <a:endParaRPr lang="en-IN" dirty="0"/>
          </a:p>
          <a:p>
            <a:endParaRPr lang="en-IN" dirty="0"/>
          </a:p>
        </p:txBody>
      </p:sp>
      <p:sp>
        <p:nvSpPr>
          <p:cNvPr id="4" name="Rectangle 3"/>
          <p:cNvSpPr/>
          <p:nvPr/>
        </p:nvSpPr>
        <p:spPr>
          <a:xfrm>
            <a:off x="433780" y="239853"/>
            <a:ext cx="5511830" cy="584775"/>
          </a:xfrm>
          <a:prstGeom prst="rect">
            <a:avLst/>
          </a:prstGeom>
        </p:spPr>
        <p:txBody>
          <a:bodyPr wrap="none">
            <a:spAutoFit/>
          </a:bodyPr>
          <a:lstStyle/>
          <a:p>
            <a:r>
              <a:rPr lang="en-IN" sz="3200" b="1" dirty="0"/>
              <a:t>Suggested Visits: Terminologies</a:t>
            </a:r>
          </a:p>
        </p:txBody>
      </p:sp>
      <p:graphicFrame>
        <p:nvGraphicFramePr>
          <p:cNvPr id="5" name="Object 4"/>
          <p:cNvGraphicFramePr>
            <a:graphicFrameLocks noChangeAspect="1"/>
          </p:cNvGraphicFramePr>
          <p:nvPr>
            <p:extLst>
              <p:ext uri="{D42A27DB-BD31-4B8C-83A1-F6EECF244321}">
                <p14:modId xmlns:p14="http://schemas.microsoft.com/office/powerpoint/2010/main" val="638615275"/>
              </p:ext>
            </p:extLst>
          </p:nvPr>
        </p:nvGraphicFramePr>
        <p:xfrm>
          <a:off x="9143999" y="1828800"/>
          <a:ext cx="933451" cy="609600"/>
        </p:xfrm>
        <a:graphic>
          <a:graphicData uri="http://schemas.openxmlformats.org/presentationml/2006/ole">
            <mc:AlternateContent xmlns:mc="http://schemas.openxmlformats.org/markup-compatibility/2006">
              <mc:Choice xmlns:v="urn:schemas-microsoft-com:vml" Requires="v">
                <p:oleObj name="Acrobat Document" r:id="rId9" imgW="5828995" imgH="7543485" progId="AcroExch.Document.11">
                  <p:embed/>
                </p:oleObj>
              </mc:Choice>
              <mc:Fallback>
                <p:oleObj name="Acrobat Document" r:id="rId9" imgW="5828995" imgH="7543485" progId="AcroExch.Document.11">
                  <p:embed/>
                  <p:pic>
                    <p:nvPicPr>
                      <p:cNvPr id="0" name=""/>
                      <p:cNvPicPr/>
                      <p:nvPr/>
                    </p:nvPicPr>
                    <p:blipFill>
                      <a:blip r:embed="rId10"/>
                      <a:stretch>
                        <a:fillRect/>
                      </a:stretch>
                    </p:blipFill>
                    <p:spPr>
                      <a:xfrm>
                        <a:off x="9143999" y="1828800"/>
                        <a:ext cx="933451" cy="609600"/>
                      </a:xfrm>
                      <a:prstGeom prst="rect">
                        <a:avLst/>
                      </a:prstGeom>
                    </p:spPr>
                  </p:pic>
                </p:oleObj>
              </mc:Fallback>
            </mc:AlternateContent>
          </a:graphicData>
        </a:graphic>
      </p:graphicFrame>
    </p:spTree>
    <p:extLst>
      <p:ext uri="{BB962C8B-B14F-4D97-AF65-F5344CB8AC3E}">
        <p14:creationId xmlns:p14="http://schemas.microsoft.com/office/powerpoint/2010/main" val="20461115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3" name="Rectangle 2"/>
          <p:cNvSpPr/>
          <p:nvPr/>
        </p:nvSpPr>
        <p:spPr>
          <a:xfrm>
            <a:off x="3503545" y="2703422"/>
            <a:ext cx="4154599" cy="646331"/>
          </a:xfrm>
          <a:prstGeom prst="rect">
            <a:avLst/>
          </a:prstGeom>
        </p:spPr>
        <p:txBody>
          <a:bodyPr wrap="none">
            <a:spAutoFit/>
          </a:bodyPr>
          <a:lstStyle/>
          <a:p>
            <a:r>
              <a:rPr lang="en-IN" dirty="0">
                <a:hlinkClick r:id="rId3"/>
              </a:rPr>
              <a:t>https://ua.apps.insureon.com/TIG/Quote/</a:t>
            </a:r>
            <a:endParaRPr lang="en-IN" dirty="0"/>
          </a:p>
          <a:p>
            <a:r>
              <a:rPr lang="en-IN" dirty="0"/>
              <a:t>WC quotation</a:t>
            </a:r>
          </a:p>
        </p:txBody>
      </p:sp>
      <p:sp>
        <p:nvSpPr>
          <p:cNvPr id="4" name="Rectangle 3"/>
          <p:cNvSpPr/>
          <p:nvPr/>
        </p:nvSpPr>
        <p:spPr>
          <a:xfrm>
            <a:off x="343479" y="455296"/>
            <a:ext cx="4127925" cy="461665"/>
          </a:xfrm>
          <a:prstGeom prst="rect">
            <a:avLst/>
          </a:prstGeom>
        </p:spPr>
        <p:txBody>
          <a:bodyPr wrap="none">
            <a:spAutoFit/>
          </a:bodyPr>
          <a:lstStyle/>
          <a:p>
            <a:r>
              <a:rPr lang="en-IN" sz="2400" dirty="0"/>
              <a:t>WC quotation &amp; Policy Issuance</a:t>
            </a:r>
          </a:p>
        </p:txBody>
      </p:sp>
    </p:spTree>
    <p:extLst>
      <p:ext uri="{BB962C8B-B14F-4D97-AF65-F5344CB8AC3E}">
        <p14:creationId xmlns:p14="http://schemas.microsoft.com/office/powerpoint/2010/main" val="2305095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70" y="824628"/>
            <a:ext cx="9804188" cy="264653"/>
          </a:xfrm>
          <a:prstGeom prst="rect">
            <a:avLst/>
          </a:prstGeom>
        </p:spPr>
      </p:pic>
      <p:sp>
        <p:nvSpPr>
          <p:cNvPr id="3" name="TextBox 2"/>
          <p:cNvSpPr txBox="1"/>
          <p:nvPr/>
        </p:nvSpPr>
        <p:spPr>
          <a:xfrm>
            <a:off x="6025951" y="1241681"/>
            <a:ext cx="5916668" cy="5509200"/>
          </a:xfrm>
          <a:prstGeom prst="rect">
            <a:avLst/>
          </a:prstGeom>
          <a:noFill/>
          <a:ln>
            <a:solidFill>
              <a:srgbClr val="0070C0"/>
            </a:solidFill>
          </a:ln>
        </p:spPr>
        <p:txBody>
          <a:bodyPr wrap="square" rtlCol="0">
            <a:spAutoFit/>
          </a:bodyPr>
          <a:lstStyle/>
          <a:p>
            <a:r>
              <a:rPr lang="en-IN" sz="1600" dirty="0"/>
              <a:t>Capturing the important data elements of WC: </a:t>
            </a:r>
          </a:p>
          <a:p>
            <a:r>
              <a:rPr lang="en-IN" sz="1600" dirty="0"/>
              <a:t>An example for Workmen compensation policy management software- Prime Clinical System- for Doctors use.   </a:t>
            </a:r>
            <a:r>
              <a:rPr lang="en-IN" sz="1600" dirty="0">
                <a:hlinkClick r:id="rId3"/>
              </a:rPr>
              <a:t>https://youtu.be/-NacLf5P5SE</a:t>
            </a:r>
            <a:endParaRPr lang="en-IN" sz="1600" dirty="0"/>
          </a:p>
          <a:p>
            <a:endParaRPr lang="en-IN" sz="1600" dirty="0"/>
          </a:p>
          <a:p>
            <a:r>
              <a:rPr lang="en-IN" sz="1600" dirty="0"/>
              <a:t>WC claims </a:t>
            </a:r>
            <a:r>
              <a:rPr lang="en-IN" sz="1600" dirty="0" err="1"/>
              <a:t>Mgmt</a:t>
            </a:r>
            <a:r>
              <a:rPr lang="en-IN" sz="1600" dirty="0"/>
              <a:t> System- </a:t>
            </a:r>
          </a:p>
          <a:p>
            <a:r>
              <a:rPr lang="en-IN" sz="1600" dirty="0" err="1"/>
              <a:t>COMPMinder</a:t>
            </a:r>
            <a:r>
              <a:rPr lang="en-IN" sz="1600" dirty="0"/>
              <a:t> Workers Comp management</a:t>
            </a:r>
          </a:p>
          <a:p>
            <a:r>
              <a:rPr lang="en-IN" sz="1600" dirty="0">
                <a:hlinkClick r:id="rId4"/>
              </a:rPr>
              <a:t>https://youtu.be/KxewQHxC2MA</a:t>
            </a:r>
            <a:endParaRPr lang="en-IN" sz="1600" dirty="0"/>
          </a:p>
          <a:p>
            <a:endParaRPr lang="en-IN" sz="1600" dirty="0"/>
          </a:p>
          <a:p>
            <a:r>
              <a:rPr lang="en-IN" sz="1600" dirty="0"/>
              <a:t>Quick </a:t>
            </a:r>
            <a:r>
              <a:rPr lang="en-IN" sz="1600" b="1" dirty="0"/>
              <a:t>B</a:t>
            </a:r>
            <a:r>
              <a:rPr lang="en-IN" sz="1600" dirty="0"/>
              <a:t>ook Pro 2016 - WC Tracking  feature to manage WC hours and make the payments. Insurance data is integrated with Quick Book for evaluation and calculation of the amount.</a:t>
            </a:r>
          </a:p>
          <a:p>
            <a:r>
              <a:rPr lang="en-IN" sz="1600" dirty="0"/>
              <a:t> </a:t>
            </a:r>
            <a:r>
              <a:rPr lang="en-IN" sz="1600" dirty="0">
                <a:hlinkClick r:id="rId5"/>
              </a:rPr>
              <a:t>https://youtu.be/h5x1AsdkJYs</a:t>
            </a:r>
            <a:endParaRPr lang="en-IN" sz="1600" dirty="0"/>
          </a:p>
          <a:p>
            <a:endParaRPr lang="en-IN" sz="1600" dirty="0"/>
          </a:p>
          <a:p>
            <a:r>
              <a:rPr lang="en-IN" sz="1600" dirty="0"/>
              <a:t>Workers Compensation Law : </a:t>
            </a:r>
            <a:r>
              <a:rPr lang="en-IN" sz="1600" u="sng" dirty="0" err="1">
                <a:hlinkClick r:id="rId6"/>
              </a:rPr>
              <a:t>AbacusLaw</a:t>
            </a:r>
            <a:endParaRPr lang="en-IN" sz="1600" u="sng" dirty="0"/>
          </a:p>
          <a:p>
            <a:r>
              <a:rPr lang="en-IN" sz="1600" dirty="0">
                <a:hlinkClick r:id="rId7"/>
              </a:rPr>
              <a:t>https://youtu.be/iMZEPfcZW8o</a:t>
            </a:r>
            <a:endParaRPr lang="en-IN" sz="1600" dirty="0"/>
          </a:p>
          <a:p>
            <a:endParaRPr lang="en-IN" sz="1600" dirty="0"/>
          </a:p>
          <a:p>
            <a:r>
              <a:rPr lang="en-IN" sz="1600" dirty="0"/>
              <a:t>Brokers playing a big role in facilitating the insurers:</a:t>
            </a:r>
          </a:p>
          <a:p>
            <a:r>
              <a:rPr lang="en-IN" sz="1600" dirty="0">
                <a:hlinkClick r:id="rId8"/>
              </a:rPr>
              <a:t>https://youtu.be/nWZ71zIj7z4</a:t>
            </a:r>
            <a:endParaRPr lang="en-IN" sz="1600" dirty="0"/>
          </a:p>
          <a:p>
            <a:endParaRPr lang="en-IN" sz="1600" dirty="0"/>
          </a:p>
          <a:p>
            <a:r>
              <a:rPr lang="en-IN" sz="1600" dirty="0"/>
              <a:t>Workers Compensation Software &amp; OSHA by A1 Tracker-</a:t>
            </a:r>
          </a:p>
          <a:p>
            <a:r>
              <a:rPr lang="en-IN" sz="1600" dirty="0">
                <a:hlinkClick r:id="rId9"/>
              </a:rPr>
              <a:t>https://youtu.be/XLgZ1wJi4hE</a:t>
            </a:r>
            <a:endParaRPr lang="en-IN" sz="1600" dirty="0"/>
          </a:p>
        </p:txBody>
      </p:sp>
      <p:sp>
        <p:nvSpPr>
          <p:cNvPr id="4" name="Rectangle 3"/>
          <p:cNvSpPr/>
          <p:nvPr/>
        </p:nvSpPr>
        <p:spPr>
          <a:xfrm>
            <a:off x="258260" y="356830"/>
            <a:ext cx="4579843" cy="461665"/>
          </a:xfrm>
          <a:prstGeom prst="rect">
            <a:avLst/>
          </a:prstGeom>
        </p:spPr>
        <p:txBody>
          <a:bodyPr wrap="none">
            <a:spAutoFit/>
          </a:bodyPr>
          <a:lstStyle/>
          <a:p>
            <a:r>
              <a:rPr lang="en-IN" sz="2400" b="1" dirty="0"/>
              <a:t>WC </a:t>
            </a:r>
            <a:r>
              <a:rPr lang="en-IN" sz="2400" b="1" dirty="0" err="1"/>
              <a:t>Softwares</a:t>
            </a:r>
            <a:r>
              <a:rPr lang="en-IN" sz="2400" b="1" dirty="0"/>
              <a:t> &amp; Implementations </a:t>
            </a:r>
          </a:p>
        </p:txBody>
      </p:sp>
      <p:pic>
        <p:nvPicPr>
          <p:cNvPr id="5" name="Picture 4"/>
          <p:cNvPicPr>
            <a:picLocks noChangeAspect="1"/>
          </p:cNvPicPr>
          <p:nvPr/>
        </p:nvPicPr>
        <p:blipFill>
          <a:blip r:embed="rId10"/>
          <a:stretch>
            <a:fillRect/>
          </a:stretch>
        </p:blipFill>
        <p:spPr>
          <a:xfrm>
            <a:off x="1027773" y="1215529"/>
            <a:ext cx="2143125" cy="647700"/>
          </a:xfrm>
          <a:prstGeom prst="rect">
            <a:avLst/>
          </a:prstGeom>
        </p:spPr>
      </p:pic>
      <p:sp>
        <p:nvSpPr>
          <p:cNvPr id="6" name="Rectangle 5"/>
          <p:cNvSpPr/>
          <p:nvPr/>
        </p:nvSpPr>
        <p:spPr>
          <a:xfrm>
            <a:off x="2070209" y="1854739"/>
            <a:ext cx="3361818" cy="646331"/>
          </a:xfrm>
          <a:prstGeom prst="rect">
            <a:avLst/>
          </a:prstGeom>
        </p:spPr>
        <p:txBody>
          <a:bodyPr wrap="none">
            <a:spAutoFit/>
          </a:bodyPr>
          <a:lstStyle/>
          <a:p>
            <a:r>
              <a:rPr lang="en-US" dirty="0">
                <a:hlinkClick r:id="rId11"/>
              </a:rPr>
              <a:t>http://www.gotropics.com/claim/</a:t>
            </a:r>
            <a:endParaRPr lang="en-US" dirty="0"/>
          </a:p>
          <a:p>
            <a:endParaRPr lang="en-US" dirty="0"/>
          </a:p>
        </p:txBody>
      </p:sp>
      <p:pic>
        <p:nvPicPr>
          <p:cNvPr id="7" name="Picture 6"/>
          <p:cNvPicPr>
            <a:picLocks noChangeAspect="1"/>
          </p:cNvPicPr>
          <p:nvPr/>
        </p:nvPicPr>
        <p:blipFill>
          <a:blip r:embed="rId12"/>
          <a:stretch>
            <a:fillRect/>
          </a:stretch>
        </p:blipFill>
        <p:spPr>
          <a:xfrm>
            <a:off x="1027773" y="2609056"/>
            <a:ext cx="3810330" cy="725487"/>
          </a:xfrm>
          <a:prstGeom prst="rect">
            <a:avLst/>
          </a:prstGeom>
        </p:spPr>
      </p:pic>
      <p:pic>
        <p:nvPicPr>
          <p:cNvPr id="8" name="Picture 7"/>
          <p:cNvPicPr>
            <a:picLocks noChangeAspect="1"/>
          </p:cNvPicPr>
          <p:nvPr/>
        </p:nvPicPr>
        <p:blipFill>
          <a:blip r:embed="rId13"/>
          <a:stretch>
            <a:fillRect/>
          </a:stretch>
        </p:blipFill>
        <p:spPr>
          <a:xfrm>
            <a:off x="1099912" y="3383580"/>
            <a:ext cx="2688569" cy="1225402"/>
          </a:xfrm>
          <a:prstGeom prst="rect">
            <a:avLst/>
          </a:prstGeom>
        </p:spPr>
      </p:pic>
      <p:pic>
        <p:nvPicPr>
          <p:cNvPr id="9" name="Picture 8"/>
          <p:cNvPicPr>
            <a:picLocks noChangeAspect="1"/>
          </p:cNvPicPr>
          <p:nvPr/>
        </p:nvPicPr>
        <p:blipFill>
          <a:blip r:embed="rId14"/>
          <a:stretch>
            <a:fillRect/>
          </a:stretch>
        </p:blipFill>
        <p:spPr>
          <a:xfrm>
            <a:off x="947499" y="4608982"/>
            <a:ext cx="2840982" cy="768163"/>
          </a:xfrm>
          <a:prstGeom prst="rect">
            <a:avLst/>
          </a:prstGeom>
        </p:spPr>
      </p:pic>
      <p:pic>
        <p:nvPicPr>
          <p:cNvPr id="10" name="Picture 9"/>
          <p:cNvPicPr>
            <a:picLocks noChangeAspect="1"/>
          </p:cNvPicPr>
          <p:nvPr/>
        </p:nvPicPr>
        <p:blipFill>
          <a:blip r:embed="rId15"/>
          <a:stretch>
            <a:fillRect/>
          </a:stretch>
        </p:blipFill>
        <p:spPr>
          <a:xfrm>
            <a:off x="1276711" y="5654405"/>
            <a:ext cx="2182557" cy="786452"/>
          </a:xfrm>
          <a:prstGeom prst="rect">
            <a:avLst/>
          </a:prstGeom>
        </p:spPr>
      </p:pic>
      <p:sp>
        <p:nvSpPr>
          <p:cNvPr id="11" name="Rectangle 10"/>
          <p:cNvSpPr/>
          <p:nvPr/>
        </p:nvSpPr>
        <p:spPr>
          <a:xfrm>
            <a:off x="2932938" y="4088860"/>
            <a:ext cx="2112822" cy="369332"/>
          </a:xfrm>
          <a:prstGeom prst="rect">
            <a:avLst/>
          </a:prstGeom>
        </p:spPr>
        <p:txBody>
          <a:bodyPr wrap="none">
            <a:spAutoFit/>
          </a:bodyPr>
          <a:lstStyle/>
          <a:p>
            <a:r>
              <a:rPr lang="en-US" dirty="0">
                <a:hlinkClick r:id="rId16"/>
              </a:rPr>
              <a:t>www.stoneriver.com</a:t>
            </a:r>
            <a:endParaRPr lang="en-US" dirty="0"/>
          </a:p>
        </p:txBody>
      </p:sp>
      <p:sp>
        <p:nvSpPr>
          <p:cNvPr id="12" name="Rectangle 11"/>
          <p:cNvSpPr/>
          <p:nvPr/>
        </p:nvSpPr>
        <p:spPr>
          <a:xfrm>
            <a:off x="2932938" y="5027843"/>
            <a:ext cx="2303259" cy="369332"/>
          </a:xfrm>
          <a:prstGeom prst="rect">
            <a:avLst/>
          </a:prstGeom>
        </p:spPr>
        <p:txBody>
          <a:bodyPr wrap="none">
            <a:spAutoFit/>
          </a:bodyPr>
          <a:lstStyle/>
          <a:p>
            <a:r>
              <a:rPr lang="en-US" dirty="0">
                <a:hlinkClick r:id="rId17"/>
              </a:rPr>
              <a:t>www.systemasoft.com</a:t>
            </a:r>
            <a:endParaRPr lang="en-US" dirty="0"/>
          </a:p>
        </p:txBody>
      </p:sp>
      <p:sp>
        <p:nvSpPr>
          <p:cNvPr id="13" name="Rectangle 12"/>
          <p:cNvSpPr/>
          <p:nvPr/>
        </p:nvSpPr>
        <p:spPr>
          <a:xfrm>
            <a:off x="2959035" y="6233215"/>
            <a:ext cx="2086725" cy="369332"/>
          </a:xfrm>
          <a:prstGeom prst="rect">
            <a:avLst/>
          </a:prstGeom>
        </p:spPr>
        <p:txBody>
          <a:bodyPr wrap="none">
            <a:spAutoFit/>
          </a:bodyPr>
          <a:lstStyle/>
          <a:p>
            <a:r>
              <a:rPr lang="en-US" dirty="0">
                <a:hlinkClick r:id="rId18"/>
              </a:rPr>
              <a:t>www.pcisvision.com</a:t>
            </a:r>
            <a:endParaRPr lang="en-US" dirty="0"/>
          </a:p>
        </p:txBody>
      </p:sp>
    </p:spTree>
    <p:extLst>
      <p:ext uri="{BB962C8B-B14F-4D97-AF65-F5344CB8AC3E}">
        <p14:creationId xmlns:p14="http://schemas.microsoft.com/office/powerpoint/2010/main" val="13573271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6100" y="2157631"/>
            <a:ext cx="8178800" cy="4247317"/>
          </a:xfrm>
          <a:prstGeom prst="rect">
            <a:avLst/>
          </a:prstGeom>
        </p:spPr>
        <p:txBody>
          <a:bodyPr wrap="square">
            <a:spAutoFit/>
          </a:bodyPr>
          <a:lstStyle/>
          <a:p>
            <a:pPr marL="285750" indent="-285750">
              <a:buFont typeface="Arial" panose="020B0604020202020204" pitchFamily="34" charset="0"/>
              <a:buChar char="•"/>
            </a:pPr>
            <a:r>
              <a:rPr lang="en-US" dirty="0"/>
              <a:t>Tropics can dramatically improve productivity for claims system users </a:t>
            </a:r>
            <a:r>
              <a:rPr lang="en-US" u="sng" dirty="0"/>
              <a:t>by integrating documents and forms, imaging, and an effective rules engine, which automates the work management functions.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system is comprised of fully integrated modules that can be configured to fit the needs and goals of any workers’ compensation processing organization.</a:t>
            </a:r>
          </a:p>
          <a:p>
            <a:pPr marL="285750" indent="-285750">
              <a:buFont typeface="Arial" panose="020B0604020202020204" pitchFamily="34" charset="0"/>
              <a:buChar char="•"/>
            </a:pPr>
            <a:endParaRPr lang="en-US" i="1" dirty="0"/>
          </a:p>
          <a:p>
            <a:pPr marL="285750" indent="-285750">
              <a:buFont typeface="Arial" panose="020B0604020202020204" pitchFamily="34" charset="0"/>
              <a:buChar char="•"/>
            </a:pPr>
            <a:r>
              <a:rPr lang="en-US" dirty="0"/>
              <a:t>The system </a:t>
            </a:r>
            <a:r>
              <a:rPr lang="en-US" u="sng" dirty="0"/>
              <a:t>accesses policy data for full verification of coverage</a:t>
            </a:r>
            <a:r>
              <a:rPr lang="en-US" dirty="0"/>
              <a:t>, and </a:t>
            </a:r>
            <a:r>
              <a:rPr lang="en-US" u="sng" dirty="0"/>
              <a:t>feeds summary claims data back to the policy system</a:t>
            </a:r>
            <a:r>
              <a:rPr lang="en-US" dirty="0"/>
              <a: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technique provides the foundation for seamless, accurate processing of loss sensitive and deductible policies, as well as the capability to run accurate and detailed billing for deductibles, retrospectively rated plans, loss ratio dependent dividend plans, and policy and unit statistical reporting.</a:t>
            </a:r>
            <a:endParaRPr lang="en-US" i="1" dirty="0"/>
          </a:p>
          <a:p>
            <a:endParaRPr lang="en-US" dirty="0"/>
          </a:p>
        </p:txBody>
      </p:sp>
      <p:pic>
        <p:nvPicPr>
          <p:cNvPr id="3" name="Picture 2"/>
          <p:cNvPicPr>
            <a:picLocks noChangeAspect="1"/>
          </p:cNvPicPr>
          <p:nvPr/>
        </p:nvPicPr>
        <p:blipFill>
          <a:blip r:embed="rId2"/>
          <a:stretch>
            <a:fillRect/>
          </a:stretch>
        </p:blipFill>
        <p:spPr>
          <a:xfrm>
            <a:off x="325437" y="1187450"/>
            <a:ext cx="2143125" cy="647700"/>
          </a:xfrm>
          <a:prstGeom prst="rect">
            <a:avLst/>
          </a:prstGeom>
        </p:spPr>
      </p:pic>
      <p:sp>
        <p:nvSpPr>
          <p:cNvPr id="4" name="Rectangle 3"/>
          <p:cNvSpPr/>
          <p:nvPr/>
        </p:nvSpPr>
        <p:spPr>
          <a:xfrm>
            <a:off x="3048000" y="1511300"/>
            <a:ext cx="3361818" cy="646331"/>
          </a:xfrm>
          <a:prstGeom prst="rect">
            <a:avLst/>
          </a:prstGeom>
        </p:spPr>
        <p:txBody>
          <a:bodyPr wrap="none">
            <a:spAutoFit/>
          </a:bodyPr>
          <a:lstStyle/>
          <a:p>
            <a:r>
              <a:rPr lang="en-US" dirty="0">
                <a:hlinkClick r:id="rId3"/>
              </a:rPr>
              <a:t>http://www.gotropics.com/claim/</a:t>
            </a:r>
            <a:endParaRPr lang="en-US" dirty="0"/>
          </a:p>
          <a:p>
            <a:endParaRPr lang="en-US" dirty="0"/>
          </a:p>
        </p:txBody>
      </p:sp>
      <p:pic>
        <p:nvPicPr>
          <p:cNvPr id="5" name="Picture 4"/>
          <p:cNvPicPr>
            <a:picLocks noChangeAspect="1"/>
          </p:cNvPicPr>
          <p:nvPr/>
        </p:nvPicPr>
        <p:blipFill>
          <a:blip r:embed="rId4"/>
          <a:stretch>
            <a:fillRect/>
          </a:stretch>
        </p:blipFill>
        <p:spPr>
          <a:xfrm>
            <a:off x="9010650" y="2402106"/>
            <a:ext cx="2857500" cy="2305050"/>
          </a:xfrm>
          <a:prstGeom prst="rect">
            <a:avLst/>
          </a:prstGeom>
        </p:spPr>
      </p:pic>
      <p:pic>
        <p:nvPicPr>
          <p:cNvPr id="6" name="Picture 5"/>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57970" y="977028"/>
            <a:ext cx="9804188" cy="264653"/>
          </a:xfrm>
          <a:prstGeom prst="rect">
            <a:avLst/>
          </a:prstGeom>
        </p:spPr>
      </p:pic>
    </p:spTree>
    <p:extLst>
      <p:ext uri="{BB962C8B-B14F-4D97-AF65-F5344CB8AC3E}">
        <p14:creationId xmlns:p14="http://schemas.microsoft.com/office/powerpoint/2010/main" val="3018624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fade">
                                      <p:cBhvr>
                                        <p:cTn id="14" dur="1000"/>
                                        <p:tgtEl>
                                          <p:spTgt spid="2">
                                            <p:txEl>
                                              <p:pRg st="2" end="2"/>
                                            </p:txEl>
                                          </p:spTgt>
                                        </p:tgtEl>
                                      </p:cBhvr>
                                    </p:animEffect>
                                    <p:anim calcmode="lin" valueType="num">
                                      <p:cBhvr>
                                        <p:cTn id="1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1000"/>
                                        <p:tgtEl>
                                          <p:spTgt spid="2">
                                            <p:txEl>
                                              <p:pRg st="4" end="4"/>
                                            </p:txEl>
                                          </p:spTgt>
                                        </p:tgtEl>
                                      </p:cBhvr>
                                    </p:animEffect>
                                    <p:anim calcmode="lin" valueType="num">
                                      <p:cBhvr>
                                        <p:cTn id="22"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fade">
                                      <p:cBhvr>
                                        <p:cTn id="28" dur="1000"/>
                                        <p:tgtEl>
                                          <p:spTgt spid="2">
                                            <p:txEl>
                                              <p:pRg st="6" end="6"/>
                                            </p:txEl>
                                          </p:spTgt>
                                        </p:tgtEl>
                                      </p:cBhvr>
                                    </p:animEffect>
                                    <p:anim calcmode="lin" valueType="num">
                                      <p:cBhvr>
                                        <p:cTn id="29"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8300" y="1155700"/>
            <a:ext cx="11671300" cy="646331"/>
          </a:xfrm>
          <a:prstGeom prst="rect">
            <a:avLst/>
          </a:prstGeom>
          <a:noFill/>
        </p:spPr>
        <p:txBody>
          <a:bodyPr wrap="square" rtlCol="0">
            <a:spAutoFit/>
          </a:bodyPr>
          <a:lstStyle/>
          <a:p>
            <a:endParaRPr lang="en-US" dirty="0"/>
          </a:p>
          <a:p>
            <a:endParaRPr lang="en-US" dirty="0"/>
          </a:p>
        </p:txBody>
      </p:sp>
      <p:sp>
        <p:nvSpPr>
          <p:cNvPr id="3" name="Rectangle 2"/>
          <p:cNvSpPr/>
          <p:nvPr/>
        </p:nvSpPr>
        <p:spPr>
          <a:xfrm>
            <a:off x="368300" y="1487250"/>
            <a:ext cx="11366500" cy="4524315"/>
          </a:xfrm>
          <a:prstGeom prst="rect">
            <a:avLst/>
          </a:prstGeom>
        </p:spPr>
        <p:txBody>
          <a:bodyPr wrap="square">
            <a:spAutoFit/>
          </a:bodyPr>
          <a:lstStyle/>
          <a:p>
            <a:r>
              <a:rPr lang="en-US" b="1" dirty="0"/>
              <a:t>First Report of Injury (FROI)</a:t>
            </a:r>
          </a:p>
          <a:p>
            <a:pPr marL="285750" indent="-285750">
              <a:buFont typeface="Arial" panose="020B0604020202020204" pitchFamily="34" charset="0"/>
              <a:buChar char="•"/>
            </a:pPr>
            <a:r>
              <a:rPr lang="en-US" dirty="0"/>
              <a:t>To accommodate different data requirements in different states, </a:t>
            </a:r>
            <a:r>
              <a:rPr lang="en-US" b="1" dirty="0"/>
              <a:t>Tropics provides state-specific First Report of Injury screens </a:t>
            </a:r>
            <a:r>
              <a:rPr lang="en-US" dirty="0"/>
              <a:t>to enhance workflow and productivity. Additionally, Tropics provides a web based FROI screen for the employers to report injuries via the Internet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When a notice is received online, </a:t>
            </a:r>
            <a:r>
              <a:rPr lang="en-US" b="1" dirty="0"/>
              <a:t>designated personnel( Claims Assignment) will be alerted immediately via e-mail </a:t>
            </a:r>
            <a:r>
              <a:rPr lang="en-US" dirty="0"/>
              <a:t>to process the incoming notice. When using the Tropics Claims System in conjunction with the Tropics Policy System, the FROI module verifies coverage, payroll class codes, elections of non-coverage, and assignment of a claim to a specific insured location.</a:t>
            </a:r>
          </a:p>
          <a:p>
            <a:endParaRPr lang="en-US" dirty="0"/>
          </a:p>
          <a:p>
            <a:r>
              <a:rPr lang="en-US" b="1" dirty="0"/>
              <a:t>Reserve Management</a:t>
            </a:r>
          </a:p>
          <a:p>
            <a:endParaRPr lang="en-US" dirty="0"/>
          </a:p>
          <a:p>
            <a:pPr marL="285750" indent="-285750">
              <a:buFont typeface="Arial" panose="020B0604020202020204" pitchFamily="34" charset="0"/>
              <a:buChar char="•"/>
            </a:pPr>
            <a:r>
              <a:rPr lang="en-US" dirty="0"/>
              <a:t>In addition to providing a pre-defined reserve management screen for setting and changing reserves, the system interfaces with Microsoft Excel to give clients the </a:t>
            </a:r>
            <a:r>
              <a:rPr lang="en-US" b="1" dirty="0"/>
              <a:t>capability of designing fully customized reserve worksheets</a:t>
            </a:r>
            <a:r>
              <a:rPr lang="en-US" dirty="0"/>
              <a:t>.</a:t>
            </a:r>
          </a:p>
          <a:p>
            <a:pPr marL="285750" indent="-285750">
              <a:buFont typeface="Arial" panose="020B0604020202020204" pitchFamily="34" charset="0"/>
              <a:buChar char="•"/>
            </a:pPr>
            <a:r>
              <a:rPr lang="en-US" dirty="0"/>
              <a:t>The claims processing screens provide </a:t>
            </a:r>
            <a:r>
              <a:rPr lang="en-US" b="1" dirty="0"/>
              <a:t>clear visual representation of how much of the reserves are used, committed to future payment, and available.</a:t>
            </a:r>
          </a:p>
        </p:txBody>
      </p:sp>
      <p:sp>
        <p:nvSpPr>
          <p:cNvPr id="4" name="Rectangle 3"/>
          <p:cNvSpPr/>
          <p:nvPr/>
        </p:nvSpPr>
        <p:spPr>
          <a:xfrm>
            <a:off x="257463" y="512366"/>
            <a:ext cx="9865586" cy="461665"/>
          </a:xfrm>
          <a:prstGeom prst="rect">
            <a:avLst/>
          </a:prstGeom>
        </p:spPr>
        <p:txBody>
          <a:bodyPr wrap="none">
            <a:spAutoFit/>
          </a:bodyPr>
          <a:lstStyle/>
          <a:p>
            <a:r>
              <a:rPr lang="en-US" sz="2400" b="1" dirty="0"/>
              <a:t>Tropics Functionalities and Features: How does Tropics Claims system work?</a:t>
            </a:r>
          </a:p>
        </p:txBody>
      </p:sp>
      <p:pic>
        <p:nvPicPr>
          <p:cNvPr id="5" name="Picture 4"/>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7970" y="977028"/>
            <a:ext cx="9804188" cy="264653"/>
          </a:xfrm>
          <a:prstGeom prst="rect">
            <a:avLst/>
          </a:prstGeom>
        </p:spPr>
      </p:pic>
    </p:spTree>
    <p:extLst>
      <p:ext uri="{BB962C8B-B14F-4D97-AF65-F5344CB8AC3E}">
        <p14:creationId xmlns:p14="http://schemas.microsoft.com/office/powerpoint/2010/main" val="1072321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anim calcmode="lin" valueType="num">
                                      <p:cBhvr>
                                        <p:cTn id="1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fade">
                                      <p:cBhvr>
                                        <p:cTn id="19" dur="1000"/>
                                        <p:tgtEl>
                                          <p:spTgt spid="3">
                                            <p:txEl>
                                              <p:pRg st="7" end="7"/>
                                            </p:txEl>
                                          </p:spTgt>
                                        </p:tgtEl>
                                      </p:cBhvr>
                                    </p:animEffect>
                                    <p:anim calcmode="lin" valueType="num">
                                      <p:cBhvr>
                                        <p:cTn id="2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7" end="7"/>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fade">
                                      <p:cBhvr>
                                        <p:cTn id="24" dur="1000"/>
                                        <p:tgtEl>
                                          <p:spTgt spid="3">
                                            <p:txEl>
                                              <p:pRg st="8" end="8"/>
                                            </p:txEl>
                                          </p:spTgt>
                                        </p:tgtEl>
                                      </p:cBhvr>
                                    </p:animEffect>
                                    <p:anim calcmode="lin" valueType="num">
                                      <p:cBhvr>
                                        <p:cTn id="25"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5300" y="1241681"/>
            <a:ext cx="11366500" cy="5355312"/>
          </a:xfrm>
          <a:prstGeom prst="rect">
            <a:avLst/>
          </a:prstGeom>
        </p:spPr>
        <p:txBody>
          <a:bodyPr wrap="square">
            <a:spAutoFit/>
          </a:bodyPr>
          <a:lstStyle/>
          <a:p>
            <a:r>
              <a:rPr lang="en-US" b="1" dirty="0"/>
              <a:t>Claim View / Processing</a:t>
            </a:r>
            <a:endParaRPr lang="en-US" dirty="0"/>
          </a:p>
          <a:p>
            <a:r>
              <a:rPr lang="en-US" dirty="0"/>
              <a:t>This powerful, effective user interface creates a </a:t>
            </a:r>
            <a:r>
              <a:rPr lang="en-US" b="1" dirty="0"/>
              <a:t>single access point to view and process all activities of a claim</a:t>
            </a:r>
            <a:r>
              <a:rPr lang="en-US" dirty="0"/>
              <a:t>. Through a unified user access point, the user is able to view all of the necessary data on a claim and to initiate new activities. All information related to a claim, including the payments, reserves, recoveries, etc., are only one click away when a claim is opened.</a:t>
            </a:r>
          </a:p>
          <a:p>
            <a:endParaRPr lang="en-US" dirty="0"/>
          </a:p>
          <a:p>
            <a:r>
              <a:rPr lang="en-US" b="1" dirty="0"/>
              <a:t>Provider Management</a:t>
            </a:r>
            <a:endParaRPr lang="en-US" dirty="0"/>
          </a:p>
          <a:p>
            <a:r>
              <a:rPr lang="en-US" dirty="0"/>
              <a:t>Medical and other types of providers are </a:t>
            </a:r>
            <a:r>
              <a:rPr lang="en-US" b="1" dirty="0"/>
              <a:t>fully profiled </a:t>
            </a:r>
            <a:r>
              <a:rPr lang="en-US" dirty="0"/>
              <a:t>in the system to enable accurate provider selection, medical bill adjudication, and financial processing. </a:t>
            </a:r>
          </a:p>
          <a:p>
            <a:endParaRPr lang="en-US" dirty="0"/>
          </a:p>
          <a:p>
            <a:pPr fontAlgn="base"/>
            <a:r>
              <a:rPr lang="en-US" b="1" dirty="0"/>
              <a:t>Payment/Recovery Processing</a:t>
            </a:r>
          </a:p>
          <a:p>
            <a:pPr marL="285750" indent="-285750" fontAlgn="base">
              <a:buFont typeface="Arial" panose="020B0604020202020204" pitchFamily="34" charset="0"/>
              <a:buChar char="•"/>
            </a:pPr>
            <a:r>
              <a:rPr lang="en-US" dirty="0"/>
              <a:t>Recognizing that payment processing and financial management is the cornerstone of a claim system, Tropics provide a precise and feature-rich system for this purpose. </a:t>
            </a:r>
          </a:p>
          <a:p>
            <a:pPr marL="285750" indent="-285750" fontAlgn="base">
              <a:buFont typeface="Arial" panose="020B0604020202020204" pitchFamily="34" charset="0"/>
              <a:buChar char="•"/>
            </a:pPr>
            <a:r>
              <a:rPr lang="en-US" dirty="0"/>
              <a:t>The Tropics Payment/Recovery </a:t>
            </a:r>
            <a:r>
              <a:rPr lang="en-US" b="1" dirty="0"/>
              <a:t>Module offers payment replication, auto-pay, and planned adjustments</a:t>
            </a:r>
            <a:r>
              <a:rPr lang="en-US" dirty="0"/>
              <a:t> for automatically splitting indemnity payments as needed.</a:t>
            </a:r>
          </a:p>
          <a:p>
            <a:pPr marL="285750" indent="-285750" fontAlgn="base">
              <a:buFont typeface="Arial" panose="020B0604020202020204" pitchFamily="34" charset="0"/>
              <a:buChar char="•"/>
            </a:pPr>
            <a:r>
              <a:rPr lang="en-US" dirty="0"/>
              <a:t>To </a:t>
            </a:r>
            <a:r>
              <a:rPr lang="en-US" b="1" dirty="0"/>
              <a:t>facilitate bill entry</a:t>
            </a:r>
            <a:r>
              <a:rPr lang="en-US" dirty="0"/>
              <a:t>, Tropics has designed multiple entry screens: indemnity, pharmacy, legal, physician, hospital, and other. Each screen is designed for efficient data entry. The recovery entry screen captures the data related to nature, amount, and source of recovery with capability to add user comments. The system allows booking of “anticipated” recoveries.</a:t>
            </a:r>
          </a:p>
        </p:txBody>
      </p:sp>
      <p:sp>
        <p:nvSpPr>
          <p:cNvPr id="3" name="TextBox 2"/>
          <p:cNvSpPr txBox="1"/>
          <p:nvPr/>
        </p:nvSpPr>
        <p:spPr>
          <a:xfrm>
            <a:off x="495300" y="215900"/>
            <a:ext cx="1333507" cy="369332"/>
          </a:xfrm>
          <a:prstGeom prst="rect">
            <a:avLst/>
          </a:prstGeom>
          <a:noFill/>
        </p:spPr>
        <p:txBody>
          <a:bodyPr wrap="none" rtlCol="0">
            <a:spAutoFit/>
          </a:bodyPr>
          <a:lstStyle/>
          <a:p>
            <a:r>
              <a:rPr lang="en-US" dirty="0"/>
              <a:t>Continued…</a:t>
            </a:r>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7970" y="977028"/>
            <a:ext cx="9804188" cy="264653"/>
          </a:xfrm>
          <a:prstGeom prst="rect">
            <a:avLst/>
          </a:prstGeom>
        </p:spPr>
      </p:pic>
    </p:spTree>
    <p:extLst>
      <p:ext uri="{BB962C8B-B14F-4D97-AF65-F5344CB8AC3E}">
        <p14:creationId xmlns:p14="http://schemas.microsoft.com/office/powerpoint/2010/main" val="1257583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1000"/>
                                        <p:tgtEl>
                                          <p:spTgt spid="2">
                                            <p:txEl>
                                              <p:pRg st="1" end="1"/>
                                            </p:txEl>
                                          </p:spTgt>
                                        </p:tgtEl>
                                      </p:cBhvr>
                                    </p:animEffect>
                                    <p:anim calcmode="lin" valueType="num">
                                      <p:cBhvr>
                                        <p:cTn id="13"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fade">
                                      <p:cBhvr>
                                        <p:cTn id="19" dur="1000"/>
                                        <p:tgtEl>
                                          <p:spTgt spid="2">
                                            <p:txEl>
                                              <p:pRg st="3" end="3"/>
                                            </p:txEl>
                                          </p:spTgt>
                                        </p:tgtEl>
                                      </p:cBhvr>
                                    </p:animEffect>
                                    <p:anim calcmode="lin" valueType="num">
                                      <p:cBhvr>
                                        <p:cTn id="20"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3" end="3"/>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
                                            <p:txEl>
                                              <p:pRg st="4" end="4"/>
                                            </p:txEl>
                                          </p:spTgt>
                                        </p:tgtEl>
                                        <p:attrNameLst>
                                          <p:attrName>style.visibility</p:attrName>
                                        </p:attrNameLst>
                                      </p:cBhvr>
                                      <p:to>
                                        <p:strVal val="visible"/>
                                      </p:to>
                                    </p:set>
                                    <p:animEffect transition="in" filter="fade">
                                      <p:cBhvr>
                                        <p:cTn id="24" dur="1000"/>
                                        <p:tgtEl>
                                          <p:spTgt spid="2">
                                            <p:txEl>
                                              <p:pRg st="4" end="4"/>
                                            </p:txEl>
                                          </p:spTgt>
                                        </p:tgtEl>
                                      </p:cBhvr>
                                    </p:animEffect>
                                    <p:anim calcmode="lin" valueType="num">
                                      <p:cBhvr>
                                        <p:cTn id="25"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Effect transition="in" filter="fade">
                                      <p:cBhvr>
                                        <p:cTn id="31" dur="1000"/>
                                        <p:tgtEl>
                                          <p:spTgt spid="2">
                                            <p:txEl>
                                              <p:pRg st="6" end="6"/>
                                            </p:txEl>
                                          </p:spTgt>
                                        </p:tgtEl>
                                      </p:cBhvr>
                                    </p:animEffect>
                                    <p:anim calcmode="lin" valueType="num">
                                      <p:cBhvr>
                                        <p:cTn id="32"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2">
                                            <p:txEl>
                                              <p:pRg st="6" end="6"/>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2">
                                            <p:txEl>
                                              <p:pRg st="7" end="7"/>
                                            </p:txEl>
                                          </p:spTgt>
                                        </p:tgtEl>
                                        <p:attrNameLst>
                                          <p:attrName>style.visibility</p:attrName>
                                        </p:attrNameLst>
                                      </p:cBhvr>
                                      <p:to>
                                        <p:strVal val="visible"/>
                                      </p:to>
                                    </p:set>
                                    <p:animEffect transition="in" filter="fade">
                                      <p:cBhvr>
                                        <p:cTn id="36" dur="1000"/>
                                        <p:tgtEl>
                                          <p:spTgt spid="2">
                                            <p:txEl>
                                              <p:pRg st="7" end="7"/>
                                            </p:txEl>
                                          </p:spTgt>
                                        </p:tgtEl>
                                      </p:cBhvr>
                                    </p:animEffect>
                                    <p:anim calcmode="lin" valueType="num">
                                      <p:cBhvr>
                                        <p:cTn id="37"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38" dur="1000" fill="hold"/>
                                        <p:tgtEl>
                                          <p:spTgt spid="2">
                                            <p:txEl>
                                              <p:pRg st="7" end="7"/>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2">
                                            <p:txEl>
                                              <p:pRg st="8" end="8"/>
                                            </p:txEl>
                                          </p:spTgt>
                                        </p:tgtEl>
                                        <p:attrNameLst>
                                          <p:attrName>style.visibility</p:attrName>
                                        </p:attrNameLst>
                                      </p:cBhvr>
                                      <p:to>
                                        <p:strVal val="visible"/>
                                      </p:to>
                                    </p:set>
                                    <p:animEffect transition="in" filter="fade">
                                      <p:cBhvr>
                                        <p:cTn id="41" dur="1000"/>
                                        <p:tgtEl>
                                          <p:spTgt spid="2">
                                            <p:txEl>
                                              <p:pRg st="8" end="8"/>
                                            </p:txEl>
                                          </p:spTgt>
                                        </p:tgtEl>
                                      </p:cBhvr>
                                    </p:animEffect>
                                    <p:anim calcmode="lin" valueType="num">
                                      <p:cBhvr>
                                        <p:cTn id="42"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43" dur="1000" fill="hold"/>
                                        <p:tgtEl>
                                          <p:spTgt spid="2">
                                            <p:txEl>
                                              <p:pRg st="8" end="8"/>
                                            </p:txEl>
                                          </p:spTgt>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2">
                                            <p:txEl>
                                              <p:pRg st="9" end="9"/>
                                            </p:txEl>
                                          </p:spTgt>
                                        </p:tgtEl>
                                        <p:attrNameLst>
                                          <p:attrName>style.visibility</p:attrName>
                                        </p:attrNameLst>
                                      </p:cBhvr>
                                      <p:to>
                                        <p:strVal val="visible"/>
                                      </p:to>
                                    </p:set>
                                    <p:animEffect transition="in" filter="fade">
                                      <p:cBhvr>
                                        <p:cTn id="46" dur="1000"/>
                                        <p:tgtEl>
                                          <p:spTgt spid="2">
                                            <p:txEl>
                                              <p:pRg st="9" end="9"/>
                                            </p:txEl>
                                          </p:spTgt>
                                        </p:tgtEl>
                                      </p:cBhvr>
                                    </p:animEffect>
                                    <p:anim calcmode="lin" valueType="num">
                                      <p:cBhvr>
                                        <p:cTn id="47"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48"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9846" y="1297263"/>
            <a:ext cx="7518400" cy="2585323"/>
          </a:xfrm>
          <a:prstGeom prst="rect">
            <a:avLst/>
          </a:prstGeom>
        </p:spPr>
        <p:txBody>
          <a:bodyPr wrap="square">
            <a:spAutoFit/>
          </a:bodyPr>
          <a:lstStyle/>
          <a:p>
            <a:r>
              <a:rPr lang="en-US" b="1" dirty="0"/>
              <a:t>Notebook+</a:t>
            </a:r>
            <a:endParaRPr lang="en-US" dirty="0"/>
          </a:p>
          <a:p>
            <a:pPr marL="285750" indent="-285750">
              <a:buFont typeface="Arial" panose="020B0604020202020204" pitchFamily="34" charset="0"/>
              <a:buChar char="•"/>
            </a:pPr>
            <a:r>
              <a:rPr lang="en-US" dirty="0"/>
              <a:t>Tropics has taken the basic functionality of a typical notepad and expanded it to include many modern and productive features such as :</a:t>
            </a:r>
          </a:p>
          <a:p>
            <a:pPr lvl="1"/>
            <a:r>
              <a:rPr lang="en-US" dirty="0"/>
              <a:t>storing sent/received emails, sending emails directly, and attaching documents and work items (diaries) to the notes. </a:t>
            </a:r>
          </a:p>
          <a:p>
            <a:pPr marL="285750" indent="-285750">
              <a:buFont typeface="Arial" panose="020B0604020202020204" pitchFamily="34" charset="0"/>
              <a:buChar char="•"/>
            </a:pPr>
            <a:r>
              <a:rPr lang="en-US" dirty="0"/>
              <a:t>Text editing features such as bolding, highlighting, spell checking, etc., have been built into the notepad.</a:t>
            </a:r>
          </a:p>
          <a:p>
            <a:pPr marL="285750" indent="-285750">
              <a:buFont typeface="Arial" panose="020B0604020202020204" pitchFamily="34" charset="0"/>
              <a:buChar char="•"/>
            </a:pPr>
            <a:r>
              <a:rPr lang="en-US" dirty="0"/>
              <a:t>From the Notebook+ central view, a user may review notes, access documents and perform related work directly. </a:t>
            </a:r>
          </a:p>
        </p:txBody>
      </p:sp>
      <p:pic>
        <p:nvPicPr>
          <p:cNvPr id="3" name="Picture 2"/>
          <p:cNvPicPr>
            <a:picLocks noChangeAspect="1"/>
          </p:cNvPicPr>
          <p:nvPr/>
        </p:nvPicPr>
        <p:blipFill>
          <a:blip r:embed="rId2"/>
          <a:stretch>
            <a:fillRect/>
          </a:stretch>
        </p:blipFill>
        <p:spPr>
          <a:xfrm>
            <a:off x="8665645" y="2589925"/>
            <a:ext cx="2857500" cy="2143125"/>
          </a:xfrm>
          <a:prstGeom prst="rect">
            <a:avLst/>
          </a:prstGeom>
        </p:spPr>
      </p:pic>
      <p:sp>
        <p:nvSpPr>
          <p:cNvPr id="4" name="Rectangle 3"/>
          <p:cNvSpPr/>
          <p:nvPr/>
        </p:nvSpPr>
        <p:spPr>
          <a:xfrm>
            <a:off x="379846" y="4733050"/>
            <a:ext cx="7924800" cy="1477328"/>
          </a:xfrm>
          <a:prstGeom prst="rect">
            <a:avLst/>
          </a:prstGeom>
        </p:spPr>
        <p:txBody>
          <a:bodyPr wrap="square">
            <a:spAutoFit/>
          </a:bodyPr>
          <a:lstStyle/>
          <a:p>
            <a:r>
              <a:rPr lang="en-US" b="1" dirty="0"/>
              <a:t>mail Notification System</a:t>
            </a:r>
            <a:endParaRPr lang="en-US" dirty="0"/>
          </a:p>
          <a:p>
            <a:endParaRPr lang="en-US" dirty="0"/>
          </a:p>
          <a:p>
            <a:r>
              <a:rPr lang="en-US" dirty="0"/>
              <a:t>This system is used in automating many of the required notifications such as “Bill is Ready to Pay” “Payment Reminder”, “Past Due Notice, “Self Audit Reminder”, “Termination Notification”, and many other types of notifications.</a:t>
            </a:r>
          </a:p>
        </p:txBody>
      </p:sp>
      <p:sp>
        <p:nvSpPr>
          <p:cNvPr id="5" name="TextBox 4"/>
          <p:cNvSpPr txBox="1"/>
          <p:nvPr/>
        </p:nvSpPr>
        <p:spPr>
          <a:xfrm>
            <a:off x="127000" y="177800"/>
            <a:ext cx="4432300" cy="369332"/>
          </a:xfrm>
          <a:prstGeom prst="rect">
            <a:avLst/>
          </a:prstGeom>
          <a:noFill/>
        </p:spPr>
        <p:txBody>
          <a:bodyPr wrap="square" rtlCol="0">
            <a:spAutoFit/>
          </a:bodyPr>
          <a:lstStyle/>
          <a:p>
            <a:r>
              <a:rPr lang="en-US" dirty="0"/>
              <a:t>Continued…</a:t>
            </a:r>
          </a:p>
        </p:txBody>
      </p:sp>
      <p:pic>
        <p:nvPicPr>
          <p:cNvPr id="6" name="Picture 5"/>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7970" y="977028"/>
            <a:ext cx="9804188" cy="264653"/>
          </a:xfrm>
          <a:prstGeom prst="rect">
            <a:avLst/>
          </a:prstGeom>
        </p:spPr>
      </p:pic>
    </p:spTree>
    <p:extLst>
      <p:ext uri="{BB962C8B-B14F-4D97-AF65-F5344CB8AC3E}">
        <p14:creationId xmlns:p14="http://schemas.microsoft.com/office/powerpoint/2010/main" val="1873272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1000"/>
                                        <p:tgtEl>
                                          <p:spTgt spid="2">
                                            <p:txEl>
                                              <p:pRg st="1" end="1"/>
                                            </p:txEl>
                                          </p:spTgt>
                                        </p:tgtEl>
                                      </p:cBhvr>
                                    </p:animEffect>
                                    <p:anim calcmode="lin" valueType="num">
                                      <p:cBhvr>
                                        <p:cTn id="13"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1000"/>
                                        <p:tgtEl>
                                          <p:spTgt spid="2">
                                            <p:txEl>
                                              <p:pRg st="2" end="2"/>
                                            </p:txEl>
                                          </p:spTgt>
                                        </p:tgtEl>
                                      </p:cBhvr>
                                    </p:animEffect>
                                    <p:anim calcmode="lin" valueType="num">
                                      <p:cBhvr>
                                        <p:cTn id="1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2">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1000"/>
                                        <p:tgtEl>
                                          <p:spTgt spid="2">
                                            <p:txEl>
                                              <p:pRg st="3" end="3"/>
                                            </p:txEl>
                                          </p:spTgt>
                                        </p:tgtEl>
                                      </p:cBhvr>
                                    </p:animEffect>
                                    <p:anim calcmode="lin" valueType="num">
                                      <p:cBhvr>
                                        <p:cTn id="23"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2">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1000"/>
                                        <p:tgtEl>
                                          <p:spTgt spid="2">
                                            <p:txEl>
                                              <p:pRg st="4" end="4"/>
                                            </p:txEl>
                                          </p:spTgt>
                                        </p:tgtEl>
                                      </p:cBhvr>
                                    </p:animEffect>
                                    <p:anim calcmode="lin" valueType="num">
                                      <p:cBhvr>
                                        <p:cTn id="28"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4">
                                            <p:txEl>
                                              <p:pRg st="0" end="0"/>
                                            </p:txEl>
                                          </p:spTgt>
                                        </p:tgtEl>
                                        <p:attrNameLst>
                                          <p:attrName>style.visibility</p:attrName>
                                        </p:attrNameLst>
                                      </p:cBhvr>
                                      <p:to>
                                        <p:strVal val="visible"/>
                                      </p:to>
                                    </p:set>
                                    <p:animEffect transition="in" filter="fade">
                                      <p:cBhvr>
                                        <p:cTn id="34" dur="1000"/>
                                        <p:tgtEl>
                                          <p:spTgt spid="4">
                                            <p:txEl>
                                              <p:pRg st="0" end="0"/>
                                            </p:txEl>
                                          </p:spTgt>
                                        </p:tgtEl>
                                      </p:cBhvr>
                                    </p:animEffect>
                                    <p:anim calcmode="lin" valueType="num">
                                      <p:cBhvr>
                                        <p:cTn id="3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0" end="0"/>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4">
                                            <p:txEl>
                                              <p:pRg st="2" end="2"/>
                                            </p:txEl>
                                          </p:spTgt>
                                        </p:tgtEl>
                                        <p:attrNameLst>
                                          <p:attrName>style.visibility</p:attrName>
                                        </p:attrNameLst>
                                      </p:cBhvr>
                                      <p:to>
                                        <p:strVal val="visible"/>
                                      </p:to>
                                    </p:set>
                                    <p:animEffect transition="in" filter="fade">
                                      <p:cBhvr>
                                        <p:cTn id="39" dur="1000"/>
                                        <p:tgtEl>
                                          <p:spTgt spid="4">
                                            <p:txEl>
                                              <p:pRg st="2" end="2"/>
                                            </p:txEl>
                                          </p:spTgt>
                                        </p:tgtEl>
                                      </p:cBhvr>
                                    </p:animEffect>
                                    <p:anim calcmode="lin" valueType="num">
                                      <p:cBhvr>
                                        <p:cTn id="4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720840"/>
            <a:ext cx="11112500" cy="3693319"/>
          </a:xfrm>
          <a:prstGeom prst="rect">
            <a:avLst/>
          </a:prstGeom>
        </p:spPr>
        <p:txBody>
          <a:bodyPr wrap="square">
            <a:spAutoFit/>
          </a:bodyPr>
          <a:lstStyle/>
          <a:p>
            <a:r>
              <a:rPr lang="en-US" b="1" dirty="0"/>
              <a:t>Other Features</a:t>
            </a:r>
          </a:p>
          <a:p>
            <a:endParaRPr lang="en-US" dirty="0"/>
          </a:p>
          <a:p>
            <a:pPr marL="285750" indent="-285750" fontAlgn="base">
              <a:buFont typeface="Arial" panose="020B0604020202020204" pitchFamily="34" charset="0"/>
              <a:buChar char="•"/>
            </a:pPr>
            <a:r>
              <a:rPr lang="en-US" b="1" dirty="0"/>
              <a:t>Document Management &amp; Imaging</a:t>
            </a:r>
          </a:p>
          <a:p>
            <a:pPr marL="285750" indent="-285750" fontAlgn="base">
              <a:buFont typeface="Arial" panose="020B0604020202020204" pitchFamily="34" charset="0"/>
              <a:buChar char="•"/>
            </a:pPr>
            <a:r>
              <a:rPr lang="en-US" b="1" dirty="0"/>
              <a:t>Reinsurance</a:t>
            </a:r>
          </a:p>
          <a:p>
            <a:pPr marL="285750" indent="-285750" fontAlgn="base">
              <a:buFont typeface="Arial" panose="020B0604020202020204" pitchFamily="34" charset="0"/>
              <a:buChar char="•"/>
            </a:pPr>
            <a:r>
              <a:rPr lang="en-US" b="1" dirty="0"/>
              <a:t>Case Management</a:t>
            </a:r>
          </a:p>
          <a:p>
            <a:pPr lvl="1" fontAlgn="base"/>
            <a:r>
              <a:rPr lang="en-US" dirty="0"/>
              <a:t>The Tropics optional Case Management module is provided for managing serious medical cases. The system provides one place for a well-rounded picture of the total treatment of the injured worker.</a:t>
            </a:r>
          </a:p>
          <a:p>
            <a:pPr marL="285750" indent="-285750" fontAlgn="base">
              <a:buFont typeface="Arial" panose="020B0604020202020204" pitchFamily="34" charset="0"/>
              <a:buChar char="•"/>
            </a:pPr>
            <a:r>
              <a:rPr lang="en-US" b="1" dirty="0"/>
              <a:t>ISO Claim Search Online</a:t>
            </a:r>
          </a:p>
          <a:p>
            <a:pPr lvl="1" fontAlgn="base"/>
            <a:r>
              <a:rPr lang="en-US" dirty="0"/>
              <a:t>The optional ISO Claims Search Module automates the process of submitting claim information to ISO’s national claim database via the internet using real-time Web Services and XML. </a:t>
            </a:r>
          </a:p>
          <a:p>
            <a:pPr marL="285750" indent="-285750" fontAlgn="base">
              <a:buFont typeface="Arial" panose="020B0604020202020204" pitchFamily="34" charset="0"/>
              <a:buChar char="•"/>
            </a:pPr>
            <a:r>
              <a:rPr lang="en-US" b="1" dirty="0"/>
              <a:t>Reports, Custom Reports, &amp; Ad-hoc Information</a:t>
            </a:r>
          </a:p>
          <a:p>
            <a:pPr lvl="1" fontAlgn="base"/>
            <a:r>
              <a:rPr lang="en-US" dirty="0"/>
              <a:t>The Tropics Claims System allows claims professionals to access a large amount of information on-line, reducing the need for printed reports. </a:t>
            </a:r>
            <a:endParaRPr lang="en-US" b="1" dirty="0"/>
          </a:p>
        </p:txBody>
      </p:sp>
      <p:sp>
        <p:nvSpPr>
          <p:cNvPr id="3" name="TextBox 2"/>
          <p:cNvSpPr txBox="1"/>
          <p:nvPr/>
        </p:nvSpPr>
        <p:spPr>
          <a:xfrm>
            <a:off x="282388" y="282388"/>
            <a:ext cx="3697941" cy="369332"/>
          </a:xfrm>
          <a:prstGeom prst="rect">
            <a:avLst/>
          </a:prstGeom>
          <a:noFill/>
        </p:spPr>
        <p:txBody>
          <a:bodyPr wrap="square" rtlCol="0">
            <a:spAutoFit/>
          </a:bodyPr>
          <a:lstStyle/>
          <a:p>
            <a:r>
              <a:rPr lang="en-US" dirty="0"/>
              <a:t>Continued…</a:t>
            </a:r>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7970" y="977028"/>
            <a:ext cx="9804188" cy="264653"/>
          </a:xfrm>
          <a:prstGeom prst="rect">
            <a:avLst/>
          </a:prstGeom>
        </p:spPr>
      </p:pic>
    </p:spTree>
    <p:extLst>
      <p:ext uri="{BB962C8B-B14F-4D97-AF65-F5344CB8AC3E}">
        <p14:creationId xmlns:p14="http://schemas.microsoft.com/office/powerpoint/2010/main" val="733686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1000"/>
                                        <p:tgtEl>
                                          <p:spTgt spid="2">
                                            <p:txEl>
                                              <p:pRg st="2" end="2"/>
                                            </p:txEl>
                                          </p:spTgt>
                                        </p:tgtEl>
                                      </p:cBhvr>
                                    </p:animEffect>
                                    <p:anim calcmode="lin" valueType="num">
                                      <p:cBhvr>
                                        <p:cTn id="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fade">
                                      <p:cBhvr>
                                        <p:cTn id="12" dur="1000"/>
                                        <p:tgtEl>
                                          <p:spTgt spid="2">
                                            <p:txEl>
                                              <p:pRg st="3" end="3"/>
                                            </p:txEl>
                                          </p:spTgt>
                                        </p:tgtEl>
                                      </p:cBhvr>
                                    </p:animEffect>
                                    <p:anim calcmode="lin" valueType="num">
                                      <p:cBhvr>
                                        <p:cTn id="13"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fade">
                                      <p:cBhvr>
                                        <p:cTn id="17" dur="1000"/>
                                        <p:tgtEl>
                                          <p:spTgt spid="2">
                                            <p:txEl>
                                              <p:pRg st="4" end="4"/>
                                            </p:txEl>
                                          </p:spTgt>
                                        </p:tgtEl>
                                      </p:cBhvr>
                                    </p:animEffect>
                                    <p:anim calcmode="lin" valueType="num">
                                      <p:cBhvr>
                                        <p:cTn id="18"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2">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fade">
                                      <p:cBhvr>
                                        <p:cTn id="22" dur="1000"/>
                                        <p:tgtEl>
                                          <p:spTgt spid="2">
                                            <p:txEl>
                                              <p:pRg st="5" end="5"/>
                                            </p:txEl>
                                          </p:spTgt>
                                        </p:tgtEl>
                                      </p:cBhvr>
                                    </p:animEffect>
                                    <p:anim calcmode="lin" valueType="num">
                                      <p:cBhvr>
                                        <p:cTn id="2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2">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fade">
                                      <p:cBhvr>
                                        <p:cTn id="27" dur="1000"/>
                                        <p:tgtEl>
                                          <p:spTgt spid="2">
                                            <p:txEl>
                                              <p:pRg st="6" end="6"/>
                                            </p:txEl>
                                          </p:spTgt>
                                        </p:tgtEl>
                                      </p:cBhvr>
                                    </p:animEffect>
                                    <p:anim calcmode="lin" valueType="num">
                                      <p:cBhvr>
                                        <p:cTn id="28"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2">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fade">
                                      <p:cBhvr>
                                        <p:cTn id="32" dur="1000"/>
                                        <p:tgtEl>
                                          <p:spTgt spid="2">
                                            <p:txEl>
                                              <p:pRg st="7" end="7"/>
                                            </p:txEl>
                                          </p:spTgt>
                                        </p:tgtEl>
                                      </p:cBhvr>
                                    </p:animEffect>
                                    <p:anim calcmode="lin" valueType="num">
                                      <p:cBhvr>
                                        <p:cTn id="33"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2">
                                            <p:txEl>
                                              <p:pRg st="7" end="7"/>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
                                            <p:txEl>
                                              <p:pRg st="8" end="8"/>
                                            </p:txEl>
                                          </p:spTgt>
                                        </p:tgtEl>
                                        <p:attrNameLst>
                                          <p:attrName>style.visibility</p:attrName>
                                        </p:attrNameLst>
                                      </p:cBhvr>
                                      <p:to>
                                        <p:strVal val="visible"/>
                                      </p:to>
                                    </p:set>
                                    <p:animEffect transition="in" filter="fade">
                                      <p:cBhvr>
                                        <p:cTn id="37" dur="1000"/>
                                        <p:tgtEl>
                                          <p:spTgt spid="2">
                                            <p:txEl>
                                              <p:pRg st="8" end="8"/>
                                            </p:txEl>
                                          </p:spTgt>
                                        </p:tgtEl>
                                      </p:cBhvr>
                                    </p:animEffect>
                                    <p:anim calcmode="lin" valueType="num">
                                      <p:cBhvr>
                                        <p:cTn id="38"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39" dur="1000" fill="hold"/>
                                        <p:tgtEl>
                                          <p:spTgt spid="2">
                                            <p:txEl>
                                              <p:pRg st="8" end="8"/>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
                                            <p:txEl>
                                              <p:pRg st="9" end="9"/>
                                            </p:txEl>
                                          </p:spTgt>
                                        </p:tgtEl>
                                        <p:attrNameLst>
                                          <p:attrName>style.visibility</p:attrName>
                                        </p:attrNameLst>
                                      </p:cBhvr>
                                      <p:to>
                                        <p:strVal val="visible"/>
                                      </p:to>
                                    </p:set>
                                    <p:animEffect transition="in" filter="fade">
                                      <p:cBhvr>
                                        <p:cTn id="42" dur="1000"/>
                                        <p:tgtEl>
                                          <p:spTgt spid="2">
                                            <p:txEl>
                                              <p:pRg st="9" end="9"/>
                                            </p:txEl>
                                          </p:spTgt>
                                        </p:tgtEl>
                                      </p:cBhvr>
                                    </p:animEffect>
                                    <p:anim calcmode="lin" valueType="num">
                                      <p:cBhvr>
                                        <p:cTn id="43"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956177" y="1493744"/>
            <a:ext cx="3810000" cy="723900"/>
          </a:xfrm>
          <a:prstGeom prst="rect">
            <a:avLst/>
          </a:prstGeom>
        </p:spPr>
      </p:pic>
      <p:sp>
        <p:nvSpPr>
          <p:cNvPr id="3" name="Rectangle 2"/>
          <p:cNvSpPr/>
          <p:nvPr/>
        </p:nvSpPr>
        <p:spPr>
          <a:xfrm>
            <a:off x="618565" y="2433309"/>
            <a:ext cx="11376212" cy="3416320"/>
          </a:xfrm>
          <a:prstGeom prst="rect">
            <a:avLst/>
          </a:prstGeom>
        </p:spPr>
        <p:txBody>
          <a:bodyPr wrap="square">
            <a:spAutoFit/>
          </a:bodyPr>
          <a:lstStyle/>
          <a:p>
            <a:pPr marL="285750" indent="-285750">
              <a:buFont typeface="Arial" panose="020B0604020202020204" pitchFamily="34" charset="0"/>
              <a:buChar char="•"/>
            </a:pPr>
            <a:r>
              <a:rPr lang="en-US" u="sng" dirty="0"/>
              <a:t>Manage the entire lifecycle of a Workers’ Compensation policy, from application processing to final payroll audits. </a:t>
            </a:r>
            <a:r>
              <a:rPr lang="en-US" dirty="0"/>
              <a:t>NCCI, state-specific and multi-state rating enabled, </a:t>
            </a:r>
            <a:r>
              <a:rPr lang="en-US" dirty="0" err="1"/>
              <a:t>OneShield</a:t>
            </a:r>
            <a:r>
              <a:rPr lang="en-US" dirty="0"/>
              <a:t> Market Solutions’ cloud-based system handles document and policy form generation, cancellations, reinstatements, endorsements, and renewals in a secure user-configured rules-based environment.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a:t>
            </a:r>
            <a:r>
              <a:rPr lang="en-US" u="sng" dirty="0"/>
              <a:t>secure, cloud-hosted and configurable end-to-end claims and policy management solution</a:t>
            </a:r>
            <a:r>
              <a:rPr lang="en-US" dirty="0"/>
              <a:t> is designed specifically for Workers’ Compensation insurers and claim administrators.</a:t>
            </a:r>
          </a:p>
          <a:p>
            <a:pPr marL="285750" indent="-285750">
              <a:buFont typeface="Arial" panose="020B0604020202020204" pitchFamily="34" charset="0"/>
              <a:buChar char="•"/>
            </a:pPr>
            <a:r>
              <a:rPr lang="en-US" dirty="0"/>
              <a:t> </a:t>
            </a:r>
          </a:p>
          <a:p>
            <a:pPr marL="285750" indent="-285750">
              <a:buFont typeface="Arial" panose="020B0604020202020204" pitchFamily="34" charset="0"/>
              <a:buChar char="•"/>
            </a:pPr>
            <a:r>
              <a:rPr lang="en-US" dirty="0"/>
              <a:t>Leverage the power of a full-featured, enterprise-class core software system that enables insurers and administrators to effectively mitigate overall risk exposure and scale easily for profitable growth, while reducing overhead expenses, improving operational efficiencies and service quality to insureds, and enhancing your speed to market.</a:t>
            </a:r>
          </a:p>
          <a:p>
            <a:r>
              <a:rPr lang="en-US" dirty="0"/>
              <a:t> </a:t>
            </a:r>
          </a:p>
        </p:txBody>
      </p:sp>
      <p:sp>
        <p:nvSpPr>
          <p:cNvPr id="4" name="TextBox 3"/>
          <p:cNvSpPr txBox="1"/>
          <p:nvPr/>
        </p:nvSpPr>
        <p:spPr>
          <a:xfrm>
            <a:off x="497540" y="255494"/>
            <a:ext cx="3133165" cy="376518"/>
          </a:xfrm>
          <a:prstGeom prst="rect">
            <a:avLst/>
          </a:prstGeom>
          <a:noFill/>
        </p:spPr>
        <p:txBody>
          <a:bodyPr wrap="square" rtlCol="0">
            <a:spAutoFit/>
          </a:bodyPr>
          <a:lstStyle/>
          <a:p>
            <a:r>
              <a:rPr lang="en-US" dirty="0"/>
              <a:t>One Shield market Solution</a:t>
            </a:r>
          </a:p>
        </p:txBody>
      </p:sp>
      <p:pic>
        <p:nvPicPr>
          <p:cNvPr id="5" name="Picture 4"/>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57970" y="977028"/>
            <a:ext cx="9804188" cy="264653"/>
          </a:xfrm>
          <a:prstGeom prst="rect">
            <a:avLst/>
          </a:prstGeom>
        </p:spPr>
      </p:pic>
    </p:spTree>
    <p:extLst>
      <p:ext uri="{BB962C8B-B14F-4D97-AF65-F5344CB8AC3E}">
        <p14:creationId xmlns:p14="http://schemas.microsoft.com/office/powerpoint/2010/main" val="3237854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3412" y="1536662"/>
            <a:ext cx="10865223" cy="3693319"/>
          </a:xfrm>
          <a:prstGeom prst="rect">
            <a:avLst/>
          </a:prstGeom>
        </p:spPr>
        <p:txBody>
          <a:bodyPr wrap="square">
            <a:spAutoFit/>
          </a:bodyPr>
          <a:lstStyle/>
          <a:p>
            <a:r>
              <a:rPr lang="en-US" dirty="0"/>
              <a:t>Feature highlights include:</a:t>
            </a:r>
          </a:p>
          <a:p>
            <a:endParaRPr lang="en-US" dirty="0"/>
          </a:p>
          <a:p>
            <a:pPr marL="285750" indent="-285750">
              <a:buFont typeface="Arial" panose="020B0604020202020204" pitchFamily="34" charset="0"/>
              <a:buChar char="•"/>
            </a:pPr>
            <a:r>
              <a:rPr lang="en-US" dirty="0"/>
              <a:t>360-Degree View of Customers, Prospects, Vendors, Brokers and Claimants</a:t>
            </a:r>
          </a:p>
          <a:p>
            <a:pPr marL="285750" indent="-285750">
              <a:buFont typeface="Arial" panose="020B0604020202020204" pitchFamily="34" charset="0"/>
              <a:buChar char="•"/>
            </a:pPr>
            <a:r>
              <a:rPr lang="en-US" dirty="0"/>
              <a:t>Standard and Configurable P&amp;C Policy and Claims Administration</a:t>
            </a:r>
          </a:p>
          <a:p>
            <a:pPr marL="285750" indent="-285750">
              <a:buFont typeface="Arial" panose="020B0604020202020204" pitchFamily="34" charset="0"/>
              <a:buChar char="•"/>
            </a:pPr>
            <a:r>
              <a:rPr lang="en-US" dirty="0"/>
              <a:t>First Report of Injury (FROI)</a:t>
            </a:r>
          </a:p>
          <a:p>
            <a:pPr marL="285750" indent="-285750">
              <a:buFont typeface="Arial" panose="020B0604020202020204" pitchFamily="34" charset="0"/>
              <a:buChar char="•"/>
            </a:pPr>
            <a:r>
              <a:rPr lang="en-US" dirty="0"/>
              <a:t>Litigation Management, Medical Case Management and Return to Work Tracking</a:t>
            </a:r>
          </a:p>
          <a:p>
            <a:pPr marL="285750" indent="-285750">
              <a:buFont typeface="Arial" panose="020B0604020202020204" pitchFamily="34" charset="0"/>
              <a:buChar char="•"/>
            </a:pPr>
            <a:r>
              <a:rPr lang="en-US" dirty="0"/>
              <a:t>Third Party Assignment Administration</a:t>
            </a:r>
          </a:p>
          <a:p>
            <a:pPr marL="285750" indent="-285750">
              <a:buFont typeface="Arial" panose="020B0604020202020204" pitchFamily="34" charset="0"/>
              <a:buChar char="•"/>
            </a:pPr>
            <a:r>
              <a:rPr lang="en-US" dirty="0"/>
              <a:t>Subrogation, Time Tracking &amp; Loss Prevention Modules</a:t>
            </a:r>
          </a:p>
          <a:p>
            <a:pPr marL="285750" indent="-285750">
              <a:buFont typeface="Arial" panose="020B0604020202020204" pitchFamily="34" charset="0"/>
              <a:buChar char="•"/>
            </a:pPr>
            <a:r>
              <a:rPr lang="en-US" dirty="0"/>
              <a:t>Define and manage multiple quotes/rates and your own underwriting rules</a:t>
            </a:r>
          </a:p>
          <a:p>
            <a:pPr marL="285750" indent="-285750">
              <a:buFont typeface="Arial" panose="020B0604020202020204" pitchFamily="34" charset="0"/>
              <a:buChar char="•"/>
            </a:pPr>
            <a:r>
              <a:rPr lang="en-US" dirty="0"/>
              <a:t>Standard NCCI &amp; State forms</a:t>
            </a:r>
          </a:p>
          <a:p>
            <a:pPr marL="285750" indent="-285750">
              <a:buFont typeface="Arial" panose="020B0604020202020204" pitchFamily="34" charset="0"/>
              <a:buChar char="•"/>
            </a:pPr>
            <a:r>
              <a:rPr lang="en-US" dirty="0"/>
              <a:t>Automate renewals</a:t>
            </a:r>
          </a:p>
          <a:p>
            <a:pPr marL="285750" indent="-285750">
              <a:buFont typeface="Arial" panose="020B0604020202020204" pitchFamily="34" charset="0"/>
              <a:buChar char="•"/>
            </a:pPr>
            <a:r>
              <a:rPr lang="en-US" dirty="0"/>
              <a:t>Rich Financials and Business Process Management Features</a:t>
            </a:r>
          </a:p>
          <a:p>
            <a:pPr marL="285750" indent="-285750">
              <a:buFont typeface="Arial" panose="020B0604020202020204" pitchFamily="34" charset="0"/>
              <a:buChar char="•"/>
            </a:pPr>
            <a:r>
              <a:rPr lang="en-US" dirty="0"/>
              <a:t>Detailed Reporting &amp; Analytics</a:t>
            </a:r>
          </a:p>
        </p:txBody>
      </p:sp>
      <p:sp>
        <p:nvSpPr>
          <p:cNvPr id="3" name="TextBox 2"/>
          <p:cNvSpPr txBox="1"/>
          <p:nvPr/>
        </p:nvSpPr>
        <p:spPr>
          <a:xfrm>
            <a:off x="497540" y="255494"/>
            <a:ext cx="4477872" cy="646331"/>
          </a:xfrm>
          <a:prstGeom prst="rect">
            <a:avLst/>
          </a:prstGeom>
          <a:noFill/>
        </p:spPr>
        <p:txBody>
          <a:bodyPr wrap="square" rtlCol="0">
            <a:spAutoFit/>
          </a:bodyPr>
          <a:lstStyle/>
          <a:p>
            <a:r>
              <a:rPr lang="en-US" dirty="0"/>
              <a:t>One Shield market Solution Key Features</a:t>
            </a:r>
          </a:p>
          <a:p>
            <a:endParaRPr lang="en-US" dirty="0"/>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7970" y="977028"/>
            <a:ext cx="9804188" cy="264653"/>
          </a:xfrm>
          <a:prstGeom prst="rect">
            <a:avLst/>
          </a:prstGeom>
        </p:spPr>
      </p:pic>
    </p:spTree>
    <p:extLst>
      <p:ext uri="{BB962C8B-B14F-4D97-AF65-F5344CB8AC3E}">
        <p14:creationId xmlns:p14="http://schemas.microsoft.com/office/powerpoint/2010/main" val="6965290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363600" y="1345580"/>
            <a:ext cx="2689836" cy="1227044"/>
          </a:xfrm>
          <a:prstGeom prst="rect">
            <a:avLst/>
          </a:prstGeom>
        </p:spPr>
      </p:pic>
      <p:sp>
        <p:nvSpPr>
          <p:cNvPr id="3" name="Rectangle 2"/>
          <p:cNvSpPr/>
          <p:nvPr/>
        </p:nvSpPr>
        <p:spPr>
          <a:xfrm>
            <a:off x="300318" y="1469248"/>
            <a:ext cx="7499791" cy="1754326"/>
          </a:xfrm>
          <a:prstGeom prst="rect">
            <a:avLst/>
          </a:prstGeom>
        </p:spPr>
        <p:txBody>
          <a:bodyPr wrap="square">
            <a:spAutoFit/>
          </a:bodyPr>
          <a:lstStyle/>
          <a:p>
            <a:pPr marL="285750" indent="-285750">
              <a:buFont typeface="Wingdings" panose="05000000000000000000" pitchFamily="2" charset="2"/>
              <a:buChar char="Ø"/>
            </a:pPr>
            <a:r>
              <a:rPr lang="en-US" dirty="0" err="1"/>
              <a:t>StoneRiver's</a:t>
            </a:r>
            <a:r>
              <a:rPr lang="en-US" dirty="0"/>
              <a:t> workers' compensation solutions enable insurers to efficiently manage their workers’ compensation business. Its offerings feature full life-cycle policy administration, underwriting, and claims management in a modular software platform. </a:t>
            </a:r>
            <a:r>
              <a:rPr lang="en-US" dirty="0" err="1"/>
              <a:t>PowerSuite</a:t>
            </a:r>
            <a:r>
              <a:rPr lang="en-US" dirty="0"/>
              <a:t> Policy works with predictive analytics solutions for even further insight into the right price for a risk.</a:t>
            </a:r>
          </a:p>
          <a:p>
            <a:pPr marL="285750" indent="-285750">
              <a:buFont typeface="Wingdings" panose="05000000000000000000" pitchFamily="2" charset="2"/>
              <a:buChar char="Ø"/>
            </a:pPr>
            <a:endParaRPr lang="en-US" dirty="0"/>
          </a:p>
        </p:txBody>
      </p:sp>
      <p:pic>
        <p:nvPicPr>
          <p:cNvPr id="4" name="Picture 3"/>
          <p:cNvPicPr>
            <a:picLocks noChangeAspect="1"/>
          </p:cNvPicPr>
          <p:nvPr/>
        </p:nvPicPr>
        <p:blipFill>
          <a:blip r:embed="rId3"/>
          <a:stretch>
            <a:fillRect/>
          </a:stretch>
        </p:blipFill>
        <p:spPr>
          <a:xfrm>
            <a:off x="8402967" y="2814143"/>
            <a:ext cx="2839570" cy="769844"/>
          </a:xfrm>
          <a:prstGeom prst="rect">
            <a:avLst/>
          </a:prstGeom>
        </p:spPr>
      </p:pic>
      <p:sp>
        <p:nvSpPr>
          <p:cNvPr id="5" name="Rectangle 4"/>
          <p:cNvSpPr/>
          <p:nvPr/>
        </p:nvSpPr>
        <p:spPr>
          <a:xfrm>
            <a:off x="300318" y="3157792"/>
            <a:ext cx="8202706" cy="1477328"/>
          </a:xfrm>
          <a:prstGeom prst="rect">
            <a:avLst/>
          </a:prstGeom>
        </p:spPr>
        <p:txBody>
          <a:bodyPr wrap="square">
            <a:spAutoFit/>
          </a:bodyPr>
          <a:lstStyle/>
          <a:p>
            <a:pPr marL="285750" indent="-285750">
              <a:buFont typeface="Wingdings" panose="05000000000000000000" pitchFamily="2" charset="2"/>
              <a:buChar char="Ø"/>
            </a:pPr>
            <a:r>
              <a:rPr lang="en-US" dirty="0"/>
              <a:t>The workers' compensation module integrated with SIMS™ is capable of handling the nuances of each state. In addition to the SIMS Claims™ core functionality, the workers' compensation module manages:</a:t>
            </a:r>
          </a:p>
          <a:p>
            <a:r>
              <a:rPr lang="en-US" dirty="0"/>
              <a:t>Wages/disability rates; Managed care; Special handling at the insured level; </a:t>
            </a:r>
          </a:p>
          <a:p>
            <a:r>
              <a:rPr lang="en-US" dirty="0"/>
              <a:t>Three point contact; Lost time; and, OSHA reporting. </a:t>
            </a:r>
          </a:p>
        </p:txBody>
      </p:sp>
      <p:sp>
        <p:nvSpPr>
          <p:cNvPr id="6" name="Rectangle 5"/>
          <p:cNvSpPr/>
          <p:nvPr/>
        </p:nvSpPr>
        <p:spPr>
          <a:xfrm>
            <a:off x="8879133" y="3435499"/>
            <a:ext cx="2363404" cy="646331"/>
          </a:xfrm>
          <a:prstGeom prst="rect">
            <a:avLst/>
          </a:prstGeom>
        </p:spPr>
        <p:txBody>
          <a:bodyPr wrap="none">
            <a:spAutoFit/>
          </a:bodyPr>
          <a:lstStyle/>
          <a:p>
            <a:r>
              <a:rPr lang="en-US" dirty="0">
                <a:hlinkClick r:id="rId4"/>
              </a:rPr>
              <a:t>www.systemasoft.com</a:t>
            </a:r>
            <a:endParaRPr lang="en-US" dirty="0"/>
          </a:p>
          <a:p>
            <a:endParaRPr lang="en-US" dirty="0"/>
          </a:p>
        </p:txBody>
      </p:sp>
      <p:sp>
        <p:nvSpPr>
          <p:cNvPr id="7" name="Rectangle 6"/>
          <p:cNvSpPr/>
          <p:nvPr/>
        </p:nvSpPr>
        <p:spPr>
          <a:xfrm>
            <a:off x="8870879" y="2175214"/>
            <a:ext cx="3220997" cy="646331"/>
          </a:xfrm>
          <a:prstGeom prst="rect">
            <a:avLst/>
          </a:prstGeom>
        </p:spPr>
        <p:txBody>
          <a:bodyPr wrap="square">
            <a:spAutoFit/>
          </a:bodyPr>
          <a:lstStyle/>
          <a:p>
            <a:r>
              <a:rPr lang="en-US" dirty="0">
                <a:hlinkClick r:id="rId5"/>
              </a:rPr>
              <a:t>www.stoneriver.com</a:t>
            </a:r>
            <a:endParaRPr lang="en-US" dirty="0"/>
          </a:p>
          <a:p>
            <a:endParaRPr lang="en-US" dirty="0"/>
          </a:p>
        </p:txBody>
      </p:sp>
      <p:pic>
        <p:nvPicPr>
          <p:cNvPr id="8" name="Picture 7"/>
          <p:cNvPicPr>
            <a:picLocks noChangeAspect="1"/>
          </p:cNvPicPr>
          <p:nvPr/>
        </p:nvPicPr>
        <p:blipFill>
          <a:blip r:embed="rId6"/>
          <a:stretch>
            <a:fillRect/>
          </a:stretch>
        </p:blipFill>
        <p:spPr>
          <a:xfrm>
            <a:off x="8870879" y="4564869"/>
            <a:ext cx="2182557" cy="786452"/>
          </a:xfrm>
          <a:prstGeom prst="rect">
            <a:avLst/>
          </a:prstGeom>
        </p:spPr>
      </p:pic>
      <p:sp>
        <p:nvSpPr>
          <p:cNvPr id="9" name="Rectangle 8"/>
          <p:cNvSpPr/>
          <p:nvPr/>
        </p:nvSpPr>
        <p:spPr>
          <a:xfrm>
            <a:off x="300318" y="4978769"/>
            <a:ext cx="6096000" cy="923330"/>
          </a:xfrm>
          <a:prstGeom prst="rect">
            <a:avLst/>
          </a:prstGeom>
        </p:spPr>
        <p:txBody>
          <a:bodyPr>
            <a:spAutoFit/>
          </a:bodyPr>
          <a:lstStyle/>
          <a:p>
            <a:pPr marL="285750" indent="-285750">
              <a:buFont typeface="Wingdings" panose="05000000000000000000" pitchFamily="2" charset="2"/>
              <a:buChar char="Ø"/>
            </a:pPr>
            <a:r>
              <a:rPr lang="en-US" dirty="0"/>
              <a:t>PCIS supplies policy administration for workers’ comp solutions (</a:t>
            </a:r>
            <a:r>
              <a:rPr lang="en-US" dirty="0" err="1"/>
              <a:t>CompVision</a:t>
            </a:r>
            <a:r>
              <a:rPr lang="en-US" dirty="0"/>
              <a:t>) and claims management (</a:t>
            </a:r>
            <a:r>
              <a:rPr lang="en-US" dirty="0" err="1"/>
              <a:t>ClaimsVision</a:t>
            </a:r>
            <a:r>
              <a:rPr lang="en-US" dirty="0"/>
              <a:t>).</a:t>
            </a:r>
          </a:p>
        </p:txBody>
      </p:sp>
      <p:sp>
        <p:nvSpPr>
          <p:cNvPr id="10" name="Rectangle 9"/>
          <p:cNvSpPr/>
          <p:nvPr/>
        </p:nvSpPr>
        <p:spPr>
          <a:xfrm>
            <a:off x="8892280" y="5226630"/>
            <a:ext cx="2139753" cy="923330"/>
          </a:xfrm>
          <a:prstGeom prst="rect">
            <a:avLst/>
          </a:prstGeom>
        </p:spPr>
        <p:txBody>
          <a:bodyPr wrap="none">
            <a:spAutoFit/>
          </a:bodyPr>
          <a:lstStyle/>
          <a:p>
            <a:r>
              <a:rPr lang="en-US" dirty="0">
                <a:hlinkClick r:id="rId7"/>
              </a:rPr>
              <a:t>www.pcisvision.com</a:t>
            </a:r>
            <a:endParaRPr lang="en-US" dirty="0"/>
          </a:p>
          <a:p>
            <a:endParaRPr lang="en-US" dirty="0"/>
          </a:p>
          <a:p>
            <a:endParaRPr lang="en-US" dirty="0"/>
          </a:p>
        </p:txBody>
      </p:sp>
      <p:sp>
        <p:nvSpPr>
          <p:cNvPr id="11" name="TextBox 10"/>
          <p:cNvSpPr txBox="1"/>
          <p:nvPr/>
        </p:nvSpPr>
        <p:spPr>
          <a:xfrm>
            <a:off x="188259" y="215153"/>
            <a:ext cx="3160059" cy="369332"/>
          </a:xfrm>
          <a:prstGeom prst="rect">
            <a:avLst/>
          </a:prstGeom>
          <a:noFill/>
        </p:spPr>
        <p:txBody>
          <a:bodyPr wrap="square" rtlCol="0">
            <a:spAutoFit/>
          </a:bodyPr>
          <a:lstStyle/>
          <a:p>
            <a:r>
              <a:rPr lang="en-US" b="1" dirty="0"/>
              <a:t>A few More..</a:t>
            </a:r>
          </a:p>
        </p:txBody>
      </p:sp>
      <p:pic>
        <p:nvPicPr>
          <p:cNvPr id="12" name="Picture 11"/>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157970" y="977028"/>
            <a:ext cx="9804188" cy="264653"/>
          </a:xfrm>
          <a:prstGeom prst="rect">
            <a:avLst/>
          </a:prstGeom>
        </p:spPr>
      </p:pic>
    </p:spTree>
    <p:extLst>
      <p:ext uri="{BB962C8B-B14F-4D97-AF65-F5344CB8AC3E}">
        <p14:creationId xmlns:p14="http://schemas.microsoft.com/office/powerpoint/2010/main" val="28949887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4388" y="1572923"/>
            <a:ext cx="9242612" cy="2585323"/>
          </a:xfrm>
          <a:prstGeom prst="rect">
            <a:avLst/>
          </a:prstGeom>
        </p:spPr>
        <p:txBody>
          <a:bodyPr wrap="square">
            <a:spAutoFit/>
          </a:bodyPr>
          <a:lstStyle/>
          <a:p>
            <a:r>
              <a:rPr lang="en-US" dirty="0"/>
              <a:t>HCL’s proven track record in the delivery of customer-centric worker’s compensation solutions, combined with IBM’s Enterprise Content Management (ECM) suite of products, has created </a:t>
            </a:r>
            <a:r>
              <a:rPr lang="en-US" b="1" dirty="0" err="1"/>
              <a:t>iGovern</a:t>
            </a:r>
            <a:r>
              <a:rPr lang="en-US" b="1" dirty="0"/>
              <a:t> Workers’ Compensation</a:t>
            </a:r>
            <a:r>
              <a:rPr lang="en-US" dirty="0"/>
              <a:t>, a robust, modular and comprehensive framework designed to support the unique requirements of workers’ compensation programs.</a:t>
            </a:r>
          </a:p>
          <a:p>
            <a:endParaRPr lang="en-US" dirty="0"/>
          </a:p>
          <a:p>
            <a:r>
              <a:rPr lang="en-US" dirty="0" err="1"/>
              <a:t>iGovern</a:t>
            </a:r>
            <a:r>
              <a:rPr lang="en-US" dirty="0"/>
              <a:t> Workers’ Compensation supports workers’ compensation programs by simplifying the delivery and financing of medical care benefits; temporary and permanent disability benefits; vocational rehabilitation benefits; and, death benefits. The solution also accommodates the extension of existing benefits, and the inclusion of new program benefits.</a:t>
            </a:r>
          </a:p>
        </p:txBody>
      </p:sp>
      <p:sp>
        <p:nvSpPr>
          <p:cNvPr id="3" name="TextBox 2"/>
          <p:cNvSpPr txBox="1"/>
          <p:nvPr/>
        </p:nvSpPr>
        <p:spPr>
          <a:xfrm>
            <a:off x="295835" y="242047"/>
            <a:ext cx="3603812" cy="369332"/>
          </a:xfrm>
          <a:prstGeom prst="rect">
            <a:avLst/>
          </a:prstGeom>
          <a:noFill/>
        </p:spPr>
        <p:txBody>
          <a:bodyPr wrap="square" rtlCol="0">
            <a:spAutoFit/>
          </a:bodyPr>
          <a:lstStyle/>
          <a:p>
            <a:r>
              <a:rPr lang="en-US" b="1" dirty="0"/>
              <a:t>How does IBM handles WC ?</a:t>
            </a:r>
          </a:p>
        </p:txBody>
      </p:sp>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7970" y="977028"/>
            <a:ext cx="9804188" cy="264653"/>
          </a:xfrm>
          <a:prstGeom prst="rect">
            <a:avLst/>
          </a:prstGeom>
        </p:spPr>
      </p:pic>
    </p:spTree>
    <p:extLst>
      <p:ext uri="{BB962C8B-B14F-4D97-AF65-F5344CB8AC3E}">
        <p14:creationId xmlns:p14="http://schemas.microsoft.com/office/powerpoint/2010/main" val="37287383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1294" y="3105835"/>
            <a:ext cx="8202706" cy="2308324"/>
          </a:xfrm>
          <a:prstGeom prst="rect">
            <a:avLst/>
          </a:prstGeom>
        </p:spPr>
        <p:txBody>
          <a:bodyPr wrap="square">
            <a:spAutoFit/>
          </a:bodyPr>
          <a:lstStyle/>
          <a:p>
            <a:r>
              <a:rPr lang="en-US" dirty="0">
                <a:hlinkClick r:id="rId2"/>
              </a:rPr>
              <a:t>http://www.acegroup.com/us-en/businesses/workers-compensation.aspx</a:t>
            </a:r>
            <a:endParaRPr lang="en-US" dirty="0"/>
          </a:p>
          <a:p>
            <a:endParaRPr lang="en-US" dirty="0"/>
          </a:p>
          <a:p>
            <a:r>
              <a:rPr lang="en-US" dirty="0">
                <a:hlinkClick r:id="rId3"/>
              </a:rPr>
              <a:t>http://www.prosightspecialty.com/solutions/excess-workers-compensation/</a:t>
            </a:r>
            <a:endParaRPr lang="en-US" dirty="0"/>
          </a:p>
          <a:p>
            <a:endParaRPr lang="en-US" dirty="0"/>
          </a:p>
          <a:p>
            <a:r>
              <a:rPr lang="en-US" dirty="0">
                <a:hlinkClick r:id="rId4"/>
              </a:rPr>
              <a:t>https://www.archcapgroup.com/Insurance/Regions/United-States/Products/Excess-Workers-Compensation</a:t>
            </a:r>
            <a:endParaRPr lang="en-US" dirty="0"/>
          </a:p>
          <a:p>
            <a:endParaRPr lang="en-US" dirty="0"/>
          </a:p>
          <a:p>
            <a:r>
              <a:rPr lang="en-US" dirty="0">
                <a:hlinkClick r:id="rId5"/>
              </a:rPr>
              <a:t>http://www.aoc.gov/workers-compensation</a:t>
            </a:r>
            <a:endParaRPr lang="en-US" dirty="0"/>
          </a:p>
        </p:txBody>
      </p:sp>
      <p:sp>
        <p:nvSpPr>
          <p:cNvPr id="3" name="Rectangle 2"/>
          <p:cNvSpPr/>
          <p:nvPr/>
        </p:nvSpPr>
        <p:spPr>
          <a:xfrm>
            <a:off x="941294" y="1905506"/>
            <a:ext cx="8014446" cy="1200329"/>
          </a:xfrm>
          <a:prstGeom prst="rect">
            <a:avLst/>
          </a:prstGeom>
        </p:spPr>
        <p:txBody>
          <a:bodyPr wrap="square">
            <a:spAutoFit/>
          </a:bodyPr>
          <a:lstStyle/>
          <a:p>
            <a:r>
              <a:rPr lang="en-US" dirty="0">
                <a:hlinkClick r:id="rId6"/>
              </a:rPr>
              <a:t>http://www.capterra.com/claims-processing-software/?utf8=%E2%9C%93&amp;users=&amp;platform%5B1%5D=8&amp;platform%5B2%5D=23&amp;feature%5B1%5D=30735&amp;commit=Filter+Results</a:t>
            </a:r>
            <a:endParaRPr lang="en-US" dirty="0"/>
          </a:p>
          <a:p>
            <a:endParaRPr lang="en-US" dirty="0"/>
          </a:p>
        </p:txBody>
      </p:sp>
      <p:sp>
        <p:nvSpPr>
          <p:cNvPr id="4" name="TextBox 3"/>
          <p:cNvSpPr txBox="1"/>
          <p:nvPr/>
        </p:nvSpPr>
        <p:spPr>
          <a:xfrm>
            <a:off x="349624" y="255494"/>
            <a:ext cx="5177117" cy="369332"/>
          </a:xfrm>
          <a:prstGeom prst="rect">
            <a:avLst/>
          </a:prstGeom>
          <a:noFill/>
        </p:spPr>
        <p:txBody>
          <a:bodyPr wrap="square" rtlCol="0">
            <a:spAutoFit/>
          </a:bodyPr>
          <a:lstStyle/>
          <a:p>
            <a:r>
              <a:rPr lang="en-US" b="1" dirty="0"/>
              <a:t>A diversified look at WC and related Products</a:t>
            </a:r>
          </a:p>
        </p:txBody>
      </p:sp>
      <p:pic>
        <p:nvPicPr>
          <p:cNvPr id="5" name="Picture 4"/>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157970" y="977028"/>
            <a:ext cx="9804188" cy="264653"/>
          </a:xfrm>
          <a:prstGeom prst="rect">
            <a:avLst/>
          </a:prstGeom>
        </p:spPr>
      </p:pic>
    </p:spTree>
    <p:extLst>
      <p:ext uri="{BB962C8B-B14F-4D97-AF65-F5344CB8AC3E}">
        <p14:creationId xmlns:p14="http://schemas.microsoft.com/office/powerpoint/2010/main" val="19185062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VIKI New Document" ma:contentTypeID="0x010100F7548365F7A28B41B9A685ED46C1AC26001AB29883D45E2C4E9CA6FE95A9034FC3" ma:contentTypeVersion="5" ma:contentTypeDescription="" ma:contentTypeScope="" ma:versionID="bc1a5864616262670162eb204ab13928">
  <xsd:schema xmlns:xsd="http://www.w3.org/2001/XMLSchema" xmlns:xs="http://www.w3.org/2001/XMLSchema" xmlns:p="http://schemas.microsoft.com/office/2006/metadata/properties" xmlns:ns2="09339d3a-aaa0-497d-ae73-d8a5832d420d" targetNamespace="http://schemas.microsoft.com/office/2006/metadata/properties" ma:root="true" ma:fieldsID="86592b75fc3d2fa65ab3e34efd39cedb" ns2:_="">
    <xsd:import namespace="09339d3a-aaa0-497d-ae73-d8a5832d420d"/>
    <xsd:element name="properties">
      <xsd:complexType>
        <xsd:sequence>
          <xsd:element name="documentManagement">
            <xsd:complexType>
              <xsd:all>
                <xsd:element ref="ns2:Classification"/>
                <xsd:element ref="ns2:Contributors"/>
                <xsd:element ref="ns2:Departments"/>
                <xsd:element ref="ns2:SubCategory"/>
                <xsd:element ref="ns2:Tags"/>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Contributors" ma:index="9"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Departments" ma:index="10"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1" ma:displayName="SubCategory" ma:format="Dropdown" ma:internalName="SubCategory" ma:readOnly="false">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2" ma:displayName="Tags" ma:internalName="Tag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epartments xmlns="09339d3a-aaa0-497d-ae73-d8a5832d420d">Insurance P&amp;C</Departments>
    <Classification xmlns="09339d3a-aaa0-497d-ae73-d8a5832d420d">Internal Use</Classification>
    <SubCategory xmlns="09339d3a-aaa0-497d-ae73-d8a5832d420d">Best Practice</SubCategory>
    <Tags xmlns="09339d3a-aaa0-497d-ae73-d8a5832d420d">WC -Basics Claims  Softwares</Tags>
    <Contributors xmlns="09339d3a-aaa0-497d-ae73-d8a5832d420d">
      <UserInfo>
        <DisplayName>Alok Bharati</DisplayName>
        <AccountId>26</AccountId>
        <AccountType/>
      </UserInfo>
    </Contributors>
  </documentManagement>
</p:properties>
</file>

<file path=customXml/item4.xml><?xml version="1.0" encoding="utf-8"?>
<?mso-contentType ?>
<SharedContentType xmlns="Microsoft.SharePoint.Taxonomy.ContentTypeSync" SourceId="41087d73-5bfe-4c6e-a130-3d602495565a" ContentTypeId="0x010100F7548365F7A28B41B9A685ED46C1AC26" PreviousValue="false"/>
</file>

<file path=customXml/itemProps1.xml><?xml version="1.0" encoding="utf-8"?>
<ds:datastoreItem xmlns:ds="http://schemas.openxmlformats.org/officeDocument/2006/customXml" ds:itemID="{D9AF6E2B-7740-4017-9428-4AE56E648E1E}"/>
</file>

<file path=customXml/itemProps2.xml><?xml version="1.0" encoding="utf-8"?>
<ds:datastoreItem xmlns:ds="http://schemas.openxmlformats.org/officeDocument/2006/customXml" ds:itemID="{080691A2-773F-4D5C-9F23-033B3833AE75}"/>
</file>

<file path=customXml/itemProps3.xml><?xml version="1.0" encoding="utf-8"?>
<ds:datastoreItem xmlns:ds="http://schemas.openxmlformats.org/officeDocument/2006/customXml" ds:itemID="{809E9EB2-D0CE-4410-88B7-EF25DACDCC13}"/>
</file>

<file path=customXml/itemProps4.xml><?xml version="1.0" encoding="utf-8"?>
<ds:datastoreItem xmlns:ds="http://schemas.openxmlformats.org/officeDocument/2006/customXml" ds:itemID="{222815D5-7687-4E16-8626-C1B6F8B61095}"/>
</file>

<file path=docProps/app.xml><?xml version="1.0" encoding="utf-8"?>
<Properties xmlns="http://schemas.openxmlformats.org/officeDocument/2006/extended-properties" xmlns:vt="http://schemas.openxmlformats.org/officeDocument/2006/docPropsVTypes">
  <TotalTime>3164</TotalTime>
  <Words>7159</Words>
  <Application>Microsoft Office PowerPoint</Application>
  <PresentationFormat>Widescreen</PresentationFormat>
  <Paragraphs>612</Paragraphs>
  <Slides>54</Slides>
  <Notes>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54</vt:i4>
      </vt:variant>
    </vt:vector>
  </HeadingPairs>
  <TitlesOfParts>
    <vt:vector size="65" baseType="lpstr">
      <vt:lpstr>Arial</vt:lpstr>
      <vt:lpstr>Calibri</vt:lpstr>
      <vt:lpstr>Calibri Light</vt:lpstr>
      <vt:lpstr>Frutiger</vt:lpstr>
      <vt:lpstr>Segoe UI Light</vt:lpstr>
      <vt:lpstr>Segoe UI Semibold</vt:lpstr>
      <vt:lpstr>Verdana</vt:lpstr>
      <vt:lpstr>Wingdings</vt:lpstr>
      <vt:lpstr>Office Theme</vt:lpstr>
      <vt:lpstr>Acrobat Document</vt:lpstr>
      <vt:lpstr>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Alok Bharati</dc:creator>
  <cp:lastModifiedBy>Alok Bharati</cp:lastModifiedBy>
  <cp:revision>60</cp:revision>
  <dcterms:created xsi:type="dcterms:W3CDTF">2017-06-07T06:45:51Z</dcterms:created>
  <dcterms:modified xsi:type="dcterms:W3CDTF">2021-08-26T17:22:03Z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0x010100F7548365F7A28B41B9A685ED46C1AC26001AB29883D45E2C4E9CA6FE95A9034FC3</vt:lpwstr>
  </property>
  <property fmtid="{D5CDD505-2E9C-101B-9397-08002B2CF9AE}" pid="3" name="Order">
    <vt:r8>12500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ies>
</file>
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docx" ContentType="application/vnd.openxmlformats-officedocument.wordprocessingml.document"/>
  <Default Extension="vml" ContentType="application/vnd.openxmlformats-officedocument.vmlDrawing"/>
  <Override PartName="/ppt/slides/slide41.xml" ContentType="application/vnd.openxmlformats-officedocument.presentationml.slide+xml"/>
  <Override PartName="/ppt/slides/slide42.xml" ContentType="application/vnd.openxmlformats-officedocument.presentationml.slide+xml"/>
  <Override PartName="/ppt/presentation.xml" ContentType="application/vnd.openxmlformats-officedocument.presentationml.presentation.main+xml"/>
  <Override PartName="/ppt/slides/slide40.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38.xml" ContentType="application/vnd.openxmlformats-officedocument.presentationml.slide+xml"/>
  <Override PartName="/ppt/slides/slide34.xml" ContentType="application/vnd.openxmlformats-officedocument.presentationml.slide+xml"/>
  <Override PartName="/ppt/slides/slide39.xml" ContentType="application/vnd.openxmlformats-officedocument.presentationml.slide+xml"/>
  <Override PartName="/ppt/slideLayouts/slideLayout33.xml" ContentType="application/vnd.openxmlformats-officedocument.presentationml.slideLayout+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32.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14.xml" ContentType="application/vnd.openxmlformats-officedocument.presentationml.slideLayout+xml"/>
  <Override PartName="/ppt/slideLayouts/slideLayout9.xml" ContentType="application/vnd.openxmlformats-officedocument.presentationml.slideLayout+xml"/>
  <Override PartName="/ppt/slideLayouts/slideLayout16.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36.xml" ContentType="application/vnd.openxmlformats-officedocument.presentationml.slideLayout+xml"/>
  <Override PartName="/ppt/slideLayouts/slideLayout35.xml" ContentType="application/vnd.openxmlformats-officedocument.presentationml.slideLayout+xml"/>
  <Override PartName="/ppt/slideLayouts/slideLayout34.xml" ContentType="application/vnd.openxmlformats-officedocument.presentationml.slideLayout+xml"/>
  <Override PartName="/ppt/slideLayouts/slideLayout28.xml" ContentType="application/vnd.openxmlformats-officedocument.presentationml.slideLayout+xml"/>
  <Override PartName="/ppt/slideLayouts/slideLayout15.xml" ContentType="application/vnd.openxmlformats-officedocument.presentationml.slideLayout+xml"/>
  <Override PartName="/ppt/slideLayouts/slideLayout17.xml" ContentType="application/vnd.openxmlformats-officedocument.presentationml.slideLayout+xml"/>
  <Override PartName="/ppt/slideLayouts/slideLayout23.xml" ContentType="application/vnd.openxmlformats-officedocument.presentationml.slideLayout+xml"/>
  <Override PartName="/ppt/slideLayouts/slideLayout22.xml" ContentType="application/vnd.openxmlformats-officedocument.presentationml.slideLayout+xml"/>
  <Override PartName="/ppt/slideLayouts/slideLayout27.xml" ContentType="application/vnd.openxmlformats-officedocument.presentationml.slideLayout+xml"/>
  <Override PartName="/ppt/slideLayouts/slideLayout20.xml" ContentType="application/vnd.openxmlformats-officedocument.presentationml.slideLayout+xml"/>
  <Override PartName="/ppt/slideLayouts/slideLayout19.xml" ContentType="application/vnd.openxmlformats-officedocument.presentationml.slideLayout+xml"/>
  <Override PartName="/ppt/slideLayouts/slideLayout18.xml" ContentType="application/vnd.openxmlformats-officedocument.presentationml.slideLayout+xml"/>
  <Override PartName="/ppt/slideLayouts/slideLayout24.xml" ContentType="application/vnd.openxmlformats-officedocument.presentationml.slideLayout+xml"/>
  <Override PartName="/ppt/slideLayouts/slideLayout21.xml" ContentType="application/vnd.openxmlformats-officedocument.presentationml.slideLayout+xml"/>
  <Override PartName="/ppt/slideLayouts/slideLayout26.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ppt/tags/tag2.xml" ContentType="application/vnd.openxmlformats-officedocument.presentationml.tags+xml"/>
  <Override PartName="/customXml/itemProps3.xml" ContentType="application/vnd.openxmlformats-officedocument.customXmlProperties+xml"/>
  <Override PartName="/customXml/itemProps1.xml" ContentType="application/vnd.openxmlformats-officedocument.customXmlProperties+xml"/>
  <Override PartName="/customXml/itemProps2.xml" ContentType="application/vnd.openxmlformats-officedocument.customXmlProperties+xml"/>
  <Override PartName="/docProps/custom.xml" ContentType="application/vnd.openxmlformats-officedocument.custom-properties+xml"/>
  <Override PartName="/docProps/app.xml" ContentType="application/vnd.openxmlformats-officedocument.extended-properties+xml"/>
  <Override PartName="/docProps/core.xml" ContentType="application/vnd.openxmlformats-package.core-properties+xml"/>
  <Override PartName="/ppt/tags/tag3.xml" ContentType="application/vnd.openxmlformats-officedocument.presentationml.tags+xml"/>
  <Override PartName="/ppt/tags/tag1.xml" ContentType="application/vnd.openxmlformats-officedocument.presentationml.tag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7"/>
  </p:notesMasterIdLst>
  <p:sldIdLst>
    <p:sldId id="257" r:id="rId5"/>
    <p:sldId id="258" r:id="rId6"/>
    <p:sldId id="259" r:id="rId7"/>
    <p:sldId id="260" r:id="rId8"/>
    <p:sldId id="261" r:id="rId9"/>
    <p:sldId id="262" r:id="rId10"/>
    <p:sldId id="304" r:id="rId11"/>
    <p:sldId id="263" r:id="rId12"/>
    <p:sldId id="264" r:id="rId13"/>
    <p:sldId id="305" r:id="rId14"/>
    <p:sldId id="265" r:id="rId15"/>
    <p:sldId id="266" r:id="rId16"/>
    <p:sldId id="267" r:id="rId17"/>
    <p:sldId id="289" r:id="rId18"/>
    <p:sldId id="292" r:id="rId19"/>
    <p:sldId id="293" r:id="rId20"/>
    <p:sldId id="294" r:id="rId21"/>
    <p:sldId id="290" r:id="rId22"/>
    <p:sldId id="295" r:id="rId23"/>
    <p:sldId id="296" r:id="rId24"/>
    <p:sldId id="297" r:id="rId25"/>
    <p:sldId id="298" r:id="rId26"/>
    <p:sldId id="299" r:id="rId27"/>
    <p:sldId id="300" r:id="rId28"/>
    <p:sldId id="301" r:id="rId29"/>
    <p:sldId id="268" r:id="rId30"/>
    <p:sldId id="269" r:id="rId31"/>
    <p:sldId id="270" r:id="rId32"/>
    <p:sldId id="271" r:id="rId33"/>
    <p:sldId id="272" r:id="rId34"/>
    <p:sldId id="273" r:id="rId35"/>
    <p:sldId id="291" r:id="rId36"/>
    <p:sldId id="274" r:id="rId37"/>
    <p:sldId id="275" r:id="rId38"/>
    <p:sldId id="276" r:id="rId39"/>
    <p:sldId id="277" r:id="rId40"/>
    <p:sldId id="278" r:id="rId41"/>
    <p:sldId id="280" r:id="rId42"/>
    <p:sldId id="286" r:id="rId43"/>
    <p:sldId id="287" r:id="rId44"/>
    <p:sldId id="288" r:id="rId45"/>
    <p:sldId id="279" r:id="rId4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1" d="100"/>
          <a:sy n="71" d="100"/>
        </p:scale>
        <p:origin x="1134"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customXml" Target="../customXml/item4.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6990531-5118-4D0D-80B0-6357AFFBD356}" type="datetimeFigureOut">
              <a:rPr lang="en-US" smtClean="0"/>
              <a:pPr/>
              <a:t>6/17/2016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71B5749-A363-43DB-9079-1BF5BF11B961}" type="slidenum">
              <a:rPr lang="en-US" smtClean="0"/>
              <a:pPr/>
              <a:t>‹#›</a:t>
            </a:fld>
            <a:endParaRPr lang="en-US"/>
          </a:p>
        </p:txBody>
      </p:sp>
    </p:spTree>
    <p:extLst>
      <p:ext uri="{BB962C8B-B14F-4D97-AF65-F5344CB8AC3E}">
        <p14:creationId xmlns:p14="http://schemas.microsoft.com/office/powerpoint/2010/main" val="2285574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product for employers that protects them from major financial loss if a worker experiences a job-related injury or illness that workers compensation doesn’t cover</a:t>
            </a:r>
            <a:endParaRPr lang="en-US" dirty="0"/>
          </a:p>
        </p:txBody>
      </p:sp>
      <p:sp>
        <p:nvSpPr>
          <p:cNvPr id="4" name="Slide Number Placeholder 3"/>
          <p:cNvSpPr>
            <a:spLocks noGrp="1"/>
          </p:cNvSpPr>
          <p:nvPr>
            <p:ph type="sldNum" sz="quarter" idx="10"/>
          </p:nvPr>
        </p:nvSpPr>
        <p:spPr/>
        <p:txBody>
          <a:bodyPr/>
          <a:lstStyle/>
          <a:p>
            <a:fld id="{3A8B09B2-A27B-4A5D-A229-4AEAE861DCC0}" type="slidenum">
              <a:rPr lang="en-US" smtClean="0"/>
              <a:t>7</a:t>
            </a:fld>
            <a:endParaRPr lang="en-US"/>
          </a:p>
        </p:txBody>
      </p:sp>
    </p:spTree>
    <p:extLst>
      <p:ext uri="{BB962C8B-B14F-4D97-AF65-F5344CB8AC3E}">
        <p14:creationId xmlns:p14="http://schemas.microsoft.com/office/powerpoint/2010/main" val="25677311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DE4410E-9D2D-4210-AD11-8B90CE1B90B5}" type="slidenum">
              <a:rPr lang="en-US" smtClean="0"/>
              <a:pPr>
                <a:defRPr/>
              </a:pPr>
              <a:t>42</a:t>
            </a:fld>
            <a:endParaRPr lang="en-US" dirty="0"/>
          </a:p>
        </p:txBody>
      </p:sp>
    </p:spTree>
    <p:extLst>
      <p:ext uri="{BB962C8B-B14F-4D97-AF65-F5344CB8AC3E}">
        <p14:creationId xmlns:p14="http://schemas.microsoft.com/office/powerpoint/2010/main" val="9441368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eg"/><Relationship Id="rId7"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F9CA904-963A-426B-A72A-34362D7545E3}" type="datetimeFigureOut">
              <a:rPr lang="en-US" smtClean="0"/>
              <a:pPr/>
              <a:t>6/17/2016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ECC961-A797-4FF0-9580-D196D7450F6A}"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F9CA904-963A-426B-A72A-34362D7545E3}" type="datetimeFigureOut">
              <a:rPr lang="en-US" smtClean="0"/>
              <a:pPr/>
              <a:t>6/17/2016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ECC961-A797-4FF0-9580-D196D7450F6A}"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F9CA904-963A-426B-A72A-34362D7545E3}" type="datetimeFigureOut">
              <a:rPr lang="en-US" smtClean="0"/>
              <a:pPr/>
              <a:t>6/17/2016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ECC961-A797-4FF0-9580-D196D7450F6A}"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F9CA904-963A-426B-A72A-34362D7545E3}" type="datetimeFigureOut">
              <a:rPr lang="en-US" smtClean="0"/>
              <a:pPr/>
              <a:t>6/17/2016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ECC961-A797-4FF0-9580-D196D7450F6A}"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F9CA904-963A-426B-A72A-34362D7545E3}" type="datetimeFigureOut">
              <a:rPr lang="en-US" smtClean="0"/>
              <a:pPr/>
              <a:t>6/17/2016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7ECC961-A797-4FF0-9580-D196D7450F6A}"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F9CA904-963A-426B-A72A-34362D7545E3}" type="datetimeFigureOut">
              <a:rPr lang="en-US" smtClean="0"/>
              <a:pPr/>
              <a:t>6/17/2016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7ECC961-A797-4FF0-9580-D196D7450F6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F9CA904-963A-426B-A72A-34362D7545E3}" type="datetimeFigureOut">
              <a:rPr lang="en-US" smtClean="0"/>
              <a:pPr/>
              <a:t>6/17/2016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7ECC961-A797-4FF0-9580-D196D7450F6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F9CA904-963A-426B-A72A-34362D7545E3}" type="datetimeFigureOut">
              <a:rPr lang="en-US" smtClean="0"/>
              <a:pPr/>
              <a:t>6/17/2016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ECC961-A797-4FF0-9580-D196D7450F6A}"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F9CA904-963A-426B-A72A-34362D7545E3}" type="datetimeFigureOut">
              <a:rPr lang="en-US" smtClean="0"/>
              <a:pPr/>
              <a:t>6/17/2016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ECC961-A797-4FF0-9580-D196D7450F6A}"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F9CA904-963A-426B-A72A-34362D7545E3}" type="datetimeFigureOut">
              <a:rPr lang="en-US" smtClean="0"/>
              <a:pPr/>
              <a:t>6/17/2016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ECC961-A797-4FF0-9580-D196D7450F6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F9CA904-963A-426B-A72A-34362D7545E3}" type="datetimeFigureOut">
              <a:rPr lang="en-US" smtClean="0"/>
              <a:pPr/>
              <a:t>6/17/2016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ECC961-A797-4FF0-9580-D196D7450F6A}"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sp>
        <p:nvSpPr>
          <p:cNvPr id="38" name="Freeform 37"/>
          <p:cNvSpPr>
            <a:spLocks/>
          </p:cNvSpPr>
          <p:nvPr userDrawn="1"/>
        </p:nvSpPr>
        <p:spPr bwMode="auto">
          <a:xfrm rot="10800000" flipV="1">
            <a:off x="0" y="4669716"/>
            <a:ext cx="9144000" cy="2209800"/>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pPr algn="l" rtl="0" fontAlgn="base">
              <a:spcBef>
                <a:spcPct val="0"/>
              </a:spcBef>
              <a:spcAft>
                <a:spcPct val="0"/>
              </a:spcAft>
            </a:pPr>
            <a:endParaRPr kumimoji="0" lang="en-US" sz="1200" kern="1200">
              <a:solidFill>
                <a:schemeClr val="tx1"/>
              </a:solidFill>
              <a:latin typeface="Verdana" pitchFamily="34" charset="0"/>
              <a:ea typeface="+mn-ea"/>
              <a:cs typeface="+mn-cs"/>
            </a:endParaRPr>
          </a:p>
        </p:txBody>
      </p:sp>
      <p:sp>
        <p:nvSpPr>
          <p:cNvPr id="39" name="Freeform 38"/>
          <p:cNvSpPr>
            <a:spLocks/>
          </p:cNvSpPr>
          <p:nvPr userDrawn="1"/>
        </p:nvSpPr>
        <p:spPr bwMode="auto">
          <a:xfrm rot="10800000" flipH="1">
            <a:off x="0" y="1"/>
            <a:ext cx="9133242" cy="1754187"/>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38100" dir="5400000" algn="t" rotWithShape="0">
              <a:prstClr val="black">
                <a:alpha val="40000"/>
              </a:prstClr>
            </a:outerShdw>
          </a:effectLst>
        </p:spPr>
        <p:txBody>
          <a:bodyPr vert="horz" wrap="square" lIns="91440" tIns="45720" rIns="91440" bIns="45720" anchor="t" compatLnSpc="1"/>
          <a:lstStyle/>
          <a:p>
            <a:pPr algn="l" rtl="0" fontAlgn="base">
              <a:spcBef>
                <a:spcPct val="0"/>
              </a:spcBef>
              <a:spcAft>
                <a:spcPct val="0"/>
              </a:spcAft>
            </a:pPr>
            <a:endParaRPr kumimoji="0" lang="en-US" sz="1200" kern="1200">
              <a:solidFill>
                <a:schemeClr val="tx1"/>
              </a:solidFill>
              <a:latin typeface="Verdana" pitchFamily="34" charset="0"/>
              <a:ea typeface="+mn-ea"/>
              <a:cs typeface="+mn-cs"/>
            </a:endParaRPr>
          </a:p>
        </p:txBody>
      </p:sp>
      <p:pic>
        <p:nvPicPr>
          <p:cNvPr id="18" name="Picture 2" descr="C:\Documents and Settings\sreedhark\My Documents\My Pictures\295_32_engineering.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5464175" y="2590800"/>
            <a:ext cx="2536825" cy="180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11" descr="42-21781934.jpg"/>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2743200" y="2590800"/>
            <a:ext cx="1703388"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 name="Picture 21" descr="42-28076416.jpg"/>
          <p:cNvPicPr>
            <a:picLocks noChangeAspect="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4343400" y="2590800"/>
            <a:ext cx="18288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 name="Picture 6" descr="C:\Documents and Settings\sreedhark\My Documents\My Pictures\microsoft\MP900410085.JPG"/>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l="27739" r="30652"/>
          <a:stretch>
            <a:fillRect/>
          </a:stretch>
        </p:blipFill>
        <p:spPr bwMode="auto">
          <a:xfrm>
            <a:off x="8001000" y="2586038"/>
            <a:ext cx="1143000" cy="181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 name="Picture 2" descr="C:\Documents and Settings\sreedhark\My Documents\My Pictures\295_32_engineering.jpg"/>
          <p:cNvPicPr>
            <a:picLocks noChangeAspect="1" noChangeArrowheads="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1219201" y="2514600"/>
            <a:ext cx="1523999" cy="2175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 name="Picture 5" descr="C:\Documents and Settings\sreedhark\My Documents\My Pictures\microsoft\MC910218827.JPG"/>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1588" y="2520950"/>
            <a:ext cx="1293812" cy="1951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38"/>
          <p:cNvGrpSpPr/>
          <p:nvPr userDrawn="1"/>
        </p:nvGrpSpPr>
        <p:grpSpPr>
          <a:xfrm>
            <a:off x="0" y="4359275"/>
            <a:ext cx="9144000" cy="762000"/>
            <a:chOff x="0" y="4648200"/>
            <a:chExt cx="9144000" cy="762000"/>
          </a:xfrm>
          <a:solidFill>
            <a:schemeClr val="bg1">
              <a:lumMod val="50000"/>
            </a:schemeClr>
          </a:solidFill>
        </p:grpSpPr>
        <p:sp>
          <p:nvSpPr>
            <p:cNvPr id="33" name="Rectangle 62"/>
            <p:cNvSpPr>
              <a:spLocks noChangeArrowheads="1"/>
            </p:cNvSpPr>
            <p:nvPr/>
          </p:nvSpPr>
          <p:spPr bwMode="auto">
            <a:xfrm>
              <a:off x="0" y="4648200"/>
              <a:ext cx="9144000" cy="762000"/>
            </a:xfrm>
            <a:prstGeom prst="rect">
              <a:avLst/>
            </a:prstGeom>
            <a:grpFill/>
            <a:ln w="9525">
              <a:noFill/>
              <a:miter lim="800000"/>
              <a:headEnd/>
              <a:tailEnd/>
            </a:ln>
            <a:effectLst>
              <a:outerShdw blurRad="50800" dist="38100" dir="5400000" algn="t" rotWithShape="0">
                <a:prstClr val="black">
                  <a:alpha val="40000"/>
                </a:prstClr>
              </a:outerShdw>
            </a:effectLst>
          </p:spPr>
          <p:txBody>
            <a:bodyPr wrap="none" anchor="ctr"/>
            <a:lstStyle/>
            <a:p>
              <a:pPr>
                <a:defRPr/>
              </a:pPr>
              <a:endParaRPr lang="en-US" baseline="0" dirty="0">
                <a:latin typeface="Arial" pitchFamily="34" charset="0"/>
              </a:endParaRPr>
            </a:p>
          </p:txBody>
        </p:sp>
        <p:sp>
          <p:nvSpPr>
            <p:cNvPr id="34" name="Text Box 50"/>
            <p:cNvSpPr txBox="1">
              <a:spLocks noChangeArrowheads="1"/>
            </p:cNvSpPr>
            <p:nvPr/>
          </p:nvSpPr>
          <p:spPr bwMode="auto">
            <a:xfrm>
              <a:off x="0" y="4724400"/>
              <a:ext cx="8915400" cy="609600"/>
            </a:xfrm>
            <a:prstGeom prst="rect">
              <a:avLst/>
            </a:prstGeom>
            <a:grpFill/>
            <a:ln>
              <a:noFill/>
            </a:ln>
            <a:extLst/>
          </p:spPr>
          <p:txBody>
            <a:bodyPr lIns="36576" tIns="36576" rIns="36576" bIns="36576"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buSzPct val="120000"/>
                <a:defRPr/>
              </a:pPr>
              <a:r>
                <a:rPr lang="en-US" sz="2000" baseline="0" dirty="0" smtClean="0">
                  <a:solidFill>
                    <a:schemeClr val="bg1"/>
                  </a:solidFill>
                  <a:latin typeface="Arial" pitchFamily="34" charset="0"/>
                  <a:cs typeface="Calibri" pitchFamily="34" charset="0"/>
                </a:rPr>
                <a:t>Deliver Value, Drive Momentum.</a:t>
              </a:r>
            </a:p>
          </p:txBody>
        </p:sp>
      </p:grpSp>
      <p:sp>
        <p:nvSpPr>
          <p:cNvPr id="13" name="Rectangle 62"/>
          <p:cNvSpPr>
            <a:spLocks noChangeArrowheads="1"/>
          </p:cNvSpPr>
          <p:nvPr userDrawn="1"/>
        </p:nvSpPr>
        <p:spPr bwMode="auto">
          <a:xfrm>
            <a:off x="0" y="1754188"/>
            <a:ext cx="7239000" cy="762000"/>
          </a:xfrm>
          <a:prstGeom prst="rect">
            <a:avLst/>
          </a:prstGeom>
          <a:solidFill>
            <a:schemeClr val="bg1">
              <a:lumMod val="50000"/>
            </a:schemeClr>
          </a:solidFill>
          <a:ln w="9525">
            <a:noFill/>
            <a:miter lim="800000"/>
            <a:headEnd/>
            <a:tailEnd/>
          </a:ln>
          <a:extLst/>
        </p:spPr>
        <p:txBody>
          <a:bodyPr wrap="none" anchor="ctr"/>
          <a:lstStyle/>
          <a:p>
            <a:pPr algn="ctr">
              <a:defRPr/>
            </a:pPr>
            <a:endParaRPr lang="en-US" baseline="0" dirty="0">
              <a:latin typeface="Arial" pitchFamily="34" charset="0"/>
            </a:endParaRPr>
          </a:p>
        </p:txBody>
      </p:sp>
      <p:sp>
        <p:nvSpPr>
          <p:cNvPr id="23" name="Rectangle 63"/>
          <p:cNvSpPr>
            <a:spLocks noChangeArrowheads="1"/>
          </p:cNvSpPr>
          <p:nvPr userDrawn="1"/>
        </p:nvSpPr>
        <p:spPr bwMode="auto">
          <a:xfrm>
            <a:off x="6400800" y="1754188"/>
            <a:ext cx="990600" cy="763587"/>
          </a:xfrm>
          <a:prstGeom prst="rect">
            <a:avLst/>
          </a:prstGeom>
          <a:solidFill>
            <a:srgbClr val="CC0000"/>
          </a:solidFill>
          <a:ln w="9525">
            <a:noFill/>
            <a:miter lim="800000"/>
            <a:headEnd/>
            <a:tailEnd/>
          </a:ln>
        </p:spPr>
        <p:txBody>
          <a:bodyPr wrap="none" anchor="ctr"/>
          <a:lstStyle/>
          <a:p>
            <a:pPr>
              <a:defRPr/>
            </a:pPr>
            <a:endParaRPr lang="en-US" baseline="0" dirty="0">
              <a:latin typeface="Arial" pitchFamily="34" charset="0"/>
            </a:endParaRPr>
          </a:p>
        </p:txBody>
      </p:sp>
      <p:sp>
        <p:nvSpPr>
          <p:cNvPr id="24" name="Rectangle 64"/>
          <p:cNvSpPr>
            <a:spLocks noChangeArrowheads="1"/>
          </p:cNvSpPr>
          <p:nvPr userDrawn="1"/>
        </p:nvSpPr>
        <p:spPr bwMode="auto">
          <a:xfrm>
            <a:off x="8763000" y="1754188"/>
            <a:ext cx="381000" cy="763587"/>
          </a:xfrm>
          <a:prstGeom prst="rect">
            <a:avLst/>
          </a:prstGeom>
          <a:solidFill>
            <a:schemeClr val="bg1">
              <a:lumMod val="50000"/>
            </a:schemeClr>
          </a:solidFill>
          <a:ln w="9525">
            <a:noFill/>
            <a:miter lim="800000"/>
            <a:headEnd/>
            <a:tailEnd/>
          </a:ln>
          <a:extLst/>
        </p:spPr>
        <p:txBody>
          <a:bodyPr wrap="none" anchor="ctr"/>
          <a:lstStyle/>
          <a:p>
            <a:pPr>
              <a:defRPr/>
            </a:pPr>
            <a:endParaRPr lang="en-US" baseline="0" dirty="0">
              <a:latin typeface="Arial" pitchFamily="34" charset="0"/>
            </a:endParaRPr>
          </a:p>
        </p:txBody>
      </p:sp>
      <p:sp>
        <p:nvSpPr>
          <p:cNvPr id="25" name="Rectangle 65"/>
          <p:cNvSpPr>
            <a:spLocks noChangeArrowheads="1"/>
          </p:cNvSpPr>
          <p:nvPr userDrawn="1"/>
        </p:nvSpPr>
        <p:spPr bwMode="auto">
          <a:xfrm>
            <a:off x="6781800" y="1754188"/>
            <a:ext cx="304800" cy="763587"/>
          </a:xfrm>
          <a:prstGeom prst="rect">
            <a:avLst/>
          </a:prstGeom>
          <a:solidFill>
            <a:srgbClr val="A50021"/>
          </a:solidFill>
          <a:ln w="9525">
            <a:noFill/>
            <a:miter lim="800000"/>
            <a:headEnd/>
            <a:tailEnd/>
          </a:ln>
        </p:spPr>
        <p:txBody>
          <a:bodyPr wrap="none" anchor="ctr"/>
          <a:lstStyle/>
          <a:p>
            <a:pPr>
              <a:defRPr/>
            </a:pPr>
            <a:endParaRPr lang="en-US" baseline="0" dirty="0">
              <a:latin typeface="Arial" pitchFamily="34" charset="0"/>
            </a:endParaRPr>
          </a:p>
        </p:txBody>
      </p:sp>
      <p:sp>
        <p:nvSpPr>
          <p:cNvPr id="26" name="Rectangle 63"/>
          <p:cNvSpPr>
            <a:spLocks noChangeArrowheads="1"/>
          </p:cNvSpPr>
          <p:nvPr userDrawn="1"/>
        </p:nvSpPr>
        <p:spPr bwMode="auto">
          <a:xfrm>
            <a:off x="8763000" y="1752600"/>
            <a:ext cx="76200" cy="763588"/>
          </a:xfrm>
          <a:prstGeom prst="rect">
            <a:avLst/>
          </a:prstGeom>
          <a:solidFill>
            <a:srgbClr val="CC0000"/>
          </a:solidFill>
          <a:ln w="9525">
            <a:noFill/>
            <a:miter lim="800000"/>
            <a:headEnd/>
            <a:tailEnd/>
          </a:ln>
        </p:spPr>
        <p:txBody>
          <a:bodyPr wrap="none" anchor="ctr"/>
          <a:lstStyle/>
          <a:p>
            <a:pPr>
              <a:defRPr/>
            </a:pPr>
            <a:endParaRPr lang="en-US" baseline="0" dirty="0">
              <a:latin typeface="Arial" pitchFamily="34" charset="0"/>
            </a:endParaRPr>
          </a:p>
        </p:txBody>
      </p:sp>
      <p:sp>
        <p:nvSpPr>
          <p:cNvPr id="28" name="Rectangle 67"/>
          <p:cNvSpPr>
            <a:spLocks noChangeArrowheads="1"/>
          </p:cNvSpPr>
          <p:nvPr userDrawn="1"/>
        </p:nvSpPr>
        <p:spPr bwMode="auto">
          <a:xfrm>
            <a:off x="0" y="2516188"/>
            <a:ext cx="9144000" cy="76200"/>
          </a:xfrm>
          <a:prstGeom prst="rect">
            <a:avLst/>
          </a:prstGeom>
          <a:solidFill>
            <a:srgbClr val="000000"/>
          </a:solidFill>
          <a:ln w="9525">
            <a:noFill/>
            <a:miter lim="800000"/>
            <a:headEnd/>
            <a:tailEnd/>
          </a:ln>
          <a:effectLst>
            <a:outerShdw blurRad="50800" dist="38100" dir="5400000" algn="t" rotWithShape="0">
              <a:prstClr val="black">
                <a:alpha val="40000"/>
              </a:prstClr>
            </a:outerShdw>
          </a:effectLst>
        </p:spPr>
        <p:txBody>
          <a:bodyPr wrap="none" anchor="ctr"/>
          <a:lstStyle/>
          <a:p>
            <a:pPr>
              <a:defRPr/>
            </a:pPr>
            <a:endParaRPr lang="en-US" baseline="0" dirty="0">
              <a:latin typeface="Arial" pitchFamily="34" charset="0"/>
            </a:endParaRPr>
          </a:p>
        </p:txBody>
      </p:sp>
      <p:pic>
        <p:nvPicPr>
          <p:cNvPr id="27" name="Picture 26" descr="VM-Logo-drive_small.png"/>
          <p:cNvPicPr>
            <a:picLocks noChangeAspect="1"/>
          </p:cNvPicPr>
          <p:nvPr userDrawn="1"/>
        </p:nvPicPr>
        <p:blipFill>
          <a:blip r:embed="rId8" cstate="print"/>
          <a:stretch>
            <a:fillRect/>
          </a:stretch>
        </p:blipFill>
        <p:spPr>
          <a:xfrm>
            <a:off x="7381126" y="1696948"/>
            <a:ext cx="1371600" cy="887774"/>
          </a:xfrm>
          <a:prstGeom prst="rect">
            <a:avLst/>
          </a:prstGeom>
        </p:spPr>
      </p:pic>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8" name="Rectangle 62"/>
          <p:cNvSpPr>
            <a:spLocks noChangeArrowheads="1"/>
          </p:cNvSpPr>
          <p:nvPr userDrawn="1"/>
        </p:nvSpPr>
        <p:spPr bwMode="auto">
          <a:xfrm>
            <a:off x="0" y="0"/>
            <a:ext cx="7391400" cy="762000"/>
          </a:xfrm>
          <a:prstGeom prst="rect">
            <a:avLst/>
          </a:prstGeom>
          <a:solidFill>
            <a:srgbClr val="5F5F5F"/>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9" name="Rectangle 63"/>
          <p:cNvSpPr>
            <a:spLocks noChangeArrowheads="1"/>
          </p:cNvSpPr>
          <p:nvPr userDrawn="1"/>
        </p:nvSpPr>
        <p:spPr bwMode="auto">
          <a:xfrm>
            <a:off x="6400800" y="0"/>
            <a:ext cx="9906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0" name="Rectangle 64"/>
          <p:cNvSpPr>
            <a:spLocks noChangeArrowheads="1"/>
          </p:cNvSpPr>
          <p:nvPr userDrawn="1"/>
        </p:nvSpPr>
        <p:spPr bwMode="auto">
          <a:xfrm>
            <a:off x="8763000" y="0"/>
            <a:ext cx="381000" cy="763588"/>
          </a:xfrm>
          <a:prstGeom prst="rect">
            <a:avLst/>
          </a:prstGeom>
          <a:solidFill>
            <a:srgbClr val="969696"/>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1" name="Rectangle 65"/>
          <p:cNvSpPr>
            <a:spLocks noChangeArrowheads="1"/>
          </p:cNvSpPr>
          <p:nvPr userDrawn="1"/>
        </p:nvSpPr>
        <p:spPr bwMode="auto">
          <a:xfrm>
            <a:off x="6781800" y="0"/>
            <a:ext cx="304800" cy="763588"/>
          </a:xfrm>
          <a:prstGeom prst="rect">
            <a:avLst/>
          </a:prstGeom>
          <a:solidFill>
            <a:srgbClr val="A50021"/>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2" name="Rectangle 67"/>
          <p:cNvSpPr>
            <a:spLocks noChangeArrowheads="1"/>
          </p:cNvSpPr>
          <p:nvPr userDrawn="1"/>
        </p:nvSpPr>
        <p:spPr bwMode="auto">
          <a:xfrm>
            <a:off x="0" y="762000"/>
            <a:ext cx="9144000" cy="76200"/>
          </a:xfrm>
          <a:prstGeom prst="rect">
            <a:avLst/>
          </a:prstGeom>
          <a:solidFill>
            <a:srgbClr val="000000"/>
          </a:solidFill>
          <a:ln w="9525">
            <a:noFill/>
            <a:miter lim="800000"/>
            <a:headEnd/>
            <a:tailEnd/>
          </a:ln>
          <a:effectLst>
            <a:outerShdw blurRad="50800" dist="38100" dir="5400000" algn="t" rotWithShape="0">
              <a:prstClr val="black">
                <a:alpha val="40000"/>
              </a:prstClr>
            </a:outerShdw>
          </a:effectLst>
        </p:spPr>
        <p:txBody>
          <a:bodyPr wrap="none" anchor="ctr"/>
          <a:lstStyle/>
          <a:p>
            <a:pPr fontAlgn="auto">
              <a:spcBef>
                <a:spcPts val="0"/>
              </a:spcBef>
              <a:spcAft>
                <a:spcPts val="0"/>
              </a:spcAft>
              <a:defRPr/>
            </a:pPr>
            <a:endParaRPr lang="en-US" dirty="0">
              <a:latin typeface="+mn-lt"/>
            </a:endParaRPr>
          </a:p>
        </p:txBody>
      </p:sp>
      <p:sp>
        <p:nvSpPr>
          <p:cNvPr id="13" name="Text Box 46"/>
          <p:cNvSpPr txBox="1">
            <a:spLocks noChangeArrowheads="1"/>
          </p:cNvSpPr>
          <p:nvPr userDrawn="1"/>
        </p:nvSpPr>
        <p:spPr bwMode="auto">
          <a:xfrm>
            <a:off x="1790700" y="6627168"/>
            <a:ext cx="5562600" cy="230832"/>
          </a:xfrm>
          <a:prstGeom prst="rect">
            <a:avLst/>
          </a:prstGeom>
          <a:noFill/>
          <a:ln w="9525">
            <a:noFill/>
            <a:miter lim="800000"/>
            <a:headEnd/>
            <a:tailEnd/>
          </a:ln>
        </p:spPr>
        <p:txBody>
          <a:bodyPr wrap="square">
            <a:spAutoFit/>
          </a:bodyPr>
          <a:lstStyle/>
          <a:p>
            <a:pPr eaLnBrk="0" fontAlgn="auto" hangingPunct="0">
              <a:spcBef>
                <a:spcPts val="0"/>
              </a:spcBef>
              <a:spcAft>
                <a:spcPts val="0"/>
              </a:spcAft>
              <a:defRPr/>
            </a:pPr>
            <a:r>
              <a:rPr lang="en-US" altLang="en-US" sz="900" dirty="0">
                <a:solidFill>
                  <a:srgbClr val="5F5F5F"/>
                </a:solidFill>
                <a:latin typeface="Arial Narrow" pitchFamily="34" charset="0"/>
              </a:rPr>
              <a:t>NOTE: All information contained herein is Proprietary &amp; Confidential material of ValueMomentum Inc. All rights are reserved.</a:t>
            </a:r>
          </a:p>
        </p:txBody>
      </p:sp>
      <p:sp>
        <p:nvSpPr>
          <p:cNvPr id="14" name="Rectangle 63"/>
          <p:cNvSpPr>
            <a:spLocks noChangeArrowheads="1"/>
          </p:cNvSpPr>
          <p:nvPr userDrawn="1"/>
        </p:nvSpPr>
        <p:spPr bwMode="auto">
          <a:xfrm>
            <a:off x="8763000" y="0"/>
            <a:ext cx="762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pic>
        <p:nvPicPr>
          <p:cNvPr id="16" name="Picture 15" descr="VM-Logo-drive_small.png"/>
          <p:cNvPicPr>
            <a:picLocks noChangeAspect="1"/>
          </p:cNvPicPr>
          <p:nvPr userDrawn="1"/>
        </p:nvPicPr>
        <p:blipFill>
          <a:blip r:embed="rId2" cstate="print"/>
          <a:stretch>
            <a:fillRect/>
          </a:stretch>
        </p:blipFill>
        <p:spPr>
          <a:xfrm>
            <a:off x="7391400" y="-65926"/>
            <a:ext cx="1371600" cy="887774"/>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8" name="Rectangle 62"/>
          <p:cNvSpPr>
            <a:spLocks noChangeArrowheads="1"/>
          </p:cNvSpPr>
          <p:nvPr userDrawn="1"/>
        </p:nvSpPr>
        <p:spPr bwMode="auto">
          <a:xfrm>
            <a:off x="0" y="0"/>
            <a:ext cx="7391400" cy="762000"/>
          </a:xfrm>
          <a:prstGeom prst="rect">
            <a:avLst/>
          </a:prstGeom>
          <a:solidFill>
            <a:srgbClr val="5F5F5F"/>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9" name="Rectangle 63"/>
          <p:cNvSpPr>
            <a:spLocks noChangeArrowheads="1"/>
          </p:cNvSpPr>
          <p:nvPr userDrawn="1"/>
        </p:nvSpPr>
        <p:spPr bwMode="auto">
          <a:xfrm>
            <a:off x="6400800" y="0"/>
            <a:ext cx="9906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0" name="Rectangle 64"/>
          <p:cNvSpPr>
            <a:spLocks noChangeArrowheads="1"/>
          </p:cNvSpPr>
          <p:nvPr userDrawn="1"/>
        </p:nvSpPr>
        <p:spPr bwMode="auto">
          <a:xfrm>
            <a:off x="8763000" y="0"/>
            <a:ext cx="381000" cy="763588"/>
          </a:xfrm>
          <a:prstGeom prst="rect">
            <a:avLst/>
          </a:prstGeom>
          <a:solidFill>
            <a:srgbClr val="969696"/>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1" name="Rectangle 65"/>
          <p:cNvSpPr>
            <a:spLocks noChangeArrowheads="1"/>
          </p:cNvSpPr>
          <p:nvPr userDrawn="1"/>
        </p:nvSpPr>
        <p:spPr bwMode="auto">
          <a:xfrm>
            <a:off x="6781800" y="0"/>
            <a:ext cx="304800" cy="763588"/>
          </a:xfrm>
          <a:prstGeom prst="rect">
            <a:avLst/>
          </a:prstGeom>
          <a:solidFill>
            <a:srgbClr val="A50021"/>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2" name="Rectangle 67"/>
          <p:cNvSpPr>
            <a:spLocks noChangeArrowheads="1"/>
          </p:cNvSpPr>
          <p:nvPr userDrawn="1"/>
        </p:nvSpPr>
        <p:spPr bwMode="auto">
          <a:xfrm>
            <a:off x="0" y="762000"/>
            <a:ext cx="9144000" cy="76200"/>
          </a:xfrm>
          <a:prstGeom prst="rect">
            <a:avLst/>
          </a:prstGeom>
          <a:solidFill>
            <a:srgbClr val="000000"/>
          </a:solidFill>
          <a:ln w="9525">
            <a:noFill/>
            <a:miter lim="800000"/>
            <a:headEnd/>
            <a:tailEnd/>
          </a:ln>
          <a:effectLst>
            <a:outerShdw blurRad="50800" dist="38100" dir="5400000" algn="t" rotWithShape="0">
              <a:prstClr val="black">
                <a:alpha val="40000"/>
              </a:prstClr>
            </a:outerShdw>
          </a:effectLst>
        </p:spPr>
        <p:txBody>
          <a:bodyPr wrap="none" anchor="ctr"/>
          <a:lstStyle/>
          <a:p>
            <a:pPr fontAlgn="auto">
              <a:spcBef>
                <a:spcPts val="0"/>
              </a:spcBef>
              <a:spcAft>
                <a:spcPts val="0"/>
              </a:spcAft>
              <a:defRPr/>
            </a:pPr>
            <a:endParaRPr lang="en-US" dirty="0">
              <a:latin typeface="+mn-lt"/>
            </a:endParaRPr>
          </a:p>
        </p:txBody>
      </p:sp>
      <p:sp>
        <p:nvSpPr>
          <p:cNvPr id="13" name="Text Box 46"/>
          <p:cNvSpPr txBox="1">
            <a:spLocks noChangeArrowheads="1"/>
          </p:cNvSpPr>
          <p:nvPr userDrawn="1"/>
        </p:nvSpPr>
        <p:spPr bwMode="auto">
          <a:xfrm>
            <a:off x="1790700" y="6627168"/>
            <a:ext cx="5562600" cy="230832"/>
          </a:xfrm>
          <a:prstGeom prst="rect">
            <a:avLst/>
          </a:prstGeom>
          <a:noFill/>
          <a:ln w="9525">
            <a:noFill/>
            <a:miter lim="800000"/>
            <a:headEnd/>
            <a:tailEnd/>
          </a:ln>
        </p:spPr>
        <p:txBody>
          <a:bodyPr wrap="square">
            <a:spAutoFit/>
          </a:bodyPr>
          <a:lstStyle/>
          <a:p>
            <a:pPr eaLnBrk="0" fontAlgn="auto" hangingPunct="0">
              <a:spcBef>
                <a:spcPts val="0"/>
              </a:spcBef>
              <a:spcAft>
                <a:spcPts val="0"/>
              </a:spcAft>
              <a:defRPr/>
            </a:pPr>
            <a:r>
              <a:rPr lang="en-US" altLang="en-US" sz="900" dirty="0">
                <a:solidFill>
                  <a:srgbClr val="5F5F5F"/>
                </a:solidFill>
                <a:latin typeface="Arial Narrow" pitchFamily="34" charset="0"/>
              </a:rPr>
              <a:t>NOTE: All information contained herein is Proprietary &amp; Confidential material of ValueMomentum Inc. All rights are reserved.</a:t>
            </a:r>
          </a:p>
        </p:txBody>
      </p:sp>
      <p:sp>
        <p:nvSpPr>
          <p:cNvPr id="14" name="Rectangle 63"/>
          <p:cNvSpPr>
            <a:spLocks noChangeArrowheads="1"/>
          </p:cNvSpPr>
          <p:nvPr userDrawn="1"/>
        </p:nvSpPr>
        <p:spPr bwMode="auto">
          <a:xfrm>
            <a:off x="8763000" y="0"/>
            <a:ext cx="762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pic>
        <p:nvPicPr>
          <p:cNvPr id="16" name="Picture 15" descr="VM-Logo-drive_small.png"/>
          <p:cNvPicPr>
            <a:picLocks noChangeAspect="1"/>
          </p:cNvPicPr>
          <p:nvPr userDrawn="1"/>
        </p:nvPicPr>
        <p:blipFill>
          <a:blip r:embed="rId2" cstate="print"/>
          <a:stretch>
            <a:fillRect/>
          </a:stretch>
        </p:blipFill>
        <p:spPr>
          <a:xfrm>
            <a:off x="7391400" y="-65926"/>
            <a:ext cx="1371600" cy="887774"/>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8" name="Rectangle 62"/>
          <p:cNvSpPr>
            <a:spLocks noChangeArrowheads="1"/>
          </p:cNvSpPr>
          <p:nvPr userDrawn="1"/>
        </p:nvSpPr>
        <p:spPr bwMode="auto">
          <a:xfrm>
            <a:off x="0" y="0"/>
            <a:ext cx="7391400" cy="762000"/>
          </a:xfrm>
          <a:prstGeom prst="rect">
            <a:avLst/>
          </a:prstGeom>
          <a:solidFill>
            <a:srgbClr val="5F5F5F"/>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9" name="Rectangle 63"/>
          <p:cNvSpPr>
            <a:spLocks noChangeArrowheads="1"/>
          </p:cNvSpPr>
          <p:nvPr userDrawn="1"/>
        </p:nvSpPr>
        <p:spPr bwMode="auto">
          <a:xfrm>
            <a:off x="6400800" y="0"/>
            <a:ext cx="9906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0" name="Rectangle 64"/>
          <p:cNvSpPr>
            <a:spLocks noChangeArrowheads="1"/>
          </p:cNvSpPr>
          <p:nvPr userDrawn="1"/>
        </p:nvSpPr>
        <p:spPr bwMode="auto">
          <a:xfrm>
            <a:off x="8763000" y="0"/>
            <a:ext cx="381000" cy="763588"/>
          </a:xfrm>
          <a:prstGeom prst="rect">
            <a:avLst/>
          </a:prstGeom>
          <a:solidFill>
            <a:srgbClr val="969696"/>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1" name="Rectangle 65"/>
          <p:cNvSpPr>
            <a:spLocks noChangeArrowheads="1"/>
          </p:cNvSpPr>
          <p:nvPr userDrawn="1"/>
        </p:nvSpPr>
        <p:spPr bwMode="auto">
          <a:xfrm>
            <a:off x="6781800" y="0"/>
            <a:ext cx="304800" cy="763588"/>
          </a:xfrm>
          <a:prstGeom prst="rect">
            <a:avLst/>
          </a:prstGeom>
          <a:solidFill>
            <a:srgbClr val="A50021"/>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2" name="Rectangle 67"/>
          <p:cNvSpPr>
            <a:spLocks noChangeArrowheads="1"/>
          </p:cNvSpPr>
          <p:nvPr userDrawn="1"/>
        </p:nvSpPr>
        <p:spPr bwMode="auto">
          <a:xfrm>
            <a:off x="0" y="762000"/>
            <a:ext cx="9144000" cy="76200"/>
          </a:xfrm>
          <a:prstGeom prst="rect">
            <a:avLst/>
          </a:prstGeom>
          <a:solidFill>
            <a:srgbClr val="000000"/>
          </a:solidFill>
          <a:ln w="9525">
            <a:noFill/>
            <a:miter lim="800000"/>
            <a:headEnd/>
            <a:tailEnd/>
          </a:ln>
          <a:effectLst>
            <a:outerShdw blurRad="50800" dist="38100" dir="5400000" algn="t" rotWithShape="0">
              <a:prstClr val="black">
                <a:alpha val="40000"/>
              </a:prstClr>
            </a:outerShdw>
          </a:effectLst>
        </p:spPr>
        <p:txBody>
          <a:bodyPr wrap="none" anchor="ctr"/>
          <a:lstStyle/>
          <a:p>
            <a:pPr fontAlgn="auto">
              <a:spcBef>
                <a:spcPts val="0"/>
              </a:spcBef>
              <a:spcAft>
                <a:spcPts val="0"/>
              </a:spcAft>
              <a:defRPr/>
            </a:pPr>
            <a:endParaRPr lang="en-US" dirty="0">
              <a:latin typeface="+mn-lt"/>
            </a:endParaRPr>
          </a:p>
        </p:txBody>
      </p:sp>
      <p:sp>
        <p:nvSpPr>
          <p:cNvPr id="13" name="Text Box 46"/>
          <p:cNvSpPr txBox="1">
            <a:spLocks noChangeArrowheads="1"/>
          </p:cNvSpPr>
          <p:nvPr userDrawn="1"/>
        </p:nvSpPr>
        <p:spPr bwMode="auto">
          <a:xfrm>
            <a:off x="1790700" y="6627168"/>
            <a:ext cx="5562600" cy="230832"/>
          </a:xfrm>
          <a:prstGeom prst="rect">
            <a:avLst/>
          </a:prstGeom>
          <a:noFill/>
          <a:ln w="9525">
            <a:noFill/>
            <a:miter lim="800000"/>
            <a:headEnd/>
            <a:tailEnd/>
          </a:ln>
        </p:spPr>
        <p:txBody>
          <a:bodyPr wrap="square">
            <a:spAutoFit/>
          </a:bodyPr>
          <a:lstStyle/>
          <a:p>
            <a:pPr eaLnBrk="0" fontAlgn="auto" hangingPunct="0">
              <a:spcBef>
                <a:spcPts val="0"/>
              </a:spcBef>
              <a:spcAft>
                <a:spcPts val="0"/>
              </a:spcAft>
              <a:defRPr/>
            </a:pPr>
            <a:r>
              <a:rPr lang="en-US" altLang="en-US" sz="900" dirty="0">
                <a:solidFill>
                  <a:srgbClr val="5F5F5F"/>
                </a:solidFill>
                <a:latin typeface="Arial Narrow" pitchFamily="34" charset="0"/>
              </a:rPr>
              <a:t>NOTE: All information contained herein is Proprietary &amp; Confidential material of ValueMomentum Inc. All rights are reserved.</a:t>
            </a:r>
          </a:p>
        </p:txBody>
      </p:sp>
      <p:sp>
        <p:nvSpPr>
          <p:cNvPr id="14" name="Rectangle 63"/>
          <p:cNvSpPr>
            <a:spLocks noChangeArrowheads="1"/>
          </p:cNvSpPr>
          <p:nvPr userDrawn="1"/>
        </p:nvSpPr>
        <p:spPr bwMode="auto">
          <a:xfrm>
            <a:off x="8763000" y="0"/>
            <a:ext cx="762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pic>
        <p:nvPicPr>
          <p:cNvPr id="16" name="Picture 15" descr="VM-Logo-drive_small.png"/>
          <p:cNvPicPr>
            <a:picLocks noChangeAspect="1"/>
          </p:cNvPicPr>
          <p:nvPr userDrawn="1"/>
        </p:nvPicPr>
        <p:blipFill>
          <a:blip r:embed="rId2" cstate="print"/>
          <a:stretch>
            <a:fillRect/>
          </a:stretch>
        </p:blipFill>
        <p:spPr>
          <a:xfrm>
            <a:off x="7391400" y="-65926"/>
            <a:ext cx="1371600" cy="887774"/>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8" name="Rectangle 62"/>
          <p:cNvSpPr>
            <a:spLocks noChangeArrowheads="1"/>
          </p:cNvSpPr>
          <p:nvPr userDrawn="1"/>
        </p:nvSpPr>
        <p:spPr bwMode="auto">
          <a:xfrm>
            <a:off x="0" y="0"/>
            <a:ext cx="7391400" cy="762000"/>
          </a:xfrm>
          <a:prstGeom prst="rect">
            <a:avLst/>
          </a:prstGeom>
          <a:solidFill>
            <a:srgbClr val="5F5F5F"/>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9" name="Rectangle 63"/>
          <p:cNvSpPr>
            <a:spLocks noChangeArrowheads="1"/>
          </p:cNvSpPr>
          <p:nvPr userDrawn="1"/>
        </p:nvSpPr>
        <p:spPr bwMode="auto">
          <a:xfrm>
            <a:off x="6400800" y="0"/>
            <a:ext cx="9906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0" name="Rectangle 64"/>
          <p:cNvSpPr>
            <a:spLocks noChangeArrowheads="1"/>
          </p:cNvSpPr>
          <p:nvPr userDrawn="1"/>
        </p:nvSpPr>
        <p:spPr bwMode="auto">
          <a:xfrm>
            <a:off x="8763000" y="0"/>
            <a:ext cx="381000" cy="763588"/>
          </a:xfrm>
          <a:prstGeom prst="rect">
            <a:avLst/>
          </a:prstGeom>
          <a:solidFill>
            <a:srgbClr val="969696"/>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1" name="Rectangle 65"/>
          <p:cNvSpPr>
            <a:spLocks noChangeArrowheads="1"/>
          </p:cNvSpPr>
          <p:nvPr userDrawn="1"/>
        </p:nvSpPr>
        <p:spPr bwMode="auto">
          <a:xfrm>
            <a:off x="6781800" y="0"/>
            <a:ext cx="304800" cy="763588"/>
          </a:xfrm>
          <a:prstGeom prst="rect">
            <a:avLst/>
          </a:prstGeom>
          <a:solidFill>
            <a:srgbClr val="A50021"/>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2" name="Rectangle 67"/>
          <p:cNvSpPr>
            <a:spLocks noChangeArrowheads="1"/>
          </p:cNvSpPr>
          <p:nvPr userDrawn="1"/>
        </p:nvSpPr>
        <p:spPr bwMode="auto">
          <a:xfrm>
            <a:off x="0" y="762000"/>
            <a:ext cx="9144000" cy="76200"/>
          </a:xfrm>
          <a:prstGeom prst="rect">
            <a:avLst/>
          </a:prstGeom>
          <a:solidFill>
            <a:srgbClr val="000000"/>
          </a:solidFill>
          <a:ln w="9525">
            <a:noFill/>
            <a:miter lim="800000"/>
            <a:headEnd/>
            <a:tailEnd/>
          </a:ln>
          <a:effectLst>
            <a:outerShdw blurRad="50800" dist="38100" dir="5400000" algn="t" rotWithShape="0">
              <a:prstClr val="black">
                <a:alpha val="40000"/>
              </a:prstClr>
            </a:outerShdw>
          </a:effectLst>
        </p:spPr>
        <p:txBody>
          <a:bodyPr wrap="none" anchor="ctr"/>
          <a:lstStyle/>
          <a:p>
            <a:pPr fontAlgn="auto">
              <a:spcBef>
                <a:spcPts val="0"/>
              </a:spcBef>
              <a:spcAft>
                <a:spcPts val="0"/>
              </a:spcAft>
              <a:defRPr/>
            </a:pPr>
            <a:endParaRPr lang="en-US" dirty="0">
              <a:latin typeface="+mn-lt"/>
            </a:endParaRPr>
          </a:p>
        </p:txBody>
      </p:sp>
      <p:sp>
        <p:nvSpPr>
          <p:cNvPr id="13" name="Text Box 46"/>
          <p:cNvSpPr txBox="1">
            <a:spLocks noChangeArrowheads="1"/>
          </p:cNvSpPr>
          <p:nvPr userDrawn="1"/>
        </p:nvSpPr>
        <p:spPr bwMode="auto">
          <a:xfrm>
            <a:off x="1790700" y="6627168"/>
            <a:ext cx="5562600" cy="230832"/>
          </a:xfrm>
          <a:prstGeom prst="rect">
            <a:avLst/>
          </a:prstGeom>
          <a:noFill/>
          <a:ln w="9525">
            <a:noFill/>
            <a:miter lim="800000"/>
            <a:headEnd/>
            <a:tailEnd/>
          </a:ln>
        </p:spPr>
        <p:txBody>
          <a:bodyPr wrap="square">
            <a:spAutoFit/>
          </a:bodyPr>
          <a:lstStyle/>
          <a:p>
            <a:pPr eaLnBrk="0" fontAlgn="auto" hangingPunct="0">
              <a:spcBef>
                <a:spcPts val="0"/>
              </a:spcBef>
              <a:spcAft>
                <a:spcPts val="0"/>
              </a:spcAft>
              <a:defRPr/>
            </a:pPr>
            <a:r>
              <a:rPr lang="en-US" altLang="en-US" sz="900" dirty="0">
                <a:solidFill>
                  <a:srgbClr val="5F5F5F"/>
                </a:solidFill>
                <a:latin typeface="Arial Narrow" pitchFamily="34" charset="0"/>
              </a:rPr>
              <a:t>NOTE: All information contained herein is Proprietary &amp; Confidential material of ValueMomentum Inc. All rights are reserved.</a:t>
            </a:r>
          </a:p>
        </p:txBody>
      </p:sp>
      <p:sp>
        <p:nvSpPr>
          <p:cNvPr id="14" name="Rectangle 63"/>
          <p:cNvSpPr>
            <a:spLocks noChangeArrowheads="1"/>
          </p:cNvSpPr>
          <p:nvPr userDrawn="1"/>
        </p:nvSpPr>
        <p:spPr bwMode="auto">
          <a:xfrm>
            <a:off x="8763000" y="0"/>
            <a:ext cx="762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pic>
        <p:nvPicPr>
          <p:cNvPr id="16" name="Picture 15" descr="VM-Logo-drive_small.png"/>
          <p:cNvPicPr>
            <a:picLocks noChangeAspect="1"/>
          </p:cNvPicPr>
          <p:nvPr userDrawn="1"/>
        </p:nvPicPr>
        <p:blipFill>
          <a:blip r:embed="rId2" cstate="print"/>
          <a:stretch>
            <a:fillRect/>
          </a:stretch>
        </p:blipFill>
        <p:spPr>
          <a:xfrm>
            <a:off x="7391400" y="-65926"/>
            <a:ext cx="1371600" cy="887774"/>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8" name="Rectangle 62"/>
          <p:cNvSpPr>
            <a:spLocks noChangeArrowheads="1"/>
          </p:cNvSpPr>
          <p:nvPr userDrawn="1"/>
        </p:nvSpPr>
        <p:spPr bwMode="auto">
          <a:xfrm>
            <a:off x="0" y="0"/>
            <a:ext cx="7391400" cy="762000"/>
          </a:xfrm>
          <a:prstGeom prst="rect">
            <a:avLst/>
          </a:prstGeom>
          <a:solidFill>
            <a:srgbClr val="5F5F5F"/>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9" name="Rectangle 63"/>
          <p:cNvSpPr>
            <a:spLocks noChangeArrowheads="1"/>
          </p:cNvSpPr>
          <p:nvPr userDrawn="1"/>
        </p:nvSpPr>
        <p:spPr bwMode="auto">
          <a:xfrm>
            <a:off x="6400800" y="0"/>
            <a:ext cx="9906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0" name="Rectangle 64"/>
          <p:cNvSpPr>
            <a:spLocks noChangeArrowheads="1"/>
          </p:cNvSpPr>
          <p:nvPr userDrawn="1"/>
        </p:nvSpPr>
        <p:spPr bwMode="auto">
          <a:xfrm>
            <a:off x="8763000" y="0"/>
            <a:ext cx="381000" cy="763588"/>
          </a:xfrm>
          <a:prstGeom prst="rect">
            <a:avLst/>
          </a:prstGeom>
          <a:solidFill>
            <a:srgbClr val="969696"/>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1" name="Rectangle 65"/>
          <p:cNvSpPr>
            <a:spLocks noChangeArrowheads="1"/>
          </p:cNvSpPr>
          <p:nvPr userDrawn="1"/>
        </p:nvSpPr>
        <p:spPr bwMode="auto">
          <a:xfrm>
            <a:off x="6781800" y="0"/>
            <a:ext cx="304800" cy="763588"/>
          </a:xfrm>
          <a:prstGeom prst="rect">
            <a:avLst/>
          </a:prstGeom>
          <a:solidFill>
            <a:srgbClr val="A50021"/>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2" name="Rectangle 67"/>
          <p:cNvSpPr>
            <a:spLocks noChangeArrowheads="1"/>
          </p:cNvSpPr>
          <p:nvPr userDrawn="1"/>
        </p:nvSpPr>
        <p:spPr bwMode="auto">
          <a:xfrm>
            <a:off x="0" y="762000"/>
            <a:ext cx="9144000" cy="76200"/>
          </a:xfrm>
          <a:prstGeom prst="rect">
            <a:avLst/>
          </a:prstGeom>
          <a:solidFill>
            <a:srgbClr val="000000"/>
          </a:solidFill>
          <a:ln w="9525">
            <a:noFill/>
            <a:miter lim="800000"/>
            <a:headEnd/>
            <a:tailEnd/>
          </a:ln>
          <a:effectLst>
            <a:outerShdw blurRad="50800" dist="38100" dir="5400000" algn="t" rotWithShape="0">
              <a:prstClr val="black">
                <a:alpha val="40000"/>
              </a:prstClr>
            </a:outerShdw>
          </a:effectLst>
        </p:spPr>
        <p:txBody>
          <a:bodyPr wrap="none" anchor="ctr"/>
          <a:lstStyle/>
          <a:p>
            <a:pPr fontAlgn="auto">
              <a:spcBef>
                <a:spcPts val="0"/>
              </a:spcBef>
              <a:spcAft>
                <a:spcPts val="0"/>
              </a:spcAft>
              <a:defRPr/>
            </a:pPr>
            <a:endParaRPr lang="en-US" dirty="0">
              <a:latin typeface="+mn-lt"/>
            </a:endParaRPr>
          </a:p>
        </p:txBody>
      </p:sp>
      <p:sp>
        <p:nvSpPr>
          <p:cNvPr id="13" name="Text Box 46"/>
          <p:cNvSpPr txBox="1">
            <a:spLocks noChangeArrowheads="1"/>
          </p:cNvSpPr>
          <p:nvPr userDrawn="1"/>
        </p:nvSpPr>
        <p:spPr bwMode="auto">
          <a:xfrm>
            <a:off x="1790700" y="6627168"/>
            <a:ext cx="5562600" cy="230832"/>
          </a:xfrm>
          <a:prstGeom prst="rect">
            <a:avLst/>
          </a:prstGeom>
          <a:noFill/>
          <a:ln w="9525">
            <a:noFill/>
            <a:miter lim="800000"/>
            <a:headEnd/>
            <a:tailEnd/>
          </a:ln>
        </p:spPr>
        <p:txBody>
          <a:bodyPr wrap="square">
            <a:spAutoFit/>
          </a:bodyPr>
          <a:lstStyle/>
          <a:p>
            <a:pPr eaLnBrk="0" fontAlgn="auto" hangingPunct="0">
              <a:spcBef>
                <a:spcPts val="0"/>
              </a:spcBef>
              <a:spcAft>
                <a:spcPts val="0"/>
              </a:spcAft>
              <a:defRPr/>
            </a:pPr>
            <a:r>
              <a:rPr lang="en-US" altLang="en-US" sz="900" dirty="0">
                <a:solidFill>
                  <a:srgbClr val="5F5F5F"/>
                </a:solidFill>
                <a:latin typeface="Arial Narrow" pitchFamily="34" charset="0"/>
              </a:rPr>
              <a:t>NOTE: All information contained herein is Proprietary &amp; Confidential material of ValueMomentum Inc. All rights are reserved.</a:t>
            </a:r>
          </a:p>
        </p:txBody>
      </p:sp>
      <p:sp>
        <p:nvSpPr>
          <p:cNvPr id="14" name="Rectangle 63"/>
          <p:cNvSpPr>
            <a:spLocks noChangeArrowheads="1"/>
          </p:cNvSpPr>
          <p:nvPr userDrawn="1"/>
        </p:nvSpPr>
        <p:spPr bwMode="auto">
          <a:xfrm>
            <a:off x="8763000" y="0"/>
            <a:ext cx="762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pic>
        <p:nvPicPr>
          <p:cNvPr id="16" name="Picture 15" descr="VM-Logo-drive_small.png"/>
          <p:cNvPicPr>
            <a:picLocks noChangeAspect="1"/>
          </p:cNvPicPr>
          <p:nvPr userDrawn="1"/>
        </p:nvPicPr>
        <p:blipFill>
          <a:blip r:embed="rId2" cstate="print"/>
          <a:stretch>
            <a:fillRect/>
          </a:stretch>
        </p:blipFill>
        <p:spPr>
          <a:xfrm>
            <a:off x="7391400" y="-65926"/>
            <a:ext cx="1371600" cy="887774"/>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8" name="Rectangle 62"/>
          <p:cNvSpPr>
            <a:spLocks noChangeArrowheads="1"/>
          </p:cNvSpPr>
          <p:nvPr userDrawn="1"/>
        </p:nvSpPr>
        <p:spPr bwMode="auto">
          <a:xfrm>
            <a:off x="0" y="0"/>
            <a:ext cx="7391400" cy="762000"/>
          </a:xfrm>
          <a:prstGeom prst="rect">
            <a:avLst/>
          </a:prstGeom>
          <a:solidFill>
            <a:srgbClr val="5F5F5F"/>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9" name="Rectangle 63"/>
          <p:cNvSpPr>
            <a:spLocks noChangeArrowheads="1"/>
          </p:cNvSpPr>
          <p:nvPr userDrawn="1"/>
        </p:nvSpPr>
        <p:spPr bwMode="auto">
          <a:xfrm>
            <a:off x="6400800" y="0"/>
            <a:ext cx="9906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0" name="Rectangle 64"/>
          <p:cNvSpPr>
            <a:spLocks noChangeArrowheads="1"/>
          </p:cNvSpPr>
          <p:nvPr userDrawn="1"/>
        </p:nvSpPr>
        <p:spPr bwMode="auto">
          <a:xfrm>
            <a:off x="8763000" y="0"/>
            <a:ext cx="381000" cy="763588"/>
          </a:xfrm>
          <a:prstGeom prst="rect">
            <a:avLst/>
          </a:prstGeom>
          <a:solidFill>
            <a:srgbClr val="969696"/>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1" name="Rectangle 65"/>
          <p:cNvSpPr>
            <a:spLocks noChangeArrowheads="1"/>
          </p:cNvSpPr>
          <p:nvPr userDrawn="1"/>
        </p:nvSpPr>
        <p:spPr bwMode="auto">
          <a:xfrm>
            <a:off x="6781800" y="0"/>
            <a:ext cx="304800" cy="763588"/>
          </a:xfrm>
          <a:prstGeom prst="rect">
            <a:avLst/>
          </a:prstGeom>
          <a:solidFill>
            <a:srgbClr val="A50021"/>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2" name="Rectangle 67"/>
          <p:cNvSpPr>
            <a:spLocks noChangeArrowheads="1"/>
          </p:cNvSpPr>
          <p:nvPr userDrawn="1"/>
        </p:nvSpPr>
        <p:spPr bwMode="auto">
          <a:xfrm>
            <a:off x="0" y="762000"/>
            <a:ext cx="9144000" cy="76200"/>
          </a:xfrm>
          <a:prstGeom prst="rect">
            <a:avLst/>
          </a:prstGeom>
          <a:solidFill>
            <a:srgbClr val="000000"/>
          </a:solidFill>
          <a:ln w="9525">
            <a:noFill/>
            <a:miter lim="800000"/>
            <a:headEnd/>
            <a:tailEnd/>
          </a:ln>
          <a:effectLst>
            <a:outerShdw blurRad="50800" dist="38100" dir="5400000" algn="t" rotWithShape="0">
              <a:prstClr val="black">
                <a:alpha val="40000"/>
              </a:prstClr>
            </a:outerShdw>
          </a:effectLst>
        </p:spPr>
        <p:txBody>
          <a:bodyPr wrap="none" anchor="ctr"/>
          <a:lstStyle/>
          <a:p>
            <a:pPr fontAlgn="auto">
              <a:spcBef>
                <a:spcPts val="0"/>
              </a:spcBef>
              <a:spcAft>
                <a:spcPts val="0"/>
              </a:spcAft>
              <a:defRPr/>
            </a:pPr>
            <a:endParaRPr lang="en-US" dirty="0">
              <a:latin typeface="+mn-lt"/>
            </a:endParaRPr>
          </a:p>
        </p:txBody>
      </p:sp>
      <p:sp>
        <p:nvSpPr>
          <p:cNvPr id="13" name="Text Box 46"/>
          <p:cNvSpPr txBox="1">
            <a:spLocks noChangeArrowheads="1"/>
          </p:cNvSpPr>
          <p:nvPr userDrawn="1"/>
        </p:nvSpPr>
        <p:spPr bwMode="auto">
          <a:xfrm>
            <a:off x="1790700" y="6627168"/>
            <a:ext cx="5562600" cy="230832"/>
          </a:xfrm>
          <a:prstGeom prst="rect">
            <a:avLst/>
          </a:prstGeom>
          <a:noFill/>
          <a:ln w="9525">
            <a:noFill/>
            <a:miter lim="800000"/>
            <a:headEnd/>
            <a:tailEnd/>
          </a:ln>
        </p:spPr>
        <p:txBody>
          <a:bodyPr wrap="square">
            <a:spAutoFit/>
          </a:bodyPr>
          <a:lstStyle/>
          <a:p>
            <a:pPr eaLnBrk="0" fontAlgn="auto" hangingPunct="0">
              <a:spcBef>
                <a:spcPts val="0"/>
              </a:spcBef>
              <a:spcAft>
                <a:spcPts val="0"/>
              </a:spcAft>
              <a:defRPr/>
            </a:pPr>
            <a:r>
              <a:rPr lang="en-US" altLang="en-US" sz="900" dirty="0">
                <a:solidFill>
                  <a:srgbClr val="5F5F5F"/>
                </a:solidFill>
                <a:latin typeface="Arial Narrow" pitchFamily="34" charset="0"/>
              </a:rPr>
              <a:t>NOTE: All information contained herein is Proprietary &amp; Confidential material of ValueMomentum Inc. All rights are reserved.</a:t>
            </a:r>
          </a:p>
        </p:txBody>
      </p:sp>
      <p:sp>
        <p:nvSpPr>
          <p:cNvPr id="14" name="Rectangle 63"/>
          <p:cNvSpPr>
            <a:spLocks noChangeArrowheads="1"/>
          </p:cNvSpPr>
          <p:nvPr userDrawn="1"/>
        </p:nvSpPr>
        <p:spPr bwMode="auto">
          <a:xfrm>
            <a:off x="8763000" y="0"/>
            <a:ext cx="762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pic>
        <p:nvPicPr>
          <p:cNvPr id="16" name="Picture 15" descr="VM-Logo-drive_small.png"/>
          <p:cNvPicPr>
            <a:picLocks noChangeAspect="1"/>
          </p:cNvPicPr>
          <p:nvPr userDrawn="1"/>
        </p:nvPicPr>
        <p:blipFill>
          <a:blip r:embed="rId2" cstate="print"/>
          <a:stretch>
            <a:fillRect/>
          </a:stretch>
        </p:blipFill>
        <p:spPr>
          <a:xfrm>
            <a:off x="7391400" y="-65926"/>
            <a:ext cx="1371600" cy="887774"/>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8" name="Rectangle 62"/>
          <p:cNvSpPr>
            <a:spLocks noChangeArrowheads="1"/>
          </p:cNvSpPr>
          <p:nvPr userDrawn="1"/>
        </p:nvSpPr>
        <p:spPr bwMode="auto">
          <a:xfrm>
            <a:off x="0" y="0"/>
            <a:ext cx="7391400" cy="762000"/>
          </a:xfrm>
          <a:prstGeom prst="rect">
            <a:avLst/>
          </a:prstGeom>
          <a:solidFill>
            <a:srgbClr val="5F5F5F"/>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9" name="Rectangle 63"/>
          <p:cNvSpPr>
            <a:spLocks noChangeArrowheads="1"/>
          </p:cNvSpPr>
          <p:nvPr userDrawn="1"/>
        </p:nvSpPr>
        <p:spPr bwMode="auto">
          <a:xfrm>
            <a:off x="6400800" y="0"/>
            <a:ext cx="9906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0" name="Rectangle 64"/>
          <p:cNvSpPr>
            <a:spLocks noChangeArrowheads="1"/>
          </p:cNvSpPr>
          <p:nvPr userDrawn="1"/>
        </p:nvSpPr>
        <p:spPr bwMode="auto">
          <a:xfrm>
            <a:off x="8763000" y="0"/>
            <a:ext cx="381000" cy="763588"/>
          </a:xfrm>
          <a:prstGeom prst="rect">
            <a:avLst/>
          </a:prstGeom>
          <a:solidFill>
            <a:srgbClr val="969696"/>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1" name="Rectangle 65"/>
          <p:cNvSpPr>
            <a:spLocks noChangeArrowheads="1"/>
          </p:cNvSpPr>
          <p:nvPr userDrawn="1"/>
        </p:nvSpPr>
        <p:spPr bwMode="auto">
          <a:xfrm>
            <a:off x="6781800" y="0"/>
            <a:ext cx="304800" cy="763588"/>
          </a:xfrm>
          <a:prstGeom prst="rect">
            <a:avLst/>
          </a:prstGeom>
          <a:solidFill>
            <a:srgbClr val="A50021"/>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2" name="Rectangle 67"/>
          <p:cNvSpPr>
            <a:spLocks noChangeArrowheads="1"/>
          </p:cNvSpPr>
          <p:nvPr userDrawn="1"/>
        </p:nvSpPr>
        <p:spPr bwMode="auto">
          <a:xfrm>
            <a:off x="0" y="762000"/>
            <a:ext cx="9144000" cy="76200"/>
          </a:xfrm>
          <a:prstGeom prst="rect">
            <a:avLst/>
          </a:prstGeom>
          <a:solidFill>
            <a:srgbClr val="000000"/>
          </a:solidFill>
          <a:ln w="9525">
            <a:noFill/>
            <a:miter lim="800000"/>
            <a:headEnd/>
            <a:tailEnd/>
          </a:ln>
          <a:effectLst>
            <a:outerShdw blurRad="50800" dist="38100" dir="5400000" algn="t" rotWithShape="0">
              <a:prstClr val="black">
                <a:alpha val="40000"/>
              </a:prstClr>
            </a:outerShdw>
          </a:effectLst>
        </p:spPr>
        <p:txBody>
          <a:bodyPr wrap="none" anchor="ctr"/>
          <a:lstStyle/>
          <a:p>
            <a:pPr fontAlgn="auto">
              <a:spcBef>
                <a:spcPts val="0"/>
              </a:spcBef>
              <a:spcAft>
                <a:spcPts val="0"/>
              </a:spcAft>
              <a:defRPr/>
            </a:pPr>
            <a:endParaRPr lang="en-US" dirty="0">
              <a:latin typeface="+mn-lt"/>
            </a:endParaRPr>
          </a:p>
        </p:txBody>
      </p:sp>
      <p:sp>
        <p:nvSpPr>
          <p:cNvPr id="13" name="Text Box 46"/>
          <p:cNvSpPr txBox="1">
            <a:spLocks noChangeArrowheads="1"/>
          </p:cNvSpPr>
          <p:nvPr userDrawn="1"/>
        </p:nvSpPr>
        <p:spPr bwMode="auto">
          <a:xfrm>
            <a:off x="1790700" y="6627168"/>
            <a:ext cx="5562600" cy="230832"/>
          </a:xfrm>
          <a:prstGeom prst="rect">
            <a:avLst/>
          </a:prstGeom>
          <a:noFill/>
          <a:ln w="9525">
            <a:noFill/>
            <a:miter lim="800000"/>
            <a:headEnd/>
            <a:tailEnd/>
          </a:ln>
        </p:spPr>
        <p:txBody>
          <a:bodyPr wrap="square">
            <a:spAutoFit/>
          </a:bodyPr>
          <a:lstStyle/>
          <a:p>
            <a:pPr eaLnBrk="0" fontAlgn="auto" hangingPunct="0">
              <a:spcBef>
                <a:spcPts val="0"/>
              </a:spcBef>
              <a:spcAft>
                <a:spcPts val="0"/>
              </a:spcAft>
              <a:defRPr/>
            </a:pPr>
            <a:r>
              <a:rPr lang="en-US" altLang="en-US" sz="900" dirty="0">
                <a:solidFill>
                  <a:srgbClr val="5F5F5F"/>
                </a:solidFill>
                <a:latin typeface="Arial Narrow" pitchFamily="34" charset="0"/>
              </a:rPr>
              <a:t>NOTE: All information contained herein is Proprietary &amp; Confidential material of ValueMomentum Inc. All rights are reserved.</a:t>
            </a:r>
          </a:p>
        </p:txBody>
      </p:sp>
      <p:sp>
        <p:nvSpPr>
          <p:cNvPr id="14" name="Rectangle 63"/>
          <p:cNvSpPr>
            <a:spLocks noChangeArrowheads="1"/>
          </p:cNvSpPr>
          <p:nvPr userDrawn="1"/>
        </p:nvSpPr>
        <p:spPr bwMode="auto">
          <a:xfrm>
            <a:off x="8763000" y="0"/>
            <a:ext cx="762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pic>
        <p:nvPicPr>
          <p:cNvPr id="16" name="Picture 15" descr="VM-Logo-drive_small.png"/>
          <p:cNvPicPr>
            <a:picLocks noChangeAspect="1"/>
          </p:cNvPicPr>
          <p:nvPr userDrawn="1"/>
        </p:nvPicPr>
        <p:blipFill>
          <a:blip r:embed="rId2" cstate="print"/>
          <a:stretch>
            <a:fillRect/>
          </a:stretch>
        </p:blipFill>
        <p:spPr>
          <a:xfrm>
            <a:off x="7391400" y="-65926"/>
            <a:ext cx="1371600" cy="887774"/>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8" name="Rectangle 62"/>
          <p:cNvSpPr>
            <a:spLocks noChangeArrowheads="1"/>
          </p:cNvSpPr>
          <p:nvPr userDrawn="1"/>
        </p:nvSpPr>
        <p:spPr bwMode="auto">
          <a:xfrm>
            <a:off x="0" y="0"/>
            <a:ext cx="7391400" cy="762000"/>
          </a:xfrm>
          <a:prstGeom prst="rect">
            <a:avLst/>
          </a:prstGeom>
          <a:solidFill>
            <a:srgbClr val="5F5F5F"/>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9" name="Rectangle 63"/>
          <p:cNvSpPr>
            <a:spLocks noChangeArrowheads="1"/>
          </p:cNvSpPr>
          <p:nvPr userDrawn="1"/>
        </p:nvSpPr>
        <p:spPr bwMode="auto">
          <a:xfrm>
            <a:off x="6400800" y="0"/>
            <a:ext cx="9906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0" name="Rectangle 64"/>
          <p:cNvSpPr>
            <a:spLocks noChangeArrowheads="1"/>
          </p:cNvSpPr>
          <p:nvPr userDrawn="1"/>
        </p:nvSpPr>
        <p:spPr bwMode="auto">
          <a:xfrm>
            <a:off x="8763000" y="0"/>
            <a:ext cx="381000" cy="763588"/>
          </a:xfrm>
          <a:prstGeom prst="rect">
            <a:avLst/>
          </a:prstGeom>
          <a:solidFill>
            <a:srgbClr val="969696"/>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1" name="Rectangle 65"/>
          <p:cNvSpPr>
            <a:spLocks noChangeArrowheads="1"/>
          </p:cNvSpPr>
          <p:nvPr userDrawn="1"/>
        </p:nvSpPr>
        <p:spPr bwMode="auto">
          <a:xfrm>
            <a:off x="6781800" y="0"/>
            <a:ext cx="304800" cy="763588"/>
          </a:xfrm>
          <a:prstGeom prst="rect">
            <a:avLst/>
          </a:prstGeom>
          <a:solidFill>
            <a:srgbClr val="A50021"/>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2" name="Rectangle 67"/>
          <p:cNvSpPr>
            <a:spLocks noChangeArrowheads="1"/>
          </p:cNvSpPr>
          <p:nvPr userDrawn="1"/>
        </p:nvSpPr>
        <p:spPr bwMode="auto">
          <a:xfrm>
            <a:off x="0" y="762000"/>
            <a:ext cx="9144000" cy="76200"/>
          </a:xfrm>
          <a:prstGeom prst="rect">
            <a:avLst/>
          </a:prstGeom>
          <a:solidFill>
            <a:srgbClr val="000000"/>
          </a:solidFill>
          <a:ln w="9525">
            <a:noFill/>
            <a:miter lim="800000"/>
            <a:headEnd/>
            <a:tailEnd/>
          </a:ln>
          <a:effectLst>
            <a:outerShdw blurRad="50800" dist="38100" dir="5400000" algn="t" rotWithShape="0">
              <a:prstClr val="black">
                <a:alpha val="40000"/>
              </a:prstClr>
            </a:outerShdw>
          </a:effectLst>
        </p:spPr>
        <p:txBody>
          <a:bodyPr wrap="none" anchor="ctr"/>
          <a:lstStyle/>
          <a:p>
            <a:pPr fontAlgn="auto">
              <a:spcBef>
                <a:spcPts val="0"/>
              </a:spcBef>
              <a:spcAft>
                <a:spcPts val="0"/>
              </a:spcAft>
              <a:defRPr/>
            </a:pPr>
            <a:endParaRPr lang="en-US" dirty="0">
              <a:latin typeface="+mn-lt"/>
            </a:endParaRPr>
          </a:p>
        </p:txBody>
      </p:sp>
      <p:sp>
        <p:nvSpPr>
          <p:cNvPr id="13" name="Text Box 46"/>
          <p:cNvSpPr txBox="1">
            <a:spLocks noChangeArrowheads="1"/>
          </p:cNvSpPr>
          <p:nvPr userDrawn="1"/>
        </p:nvSpPr>
        <p:spPr bwMode="auto">
          <a:xfrm>
            <a:off x="1790700" y="6627168"/>
            <a:ext cx="5562600" cy="230832"/>
          </a:xfrm>
          <a:prstGeom prst="rect">
            <a:avLst/>
          </a:prstGeom>
          <a:noFill/>
          <a:ln w="9525">
            <a:noFill/>
            <a:miter lim="800000"/>
            <a:headEnd/>
            <a:tailEnd/>
          </a:ln>
        </p:spPr>
        <p:txBody>
          <a:bodyPr wrap="square">
            <a:spAutoFit/>
          </a:bodyPr>
          <a:lstStyle/>
          <a:p>
            <a:pPr eaLnBrk="0" fontAlgn="auto" hangingPunct="0">
              <a:spcBef>
                <a:spcPts val="0"/>
              </a:spcBef>
              <a:spcAft>
                <a:spcPts val="0"/>
              </a:spcAft>
              <a:defRPr/>
            </a:pPr>
            <a:r>
              <a:rPr lang="en-US" altLang="en-US" sz="900" dirty="0">
                <a:solidFill>
                  <a:srgbClr val="5F5F5F"/>
                </a:solidFill>
                <a:latin typeface="Arial Narrow" pitchFamily="34" charset="0"/>
              </a:rPr>
              <a:t>NOTE: All information contained herein is Proprietary &amp; Confidential material of ValueMomentum Inc. All rights are reserved.</a:t>
            </a:r>
          </a:p>
        </p:txBody>
      </p:sp>
      <p:sp>
        <p:nvSpPr>
          <p:cNvPr id="14" name="Rectangle 63"/>
          <p:cNvSpPr>
            <a:spLocks noChangeArrowheads="1"/>
          </p:cNvSpPr>
          <p:nvPr userDrawn="1"/>
        </p:nvSpPr>
        <p:spPr bwMode="auto">
          <a:xfrm>
            <a:off x="8763000" y="0"/>
            <a:ext cx="762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pic>
        <p:nvPicPr>
          <p:cNvPr id="16" name="Picture 15" descr="VM-Logo-drive_small.png"/>
          <p:cNvPicPr>
            <a:picLocks noChangeAspect="1"/>
          </p:cNvPicPr>
          <p:nvPr userDrawn="1"/>
        </p:nvPicPr>
        <p:blipFill>
          <a:blip r:embed="rId2" cstate="print"/>
          <a:stretch>
            <a:fillRect/>
          </a:stretch>
        </p:blipFill>
        <p:spPr>
          <a:xfrm>
            <a:off x="7391400" y="-65926"/>
            <a:ext cx="1371600" cy="887774"/>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8" name="Rectangle 62"/>
          <p:cNvSpPr>
            <a:spLocks noChangeArrowheads="1"/>
          </p:cNvSpPr>
          <p:nvPr userDrawn="1"/>
        </p:nvSpPr>
        <p:spPr bwMode="auto">
          <a:xfrm>
            <a:off x="0" y="0"/>
            <a:ext cx="7391400" cy="762000"/>
          </a:xfrm>
          <a:prstGeom prst="rect">
            <a:avLst/>
          </a:prstGeom>
          <a:solidFill>
            <a:srgbClr val="5F5F5F"/>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9" name="Rectangle 63"/>
          <p:cNvSpPr>
            <a:spLocks noChangeArrowheads="1"/>
          </p:cNvSpPr>
          <p:nvPr userDrawn="1"/>
        </p:nvSpPr>
        <p:spPr bwMode="auto">
          <a:xfrm>
            <a:off x="6400800" y="0"/>
            <a:ext cx="9906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0" name="Rectangle 64"/>
          <p:cNvSpPr>
            <a:spLocks noChangeArrowheads="1"/>
          </p:cNvSpPr>
          <p:nvPr userDrawn="1"/>
        </p:nvSpPr>
        <p:spPr bwMode="auto">
          <a:xfrm>
            <a:off x="8763000" y="0"/>
            <a:ext cx="381000" cy="763588"/>
          </a:xfrm>
          <a:prstGeom prst="rect">
            <a:avLst/>
          </a:prstGeom>
          <a:solidFill>
            <a:srgbClr val="969696"/>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1" name="Rectangle 65"/>
          <p:cNvSpPr>
            <a:spLocks noChangeArrowheads="1"/>
          </p:cNvSpPr>
          <p:nvPr userDrawn="1"/>
        </p:nvSpPr>
        <p:spPr bwMode="auto">
          <a:xfrm>
            <a:off x="6781800" y="0"/>
            <a:ext cx="304800" cy="763588"/>
          </a:xfrm>
          <a:prstGeom prst="rect">
            <a:avLst/>
          </a:prstGeom>
          <a:solidFill>
            <a:srgbClr val="A50021"/>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2" name="Rectangle 67"/>
          <p:cNvSpPr>
            <a:spLocks noChangeArrowheads="1"/>
          </p:cNvSpPr>
          <p:nvPr userDrawn="1"/>
        </p:nvSpPr>
        <p:spPr bwMode="auto">
          <a:xfrm>
            <a:off x="0" y="762000"/>
            <a:ext cx="9144000" cy="76200"/>
          </a:xfrm>
          <a:prstGeom prst="rect">
            <a:avLst/>
          </a:prstGeom>
          <a:solidFill>
            <a:srgbClr val="000000"/>
          </a:solidFill>
          <a:ln w="9525">
            <a:noFill/>
            <a:miter lim="800000"/>
            <a:headEnd/>
            <a:tailEnd/>
          </a:ln>
          <a:effectLst>
            <a:outerShdw blurRad="50800" dist="38100" dir="5400000" algn="t" rotWithShape="0">
              <a:prstClr val="black">
                <a:alpha val="40000"/>
              </a:prstClr>
            </a:outerShdw>
          </a:effectLst>
        </p:spPr>
        <p:txBody>
          <a:bodyPr wrap="none" anchor="ctr"/>
          <a:lstStyle/>
          <a:p>
            <a:pPr fontAlgn="auto">
              <a:spcBef>
                <a:spcPts val="0"/>
              </a:spcBef>
              <a:spcAft>
                <a:spcPts val="0"/>
              </a:spcAft>
              <a:defRPr/>
            </a:pPr>
            <a:endParaRPr lang="en-US" dirty="0">
              <a:latin typeface="+mn-lt"/>
            </a:endParaRPr>
          </a:p>
        </p:txBody>
      </p:sp>
      <p:sp>
        <p:nvSpPr>
          <p:cNvPr id="13" name="Text Box 46"/>
          <p:cNvSpPr txBox="1">
            <a:spLocks noChangeArrowheads="1"/>
          </p:cNvSpPr>
          <p:nvPr userDrawn="1"/>
        </p:nvSpPr>
        <p:spPr bwMode="auto">
          <a:xfrm>
            <a:off x="1790700" y="6627168"/>
            <a:ext cx="5562600" cy="230832"/>
          </a:xfrm>
          <a:prstGeom prst="rect">
            <a:avLst/>
          </a:prstGeom>
          <a:noFill/>
          <a:ln w="9525">
            <a:noFill/>
            <a:miter lim="800000"/>
            <a:headEnd/>
            <a:tailEnd/>
          </a:ln>
        </p:spPr>
        <p:txBody>
          <a:bodyPr wrap="square">
            <a:spAutoFit/>
          </a:bodyPr>
          <a:lstStyle/>
          <a:p>
            <a:pPr eaLnBrk="0" fontAlgn="auto" hangingPunct="0">
              <a:spcBef>
                <a:spcPts val="0"/>
              </a:spcBef>
              <a:spcAft>
                <a:spcPts val="0"/>
              </a:spcAft>
              <a:defRPr/>
            </a:pPr>
            <a:r>
              <a:rPr lang="en-US" altLang="en-US" sz="900" dirty="0">
                <a:solidFill>
                  <a:srgbClr val="5F5F5F"/>
                </a:solidFill>
                <a:latin typeface="Arial Narrow" pitchFamily="34" charset="0"/>
              </a:rPr>
              <a:t>NOTE: All information contained herein is Proprietary &amp; Confidential material of ValueMomentum Inc. All rights are reserved.</a:t>
            </a:r>
          </a:p>
        </p:txBody>
      </p:sp>
      <p:sp>
        <p:nvSpPr>
          <p:cNvPr id="14" name="Rectangle 63"/>
          <p:cNvSpPr>
            <a:spLocks noChangeArrowheads="1"/>
          </p:cNvSpPr>
          <p:nvPr userDrawn="1"/>
        </p:nvSpPr>
        <p:spPr bwMode="auto">
          <a:xfrm>
            <a:off x="8763000" y="0"/>
            <a:ext cx="762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pic>
        <p:nvPicPr>
          <p:cNvPr id="16" name="Picture 15" descr="VM-Logo-drive_small.png"/>
          <p:cNvPicPr>
            <a:picLocks noChangeAspect="1"/>
          </p:cNvPicPr>
          <p:nvPr userDrawn="1"/>
        </p:nvPicPr>
        <p:blipFill>
          <a:blip r:embed="rId2" cstate="print"/>
          <a:stretch>
            <a:fillRect/>
          </a:stretch>
        </p:blipFill>
        <p:spPr>
          <a:xfrm>
            <a:off x="7391400" y="-65926"/>
            <a:ext cx="1371600" cy="887774"/>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8" name="Rectangle 62"/>
          <p:cNvSpPr>
            <a:spLocks noChangeArrowheads="1"/>
          </p:cNvSpPr>
          <p:nvPr userDrawn="1"/>
        </p:nvSpPr>
        <p:spPr bwMode="auto">
          <a:xfrm>
            <a:off x="0" y="0"/>
            <a:ext cx="7391400" cy="762000"/>
          </a:xfrm>
          <a:prstGeom prst="rect">
            <a:avLst/>
          </a:prstGeom>
          <a:solidFill>
            <a:srgbClr val="5F5F5F"/>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9" name="Rectangle 63"/>
          <p:cNvSpPr>
            <a:spLocks noChangeArrowheads="1"/>
          </p:cNvSpPr>
          <p:nvPr userDrawn="1"/>
        </p:nvSpPr>
        <p:spPr bwMode="auto">
          <a:xfrm>
            <a:off x="6400800" y="0"/>
            <a:ext cx="9906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0" name="Rectangle 64"/>
          <p:cNvSpPr>
            <a:spLocks noChangeArrowheads="1"/>
          </p:cNvSpPr>
          <p:nvPr userDrawn="1"/>
        </p:nvSpPr>
        <p:spPr bwMode="auto">
          <a:xfrm>
            <a:off x="8763000" y="0"/>
            <a:ext cx="381000" cy="763588"/>
          </a:xfrm>
          <a:prstGeom prst="rect">
            <a:avLst/>
          </a:prstGeom>
          <a:solidFill>
            <a:srgbClr val="969696"/>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1" name="Rectangle 65"/>
          <p:cNvSpPr>
            <a:spLocks noChangeArrowheads="1"/>
          </p:cNvSpPr>
          <p:nvPr userDrawn="1"/>
        </p:nvSpPr>
        <p:spPr bwMode="auto">
          <a:xfrm>
            <a:off x="6781800" y="0"/>
            <a:ext cx="304800" cy="763588"/>
          </a:xfrm>
          <a:prstGeom prst="rect">
            <a:avLst/>
          </a:prstGeom>
          <a:solidFill>
            <a:srgbClr val="A50021"/>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2" name="Rectangle 67"/>
          <p:cNvSpPr>
            <a:spLocks noChangeArrowheads="1"/>
          </p:cNvSpPr>
          <p:nvPr userDrawn="1"/>
        </p:nvSpPr>
        <p:spPr bwMode="auto">
          <a:xfrm>
            <a:off x="0" y="762000"/>
            <a:ext cx="9144000" cy="76200"/>
          </a:xfrm>
          <a:prstGeom prst="rect">
            <a:avLst/>
          </a:prstGeom>
          <a:solidFill>
            <a:srgbClr val="000000"/>
          </a:solidFill>
          <a:ln w="9525">
            <a:noFill/>
            <a:miter lim="800000"/>
            <a:headEnd/>
            <a:tailEnd/>
          </a:ln>
          <a:effectLst>
            <a:outerShdw blurRad="50800" dist="38100" dir="5400000" algn="t" rotWithShape="0">
              <a:prstClr val="black">
                <a:alpha val="40000"/>
              </a:prstClr>
            </a:outerShdw>
          </a:effectLst>
        </p:spPr>
        <p:txBody>
          <a:bodyPr wrap="none" anchor="ctr"/>
          <a:lstStyle/>
          <a:p>
            <a:pPr fontAlgn="auto">
              <a:spcBef>
                <a:spcPts val="0"/>
              </a:spcBef>
              <a:spcAft>
                <a:spcPts val="0"/>
              </a:spcAft>
              <a:defRPr/>
            </a:pPr>
            <a:endParaRPr lang="en-US" dirty="0">
              <a:latin typeface="+mn-lt"/>
            </a:endParaRPr>
          </a:p>
        </p:txBody>
      </p:sp>
      <p:sp>
        <p:nvSpPr>
          <p:cNvPr id="13" name="Text Box 46"/>
          <p:cNvSpPr txBox="1">
            <a:spLocks noChangeArrowheads="1"/>
          </p:cNvSpPr>
          <p:nvPr userDrawn="1"/>
        </p:nvSpPr>
        <p:spPr bwMode="auto">
          <a:xfrm>
            <a:off x="1790700" y="6627168"/>
            <a:ext cx="5562600" cy="230832"/>
          </a:xfrm>
          <a:prstGeom prst="rect">
            <a:avLst/>
          </a:prstGeom>
          <a:noFill/>
          <a:ln w="9525">
            <a:noFill/>
            <a:miter lim="800000"/>
            <a:headEnd/>
            <a:tailEnd/>
          </a:ln>
        </p:spPr>
        <p:txBody>
          <a:bodyPr wrap="square">
            <a:spAutoFit/>
          </a:bodyPr>
          <a:lstStyle/>
          <a:p>
            <a:pPr eaLnBrk="0" fontAlgn="auto" hangingPunct="0">
              <a:spcBef>
                <a:spcPts val="0"/>
              </a:spcBef>
              <a:spcAft>
                <a:spcPts val="0"/>
              </a:spcAft>
              <a:defRPr/>
            </a:pPr>
            <a:r>
              <a:rPr lang="en-US" altLang="en-US" sz="900" dirty="0">
                <a:solidFill>
                  <a:srgbClr val="5F5F5F"/>
                </a:solidFill>
                <a:latin typeface="Arial Narrow" pitchFamily="34" charset="0"/>
              </a:rPr>
              <a:t>NOTE: All information contained herein is Proprietary &amp; Confidential material of ValueMomentum Inc. All rights are reserved.</a:t>
            </a:r>
          </a:p>
        </p:txBody>
      </p:sp>
      <p:sp>
        <p:nvSpPr>
          <p:cNvPr id="14" name="Rectangle 63"/>
          <p:cNvSpPr>
            <a:spLocks noChangeArrowheads="1"/>
          </p:cNvSpPr>
          <p:nvPr userDrawn="1"/>
        </p:nvSpPr>
        <p:spPr bwMode="auto">
          <a:xfrm>
            <a:off x="8763000" y="0"/>
            <a:ext cx="762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pic>
        <p:nvPicPr>
          <p:cNvPr id="16" name="Picture 15" descr="VM-Logo-drive_small.png"/>
          <p:cNvPicPr>
            <a:picLocks noChangeAspect="1"/>
          </p:cNvPicPr>
          <p:nvPr userDrawn="1"/>
        </p:nvPicPr>
        <p:blipFill>
          <a:blip r:embed="rId2" cstate="print"/>
          <a:stretch>
            <a:fillRect/>
          </a:stretch>
        </p:blipFill>
        <p:spPr>
          <a:xfrm>
            <a:off x="7391400" y="-65926"/>
            <a:ext cx="1371600" cy="887774"/>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sp>
        <p:nvSpPr>
          <p:cNvPr id="8" name="Rectangle 62"/>
          <p:cNvSpPr>
            <a:spLocks noChangeArrowheads="1"/>
          </p:cNvSpPr>
          <p:nvPr userDrawn="1"/>
        </p:nvSpPr>
        <p:spPr bwMode="auto">
          <a:xfrm>
            <a:off x="0" y="0"/>
            <a:ext cx="7391400" cy="762000"/>
          </a:xfrm>
          <a:prstGeom prst="rect">
            <a:avLst/>
          </a:prstGeom>
          <a:solidFill>
            <a:srgbClr val="5F5F5F"/>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9" name="Rectangle 63"/>
          <p:cNvSpPr>
            <a:spLocks noChangeArrowheads="1"/>
          </p:cNvSpPr>
          <p:nvPr userDrawn="1"/>
        </p:nvSpPr>
        <p:spPr bwMode="auto">
          <a:xfrm>
            <a:off x="6400800" y="0"/>
            <a:ext cx="9906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0" name="Rectangle 64"/>
          <p:cNvSpPr>
            <a:spLocks noChangeArrowheads="1"/>
          </p:cNvSpPr>
          <p:nvPr userDrawn="1"/>
        </p:nvSpPr>
        <p:spPr bwMode="auto">
          <a:xfrm>
            <a:off x="8763000" y="0"/>
            <a:ext cx="381000" cy="763588"/>
          </a:xfrm>
          <a:prstGeom prst="rect">
            <a:avLst/>
          </a:prstGeom>
          <a:solidFill>
            <a:srgbClr val="969696"/>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1" name="Rectangle 65"/>
          <p:cNvSpPr>
            <a:spLocks noChangeArrowheads="1"/>
          </p:cNvSpPr>
          <p:nvPr userDrawn="1"/>
        </p:nvSpPr>
        <p:spPr bwMode="auto">
          <a:xfrm>
            <a:off x="6781800" y="0"/>
            <a:ext cx="304800" cy="763588"/>
          </a:xfrm>
          <a:prstGeom prst="rect">
            <a:avLst/>
          </a:prstGeom>
          <a:solidFill>
            <a:srgbClr val="A50021"/>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2" name="Rectangle 67"/>
          <p:cNvSpPr>
            <a:spLocks noChangeArrowheads="1"/>
          </p:cNvSpPr>
          <p:nvPr userDrawn="1"/>
        </p:nvSpPr>
        <p:spPr bwMode="auto">
          <a:xfrm>
            <a:off x="0" y="762000"/>
            <a:ext cx="9144000" cy="76200"/>
          </a:xfrm>
          <a:prstGeom prst="rect">
            <a:avLst/>
          </a:prstGeom>
          <a:solidFill>
            <a:srgbClr val="000000"/>
          </a:solidFill>
          <a:ln w="9525">
            <a:noFill/>
            <a:miter lim="800000"/>
            <a:headEnd/>
            <a:tailEnd/>
          </a:ln>
          <a:effectLst>
            <a:outerShdw blurRad="50800" dist="38100" dir="5400000" algn="t" rotWithShape="0">
              <a:prstClr val="black">
                <a:alpha val="40000"/>
              </a:prstClr>
            </a:outerShdw>
          </a:effectLst>
        </p:spPr>
        <p:txBody>
          <a:bodyPr wrap="none" anchor="ctr"/>
          <a:lstStyle/>
          <a:p>
            <a:pPr fontAlgn="auto">
              <a:spcBef>
                <a:spcPts val="0"/>
              </a:spcBef>
              <a:spcAft>
                <a:spcPts val="0"/>
              </a:spcAft>
              <a:defRPr/>
            </a:pPr>
            <a:endParaRPr lang="en-US" dirty="0">
              <a:latin typeface="+mn-lt"/>
            </a:endParaRPr>
          </a:p>
        </p:txBody>
      </p:sp>
      <p:sp>
        <p:nvSpPr>
          <p:cNvPr id="13" name="Text Box 46"/>
          <p:cNvSpPr txBox="1">
            <a:spLocks noChangeArrowheads="1"/>
          </p:cNvSpPr>
          <p:nvPr userDrawn="1"/>
        </p:nvSpPr>
        <p:spPr bwMode="auto">
          <a:xfrm>
            <a:off x="1790700" y="6627168"/>
            <a:ext cx="5562600" cy="230832"/>
          </a:xfrm>
          <a:prstGeom prst="rect">
            <a:avLst/>
          </a:prstGeom>
          <a:noFill/>
          <a:ln w="9525">
            <a:noFill/>
            <a:miter lim="800000"/>
            <a:headEnd/>
            <a:tailEnd/>
          </a:ln>
        </p:spPr>
        <p:txBody>
          <a:bodyPr wrap="square">
            <a:spAutoFit/>
          </a:bodyPr>
          <a:lstStyle/>
          <a:p>
            <a:pPr eaLnBrk="0" fontAlgn="auto" hangingPunct="0">
              <a:spcBef>
                <a:spcPts val="0"/>
              </a:spcBef>
              <a:spcAft>
                <a:spcPts val="0"/>
              </a:spcAft>
              <a:defRPr/>
            </a:pPr>
            <a:r>
              <a:rPr lang="en-US" altLang="en-US" sz="900" dirty="0">
                <a:solidFill>
                  <a:srgbClr val="5F5F5F"/>
                </a:solidFill>
                <a:latin typeface="Arial Narrow" pitchFamily="34" charset="0"/>
              </a:rPr>
              <a:t>NOTE: All information contained herein is Proprietary &amp; Confidential material of ValueMomentum Inc. All rights are reserved.</a:t>
            </a:r>
          </a:p>
        </p:txBody>
      </p:sp>
      <p:sp>
        <p:nvSpPr>
          <p:cNvPr id="14" name="Rectangle 63"/>
          <p:cNvSpPr>
            <a:spLocks noChangeArrowheads="1"/>
          </p:cNvSpPr>
          <p:nvPr userDrawn="1"/>
        </p:nvSpPr>
        <p:spPr bwMode="auto">
          <a:xfrm>
            <a:off x="8763000" y="0"/>
            <a:ext cx="762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pic>
        <p:nvPicPr>
          <p:cNvPr id="16" name="Picture 15" descr="VM-Logo-drive_small.png"/>
          <p:cNvPicPr>
            <a:picLocks noChangeAspect="1"/>
          </p:cNvPicPr>
          <p:nvPr userDrawn="1"/>
        </p:nvPicPr>
        <p:blipFill>
          <a:blip r:embed="rId2" cstate="print"/>
          <a:stretch>
            <a:fillRect/>
          </a:stretch>
        </p:blipFill>
        <p:spPr>
          <a:xfrm>
            <a:off x="7391400" y="-65926"/>
            <a:ext cx="1371600" cy="887774"/>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
        <p:nvSpPr>
          <p:cNvPr id="8" name="Rectangle 62"/>
          <p:cNvSpPr>
            <a:spLocks noChangeArrowheads="1"/>
          </p:cNvSpPr>
          <p:nvPr userDrawn="1"/>
        </p:nvSpPr>
        <p:spPr bwMode="auto">
          <a:xfrm>
            <a:off x="0" y="0"/>
            <a:ext cx="7391400" cy="762000"/>
          </a:xfrm>
          <a:prstGeom prst="rect">
            <a:avLst/>
          </a:prstGeom>
          <a:solidFill>
            <a:srgbClr val="5F5F5F"/>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9" name="Rectangle 63"/>
          <p:cNvSpPr>
            <a:spLocks noChangeArrowheads="1"/>
          </p:cNvSpPr>
          <p:nvPr userDrawn="1"/>
        </p:nvSpPr>
        <p:spPr bwMode="auto">
          <a:xfrm>
            <a:off x="6400800" y="0"/>
            <a:ext cx="9906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0" name="Rectangle 64"/>
          <p:cNvSpPr>
            <a:spLocks noChangeArrowheads="1"/>
          </p:cNvSpPr>
          <p:nvPr userDrawn="1"/>
        </p:nvSpPr>
        <p:spPr bwMode="auto">
          <a:xfrm>
            <a:off x="8763000" y="0"/>
            <a:ext cx="381000" cy="763588"/>
          </a:xfrm>
          <a:prstGeom prst="rect">
            <a:avLst/>
          </a:prstGeom>
          <a:solidFill>
            <a:srgbClr val="969696"/>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1" name="Rectangle 65"/>
          <p:cNvSpPr>
            <a:spLocks noChangeArrowheads="1"/>
          </p:cNvSpPr>
          <p:nvPr userDrawn="1"/>
        </p:nvSpPr>
        <p:spPr bwMode="auto">
          <a:xfrm>
            <a:off x="6781800" y="0"/>
            <a:ext cx="304800" cy="763588"/>
          </a:xfrm>
          <a:prstGeom prst="rect">
            <a:avLst/>
          </a:prstGeom>
          <a:solidFill>
            <a:srgbClr val="A50021"/>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2" name="Rectangle 67"/>
          <p:cNvSpPr>
            <a:spLocks noChangeArrowheads="1"/>
          </p:cNvSpPr>
          <p:nvPr userDrawn="1"/>
        </p:nvSpPr>
        <p:spPr bwMode="auto">
          <a:xfrm>
            <a:off x="0" y="762000"/>
            <a:ext cx="9144000" cy="76200"/>
          </a:xfrm>
          <a:prstGeom prst="rect">
            <a:avLst/>
          </a:prstGeom>
          <a:solidFill>
            <a:srgbClr val="000000"/>
          </a:solidFill>
          <a:ln w="9525">
            <a:noFill/>
            <a:miter lim="800000"/>
            <a:headEnd/>
            <a:tailEnd/>
          </a:ln>
          <a:effectLst>
            <a:outerShdw blurRad="50800" dist="38100" dir="5400000" algn="t" rotWithShape="0">
              <a:prstClr val="black">
                <a:alpha val="40000"/>
              </a:prstClr>
            </a:outerShdw>
          </a:effectLst>
        </p:spPr>
        <p:txBody>
          <a:bodyPr wrap="none" anchor="ctr"/>
          <a:lstStyle/>
          <a:p>
            <a:pPr fontAlgn="auto">
              <a:spcBef>
                <a:spcPts val="0"/>
              </a:spcBef>
              <a:spcAft>
                <a:spcPts val="0"/>
              </a:spcAft>
              <a:defRPr/>
            </a:pPr>
            <a:endParaRPr lang="en-US" dirty="0">
              <a:latin typeface="+mn-lt"/>
            </a:endParaRPr>
          </a:p>
        </p:txBody>
      </p:sp>
      <p:sp>
        <p:nvSpPr>
          <p:cNvPr id="13" name="Text Box 46"/>
          <p:cNvSpPr txBox="1">
            <a:spLocks noChangeArrowheads="1"/>
          </p:cNvSpPr>
          <p:nvPr userDrawn="1"/>
        </p:nvSpPr>
        <p:spPr bwMode="auto">
          <a:xfrm>
            <a:off x="1790700" y="6627168"/>
            <a:ext cx="5562600" cy="230832"/>
          </a:xfrm>
          <a:prstGeom prst="rect">
            <a:avLst/>
          </a:prstGeom>
          <a:noFill/>
          <a:ln w="9525">
            <a:noFill/>
            <a:miter lim="800000"/>
            <a:headEnd/>
            <a:tailEnd/>
          </a:ln>
        </p:spPr>
        <p:txBody>
          <a:bodyPr wrap="square">
            <a:spAutoFit/>
          </a:bodyPr>
          <a:lstStyle/>
          <a:p>
            <a:pPr eaLnBrk="0" fontAlgn="auto" hangingPunct="0">
              <a:spcBef>
                <a:spcPts val="0"/>
              </a:spcBef>
              <a:spcAft>
                <a:spcPts val="0"/>
              </a:spcAft>
              <a:defRPr/>
            </a:pPr>
            <a:r>
              <a:rPr lang="en-US" altLang="en-US" sz="900" dirty="0">
                <a:solidFill>
                  <a:srgbClr val="5F5F5F"/>
                </a:solidFill>
                <a:latin typeface="Arial Narrow" pitchFamily="34" charset="0"/>
              </a:rPr>
              <a:t>NOTE: All information contained herein is Proprietary &amp; Confidential material of ValueMomentum Inc. All rights are reserved.</a:t>
            </a:r>
          </a:p>
        </p:txBody>
      </p:sp>
      <p:sp>
        <p:nvSpPr>
          <p:cNvPr id="14" name="Rectangle 63"/>
          <p:cNvSpPr>
            <a:spLocks noChangeArrowheads="1"/>
          </p:cNvSpPr>
          <p:nvPr userDrawn="1"/>
        </p:nvSpPr>
        <p:spPr bwMode="auto">
          <a:xfrm>
            <a:off x="8763000" y="0"/>
            <a:ext cx="762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pic>
        <p:nvPicPr>
          <p:cNvPr id="16" name="Picture 15" descr="VM-Logo-drive_small.png"/>
          <p:cNvPicPr>
            <a:picLocks noChangeAspect="1"/>
          </p:cNvPicPr>
          <p:nvPr userDrawn="1"/>
        </p:nvPicPr>
        <p:blipFill>
          <a:blip r:embed="rId2" cstate="print"/>
          <a:stretch>
            <a:fillRect/>
          </a:stretch>
        </p:blipFill>
        <p:spPr>
          <a:xfrm>
            <a:off x="7391400" y="-65926"/>
            <a:ext cx="1371600" cy="887774"/>
          </a:xfrm>
          <a:prstGeom prst="rect">
            <a:avLst/>
          </a:prstGeom>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3_Title and Content">
    <p:spTree>
      <p:nvGrpSpPr>
        <p:cNvPr id="1" name=""/>
        <p:cNvGrpSpPr/>
        <p:nvPr/>
      </p:nvGrpSpPr>
      <p:grpSpPr>
        <a:xfrm>
          <a:off x="0" y="0"/>
          <a:ext cx="0" cy="0"/>
          <a:chOff x="0" y="0"/>
          <a:chExt cx="0" cy="0"/>
        </a:xfrm>
      </p:grpSpPr>
      <p:sp>
        <p:nvSpPr>
          <p:cNvPr id="8" name="Rectangle 62"/>
          <p:cNvSpPr>
            <a:spLocks noChangeArrowheads="1"/>
          </p:cNvSpPr>
          <p:nvPr userDrawn="1"/>
        </p:nvSpPr>
        <p:spPr bwMode="auto">
          <a:xfrm>
            <a:off x="0" y="0"/>
            <a:ext cx="7391400" cy="762000"/>
          </a:xfrm>
          <a:prstGeom prst="rect">
            <a:avLst/>
          </a:prstGeom>
          <a:solidFill>
            <a:srgbClr val="5F5F5F"/>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9" name="Rectangle 63"/>
          <p:cNvSpPr>
            <a:spLocks noChangeArrowheads="1"/>
          </p:cNvSpPr>
          <p:nvPr userDrawn="1"/>
        </p:nvSpPr>
        <p:spPr bwMode="auto">
          <a:xfrm>
            <a:off x="6400800" y="0"/>
            <a:ext cx="9906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0" name="Rectangle 64"/>
          <p:cNvSpPr>
            <a:spLocks noChangeArrowheads="1"/>
          </p:cNvSpPr>
          <p:nvPr userDrawn="1"/>
        </p:nvSpPr>
        <p:spPr bwMode="auto">
          <a:xfrm>
            <a:off x="8763000" y="0"/>
            <a:ext cx="381000" cy="763588"/>
          </a:xfrm>
          <a:prstGeom prst="rect">
            <a:avLst/>
          </a:prstGeom>
          <a:solidFill>
            <a:srgbClr val="969696"/>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1" name="Rectangle 65"/>
          <p:cNvSpPr>
            <a:spLocks noChangeArrowheads="1"/>
          </p:cNvSpPr>
          <p:nvPr userDrawn="1"/>
        </p:nvSpPr>
        <p:spPr bwMode="auto">
          <a:xfrm>
            <a:off x="6781800" y="0"/>
            <a:ext cx="304800" cy="763588"/>
          </a:xfrm>
          <a:prstGeom prst="rect">
            <a:avLst/>
          </a:prstGeom>
          <a:solidFill>
            <a:srgbClr val="A50021"/>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2" name="Rectangle 67"/>
          <p:cNvSpPr>
            <a:spLocks noChangeArrowheads="1"/>
          </p:cNvSpPr>
          <p:nvPr userDrawn="1"/>
        </p:nvSpPr>
        <p:spPr bwMode="auto">
          <a:xfrm>
            <a:off x="0" y="762000"/>
            <a:ext cx="9144000" cy="76200"/>
          </a:xfrm>
          <a:prstGeom prst="rect">
            <a:avLst/>
          </a:prstGeom>
          <a:solidFill>
            <a:srgbClr val="000000"/>
          </a:solidFill>
          <a:ln w="9525">
            <a:noFill/>
            <a:miter lim="800000"/>
            <a:headEnd/>
            <a:tailEnd/>
          </a:ln>
          <a:effectLst>
            <a:outerShdw blurRad="50800" dist="38100" dir="5400000" algn="t" rotWithShape="0">
              <a:prstClr val="black">
                <a:alpha val="40000"/>
              </a:prstClr>
            </a:outerShdw>
          </a:effectLst>
        </p:spPr>
        <p:txBody>
          <a:bodyPr wrap="none" anchor="ctr"/>
          <a:lstStyle/>
          <a:p>
            <a:pPr fontAlgn="auto">
              <a:spcBef>
                <a:spcPts val="0"/>
              </a:spcBef>
              <a:spcAft>
                <a:spcPts val="0"/>
              </a:spcAft>
              <a:defRPr/>
            </a:pPr>
            <a:endParaRPr lang="en-US" dirty="0">
              <a:latin typeface="+mn-lt"/>
            </a:endParaRPr>
          </a:p>
        </p:txBody>
      </p:sp>
      <p:sp>
        <p:nvSpPr>
          <p:cNvPr id="13" name="Text Box 46"/>
          <p:cNvSpPr txBox="1">
            <a:spLocks noChangeArrowheads="1"/>
          </p:cNvSpPr>
          <p:nvPr userDrawn="1"/>
        </p:nvSpPr>
        <p:spPr bwMode="auto">
          <a:xfrm>
            <a:off x="1790700" y="6627168"/>
            <a:ext cx="5562600" cy="230832"/>
          </a:xfrm>
          <a:prstGeom prst="rect">
            <a:avLst/>
          </a:prstGeom>
          <a:noFill/>
          <a:ln w="9525">
            <a:noFill/>
            <a:miter lim="800000"/>
            <a:headEnd/>
            <a:tailEnd/>
          </a:ln>
        </p:spPr>
        <p:txBody>
          <a:bodyPr wrap="square">
            <a:spAutoFit/>
          </a:bodyPr>
          <a:lstStyle/>
          <a:p>
            <a:pPr eaLnBrk="0" fontAlgn="auto" hangingPunct="0">
              <a:spcBef>
                <a:spcPts val="0"/>
              </a:spcBef>
              <a:spcAft>
                <a:spcPts val="0"/>
              </a:spcAft>
              <a:defRPr/>
            </a:pPr>
            <a:r>
              <a:rPr lang="en-US" altLang="en-US" sz="900" dirty="0">
                <a:solidFill>
                  <a:srgbClr val="5F5F5F"/>
                </a:solidFill>
                <a:latin typeface="Arial Narrow" pitchFamily="34" charset="0"/>
              </a:rPr>
              <a:t>NOTE: All information contained herein is Proprietary &amp; Confidential material of ValueMomentum Inc. All rights are reserved.</a:t>
            </a:r>
          </a:p>
        </p:txBody>
      </p:sp>
      <p:sp>
        <p:nvSpPr>
          <p:cNvPr id="14" name="Rectangle 63"/>
          <p:cNvSpPr>
            <a:spLocks noChangeArrowheads="1"/>
          </p:cNvSpPr>
          <p:nvPr userDrawn="1"/>
        </p:nvSpPr>
        <p:spPr bwMode="auto">
          <a:xfrm>
            <a:off x="8763000" y="0"/>
            <a:ext cx="762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pic>
        <p:nvPicPr>
          <p:cNvPr id="16" name="Picture 15" descr="VM-Logo-drive_small.png"/>
          <p:cNvPicPr>
            <a:picLocks noChangeAspect="1"/>
          </p:cNvPicPr>
          <p:nvPr userDrawn="1"/>
        </p:nvPicPr>
        <p:blipFill>
          <a:blip r:embed="rId2" cstate="print"/>
          <a:stretch>
            <a:fillRect/>
          </a:stretch>
        </p:blipFill>
        <p:spPr>
          <a:xfrm>
            <a:off x="7391400" y="-65926"/>
            <a:ext cx="1371600" cy="887774"/>
          </a:xfrm>
          <a:prstGeom prst="rect">
            <a:avLst/>
          </a:prstGeom>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4_Title and Content">
    <p:spTree>
      <p:nvGrpSpPr>
        <p:cNvPr id="1" name=""/>
        <p:cNvGrpSpPr/>
        <p:nvPr/>
      </p:nvGrpSpPr>
      <p:grpSpPr>
        <a:xfrm>
          <a:off x="0" y="0"/>
          <a:ext cx="0" cy="0"/>
          <a:chOff x="0" y="0"/>
          <a:chExt cx="0" cy="0"/>
        </a:xfrm>
      </p:grpSpPr>
      <p:sp>
        <p:nvSpPr>
          <p:cNvPr id="8" name="Rectangle 62"/>
          <p:cNvSpPr>
            <a:spLocks noChangeArrowheads="1"/>
          </p:cNvSpPr>
          <p:nvPr userDrawn="1"/>
        </p:nvSpPr>
        <p:spPr bwMode="auto">
          <a:xfrm>
            <a:off x="0" y="0"/>
            <a:ext cx="7391400" cy="762000"/>
          </a:xfrm>
          <a:prstGeom prst="rect">
            <a:avLst/>
          </a:prstGeom>
          <a:solidFill>
            <a:srgbClr val="5F5F5F"/>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9" name="Rectangle 63"/>
          <p:cNvSpPr>
            <a:spLocks noChangeArrowheads="1"/>
          </p:cNvSpPr>
          <p:nvPr userDrawn="1"/>
        </p:nvSpPr>
        <p:spPr bwMode="auto">
          <a:xfrm>
            <a:off x="6400800" y="0"/>
            <a:ext cx="9906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0" name="Rectangle 64"/>
          <p:cNvSpPr>
            <a:spLocks noChangeArrowheads="1"/>
          </p:cNvSpPr>
          <p:nvPr userDrawn="1"/>
        </p:nvSpPr>
        <p:spPr bwMode="auto">
          <a:xfrm>
            <a:off x="8763000" y="0"/>
            <a:ext cx="381000" cy="763588"/>
          </a:xfrm>
          <a:prstGeom prst="rect">
            <a:avLst/>
          </a:prstGeom>
          <a:solidFill>
            <a:srgbClr val="969696"/>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1" name="Rectangle 65"/>
          <p:cNvSpPr>
            <a:spLocks noChangeArrowheads="1"/>
          </p:cNvSpPr>
          <p:nvPr userDrawn="1"/>
        </p:nvSpPr>
        <p:spPr bwMode="auto">
          <a:xfrm>
            <a:off x="6781800" y="0"/>
            <a:ext cx="304800" cy="763588"/>
          </a:xfrm>
          <a:prstGeom prst="rect">
            <a:avLst/>
          </a:prstGeom>
          <a:solidFill>
            <a:srgbClr val="A50021"/>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2" name="Rectangle 67"/>
          <p:cNvSpPr>
            <a:spLocks noChangeArrowheads="1"/>
          </p:cNvSpPr>
          <p:nvPr userDrawn="1"/>
        </p:nvSpPr>
        <p:spPr bwMode="auto">
          <a:xfrm>
            <a:off x="0" y="762000"/>
            <a:ext cx="9144000" cy="76200"/>
          </a:xfrm>
          <a:prstGeom prst="rect">
            <a:avLst/>
          </a:prstGeom>
          <a:solidFill>
            <a:srgbClr val="000000"/>
          </a:solidFill>
          <a:ln w="9525">
            <a:noFill/>
            <a:miter lim="800000"/>
            <a:headEnd/>
            <a:tailEnd/>
          </a:ln>
          <a:effectLst>
            <a:outerShdw blurRad="50800" dist="38100" dir="5400000" algn="t" rotWithShape="0">
              <a:prstClr val="black">
                <a:alpha val="40000"/>
              </a:prstClr>
            </a:outerShdw>
          </a:effectLst>
        </p:spPr>
        <p:txBody>
          <a:bodyPr wrap="none" anchor="ctr"/>
          <a:lstStyle/>
          <a:p>
            <a:pPr fontAlgn="auto">
              <a:spcBef>
                <a:spcPts val="0"/>
              </a:spcBef>
              <a:spcAft>
                <a:spcPts val="0"/>
              </a:spcAft>
              <a:defRPr/>
            </a:pPr>
            <a:endParaRPr lang="en-US" dirty="0">
              <a:latin typeface="+mn-lt"/>
            </a:endParaRPr>
          </a:p>
        </p:txBody>
      </p:sp>
      <p:sp>
        <p:nvSpPr>
          <p:cNvPr id="13" name="Text Box 46"/>
          <p:cNvSpPr txBox="1">
            <a:spLocks noChangeArrowheads="1"/>
          </p:cNvSpPr>
          <p:nvPr userDrawn="1"/>
        </p:nvSpPr>
        <p:spPr bwMode="auto">
          <a:xfrm>
            <a:off x="1790700" y="6627168"/>
            <a:ext cx="5562600" cy="230832"/>
          </a:xfrm>
          <a:prstGeom prst="rect">
            <a:avLst/>
          </a:prstGeom>
          <a:noFill/>
          <a:ln w="9525">
            <a:noFill/>
            <a:miter lim="800000"/>
            <a:headEnd/>
            <a:tailEnd/>
          </a:ln>
        </p:spPr>
        <p:txBody>
          <a:bodyPr wrap="square">
            <a:spAutoFit/>
          </a:bodyPr>
          <a:lstStyle/>
          <a:p>
            <a:pPr eaLnBrk="0" fontAlgn="auto" hangingPunct="0">
              <a:spcBef>
                <a:spcPts val="0"/>
              </a:spcBef>
              <a:spcAft>
                <a:spcPts val="0"/>
              </a:spcAft>
              <a:defRPr/>
            </a:pPr>
            <a:r>
              <a:rPr lang="en-US" altLang="en-US" sz="900" dirty="0">
                <a:solidFill>
                  <a:srgbClr val="5F5F5F"/>
                </a:solidFill>
                <a:latin typeface="Arial Narrow" pitchFamily="34" charset="0"/>
              </a:rPr>
              <a:t>NOTE: All information contained herein is Proprietary &amp; Confidential material of ValueMomentum Inc. All rights are reserved.</a:t>
            </a:r>
          </a:p>
        </p:txBody>
      </p:sp>
      <p:sp>
        <p:nvSpPr>
          <p:cNvPr id="14" name="Rectangle 63"/>
          <p:cNvSpPr>
            <a:spLocks noChangeArrowheads="1"/>
          </p:cNvSpPr>
          <p:nvPr userDrawn="1"/>
        </p:nvSpPr>
        <p:spPr bwMode="auto">
          <a:xfrm>
            <a:off x="8763000" y="0"/>
            <a:ext cx="762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pic>
        <p:nvPicPr>
          <p:cNvPr id="16" name="Picture 15" descr="VM-Logo-drive_small.png"/>
          <p:cNvPicPr>
            <a:picLocks noChangeAspect="1"/>
          </p:cNvPicPr>
          <p:nvPr userDrawn="1"/>
        </p:nvPicPr>
        <p:blipFill>
          <a:blip r:embed="rId2" cstate="print"/>
          <a:stretch>
            <a:fillRect/>
          </a:stretch>
        </p:blipFill>
        <p:spPr>
          <a:xfrm>
            <a:off x="7391400" y="-65926"/>
            <a:ext cx="1371600" cy="887774"/>
          </a:xfrm>
          <a:prstGeom prst="rect">
            <a:avLst/>
          </a:prstGeom>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5_Title and Content">
    <p:spTree>
      <p:nvGrpSpPr>
        <p:cNvPr id="1" name=""/>
        <p:cNvGrpSpPr/>
        <p:nvPr/>
      </p:nvGrpSpPr>
      <p:grpSpPr>
        <a:xfrm>
          <a:off x="0" y="0"/>
          <a:ext cx="0" cy="0"/>
          <a:chOff x="0" y="0"/>
          <a:chExt cx="0" cy="0"/>
        </a:xfrm>
      </p:grpSpPr>
      <p:sp>
        <p:nvSpPr>
          <p:cNvPr id="8" name="Rectangle 62"/>
          <p:cNvSpPr>
            <a:spLocks noChangeArrowheads="1"/>
          </p:cNvSpPr>
          <p:nvPr userDrawn="1"/>
        </p:nvSpPr>
        <p:spPr bwMode="auto">
          <a:xfrm>
            <a:off x="0" y="0"/>
            <a:ext cx="7391400" cy="762000"/>
          </a:xfrm>
          <a:prstGeom prst="rect">
            <a:avLst/>
          </a:prstGeom>
          <a:solidFill>
            <a:srgbClr val="5F5F5F"/>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9" name="Rectangle 63"/>
          <p:cNvSpPr>
            <a:spLocks noChangeArrowheads="1"/>
          </p:cNvSpPr>
          <p:nvPr userDrawn="1"/>
        </p:nvSpPr>
        <p:spPr bwMode="auto">
          <a:xfrm>
            <a:off x="6400800" y="0"/>
            <a:ext cx="9906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0" name="Rectangle 64"/>
          <p:cNvSpPr>
            <a:spLocks noChangeArrowheads="1"/>
          </p:cNvSpPr>
          <p:nvPr userDrawn="1"/>
        </p:nvSpPr>
        <p:spPr bwMode="auto">
          <a:xfrm>
            <a:off x="8763000" y="0"/>
            <a:ext cx="381000" cy="763588"/>
          </a:xfrm>
          <a:prstGeom prst="rect">
            <a:avLst/>
          </a:prstGeom>
          <a:solidFill>
            <a:srgbClr val="969696"/>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1" name="Rectangle 65"/>
          <p:cNvSpPr>
            <a:spLocks noChangeArrowheads="1"/>
          </p:cNvSpPr>
          <p:nvPr userDrawn="1"/>
        </p:nvSpPr>
        <p:spPr bwMode="auto">
          <a:xfrm>
            <a:off x="6781800" y="0"/>
            <a:ext cx="304800" cy="763588"/>
          </a:xfrm>
          <a:prstGeom prst="rect">
            <a:avLst/>
          </a:prstGeom>
          <a:solidFill>
            <a:srgbClr val="A50021"/>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2" name="Rectangle 67"/>
          <p:cNvSpPr>
            <a:spLocks noChangeArrowheads="1"/>
          </p:cNvSpPr>
          <p:nvPr userDrawn="1"/>
        </p:nvSpPr>
        <p:spPr bwMode="auto">
          <a:xfrm>
            <a:off x="0" y="762000"/>
            <a:ext cx="9144000" cy="76200"/>
          </a:xfrm>
          <a:prstGeom prst="rect">
            <a:avLst/>
          </a:prstGeom>
          <a:solidFill>
            <a:srgbClr val="000000"/>
          </a:solidFill>
          <a:ln w="9525">
            <a:noFill/>
            <a:miter lim="800000"/>
            <a:headEnd/>
            <a:tailEnd/>
          </a:ln>
          <a:effectLst>
            <a:outerShdw blurRad="50800" dist="38100" dir="5400000" algn="t" rotWithShape="0">
              <a:prstClr val="black">
                <a:alpha val="40000"/>
              </a:prstClr>
            </a:outerShdw>
          </a:effectLst>
        </p:spPr>
        <p:txBody>
          <a:bodyPr wrap="none" anchor="ctr"/>
          <a:lstStyle/>
          <a:p>
            <a:pPr fontAlgn="auto">
              <a:spcBef>
                <a:spcPts val="0"/>
              </a:spcBef>
              <a:spcAft>
                <a:spcPts val="0"/>
              </a:spcAft>
              <a:defRPr/>
            </a:pPr>
            <a:endParaRPr lang="en-US" dirty="0">
              <a:latin typeface="+mn-lt"/>
            </a:endParaRPr>
          </a:p>
        </p:txBody>
      </p:sp>
      <p:sp>
        <p:nvSpPr>
          <p:cNvPr id="13" name="Text Box 46"/>
          <p:cNvSpPr txBox="1">
            <a:spLocks noChangeArrowheads="1"/>
          </p:cNvSpPr>
          <p:nvPr userDrawn="1"/>
        </p:nvSpPr>
        <p:spPr bwMode="auto">
          <a:xfrm>
            <a:off x="1790700" y="6627168"/>
            <a:ext cx="5562600" cy="230832"/>
          </a:xfrm>
          <a:prstGeom prst="rect">
            <a:avLst/>
          </a:prstGeom>
          <a:noFill/>
          <a:ln w="9525">
            <a:noFill/>
            <a:miter lim="800000"/>
            <a:headEnd/>
            <a:tailEnd/>
          </a:ln>
        </p:spPr>
        <p:txBody>
          <a:bodyPr wrap="square">
            <a:spAutoFit/>
          </a:bodyPr>
          <a:lstStyle/>
          <a:p>
            <a:pPr eaLnBrk="0" fontAlgn="auto" hangingPunct="0">
              <a:spcBef>
                <a:spcPts val="0"/>
              </a:spcBef>
              <a:spcAft>
                <a:spcPts val="0"/>
              </a:spcAft>
              <a:defRPr/>
            </a:pPr>
            <a:r>
              <a:rPr lang="en-US" altLang="en-US" sz="900" dirty="0">
                <a:solidFill>
                  <a:srgbClr val="5F5F5F"/>
                </a:solidFill>
                <a:latin typeface="Arial Narrow" pitchFamily="34" charset="0"/>
              </a:rPr>
              <a:t>NOTE: All information contained herein is Proprietary &amp; Confidential material of ValueMomentum Inc. All rights are reserved.</a:t>
            </a:r>
          </a:p>
        </p:txBody>
      </p:sp>
      <p:sp>
        <p:nvSpPr>
          <p:cNvPr id="14" name="Rectangle 63"/>
          <p:cNvSpPr>
            <a:spLocks noChangeArrowheads="1"/>
          </p:cNvSpPr>
          <p:nvPr userDrawn="1"/>
        </p:nvSpPr>
        <p:spPr bwMode="auto">
          <a:xfrm>
            <a:off x="8763000" y="0"/>
            <a:ext cx="762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pic>
        <p:nvPicPr>
          <p:cNvPr id="16" name="Picture 15" descr="VM-Logo-drive_small.png"/>
          <p:cNvPicPr>
            <a:picLocks noChangeAspect="1"/>
          </p:cNvPicPr>
          <p:nvPr userDrawn="1"/>
        </p:nvPicPr>
        <p:blipFill>
          <a:blip r:embed="rId2" cstate="print"/>
          <a:stretch>
            <a:fillRect/>
          </a:stretch>
        </p:blipFill>
        <p:spPr>
          <a:xfrm>
            <a:off x="7391400" y="-65926"/>
            <a:ext cx="1371600" cy="887774"/>
          </a:xfrm>
          <a:prstGeom prst="rect">
            <a:avLst/>
          </a:prstGeom>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6_Title and Content">
    <p:spTree>
      <p:nvGrpSpPr>
        <p:cNvPr id="1" name=""/>
        <p:cNvGrpSpPr/>
        <p:nvPr/>
      </p:nvGrpSpPr>
      <p:grpSpPr>
        <a:xfrm>
          <a:off x="0" y="0"/>
          <a:ext cx="0" cy="0"/>
          <a:chOff x="0" y="0"/>
          <a:chExt cx="0" cy="0"/>
        </a:xfrm>
      </p:grpSpPr>
      <p:sp>
        <p:nvSpPr>
          <p:cNvPr id="8" name="Rectangle 62"/>
          <p:cNvSpPr>
            <a:spLocks noChangeArrowheads="1"/>
          </p:cNvSpPr>
          <p:nvPr userDrawn="1"/>
        </p:nvSpPr>
        <p:spPr bwMode="auto">
          <a:xfrm>
            <a:off x="0" y="0"/>
            <a:ext cx="7391400" cy="762000"/>
          </a:xfrm>
          <a:prstGeom prst="rect">
            <a:avLst/>
          </a:prstGeom>
          <a:solidFill>
            <a:srgbClr val="5F5F5F"/>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9" name="Rectangle 63"/>
          <p:cNvSpPr>
            <a:spLocks noChangeArrowheads="1"/>
          </p:cNvSpPr>
          <p:nvPr userDrawn="1"/>
        </p:nvSpPr>
        <p:spPr bwMode="auto">
          <a:xfrm>
            <a:off x="6400800" y="0"/>
            <a:ext cx="9906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0" name="Rectangle 64"/>
          <p:cNvSpPr>
            <a:spLocks noChangeArrowheads="1"/>
          </p:cNvSpPr>
          <p:nvPr userDrawn="1"/>
        </p:nvSpPr>
        <p:spPr bwMode="auto">
          <a:xfrm>
            <a:off x="8763000" y="0"/>
            <a:ext cx="381000" cy="763588"/>
          </a:xfrm>
          <a:prstGeom prst="rect">
            <a:avLst/>
          </a:prstGeom>
          <a:solidFill>
            <a:srgbClr val="969696"/>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1" name="Rectangle 65"/>
          <p:cNvSpPr>
            <a:spLocks noChangeArrowheads="1"/>
          </p:cNvSpPr>
          <p:nvPr userDrawn="1"/>
        </p:nvSpPr>
        <p:spPr bwMode="auto">
          <a:xfrm>
            <a:off x="6781800" y="0"/>
            <a:ext cx="304800" cy="763588"/>
          </a:xfrm>
          <a:prstGeom prst="rect">
            <a:avLst/>
          </a:prstGeom>
          <a:solidFill>
            <a:srgbClr val="A50021"/>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2" name="Rectangle 67"/>
          <p:cNvSpPr>
            <a:spLocks noChangeArrowheads="1"/>
          </p:cNvSpPr>
          <p:nvPr userDrawn="1"/>
        </p:nvSpPr>
        <p:spPr bwMode="auto">
          <a:xfrm>
            <a:off x="0" y="762000"/>
            <a:ext cx="9144000" cy="76200"/>
          </a:xfrm>
          <a:prstGeom prst="rect">
            <a:avLst/>
          </a:prstGeom>
          <a:solidFill>
            <a:srgbClr val="000000"/>
          </a:solidFill>
          <a:ln w="9525">
            <a:noFill/>
            <a:miter lim="800000"/>
            <a:headEnd/>
            <a:tailEnd/>
          </a:ln>
          <a:effectLst>
            <a:outerShdw blurRad="50800" dist="38100" dir="5400000" algn="t" rotWithShape="0">
              <a:prstClr val="black">
                <a:alpha val="40000"/>
              </a:prstClr>
            </a:outerShdw>
          </a:effectLst>
        </p:spPr>
        <p:txBody>
          <a:bodyPr wrap="none" anchor="ctr"/>
          <a:lstStyle/>
          <a:p>
            <a:pPr fontAlgn="auto">
              <a:spcBef>
                <a:spcPts val="0"/>
              </a:spcBef>
              <a:spcAft>
                <a:spcPts val="0"/>
              </a:spcAft>
              <a:defRPr/>
            </a:pPr>
            <a:endParaRPr lang="en-US" dirty="0">
              <a:latin typeface="+mn-lt"/>
            </a:endParaRPr>
          </a:p>
        </p:txBody>
      </p:sp>
      <p:sp>
        <p:nvSpPr>
          <p:cNvPr id="13" name="Text Box 46"/>
          <p:cNvSpPr txBox="1">
            <a:spLocks noChangeArrowheads="1"/>
          </p:cNvSpPr>
          <p:nvPr userDrawn="1"/>
        </p:nvSpPr>
        <p:spPr bwMode="auto">
          <a:xfrm>
            <a:off x="1790700" y="6627168"/>
            <a:ext cx="5562600" cy="230832"/>
          </a:xfrm>
          <a:prstGeom prst="rect">
            <a:avLst/>
          </a:prstGeom>
          <a:noFill/>
          <a:ln w="9525">
            <a:noFill/>
            <a:miter lim="800000"/>
            <a:headEnd/>
            <a:tailEnd/>
          </a:ln>
        </p:spPr>
        <p:txBody>
          <a:bodyPr wrap="square">
            <a:spAutoFit/>
          </a:bodyPr>
          <a:lstStyle/>
          <a:p>
            <a:pPr eaLnBrk="0" fontAlgn="auto" hangingPunct="0">
              <a:spcBef>
                <a:spcPts val="0"/>
              </a:spcBef>
              <a:spcAft>
                <a:spcPts val="0"/>
              </a:spcAft>
              <a:defRPr/>
            </a:pPr>
            <a:r>
              <a:rPr lang="en-US" altLang="en-US" sz="900" dirty="0">
                <a:solidFill>
                  <a:srgbClr val="5F5F5F"/>
                </a:solidFill>
                <a:latin typeface="Arial Narrow" pitchFamily="34" charset="0"/>
              </a:rPr>
              <a:t>NOTE: All information contained herein is Proprietary &amp; Confidential material of ValueMomentum Inc. All rights are reserved.</a:t>
            </a:r>
          </a:p>
        </p:txBody>
      </p:sp>
      <p:sp>
        <p:nvSpPr>
          <p:cNvPr id="14" name="Rectangle 63"/>
          <p:cNvSpPr>
            <a:spLocks noChangeArrowheads="1"/>
          </p:cNvSpPr>
          <p:nvPr userDrawn="1"/>
        </p:nvSpPr>
        <p:spPr bwMode="auto">
          <a:xfrm>
            <a:off x="8763000" y="0"/>
            <a:ext cx="762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pic>
        <p:nvPicPr>
          <p:cNvPr id="16" name="Picture 15" descr="VM-Logo-drive_small.png"/>
          <p:cNvPicPr>
            <a:picLocks noChangeAspect="1"/>
          </p:cNvPicPr>
          <p:nvPr userDrawn="1"/>
        </p:nvPicPr>
        <p:blipFill>
          <a:blip r:embed="rId2" cstate="print"/>
          <a:stretch>
            <a:fillRect/>
          </a:stretch>
        </p:blipFill>
        <p:spPr>
          <a:xfrm>
            <a:off x="7391400" y="-65926"/>
            <a:ext cx="1371600" cy="887774"/>
          </a:xfrm>
          <a:prstGeom prst="rect">
            <a:avLst/>
          </a:prstGeom>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7_Title and Content">
    <p:spTree>
      <p:nvGrpSpPr>
        <p:cNvPr id="1" name=""/>
        <p:cNvGrpSpPr/>
        <p:nvPr/>
      </p:nvGrpSpPr>
      <p:grpSpPr>
        <a:xfrm>
          <a:off x="0" y="0"/>
          <a:ext cx="0" cy="0"/>
          <a:chOff x="0" y="0"/>
          <a:chExt cx="0" cy="0"/>
        </a:xfrm>
      </p:grpSpPr>
      <p:sp>
        <p:nvSpPr>
          <p:cNvPr id="8" name="Rectangle 62"/>
          <p:cNvSpPr>
            <a:spLocks noChangeArrowheads="1"/>
          </p:cNvSpPr>
          <p:nvPr userDrawn="1"/>
        </p:nvSpPr>
        <p:spPr bwMode="auto">
          <a:xfrm>
            <a:off x="0" y="0"/>
            <a:ext cx="7391400" cy="762000"/>
          </a:xfrm>
          <a:prstGeom prst="rect">
            <a:avLst/>
          </a:prstGeom>
          <a:solidFill>
            <a:srgbClr val="5F5F5F"/>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9" name="Rectangle 63"/>
          <p:cNvSpPr>
            <a:spLocks noChangeArrowheads="1"/>
          </p:cNvSpPr>
          <p:nvPr userDrawn="1"/>
        </p:nvSpPr>
        <p:spPr bwMode="auto">
          <a:xfrm>
            <a:off x="6400800" y="0"/>
            <a:ext cx="9906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0" name="Rectangle 64"/>
          <p:cNvSpPr>
            <a:spLocks noChangeArrowheads="1"/>
          </p:cNvSpPr>
          <p:nvPr userDrawn="1"/>
        </p:nvSpPr>
        <p:spPr bwMode="auto">
          <a:xfrm>
            <a:off x="8763000" y="0"/>
            <a:ext cx="381000" cy="763588"/>
          </a:xfrm>
          <a:prstGeom prst="rect">
            <a:avLst/>
          </a:prstGeom>
          <a:solidFill>
            <a:srgbClr val="969696"/>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1" name="Rectangle 65"/>
          <p:cNvSpPr>
            <a:spLocks noChangeArrowheads="1"/>
          </p:cNvSpPr>
          <p:nvPr userDrawn="1"/>
        </p:nvSpPr>
        <p:spPr bwMode="auto">
          <a:xfrm>
            <a:off x="6781800" y="0"/>
            <a:ext cx="304800" cy="763588"/>
          </a:xfrm>
          <a:prstGeom prst="rect">
            <a:avLst/>
          </a:prstGeom>
          <a:solidFill>
            <a:srgbClr val="A50021"/>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2" name="Rectangle 67"/>
          <p:cNvSpPr>
            <a:spLocks noChangeArrowheads="1"/>
          </p:cNvSpPr>
          <p:nvPr userDrawn="1"/>
        </p:nvSpPr>
        <p:spPr bwMode="auto">
          <a:xfrm>
            <a:off x="0" y="762000"/>
            <a:ext cx="9144000" cy="76200"/>
          </a:xfrm>
          <a:prstGeom prst="rect">
            <a:avLst/>
          </a:prstGeom>
          <a:solidFill>
            <a:srgbClr val="000000"/>
          </a:solidFill>
          <a:ln w="9525">
            <a:noFill/>
            <a:miter lim="800000"/>
            <a:headEnd/>
            <a:tailEnd/>
          </a:ln>
          <a:effectLst>
            <a:outerShdw blurRad="50800" dist="38100" dir="5400000" algn="t" rotWithShape="0">
              <a:prstClr val="black">
                <a:alpha val="40000"/>
              </a:prstClr>
            </a:outerShdw>
          </a:effectLst>
        </p:spPr>
        <p:txBody>
          <a:bodyPr wrap="none" anchor="ctr"/>
          <a:lstStyle/>
          <a:p>
            <a:pPr fontAlgn="auto">
              <a:spcBef>
                <a:spcPts val="0"/>
              </a:spcBef>
              <a:spcAft>
                <a:spcPts val="0"/>
              </a:spcAft>
              <a:defRPr/>
            </a:pPr>
            <a:endParaRPr lang="en-US" dirty="0">
              <a:latin typeface="+mn-lt"/>
            </a:endParaRPr>
          </a:p>
        </p:txBody>
      </p:sp>
      <p:sp>
        <p:nvSpPr>
          <p:cNvPr id="13" name="Text Box 46"/>
          <p:cNvSpPr txBox="1">
            <a:spLocks noChangeArrowheads="1"/>
          </p:cNvSpPr>
          <p:nvPr userDrawn="1"/>
        </p:nvSpPr>
        <p:spPr bwMode="auto">
          <a:xfrm>
            <a:off x="1790700" y="6627168"/>
            <a:ext cx="5562600" cy="230832"/>
          </a:xfrm>
          <a:prstGeom prst="rect">
            <a:avLst/>
          </a:prstGeom>
          <a:noFill/>
          <a:ln w="9525">
            <a:noFill/>
            <a:miter lim="800000"/>
            <a:headEnd/>
            <a:tailEnd/>
          </a:ln>
        </p:spPr>
        <p:txBody>
          <a:bodyPr wrap="square">
            <a:spAutoFit/>
          </a:bodyPr>
          <a:lstStyle/>
          <a:p>
            <a:pPr eaLnBrk="0" fontAlgn="auto" hangingPunct="0">
              <a:spcBef>
                <a:spcPts val="0"/>
              </a:spcBef>
              <a:spcAft>
                <a:spcPts val="0"/>
              </a:spcAft>
              <a:defRPr/>
            </a:pPr>
            <a:r>
              <a:rPr lang="en-US" altLang="en-US" sz="900" dirty="0">
                <a:solidFill>
                  <a:srgbClr val="5F5F5F"/>
                </a:solidFill>
                <a:latin typeface="Arial Narrow" pitchFamily="34" charset="0"/>
              </a:rPr>
              <a:t>NOTE: All information contained herein is Proprietary &amp; Confidential material of ValueMomentum Inc. All rights are reserved.</a:t>
            </a:r>
          </a:p>
        </p:txBody>
      </p:sp>
      <p:sp>
        <p:nvSpPr>
          <p:cNvPr id="14" name="Rectangle 63"/>
          <p:cNvSpPr>
            <a:spLocks noChangeArrowheads="1"/>
          </p:cNvSpPr>
          <p:nvPr userDrawn="1"/>
        </p:nvSpPr>
        <p:spPr bwMode="auto">
          <a:xfrm>
            <a:off x="8763000" y="0"/>
            <a:ext cx="762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pic>
        <p:nvPicPr>
          <p:cNvPr id="16" name="Picture 15" descr="VM-Logo-drive_small.png"/>
          <p:cNvPicPr>
            <a:picLocks noChangeAspect="1"/>
          </p:cNvPicPr>
          <p:nvPr userDrawn="1"/>
        </p:nvPicPr>
        <p:blipFill>
          <a:blip r:embed="rId2" cstate="print"/>
          <a:stretch>
            <a:fillRect/>
          </a:stretch>
        </p:blipFill>
        <p:spPr>
          <a:xfrm>
            <a:off x="7391400" y="-65926"/>
            <a:ext cx="1371600" cy="887774"/>
          </a:xfrm>
          <a:prstGeom prst="rect">
            <a:avLst/>
          </a:prstGeom>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8_Title and Content">
    <p:spTree>
      <p:nvGrpSpPr>
        <p:cNvPr id="1" name=""/>
        <p:cNvGrpSpPr/>
        <p:nvPr/>
      </p:nvGrpSpPr>
      <p:grpSpPr>
        <a:xfrm>
          <a:off x="0" y="0"/>
          <a:ext cx="0" cy="0"/>
          <a:chOff x="0" y="0"/>
          <a:chExt cx="0" cy="0"/>
        </a:xfrm>
      </p:grpSpPr>
      <p:sp>
        <p:nvSpPr>
          <p:cNvPr id="8" name="Rectangle 62"/>
          <p:cNvSpPr>
            <a:spLocks noChangeArrowheads="1"/>
          </p:cNvSpPr>
          <p:nvPr userDrawn="1"/>
        </p:nvSpPr>
        <p:spPr bwMode="auto">
          <a:xfrm>
            <a:off x="0" y="0"/>
            <a:ext cx="7391400" cy="762000"/>
          </a:xfrm>
          <a:prstGeom prst="rect">
            <a:avLst/>
          </a:prstGeom>
          <a:solidFill>
            <a:srgbClr val="5F5F5F"/>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9" name="Rectangle 63"/>
          <p:cNvSpPr>
            <a:spLocks noChangeArrowheads="1"/>
          </p:cNvSpPr>
          <p:nvPr userDrawn="1"/>
        </p:nvSpPr>
        <p:spPr bwMode="auto">
          <a:xfrm>
            <a:off x="6400800" y="0"/>
            <a:ext cx="9906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0" name="Rectangle 64"/>
          <p:cNvSpPr>
            <a:spLocks noChangeArrowheads="1"/>
          </p:cNvSpPr>
          <p:nvPr userDrawn="1"/>
        </p:nvSpPr>
        <p:spPr bwMode="auto">
          <a:xfrm>
            <a:off x="8763000" y="0"/>
            <a:ext cx="381000" cy="763588"/>
          </a:xfrm>
          <a:prstGeom prst="rect">
            <a:avLst/>
          </a:prstGeom>
          <a:solidFill>
            <a:srgbClr val="969696"/>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1" name="Rectangle 65"/>
          <p:cNvSpPr>
            <a:spLocks noChangeArrowheads="1"/>
          </p:cNvSpPr>
          <p:nvPr userDrawn="1"/>
        </p:nvSpPr>
        <p:spPr bwMode="auto">
          <a:xfrm>
            <a:off x="6781800" y="0"/>
            <a:ext cx="304800" cy="763588"/>
          </a:xfrm>
          <a:prstGeom prst="rect">
            <a:avLst/>
          </a:prstGeom>
          <a:solidFill>
            <a:srgbClr val="A50021"/>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2" name="Rectangle 67"/>
          <p:cNvSpPr>
            <a:spLocks noChangeArrowheads="1"/>
          </p:cNvSpPr>
          <p:nvPr userDrawn="1"/>
        </p:nvSpPr>
        <p:spPr bwMode="auto">
          <a:xfrm>
            <a:off x="0" y="762000"/>
            <a:ext cx="9144000" cy="76200"/>
          </a:xfrm>
          <a:prstGeom prst="rect">
            <a:avLst/>
          </a:prstGeom>
          <a:solidFill>
            <a:srgbClr val="000000"/>
          </a:solidFill>
          <a:ln w="9525">
            <a:noFill/>
            <a:miter lim="800000"/>
            <a:headEnd/>
            <a:tailEnd/>
          </a:ln>
          <a:effectLst>
            <a:outerShdw blurRad="50800" dist="38100" dir="5400000" algn="t" rotWithShape="0">
              <a:prstClr val="black">
                <a:alpha val="40000"/>
              </a:prstClr>
            </a:outerShdw>
          </a:effectLst>
        </p:spPr>
        <p:txBody>
          <a:bodyPr wrap="none" anchor="ctr"/>
          <a:lstStyle/>
          <a:p>
            <a:pPr fontAlgn="auto">
              <a:spcBef>
                <a:spcPts val="0"/>
              </a:spcBef>
              <a:spcAft>
                <a:spcPts val="0"/>
              </a:spcAft>
              <a:defRPr/>
            </a:pPr>
            <a:endParaRPr lang="en-US" dirty="0">
              <a:latin typeface="+mn-lt"/>
            </a:endParaRPr>
          </a:p>
        </p:txBody>
      </p:sp>
      <p:sp>
        <p:nvSpPr>
          <p:cNvPr id="13" name="Text Box 46"/>
          <p:cNvSpPr txBox="1">
            <a:spLocks noChangeArrowheads="1"/>
          </p:cNvSpPr>
          <p:nvPr userDrawn="1"/>
        </p:nvSpPr>
        <p:spPr bwMode="auto">
          <a:xfrm>
            <a:off x="1790700" y="6627168"/>
            <a:ext cx="5562600" cy="230832"/>
          </a:xfrm>
          <a:prstGeom prst="rect">
            <a:avLst/>
          </a:prstGeom>
          <a:noFill/>
          <a:ln w="9525">
            <a:noFill/>
            <a:miter lim="800000"/>
            <a:headEnd/>
            <a:tailEnd/>
          </a:ln>
        </p:spPr>
        <p:txBody>
          <a:bodyPr wrap="square">
            <a:spAutoFit/>
          </a:bodyPr>
          <a:lstStyle/>
          <a:p>
            <a:pPr eaLnBrk="0" fontAlgn="auto" hangingPunct="0">
              <a:spcBef>
                <a:spcPts val="0"/>
              </a:spcBef>
              <a:spcAft>
                <a:spcPts val="0"/>
              </a:spcAft>
              <a:defRPr/>
            </a:pPr>
            <a:r>
              <a:rPr lang="en-US" altLang="en-US" sz="900" dirty="0">
                <a:solidFill>
                  <a:srgbClr val="5F5F5F"/>
                </a:solidFill>
                <a:latin typeface="Arial Narrow" pitchFamily="34" charset="0"/>
              </a:rPr>
              <a:t>NOTE: All information contained herein is Proprietary &amp; Confidential material of ValueMomentum Inc. All rights are reserved.</a:t>
            </a:r>
          </a:p>
        </p:txBody>
      </p:sp>
      <p:sp>
        <p:nvSpPr>
          <p:cNvPr id="14" name="Rectangle 63"/>
          <p:cNvSpPr>
            <a:spLocks noChangeArrowheads="1"/>
          </p:cNvSpPr>
          <p:nvPr userDrawn="1"/>
        </p:nvSpPr>
        <p:spPr bwMode="auto">
          <a:xfrm>
            <a:off x="8763000" y="0"/>
            <a:ext cx="762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pic>
        <p:nvPicPr>
          <p:cNvPr id="16" name="Picture 15" descr="VM-Logo-drive_small.png"/>
          <p:cNvPicPr>
            <a:picLocks noChangeAspect="1"/>
          </p:cNvPicPr>
          <p:nvPr userDrawn="1"/>
        </p:nvPicPr>
        <p:blipFill>
          <a:blip r:embed="rId2" cstate="print"/>
          <a:stretch>
            <a:fillRect/>
          </a:stretch>
        </p:blipFill>
        <p:spPr>
          <a:xfrm>
            <a:off x="7391400" y="-65926"/>
            <a:ext cx="1371600" cy="887774"/>
          </a:xfrm>
          <a:prstGeom prst="rect">
            <a:avLst/>
          </a:prstGeom>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19_Title and Content">
    <p:spTree>
      <p:nvGrpSpPr>
        <p:cNvPr id="1" name=""/>
        <p:cNvGrpSpPr/>
        <p:nvPr/>
      </p:nvGrpSpPr>
      <p:grpSpPr>
        <a:xfrm>
          <a:off x="0" y="0"/>
          <a:ext cx="0" cy="0"/>
          <a:chOff x="0" y="0"/>
          <a:chExt cx="0" cy="0"/>
        </a:xfrm>
      </p:grpSpPr>
      <p:sp>
        <p:nvSpPr>
          <p:cNvPr id="8" name="Rectangle 62"/>
          <p:cNvSpPr>
            <a:spLocks noChangeArrowheads="1"/>
          </p:cNvSpPr>
          <p:nvPr userDrawn="1"/>
        </p:nvSpPr>
        <p:spPr bwMode="auto">
          <a:xfrm>
            <a:off x="0" y="0"/>
            <a:ext cx="7391400" cy="762000"/>
          </a:xfrm>
          <a:prstGeom prst="rect">
            <a:avLst/>
          </a:prstGeom>
          <a:solidFill>
            <a:srgbClr val="5F5F5F"/>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9" name="Rectangle 63"/>
          <p:cNvSpPr>
            <a:spLocks noChangeArrowheads="1"/>
          </p:cNvSpPr>
          <p:nvPr userDrawn="1"/>
        </p:nvSpPr>
        <p:spPr bwMode="auto">
          <a:xfrm>
            <a:off x="6400800" y="0"/>
            <a:ext cx="9906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0" name="Rectangle 64"/>
          <p:cNvSpPr>
            <a:spLocks noChangeArrowheads="1"/>
          </p:cNvSpPr>
          <p:nvPr userDrawn="1"/>
        </p:nvSpPr>
        <p:spPr bwMode="auto">
          <a:xfrm>
            <a:off x="8763000" y="0"/>
            <a:ext cx="381000" cy="763588"/>
          </a:xfrm>
          <a:prstGeom prst="rect">
            <a:avLst/>
          </a:prstGeom>
          <a:solidFill>
            <a:srgbClr val="969696"/>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1" name="Rectangle 65"/>
          <p:cNvSpPr>
            <a:spLocks noChangeArrowheads="1"/>
          </p:cNvSpPr>
          <p:nvPr userDrawn="1"/>
        </p:nvSpPr>
        <p:spPr bwMode="auto">
          <a:xfrm>
            <a:off x="6781800" y="0"/>
            <a:ext cx="304800" cy="763588"/>
          </a:xfrm>
          <a:prstGeom prst="rect">
            <a:avLst/>
          </a:prstGeom>
          <a:solidFill>
            <a:srgbClr val="A50021"/>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2" name="Rectangle 67"/>
          <p:cNvSpPr>
            <a:spLocks noChangeArrowheads="1"/>
          </p:cNvSpPr>
          <p:nvPr userDrawn="1"/>
        </p:nvSpPr>
        <p:spPr bwMode="auto">
          <a:xfrm>
            <a:off x="0" y="762000"/>
            <a:ext cx="9144000" cy="76200"/>
          </a:xfrm>
          <a:prstGeom prst="rect">
            <a:avLst/>
          </a:prstGeom>
          <a:solidFill>
            <a:srgbClr val="000000"/>
          </a:solidFill>
          <a:ln w="9525">
            <a:noFill/>
            <a:miter lim="800000"/>
            <a:headEnd/>
            <a:tailEnd/>
          </a:ln>
          <a:effectLst>
            <a:outerShdw blurRad="50800" dist="38100" dir="5400000" algn="t" rotWithShape="0">
              <a:prstClr val="black">
                <a:alpha val="40000"/>
              </a:prstClr>
            </a:outerShdw>
          </a:effectLst>
        </p:spPr>
        <p:txBody>
          <a:bodyPr wrap="none" anchor="ctr"/>
          <a:lstStyle/>
          <a:p>
            <a:pPr fontAlgn="auto">
              <a:spcBef>
                <a:spcPts val="0"/>
              </a:spcBef>
              <a:spcAft>
                <a:spcPts val="0"/>
              </a:spcAft>
              <a:defRPr/>
            </a:pPr>
            <a:endParaRPr lang="en-US" dirty="0">
              <a:latin typeface="+mn-lt"/>
            </a:endParaRPr>
          </a:p>
        </p:txBody>
      </p:sp>
      <p:sp>
        <p:nvSpPr>
          <p:cNvPr id="13" name="Text Box 46"/>
          <p:cNvSpPr txBox="1">
            <a:spLocks noChangeArrowheads="1"/>
          </p:cNvSpPr>
          <p:nvPr userDrawn="1"/>
        </p:nvSpPr>
        <p:spPr bwMode="auto">
          <a:xfrm>
            <a:off x="1790700" y="6627168"/>
            <a:ext cx="5562600" cy="230832"/>
          </a:xfrm>
          <a:prstGeom prst="rect">
            <a:avLst/>
          </a:prstGeom>
          <a:noFill/>
          <a:ln w="9525">
            <a:noFill/>
            <a:miter lim="800000"/>
            <a:headEnd/>
            <a:tailEnd/>
          </a:ln>
        </p:spPr>
        <p:txBody>
          <a:bodyPr wrap="square">
            <a:spAutoFit/>
          </a:bodyPr>
          <a:lstStyle/>
          <a:p>
            <a:pPr eaLnBrk="0" fontAlgn="auto" hangingPunct="0">
              <a:spcBef>
                <a:spcPts val="0"/>
              </a:spcBef>
              <a:spcAft>
                <a:spcPts val="0"/>
              </a:spcAft>
              <a:defRPr/>
            </a:pPr>
            <a:r>
              <a:rPr lang="en-US" altLang="en-US" sz="900" dirty="0">
                <a:solidFill>
                  <a:srgbClr val="5F5F5F"/>
                </a:solidFill>
                <a:latin typeface="Arial Narrow" pitchFamily="34" charset="0"/>
              </a:rPr>
              <a:t>NOTE: All information contained herein is Proprietary &amp; Confidential material of ValueMomentum Inc. All rights are reserved.</a:t>
            </a:r>
          </a:p>
        </p:txBody>
      </p:sp>
      <p:sp>
        <p:nvSpPr>
          <p:cNvPr id="14" name="Rectangle 63"/>
          <p:cNvSpPr>
            <a:spLocks noChangeArrowheads="1"/>
          </p:cNvSpPr>
          <p:nvPr userDrawn="1"/>
        </p:nvSpPr>
        <p:spPr bwMode="auto">
          <a:xfrm>
            <a:off x="8763000" y="0"/>
            <a:ext cx="762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pic>
        <p:nvPicPr>
          <p:cNvPr id="16" name="Picture 15" descr="VM-Logo-drive_small.png"/>
          <p:cNvPicPr>
            <a:picLocks noChangeAspect="1"/>
          </p:cNvPicPr>
          <p:nvPr userDrawn="1"/>
        </p:nvPicPr>
        <p:blipFill>
          <a:blip r:embed="rId2" cstate="print"/>
          <a:stretch>
            <a:fillRect/>
          </a:stretch>
        </p:blipFill>
        <p:spPr>
          <a:xfrm>
            <a:off x="7391400" y="-65926"/>
            <a:ext cx="1371600" cy="887774"/>
          </a:xfrm>
          <a:prstGeom prst="rect">
            <a:avLst/>
          </a:prstGeom>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20_Title and Content">
    <p:spTree>
      <p:nvGrpSpPr>
        <p:cNvPr id="1" name=""/>
        <p:cNvGrpSpPr/>
        <p:nvPr/>
      </p:nvGrpSpPr>
      <p:grpSpPr>
        <a:xfrm>
          <a:off x="0" y="0"/>
          <a:ext cx="0" cy="0"/>
          <a:chOff x="0" y="0"/>
          <a:chExt cx="0" cy="0"/>
        </a:xfrm>
      </p:grpSpPr>
      <p:sp>
        <p:nvSpPr>
          <p:cNvPr id="8" name="Rectangle 62"/>
          <p:cNvSpPr>
            <a:spLocks noChangeArrowheads="1"/>
          </p:cNvSpPr>
          <p:nvPr userDrawn="1"/>
        </p:nvSpPr>
        <p:spPr bwMode="auto">
          <a:xfrm>
            <a:off x="0" y="0"/>
            <a:ext cx="7391400" cy="762000"/>
          </a:xfrm>
          <a:prstGeom prst="rect">
            <a:avLst/>
          </a:prstGeom>
          <a:solidFill>
            <a:srgbClr val="5F5F5F"/>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9" name="Rectangle 63"/>
          <p:cNvSpPr>
            <a:spLocks noChangeArrowheads="1"/>
          </p:cNvSpPr>
          <p:nvPr userDrawn="1"/>
        </p:nvSpPr>
        <p:spPr bwMode="auto">
          <a:xfrm>
            <a:off x="6400800" y="0"/>
            <a:ext cx="9906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0" name="Rectangle 64"/>
          <p:cNvSpPr>
            <a:spLocks noChangeArrowheads="1"/>
          </p:cNvSpPr>
          <p:nvPr userDrawn="1"/>
        </p:nvSpPr>
        <p:spPr bwMode="auto">
          <a:xfrm>
            <a:off x="8763000" y="0"/>
            <a:ext cx="381000" cy="763588"/>
          </a:xfrm>
          <a:prstGeom prst="rect">
            <a:avLst/>
          </a:prstGeom>
          <a:solidFill>
            <a:srgbClr val="969696"/>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1" name="Rectangle 65"/>
          <p:cNvSpPr>
            <a:spLocks noChangeArrowheads="1"/>
          </p:cNvSpPr>
          <p:nvPr userDrawn="1"/>
        </p:nvSpPr>
        <p:spPr bwMode="auto">
          <a:xfrm>
            <a:off x="6781800" y="0"/>
            <a:ext cx="304800" cy="763588"/>
          </a:xfrm>
          <a:prstGeom prst="rect">
            <a:avLst/>
          </a:prstGeom>
          <a:solidFill>
            <a:srgbClr val="A50021"/>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2" name="Rectangle 67"/>
          <p:cNvSpPr>
            <a:spLocks noChangeArrowheads="1"/>
          </p:cNvSpPr>
          <p:nvPr userDrawn="1"/>
        </p:nvSpPr>
        <p:spPr bwMode="auto">
          <a:xfrm>
            <a:off x="0" y="762000"/>
            <a:ext cx="9144000" cy="76200"/>
          </a:xfrm>
          <a:prstGeom prst="rect">
            <a:avLst/>
          </a:prstGeom>
          <a:solidFill>
            <a:srgbClr val="000000"/>
          </a:solidFill>
          <a:ln w="9525">
            <a:noFill/>
            <a:miter lim="800000"/>
            <a:headEnd/>
            <a:tailEnd/>
          </a:ln>
          <a:effectLst>
            <a:outerShdw blurRad="50800" dist="38100" dir="5400000" algn="t" rotWithShape="0">
              <a:prstClr val="black">
                <a:alpha val="40000"/>
              </a:prstClr>
            </a:outerShdw>
          </a:effectLst>
        </p:spPr>
        <p:txBody>
          <a:bodyPr wrap="none" anchor="ctr"/>
          <a:lstStyle/>
          <a:p>
            <a:pPr fontAlgn="auto">
              <a:spcBef>
                <a:spcPts val="0"/>
              </a:spcBef>
              <a:spcAft>
                <a:spcPts val="0"/>
              </a:spcAft>
              <a:defRPr/>
            </a:pPr>
            <a:endParaRPr lang="en-US" dirty="0">
              <a:latin typeface="+mn-lt"/>
            </a:endParaRPr>
          </a:p>
        </p:txBody>
      </p:sp>
      <p:sp>
        <p:nvSpPr>
          <p:cNvPr id="13" name="Text Box 46"/>
          <p:cNvSpPr txBox="1">
            <a:spLocks noChangeArrowheads="1"/>
          </p:cNvSpPr>
          <p:nvPr userDrawn="1"/>
        </p:nvSpPr>
        <p:spPr bwMode="auto">
          <a:xfrm>
            <a:off x="1790700" y="6627168"/>
            <a:ext cx="5562600" cy="230832"/>
          </a:xfrm>
          <a:prstGeom prst="rect">
            <a:avLst/>
          </a:prstGeom>
          <a:noFill/>
          <a:ln w="9525">
            <a:noFill/>
            <a:miter lim="800000"/>
            <a:headEnd/>
            <a:tailEnd/>
          </a:ln>
        </p:spPr>
        <p:txBody>
          <a:bodyPr wrap="square">
            <a:spAutoFit/>
          </a:bodyPr>
          <a:lstStyle/>
          <a:p>
            <a:pPr eaLnBrk="0" fontAlgn="auto" hangingPunct="0">
              <a:spcBef>
                <a:spcPts val="0"/>
              </a:spcBef>
              <a:spcAft>
                <a:spcPts val="0"/>
              </a:spcAft>
              <a:defRPr/>
            </a:pPr>
            <a:r>
              <a:rPr lang="en-US" altLang="en-US" sz="900" dirty="0">
                <a:solidFill>
                  <a:srgbClr val="5F5F5F"/>
                </a:solidFill>
                <a:latin typeface="Arial Narrow" pitchFamily="34" charset="0"/>
              </a:rPr>
              <a:t>NOTE: All information contained herein is Proprietary &amp; Confidential material of ValueMomentum Inc. All rights are reserved.</a:t>
            </a:r>
          </a:p>
        </p:txBody>
      </p:sp>
      <p:sp>
        <p:nvSpPr>
          <p:cNvPr id="14" name="Rectangle 63"/>
          <p:cNvSpPr>
            <a:spLocks noChangeArrowheads="1"/>
          </p:cNvSpPr>
          <p:nvPr userDrawn="1"/>
        </p:nvSpPr>
        <p:spPr bwMode="auto">
          <a:xfrm>
            <a:off x="8763000" y="0"/>
            <a:ext cx="762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pic>
        <p:nvPicPr>
          <p:cNvPr id="16" name="Picture 15" descr="VM-Logo-drive_small.png"/>
          <p:cNvPicPr>
            <a:picLocks noChangeAspect="1"/>
          </p:cNvPicPr>
          <p:nvPr userDrawn="1"/>
        </p:nvPicPr>
        <p:blipFill>
          <a:blip r:embed="rId2" cstate="print"/>
          <a:stretch>
            <a:fillRect/>
          </a:stretch>
        </p:blipFill>
        <p:spPr>
          <a:xfrm>
            <a:off x="7391400" y="-65926"/>
            <a:ext cx="1371600" cy="887774"/>
          </a:xfrm>
          <a:prstGeom prst="rect">
            <a:avLst/>
          </a:prstGeom>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21_Title and Content">
    <p:spTree>
      <p:nvGrpSpPr>
        <p:cNvPr id="1" name=""/>
        <p:cNvGrpSpPr/>
        <p:nvPr/>
      </p:nvGrpSpPr>
      <p:grpSpPr>
        <a:xfrm>
          <a:off x="0" y="0"/>
          <a:ext cx="0" cy="0"/>
          <a:chOff x="0" y="0"/>
          <a:chExt cx="0" cy="0"/>
        </a:xfrm>
      </p:grpSpPr>
      <p:sp>
        <p:nvSpPr>
          <p:cNvPr id="8" name="Rectangle 62"/>
          <p:cNvSpPr>
            <a:spLocks noChangeArrowheads="1"/>
          </p:cNvSpPr>
          <p:nvPr userDrawn="1"/>
        </p:nvSpPr>
        <p:spPr bwMode="auto">
          <a:xfrm>
            <a:off x="0" y="0"/>
            <a:ext cx="7391400" cy="762000"/>
          </a:xfrm>
          <a:prstGeom prst="rect">
            <a:avLst/>
          </a:prstGeom>
          <a:solidFill>
            <a:srgbClr val="5F5F5F"/>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9" name="Rectangle 63"/>
          <p:cNvSpPr>
            <a:spLocks noChangeArrowheads="1"/>
          </p:cNvSpPr>
          <p:nvPr userDrawn="1"/>
        </p:nvSpPr>
        <p:spPr bwMode="auto">
          <a:xfrm>
            <a:off x="6400800" y="0"/>
            <a:ext cx="9906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0" name="Rectangle 64"/>
          <p:cNvSpPr>
            <a:spLocks noChangeArrowheads="1"/>
          </p:cNvSpPr>
          <p:nvPr userDrawn="1"/>
        </p:nvSpPr>
        <p:spPr bwMode="auto">
          <a:xfrm>
            <a:off x="8763000" y="0"/>
            <a:ext cx="381000" cy="763588"/>
          </a:xfrm>
          <a:prstGeom prst="rect">
            <a:avLst/>
          </a:prstGeom>
          <a:solidFill>
            <a:srgbClr val="969696"/>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1" name="Rectangle 65"/>
          <p:cNvSpPr>
            <a:spLocks noChangeArrowheads="1"/>
          </p:cNvSpPr>
          <p:nvPr userDrawn="1"/>
        </p:nvSpPr>
        <p:spPr bwMode="auto">
          <a:xfrm>
            <a:off x="6781800" y="0"/>
            <a:ext cx="304800" cy="763588"/>
          </a:xfrm>
          <a:prstGeom prst="rect">
            <a:avLst/>
          </a:prstGeom>
          <a:solidFill>
            <a:srgbClr val="A50021"/>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sp>
        <p:nvSpPr>
          <p:cNvPr id="12" name="Rectangle 67"/>
          <p:cNvSpPr>
            <a:spLocks noChangeArrowheads="1"/>
          </p:cNvSpPr>
          <p:nvPr userDrawn="1"/>
        </p:nvSpPr>
        <p:spPr bwMode="auto">
          <a:xfrm>
            <a:off x="0" y="762000"/>
            <a:ext cx="9144000" cy="76200"/>
          </a:xfrm>
          <a:prstGeom prst="rect">
            <a:avLst/>
          </a:prstGeom>
          <a:solidFill>
            <a:srgbClr val="000000"/>
          </a:solidFill>
          <a:ln w="9525">
            <a:noFill/>
            <a:miter lim="800000"/>
            <a:headEnd/>
            <a:tailEnd/>
          </a:ln>
          <a:effectLst>
            <a:outerShdw blurRad="50800" dist="38100" dir="5400000" algn="t" rotWithShape="0">
              <a:prstClr val="black">
                <a:alpha val="40000"/>
              </a:prstClr>
            </a:outerShdw>
          </a:effectLst>
        </p:spPr>
        <p:txBody>
          <a:bodyPr wrap="none" anchor="ctr"/>
          <a:lstStyle/>
          <a:p>
            <a:pPr fontAlgn="auto">
              <a:spcBef>
                <a:spcPts val="0"/>
              </a:spcBef>
              <a:spcAft>
                <a:spcPts val="0"/>
              </a:spcAft>
              <a:defRPr/>
            </a:pPr>
            <a:endParaRPr lang="en-US" dirty="0">
              <a:latin typeface="+mn-lt"/>
            </a:endParaRPr>
          </a:p>
        </p:txBody>
      </p:sp>
      <p:sp>
        <p:nvSpPr>
          <p:cNvPr id="13" name="Text Box 46"/>
          <p:cNvSpPr txBox="1">
            <a:spLocks noChangeArrowheads="1"/>
          </p:cNvSpPr>
          <p:nvPr userDrawn="1"/>
        </p:nvSpPr>
        <p:spPr bwMode="auto">
          <a:xfrm>
            <a:off x="1790700" y="6627168"/>
            <a:ext cx="5562600" cy="230832"/>
          </a:xfrm>
          <a:prstGeom prst="rect">
            <a:avLst/>
          </a:prstGeom>
          <a:noFill/>
          <a:ln w="9525">
            <a:noFill/>
            <a:miter lim="800000"/>
            <a:headEnd/>
            <a:tailEnd/>
          </a:ln>
        </p:spPr>
        <p:txBody>
          <a:bodyPr wrap="square">
            <a:spAutoFit/>
          </a:bodyPr>
          <a:lstStyle/>
          <a:p>
            <a:pPr eaLnBrk="0" fontAlgn="auto" hangingPunct="0">
              <a:spcBef>
                <a:spcPts val="0"/>
              </a:spcBef>
              <a:spcAft>
                <a:spcPts val="0"/>
              </a:spcAft>
              <a:defRPr/>
            </a:pPr>
            <a:r>
              <a:rPr lang="en-US" altLang="en-US" sz="900" dirty="0">
                <a:solidFill>
                  <a:srgbClr val="5F5F5F"/>
                </a:solidFill>
                <a:latin typeface="Arial Narrow" pitchFamily="34" charset="0"/>
              </a:rPr>
              <a:t>NOTE: All information contained herein is Proprietary &amp; Confidential material of ValueMomentum Inc. All rights are reserved.</a:t>
            </a:r>
          </a:p>
        </p:txBody>
      </p:sp>
      <p:sp>
        <p:nvSpPr>
          <p:cNvPr id="14" name="Rectangle 63"/>
          <p:cNvSpPr>
            <a:spLocks noChangeArrowheads="1"/>
          </p:cNvSpPr>
          <p:nvPr userDrawn="1"/>
        </p:nvSpPr>
        <p:spPr bwMode="auto">
          <a:xfrm>
            <a:off x="8763000" y="0"/>
            <a:ext cx="762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dirty="0">
              <a:latin typeface="+mn-lt"/>
            </a:endParaRPr>
          </a:p>
        </p:txBody>
      </p:sp>
      <p:pic>
        <p:nvPicPr>
          <p:cNvPr id="16" name="Picture 15" descr="VM-Logo-drive_small.png"/>
          <p:cNvPicPr>
            <a:picLocks noChangeAspect="1"/>
          </p:cNvPicPr>
          <p:nvPr userDrawn="1"/>
        </p:nvPicPr>
        <p:blipFill>
          <a:blip r:embed="rId2" cstate="print"/>
          <a:stretch>
            <a:fillRect/>
          </a:stretch>
        </p:blipFill>
        <p:spPr>
          <a:xfrm>
            <a:off x="7391400" y="-65926"/>
            <a:ext cx="1371600" cy="887774"/>
          </a:xfrm>
          <a:prstGeom prst="rect">
            <a:avLst/>
          </a:prstGeom>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22_Title and Content">
    <p:spTree>
      <p:nvGrpSpPr>
        <p:cNvPr id="1" name=""/>
        <p:cNvGrpSpPr/>
        <p:nvPr/>
      </p:nvGrpSpPr>
      <p:grpSpPr>
        <a:xfrm>
          <a:off x="0" y="0"/>
          <a:ext cx="0" cy="0"/>
          <a:chOff x="0" y="0"/>
          <a:chExt cx="0" cy="0"/>
        </a:xfrm>
      </p:grpSpPr>
      <p:sp>
        <p:nvSpPr>
          <p:cNvPr id="2" name="Rectangle 62"/>
          <p:cNvSpPr>
            <a:spLocks noChangeArrowheads="1"/>
          </p:cNvSpPr>
          <p:nvPr userDrawn="1"/>
        </p:nvSpPr>
        <p:spPr bwMode="auto">
          <a:xfrm>
            <a:off x="0" y="0"/>
            <a:ext cx="7391400" cy="762000"/>
          </a:xfrm>
          <a:prstGeom prst="rect">
            <a:avLst/>
          </a:prstGeom>
          <a:solidFill>
            <a:srgbClr val="5F5F5F"/>
          </a:solidFill>
          <a:ln w="9525">
            <a:noFill/>
            <a:miter lim="800000"/>
            <a:headEnd/>
            <a:tailEnd/>
          </a:ln>
        </p:spPr>
        <p:txBody>
          <a:bodyPr wrap="none" anchor="ctr"/>
          <a:lstStyle/>
          <a:p>
            <a:pPr fontAlgn="auto">
              <a:spcBef>
                <a:spcPts val="0"/>
              </a:spcBef>
              <a:spcAft>
                <a:spcPts val="0"/>
              </a:spcAft>
              <a:defRPr/>
            </a:pPr>
            <a:endParaRPr lang="en-US">
              <a:latin typeface="+mn-lt"/>
            </a:endParaRPr>
          </a:p>
        </p:txBody>
      </p:sp>
      <p:sp>
        <p:nvSpPr>
          <p:cNvPr id="3" name="Rectangle 63"/>
          <p:cNvSpPr>
            <a:spLocks noChangeArrowheads="1"/>
          </p:cNvSpPr>
          <p:nvPr userDrawn="1"/>
        </p:nvSpPr>
        <p:spPr bwMode="auto">
          <a:xfrm>
            <a:off x="6400800" y="0"/>
            <a:ext cx="9906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a:latin typeface="+mn-lt"/>
            </a:endParaRPr>
          </a:p>
        </p:txBody>
      </p:sp>
      <p:sp>
        <p:nvSpPr>
          <p:cNvPr id="4" name="Rectangle 64"/>
          <p:cNvSpPr>
            <a:spLocks noChangeArrowheads="1"/>
          </p:cNvSpPr>
          <p:nvPr userDrawn="1"/>
        </p:nvSpPr>
        <p:spPr bwMode="auto">
          <a:xfrm>
            <a:off x="8763000" y="0"/>
            <a:ext cx="381000" cy="763588"/>
          </a:xfrm>
          <a:prstGeom prst="rect">
            <a:avLst/>
          </a:prstGeom>
          <a:solidFill>
            <a:srgbClr val="969696"/>
          </a:solidFill>
          <a:ln w="9525">
            <a:noFill/>
            <a:miter lim="800000"/>
            <a:headEnd/>
            <a:tailEnd/>
          </a:ln>
        </p:spPr>
        <p:txBody>
          <a:bodyPr wrap="none" anchor="ctr"/>
          <a:lstStyle/>
          <a:p>
            <a:pPr fontAlgn="auto">
              <a:spcBef>
                <a:spcPts val="0"/>
              </a:spcBef>
              <a:spcAft>
                <a:spcPts val="0"/>
              </a:spcAft>
              <a:defRPr/>
            </a:pPr>
            <a:endParaRPr lang="en-US">
              <a:latin typeface="+mn-lt"/>
            </a:endParaRPr>
          </a:p>
        </p:txBody>
      </p:sp>
      <p:sp>
        <p:nvSpPr>
          <p:cNvPr id="5" name="Rectangle 65"/>
          <p:cNvSpPr>
            <a:spLocks noChangeArrowheads="1"/>
          </p:cNvSpPr>
          <p:nvPr userDrawn="1"/>
        </p:nvSpPr>
        <p:spPr bwMode="auto">
          <a:xfrm>
            <a:off x="6781800" y="0"/>
            <a:ext cx="304800" cy="763588"/>
          </a:xfrm>
          <a:prstGeom prst="rect">
            <a:avLst/>
          </a:prstGeom>
          <a:solidFill>
            <a:srgbClr val="A50021"/>
          </a:solidFill>
          <a:ln w="9525">
            <a:noFill/>
            <a:miter lim="800000"/>
            <a:headEnd/>
            <a:tailEnd/>
          </a:ln>
        </p:spPr>
        <p:txBody>
          <a:bodyPr wrap="none" anchor="ctr"/>
          <a:lstStyle/>
          <a:p>
            <a:pPr fontAlgn="auto">
              <a:spcBef>
                <a:spcPts val="0"/>
              </a:spcBef>
              <a:spcAft>
                <a:spcPts val="0"/>
              </a:spcAft>
              <a:defRPr/>
            </a:pPr>
            <a:endParaRPr lang="en-US">
              <a:latin typeface="+mn-lt"/>
            </a:endParaRPr>
          </a:p>
        </p:txBody>
      </p:sp>
      <p:pic>
        <p:nvPicPr>
          <p:cNvPr id="6" name="Picture 3"/>
          <p:cNvPicPr>
            <a:picLocks noChangeAspect="1" noChangeArrowheads="1"/>
          </p:cNvPicPr>
          <p:nvPr userDrawn="1"/>
        </p:nvPicPr>
        <p:blipFill>
          <a:blip r:embed="rId2" cstate="print"/>
          <a:srcRect/>
          <a:stretch>
            <a:fillRect/>
          </a:stretch>
        </p:blipFill>
        <p:spPr bwMode="auto">
          <a:xfrm>
            <a:off x="7467600" y="0"/>
            <a:ext cx="1150938" cy="782638"/>
          </a:xfrm>
          <a:prstGeom prst="rect">
            <a:avLst/>
          </a:prstGeom>
          <a:noFill/>
          <a:ln w="6350" algn="ctr">
            <a:noFill/>
            <a:miter lim="800000"/>
            <a:headEnd/>
            <a:tailEnd/>
          </a:ln>
        </p:spPr>
      </p:pic>
      <p:sp>
        <p:nvSpPr>
          <p:cNvPr id="7" name="Rectangle 67"/>
          <p:cNvSpPr>
            <a:spLocks noChangeArrowheads="1"/>
          </p:cNvSpPr>
          <p:nvPr userDrawn="1"/>
        </p:nvSpPr>
        <p:spPr bwMode="auto">
          <a:xfrm>
            <a:off x="0" y="762000"/>
            <a:ext cx="9144000" cy="76200"/>
          </a:xfrm>
          <a:prstGeom prst="rect">
            <a:avLst/>
          </a:prstGeom>
          <a:solidFill>
            <a:srgbClr val="000000"/>
          </a:solidFill>
          <a:ln w="9525">
            <a:noFill/>
            <a:miter lim="800000"/>
            <a:headEnd/>
            <a:tailEnd/>
          </a:ln>
        </p:spPr>
        <p:txBody>
          <a:bodyPr wrap="none" anchor="ctr"/>
          <a:lstStyle/>
          <a:p>
            <a:pPr fontAlgn="auto">
              <a:spcBef>
                <a:spcPts val="0"/>
              </a:spcBef>
              <a:spcAft>
                <a:spcPts val="0"/>
              </a:spcAft>
              <a:defRPr/>
            </a:pPr>
            <a:endParaRPr lang="en-US">
              <a:latin typeface="+mn-lt"/>
            </a:endParaRPr>
          </a:p>
        </p:txBody>
      </p:sp>
      <p:sp>
        <p:nvSpPr>
          <p:cNvPr id="8" name="Text Box 46"/>
          <p:cNvSpPr txBox="1">
            <a:spLocks noChangeArrowheads="1"/>
          </p:cNvSpPr>
          <p:nvPr userDrawn="1"/>
        </p:nvSpPr>
        <p:spPr bwMode="auto">
          <a:xfrm>
            <a:off x="0" y="6553200"/>
            <a:ext cx="9067800" cy="228600"/>
          </a:xfrm>
          <a:prstGeom prst="rect">
            <a:avLst/>
          </a:prstGeom>
          <a:noFill/>
          <a:ln w="9525">
            <a:noFill/>
            <a:miter lim="800000"/>
            <a:headEnd/>
            <a:tailEnd/>
          </a:ln>
        </p:spPr>
        <p:txBody>
          <a:bodyPr>
            <a:spAutoFit/>
          </a:bodyPr>
          <a:lstStyle/>
          <a:p>
            <a:pPr eaLnBrk="0" fontAlgn="auto" hangingPunct="0">
              <a:spcBef>
                <a:spcPts val="0"/>
              </a:spcBef>
              <a:spcAft>
                <a:spcPts val="0"/>
              </a:spcAft>
              <a:defRPr/>
            </a:pPr>
            <a:r>
              <a:rPr lang="en-US" altLang="en-US" sz="900" dirty="0">
                <a:solidFill>
                  <a:srgbClr val="5F5F5F"/>
                </a:solidFill>
                <a:latin typeface="Arial Narrow" pitchFamily="34" charset="0"/>
              </a:rPr>
              <a:t>NOTE: All information contained herein is Proprietary &amp; Confidential material of ValueMomentum Inc. All rights are reserved.</a:t>
            </a:r>
          </a:p>
        </p:txBody>
      </p:sp>
      <p:sp>
        <p:nvSpPr>
          <p:cNvPr id="9" name="Rectangle 63"/>
          <p:cNvSpPr>
            <a:spLocks noChangeArrowheads="1"/>
          </p:cNvSpPr>
          <p:nvPr userDrawn="1"/>
        </p:nvSpPr>
        <p:spPr bwMode="auto">
          <a:xfrm>
            <a:off x="8763000" y="0"/>
            <a:ext cx="762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a:latin typeface="+mn-lt"/>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23_Title and Content">
    <p:spTree>
      <p:nvGrpSpPr>
        <p:cNvPr id="1" name=""/>
        <p:cNvGrpSpPr/>
        <p:nvPr/>
      </p:nvGrpSpPr>
      <p:grpSpPr>
        <a:xfrm>
          <a:off x="0" y="0"/>
          <a:ext cx="0" cy="0"/>
          <a:chOff x="0" y="0"/>
          <a:chExt cx="0" cy="0"/>
        </a:xfrm>
      </p:grpSpPr>
      <p:sp>
        <p:nvSpPr>
          <p:cNvPr id="2" name="Rectangle 62"/>
          <p:cNvSpPr>
            <a:spLocks noChangeArrowheads="1"/>
          </p:cNvSpPr>
          <p:nvPr userDrawn="1"/>
        </p:nvSpPr>
        <p:spPr bwMode="auto">
          <a:xfrm>
            <a:off x="0" y="0"/>
            <a:ext cx="7391400" cy="762000"/>
          </a:xfrm>
          <a:prstGeom prst="rect">
            <a:avLst/>
          </a:prstGeom>
          <a:solidFill>
            <a:srgbClr val="5F5F5F"/>
          </a:solidFill>
          <a:ln w="9525">
            <a:noFill/>
            <a:miter lim="800000"/>
            <a:headEnd/>
            <a:tailEnd/>
          </a:ln>
        </p:spPr>
        <p:txBody>
          <a:bodyPr wrap="none" anchor="ctr"/>
          <a:lstStyle/>
          <a:p>
            <a:pPr fontAlgn="auto">
              <a:spcBef>
                <a:spcPts val="0"/>
              </a:spcBef>
              <a:spcAft>
                <a:spcPts val="0"/>
              </a:spcAft>
              <a:defRPr/>
            </a:pPr>
            <a:endParaRPr lang="en-US">
              <a:latin typeface="+mn-lt"/>
            </a:endParaRPr>
          </a:p>
        </p:txBody>
      </p:sp>
      <p:sp>
        <p:nvSpPr>
          <p:cNvPr id="3" name="Rectangle 63"/>
          <p:cNvSpPr>
            <a:spLocks noChangeArrowheads="1"/>
          </p:cNvSpPr>
          <p:nvPr userDrawn="1"/>
        </p:nvSpPr>
        <p:spPr bwMode="auto">
          <a:xfrm>
            <a:off x="6400800" y="0"/>
            <a:ext cx="9906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a:latin typeface="+mn-lt"/>
            </a:endParaRPr>
          </a:p>
        </p:txBody>
      </p:sp>
      <p:sp>
        <p:nvSpPr>
          <p:cNvPr id="4" name="Rectangle 64"/>
          <p:cNvSpPr>
            <a:spLocks noChangeArrowheads="1"/>
          </p:cNvSpPr>
          <p:nvPr userDrawn="1"/>
        </p:nvSpPr>
        <p:spPr bwMode="auto">
          <a:xfrm>
            <a:off x="8763000" y="0"/>
            <a:ext cx="381000" cy="763588"/>
          </a:xfrm>
          <a:prstGeom prst="rect">
            <a:avLst/>
          </a:prstGeom>
          <a:solidFill>
            <a:srgbClr val="969696"/>
          </a:solidFill>
          <a:ln w="9525">
            <a:noFill/>
            <a:miter lim="800000"/>
            <a:headEnd/>
            <a:tailEnd/>
          </a:ln>
        </p:spPr>
        <p:txBody>
          <a:bodyPr wrap="none" anchor="ctr"/>
          <a:lstStyle/>
          <a:p>
            <a:pPr fontAlgn="auto">
              <a:spcBef>
                <a:spcPts val="0"/>
              </a:spcBef>
              <a:spcAft>
                <a:spcPts val="0"/>
              </a:spcAft>
              <a:defRPr/>
            </a:pPr>
            <a:endParaRPr lang="en-US">
              <a:latin typeface="+mn-lt"/>
            </a:endParaRPr>
          </a:p>
        </p:txBody>
      </p:sp>
      <p:sp>
        <p:nvSpPr>
          <p:cNvPr id="5" name="Rectangle 65"/>
          <p:cNvSpPr>
            <a:spLocks noChangeArrowheads="1"/>
          </p:cNvSpPr>
          <p:nvPr userDrawn="1"/>
        </p:nvSpPr>
        <p:spPr bwMode="auto">
          <a:xfrm>
            <a:off x="6781800" y="0"/>
            <a:ext cx="304800" cy="763588"/>
          </a:xfrm>
          <a:prstGeom prst="rect">
            <a:avLst/>
          </a:prstGeom>
          <a:solidFill>
            <a:srgbClr val="A50021"/>
          </a:solidFill>
          <a:ln w="9525">
            <a:noFill/>
            <a:miter lim="800000"/>
            <a:headEnd/>
            <a:tailEnd/>
          </a:ln>
        </p:spPr>
        <p:txBody>
          <a:bodyPr wrap="none" anchor="ctr"/>
          <a:lstStyle/>
          <a:p>
            <a:pPr fontAlgn="auto">
              <a:spcBef>
                <a:spcPts val="0"/>
              </a:spcBef>
              <a:spcAft>
                <a:spcPts val="0"/>
              </a:spcAft>
              <a:defRPr/>
            </a:pPr>
            <a:endParaRPr lang="en-US">
              <a:latin typeface="+mn-lt"/>
            </a:endParaRPr>
          </a:p>
        </p:txBody>
      </p:sp>
      <p:pic>
        <p:nvPicPr>
          <p:cNvPr id="6" name="Picture 3"/>
          <p:cNvPicPr>
            <a:picLocks noChangeAspect="1" noChangeArrowheads="1"/>
          </p:cNvPicPr>
          <p:nvPr userDrawn="1"/>
        </p:nvPicPr>
        <p:blipFill>
          <a:blip r:embed="rId2" cstate="print"/>
          <a:srcRect/>
          <a:stretch>
            <a:fillRect/>
          </a:stretch>
        </p:blipFill>
        <p:spPr bwMode="auto">
          <a:xfrm>
            <a:off x="7467600" y="0"/>
            <a:ext cx="1150938" cy="782638"/>
          </a:xfrm>
          <a:prstGeom prst="rect">
            <a:avLst/>
          </a:prstGeom>
          <a:noFill/>
          <a:ln w="6350" algn="ctr">
            <a:noFill/>
            <a:miter lim="800000"/>
            <a:headEnd/>
            <a:tailEnd/>
          </a:ln>
        </p:spPr>
      </p:pic>
      <p:sp>
        <p:nvSpPr>
          <p:cNvPr id="7" name="Rectangle 67"/>
          <p:cNvSpPr>
            <a:spLocks noChangeArrowheads="1"/>
          </p:cNvSpPr>
          <p:nvPr userDrawn="1"/>
        </p:nvSpPr>
        <p:spPr bwMode="auto">
          <a:xfrm>
            <a:off x="0" y="762000"/>
            <a:ext cx="9144000" cy="76200"/>
          </a:xfrm>
          <a:prstGeom prst="rect">
            <a:avLst/>
          </a:prstGeom>
          <a:solidFill>
            <a:srgbClr val="000000"/>
          </a:solidFill>
          <a:ln w="9525">
            <a:noFill/>
            <a:miter lim="800000"/>
            <a:headEnd/>
            <a:tailEnd/>
          </a:ln>
        </p:spPr>
        <p:txBody>
          <a:bodyPr wrap="none" anchor="ctr"/>
          <a:lstStyle/>
          <a:p>
            <a:pPr fontAlgn="auto">
              <a:spcBef>
                <a:spcPts val="0"/>
              </a:spcBef>
              <a:spcAft>
                <a:spcPts val="0"/>
              </a:spcAft>
              <a:defRPr/>
            </a:pPr>
            <a:endParaRPr lang="en-US">
              <a:latin typeface="+mn-lt"/>
            </a:endParaRPr>
          </a:p>
        </p:txBody>
      </p:sp>
      <p:sp>
        <p:nvSpPr>
          <p:cNvPr id="8" name="Text Box 46"/>
          <p:cNvSpPr txBox="1">
            <a:spLocks noChangeArrowheads="1"/>
          </p:cNvSpPr>
          <p:nvPr userDrawn="1"/>
        </p:nvSpPr>
        <p:spPr bwMode="auto">
          <a:xfrm>
            <a:off x="0" y="6553200"/>
            <a:ext cx="9067800" cy="228600"/>
          </a:xfrm>
          <a:prstGeom prst="rect">
            <a:avLst/>
          </a:prstGeom>
          <a:noFill/>
          <a:ln w="9525">
            <a:noFill/>
            <a:miter lim="800000"/>
            <a:headEnd/>
            <a:tailEnd/>
          </a:ln>
        </p:spPr>
        <p:txBody>
          <a:bodyPr>
            <a:spAutoFit/>
          </a:bodyPr>
          <a:lstStyle/>
          <a:p>
            <a:pPr eaLnBrk="0" fontAlgn="auto" hangingPunct="0">
              <a:spcBef>
                <a:spcPts val="0"/>
              </a:spcBef>
              <a:spcAft>
                <a:spcPts val="0"/>
              </a:spcAft>
              <a:defRPr/>
            </a:pPr>
            <a:r>
              <a:rPr lang="en-US" altLang="en-US" sz="900" dirty="0">
                <a:solidFill>
                  <a:srgbClr val="5F5F5F"/>
                </a:solidFill>
                <a:latin typeface="Arial Narrow" pitchFamily="34" charset="0"/>
              </a:rPr>
              <a:t>NOTE: All information contained herein is Proprietary &amp; Confidential material of ValueMomentum Inc. All rights are reserved.</a:t>
            </a:r>
          </a:p>
        </p:txBody>
      </p:sp>
      <p:sp>
        <p:nvSpPr>
          <p:cNvPr id="9" name="Rectangle 63"/>
          <p:cNvSpPr>
            <a:spLocks noChangeArrowheads="1"/>
          </p:cNvSpPr>
          <p:nvPr userDrawn="1"/>
        </p:nvSpPr>
        <p:spPr bwMode="auto">
          <a:xfrm>
            <a:off x="8763000" y="0"/>
            <a:ext cx="762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a:latin typeface="+mn-lt"/>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9CA904-963A-426B-A72A-34362D7545E3}" type="datetimeFigureOut">
              <a:rPr lang="en-US" smtClean="0"/>
              <a:pPr/>
              <a:t>6/17/2016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ECC961-A797-4FF0-9580-D196D7450F6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package" Target="../embeddings/Microsoft_Word_Document1.docx"/><Relationship Id="rId2" Type="http://schemas.openxmlformats.org/officeDocument/2006/relationships/slideLayout" Target="../slideLayouts/slideLayout19.xml"/><Relationship Id="rId1" Type="http://schemas.openxmlformats.org/officeDocument/2006/relationships/vmlDrawing" Target="../drawings/vmlDrawing1.vml"/><Relationship Id="rId4" Type="http://schemas.openxmlformats.org/officeDocument/2006/relationships/image" Target="../media/image12.e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2.xml"/><Relationship Id="rId1" Type="http://schemas.openxmlformats.org/officeDocument/2006/relationships/tags" Target="../tags/tag1.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35.xml"/><Relationship Id="rId1" Type="http://schemas.openxmlformats.org/officeDocument/2006/relationships/tags" Target="../tags/tag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36.xml"/><Relationship Id="rId1" Type="http://schemas.openxmlformats.org/officeDocument/2006/relationships/tags" Target="../tags/tag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4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3.xml"/></Relationships>
</file>

<file path=ppt/slides/_rels/slide4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xml"/><Relationship Id="rId1" Type="http://schemas.openxmlformats.org/officeDocument/2006/relationships/slideLayout" Target="../slideLayouts/slideLayout34.xml"/><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7391400" y="1752600"/>
            <a:ext cx="1371600" cy="0"/>
          </a:xfrm>
          <a:prstGeom prst="line">
            <a:avLst/>
          </a:prstGeom>
          <a:ln>
            <a:solidFill>
              <a:schemeClr val="bg1">
                <a:lumMod val="75000"/>
                <a:alpha val="43000"/>
              </a:schemeClr>
            </a:solidFill>
          </a:ln>
        </p:spPr>
        <p:style>
          <a:lnRef idx="1">
            <a:schemeClr val="accent1"/>
          </a:lnRef>
          <a:fillRef idx="0">
            <a:schemeClr val="accent1"/>
          </a:fillRef>
          <a:effectRef idx="0">
            <a:schemeClr val="accent1"/>
          </a:effectRef>
          <a:fontRef idx="minor">
            <a:schemeClr val="tx1"/>
          </a:fontRef>
        </p:style>
      </p:cxnSp>
      <p:sp>
        <p:nvSpPr>
          <p:cNvPr id="6" name="Rectangle 66"/>
          <p:cNvSpPr>
            <a:spLocks noChangeArrowheads="1"/>
          </p:cNvSpPr>
          <p:nvPr/>
        </p:nvSpPr>
        <p:spPr bwMode="auto">
          <a:xfrm>
            <a:off x="65442" y="1883542"/>
            <a:ext cx="6324600" cy="523220"/>
          </a:xfrm>
          <a:prstGeom prst="rect">
            <a:avLst/>
          </a:prstGeom>
          <a:noFill/>
          <a:ln w="12700">
            <a:noFill/>
            <a:miter lim="800000"/>
            <a:headEnd/>
            <a:tailEnd/>
          </a:ln>
        </p:spPr>
        <p:txBody>
          <a:bodyPr wrap="square" anchor="ctr">
            <a:spAutoFit/>
          </a:bodyPr>
          <a:lstStyle/>
          <a:p>
            <a:pPr algn="ctr" eaLnBrk="0" fontAlgn="auto" hangingPunct="0">
              <a:spcBef>
                <a:spcPts val="0"/>
              </a:spcBef>
              <a:spcAft>
                <a:spcPts val="0"/>
              </a:spcAft>
              <a:buSzPct val="120000"/>
              <a:tabLst>
                <a:tab pos="1828800" algn="l"/>
              </a:tabLst>
              <a:defRPr/>
            </a:pPr>
            <a:r>
              <a:rPr lang="en-US" sz="2800" dirty="0" smtClean="0">
                <a:solidFill>
                  <a:schemeClr val="bg1"/>
                </a:solidFill>
                <a:latin typeface="Arial" pitchFamily="34" charset="0"/>
              </a:rPr>
              <a:t>Workers Compensation Insurance</a:t>
            </a:r>
            <a:endParaRPr lang="en-US" sz="2800" baseline="0" dirty="0" smtClean="0">
              <a:solidFill>
                <a:schemeClr val="bg1"/>
              </a:solidFill>
              <a:latin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6"/>
          <p:cNvSpPr>
            <a:spLocks noChangeArrowheads="1"/>
          </p:cNvSpPr>
          <p:nvPr/>
        </p:nvSpPr>
        <p:spPr bwMode="auto">
          <a:xfrm>
            <a:off x="57150" y="152400"/>
            <a:ext cx="6343650" cy="461963"/>
          </a:xfrm>
          <a:prstGeom prst="rect">
            <a:avLst/>
          </a:prstGeom>
          <a:noFill/>
          <a:ln w="12700">
            <a:noFill/>
            <a:miter lim="800000"/>
            <a:headEnd/>
            <a:tailEnd/>
          </a:ln>
        </p:spPr>
        <p:txBody>
          <a:bodyPr wrap="square" anchor="ctr">
            <a:spAutoFit/>
          </a:bodyPr>
          <a:lstStyle/>
          <a:p>
            <a:pPr algn="l" eaLnBrk="0" hangingPunct="0">
              <a:buSzPct val="120000"/>
              <a:tabLst>
                <a:tab pos="1828800" algn="l"/>
              </a:tabLst>
              <a:defRPr/>
            </a:pPr>
            <a:r>
              <a:rPr lang="en-US" sz="2400" u="none" dirty="0" smtClean="0">
                <a:solidFill>
                  <a:schemeClr val="bg1"/>
                </a:solidFill>
                <a:latin typeface="Arial" pitchFamily="34" charset="0"/>
                <a:cs typeface="Arial" pitchFamily="34" charset="0"/>
              </a:rPr>
              <a:t>Agenda</a:t>
            </a:r>
            <a:endParaRPr lang="en-US" sz="2400" u="none" dirty="0">
              <a:solidFill>
                <a:schemeClr val="bg1"/>
              </a:solidFill>
              <a:latin typeface="Arial" pitchFamily="34" charset="0"/>
              <a:cs typeface="Arial" pitchFamily="34" charset="0"/>
            </a:endParaRPr>
          </a:p>
        </p:txBody>
      </p:sp>
      <p:pic>
        <p:nvPicPr>
          <p:cNvPr id="8" name="Picture 2" descr="C:\Users\Tom\Desktop\Desktop (unsortiert)\Desktop\Ideensammlung\Zum Sortieren\Coffee.png"/>
          <p:cNvPicPr>
            <a:picLocks noChangeAspect="1" noChangeArrowheads="1"/>
          </p:cNvPicPr>
          <p:nvPr/>
        </p:nvPicPr>
        <p:blipFill>
          <a:blip r:embed="rId2" cstate="print">
            <a:clrChange>
              <a:clrFrom>
                <a:srgbClr val="000000">
                  <a:alpha val="0"/>
                </a:srgbClr>
              </a:clrFrom>
              <a:clrTo>
                <a:srgbClr val="000000">
                  <a:alpha val="0"/>
                </a:srgbClr>
              </a:clrTo>
            </a:clrChange>
          </a:blip>
          <a:srcRect/>
          <a:stretch>
            <a:fillRect/>
          </a:stretch>
        </p:blipFill>
        <p:spPr bwMode="auto">
          <a:xfrm>
            <a:off x="0" y="2217240"/>
            <a:ext cx="1524000" cy="2423520"/>
          </a:xfrm>
          <a:prstGeom prst="rect">
            <a:avLst/>
          </a:prstGeom>
          <a:noFill/>
          <a:ln w="9525">
            <a:noFill/>
            <a:miter lim="800000"/>
            <a:headEnd/>
            <a:tailEnd/>
          </a:ln>
          <a:effectLst>
            <a:outerShdw blurRad="76200" dir="18900000" sy="23000" kx="-1200000" algn="bl" rotWithShape="0">
              <a:prstClr val="black">
                <a:alpha val="7000"/>
              </a:prstClr>
            </a:outerShdw>
          </a:effectLst>
        </p:spPr>
      </p:pic>
      <p:sp>
        <p:nvSpPr>
          <p:cNvPr id="9" name="TextBox 8"/>
          <p:cNvSpPr txBox="1"/>
          <p:nvPr/>
        </p:nvSpPr>
        <p:spPr>
          <a:xfrm>
            <a:off x="1676400" y="1447800"/>
            <a:ext cx="7239000" cy="2973122"/>
          </a:xfrm>
          <a:prstGeom prst="rect">
            <a:avLst/>
          </a:prstGeom>
          <a:noFill/>
        </p:spPr>
        <p:txBody>
          <a:bodyPr wrap="square" rtlCol="0">
            <a:spAutoFit/>
          </a:bodyPr>
          <a:lstStyle/>
          <a:p>
            <a:pPr marL="346075" indent="-346075">
              <a:buFont typeface="Wingdings" pitchFamily="2" charset="2"/>
              <a:buChar char="Ø"/>
            </a:pPr>
            <a:r>
              <a:rPr lang="en-US" dirty="0" smtClean="0">
                <a:solidFill>
                  <a:schemeClr val="tx1"/>
                </a:solidFill>
                <a:latin typeface="Arial" pitchFamily="34" charset="0"/>
                <a:cs typeface="Arial" pitchFamily="34" charset="0"/>
              </a:rPr>
              <a:t>Workers Compensation  and Employers Liability Introduction</a:t>
            </a:r>
          </a:p>
          <a:p>
            <a:pPr marL="342900" indent="-342900">
              <a:spcBef>
                <a:spcPct val="20000"/>
              </a:spcBef>
              <a:buFont typeface="Wingdings" pitchFamily="2" charset="2"/>
              <a:buChar char="Ø"/>
            </a:pPr>
            <a:r>
              <a:rPr lang="en-US" dirty="0" smtClean="0">
                <a:solidFill>
                  <a:schemeClr val="tx1"/>
                </a:solidFill>
                <a:latin typeface="Arial" pitchFamily="34" charset="0"/>
                <a:cs typeface="Arial" pitchFamily="34" charset="0"/>
              </a:rPr>
              <a:t>WC Concepts 			</a:t>
            </a:r>
          </a:p>
          <a:p>
            <a:pPr marL="342900" indent="-342900">
              <a:spcBef>
                <a:spcPct val="20000"/>
              </a:spcBef>
              <a:buFont typeface="Wingdings" pitchFamily="2" charset="2"/>
              <a:buChar char="Ø"/>
            </a:pPr>
            <a:r>
              <a:rPr lang="en-US" dirty="0" smtClean="0">
                <a:solidFill>
                  <a:schemeClr val="tx1"/>
                </a:solidFill>
                <a:latin typeface="Arial" pitchFamily="34" charset="0"/>
                <a:cs typeface="Arial" pitchFamily="34" charset="0"/>
              </a:rPr>
              <a:t>State Modifications</a:t>
            </a:r>
          </a:p>
          <a:p>
            <a:pPr marL="342900" indent="-342900">
              <a:spcBef>
                <a:spcPct val="20000"/>
              </a:spcBef>
              <a:buFont typeface="Wingdings" pitchFamily="2" charset="2"/>
              <a:buChar char="Ø"/>
            </a:pPr>
            <a:r>
              <a:rPr lang="en-US" dirty="0" smtClean="0">
                <a:solidFill>
                  <a:schemeClr val="tx1"/>
                </a:solidFill>
                <a:latin typeface="Arial" pitchFamily="34" charset="0"/>
                <a:cs typeface="Arial" pitchFamily="34" charset="0"/>
              </a:rPr>
              <a:t>General Provisions of WC Law</a:t>
            </a:r>
          </a:p>
          <a:p>
            <a:pPr marL="342900" indent="-342900">
              <a:spcBef>
                <a:spcPct val="20000"/>
              </a:spcBef>
              <a:buFont typeface="Wingdings" pitchFamily="2" charset="2"/>
              <a:buChar char="Ø"/>
            </a:pPr>
            <a:r>
              <a:rPr lang="en-US" dirty="0" smtClean="0">
                <a:solidFill>
                  <a:schemeClr val="tx1"/>
                </a:solidFill>
                <a:latin typeface="Arial" pitchFamily="34" charset="0"/>
                <a:cs typeface="Arial" pitchFamily="34" charset="0"/>
              </a:rPr>
              <a:t>Workers’ Compensation benefits</a:t>
            </a:r>
          </a:p>
          <a:p>
            <a:pPr marL="342900" indent="-342900">
              <a:spcBef>
                <a:spcPct val="20000"/>
              </a:spcBef>
              <a:buFont typeface="Wingdings" pitchFamily="2" charset="2"/>
              <a:buChar char="Ø"/>
            </a:pPr>
            <a:r>
              <a:rPr lang="en-US" dirty="0" smtClean="0">
                <a:solidFill>
                  <a:schemeClr val="tx1"/>
                </a:solidFill>
                <a:latin typeface="Arial" pitchFamily="34" charset="0"/>
                <a:cs typeface="Arial" pitchFamily="34" charset="0"/>
              </a:rPr>
              <a:t>Assigned Risk vs. Voluntary Compensation Insurance</a:t>
            </a:r>
          </a:p>
          <a:p>
            <a:pPr marL="342900" indent="-342900">
              <a:spcBef>
                <a:spcPct val="20000"/>
              </a:spcBef>
              <a:buFont typeface="Wingdings" pitchFamily="2" charset="2"/>
              <a:buChar char="Ø"/>
            </a:pPr>
            <a:r>
              <a:rPr lang="en-US" dirty="0" smtClean="0">
                <a:solidFill>
                  <a:schemeClr val="tx1"/>
                </a:solidFill>
                <a:latin typeface="Arial" pitchFamily="34" charset="0"/>
                <a:cs typeface="Arial" pitchFamily="34" charset="0"/>
              </a:rPr>
              <a:t>Rate establishment &amp; NCCI</a:t>
            </a:r>
          </a:p>
          <a:p>
            <a:pPr marL="342900" indent="-342900">
              <a:spcBef>
                <a:spcPct val="20000"/>
              </a:spcBef>
              <a:buFont typeface="Wingdings" pitchFamily="2" charset="2"/>
              <a:buChar char="Ø"/>
            </a:pPr>
            <a:r>
              <a:rPr lang="en-US" dirty="0" smtClean="0">
                <a:solidFill>
                  <a:schemeClr val="tx1"/>
                </a:solidFill>
                <a:latin typeface="Arial" pitchFamily="34" charset="0"/>
                <a:cs typeface="Arial" pitchFamily="34" charset="0"/>
              </a:rPr>
              <a:t>State wise Bureau List</a:t>
            </a:r>
          </a:p>
          <a:p>
            <a:endParaRPr lang="en-US"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6"/>
          <p:cNvSpPr>
            <a:spLocks noChangeArrowheads="1"/>
          </p:cNvSpPr>
          <p:nvPr/>
        </p:nvSpPr>
        <p:spPr bwMode="auto">
          <a:xfrm>
            <a:off x="57150" y="60216"/>
            <a:ext cx="6343650" cy="646331"/>
          </a:xfrm>
          <a:prstGeom prst="rect">
            <a:avLst/>
          </a:prstGeom>
          <a:noFill/>
          <a:ln w="12700">
            <a:noFill/>
            <a:miter lim="800000"/>
            <a:headEnd/>
            <a:tailEnd/>
          </a:ln>
        </p:spPr>
        <p:txBody>
          <a:bodyPr wrap="square" anchor="ctr">
            <a:spAutoFit/>
          </a:bodyPr>
          <a:lstStyle/>
          <a:p>
            <a:pPr marL="0" lvl="1" eaLnBrk="0" hangingPunct="0">
              <a:buSzPct val="120000"/>
              <a:tabLst>
                <a:tab pos="1828800" algn="l"/>
              </a:tabLst>
              <a:defRPr/>
            </a:pPr>
            <a:r>
              <a:rPr lang="en-IN" b="1" dirty="0" smtClean="0">
                <a:solidFill>
                  <a:schemeClr val="bg1"/>
                </a:solidFill>
                <a:latin typeface="Arial" pitchFamily="34" charset="0"/>
                <a:cs typeface="Arial" pitchFamily="34" charset="0"/>
              </a:rPr>
              <a:t>Workers Compensation and Employers’ Liability Introduction</a:t>
            </a:r>
          </a:p>
        </p:txBody>
      </p:sp>
      <p:pic>
        <p:nvPicPr>
          <p:cNvPr id="8" name="Picture 2" descr="E:\Documents and Settings\ankurkumar\Desktop\construction-worker.jpg"/>
          <p:cNvPicPr>
            <a:picLocks noChangeAspect="1" noChangeArrowheads="1"/>
          </p:cNvPicPr>
          <p:nvPr/>
        </p:nvPicPr>
        <p:blipFill>
          <a:blip r:embed="rId2" cstate="print"/>
          <a:srcRect/>
          <a:stretch>
            <a:fillRect/>
          </a:stretch>
        </p:blipFill>
        <p:spPr bwMode="auto">
          <a:xfrm>
            <a:off x="5715000" y="3581400"/>
            <a:ext cx="3238500" cy="2971800"/>
          </a:xfrm>
          <a:prstGeom prst="rect">
            <a:avLst/>
          </a:prstGeom>
          <a:noFill/>
        </p:spPr>
      </p:pic>
      <p:sp>
        <p:nvSpPr>
          <p:cNvPr id="9" name="TextBox 8"/>
          <p:cNvSpPr txBox="1"/>
          <p:nvPr/>
        </p:nvSpPr>
        <p:spPr>
          <a:xfrm>
            <a:off x="381000" y="1143000"/>
            <a:ext cx="7848600" cy="2723823"/>
          </a:xfrm>
          <a:prstGeom prst="rect">
            <a:avLst/>
          </a:prstGeom>
          <a:noFill/>
        </p:spPr>
        <p:txBody>
          <a:bodyPr wrap="square" rtlCol="0">
            <a:spAutoFit/>
          </a:bodyPr>
          <a:lstStyle/>
          <a:p>
            <a:pPr marL="0" lvl="1" indent="-330200">
              <a:lnSpc>
                <a:spcPct val="80000"/>
              </a:lnSpc>
              <a:spcBef>
                <a:spcPts val="45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600" b="1" dirty="0" smtClean="0">
                <a:latin typeface="Arial" pitchFamily="34" charset="0"/>
                <a:cs typeface="Arial" pitchFamily="34" charset="0"/>
              </a:rPr>
              <a:t>Workers Compensation and Employers’ Liability Insurance:</a:t>
            </a:r>
          </a:p>
          <a:p>
            <a:pPr indent="-330200">
              <a:lnSpc>
                <a:spcPct val="80000"/>
              </a:lnSpc>
              <a:spcBef>
                <a:spcPts val="45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600" dirty="0" smtClean="0">
                <a:latin typeface="Arial" pitchFamily="34" charset="0"/>
                <a:cs typeface="Arial" pitchFamily="34" charset="0"/>
              </a:rPr>
              <a:t> </a:t>
            </a:r>
          </a:p>
          <a:p>
            <a:pPr indent="-330200" algn="just">
              <a:lnSpc>
                <a:spcPct val="80000"/>
              </a:lnSpc>
              <a:spcBef>
                <a:spcPts val="45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600" dirty="0" smtClean="0">
                <a:latin typeface="Arial" pitchFamily="34" charset="0"/>
                <a:cs typeface="Arial" pitchFamily="34" charset="0"/>
              </a:rPr>
              <a:t>Workers Compensation and EL Insurance responds to two basic loss exposure faced by employer: </a:t>
            </a:r>
          </a:p>
          <a:p>
            <a:pPr indent="-330200" algn="just">
              <a:lnSpc>
                <a:spcPct val="80000"/>
              </a:lnSpc>
              <a:spcBef>
                <a:spcPts val="45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IN" sz="1600" dirty="0" smtClean="0">
              <a:latin typeface="Arial" pitchFamily="34" charset="0"/>
              <a:cs typeface="Arial" pitchFamily="34" charset="0"/>
            </a:endParaRPr>
          </a:p>
          <a:p>
            <a:pPr marL="447675" indent="-777875" algn="just">
              <a:lnSpc>
                <a:spcPct val="80000"/>
              </a:lnSpc>
              <a:spcBef>
                <a:spcPts val="45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600" dirty="0" smtClean="0">
                <a:latin typeface="Arial" pitchFamily="34" charset="0"/>
                <a:cs typeface="Arial" pitchFamily="34" charset="0"/>
              </a:rPr>
              <a:t> 1. The legal responsibility  to pay benefits to employees as required by state workers compensation statutes.</a:t>
            </a:r>
          </a:p>
          <a:p>
            <a:pPr indent="-330200" algn="just">
              <a:lnSpc>
                <a:spcPct val="80000"/>
              </a:lnSpc>
              <a:spcBef>
                <a:spcPts val="45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IN" sz="1600" dirty="0" smtClean="0">
              <a:latin typeface="Arial" pitchFamily="34" charset="0"/>
              <a:cs typeface="Arial" pitchFamily="34" charset="0"/>
            </a:endParaRPr>
          </a:p>
          <a:p>
            <a:pPr marL="463550" indent="-463550" algn="just">
              <a:lnSpc>
                <a:spcPct val="80000"/>
              </a:lnSpc>
              <a:spcBef>
                <a:spcPts val="45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600" dirty="0" smtClean="0">
                <a:latin typeface="Arial" pitchFamily="34" charset="0"/>
                <a:cs typeface="Arial" pitchFamily="34" charset="0"/>
              </a:rPr>
              <a:t> 2. The cost to defend against and possibly pay, liability claims made against the employer on account of bodily injury to an employee.</a:t>
            </a:r>
          </a:p>
          <a:p>
            <a:endParaRPr lang="en-US"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6"/>
          <p:cNvSpPr>
            <a:spLocks noChangeArrowheads="1"/>
          </p:cNvSpPr>
          <p:nvPr/>
        </p:nvSpPr>
        <p:spPr bwMode="auto">
          <a:xfrm>
            <a:off x="57150" y="54379"/>
            <a:ext cx="6343650" cy="1015663"/>
          </a:xfrm>
          <a:prstGeom prst="rect">
            <a:avLst/>
          </a:prstGeom>
          <a:noFill/>
          <a:ln w="12700">
            <a:noFill/>
            <a:miter lim="800000"/>
            <a:headEnd/>
            <a:tailEnd/>
          </a:ln>
        </p:spPr>
        <p:txBody>
          <a:bodyPr wrap="square" anchor="ctr">
            <a:spAutoFit/>
          </a:bodyPr>
          <a:lstStyle/>
          <a:p>
            <a:pPr marL="0" lvl="1" eaLnBrk="0" hangingPunct="0">
              <a:buSzPct val="120000"/>
              <a:tabLst>
                <a:tab pos="1828800" algn="l"/>
              </a:tabLst>
              <a:defRPr/>
            </a:pPr>
            <a:r>
              <a:rPr lang="en-IN" b="1" dirty="0" smtClean="0">
                <a:solidFill>
                  <a:schemeClr val="bg1"/>
                </a:solidFill>
                <a:latin typeface="Arial" pitchFamily="34" charset="0"/>
                <a:cs typeface="Arial" pitchFamily="34" charset="0"/>
              </a:rPr>
              <a:t>Workers Compensation and Employers’ Liability Introduction (Cont….)</a:t>
            </a:r>
          </a:p>
          <a:p>
            <a:pPr algn="l" eaLnBrk="0" hangingPunct="0">
              <a:buSzPct val="120000"/>
              <a:tabLst>
                <a:tab pos="1828800" algn="l"/>
              </a:tabLst>
              <a:defRPr/>
            </a:pPr>
            <a:endParaRPr lang="en-US" sz="2400" u="none" dirty="0">
              <a:solidFill>
                <a:schemeClr val="bg1"/>
              </a:solidFill>
              <a:latin typeface="Arial" pitchFamily="34" charset="0"/>
              <a:cs typeface="Arial" pitchFamily="34" charset="0"/>
            </a:endParaRPr>
          </a:p>
        </p:txBody>
      </p:sp>
      <p:sp>
        <p:nvSpPr>
          <p:cNvPr id="7" name="TextBox 6"/>
          <p:cNvSpPr txBox="1"/>
          <p:nvPr/>
        </p:nvSpPr>
        <p:spPr>
          <a:xfrm>
            <a:off x="228600" y="1295400"/>
            <a:ext cx="7848600" cy="2979277"/>
          </a:xfrm>
          <a:prstGeom prst="rect">
            <a:avLst/>
          </a:prstGeom>
          <a:noFill/>
        </p:spPr>
        <p:txBody>
          <a:bodyPr wrap="square" rtlCol="0">
            <a:spAutoFit/>
          </a:bodyPr>
          <a:lstStyle/>
          <a:p>
            <a:pPr lvl="1" indent="-457200" algn="just" fontAlgn="auto">
              <a:lnSpc>
                <a:spcPct val="80000"/>
              </a:lnSpc>
              <a:spcBef>
                <a:spcPts val="0"/>
              </a:spcBef>
              <a:spcAft>
                <a:spcPts val="0"/>
              </a:spcAft>
              <a:buClr>
                <a:srgbClr val="C00000"/>
              </a:buClr>
              <a:buSzPct val="80000"/>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600" b="1" dirty="0">
                <a:latin typeface="Arial" pitchFamily="34" charset="0"/>
                <a:cs typeface="Arial" pitchFamily="34" charset="0"/>
              </a:rPr>
              <a:t>Requirement of Benefits:</a:t>
            </a:r>
          </a:p>
          <a:p>
            <a:pPr lvl="1" indent="-457200" algn="just" fontAlgn="auto">
              <a:lnSpc>
                <a:spcPct val="80000"/>
              </a:lnSpc>
              <a:spcBef>
                <a:spcPts val="0"/>
              </a:spcBef>
              <a:spcAft>
                <a:spcPts val="0"/>
              </a:spcAft>
              <a:buClrTx/>
              <a:buSzPct val="8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IN" sz="1600" b="1" dirty="0">
              <a:latin typeface="Arial" pitchFamily="34" charset="0"/>
              <a:cs typeface="Arial" pitchFamily="34" charset="0"/>
            </a:endParaRPr>
          </a:p>
          <a:p>
            <a:pPr lvl="1" indent="-457200" algn="just" fontAlgn="auto">
              <a:spcBef>
                <a:spcPts val="0"/>
              </a:spcBef>
              <a:spcAft>
                <a:spcPts val="0"/>
              </a:spcAft>
              <a:buClrTx/>
              <a:buSzPct val="80000"/>
              <a:buFont typeface="Wingdings" pitchFamily="2" charset="2"/>
              <a:buChar char="Ø"/>
              <a:defRPr/>
            </a:pPr>
            <a:r>
              <a:rPr lang="en-IN" sz="1600" dirty="0">
                <a:latin typeface="Arial" pitchFamily="34" charset="0"/>
                <a:cs typeface="Arial" pitchFamily="34" charset="0"/>
              </a:rPr>
              <a:t>Provides Benefits for Medical Expenses from either occupational injury/disease.</a:t>
            </a:r>
          </a:p>
          <a:p>
            <a:pPr lvl="1" indent="-457200" algn="just" fontAlgn="auto">
              <a:spcBef>
                <a:spcPts val="0"/>
              </a:spcBef>
              <a:spcAft>
                <a:spcPts val="0"/>
              </a:spcAft>
              <a:buClrTx/>
              <a:buSzPct val="80000"/>
              <a:buFont typeface="Wingdings" pitchFamily="2" charset="2"/>
              <a:buChar char="Ø"/>
              <a:defRPr/>
            </a:pPr>
            <a:endParaRPr lang="en-IN" sz="1600" dirty="0">
              <a:latin typeface="Arial" pitchFamily="34" charset="0"/>
              <a:cs typeface="Arial" pitchFamily="34" charset="0"/>
            </a:endParaRPr>
          </a:p>
          <a:p>
            <a:pPr lvl="1" indent="-457200" algn="just" fontAlgn="auto">
              <a:spcBef>
                <a:spcPts val="0"/>
              </a:spcBef>
              <a:spcAft>
                <a:spcPts val="0"/>
              </a:spcAft>
              <a:buClrTx/>
              <a:buSzPct val="80000"/>
              <a:buFont typeface="Wingdings" pitchFamily="2" charset="2"/>
              <a:buChar char="Ø"/>
              <a:defRPr/>
            </a:pPr>
            <a:r>
              <a:rPr lang="en-IN" sz="1600" dirty="0">
                <a:latin typeface="Arial" pitchFamily="34" charset="0"/>
                <a:cs typeface="Arial" pitchFamily="34" charset="0"/>
              </a:rPr>
              <a:t>Cause of Injury/Disease must be related to employment &amp; in course of employment.</a:t>
            </a:r>
          </a:p>
          <a:p>
            <a:pPr lvl="1" indent="-457200" algn="just" fontAlgn="auto">
              <a:spcBef>
                <a:spcPts val="0"/>
              </a:spcBef>
              <a:spcAft>
                <a:spcPts val="0"/>
              </a:spcAft>
              <a:buClrTx/>
              <a:buSzPct val="80000"/>
              <a:buFont typeface="Wingdings" pitchFamily="2" charset="2"/>
              <a:buChar char="Ø"/>
              <a:defRPr/>
            </a:pPr>
            <a:endParaRPr lang="en-IN" sz="1600" dirty="0">
              <a:latin typeface="Arial" pitchFamily="34" charset="0"/>
              <a:cs typeface="Arial" pitchFamily="34" charset="0"/>
            </a:endParaRPr>
          </a:p>
          <a:p>
            <a:pPr lvl="1" indent="-457200" algn="just" fontAlgn="auto">
              <a:spcBef>
                <a:spcPts val="0"/>
              </a:spcBef>
              <a:spcAft>
                <a:spcPts val="0"/>
              </a:spcAft>
              <a:buClrTx/>
              <a:buSzPct val="80000"/>
              <a:buFont typeface="Wingdings" pitchFamily="2" charset="2"/>
              <a:buChar char="Ø"/>
              <a:defRPr/>
            </a:pPr>
            <a:r>
              <a:rPr lang="en-IN" sz="1600" dirty="0">
                <a:latin typeface="Arial" pitchFamily="34" charset="0"/>
                <a:cs typeface="Arial" pitchFamily="34" charset="0"/>
              </a:rPr>
              <a:t>There must be </a:t>
            </a:r>
            <a:r>
              <a:rPr lang="en-IN" sz="1600" u="sng" dirty="0">
                <a:latin typeface="Arial" pitchFamily="34" charset="0"/>
                <a:cs typeface="Arial" pitchFamily="34" charset="0"/>
              </a:rPr>
              <a:t>A CAUSE &amp; EFFECT RELATION</a:t>
            </a:r>
            <a:r>
              <a:rPr lang="en-IN" sz="1600" dirty="0">
                <a:latin typeface="Arial" pitchFamily="34" charset="0"/>
                <a:cs typeface="Arial" pitchFamily="34" charset="0"/>
              </a:rPr>
              <a:t> between the</a:t>
            </a:r>
            <a:r>
              <a:rPr lang="en-IN" sz="1600" u="sng" dirty="0">
                <a:latin typeface="Arial" pitchFamily="34" charset="0"/>
                <a:cs typeface="Arial" pitchFamily="34" charset="0"/>
              </a:rPr>
              <a:t> OCCUPATION &amp; DISEASE</a:t>
            </a:r>
          </a:p>
          <a:p>
            <a:pPr lvl="1" indent="-457200" algn="just" fontAlgn="auto">
              <a:spcBef>
                <a:spcPts val="0"/>
              </a:spcBef>
              <a:spcAft>
                <a:spcPts val="0"/>
              </a:spcAft>
              <a:buClrTx/>
              <a:buSzPct val="80000"/>
              <a:buFont typeface="Wingdings" pitchFamily="2" charset="2"/>
              <a:buChar char="Ø"/>
              <a:defRPr/>
            </a:pPr>
            <a:endParaRPr lang="en-IN" sz="1600" u="sng" dirty="0">
              <a:latin typeface="Arial" pitchFamily="34" charset="0"/>
              <a:cs typeface="Arial" pitchFamily="34" charset="0"/>
            </a:endParaRPr>
          </a:p>
          <a:p>
            <a:pPr lvl="1" indent="-457200" algn="just" fontAlgn="auto">
              <a:spcBef>
                <a:spcPts val="0"/>
              </a:spcBef>
              <a:spcAft>
                <a:spcPts val="0"/>
              </a:spcAft>
              <a:buClrTx/>
              <a:buSzPct val="80000"/>
              <a:buFont typeface="Wingdings" pitchFamily="2" charset="2"/>
              <a:buChar char="Ø"/>
              <a:defRPr/>
            </a:pPr>
            <a:r>
              <a:rPr lang="en-IN" sz="1600" dirty="0">
                <a:latin typeface="Arial" pitchFamily="34" charset="0"/>
                <a:cs typeface="Arial" pitchFamily="34" charset="0"/>
              </a:rPr>
              <a:t>Provides benefits for wage loss from either occupational injury/disease.</a:t>
            </a:r>
            <a:endParaRPr lang="en-US" sz="1600" dirty="0">
              <a:latin typeface="Arial" pitchFamily="34" charset="0"/>
              <a:cs typeface="Arial" pitchFamily="34" charset="0"/>
            </a:endParaRPr>
          </a:p>
          <a:p>
            <a:endParaRPr lang="en-US"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 y="0"/>
            <a:ext cx="6096000" cy="1292662"/>
          </a:xfrm>
          <a:prstGeom prst="rect">
            <a:avLst/>
          </a:prstGeom>
          <a:noFill/>
        </p:spPr>
        <p:txBody>
          <a:bodyPr wrap="square" rtlCol="0">
            <a:spAutoFit/>
          </a:bodyPr>
          <a:lstStyle/>
          <a:p>
            <a:pPr marL="0" lvl="1" eaLnBrk="0" hangingPunct="0">
              <a:buSzPct val="120000"/>
              <a:tabLst>
                <a:tab pos="1828800" algn="l"/>
              </a:tabLst>
              <a:defRPr/>
            </a:pPr>
            <a:r>
              <a:rPr lang="en-IN" b="1" dirty="0" smtClean="0">
                <a:solidFill>
                  <a:schemeClr val="bg1"/>
                </a:solidFill>
                <a:latin typeface="Arial" pitchFamily="34" charset="0"/>
                <a:cs typeface="Arial" pitchFamily="34" charset="0"/>
              </a:rPr>
              <a:t>Workers Compensation and Employers’ Liability Introduction (Cont….)</a:t>
            </a:r>
          </a:p>
          <a:p>
            <a:pPr eaLnBrk="0" hangingPunct="0">
              <a:buSzPct val="120000"/>
              <a:tabLst>
                <a:tab pos="1828800" algn="l"/>
              </a:tabLst>
              <a:defRPr/>
            </a:pPr>
            <a:endParaRPr lang="en-US" sz="2400" dirty="0" smtClean="0">
              <a:solidFill>
                <a:schemeClr val="bg1"/>
              </a:solidFill>
              <a:latin typeface="Arial" pitchFamily="34" charset="0"/>
              <a:cs typeface="Arial" pitchFamily="34" charset="0"/>
            </a:endParaRPr>
          </a:p>
          <a:p>
            <a:endParaRPr lang="en-US" dirty="0">
              <a:solidFill>
                <a:schemeClr val="bg1"/>
              </a:solidFill>
              <a:latin typeface="Arial" pitchFamily="34" charset="0"/>
              <a:cs typeface="Arial" pitchFamily="34" charset="0"/>
            </a:endParaRPr>
          </a:p>
        </p:txBody>
      </p:sp>
      <p:pic>
        <p:nvPicPr>
          <p:cNvPr id="4" name="Picture 3"/>
          <p:cNvPicPr>
            <a:picLocks noChangeAspect="1" noChangeArrowheads="1"/>
          </p:cNvPicPr>
          <p:nvPr/>
        </p:nvPicPr>
        <p:blipFill>
          <a:blip r:embed="rId2" cstate="print"/>
          <a:srcRect/>
          <a:stretch>
            <a:fillRect/>
          </a:stretch>
        </p:blipFill>
        <p:spPr bwMode="auto">
          <a:xfrm>
            <a:off x="381001" y="990601"/>
            <a:ext cx="8229600" cy="5289550"/>
          </a:xfrm>
          <a:prstGeom prst="rect">
            <a:avLst/>
          </a:prstGeom>
          <a:noFill/>
          <a:ln w="9525">
            <a:noFill/>
            <a:round/>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295400"/>
            <a:ext cx="7467600" cy="3028521"/>
          </a:xfrm>
          <a:prstGeom prst="rect">
            <a:avLst/>
          </a:prstGeom>
          <a:noFill/>
        </p:spPr>
        <p:txBody>
          <a:bodyPr wrap="square" rtlCol="0">
            <a:spAutoFit/>
          </a:bodyPr>
          <a:lstStyle/>
          <a:p>
            <a:pPr lvl="1" indent="-457200" fontAlgn="auto">
              <a:lnSpc>
                <a:spcPct val="80000"/>
              </a:lnSpc>
              <a:spcBef>
                <a:spcPts val="0"/>
              </a:spcBef>
              <a:spcAft>
                <a:spcPts val="0"/>
              </a:spcAft>
              <a:buSzPct val="80000"/>
              <a:buFont typeface="Wingdings" pitchFamily="2" charset="2"/>
              <a:buChar char="Ø"/>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b="1" dirty="0" smtClean="0">
                <a:latin typeface="Arial" pitchFamily="34" charset="0"/>
                <a:cs typeface="Arial" pitchFamily="34" charset="0"/>
              </a:rPr>
              <a:t>Workers Compensation Exclusions: </a:t>
            </a:r>
          </a:p>
          <a:p>
            <a:pPr lvl="1" indent="-457200" fontAlgn="auto">
              <a:lnSpc>
                <a:spcPct val="80000"/>
              </a:lnSpc>
              <a:spcBef>
                <a:spcPts val="0"/>
              </a:spcBef>
              <a:spcAft>
                <a:spcPts val="0"/>
              </a:spcAft>
              <a:buSzPct val="80000"/>
              <a:buFont typeface="Wingdings" pitchFamily="2" charset="2"/>
              <a:buChar char="Ø"/>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IN" b="1" dirty="0" smtClean="0">
              <a:latin typeface="Arial" pitchFamily="34" charset="0"/>
              <a:cs typeface="Arial" pitchFamily="34" charset="0"/>
            </a:endParaRPr>
          </a:p>
          <a:p>
            <a:pPr lvl="1" indent="-457200" algn="just" fontAlgn="auto">
              <a:spcBef>
                <a:spcPts val="0"/>
              </a:spcBef>
              <a:spcAft>
                <a:spcPts val="0"/>
              </a:spcAft>
              <a:buSzPct val="80000"/>
              <a:buFont typeface="Wingdings" pitchFamily="2" charset="2"/>
              <a:buChar char="Ø"/>
              <a:defRPr/>
            </a:pPr>
            <a:r>
              <a:rPr lang="en-IN" dirty="0" smtClean="0">
                <a:latin typeface="Arial" pitchFamily="34" charset="0"/>
                <a:cs typeface="Arial" pitchFamily="34" charset="0"/>
              </a:rPr>
              <a:t>Damages for injury or death for any illegally employed person.</a:t>
            </a:r>
          </a:p>
          <a:p>
            <a:pPr lvl="1" indent="-457200" algn="just" fontAlgn="auto">
              <a:spcBef>
                <a:spcPts val="0"/>
              </a:spcBef>
              <a:spcAft>
                <a:spcPts val="0"/>
              </a:spcAft>
              <a:buSzPct val="80000"/>
              <a:buFont typeface="Wingdings" pitchFamily="2" charset="2"/>
              <a:buChar char="Ø"/>
              <a:defRPr/>
            </a:pPr>
            <a:endParaRPr lang="en-IN" dirty="0" smtClean="0">
              <a:latin typeface="Arial" pitchFamily="34" charset="0"/>
              <a:cs typeface="Arial" pitchFamily="34" charset="0"/>
            </a:endParaRPr>
          </a:p>
          <a:p>
            <a:pPr lvl="1" indent="-457200" algn="just" fontAlgn="auto">
              <a:spcBef>
                <a:spcPts val="0"/>
              </a:spcBef>
              <a:spcAft>
                <a:spcPts val="0"/>
              </a:spcAft>
              <a:buSzPct val="80000"/>
              <a:buFont typeface="Wingdings" pitchFamily="2" charset="2"/>
              <a:buChar char="Ø"/>
              <a:defRPr/>
            </a:pPr>
            <a:r>
              <a:rPr lang="en-IN" dirty="0" smtClean="0">
                <a:latin typeface="Arial" pitchFamily="34" charset="0"/>
                <a:cs typeface="Arial" pitchFamily="34" charset="0"/>
              </a:rPr>
              <a:t>Bodily injury intentionally caused by the insured.</a:t>
            </a:r>
          </a:p>
          <a:p>
            <a:pPr lvl="1" indent="-457200" algn="just" fontAlgn="auto">
              <a:spcBef>
                <a:spcPts val="0"/>
              </a:spcBef>
              <a:spcAft>
                <a:spcPts val="0"/>
              </a:spcAft>
              <a:buSzPct val="80000"/>
              <a:buFont typeface="Wingdings" pitchFamily="2" charset="2"/>
              <a:buChar char="Ø"/>
              <a:defRPr/>
            </a:pPr>
            <a:endParaRPr lang="en-IN" dirty="0" smtClean="0">
              <a:latin typeface="Arial" pitchFamily="34" charset="0"/>
              <a:cs typeface="Arial" pitchFamily="34" charset="0"/>
            </a:endParaRPr>
          </a:p>
          <a:p>
            <a:pPr lvl="1" indent="-457200" algn="just" fontAlgn="auto">
              <a:spcBef>
                <a:spcPts val="0"/>
              </a:spcBef>
              <a:spcAft>
                <a:spcPts val="0"/>
              </a:spcAft>
              <a:buSzPct val="80000"/>
              <a:buFont typeface="Wingdings" pitchFamily="2" charset="2"/>
              <a:buChar char="Ø"/>
              <a:defRPr/>
            </a:pPr>
            <a:r>
              <a:rPr lang="en-IN" dirty="0" smtClean="0">
                <a:latin typeface="Arial" pitchFamily="34" charset="0"/>
                <a:cs typeface="Arial" pitchFamily="34" charset="0"/>
              </a:rPr>
              <a:t>Damages arising out of employment practices, including  demotion, harassment, discrimination, and termination.</a:t>
            </a:r>
          </a:p>
          <a:p>
            <a:pPr lvl="1" indent="-457200" algn="just" fontAlgn="auto">
              <a:spcBef>
                <a:spcPts val="0"/>
              </a:spcBef>
              <a:spcAft>
                <a:spcPts val="0"/>
              </a:spcAft>
              <a:buSzPct val="80000"/>
              <a:buFont typeface="Wingdings" pitchFamily="2" charset="2"/>
              <a:buChar char="Ø"/>
              <a:defRPr/>
            </a:pPr>
            <a:endParaRPr lang="en-IN" dirty="0" smtClean="0">
              <a:latin typeface="Arial" pitchFamily="34" charset="0"/>
              <a:cs typeface="Arial" pitchFamily="34" charset="0"/>
            </a:endParaRPr>
          </a:p>
          <a:p>
            <a:pPr lvl="1" indent="-457200" algn="just" fontAlgn="auto">
              <a:spcBef>
                <a:spcPts val="0"/>
              </a:spcBef>
              <a:spcAft>
                <a:spcPts val="0"/>
              </a:spcAft>
              <a:buSzPct val="80000"/>
              <a:buFont typeface="Wingdings" pitchFamily="2" charset="2"/>
              <a:buChar char="Ø"/>
              <a:defRPr/>
            </a:pPr>
            <a:r>
              <a:rPr lang="en-IN" dirty="0" smtClean="0">
                <a:latin typeface="Arial" pitchFamily="34" charset="0"/>
                <a:cs typeface="Arial" pitchFamily="34" charset="0"/>
              </a:rPr>
              <a:t>Fines or penalties imposed for violation of federal or state law.</a:t>
            </a:r>
          </a:p>
          <a:p>
            <a:endParaRPr lang="en-US" dirty="0">
              <a:latin typeface="Arial" pitchFamily="34" charset="0"/>
              <a:cs typeface="Arial" pitchFamily="34" charset="0"/>
            </a:endParaRPr>
          </a:p>
        </p:txBody>
      </p:sp>
      <p:sp>
        <p:nvSpPr>
          <p:cNvPr id="3" name="TextBox 2"/>
          <p:cNvSpPr txBox="1"/>
          <p:nvPr/>
        </p:nvSpPr>
        <p:spPr>
          <a:xfrm>
            <a:off x="304800" y="228600"/>
            <a:ext cx="5486400" cy="646331"/>
          </a:xfrm>
          <a:prstGeom prst="rect">
            <a:avLst/>
          </a:prstGeom>
          <a:noFill/>
        </p:spPr>
        <p:txBody>
          <a:bodyPr wrap="square" rtlCol="0">
            <a:spAutoFit/>
          </a:bodyPr>
          <a:lstStyle/>
          <a:p>
            <a:pPr marL="0" lvl="1"/>
            <a:r>
              <a:rPr lang="en-IN" b="1" dirty="0" smtClean="0">
                <a:solidFill>
                  <a:schemeClr val="bg1"/>
                </a:solidFill>
                <a:latin typeface="Arial" pitchFamily="34" charset="0"/>
                <a:cs typeface="Arial" pitchFamily="34" charset="0"/>
              </a:rPr>
              <a:t>Workers Compensation Exclusions </a:t>
            </a:r>
          </a:p>
          <a:p>
            <a:endParaRPr lang="en-US" dirty="0">
              <a:solidFill>
                <a:schemeClr val="bg1"/>
              </a:solidFill>
              <a:latin typeface="Arial" pitchFamily="34" charset="0"/>
              <a:cs typeface="Arial"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What is 'Employer's Liability Insurance'</a:t>
            </a:r>
            <a:br>
              <a:rPr lang="en-US" dirty="0" smtClean="0"/>
            </a:br>
            <a:endParaRPr lang="en-US" dirty="0"/>
          </a:p>
        </p:txBody>
      </p:sp>
      <p:sp>
        <p:nvSpPr>
          <p:cNvPr id="3" name="Content Placeholder 2"/>
          <p:cNvSpPr>
            <a:spLocks noGrp="1"/>
          </p:cNvSpPr>
          <p:nvPr>
            <p:ph idx="1"/>
          </p:nvPr>
        </p:nvSpPr>
        <p:spPr/>
        <p:txBody>
          <a:bodyPr>
            <a:normAutofit/>
          </a:bodyPr>
          <a:lstStyle/>
          <a:p>
            <a:r>
              <a:rPr lang="en-US" sz="1500" dirty="0"/>
              <a:t>An insurance policy that provides coverage for an employer's two key exposures arising out of injuries sustained by employees. </a:t>
            </a:r>
            <a:r>
              <a:rPr lang="en-US" sz="1500" b="1" dirty="0"/>
              <a:t>Part One </a:t>
            </a:r>
            <a:r>
              <a:rPr lang="en-US" sz="1500" dirty="0"/>
              <a:t>of the policy covers the employer's statutory liabilities under workers compensation laws, and </a:t>
            </a:r>
            <a:r>
              <a:rPr lang="en-US" sz="1500" b="1" dirty="0"/>
              <a:t>Part Two </a:t>
            </a:r>
            <a:r>
              <a:rPr lang="en-US" sz="1500" dirty="0"/>
              <a:t>of the policy covers liability arising out of employees' work-related injuries that do not fall under the workers compensation statute. In most states, the standard workers compensation and employers liability policy published by the National Council on Compensation Insurance (NCCI) is the required policy form.</a:t>
            </a:r>
          </a:p>
          <a:p>
            <a:r>
              <a:rPr lang="en-US" sz="1500" dirty="0"/>
              <a:t>Employer's liability insurance can be packaged with workers compensation insurance to further protect companies against the costs associated with workplace injuries, illnesses and deaths that aren’t covered under workers compensation. Employer's liability insurance is also called “part 2” of a workers’ compensation policy.</a:t>
            </a:r>
          </a:p>
          <a:p>
            <a:r>
              <a:rPr lang="en-US" sz="1500" dirty="0"/>
              <a:t>This coverage provided by part 2 of the workers compensation policy provides coverage to the insured (employer) for liability to employees for work-related bodily injury or disease, other than liability imposed on the insured by a workers compensation law.</a:t>
            </a:r>
          </a:p>
          <a:p>
            <a:endParaRPr lang="en-US" dirty="0" smtClean="0"/>
          </a:p>
          <a:p>
            <a:endParaRPr lang="en-US" dirty="0" smtClean="0"/>
          </a:p>
          <a:p>
            <a:endParaRPr lang="en-US" dirty="0" smtClean="0"/>
          </a:p>
        </p:txBody>
      </p:sp>
    </p:spTree>
    <p:extLst>
      <p:ext uri="{BB962C8B-B14F-4D97-AF65-F5344CB8AC3E}">
        <p14:creationId xmlns:p14="http://schemas.microsoft.com/office/powerpoint/2010/main" val="13458493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3400" y="1600200"/>
            <a:ext cx="7620000" cy="3816429"/>
          </a:xfrm>
          <a:prstGeom prst="rect">
            <a:avLst/>
          </a:prstGeom>
          <a:noFill/>
        </p:spPr>
        <p:txBody>
          <a:bodyPr wrap="square" rtlCol="0">
            <a:spAutoFit/>
          </a:bodyPr>
          <a:lstStyle/>
          <a:p>
            <a:pPr marL="0" lvl="1">
              <a:defRPr/>
            </a:pPr>
            <a:r>
              <a:rPr lang="en-IN" sz="1600" b="1" dirty="0" smtClean="0">
                <a:latin typeface="Arial" pitchFamily="34" charset="0"/>
                <a:cs typeface="Arial" pitchFamily="34" charset="0"/>
              </a:rPr>
              <a:t>Employers Liability : </a:t>
            </a:r>
          </a:p>
          <a:p>
            <a:pPr>
              <a:defRPr/>
            </a:pPr>
            <a:endParaRPr lang="en-US" sz="1600" dirty="0" smtClean="0">
              <a:latin typeface="Arial" pitchFamily="34" charset="0"/>
              <a:cs typeface="Arial" pitchFamily="34" charset="0"/>
            </a:endParaRPr>
          </a:p>
          <a:p>
            <a:pPr algn="just">
              <a:defRPr/>
            </a:pPr>
            <a:r>
              <a:rPr lang="en-US" sz="1600" dirty="0" smtClean="0">
                <a:latin typeface="Arial" pitchFamily="34" charset="0"/>
                <a:cs typeface="Arial" pitchFamily="34" charset="0"/>
              </a:rPr>
              <a:t>The insurer agrees to defend the insured against claims and suits seeking covered damages. There are ways in which the employer can be held liable under the common law as the result of  employee injury:</a:t>
            </a:r>
          </a:p>
          <a:p>
            <a:pPr algn="just">
              <a:defRPr/>
            </a:pPr>
            <a:endParaRPr lang="en-US" sz="1600" dirty="0" smtClean="0">
              <a:latin typeface="Arial" pitchFamily="34" charset="0"/>
              <a:cs typeface="Arial" pitchFamily="34" charset="0"/>
            </a:endParaRPr>
          </a:p>
          <a:p>
            <a:pPr lvl="1" indent="-457200" algn="just" fontAlgn="auto">
              <a:spcBef>
                <a:spcPts val="0"/>
              </a:spcBef>
              <a:spcAft>
                <a:spcPts val="0"/>
              </a:spcAft>
              <a:buSzPct val="80000"/>
              <a:buFont typeface="Wingdings" pitchFamily="2" charset="2"/>
              <a:buChar char="Ø"/>
              <a:defRPr/>
            </a:pPr>
            <a:r>
              <a:rPr lang="en-US" sz="1600" dirty="0" smtClean="0">
                <a:latin typeface="Arial" pitchFamily="34" charset="0"/>
                <a:cs typeface="Arial" pitchFamily="34" charset="0"/>
              </a:rPr>
              <a:t>An employee of the insured sues a third party (such as machine manufacturer) for an occupational injury, and the third party then sues the employer. The third party’s suit might allege, for example, that the employer was negligent in maintaining the machine.</a:t>
            </a:r>
          </a:p>
          <a:p>
            <a:pPr lvl="1" indent="-457200" algn="just" fontAlgn="auto">
              <a:spcBef>
                <a:spcPts val="0"/>
              </a:spcBef>
              <a:spcAft>
                <a:spcPts val="0"/>
              </a:spcAft>
              <a:buSzPct val="80000"/>
              <a:buFont typeface="Wingdings" pitchFamily="2" charset="2"/>
              <a:buChar char="Ø"/>
              <a:defRPr/>
            </a:pPr>
            <a:endParaRPr lang="en-US" sz="1600" dirty="0" smtClean="0">
              <a:latin typeface="Arial" pitchFamily="34" charset="0"/>
              <a:cs typeface="Arial" pitchFamily="34" charset="0"/>
            </a:endParaRPr>
          </a:p>
          <a:p>
            <a:pPr lvl="1" indent="-457200" algn="just" fontAlgn="auto">
              <a:spcBef>
                <a:spcPts val="0"/>
              </a:spcBef>
              <a:spcAft>
                <a:spcPts val="0"/>
              </a:spcAft>
              <a:buSzPct val="80000"/>
              <a:buFont typeface="Wingdings" pitchFamily="2" charset="2"/>
              <a:buChar char="Ø"/>
              <a:defRPr/>
            </a:pPr>
            <a:r>
              <a:rPr lang="en-US" sz="1600" dirty="0" smtClean="0">
                <a:latin typeface="Arial" pitchFamily="34" charset="0"/>
                <a:cs typeface="Arial" pitchFamily="34" charset="0"/>
              </a:rPr>
              <a:t>The spouse or family member of an injured employee sues the employer for loss of companionship or services (such as housekeeping or yard work that the employee would otherwise have performed) resulting from the injury.</a:t>
            </a:r>
          </a:p>
          <a:p>
            <a:endParaRPr lang="en-US" dirty="0">
              <a:latin typeface="Arial" pitchFamily="34" charset="0"/>
              <a:cs typeface="Arial" pitchFamily="34" charset="0"/>
            </a:endParaRPr>
          </a:p>
        </p:txBody>
      </p:sp>
      <p:sp>
        <p:nvSpPr>
          <p:cNvPr id="3" name="TextBox 2"/>
          <p:cNvSpPr txBox="1"/>
          <p:nvPr/>
        </p:nvSpPr>
        <p:spPr>
          <a:xfrm>
            <a:off x="228600" y="228600"/>
            <a:ext cx="5791200" cy="646331"/>
          </a:xfrm>
          <a:prstGeom prst="rect">
            <a:avLst/>
          </a:prstGeom>
          <a:noFill/>
        </p:spPr>
        <p:txBody>
          <a:bodyPr wrap="square" rtlCol="0">
            <a:spAutoFit/>
          </a:bodyPr>
          <a:lstStyle/>
          <a:p>
            <a:pPr marL="0" lvl="1"/>
            <a:r>
              <a:rPr lang="en-IN" b="1" dirty="0" smtClean="0">
                <a:solidFill>
                  <a:schemeClr val="bg1"/>
                </a:solidFill>
                <a:latin typeface="Arial" pitchFamily="34" charset="0"/>
                <a:cs typeface="Arial" pitchFamily="34" charset="0"/>
              </a:rPr>
              <a:t>Employers Liability  </a:t>
            </a:r>
          </a:p>
          <a:p>
            <a:endParaRPr lang="en-US" dirty="0">
              <a:solidFill>
                <a:schemeClr val="bg1"/>
              </a:solidFill>
              <a:latin typeface="Arial" pitchFamily="34" charset="0"/>
              <a:cs typeface="Arial"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1000" y="1447800"/>
            <a:ext cx="8305800" cy="2092881"/>
          </a:xfrm>
          <a:prstGeom prst="rect">
            <a:avLst/>
          </a:prstGeom>
          <a:noFill/>
        </p:spPr>
        <p:txBody>
          <a:bodyPr wrap="square" rtlCol="0">
            <a:spAutoFit/>
          </a:bodyPr>
          <a:lstStyle/>
          <a:p>
            <a:pPr marL="0" lvl="1">
              <a:defRPr/>
            </a:pPr>
            <a:r>
              <a:rPr lang="en-IN" sz="1600" b="1" dirty="0" smtClean="0">
                <a:latin typeface="Arial" pitchFamily="34" charset="0"/>
                <a:cs typeface="Arial" pitchFamily="34" charset="0"/>
              </a:rPr>
              <a:t>Voluntary Compensation : </a:t>
            </a:r>
          </a:p>
          <a:p>
            <a:pPr>
              <a:defRPr/>
            </a:pPr>
            <a:endParaRPr lang="en-US" sz="1600" dirty="0" smtClean="0">
              <a:latin typeface="Arial" pitchFamily="34" charset="0"/>
              <a:cs typeface="Arial" pitchFamily="34" charset="0"/>
            </a:endParaRPr>
          </a:p>
          <a:p>
            <a:pPr algn="just">
              <a:defRPr/>
            </a:pPr>
            <a:r>
              <a:rPr lang="en-US" sz="1600" dirty="0" smtClean="0">
                <a:latin typeface="Arial" pitchFamily="34" charset="0"/>
                <a:cs typeface="Arial" pitchFamily="34" charset="0"/>
              </a:rPr>
              <a:t>The WC laws of most states exempt some types of employment from statutory WC benefits. The most commonly exempted occupations are farm labor, domestic employment, and casual labor. In some cases, the law does not apply to employers with fewer then a certain minimum no. of employees. The WC laws of some of the state do not apply to partners and executive officers. </a:t>
            </a:r>
          </a:p>
          <a:p>
            <a:endParaRPr lang="en-US" dirty="0">
              <a:latin typeface="Arial" pitchFamily="34" charset="0"/>
              <a:cs typeface="Arial" pitchFamily="34" charset="0"/>
            </a:endParaRPr>
          </a:p>
        </p:txBody>
      </p:sp>
      <p:sp>
        <p:nvSpPr>
          <p:cNvPr id="3" name="TextBox 2"/>
          <p:cNvSpPr txBox="1"/>
          <p:nvPr/>
        </p:nvSpPr>
        <p:spPr>
          <a:xfrm>
            <a:off x="228600" y="152401"/>
            <a:ext cx="5029200" cy="646331"/>
          </a:xfrm>
          <a:prstGeom prst="rect">
            <a:avLst/>
          </a:prstGeom>
          <a:noFill/>
        </p:spPr>
        <p:txBody>
          <a:bodyPr wrap="square" rtlCol="0">
            <a:spAutoFit/>
          </a:bodyPr>
          <a:lstStyle/>
          <a:p>
            <a:pPr marL="0" lvl="1"/>
            <a:r>
              <a:rPr lang="en-IN" b="1" dirty="0" smtClean="0">
                <a:solidFill>
                  <a:schemeClr val="bg1"/>
                </a:solidFill>
                <a:latin typeface="Arial" pitchFamily="34" charset="0"/>
                <a:cs typeface="Arial" pitchFamily="34" charset="0"/>
              </a:rPr>
              <a:t>Voluntary Compensation</a:t>
            </a:r>
            <a:r>
              <a:rPr lang="en-IN" sz="1600" b="1" dirty="0" smtClean="0">
                <a:solidFill>
                  <a:schemeClr val="bg1"/>
                </a:solidFill>
                <a:latin typeface="Arial" pitchFamily="34" charset="0"/>
                <a:cs typeface="Arial" pitchFamily="34" charset="0"/>
              </a:rPr>
              <a:t> </a:t>
            </a:r>
          </a:p>
          <a:p>
            <a:endParaRPr lang="en-US" dirty="0">
              <a:solidFill>
                <a:schemeClr val="bg1"/>
              </a:solidFill>
              <a:latin typeface="Arial" pitchFamily="34" charset="0"/>
              <a:cs typeface="Arial"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p:cNvGraphicFramePr>
            <a:graphicFrameLocks noChangeAspect="1"/>
          </p:cNvGraphicFramePr>
          <p:nvPr>
            <p:extLst>
              <p:ext uri="{D42A27DB-BD31-4B8C-83A1-F6EECF244321}">
                <p14:modId xmlns:p14="http://schemas.microsoft.com/office/powerpoint/2010/main" val="650373354"/>
              </p:ext>
            </p:extLst>
          </p:nvPr>
        </p:nvGraphicFramePr>
        <p:xfrm>
          <a:off x="457200" y="990600"/>
          <a:ext cx="8229600" cy="5562600"/>
        </p:xfrm>
        <a:graphic>
          <a:graphicData uri="http://schemas.openxmlformats.org/presentationml/2006/ole">
            <mc:AlternateContent xmlns:mc="http://schemas.openxmlformats.org/markup-compatibility/2006">
              <mc:Choice xmlns:v="urn:schemas-microsoft-com:vml" Requires="v">
                <p:oleObj spid="_x0000_s1027" name="Document" r:id="rId3" imgW="6860843" imgH="9074270" progId="Word.Document.12">
                  <p:embed/>
                </p:oleObj>
              </mc:Choice>
              <mc:Fallback>
                <p:oleObj name="Document" r:id="rId3" imgW="6860843" imgH="9074270" progId="Word.Document.12">
                  <p:embed/>
                  <p:pic>
                    <p:nvPicPr>
                      <p:cNvPr id="0" name=""/>
                      <p:cNvPicPr/>
                      <p:nvPr/>
                    </p:nvPicPr>
                    <p:blipFill>
                      <a:blip r:embed="rId4"/>
                      <a:stretch>
                        <a:fillRect/>
                      </a:stretch>
                    </p:blipFill>
                    <p:spPr>
                      <a:xfrm>
                        <a:off x="457200" y="990600"/>
                        <a:ext cx="8229600" cy="5562600"/>
                      </a:xfrm>
                      <a:prstGeom prst="rect">
                        <a:avLst/>
                      </a:prstGeom>
                    </p:spPr>
                  </p:pic>
                </p:oleObj>
              </mc:Fallback>
            </mc:AlternateContent>
          </a:graphicData>
        </a:graphic>
      </p:graphicFrame>
    </p:spTree>
    <p:extLst>
      <p:ext uri="{BB962C8B-B14F-4D97-AF65-F5344CB8AC3E}">
        <p14:creationId xmlns:p14="http://schemas.microsoft.com/office/powerpoint/2010/main" val="7435519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295400"/>
            <a:ext cx="7696200" cy="4624856"/>
          </a:xfrm>
          <a:prstGeom prst="rect">
            <a:avLst/>
          </a:prstGeom>
          <a:noFill/>
        </p:spPr>
        <p:txBody>
          <a:bodyPr wrap="square" rtlCol="0">
            <a:spAutoFit/>
          </a:bodyPr>
          <a:lstStyle/>
          <a:p>
            <a:pPr marL="0" lvl="1" indent="-330200">
              <a:lnSpc>
                <a:spcPct val="80000"/>
              </a:lnSpc>
              <a:spcBef>
                <a:spcPts val="450"/>
              </a:spcBef>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600" b="1" dirty="0" smtClean="0">
                <a:latin typeface="Arial" pitchFamily="34" charset="0"/>
                <a:cs typeface="Arial" pitchFamily="34" charset="0"/>
              </a:rPr>
              <a:t>Anniversary Rating Date: </a:t>
            </a:r>
          </a:p>
          <a:p>
            <a:pPr indent="-330200">
              <a:lnSpc>
                <a:spcPct val="80000"/>
              </a:lnSpc>
              <a:spcBef>
                <a:spcPts val="450"/>
              </a:spcBef>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IN" sz="1600" b="1" dirty="0" smtClean="0">
              <a:latin typeface="Arial" pitchFamily="34" charset="0"/>
              <a:cs typeface="Arial" pitchFamily="34" charset="0"/>
            </a:endParaRPr>
          </a:p>
          <a:p>
            <a:pPr indent="-330200" algn="just">
              <a:lnSpc>
                <a:spcPct val="80000"/>
              </a:lnSpc>
              <a:spcBef>
                <a:spcPts val="450"/>
              </a:spcBef>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1600" dirty="0" smtClean="0">
                <a:latin typeface="Arial" pitchFamily="34" charset="0"/>
                <a:cs typeface="Arial" pitchFamily="34" charset="0"/>
              </a:rPr>
              <a:t>The basic purpose of the anniversary rating date is to prevent a workers compensation insured, policyholder, or insurance company from cancelling the workers comp policy midterm, before the normal expiration date, to take advantage of lower rates that may now be in effect that were not available when the policy was originally written. </a:t>
            </a:r>
          </a:p>
          <a:p>
            <a:pPr indent="-330200" algn="just">
              <a:lnSpc>
                <a:spcPct val="80000"/>
              </a:lnSpc>
              <a:spcBef>
                <a:spcPts val="450"/>
              </a:spcBef>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US" sz="1600" dirty="0" smtClean="0">
              <a:latin typeface="Arial" pitchFamily="34" charset="0"/>
              <a:cs typeface="Arial" pitchFamily="34" charset="0"/>
            </a:endParaRPr>
          </a:p>
          <a:p>
            <a:pPr indent="-330200" algn="just">
              <a:lnSpc>
                <a:spcPct val="80000"/>
              </a:lnSpc>
              <a:spcBef>
                <a:spcPts val="45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600" u="sng" dirty="0" smtClean="0">
                <a:latin typeface="Arial" pitchFamily="34" charset="0"/>
                <a:cs typeface="Arial" pitchFamily="34" charset="0"/>
              </a:rPr>
              <a:t>For Entered Classes, Catastrophe and Terrorism Modifiers below rule is applied:</a:t>
            </a:r>
          </a:p>
          <a:p>
            <a:pPr indent="-330200" algn="just">
              <a:lnSpc>
                <a:spcPct val="80000"/>
              </a:lnSpc>
              <a:spcBef>
                <a:spcPts val="45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IN" sz="1600" dirty="0" smtClean="0">
              <a:latin typeface="Arial" pitchFamily="34" charset="0"/>
              <a:cs typeface="Arial" pitchFamily="34" charset="0"/>
            </a:endParaRPr>
          </a:p>
          <a:p>
            <a:pPr indent="-330200" algn="just">
              <a:lnSpc>
                <a:spcPct val="80000"/>
              </a:lnSpc>
              <a:spcBef>
                <a:spcPts val="45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600" dirty="0" smtClean="0">
                <a:latin typeface="Arial" pitchFamily="34" charset="0"/>
                <a:cs typeface="Arial" pitchFamily="34" charset="0"/>
              </a:rPr>
              <a:t>	When the difference between the ARD date and Policy effective date is more then 90 days,  </a:t>
            </a:r>
          </a:p>
          <a:p>
            <a:pPr indent="-330200" algn="just">
              <a:lnSpc>
                <a:spcPct val="80000"/>
              </a:lnSpc>
              <a:spcBef>
                <a:spcPts val="45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600" dirty="0" smtClean="0">
                <a:latin typeface="Arial" pitchFamily="34" charset="0"/>
                <a:cs typeface="Arial" pitchFamily="34" charset="0"/>
              </a:rPr>
              <a:t>        policy is called absolute ARD policy</a:t>
            </a:r>
          </a:p>
          <a:p>
            <a:pPr indent="-330200" algn="just">
              <a:lnSpc>
                <a:spcPct val="80000"/>
              </a:lnSpc>
              <a:spcBef>
                <a:spcPts val="45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IN" sz="1600" dirty="0" smtClean="0">
              <a:latin typeface="Arial" pitchFamily="34" charset="0"/>
              <a:cs typeface="Arial" pitchFamily="34" charset="0"/>
            </a:endParaRPr>
          </a:p>
          <a:p>
            <a:pPr lvl="1" indent="-457200" algn="just" fontAlgn="auto">
              <a:spcBef>
                <a:spcPts val="0"/>
              </a:spcBef>
              <a:spcAft>
                <a:spcPts val="0"/>
              </a:spcAft>
              <a:buSzPct val="80000"/>
              <a:buFont typeface="Wingdings" pitchFamily="2" charset="2"/>
              <a:buChar char="Ø"/>
              <a:defRPr/>
            </a:pPr>
            <a:r>
              <a:rPr lang="en-IN" sz="1600" dirty="0" smtClean="0">
                <a:latin typeface="Arial" pitchFamily="34" charset="0"/>
                <a:cs typeface="Arial" pitchFamily="34" charset="0"/>
              </a:rPr>
              <a:t>If the state is an ARD state, rate applicable as on ARD will be applies for split-1 and ARD+12 for split-2. </a:t>
            </a:r>
          </a:p>
          <a:p>
            <a:pPr lvl="1" indent="-457200" algn="just" fontAlgn="auto">
              <a:spcBef>
                <a:spcPts val="0"/>
              </a:spcBef>
              <a:spcAft>
                <a:spcPts val="0"/>
              </a:spcAft>
              <a:buSzPct val="80000"/>
              <a:buFont typeface="Wingdings" pitchFamily="2" charset="2"/>
              <a:buChar char="Ø"/>
              <a:defRPr/>
            </a:pPr>
            <a:r>
              <a:rPr lang="en-IN" sz="1600" dirty="0" smtClean="0">
                <a:latin typeface="Arial" pitchFamily="34" charset="0"/>
                <a:cs typeface="Arial" pitchFamily="34" charset="0"/>
              </a:rPr>
              <a:t>If the state is a Non-ARD state rate applicable as on policy effective date applies to both the splits</a:t>
            </a:r>
          </a:p>
          <a:p>
            <a:endParaRPr lang="en-US" dirty="0">
              <a:latin typeface="Arial" pitchFamily="34" charset="0"/>
              <a:cs typeface="Arial" pitchFamily="34" charset="0"/>
            </a:endParaRPr>
          </a:p>
        </p:txBody>
      </p:sp>
      <p:sp>
        <p:nvSpPr>
          <p:cNvPr id="3" name="TextBox 2"/>
          <p:cNvSpPr txBox="1"/>
          <p:nvPr/>
        </p:nvSpPr>
        <p:spPr>
          <a:xfrm>
            <a:off x="228600" y="228600"/>
            <a:ext cx="5257800" cy="646331"/>
          </a:xfrm>
          <a:prstGeom prst="rect">
            <a:avLst/>
          </a:prstGeom>
          <a:noFill/>
        </p:spPr>
        <p:txBody>
          <a:bodyPr wrap="square" rtlCol="0">
            <a:spAutoFit/>
          </a:bodyPr>
          <a:lstStyle/>
          <a:p>
            <a:pPr marL="0" lvl="1"/>
            <a:r>
              <a:rPr lang="en-IN" b="1" dirty="0" smtClean="0">
                <a:solidFill>
                  <a:schemeClr val="bg1"/>
                </a:solidFill>
                <a:latin typeface="Arial" pitchFamily="34" charset="0"/>
                <a:cs typeface="Arial" pitchFamily="34" charset="0"/>
              </a:rPr>
              <a:t>Anniversary Rating Date </a:t>
            </a:r>
          </a:p>
          <a:p>
            <a:endParaRPr lang="en-US" dirty="0">
              <a:solidFill>
                <a:schemeClr val="bg1"/>
              </a:solidFill>
              <a:latin typeface="Arial" pitchFamily="34" charset="0"/>
              <a:cs typeface="Arial"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1524000"/>
            <a:ext cx="7772400" cy="3077766"/>
          </a:xfrm>
          <a:prstGeom prst="rect">
            <a:avLst/>
          </a:prstGeom>
          <a:noFill/>
        </p:spPr>
        <p:txBody>
          <a:bodyPr wrap="square" rtlCol="0">
            <a:spAutoFit/>
          </a:bodyPr>
          <a:lstStyle/>
          <a:p>
            <a:pPr lvl="1" indent="-457200" algn="just" fontAlgn="auto">
              <a:spcBef>
                <a:spcPts val="0"/>
              </a:spcBef>
              <a:spcAft>
                <a:spcPts val="0"/>
              </a:spcAft>
              <a:buSzPct val="80000"/>
              <a:defRPr/>
            </a:pPr>
            <a:r>
              <a:rPr lang="en-IN" sz="1600" dirty="0" smtClean="0">
                <a:latin typeface="Arial" pitchFamily="34" charset="0"/>
                <a:cs typeface="Arial" pitchFamily="34" charset="0"/>
              </a:rPr>
              <a:t>When the difference between the ARD date and Policy effective date is less then 90 days, policy is called 3 months ARD policy</a:t>
            </a:r>
          </a:p>
          <a:p>
            <a:pPr lvl="1" indent="-457200" algn="just" fontAlgn="auto">
              <a:spcBef>
                <a:spcPts val="0"/>
              </a:spcBef>
              <a:spcAft>
                <a:spcPts val="0"/>
              </a:spcAft>
              <a:buSzPct val="80000"/>
              <a:defRPr/>
            </a:pPr>
            <a:endParaRPr lang="en-IN" sz="1600" dirty="0" smtClean="0">
              <a:latin typeface="Arial" pitchFamily="34" charset="0"/>
              <a:cs typeface="Arial" pitchFamily="34" charset="0"/>
            </a:endParaRPr>
          </a:p>
          <a:p>
            <a:pPr lvl="1" indent="-457200" algn="just">
              <a:buSzPct val="80000"/>
              <a:buFont typeface="Wingdings" pitchFamily="2" charset="2"/>
              <a:buChar char="Ø"/>
              <a:defRPr/>
            </a:pPr>
            <a:r>
              <a:rPr lang="en-IN" sz="1600" dirty="0" smtClean="0">
                <a:latin typeface="Arial" pitchFamily="34" charset="0"/>
                <a:cs typeface="Arial" pitchFamily="34" charset="0"/>
              </a:rPr>
              <a:t>If the state is an ARD/non-ARD state, rates applicable on policy effective date applies for the whole policy period. There is no split in the policy.</a:t>
            </a:r>
          </a:p>
          <a:p>
            <a:pPr lvl="1" indent="-457200" algn="just" fontAlgn="auto">
              <a:spcBef>
                <a:spcPts val="0"/>
              </a:spcBef>
              <a:spcAft>
                <a:spcPts val="0"/>
              </a:spcAft>
              <a:buSzPct val="80000"/>
              <a:defRPr/>
            </a:pPr>
            <a:endParaRPr lang="en-IN" sz="1600" dirty="0" smtClean="0">
              <a:latin typeface="Arial" pitchFamily="34" charset="0"/>
              <a:cs typeface="Arial" pitchFamily="34" charset="0"/>
            </a:endParaRPr>
          </a:p>
          <a:p>
            <a:pPr lvl="1" indent="-457200" algn="just" fontAlgn="auto">
              <a:spcBef>
                <a:spcPts val="0"/>
              </a:spcBef>
              <a:spcAft>
                <a:spcPts val="0"/>
              </a:spcAft>
              <a:buSzPct val="80000"/>
              <a:defRPr/>
            </a:pPr>
            <a:r>
              <a:rPr lang="en-IN" sz="1600" b="1" dirty="0" smtClean="0">
                <a:latin typeface="Arial" pitchFamily="34" charset="0"/>
                <a:cs typeface="Arial" pitchFamily="34" charset="0"/>
              </a:rPr>
              <a:t>For Other Modifiers:</a:t>
            </a:r>
          </a:p>
          <a:p>
            <a:pPr lvl="1" indent="-457200" algn="just" fontAlgn="auto">
              <a:spcBef>
                <a:spcPts val="0"/>
              </a:spcBef>
              <a:spcAft>
                <a:spcPts val="0"/>
              </a:spcAft>
              <a:buSzPct val="80000"/>
              <a:defRPr/>
            </a:pPr>
            <a:endParaRPr lang="en-IN" sz="1600" dirty="0" smtClean="0">
              <a:latin typeface="Arial" pitchFamily="34" charset="0"/>
              <a:cs typeface="Arial" pitchFamily="34" charset="0"/>
            </a:endParaRPr>
          </a:p>
          <a:p>
            <a:pPr lvl="1" indent="-457200" algn="just" fontAlgn="auto">
              <a:spcBef>
                <a:spcPts val="0"/>
              </a:spcBef>
              <a:spcAft>
                <a:spcPts val="0"/>
              </a:spcAft>
              <a:buSzPct val="80000"/>
              <a:buFont typeface="Wingdings" pitchFamily="2" charset="2"/>
              <a:buChar char="Ø"/>
              <a:defRPr/>
            </a:pPr>
            <a:r>
              <a:rPr lang="en-IN" sz="1600" dirty="0" smtClean="0">
                <a:latin typeface="Arial" pitchFamily="34" charset="0"/>
                <a:cs typeface="Arial" pitchFamily="34" charset="0"/>
              </a:rPr>
              <a:t>Apply the rate and stat based on policy effective date for the whole period irrespective of the fact that the policy has ARD or not and the state follows ARD or not. </a:t>
            </a:r>
          </a:p>
          <a:p>
            <a:endParaRPr lang="en-US" dirty="0">
              <a:latin typeface="Arial" pitchFamily="34" charset="0"/>
              <a:cs typeface="Arial" pitchFamily="34" charset="0"/>
            </a:endParaRPr>
          </a:p>
        </p:txBody>
      </p:sp>
      <p:sp>
        <p:nvSpPr>
          <p:cNvPr id="3" name="TextBox 2"/>
          <p:cNvSpPr txBox="1"/>
          <p:nvPr/>
        </p:nvSpPr>
        <p:spPr>
          <a:xfrm>
            <a:off x="228600" y="228600"/>
            <a:ext cx="5791200" cy="369332"/>
          </a:xfrm>
          <a:prstGeom prst="rect">
            <a:avLst/>
          </a:prstGeom>
          <a:noFill/>
        </p:spPr>
        <p:txBody>
          <a:bodyPr wrap="square" rtlCol="0">
            <a:spAutoFit/>
          </a:bodyPr>
          <a:lstStyle/>
          <a:p>
            <a:r>
              <a:rPr lang="en-US" b="1" dirty="0" smtClean="0">
                <a:solidFill>
                  <a:schemeClr val="bg1"/>
                </a:solidFill>
                <a:latin typeface="Arial" pitchFamily="34" charset="0"/>
                <a:cs typeface="Arial" pitchFamily="34" charset="0"/>
              </a:rPr>
              <a:t>Anniversary  Rating Date (Cont…)</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1000" y="1295400"/>
            <a:ext cx="8077200" cy="5122428"/>
          </a:xfrm>
          <a:prstGeom prst="rect">
            <a:avLst/>
          </a:prstGeom>
          <a:noFill/>
        </p:spPr>
        <p:txBody>
          <a:bodyPr wrap="square" rtlCol="0">
            <a:spAutoFit/>
          </a:bodyPr>
          <a:lstStyle/>
          <a:p>
            <a:pPr lvl="1" indent="-457200" algn="just" fontAlgn="auto">
              <a:lnSpc>
                <a:spcPct val="90000"/>
              </a:lnSpc>
              <a:spcBef>
                <a:spcPts val="0"/>
              </a:spcBef>
              <a:spcAft>
                <a:spcPts val="0"/>
              </a:spcAft>
              <a:buSzPct val="8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600" b="1" dirty="0" smtClean="0">
                <a:latin typeface="Arial" pitchFamily="34" charset="0"/>
                <a:cs typeface="Arial" pitchFamily="34" charset="0"/>
              </a:rPr>
              <a:t>Classification (Class Codes):</a:t>
            </a:r>
          </a:p>
          <a:p>
            <a:pPr indent="-330200" algn="just">
              <a:lnSpc>
                <a:spcPct val="90000"/>
              </a:lnSpc>
              <a:spcBef>
                <a:spcPts val="45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IN" sz="1600" dirty="0" smtClean="0">
              <a:latin typeface="Arial" pitchFamily="34" charset="0"/>
              <a:cs typeface="Arial" pitchFamily="34" charset="0"/>
            </a:endParaRPr>
          </a:p>
          <a:p>
            <a:pPr indent="-330200" algn="just">
              <a:lnSpc>
                <a:spcPct val="90000"/>
              </a:lnSpc>
              <a:spcBef>
                <a:spcPts val="45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600" dirty="0" smtClean="0">
                <a:latin typeface="Arial" pitchFamily="34" charset="0"/>
                <a:cs typeface="Arial" pitchFamily="34" charset="0"/>
              </a:rPr>
              <a:t>Classification is represented by a four digit number and groups businesses together that share common exposures to hazards.</a:t>
            </a:r>
          </a:p>
          <a:p>
            <a:pPr indent="-330200" algn="just">
              <a:lnSpc>
                <a:spcPct val="90000"/>
              </a:lnSpc>
              <a:spcBef>
                <a:spcPts val="45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IN" sz="1600" dirty="0" smtClean="0">
              <a:latin typeface="Arial" pitchFamily="34" charset="0"/>
              <a:cs typeface="Arial" pitchFamily="34" charset="0"/>
            </a:endParaRPr>
          </a:p>
          <a:p>
            <a:pPr indent="-330200" algn="just">
              <a:lnSpc>
                <a:spcPct val="90000"/>
              </a:lnSpc>
              <a:spcBef>
                <a:spcPts val="45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600" dirty="0" smtClean="0">
                <a:latin typeface="Arial" pitchFamily="34" charset="0"/>
                <a:cs typeface="Arial" pitchFamily="34" charset="0"/>
              </a:rPr>
              <a:t>For example,</a:t>
            </a:r>
          </a:p>
          <a:p>
            <a:pPr indent="-330200" algn="just">
              <a:lnSpc>
                <a:spcPct val="90000"/>
              </a:lnSpc>
              <a:spcBef>
                <a:spcPts val="45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600" dirty="0" smtClean="0">
                <a:latin typeface="Arial" pitchFamily="34" charset="0"/>
                <a:cs typeface="Arial" pitchFamily="34" charset="0"/>
              </a:rPr>
              <a:t>Dairy Farms are grouped together using Code 0036 – Farm: Dairy</a:t>
            </a:r>
          </a:p>
          <a:p>
            <a:pPr indent="-330200" algn="just">
              <a:lnSpc>
                <a:spcPct val="90000"/>
              </a:lnSpc>
              <a:spcBef>
                <a:spcPts val="45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600" dirty="0" smtClean="0">
                <a:latin typeface="Arial" pitchFamily="34" charset="0"/>
                <a:cs typeface="Arial" pitchFamily="34" charset="0"/>
              </a:rPr>
              <a:t>Plumbers are grouped together using Code 5183 – Plumbing NOC</a:t>
            </a:r>
          </a:p>
          <a:p>
            <a:pPr indent="-330200" algn="just">
              <a:lnSpc>
                <a:spcPct val="90000"/>
              </a:lnSpc>
              <a:spcBef>
                <a:spcPts val="45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IN" sz="1600" dirty="0" smtClean="0">
              <a:latin typeface="Arial" pitchFamily="34" charset="0"/>
              <a:cs typeface="Arial" pitchFamily="34" charset="0"/>
            </a:endParaRPr>
          </a:p>
          <a:p>
            <a:pPr indent="-330200" algn="just">
              <a:lnSpc>
                <a:spcPct val="90000"/>
              </a:lnSpc>
              <a:spcBef>
                <a:spcPts val="45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600" dirty="0" smtClean="0">
                <a:latin typeface="Arial" pitchFamily="34" charset="0"/>
                <a:cs typeface="Arial" pitchFamily="34" charset="0"/>
              </a:rPr>
              <a:t>Note: The rate is different for these two classes as the exposure to workplace injury is different.</a:t>
            </a:r>
          </a:p>
          <a:p>
            <a:pPr indent="-330200" algn="just">
              <a:lnSpc>
                <a:spcPct val="90000"/>
              </a:lnSpc>
              <a:spcBef>
                <a:spcPts val="45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IN" sz="1600" dirty="0" smtClean="0">
              <a:latin typeface="Arial" pitchFamily="34" charset="0"/>
              <a:cs typeface="Arial" pitchFamily="34" charset="0"/>
            </a:endParaRPr>
          </a:p>
          <a:p>
            <a:pPr indent="-330200" algn="just">
              <a:lnSpc>
                <a:spcPct val="90000"/>
              </a:lnSpc>
              <a:spcBef>
                <a:spcPts val="45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600" dirty="0" smtClean="0">
                <a:latin typeface="Arial" pitchFamily="34" charset="0"/>
                <a:cs typeface="Arial" pitchFamily="34" charset="0"/>
              </a:rPr>
              <a:t>In establishing a classification, the following criteria is considered:</a:t>
            </a:r>
          </a:p>
          <a:p>
            <a:pPr lvl="1" indent="-457200" algn="just" fontAlgn="auto">
              <a:spcBef>
                <a:spcPts val="0"/>
              </a:spcBef>
              <a:spcAft>
                <a:spcPts val="0"/>
              </a:spcAft>
              <a:buSzPct val="80000"/>
              <a:defRPr/>
            </a:pPr>
            <a:endParaRPr lang="en-IN" sz="1600" dirty="0" smtClean="0">
              <a:latin typeface="Arial" pitchFamily="34" charset="0"/>
              <a:cs typeface="Arial" pitchFamily="34" charset="0"/>
            </a:endParaRPr>
          </a:p>
          <a:p>
            <a:pPr lvl="1" indent="-457200" algn="just" fontAlgn="auto">
              <a:spcBef>
                <a:spcPts val="0"/>
              </a:spcBef>
              <a:spcAft>
                <a:spcPts val="0"/>
              </a:spcAft>
              <a:buSzPct val="80000"/>
              <a:buFont typeface="Wingdings" pitchFamily="2" charset="2"/>
              <a:buChar char="Ø"/>
              <a:defRPr/>
            </a:pPr>
            <a:r>
              <a:rPr lang="en-IN" sz="1600" dirty="0" smtClean="0">
                <a:latin typeface="Arial" pitchFamily="34" charset="0"/>
                <a:cs typeface="Arial" pitchFamily="34" charset="0"/>
              </a:rPr>
              <a:t>There must be a large enough group of employers so that a statistically credible rate can be produced.</a:t>
            </a:r>
          </a:p>
          <a:p>
            <a:pPr lvl="1" indent="-457200" algn="just" fontAlgn="auto">
              <a:spcBef>
                <a:spcPts val="0"/>
              </a:spcBef>
              <a:spcAft>
                <a:spcPts val="0"/>
              </a:spcAft>
              <a:buSzPct val="80000"/>
              <a:buFont typeface="Wingdings" pitchFamily="2" charset="2"/>
              <a:buChar char="Ø"/>
              <a:defRPr/>
            </a:pPr>
            <a:endParaRPr lang="en-IN" sz="1600" dirty="0" smtClean="0">
              <a:latin typeface="Arial" pitchFamily="34" charset="0"/>
              <a:cs typeface="Arial" pitchFamily="34" charset="0"/>
            </a:endParaRPr>
          </a:p>
          <a:p>
            <a:pPr lvl="1" indent="-457200" algn="just" fontAlgn="auto">
              <a:spcBef>
                <a:spcPts val="0"/>
              </a:spcBef>
              <a:spcAft>
                <a:spcPts val="0"/>
              </a:spcAft>
              <a:buSzPct val="80000"/>
              <a:buFont typeface="Wingdings" pitchFamily="2" charset="2"/>
              <a:buChar char="Ø"/>
              <a:defRPr/>
            </a:pPr>
            <a:r>
              <a:rPr lang="en-IN" sz="1600" dirty="0" smtClean="0">
                <a:latin typeface="Arial" pitchFamily="34" charset="0"/>
                <a:cs typeface="Arial" pitchFamily="34" charset="0"/>
              </a:rPr>
              <a:t>The businesses must be readily identifiable.</a:t>
            </a:r>
          </a:p>
          <a:p>
            <a:endParaRPr lang="en-US" dirty="0">
              <a:latin typeface="Arial" pitchFamily="34" charset="0"/>
              <a:cs typeface="Arial" pitchFamily="34" charset="0"/>
            </a:endParaRPr>
          </a:p>
        </p:txBody>
      </p:sp>
      <p:sp>
        <p:nvSpPr>
          <p:cNvPr id="3" name="TextBox 2"/>
          <p:cNvSpPr txBox="1"/>
          <p:nvPr/>
        </p:nvSpPr>
        <p:spPr>
          <a:xfrm>
            <a:off x="228600" y="152400"/>
            <a:ext cx="4648200" cy="369332"/>
          </a:xfrm>
          <a:prstGeom prst="rect">
            <a:avLst/>
          </a:prstGeom>
          <a:noFill/>
        </p:spPr>
        <p:txBody>
          <a:bodyPr wrap="square" rtlCol="0">
            <a:spAutoFit/>
          </a:bodyPr>
          <a:lstStyle/>
          <a:p>
            <a:r>
              <a:rPr lang="en-US" b="1" dirty="0" smtClean="0">
                <a:solidFill>
                  <a:schemeClr val="bg1"/>
                </a:solidFill>
                <a:latin typeface="Arial" pitchFamily="34" charset="0"/>
                <a:cs typeface="Arial" pitchFamily="34" charset="0"/>
              </a:rPr>
              <a:t>Classification </a:t>
            </a:r>
            <a:endParaRPr lang="en-US"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 y="152400"/>
            <a:ext cx="5791200" cy="369332"/>
          </a:xfrm>
          <a:prstGeom prst="rect">
            <a:avLst/>
          </a:prstGeom>
          <a:noFill/>
        </p:spPr>
        <p:txBody>
          <a:bodyPr wrap="square" rtlCol="0">
            <a:spAutoFit/>
          </a:bodyPr>
          <a:lstStyle/>
          <a:p>
            <a:r>
              <a:rPr lang="en-US" b="1" dirty="0" smtClean="0">
                <a:solidFill>
                  <a:schemeClr val="bg1"/>
                </a:solidFill>
                <a:latin typeface="Arial" pitchFamily="34" charset="0"/>
                <a:cs typeface="Arial" pitchFamily="34" charset="0"/>
              </a:rPr>
              <a:t>Premium Calculation</a:t>
            </a:r>
            <a:endParaRPr lang="en-US" b="1" dirty="0">
              <a:solidFill>
                <a:schemeClr val="bg1"/>
              </a:solidFill>
              <a:latin typeface="Arial" pitchFamily="34" charset="0"/>
              <a:cs typeface="Arial" pitchFamily="34" charset="0"/>
            </a:endParaRPr>
          </a:p>
        </p:txBody>
      </p:sp>
      <p:sp>
        <p:nvSpPr>
          <p:cNvPr id="3" name="TextBox 2"/>
          <p:cNvSpPr txBox="1"/>
          <p:nvPr/>
        </p:nvSpPr>
        <p:spPr>
          <a:xfrm>
            <a:off x="381000" y="1295400"/>
            <a:ext cx="8458200" cy="1815882"/>
          </a:xfrm>
          <a:prstGeom prst="rect">
            <a:avLst/>
          </a:prstGeom>
          <a:noFill/>
        </p:spPr>
        <p:txBody>
          <a:bodyPr wrap="square" rtlCol="0">
            <a:spAutoFit/>
          </a:bodyPr>
          <a:lstStyle/>
          <a:p>
            <a:r>
              <a:rPr lang="en-US" sz="1600" b="1" dirty="0" smtClean="0">
                <a:latin typeface="Arial" pitchFamily="34" charset="0"/>
                <a:cs typeface="Arial" pitchFamily="34" charset="0"/>
              </a:rPr>
              <a:t>Premium Calculation</a:t>
            </a:r>
          </a:p>
          <a:p>
            <a:endParaRPr lang="en-US" sz="1600" dirty="0" smtClean="0">
              <a:latin typeface="Arial" pitchFamily="34" charset="0"/>
              <a:cs typeface="Arial" pitchFamily="34" charset="0"/>
            </a:endParaRPr>
          </a:p>
          <a:p>
            <a:r>
              <a:rPr lang="en-US" sz="1600" dirty="0" smtClean="0">
                <a:latin typeface="Arial" pitchFamily="34" charset="0"/>
                <a:cs typeface="Arial" pitchFamily="34" charset="0"/>
              </a:rPr>
              <a:t>Premium is calculated by assigning a business classification code (or combination of codes) that best describes the business operations. Each code represents a rate per $100 of payroll that is multiplied by the total estimated annual payroll for that code. Other factors may affect the calculation, such as business's safety practices, past history and experience modification.</a:t>
            </a:r>
            <a:endParaRPr lang="en-US" sz="160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 y="228600"/>
            <a:ext cx="5562600" cy="369332"/>
          </a:xfrm>
          <a:prstGeom prst="rect">
            <a:avLst/>
          </a:prstGeom>
          <a:noFill/>
        </p:spPr>
        <p:txBody>
          <a:bodyPr wrap="square" rtlCol="0">
            <a:spAutoFit/>
          </a:bodyPr>
          <a:lstStyle/>
          <a:p>
            <a:r>
              <a:rPr lang="en-US" b="1" dirty="0" smtClean="0">
                <a:solidFill>
                  <a:schemeClr val="bg1"/>
                </a:solidFill>
                <a:latin typeface="Arial" pitchFamily="34" charset="0"/>
                <a:cs typeface="Arial" pitchFamily="34" charset="0"/>
              </a:rPr>
              <a:t>Payroll Audit</a:t>
            </a:r>
            <a:endParaRPr lang="en-US" b="1" dirty="0">
              <a:solidFill>
                <a:schemeClr val="bg1"/>
              </a:solidFill>
              <a:latin typeface="Arial" pitchFamily="34" charset="0"/>
              <a:cs typeface="Arial" pitchFamily="34" charset="0"/>
            </a:endParaRPr>
          </a:p>
        </p:txBody>
      </p:sp>
      <p:sp>
        <p:nvSpPr>
          <p:cNvPr id="3" name="TextBox 2"/>
          <p:cNvSpPr txBox="1"/>
          <p:nvPr/>
        </p:nvSpPr>
        <p:spPr>
          <a:xfrm>
            <a:off x="228600" y="1143000"/>
            <a:ext cx="8229600" cy="1077218"/>
          </a:xfrm>
          <a:prstGeom prst="rect">
            <a:avLst/>
          </a:prstGeom>
          <a:noFill/>
        </p:spPr>
        <p:txBody>
          <a:bodyPr wrap="square" rtlCol="0">
            <a:spAutoFit/>
          </a:bodyPr>
          <a:lstStyle/>
          <a:p>
            <a:r>
              <a:rPr lang="en-US" sz="1600" b="1" dirty="0" smtClean="0">
                <a:latin typeface="Arial" pitchFamily="34" charset="0"/>
                <a:cs typeface="Arial" pitchFamily="34" charset="0"/>
              </a:rPr>
              <a:t>Payroll</a:t>
            </a:r>
          </a:p>
          <a:p>
            <a:endParaRPr lang="en-US" sz="1600" dirty="0" smtClean="0">
              <a:latin typeface="Arial" pitchFamily="34" charset="0"/>
              <a:cs typeface="Arial" pitchFamily="34" charset="0"/>
            </a:endParaRPr>
          </a:p>
          <a:p>
            <a:r>
              <a:rPr lang="en-US" sz="1600" dirty="0" smtClean="0">
                <a:latin typeface="Arial" pitchFamily="34" charset="0"/>
                <a:cs typeface="Arial" pitchFamily="34" charset="0"/>
              </a:rPr>
              <a:t>Payroll refers to the amount paid to employees by the business for services they provide during a certain period of time.</a:t>
            </a:r>
            <a:endParaRPr lang="en-US" sz="1600" dirty="0">
              <a:latin typeface="Arial" pitchFamily="34" charset="0"/>
              <a:cs typeface="Arial" pitchFamily="34" charset="0"/>
            </a:endParaRPr>
          </a:p>
        </p:txBody>
      </p:sp>
      <p:sp>
        <p:nvSpPr>
          <p:cNvPr id="4" name="TextBox 3"/>
          <p:cNvSpPr txBox="1"/>
          <p:nvPr/>
        </p:nvSpPr>
        <p:spPr>
          <a:xfrm>
            <a:off x="304800" y="2819400"/>
            <a:ext cx="8001000" cy="3323987"/>
          </a:xfrm>
          <a:prstGeom prst="rect">
            <a:avLst/>
          </a:prstGeom>
          <a:noFill/>
        </p:spPr>
        <p:txBody>
          <a:bodyPr wrap="square" rtlCol="0">
            <a:spAutoFit/>
          </a:bodyPr>
          <a:lstStyle/>
          <a:p>
            <a:r>
              <a:rPr lang="en-US" sz="1600" b="1" dirty="0" smtClean="0">
                <a:latin typeface="Arial" pitchFamily="34" charset="0"/>
                <a:cs typeface="Arial" pitchFamily="34" charset="0"/>
              </a:rPr>
              <a:t>Audit</a:t>
            </a:r>
          </a:p>
          <a:p>
            <a:r>
              <a:rPr lang="en-US" sz="1600" dirty="0" smtClean="0">
                <a:latin typeface="Arial" pitchFamily="34" charset="0"/>
                <a:cs typeface="Arial" pitchFamily="34" charset="0"/>
              </a:rPr>
              <a:t>Insurance company’s examination of an insured business’s payroll records in order to determine the final premium due on a workers’ compensation insurance policy.</a:t>
            </a:r>
          </a:p>
          <a:p>
            <a:endParaRPr lang="en-US" sz="1600" dirty="0" smtClean="0">
              <a:latin typeface="Arial" pitchFamily="34" charset="0"/>
              <a:cs typeface="Arial" pitchFamily="34" charset="0"/>
            </a:endParaRPr>
          </a:p>
          <a:p>
            <a:r>
              <a:rPr lang="en-US" sz="1600" dirty="0" smtClean="0">
                <a:latin typeface="Arial" pitchFamily="34" charset="0"/>
                <a:cs typeface="Arial" pitchFamily="34" charset="0"/>
              </a:rPr>
              <a:t>A premium audit is conducted on Workers' Compensation policy. The primary function of the audit process is to determine the actual payroll used in calculating the final premium on the policy. The premium will be adjusted as a result of the audit. If payroll have been underestimated, this will result in additional billing &amp; if payroll have been overestimated, a billing credit will result.</a:t>
            </a:r>
          </a:p>
          <a:p>
            <a:endParaRPr lang="en-US" sz="1600" dirty="0" smtClean="0">
              <a:latin typeface="Arial" pitchFamily="34" charset="0"/>
              <a:cs typeface="Arial" pitchFamily="34" charset="0"/>
            </a:endParaRPr>
          </a:p>
          <a:p>
            <a:r>
              <a:rPr lang="en-US" sz="1600" dirty="0" smtClean="0">
                <a:latin typeface="Arial" pitchFamily="34" charset="0"/>
                <a:cs typeface="Arial" pitchFamily="34" charset="0"/>
              </a:rPr>
              <a:t>That is why while issuing a policy premium is always estimated premium which is audited later on to get the final premium.</a:t>
            </a:r>
          </a:p>
          <a:p>
            <a:endParaRPr lang="en-US" dirty="0">
              <a:latin typeface="Arial" pitchFamily="34" charset="0"/>
              <a:cs typeface="Arial"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28600"/>
            <a:ext cx="5105400" cy="646331"/>
          </a:xfrm>
          <a:prstGeom prst="rect">
            <a:avLst/>
          </a:prstGeom>
          <a:noFill/>
        </p:spPr>
        <p:txBody>
          <a:bodyPr wrap="square" rtlCol="0">
            <a:spAutoFit/>
          </a:bodyPr>
          <a:lstStyle/>
          <a:p>
            <a:r>
              <a:rPr lang="en-US" b="1" dirty="0" smtClean="0">
                <a:solidFill>
                  <a:schemeClr val="bg1"/>
                </a:solidFill>
                <a:latin typeface="Arial" pitchFamily="34" charset="0"/>
                <a:cs typeface="Arial" pitchFamily="34" charset="0"/>
              </a:rPr>
              <a:t>Payroll Audit (Cont…)</a:t>
            </a:r>
          </a:p>
          <a:p>
            <a:endParaRPr lang="en-US" dirty="0">
              <a:latin typeface="Arial" pitchFamily="34" charset="0"/>
              <a:cs typeface="Arial" pitchFamily="34" charset="0"/>
            </a:endParaRPr>
          </a:p>
        </p:txBody>
      </p:sp>
      <p:sp>
        <p:nvSpPr>
          <p:cNvPr id="3" name="TextBox 2"/>
          <p:cNvSpPr txBox="1"/>
          <p:nvPr/>
        </p:nvSpPr>
        <p:spPr>
          <a:xfrm>
            <a:off x="228600" y="1143000"/>
            <a:ext cx="8610600" cy="3046988"/>
          </a:xfrm>
          <a:prstGeom prst="rect">
            <a:avLst/>
          </a:prstGeom>
          <a:noFill/>
        </p:spPr>
        <p:txBody>
          <a:bodyPr wrap="square" rtlCol="0">
            <a:spAutoFit/>
          </a:bodyPr>
          <a:lstStyle/>
          <a:p>
            <a:r>
              <a:rPr lang="en-US" sz="1600" dirty="0" smtClean="0">
                <a:latin typeface="Arial" pitchFamily="34" charset="0"/>
                <a:cs typeface="Arial" pitchFamily="34" charset="0"/>
              </a:rPr>
              <a:t>Audit frequencies assigned for Workers’ Compensation policies are:</a:t>
            </a:r>
          </a:p>
          <a:p>
            <a:endParaRPr lang="en-US" sz="1600" dirty="0" smtClean="0">
              <a:latin typeface="Arial" pitchFamily="34" charset="0"/>
              <a:cs typeface="Arial" pitchFamily="34" charset="0"/>
            </a:endParaRPr>
          </a:p>
          <a:p>
            <a:pPr marL="287338" indent="-287338">
              <a:buFont typeface="Wingdings" pitchFamily="2" charset="2"/>
              <a:buChar char="Ø"/>
            </a:pPr>
            <a:r>
              <a:rPr lang="en-US" sz="1600" dirty="0" smtClean="0">
                <a:latin typeface="Arial" pitchFamily="34" charset="0"/>
                <a:cs typeface="Arial" pitchFamily="34" charset="0"/>
              </a:rPr>
              <a:t> Annual </a:t>
            </a:r>
          </a:p>
          <a:p>
            <a:pPr marL="287338" indent="-287338">
              <a:buFont typeface="Wingdings" pitchFamily="2" charset="2"/>
              <a:buChar char="Ø"/>
            </a:pPr>
            <a:endParaRPr lang="en-US" sz="1600" dirty="0" smtClean="0">
              <a:latin typeface="Arial" pitchFamily="34" charset="0"/>
              <a:cs typeface="Arial" pitchFamily="34" charset="0"/>
            </a:endParaRPr>
          </a:p>
          <a:p>
            <a:pPr marL="287338" indent="-287338">
              <a:buFont typeface="Wingdings" pitchFamily="2" charset="2"/>
              <a:buChar char="Ø"/>
            </a:pPr>
            <a:r>
              <a:rPr lang="en-US" sz="1600" dirty="0" smtClean="0">
                <a:latin typeface="Arial" pitchFamily="34" charset="0"/>
                <a:cs typeface="Arial" pitchFamily="34" charset="0"/>
              </a:rPr>
              <a:t> Monthly</a:t>
            </a:r>
          </a:p>
          <a:p>
            <a:pPr marL="287338" indent="-287338">
              <a:buFont typeface="Wingdings" pitchFamily="2" charset="2"/>
              <a:buChar char="Ø"/>
            </a:pPr>
            <a:endParaRPr lang="en-US" sz="1600" dirty="0" smtClean="0">
              <a:latin typeface="Arial" pitchFamily="34" charset="0"/>
              <a:cs typeface="Arial" pitchFamily="34" charset="0"/>
            </a:endParaRPr>
          </a:p>
          <a:p>
            <a:pPr marL="287338" indent="-287338">
              <a:buFont typeface="Wingdings" pitchFamily="2" charset="2"/>
              <a:buChar char="Ø"/>
            </a:pPr>
            <a:r>
              <a:rPr lang="en-US" sz="1600" dirty="0" smtClean="0">
                <a:latin typeface="Arial" pitchFamily="34" charset="0"/>
                <a:cs typeface="Arial" pitchFamily="34" charset="0"/>
              </a:rPr>
              <a:t> Quarterly</a:t>
            </a:r>
          </a:p>
          <a:p>
            <a:pPr marL="287338" indent="-287338">
              <a:buFont typeface="Wingdings" pitchFamily="2" charset="2"/>
              <a:buChar char="Ø"/>
            </a:pPr>
            <a:endParaRPr lang="en-US" sz="1600" dirty="0" smtClean="0">
              <a:latin typeface="Arial" pitchFamily="34" charset="0"/>
              <a:cs typeface="Arial" pitchFamily="34" charset="0"/>
            </a:endParaRPr>
          </a:p>
          <a:p>
            <a:pPr marL="287338" indent="-287338">
              <a:buFont typeface="Wingdings" pitchFamily="2" charset="2"/>
              <a:buChar char="Ø"/>
            </a:pPr>
            <a:r>
              <a:rPr lang="en-US" sz="1600" dirty="0" smtClean="0">
                <a:latin typeface="Arial" pitchFamily="34" charset="0"/>
                <a:cs typeface="Arial" pitchFamily="34" charset="0"/>
              </a:rPr>
              <a:t> Semi-annual</a:t>
            </a:r>
          </a:p>
          <a:p>
            <a:pPr marL="287338" indent="-287338">
              <a:buFont typeface="Wingdings" pitchFamily="2" charset="2"/>
              <a:buChar char="Ø"/>
            </a:pPr>
            <a:endParaRPr lang="en-US" sz="1600" dirty="0" smtClean="0">
              <a:latin typeface="Arial" pitchFamily="34" charset="0"/>
              <a:cs typeface="Arial" pitchFamily="34" charset="0"/>
            </a:endParaRPr>
          </a:p>
          <a:p>
            <a:pPr marL="287338" indent="-287338"/>
            <a:r>
              <a:rPr lang="en-US" sz="1600" dirty="0" smtClean="0">
                <a:latin typeface="Arial" pitchFamily="34" charset="0"/>
                <a:cs typeface="Arial" pitchFamily="34" charset="0"/>
              </a:rPr>
              <a:t>	Monthly, Quarterly &amp; Semi-annual audits are also called </a:t>
            </a:r>
            <a:r>
              <a:rPr lang="en-US" sz="1600" b="1" dirty="0" smtClean="0">
                <a:latin typeface="Arial" pitchFamily="34" charset="0"/>
                <a:cs typeface="Arial" pitchFamily="34" charset="0"/>
              </a:rPr>
              <a:t>“Interim Audit”</a:t>
            </a:r>
            <a:r>
              <a:rPr lang="en-US" sz="1600" dirty="0" smtClean="0">
                <a:latin typeface="Arial" pitchFamily="34" charset="0"/>
                <a:cs typeface="Arial" pitchFamily="34" charset="0"/>
              </a:rPr>
              <a:t> where as Annual audit is also called </a:t>
            </a:r>
            <a:r>
              <a:rPr lang="en-US" sz="1600" b="1" dirty="0" smtClean="0">
                <a:latin typeface="Arial" pitchFamily="34" charset="0"/>
                <a:cs typeface="Arial" pitchFamily="34" charset="0"/>
              </a:rPr>
              <a:t>“Final”</a:t>
            </a:r>
            <a:r>
              <a:rPr lang="en-US" sz="1600" dirty="0" smtClean="0">
                <a:latin typeface="Arial" pitchFamily="34" charset="0"/>
                <a:cs typeface="Arial" pitchFamily="34" charset="0"/>
              </a:rPr>
              <a:t> audit. </a:t>
            </a:r>
            <a:endParaRPr lang="en-US" sz="1600" dirty="0">
              <a:latin typeface="Arial" pitchFamily="34" charset="0"/>
              <a:cs typeface="Arial"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8077200" cy="5016758"/>
          </a:xfrm>
          <a:prstGeom prst="rect">
            <a:avLst/>
          </a:prstGeom>
          <a:noFill/>
        </p:spPr>
        <p:txBody>
          <a:bodyPr wrap="square" rtlCol="0">
            <a:spAutoFit/>
          </a:bodyPr>
          <a:lstStyle/>
          <a:p>
            <a:r>
              <a:rPr lang="en-US" sz="1600" b="1" dirty="0" smtClean="0">
                <a:latin typeface="Arial" pitchFamily="34" charset="0"/>
                <a:cs typeface="Arial" pitchFamily="34" charset="0"/>
              </a:rPr>
              <a:t>Audit Functions:</a:t>
            </a:r>
          </a:p>
          <a:p>
            <a:r>
              <a:rPr lang="en-US" sz="1600" dirty="0" smtClean="0">
                <a:latin typeface="Arial" pitchFamily="34" charset="0"/>
                <a:cs typeface="Arial" pitchFamily="34" charset="0"/>
              </a:rPr>
              <a:t>At the time of performing audit on the Workers Compensation policy, an auditor has the option to perform the following functions on the policy:-</a:t>
            </a:r>
          </a:p>
          <a:p>
            <a:endParaRPr lang="en-US" sz="1600" b="1" dirty="0" smtClean="0">
              <a:latin typeface="Arial" pitchFamily="34" charset="0"/>
              <a:cs typeface="Arial" pitchFamily="34" charset="0"/>
            </a:endParaRPr>
          </a:p>
          <a:p>
            <a:pPr marL="395288" indent="-395288">
              <a:buFont typeface="Wingdings" pitchFamily="2" charset="2"/>
              <a:buChar char="Ø"/>
            </a:pPr>
            <a:r>
              <a:rPr lang="en-US" sz="1600" b="1" dirty="0" smtClean="0">
                <a:latin typeface="Arial" pitchFamily="34" charset="0"/>
                <a:cs typeface="Arial" pitchFamily="34" charset="0"/>
              </a:rPr>
              <a:t>Update Payroll</a:t>
            </a:r>
            <a:r>
              <a:rPr lang="en-US" sz="1600" dirty="0" smtClean="0">
                <a:latin typeface="Arial" pitchFamily="34" charset="0"/>
                <a:cs typeface="Arial" pitchFamily="34" charset="0"/>
              </a:rPr>
              <a:t>:- Under this the auditor updates the payroll recorded on the policy and the premium is adjusted according to the same. If payroll have been underestimated, this will result in additional billing &amp; if payroll have been overestimated, a billing credit will result.</a:t>
            </a:r>
          </a:p>
          <a:p>
            <a:pPr marL="395288" indent="-395288">
              <a:buFont typeface="Wingdings" pitchFamily="2" charset="2"/>
              <a:buChar char="Ø"/>
            </a:pPr>
            <a:endParaRPr lang="en-US" sz="1600" dirty="0" smtClean="0">
              <a:latin typeface="Arial" pitchFamily="34" charset="0"/>
              <a:cs typeface="Arial" pitchFamily="34" charset="0"/>
            </a:endParaRPr>
          </a:p>
          <a:p>
            <a:pPr marL="395288" indent="-395288">
              <a:buFont typeface="Wingdings" pitchFamily="2" charset="2"/>
              <a:buChar char="Ø"/>
            </a:pPr>
            <a:r>
              <a:rPr lang="en-US" sz="1600" b="1" dirty="0" smtClean="0">
                <a:latin typeface="Arial" pitchFamily="34" charset="0"/>
                <a:cs typeface="Arial" pitchFamily="34" charset="0"/>
              </a:rPr>
              <a:t>Accepting Estimates:-  </a:t>
            </a:r>
            <a:r>
              <a:rPr lang="en-US" sz="1600" dirty="0" smtClean="0">
                <a:latin typeface="Arial" pitchFamily="34" charset="0"/>
                <a:cs typeface="Arial" pitchFamily="34" charset="0"/>
              </a:rPr>
              <a:t>Under this the auditor user the previously entered payroll estimates as the basis of the final audit recalculation. In this case here is no premium change.</a:t>
            </a:r>
          </a:p>
          <a:p>
            <a:pPr marL="395288" indent="-395288">
              <a:buFont typeface="Wingdings" pitchFamily="2" charset="2"/>
              <a:buChar char="Ø"/>
            </a:pPr>
            <a:endParaRPr lang="en-US" sz="1600" dirty="0" smtClean="0">
              <a:latin typeface="Arial" pitchFamily="34" charset="0"/>
              <a:cs typeface="Arial" pitchFamily="34" charset="0"/>
            </a:endParaRPr>
          </a:p>
          <a:p>
            <a:pPr marL="395288" lvl="0" indent="-395288">
              <a:buFont typeface="Wingdings" pitchFamily="2" charset="2"/>
              <a:buChar char="Ø"/>
            </a:pPr>
            <a:r>
              <a:rPr lang="en-US" sz="1600" b="1" dirty="0" smtClean="0">
                <a:latin typeface="Arial" pitchFamily="34" charset="0"/>
                <a:cs typeface="Arial" pitchFamily="34" charset="0"/>
              </a:rPr>
              <a:t>Waive Audit :- </a:t>
            </a:r>
            <a:r>
              <a:rPr lang="en-US" sz="1600" dirty="0" smtClean="0">
                <a:latin typeface="Arial" pitchFamily="34" charset="0"/>
                <a:cs typeface="Arial" pitchFamily="34" charset="0"/>
              </a:rPr>
              <a:t>Under this the auditor can waive off the audit for a particular policy. It may happen in cases which involve a small premium amount. In order to save the audit cost, it can be waived off</a:t>
            </a:r>
          </a:p>
          <a:p>
            <a:pPr marL="395288" indent="-395288">
              <a:buFont typeface="Wingdings" pitchFamily="2" charset="2"/>
              <a:buChar char="Ø"/>
            </a:pPr>
            <a:endParaRPr lang="en-US" sz="1600" dirty="0" smtClean="0">
              <a:latin typeface="Arial" pitchFamily="34" charset="0"/>
              <a:cs typeface="Arial" pitchFamily="34" charset="0"/>
            </a:endParaRPr>
          </a:p>
          <a:p>
            <a:pPr marL="395288" indent="-395288">
              <a:buFont typeface="Wingdings" pitchFamily="2" charset="2"/>
              <a:buChar char="Ø"/>
            </a:pPr>
            <a:r>
              <a:rPr lang="en-US" sz="1600" b="1" dirty="0" smtClean="0">
                <a:latin typeface="Arial" pitchFamily="34" charset="0"/>
                <a:cs typeface="Arial" pitchFamily="34" charset="0"/>
              </a:rPr>
              <a:t>Update Premium</a:t>
            </a:r>
            <a:r>
              <a:rPr lang="en-US" sz="1600" dirty="0" smtClean="0">
                <a:latin typeface="Arial" pitchFamily="34" charset="0"/>
                <a:cs typeface="Arial" pitchFamily="34" charset="0"/>
              </a:rPr>
              <a:t>:- Under this the auditor updates the premium recorded on the policy and the payroll is not adjusted.</a:t>
            </a:r>
          </a:p>
          <a:p>
            <a:pPr marL="395288" indent="-395288">
              <a:buFont typeface="Wingdings" pitchFamily="2" charset="2"/>
              <a:buChar char="Ø"/>
            </a:pPr>
            <a:endParaRPr lang="en-US" sz="1600" dirty="0" smtClean="0">
              <a:latin typeface="Arial" pitchFamily="34" charset="0"/>
              <a:cs typeface="Arial" pitchFamily="34" charset="0"/>
            </a:endParaRPr>
          </a:p>
        </p:txBody>
      </p:sp>
      <p:sp>
        <p:nvSpPr>
          <p:cNvPr id="3" name="TextBox 2"/>
          <p:cNvSpPr txBox="1"/>
          <p:nvPr/>
        </p:nvSpPr>
        <p:spPr>
          <a:xfrm>
            <a:off x="0" y="228600"/>
            <a:ext cx="5105400" cy="646331"/>
          </a:xfrm>
          <a:prstGeom prst="rect">
            <a:avLst/>
          </a:prstGeom>
          <a:noFill/>
        </p:spPr>
        <p:txBody>
          <a:bodyPr wrap="square" rtlCol="0">
            <a:spAutoFit/>
          </a:bodyPr>
          <a:lstStyle/>
          <a:p>
            <a:r>
              <a:rPr lang="en-US" b="1" dirty="0" smtClean="0">
                <a:solidFill>
                  <a:schemeClr val="bg1"/>
                </a:solidFill>
                <a:latin typeface="Arial" pitchFamily="34" charset="0"/>
                <a:cs typeface="Arial" pitchFamily="34" charset="0"/>
              </a:rPr>
              <a:t>Payroll Audit (Cont…)</a:t>
            </a:r>
          </a:p>
          <a:p>
            <a:endParaRPr lang="en-US" dirty="0">
              <a:latin typeface="Arial" pitchFamily="34" charset="0"/>
              <a:cs typeface="Arial"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304800"/>
            <a:ext cx="5943600" cy="369332"/>
          </a:xfrm>
          <a:prstGeom prst="rect">
            <a:avLst/>
          </a:prstGeom>
          <a:noFill/>
        </p:spPr>
        <p:txBody>
          <a:bodyPr wrap="square" rtlCol="0">
            <a:spAutoFit/>
          </a:bodyPr>
          <a:lstStyle/>
          <a:p>
            <a:r>
              <a:rPr lang="en-US" b="1" dirty="0" smtClean="0">
                <a:solidFill>
                  <a:schemeClr val="bg1"/>
                </a:solidFill>
                <a:latin typeface="Arial" pitchFamily="34" charset="0"/>
                <a:cs typeface="Arial" pitchFamily="34" charset="0"/>
              </a:rPr>
              <a:t>Workers Compensation Algorithm</a:t>
            </a:r>
            <a:endParaRPr lang="en-US" b="1" dirty="0">
              <a:solidFill>
                <a:schemeClr val="bg1"/>
              </a:solidFill>
              <a:latin typeface="Arial" pitchFamily="34" charset="0"/>
              <a:cs typeface="Arial" pitchFamily="34" charset="0"/>
            </a:endParaRPr>
          </a:p>
        </p:txBody>
      </p:sp>
      <p:sp>
        <p:nvSpPr>
          <p:cNvPr id="3" name="TextBox 2"/>
          <p:cNvSpPr txBox="1"/>
          <p:nvPr/>
        </p:nvSpPr>
        <p:spPr>
          <a:xfrm>
            <a:off x="304800" y="1219200"/>
            <a:ext cx="8229600" cy="4918269"/>
          </a:xfrm>
          <a:prstGeom prst="rect">
            <a:avLst/>
          </a:prstGeom>
          <a:noFill/>
        </p:spPr>
        <p:txBody>
          <a:bodyPr wrap="square" rtlCol="0">
            <a:spAutoFit/>
          </a:bodyPr>
          <a:lstStyle/>
          <a:p>
            <a:pPr marL="342900" indent="-342900">
              <a:spcBef>
                <a:spcPct val="20000"/>
              </a:spcBef>
              <a:buFont typeface="Wingdings" pitchFamily="2" charset="2"/>
              <a:buChar char="Ø"/>
            </a:pPr>
            <a:r>
              <a:rPr lang="en-US" sz="1600" dirty="0" smtClean="0">
                <a:latin typeface="Arial" pitchFamily="34" charset="0"/>
                <a:cs typeface="Arial" pitchFamily="34" charset="0"/>
              </a:rPr>
              <a:t>While calculating the premium of a policy, Algorithm for that particular state has always been taken care of.</a:t>
            </a:r>
          </a:p>
          <a:p>
            <a:pPr marL="342900" indent="-342900">
              <a:spcBef>
                <a:spcPct val="20000"/>
              </a:spcBef>
              <a:buFont typeface="Wingdings" pitchFamily="2" charset="2"/>
              <a:buChar char="Ø"/>
            </a:pPr>
            <a:endParaRPr lang="en-US" sz="1600" dirty="0" smtClean="0">
              <a:latin typeface="Arial" pitchFamily="34" charset="0"/>
              <a:cs typeface="Arial" pitchFamily="34" charset="0"/>
            </a:endParaRPr>
          </a:p>
          <a:p>
            <a:pPr marL="342900" indent="-342900">
              <a:spcBef>
                <a:spcPct val="20000"/>
              </a:spcBef>
              <a:buFont typeface="Wingdings" pitchFamily="2" charset="2"/>
              <a:buChar char="Ø"/>
            </a:pPr>
            <a:r>
              <a:rPr lang="en-US" sz="1600" dirty="0" smtClean="0">
                <a:latin typeface="Arial" pitchFamily="34" charset="0"/>
                <a:cs typeface="Arial" pitchFamily="34" charset="0"/>
              </a:rPr>
              <a:t>Premium Algorithm comprises of 4 different components which are in subtle order and cumulatively arrive at the Estimated Annual premium.</a:t>
            </a:r>
          </a:p>
          <a:p>
            <a:pPr marL="342900" indent="-342900">
              <a:spcBef>
                <a:spcPct val="20000"/>
              </a:spcBef>
              <a:buClr>
                <a:srgbClr val="C00000"/>
              </a:buClr>
              <a:buFont typeface="Wingdings" pitchFamily="2" charset="2"/>
              <a:buChar char="v"/>
            </a:pPr>
            <a:endParaRPr lang="en-US" sz="1600" dirty="0" smtClean="0">
              <a:latin typeface="Arial" pitchFamily="34" charset="0"/>
              <a:cs typeface="Arial" pitchFamily="34" charset="0"/>
            </a:endParaRPr>
          </a:p>
          <a:p>
            <a:pPr marL="342900" indent="-342900"/>
            <a:r>
              <a:rPr lang="en-IN" sz="1600" b="1" dirty="0" smtClean="0">
                <a:latin typeface="Arial" pitchFamily="34" charset="0"/>
                <a:cs typeface="Arial" pitchFamily="34" charset="0"/>
              </a:rPr>
              <a:t>	4 Components of Premium computation flowchart:</a:t>
            </a:r>
          </a:p>
          <a:p>
            <a:pPr marL="342900" indent="-342900"/>
            <a:endParaRPr lang="en-US" sz="1600" dirty="0" smtClean="0">
              <a:latin typeface="Arial" pitchFamily="34" charset="0"/>
              <a:cs typeface="Arial" pitchFamily="34" charset="0"/>
            </a:endParaRPr>
          </a:p>
          <a:p>
            <a:pPr marL="342900" indent="-342900">
              <a:buFont typeface="Wingdings" pitchFamily="2" charset="2"/>
              <a:buChar char="Ø"/>
            </a:pPr>
            <a:r>
              <a:rPr lang="en-US" sz="1600" dirty="0" smtClean="0">
                <a:latin typeface="Arial" pitchFamily="34" charset="0"/>
                <a:cs typeface="Arial" pitchFamily="34" charset="0"/>
              </a:rPr>
              <a:t>    Manual Premium</a:t>
            </a:r>
          </a:p>
          <a:p>
            <a:pPr marL="342900" indent="-342900">
              <a:buFont typeface="Wingdings" pitchFamily="2" charset="2"/>
              <a:buChar char="Ø"/>
            </a:pPr>
            <a:endParaRPr lang="en-US" sz="1600" dirty="0" smtClean="0">
              <a:latin typeface="Arial" pitchFamily="34" charset="0"/>
              <a:cs typeface="Arial" pitchFamily="34" charset="0"/>
            </a:endParaRPr>
          </a:p>
          <a:p>
            <a:pPr marL="342900" indent="-342900">
              <a:buFont typeface="Wingdings" pitchFamily="2" charset="2"/>
              <a:buChar char="Ø"/>
            </a:pPr>
            <a:r>
              <a:rPr lang="en-US" sz="1600" dirty="0" smtClean="0">
                <a:latin typeface="Arial" pitchFamily="34" charset="0"/>
                <a:cs typeface="Arial" pitchFamily="34" charset="0"/>
              </a:rPr>
              <a:t>    Subject Premium</a:t>
            </a:r>
          </a:p>
          <a:p>
            <a:pPr marL="342900" indent="-342900">
              <a:buFont typeface="Wingdings" pitchFamily="2" charset="2"/>
              <a:buChar char="Ø"/>
            </a:pPr>
            <a:endParaRPr lang="en-US" sz="1600" dirty="0" smtClean="0">
              <a:latin typeface="Arial" pitchFamily="34" charset="0"/>
              <a:cs typeface="Arial" pitchFamily="34" charset="0"/>
            </a:endParaRPr>
          </a:p>
          <a:p>
            <a:pPr marL="342900" indent="-342900">
              <a:buFont typeface="Wingdings" pitchFamily="2" charset="2"/>
              <a:buChar char="Ø"/>
            </a:pPr>
            <a:r>
              <a:rPr lang="en-US" sz="1600" dirty="0" smtClean="0">
                <a:latin typeface="Arial" pitchFamily="34" charset="0"/>
                <a:cs typeface="Arial" pitchFamily="34" charset="0"/>
              </a:rPr>
              <a:t>    Modified Premium</a:t>
            </a:r>
          </a:p>
          <a:p>
            <a:pPr marL="342900" indent="-342900">
              <a:buFont typeface="Wingdings" pitchFamily="2" charset="2"/>
              <a:buChar char="Ø"/>
            </a:pPr>
            <a:endParaRPr lang="en-US" sz="1600" dirty="0" smtClean="0">
              <a:latin typeface="Arial" pitchFamily="34" charset="0"/>
              <a:cs typeface="Arial" pitchFamily="34" charset="0"/>
            </a:endParaRPr>
          </a:p>
          <a:p>
            <a:pPr marL="342900" indent="-342900">
              <a:buFont typeface="Wingdings" pitchFamily="2" charset="2"/>
              <a:buChar char="Ø"/>
            </a:pPr>
            <a:r>
              <a:rPr lang="en-US" sz="1600" dirty="0" smtClean="0">
                <a:latin typeface="Arial" pitchFamily="34" charset="0"/>
                <a:cs typeface="Arial" pitchFamily="34" charset="0"/>
              </a:rPr>
              <a:t>    Standard Premium</a:t>
            </a:r>
          </a:p>
          <a:p>
            <a:pPr marL="342900" indent="-342900"/>
            <a:endParaRPr lang="en-US" sz="1600" dirty="0" smtClean="0">
              <a:latin typeface="Arial" pitchFamily="34" charset="0"/>
              <a:cs typeface="Arial" pitchFamily="34" charset="0"/>
            </a:endParaRPr>
          </a:p>
          <a:p>
            <a:pPr marL="573088" indent="-573088"/>
            <a:r>
              <a:rPr lang="en-US" sz="1600" dirty="0" smtClean="0">
                <a:latin typeface="Arial" pitchFamily="34" charset="0"/>
                <a:cs typeface="Arial" pitchFamily="34" charset="0"/>
              </a:rPr>
              <a:t>		&amp; these adds up to</a:t>
            </a:r>
          </a:p>
          <a:p>
            <a:r>
              <a:rPr lang="en-US" sz="1600" dirty="0" smtClean="0">
                <a:latin typeface="Arial" pitchFamily="34" charset="0"/>
                <a:cs typeface="Arial" pitchFamily="34" charset="0"/>
              </a:rPr>
              <a:t>            Estimated Annual Premium</a:t>
            </a:r>
          </a:p>
          <a:p>
            <a:pPr marL="573088" indent="-573088"/>
            <a:r>
              <a:rPr lang="en-US" sz="1600" dirty="0" smtClean="0">
                <a:latin typeface="Arial" pitchFamily="34" charset="0"/>
                <a:cs typeface="Arial" pitchFamily="34" charset="0"/>
              </a:rPr>
              <a:t>	</a:t>
            </a:r>
            <a:endParaRPr lang="en-US"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Group 54"/>
          <p:cNvGraphicFramePr>
            <a:graphicFrameLocks noGrp="1"/>
          </p:cNvGraphicFramePr>
          <p:nvPr>
            <p:extLst>
              <p:ext uri="{D42A27DB-BD31-4B8C-83A1-F6EECF244321}">
                <p14:modId xmlns:p14="http://schemas.microsoft.com/office/powerpoint/2010/main" val="617939854"/>
              </p:ext>
            </p:extLst>
          </p:nvPr>
        </p:nvGraphicFramePr>
        <p:xfrm>
          <a:off x="457200" y="1905000"/>
          <a:ext cx="8229600" cy="3733800"/>
        </p:xfrm>
        <a:graphic>
          <a:graphicData uri="http://schemas.openxmlformats.org/drawingml/2006/table">
            <a:tbl>
              <a:tblPr>
                <a:tableStyleId>{3C2FFA5D-87B4-456A-9821-1D502468CF0F}</a:tableStyleId>
              </a:tblPr>
              <a:tblGrid>
                <a:gridCol w="4038600"/>
                <a:gridCol w="4191000"/>
              </a:tblGrid>
              <a:tr h="746760">
                <a:tc>
                  <a:txBody>
                    <a:bodyPr/>
                    <a:lstStyle/>
                    <a:p>
                      <a:pPr marL="342900" marR="0" lvl="0" indent="-342900" algn="ctr" defTabSz="914400" rtl="0" eaLnBrk="0" fontAlgn="b" latinLnBrk="0" hangingPunct="0">
                        <a:lnSpc>
                          <a:spcPct val="100000"/>
                        </a:lnSpc>
                        <a:spcBef>
                          <a:spcPct val="0"/>
                        </a:spcBef>
                        <a:spcAft>
                          <a:spcPct val="0"/>
                        </a:spcAft>
                        <a:buClrTx/>
                        <a:buSzTx/>
                        <a:buFont typeface="Arial" pitchFamily="34" charset="0"/>
                        <a:buNone/>
                        <a:tabLst/>
                      </a:pPr>
                      <a:r>
                        <a:rPr kumimoji="0" lang="en-US" sz="1000" u="none" strike="noStrike" cap="none" normalizeH="0" baseline="0" dirty="0" smtClean="0">
                          <a:ln>
                            <a:noFill/>
                          </a:ln>
                          <a:effectLst/>
                        </a:rPr>
                        <a:t>PREMIUM ELEMENTS </a:t>
                      </a:r>
                      <a:endParaRPr kumimoji="0" lang="en-US" sz="1800" b="0" i="0" u="none" strike="noStrike" cap="none" normalizeH="0" baseline="0" dirty="0" smtClean="0">
                        <a:ln>
                          <a:noFill/>
                        </a:ln>
                        <a:solidFill>
                          <a:schemeClr val="tx1"/>
                        </a:solidFill>
                        <a:effectLst/>
                        <a:latin typeface="Calibri" pitchFamily="34" charset="0"/>
                      </a:endParaRPr>
                    </a:p>
                  </a:txBody>
                  <a:tcPr anchor="ctr" horzOverflow="overflow"/>
                </a:tc>
                <a:tc>
                  <a:txBody>
                    <a:bodyPr/>
                    <a:lstStyle/>
                    <a:p>
                      <a:pPr marL="342900" marR="0" lvl="0" indent="-342900" algn="ctr" defTabSz="914400" rtl="0" eaLnBrk="0" fontAlgn="b" latinLnBrk="0" hangingPunct="0">
                        <a:lnSpc>
                          <a:spcPct val="100000"/>
                        </a:lnSpc>
                        <a:spcBef>
                          <a:spcPct val="0"/>
                        </a:spcBef>
                        <a:spcAft>
                          <a:spcPct val="0"/>
                        </a:spcAft>
                        <a:buClrTx/>
                        <a:buSzTx/>
                        <a:buFont typeface="Arial" pitchFamily="34" charset="0"/>
                        <a:buNone/>
                        <a:tabLst/>
                      </a:pPr>
                      <a:r>
                        <a:rPr kumimoji="0" lang="en-US" sz="1000" u="none" strike="noStrike" cap="none" normalizeH="0" baseline="0" dirty="0" smtClean="0">
                          <a:ln>
                            <a:noFill/>
                          </a:ln>
                          <a:effectLst/>
                        </a:rPr>
                        <a:t>EXPLANATORY NOTES</a:t>
                      </a:r>
                      <a:endParaRPr kumimoji="0" lang="en-US" sz="1800" b="0" i="0" u="none" strike="noStrike" cap="none" normalizeH="0" baseline="0" dirty="0" smtClean="0">
                        <a:ln>
                          <a:noFill/>
                        </a:ln>
                        <a:solidFill>
                          <a:schemeClr val="tx1"/>
                        </a:solidFill>
                        <a:effectLst/>
                        <a:latin typeface="Calibri" pitchFamily="34" charset="0"/>
                      </a:endParaRPr>
                    </a:p>
                  </a:txBody>
                  <a:tcPr anchor="ctr" horzOverflow="overflow"/>
                </a:tc>
              </a:tr>
              <a:tr h="746760">
                <a:tc>
                  <a:txBody>
                    <a:bodyPr/>
                    <a:lstStyle/>
                    <a:p>
                      <a:pPr marL="342900" marR="0" lvl="0" indent="-342900" algn="l" defTabSz="914400" rtl="0" eaLnBrk="0" fontAlgn="b" latinLnBrk="0" hangingPunct="0">
                        <a:lnSpc>
                          <a:spcPct val="100000"/>
                        </a:lnSpc>
                        <a:spcBef>
                          <a:spcPct val="0"/>
                        </a:spcBef>
                        <a:spcAft>
                          <a:spcPct val="0"/>
                        </a:spcAft>
                        <a:buClrTx/>
                        <a:buSzTx/>
                        <a:buFont typeface="Arial" pitchFamily="34" charset="0"/>
                        <a:buNone/>
                        <a:tabLst/>
                      </a:pPr>
                      <a:r>
                        <a:rPr kumimoji="0" lang="en-US" sz="1200" u="none" strike="noStrike" cap="none" normalizeH="0" baseline="0" dirty="0" smtClean="0">
                          <a:ln>
                            <a:noFill/>
                          </a:ln>
                          <a:effectLst/>
                        </a:rPr>
                        <a:t>MANUAL PREMIUM </a:t>
                      </a:r>
                      <a:endParaRPr kumimoji="0" lang="en-US" sz="1200" b="0" i="0" u="none" strike="noStrike" cap="none" normalizeH="0" baseline="0" dirty="0" smtClean="0">
                        <a:ln>
                          <a:noFill/>
                        </a:ln>
                        <a:solidFill>
                          <a:schemeClr val="tx1"/>
                        </a:solidFill>
                        <a:effectLst/>
                        <a:latin typeface="Calibri" pitchFamily="34" charset="0"/>
                      </a:endParaRPr>
                    </a:p>
                  </a:txBody>
                  <a:tcPr anchor="ctr" horzOverflow="overflow"/>
                </a:tc>
                <a:tc>
                  <a:txBody>
                    <a:bodyPr/>
                    <a:lstStyle/>
                    <a:p>
                      <a:pPr marL="342900" marR="0" lvl="0" indent="-342900" algn="l" defTabSz="914400" rtl="0" eaLnBrk="0" fontAlgn="b" latinLnBrk="0" hangingPunct="0">
                        <a:lnSpc>
                          <a:spcPct val="100000"/>
                        </a:lnSpc>
                        <a:spcBef>
                          <a:spcPct val="0"/>
                        </a:spcBef>
                        <a:spcAft>
                          <a:spcPct val="0"/>
                        </a:spcAft>
                        <a:buClrTx/>
                        <a:buSzTx/>
                        <a:buFont typeface="Arial" pitchFamily="34" charset="0"/>
                        <a:buNone/>
                        <a:tabLst/>
                      </a:pPr>
                      <a:r>
                        <a:rPr kumimoji="0" lang="en-US" sz="1200" u="none" strike="noStrike" cap="none" normalizeH="0" baseline="0" dirty="0" smtClean="0">
                          <a:ln>
                            <a:noFill/>
                          </a:ln>
                          <a:effectLst/>
                        </a:rPr>
                        <a:t>[(PAYROLL / 100) * RATE]</a:t>
                      </a:r>
                      <a:endParaRPr kumimoji="0" lang="en-US" sz="1200" b="0" i="0" u="none" strike="noStrike" cap="none" normalizeH="0" baseline="0" dirty="0" smtClean="0">
                        <a:ln>
                          <a:noFill/>
                        </a:ln>
                        <a:solidFill>
                          <a:schemeClr val="tx1"/>
                        </a:solidFill>
                        <a:effectLst/>
                        <a:latin typeface="Calibri" pitchFamily="34" charset="0"/>
                      </a:endParaRPr>
                    </a:p>
                  </a:txBody>
                  <a:tcPr anchor="ctr" horzOverflow="overflow"/>
                </a:tc>
              </a:tr>
              <a:tr h="746760">
                <a:tc>
                  <a:txBody>
                    <a:bodyPr/>
                    <a:lstStyle/>
                    <a:p>
                      <a:pPr marL="342900" marR="0" lvl="0" indent="-342900" algn="l" defTabSz="914400" rtl="0" eaLnBrk="0" fontAlgn="b" latinLnBrk="0" hangingPunct="0">
                        <a:lnSpc>
                          <a:spcPct val="100000"/>
                        </a:lnSpc>
                        <a:spcBef>
                          <a:spcPct val="0"/>
                        </a:spcBef>
                        <a:spcAft>
                          <a:spcPct val="0"/>
                        </a:spcAft>
                        <a:buClrTx/>
                        <a:buSzTx/>
                        <a:buFont typeface="Arial" pitchFamily="34" charset="0"/>
                        <a:buNone/>
                        <a:tabLst/>
                      </a:pPr>
                      <a:r>
                        <a:rPr kumimoji="0" lang="en-US" sz="1200" u="none" strike="noStrike" cap="none" normalizeH="0" baseline="0" dirty="0" smtClean="0">
                          <a:ln>
                            <a:noFill/>
                          </a:ln>
                          <a:effectLst/>
                        </a:rPr>
                        <a:t>Supplementary Disease (foundry, abrasive, sandblasting) </a:t>
                      </a:r>
                      <a:endParaRPr kumimoji="0" lang="en-US" sz="1200" b="0" i="0" u="none" strike="noStrike" cap="none" normalizeH="0" baseline="0" dirty="0" smtClean="0">
                        <a:ln>
                          <a:noFill/>
                        </a:ln>
                        <a:solidFill>
                          <a:schemeClr val="tx1"/>
                        </a:solidFill>
                        <a:effectLst/>
                        <a:latin typeface="Calibri" pitchFamily="34" charset="0"/>
                      </a:endParaRPr>
                    </a:p>
                  </a:txBody>
                  <a:tcPr anchor="ctr" horzOverflow="overflow"/>
                </a:tc>
                <a:tc>
                  <a:txBody>
                    <a:bodyPr/>
                    <a:lstStyle/>
                    <a:p>
                      <a:pPr marL="342900" marR="0" lvl="0" indent="-342900" algn="l" defTabSz="914400" rtl="0" eaLnBrk="0" fontAlgn="b" latinLnBrk="0" hangingPunct="0">
                        <a:lnSpc>
                          <a:spcPct val="100000"/>
                        </a:lnSpc>
                        <a:spcBef>
                          <a:spcPct val="0"/>
                        </a:spcBef>
                        <a:spcAft>
                          <a:spcPct val="0"/>
                        </a:spcAft>
                        <a:buClrTx/>
                        <a:buSzTx/>
                        <a:buFont typeface="Arial" pitchFamily="34" charset="0"/>
                        <a:buNone/>
                        <a:tabLst/>
                      </a:pPr>
                      <a:r>
                        <a:rPr kumimoji="0" lang="en-US" sz="1200" u="none" strike="noStrike" cap="none" normalizeH="0" baseline="0" dirty="0" smtClean="0">
                          <a:ln>
                            <a:noFill/>
                          </a:ln>
                          <a:effectLst/>
                        </a:rPr>
                        <a:t>[(SUBJECT PAYROLL / 100) * DISEASE RATE]</a:t>
                      </a:r>
                      <a:endParaRPr kumimoji="0" lang="en-US" sz="1200" b="0" i="0" u="none" strike="noStrike" cap="none" normalizeH="0" baseline="0" dirty="0" smtClean="0">
                        <a:ln>
                          <a:noFill/>
                        </a:ln>
                        <a:solidFill>
                          <a:schemeClr val="tx1"/>
                        </a:solidFill>
                        <a:effectLst/>
                        <a:latin typeface="Calibri" pitchFamily="34" charset="0"/>
                      </a:endParaRPr>
                    </a:p>
                  </a:txBody>
                  <a:tcPr anchor="ctr" horzOverflow="overflow"/>
                </a:tc>
              </a:tr>
              <a:tr h="746760">
                <a:tc>
                  <a:txBody>
                    <a:bodyPr/>
                    <a:lstStyle/>
                    <a:p>
                      <a:pPr marL="342900" marR="0" lvl="0" indent="-342900" algn="l" defTabSz="914400" rtl="0" eaLnBrk="0" fontAlgn="b" latinLnBrk="0" hangingPunct="0">
                        <a:lnSpc>
                          <a:spcPct val="100000"/>
                        </a:lnSpc>
                        <a:spcBef>
                          <a:spcPct val="0"/>
                        </a:spcBef>
                        <a:spcAft>
                          <a:spcPct val="0"/>
                        </a:spcAft>
                        <a:buClrTx/>
                        <a:buSzTx/>
                        <a:buFont typeface="Arial" pitchFamily="34" charset="0"/>
                        <a:buNone/>
                        <a:tabLst/>
                      </a:pPr>
                      <a:r>
                        <a:rPr kumimoji="0" lang="en-US" sz="1200" u="none" strike="noStrike" cap="none" normalizeH="0" baseline="0" dirty="0" smtClean="0">
                          <a:ln>
                            <a:noFill/>
                          </a:ln>
                          <a:effectLst/>
                        </a:rPr>
                        <a:t>USL&amp;H Exposure for non-F classification codes </a:t>
                      </a:r>
                      <a:endParaRPr kumimoji="0" lang="en-US" sz="1200" b="0" i="0" u="none" strike="noStrike" cap="none" normalizeH="0" baseline="0" dirty="0" smtClean="0">
                        <a:ln>
                          <a:noFill/>
                        </a:ln>
                        <a:solidFill>
                          <a:schemeClr val="tx1"/>
                        </a:solidFill>
                        <a:effectLst/>
                        <a:latin typeface="Calibri" pitchFamily="34" charset="0"/>
                      </a:endParaRPr>
                    </a:p>
                  </a:txBody>
                  <a:tcPr anchor="ctr" horzOverflow="overflow"/>
                </a:tc>
                <a:tc>
                  <a:txBody>
                    <a:bodyPr/>
                    <a:lstStyle/>
                    <a:p>
                      <a:pPr marL="342900" marR="0" lvl="0" indent="-342900" algn="l" defTabSz="914400" rtl="0" eaLnBrk="0" fontAlgn="b" latinLnBrk="0" hangingPunct="0">
                        <a:lnSpc>
                          <a:spcPct val="100000"/>
                        </a:lnSpc>
                        <a:spcBef>
                          <a:spcPct val="0"/>
                        </a:spcBef>
                        <a:spcAft>
                          <a:spcPct val="0"/>
                        </a:spcAft>
                        <a:buClrTx/>
                        <a:buSzTx/>
                        <a:buFont typeface="Arial" pitchFamily="34" charset="0"/>
                        <a:buNone/>
                        <a:tabLst/>
                      </a:pPr>
                      <a:r>
                        <a:rPr kumimoji="0" lang="en-US" sz="1200" u="none" strike="noStrike" cap="none" normalizeH="0" baseline="0" dirty="0" smtClean="0">
                          <a:ln>
                            <a:noFill/>
                          </a:ln>
                          <a:effectLst/>
                        </a:rPr>
                        <a:t>[(SUBJECT PAYROLL / 100) * (RATE * USL&amp;H FACTOR)]</a:t>
                      </a:r>
                      <a:endParaRPr kumimoji="0" lang="en-US" sz="1200" b="0" i="0" u="none" strike="noStrike" cap="none" normalizeH="0" baseline="0" dirty="0" smtClean="0">
                        <a:ln>
                          <a:noFill/>
                        </a:ln>
                        <a:solidFill>
                          <a:schemeClr val="tx1"/>
                        </a:solidFill>
                        <a:effectLst/>
                        <a:latin typeface="Calibri" pitchFamily="34" charset="0"/>
                      </a:endParaRPr>
                    </a:p>
                  </a:txBody>
                  <a:tcPr anchor="ctr" horzOverflow="overflow"/>
                </a:tc>
              </a:tr>
              <a:tr h="746760">
                <a:tc>
                  <a:txBody>
                    <a:bodyPr/>
                    <a:lstStyle/>
                    <a:p>
                      <a:pPr marL="342900" marR="0" lvl="0" indent="-342900" algn="l" defTabSz="914400" rtl="0" eaLnBrk="0" fontAlgn="b" latinLnBrk="0" hangingPunct="0">
                        <a:lnSpc>
                          <a:spcPct val="100000"/>
                        </a:lnSpc>
                        <a:spcBef>
                          <a:spcPct val="0"/>
                        </a:spcBef>
                        <a:spcAft>
                          <a:spcPct val="0"/>
                        </a:spcAft>
                        <a:buClrTx/>
                        <a:buSzTx/>
                        <a:buFont typeface="Arial" pitchFamily="34" charset="0"/>
                        <a:buNone/>
                        <a:tabLst/>
                      </a:pPr>
                      <a:r>
                        <a:rPr kumimoji="0" lang="en-US" sz="1200" u="none" strike="noStrike" cap="none" normalizeH="0" baseline="0" dirty="0" smtClean="0">
                          <a:ln>
                            <a:noFill/>
                          </a:ln>
                          <a:effectLst/>
                        </a:rPr>
                        <a:t>TOTAL MANUAL PREMIUM</a:t>
                      </a:r>
                      <a:endParaRPr kumimoji="0" lang="en-US" sz="1200" b="1" i="0" u="none" strike="noStrike" cap="none" normalizeH="0" baseline="0" dirty="0" smtClean="0">
                        <a:ln>
                          <a:noFill/>
                        </a:ln>
                        <a:solidFill>
                          <a:srgbClr val="FF0000"/>
                        </a:solidFill>
                        <a:effectLst/>
                        <a:latin typeface="Calibri" pitchFamily="34" charset="0"/>
                        <a:cs typeface="Arial" pitchFamily="34" charset="0"/>
                      </a:endParaRPr>
                    </a:p>
                  </a:txBody>
                  <a:tcPr anchor="ctr" horzOverflow="overflow"/>
                </a:tc>
                <a:tc>
                  <a:txBody>
                    <a:bodyPr/>
                    <a:lstStyle/>
                    <a:p>
                      <a:pPr marL="342900" marR="0" lvl="0" indent="-342900" algn="l" defTabSz="914400" rtl="0" eaLnBrk="0" fontAlgn="b" latinLnBrk="0" hangingPunct="0">
                        <a:lnSpc>
                          <a:spcPct val="100000"/>
                        </a:lnSpc>
                        <a:spcBef>
                          <a:spcPct val="0"/>
                        </a:spcBef>
                        <a:spcAft>
                          <a:spcPct val="0"/>
                        </a:spcAft>
                        <a:buClrTx/>
                        <a:buSzTx/>
                        <a:buFont typeface="Arial" pitchFamily="34" charset="0"/>
                        <a:buNone/>
                        <a:tabLst/>
                      </a:pPr>
                      <a:r>
                        <a:rPr kumimoji="0" lang="en-US" sz="1200" u="none" strike="noStrike" cap="none" normalizeH="0" baseline="0" dirty="0" smtClean="0">
                          <a:ln>
                            <a:noFill/>
                          </a:ln>
                          <a:effectLst/>
                        </a:rPr>
                        <a:t> </a:t>
                      </a:r>
                      <a:endParaRPr kumimoji="0" lang="en-US" sz="1200" b="0" i="0" u="none" strike="noStrike" cap="none" normalizeH="0" baseline="0" dirty="0" smtClean="0">
                        <a:ln>
                          <a:noFill/>
                        </a:ln>
                        <a:solidFill>
                          <a:schemeClr val="tx1"/>
                        </a:solidFill>
                        <a:effectLst/>
                        <a:latin typeface="Calibri" pitchFamily="34" charset="0"/>
                      </a:endParaRPr>
                    </a:p>
                  </a:txBody>
                  <a:tcPr anchor="ctr" horzOverflow="overflow"/>
                </a:tc>
              </a:tr>
            </a:tbl>
          </a:graphicData>
        </a:graphic>
      </p:graphicFrame>
      <p:sp>
        <p:nvSpPr>
          <p:cNvPr id="3" name="Rectangle 53"/>
          <p:cNvSpPr>
            <a:spLocks noChangeArrowheads="1"/>
          </p:cNvSpPr>
          <p:nvPr/>
        </p:nvSpPr>
        <p:spPr bwMode="auto">
          <a:xfrm>
            <a:off x="304800" y="1300163"/>
            <a:ext cx="3409908" cy="369332"/>
          </a:xfrm>
          <a:prstGeom prst="rect">
            <a:avLst/>
          </a:prstGeom>
          <a:noFill/>
          <a:ln w="9525">
            <a:noFill/>
            <a:miter lim="800000"/>
            <a:headEnd/>
            <a:tailEnd/>
          </a:ln>
        </p:spPr>
        <p:txBody>
          <a:bodyPr wrap="none">
            <a:spAutoFit/>
          </a:bodyPr>
          <a:lstStyle/>
          <a:p>
            <a:r>
              <a:rPr lang="en-US" dirty="0"/>
              <a:t> </a:t>
            </a:r>
            <a:r>
              <a:rPr lang="en-IN" sz="1600" dirty="0">
                <a:latin typeface="Verdana" pitchFamily="34" charset="0"/>
              </a:rPr>
              <a:t>Essentials for these premium:</a:t>
            </a:r>
            <a:r>
              <a:rPr lang="en-US" sz="1600" dirty="0">
                <a:latin typeface="Verdana" pitchFamily="34" charset="0"/>
              </a:rPr>
              <a:t> </a:t>
            </a:r>
            <a:endParaRPr lang="en-IN" sz="1600" dirty="0">
              <a:latin typeface="Verdana" pitchFamily="34" charset="0"/>
            </a:endParaRPr>
          </a:p>
        </p:txBody>
      </p:sp>
      <p:sp>
        <p:nvSpPr>
          <p:cNvPr id="4" name="Rectangle 23"/>
          <p:cNvSpPr>
            <a:spLocks noChangeArrowheads="1"/>
          </p:cNvSpPr>
          <p:nvPr/>
        </p:nvSpPr>
        <p:spPr bwMode="auto">
          <a:xfrm>
            <a:off x="0" y="152400"/>
            <a:ext cx="2757486" cy="369332"/>
          </a:xfrm>
          <a:prstGeom prst="rect">
            <a:avLst/>
          </a:prstGeom>
          <a:noFill/>
          <a:ln w="9525">
            <a:noFill/>
            <a:miter lim="800000"/>
            <a:headEnd/>
            <a:tailEnd/>
          </a:ln>
        </p:spPr>
        <p:txBody>
          <a:bodyPr wrap="none">
            <a:spAutoFit/>
          </a:bodyPr>
          <a:lstStyle/>
          <a:p>
            <a:r>
              <a:rPr lang="en-US" b="1" dirty="0">
                <a:solidFill>
                  <a:schemeClr val="bg1"/>
                </a:solidFill>
                <a:latin typeface="Verdana" pitchFamily="34" charset="0"/>
              </a:rPr>
              <a:t>GA State Algorithm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6"/>
          <p:cNvSpPr>
            <a:spLocks noChangeArrowheads="1"/>
          </p:cNvSpPr>
          <p:nvPr/>
        </p:nvSpPr>
        <p:spPr bwMode="auto">
          <a:xfrm>
            <a:off x="76200" y="198715"/>
            <a:ext cx="5867400" cy="369332"/>
          </a:xfrm>
          <a:prstGeom prst="rect">
            <a:avLst/>
          </a:prstGeom>
          <a:noFill/>
          <a:ln w="12700">
            <a:noFill/>
            <a:miter lim="800000"/>
            <a:headEnd/>
            <a:tailEnd/>
          </a:ln>
        </p:spPr>
        <p:txBody>
          <a:bodyPr anchor="ctr">
            <a:spAutoFit/>
          </a:bodyPr>
          <a:lstStyle/>
          <a:p>
            <a:pPr eaLnBrk="0" hangingPunct="0">
              <a:buSzPct val="120000"/>
              <a:tabLst>
                <a:tab pos="1828800" algn="l"/>
              </a:tabLst>
            </a:pPr>
            <a:r>
              <a:rPr lang="en-US" b="1" dirty="0">
                <a:solidFill>
                  <a:schemeClr val="bg1"/>
                </a:solidFill>
                <a:latin typeface="Verdana" pitchFamily="34" charset="0"/>
              </a:rPr>
              <a:t>GA State Algorithm (</a:t>
            </a:r>
            <a:r>
              <a:rPr lang="en-US" b="1" dirty="0" smtClean="0">
                <a:solidFill>
                  <a:schemeClr val="bg1"/>
                </a:solidFill>
                <a:latin typeface="Verdana" pitchFamily="34" charset="0"/>
              </a:rPr>
              <a:t>Cont…)</a:t>
            </a:r>
            <a:endParaRPr lang="en-US" b="1" dirty="0">
              <a:solidFill>
                <a:schemeClr val="bg1"/>
              </a:solidFill>
              <a:latin typeface="Verdana" pitchFamily="34" charset="0"/>
            </a:endParaRPr>
          </a:p>
        </p:txBody>
      </p:sp>
      <p:graphicFrame>
        <p:nvGraphicFramePr>
          <p:cNvPr id="3" name="Group 223"/>
          <p:cNvGraphicFramePr>
            <a:graphicFrameLocks noGrp="1"/>
          </p:cNvGraphicFramePr>
          <p:nvPr>
            <p:extLst>
              <p:ext uri="{D42A27DB-BD31-4B8C-83A1-F6EECF244321}">
                <p14:modId xmlns:p14="http://schemas.microsoft.com/office/powerpoint/2010/main" val="2778062212"/>
              </p:ext>
            </p:extLst>
          </p:nvPr>
        </p:nvGraphicFramePr>
        <p:xfrm>
          <a:off x="609600" y="985838"/>
          <a:ext cx="8001000" cy="5155572"/>
        </p:xfrm>
        <a:graphic>
          <a:graphicData uri="http://schemas.openxmlformats.org/drawingml/2006/table">
            <a:tbl>
              <a:tblPr>
                <a:tableStyleId>{3C2FFA5D-87B4-456A-9821-1D502468CF0F}</a:tableStyleId>
              </a:tblPr>
              <a:tblGrid>
                <a:gridCol w="4365625"/>
                <a:gridCol w="3635375"/>
              </a:tblGrid>
              <a:tr h="423863">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r>
                        <a:rPr kumimoji="0" lang="en-US" sz="1100" u="none" strike="noStrike" cap="none" normalizeH="0" baseline="0" dirty="0" smtClean="0">
                          <a:ln>
                            <a:noFill/>
                          </a:ln>
                          <a:effectLst/>
                        </a:rPr>
                        <a:t>Waiver of Subrogation</a:t>
                      </a:r>
                      <a:endParaRPr kumimoji="0" lang="en-US" sz="1100" b="0" i="0" u="none" strike="noStrike" cap="none" normalizeH="0" baseline="0" dirty="0" smtClean="0">
                        <a:ln>
                          <a:noFill/>
                        </a:ln>
                        <a:solidFill>
                          <a:schemeClr val="tx1"/>
                        </a:solidFill>
                        <a:effectLst/>
                        <a:latin typeface="Calibri" pitchFamily="34" charset="0"/>
                      </a:endParaRPr>
                    </a:p>
                  </a:txBody>
                  <a:tcPr horzOverflow="overflow"/>
                </a:tc>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r>
                        <a:rPr kumimoji="0" lang="en-US" sz="1100" u="none" strike="noStrike" cap="none" normalizeH="0" baseline="0" dirty="0" smtClean="0">
                          <a:ln>
                            <a:noFill/>
                          </a:ln>
                          <a:effectLst/>
                        </a:rPr>
                        <a:t>[% applied to the portion of Total manual Premium where waiver is applied]</a:t>
                      </a:r>
                      <a:endParaRPr kumimoji="0" lang="en-US" sz="1100" b="0" i="0" u="none" strike="noStrike" cap="none" normalizeH="0" baseline="0" dirty="0" smtClean="0">
                        <a:ln>
                          <a:noFill/>
                        </a:ln>
                        <a:solidFill>
                          <a:schemeClr val="tx1"/>
                        </a:solidFill>
                        <a:effectLst/>
                        <a:latin typeface="Calibri" pitchFamily="34" charset="0"/>
                      </a:endParaRPr>
                    </a:p>
                  </a:txBody>
                  <a:tcPr horzOverflow="overflow"/>
                </a:tc>
              </a:tr>
              <a:tr h="261938">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r>
                        <a:rPr kumimoji="0" lang="en-US" sz="1100" u="none" strike="noStrike" cap="none" normalizeH="0" baseline="0" dirty="0" smtClean="0">
                          <a:ln>
                            <a:noFill/>
                          </a:ln>
                          <a:effectLst/>
                        </a:rPr>
                        <a:t>Employers Liability (E/L) increased limits factor </a:t>
                      </a:r>
                      <a:endParaRPr kumimoji="0" lang="en-US" sz="1100" b="0" i="0" u="none" strike="noStrike" cap="none" normalizeH="0" baseline="0" dirty="0" smtClean="0">
                        <a:ln>
                          <a:noFill/>
                        </a:ln>
                        <a:solidFill>
                          <a:schemeClr val="tx1"/>
                        </a:solidFill>
                        <a:effectLst/>
                        <a:latin typeface="Calibri" pitchFamily="34" charset="0"/>
                      </a:endParaRPr>
                    </a:p>
                  </a:txBody>
                  <a:tcPr horzOverflow="overflow"/>
                </a:tc>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r>
                        <a:rPr kumimoji="0" lang="en-US" sz="1100" u="none" strike="noStrike" cap="none" normalizeH="0" baseline="0" dirty="0" smtClean="0">
                          <a:ln>
                            <a:noFill/>
                          </a:ln>
                          <a:effectLst/>
                        </a:rPr>
                        <a:t>[% applied to Total Manual Premium]</a:t>
                      </a:r>
                      <a:endParaRPr kumimoji="0" lang="en-US" sz="1100" b="0" i="0" u="none" strike="noStrike" cap="none" normalizeH="0" baseline="0" dirty="0" smtClean="0">
                        <a:ln>
                          <a:noFill/>
                        </a:ln>
                        <a:solidFill>
                          <a:schemeClr val="tx1"/>
                        </a:solidFill>
                        <a:effectLst/>
                        <a:latin typeface="Calibri" pitchFamily="34" charset="0"/>
                      </a:endParaRPr>
                    </a:p>
                  </a:txBody>
                  <a:tcPr horzOverflow="overflow"/>
                </a:tc>
              </a:tr>
              <a:tr h="422275">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r>
                        <a:rPr kumimoji="0" lang="en-US" sz="1100" u="none" strike="noStrike" cap="none" normalizeH="0" baseline="0" dirty="0" smtClean="0">
                          <a:ln>
                            <a:noFill/>
                          </a:ln>
                          <a:effectLst/>
                        </a:rPr>
                        <a:t>Employers Liability increased limits charge </a:t>
                      </a:r>
                      <a:endParaRPr kumimoji="0" lang="en-US" sz="1100" b="0" i="0" u="none" strike="noStrike" cap="none" normalizeH="0" baseline="0" dirty="0" smtClean="0">
                        <a:ln>
                          <a:noFill/>
                        </a:ln>
                        <a:solidFill>
                          <a:schemeClr val="tx1"/>
                        </a:solidFill>
                        <a:effectLst/>
                        <a:latin typeface="Calibri" pitchFamily="34" charset="0"/>
                      </a:endParaRPr>
                    </a:p>
                  </a:txBody>
                  <a:tcPr horzOverflow="overflow"/>
                </a:tc>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r>
                        <a:rPr kumimoji="0" lang="en-US" sz="1100" u="none" strike="noStrike" cap="none" normalizeH="0" baseline="0" dirty="0" smtClean="0">
                          <a:ln>
                            <a:noFill/>
                          </a:ln>
                          <a:effectLst/>
                        </a:rPr>
                        <a:t>[Balance to E/L increased limits minimum premium]</a:t>
                      </a:r>
                      <a:endParaRPr kumimoji="0" lang="en-US" sz="1100" b="0" i="0" u="none" strike="noStrike" cap="none" normalizeH="0" baseline="0" dirty="0" smtClean="0">
                        <a:ln>
                          <a:noFill/>
                        </a:ln>
                        <a:solidFill>
                          <a:schemeClr val="tx1"/>
                        </a:solidFill>
                        <a:effectLst/>
                        <a:latin typeface="Calibri" pitchFamily="34" charset="0"/>
                      </a:endParaRPr>
                    </a:p>
                  </a:txBody>
                  <a:tcPr horzOverflow="overflow"/>
                </a:tc>
              </a:tr>
              <a:tr h="412750">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r>
                        <a:rPr kumimoji="0" lang="en-US" sz="1100" u="none" strike="noStrike" cap="none" normalizeH="0" baseline="0" dirty="0" smtClean="0">
                          <a:ln>
                            <a:noFill/>
                          </a:ln>
                          <a:effectLst/>
                        </a:rPr>
                        <a:t>Employers Liability increased limits factor (Admiralty, FELA) </a:t>
                      </a:r>
                      <a:endParaRPr kumimoji="0" lang="en-US" sz="1100" b="0" i="0" u="none" strike="noStrike" cap="none" normalizeH="0" baseline="0" dirty="0" smtClean="0">
                        <a:ln>
                          <a:noFill/>
                        </a:ln>
                        <a:solidFill>
                          <a:schemeClr val="tx1"/>
                        </a:solidFill>
                        <a:effectLst/>
                        <a:latin typeface="Calibri" pitchFamily="34" charset="0"/>
                      </a:endParaRPr>
                    </a:p>
                  </a:txBody>
                  <a:tcPr horzOverflow="overflow"/>
                </a:tc>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r>
                        <a:rPr kumimoji="0" lang="en-US" sz="1100" u="none" strike="noStrike" cap="none" normalizeH="0" baseline="0" dirty="0" smtClean="0">
                          <a:ln>
                            <a:noFill/>
                          </a:ln>
                          <a:effectLst/>
                        </a:rPr>
                        <a:t>[Factor applied to the portion of Manual Premium where Admiralty/FELA coverage is applicable] </a:t>
                      </a:r>
                      <a:endParaRPr kumimoji="0" lang="en-US" sz="1100" b="0" i="0" u="none" strike="noStrike" cap="none" normalizeH="0" baseline="0" dirty="0" smtClean="0">
                        <a:ln>
                          <a:noFill/>
                        </a:ln>
                        <a:solidFill>
                          <a:schemeClr val="tx1"/>
                        </a:solidFill>
                        <a:effectLst/>
                        <a:latin typeface="Calibri" pitchFamily="34" charset="0"/>
                      </a:endParaRPr>
                    </a:p>
                  </a:txBody>
                  <a:tcPr horzOverflow="overflow"/>
                </a:tc>
              </a:tr>
              <a:tr h="357188">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r>
                        <a:rPr kumimoji="0" lang="en-US" sz="1100" u="none" strike="noStrike" cap="none" normalizeH="0" baseline="0" dirty="0" smtClean="0">
                          <a:ln>
                            <a:noFill/>
                          </a:ln>
                          <a:effectLst/>
                        </a:rPr>
                        <a:t>Employers Liability/Voluntary Compensation flat charge</a:t>
                      </a:r>
                      <a:endParaRPr kumimoji="0" lang="en-US" sz="1100" b="0" i="0" u="none" strike="noStrike" cap="none" normalizeH="0" baseline="0" dirty="0" smtClean="0">
                        <a:ln>
                          <a:noFill/>
                        </a:ln>
                        <a:solidFill>
                          <a:schemeClr val="tx1"/>
                        </a:solidFill>
                        <a:effectLst/>
                        <a:latin typeface="Calibri" pitchFamily="34" charset="0"/>
                      </a:endParaRPr>
                    </a:p>
                  </a:txBody>
                  <a:tcPr horzOverflow="overflow"/>
                </a:tc>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r>
                        <a:rPr kumimoji="0" lang="en-US" sz="1100" u="none" strike="noStrike" cap="none" normalizeH="0" baseline="0" dirty="0" smtClean="0">
                          <a:ln>
                            <a:noFill/>
                          </a:ln>
                          <a:effectLst/>
                        </a:rPr>
                        <a:t>[Coverage in Monopolistic State Funds]</a:t>
                      </a:r>
                      <a:endParaRPr kumimoji="0" lang="en-US" sz="1100" b="0" i="0" u="none" strike="noStrike" cap="none" normalizeH="0" baseline="0" dirty="0" smtClean="0">
                        <a:ln>
                          <a:noFill/>
                        </a:ln>
                        <a:solidFill>
                          <a:schemeClr val="tx1"/>
                        </a:solidFill>
                        <a:effectLst/>
                        <a:latin typeface="Calibri" pitchFamily="34" charset="0"/>
                      </a:endParaRPr>
                    </a:p>
                  </a:txBody>
                  <a:tcPr horzOverflow="overflow"/>
                </a:tc>
              </a:tr>
              <a:tr h="357188">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r>
                        <a:rPr kumimoji="0" lang="en-US" sz="1100" u="none" strike="noStrike" cap="none" normalizeH="0" baseline="0" dirty="0" smtClean="0">
                          <a:ln>
                            <a:noFill/>
                          </a:ln>
                          <a:effectLst/>
                        </a:rPr>
                        <a:t>Small Deductible Credit </a:t>
                      </a:r>
                      <a:endParaRPr kumimoji="0" lang="en-US" sz="1100" b="0" i="0" u="none" strike="noStrike" cap="none" normalizeH="0" baseline="0" dirty="0" smtClean="0">
                        <a:ln>
                          <a:noFill/>
                        </a:ln>
                        <a:solidFill>
                          <a:schemeClr val="tx1"/>
                        </a:solidFill>
                        <a:effectLst/>
                        <a:latin typeface="Calibri" pitchFamily="34" charset="0"/>
                      </a:endParaRPr>
                    </a:p>
                  </a:txBody>
                  <a:tcPr horzOverflow="overflow"/>
                </a:tc>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r>
                        <a:rPr kumimoji="0" lang="en-US" sz="1100" u="none" strike="noStrike" cap="none" normalizeH="0" baseline="0" dirty="0" smtClean="0">
                          <a:ln>
                            <a:noFill/>
                          </a:ln>
                          <a:effectLst/>
                        </a:rPr>
                        <a:t>[% applied to Total Manual Premium] </a:t>
                      </a:r>
                      <a:endParaRPr kumimoji="0" lang="en-US" sz="1100" b="0" i="0" u="none" strike="noStrike" cap="none" normalizeH="0" baseline="0" dirty="0" smtClean="0">
                        <a:ln>
                          <a:noFill/>
                        </a:ln>
                        <a:solidFill>
                          <a:schemeClr val="tx1"/>
                        </a:solidFill>
                        <a:effectLst/>
                        <a:latin typeface="Calibri" pitchFamily="34" charset="0"/>
                      </a:endParaRPr>
                    </a:p>
                  </a:txBody>
                  <a:tcPr horzOverflow="overflow"/>
                </a:tc>
              </a:tr>
              <a:tr h="261938">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r>
                        <a:rPr kumimoji="0" lang="en-US" sz="1100" u="none" strike="noStrike" cap="none" normalizeH="0" baseline="0" dirty="0" smtClean="0">
                          <a:ln>
                            <a:noFill/>
                          </a:ln>
                          <a:effectLst/>
                        </a:rPr>
                        <a:t>TOTAL SUBJECT PREMIUM</a:t>
                      </a:r>
                      <a:endParaRPr kumimoji="0" lang="en-US" sz="1100" b="1" i="0" u="none" strike="noStrike" cap="none" normalizeH="0" baseline="0" dirty="0" smtClean="0">
                        <a:ln>
                          <a:noFill/>
                        </a:ln>
                        <a:solidFill>
                          <a:srgbClr val="FF0000"/>
                        </a:solidFill>
                        <a:effectLst/>
                        <a:latin typeface="Calibri" pitchFamily="34" charset="0"/>
                        <a:cs typeface="Arial" pitchFamily="34" charset="0"/>
                      </a:endParaRPr>
                    </a:p>
                  </a:txBody>
                  <a:tcPr horzOverflow="overflow"/>
                </a:tc>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endParaRPr kumimoji="0" lang="en-US" sz="1100" b="0" i="0" u="none" strike="noStrike" cap="none" normalizeH="0" baseline="0" dirty="0" smtClean="0">
                        <a:ln>
                          <a:noFill/>
                        </a:ln>
                        <a:solidFill>
                          <a:schemeClr val="tx1"/>
                        </a:solidFill>
                        <a:effectLst/>
                        <a:latin typeface="Calibri" pitchFamily="34" charset="0"/>
                      </a:endParaRPr>
                    </a:p>
                  </a:txBody>
                  <a:tcPr horzOverflow="overflow"/>
                </a:tc>
              </a:tr>
              <a:tr h="284163">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r>
                        <a:rPr kumimoji="0" lang="en-US" sz="1100" u="none" strike="noStrike" cap="none" normalizeH="0" baseline="0" dirty="0" smtClean="0">
                          <a:ln>
                            <a:noFill/>
                          </a:ln>
                          <a:effectLst/>
                        </a:rPr>
                        <a:t>Experience Modification (Exp Mod)</a:t>
                      </a:r>
                      <a:endParaRPr kumimoji="0" lang="en-US" sz="1100" b="0" i="0" u="none" strike="noStrike" cap="none" normalizeH="0" baseline="0" dirty="0" smtClean="0">
                        <a:ln>
                          <a:noFill/>
                        </a:ln>
                        <a:solidFill>
                          <a:schemeClr val="tx1"/>
                        </a:solidFill>
                        <a:effectLst/>
                        <a:latin typeface="Calibri" pitchFamily="34" charset="0"/>
                      </a:endParaRPr>
                    </a:p>
                  </a:txBody>
                  <a:tcPr horzOverflow="overflow"/>
                </a:tc>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endParaRPr kumimoji="0" lang="en-US" sz="1100" b="0" i="0" u="none" strike="noStrike" cap="none" normalizeH="0" baseline="0" dirty="0" smtClean="0">
                        <a:ln>
                          <a:noFill/>
                        </a:ln>
                        <a:solidFill>
                          <a:schemeClr val="tx1"/>
                        </a:solidFill>
                        <a:effectLst/>
                        <a:latin typeface="Calibri" pitchFamily="34" charset="0"/>
                      </a:endParaRPr>
                    </a:p>
                  </a:txBody>
                  <a:tcPr horzOverflow="overflow"/>
                </a:tc>
              </a:tr>
              <a:tr h="261938">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r>
                        <a:rPr kumimoji="0" lang="en-US" sz="1100" u="none" strike="noStrike" cap="none" normalizeH="0" baseline="0" dirty="0" smtClean="0">
                          <a:ln>
                            <a:noFill/>
                          </a:ln>
                          <a:effectLst/>
                        </a:rPr>
                        <a:t>TOTAL MODIFIED PREMIUM</a:t>
                      </a:r>
                      <a:endParaRPr kumimoji="0" lang="en-US" sz="1100" b="1" i="0" u="none" strike="noStrike" cap="none" normalizeH="0" baseline="0" dirty="0" smtClean="0">
                        <a:ln>
                          <a:noFill/>
                        </a:ln>
                        <a:solidFill>
                          <a:srgbClr val="FF0000"/>
                        </a:solidFill>
                        <a:effectLst/>
                        <a:latin typeface="Calibri" pitchFamily="34" charset="0"/>
                      </a:endParaRPr>
                    </a:p>
                  </a:txBody>
                  <a:tcPr horzOverflow="overflow"/>
                </a:tc>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endParaRPr kumimoji="0" lang="en-US" sz="1100" b="0" i="0" u="none" strike="noStrike" cap="none" normalizeH="0" baseline="0" dirty="0" smtClean="0">
                        <a:ln>
                          <a:noFill/>
                        </a:ln>
                        <a:solidFill>
                          <a:schemeClr val="tx1"/>
                        </a:solidFill>
                        <a:effectLst/>
                        <a:latin typeface="Calibri" pitchFamily="34" charset="0"/>
                      </a:endParaRPr>
                    </a:p>
                  </a:txBody>
                  <a:tcPr horzOverflow="overflow"/>
                </a:tc>
              </a:tr>
              <a:tr h="261938">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r>
                        <a:rPr kumimoji="0" lang="en-US" sz="1100" u="none" strike="noStrike" cap="none" normalizeH="0" baseline="0" dirty="0" smtClean="0">
                          <a:ln>
                            <a:noFill/>
                          </a:ln>
                          <a:effectLst/>
                        </a:rPr>
                        <a:t>Georgia Schedule Rating Factor (1-SR Credit%) or (1-SR Debit%)</a:t>
                      </a:r>
                      <a:endParaRPr kumimoji="0" lang="en-US" sz="1100" b="0" i="0" u="none" strike="noStrike" cap="none" normalizeH="0" baseline="0" dirty="0" smtClean="0">
                        <a:ln>
                          <a:noFill/>
                        </a:ln>
                        <a:solidFill>
                          <a:srgbClr val="000000"/>
                        </a:solidFill>
                        <a:effectLst/>
                        <a:latin typeface="Calibri" pitchFamily="34" charset="0"/>
                        <a:cs typeface="Arial" pitchFamily="34" charset="0"/>
                      </a:endParaRPr>
                    </a:p>
                  </a:txBody>
                  <a:tcPr horzOverflow="overflow"/>
                </a:tc>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endParaRPr kumimoji="0" lang="en-US" sz="1100" b="0" i="0" u="none" strike="noStrike" cap="none" normalizeH="0" baseline="0" dirty="0" smtClean="0">
                        <a:ln>
                          <a:noFill/>
                        </a:ln>
                        <a:solidFill>
                          <a:schemeClr val="tx1"/>
                        </a:solidFill>
                        <a:effectLst/>
                        <a:latin typeface="Calibri" pitchFamily="34" charset="0"/>
                      </a:endParaRPr>
                    </a:p>
                  </a:txBody>
                  <a:tcPr horzOverflow="overflow"/>
                </a:tc>
              </a:tr>
              <a:tr h="261938">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r>
                        <a:rPr kumimoji="0" lang="en-US" sz="1100" u="none" strike="noStrike" cap="none" normalizeH="0" baseline="0" dirty="0" smtClean="0">
                          <a:ln>
                            <a:noFill/>
                          </a:ln>
                          <a:effectLst/>
                        </a:rPr>
                        <a:t>Managed Care factor (1-M/C Credit%)</a:t>
                      </a:r>
                      <a:endParaRPr kumimoji="0" lang="en-US" sz="1100" b="0" i="0" u="none" strike="noStrike" cap="none" normalizeH="0" baseline="0" dirty="0" smtClean="0">
                        <a:ln>
                          <a:noFill/>
                        </a:ln>
                        <a:solidFill>
                          <a:srgbClr val="000000"/>
                        </a:solidFill>
                        <a:effectLst/>
                        <a:latin typeface="Calibri" pitchFamily="34" charset="0"/>
                        <a:cs typeface="Arial" pitchFamily="34" charset="0"/>
                      </a:endParaRPr>
                    </a:p>
                  </a:txBody>
                  <a:tcPr horzOverflow="overflow"/>
                </a:tc>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endParaRPr kumimoji="0" lang="en-US" sz="1100" b="0" i="0" u="none" strike="noStrike" cap="none" normalizeH="0" baseline="0" dirty="0" smtClean="0">
                        <a:ln>
                          <a:noFill/>
                        </a:ln>
                        <a:solidFill>
                          <a:schemeClr val="tx1"/>
                        </a:solidFill>
                        <a:effectLst/>
                        <a:latin typeface="Calibri" pitchFamily="34" charset="0"/>
                      </a:endParaRPr>
                    </a:p>
                  </a:txBody>
                  <a:tcPr horzOverflow="overflow"/>
                </a:tc>
              </a:tr>
              <a:tr h="261938">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r>
                        <a:rPr kumimoji="0" lang="en-US" sz="1100" u="none" strike="noStrike" cap="none" normalizeH="0" baseline="0" dirty="0" smtClean="0">
                          <a:ln>
                            <a:noFill/>
                          </a:ln>
                          <a:effectLst/>
                        </a:rPr>
                        <a:t>Drug-Free Workplace factor (1-DFW Credit%)</a:t>
                      </a:r>
                      <a:endParaRPr kumimoji="0" lang="en-US" sz="1100" b="0" i="0" u="none" strike="noStrike" cap="none" normalizeH="0" baseline="0" dirty="0" smtClean="0">
                        <a:ln>
                          <a:noFill/>
                        </a:ln>
                        <a:solidFill>
                          <a:srgbClr val="000000"/>
                        </a:solidFill>
                        <a:effectLst/>
                        <a:latin typeface="Calibri" pitchFamily="34" charset="0"/>
                        <a:cs typeface="Arial" pitchFamily="34" charset="0"/>
                      </a:endParaRPr>
                    </a:p>
                  </a:txBody>
                  <a:tcPr horzOverflow="overflow"/>
                </a:tc>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endParaRPr kumimoji="0" lang="en-US" sz="1100" b="0" i="0" u="none" strike="noStrike" cap="none" normalizeH="0" baseline="0" dirty="0" smtClean="0">
                        <a:ln>
                          <a:noFill/>
                        </a:ln>
                        <a:solidFill>
                          <a:schemeClr val="tx1"/>
                        </a:solidFill>
                        <a:effectLst/>
                        <a:latin typeface="Calibri" pitchFamily="34" charset="0"/>
                      </a:endParaRPr>
                    </a:p>
                  </a:txBody>
                  <a:tcPr horzOverflow="overflow"/>
                </a:tc>
              </a:tr>
              <a:tr h="261938">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r>
                        <a:rPr kumimoji="0" lang="en-US" sz="1100" u="none" strike="noStrike" cap="none" normalizeH="0" baseline="0" dirty="0" smtClean="0">
                          <a:ln>
                            <a:noFill/>
                          </a:ln>
                          <a:effectLst/>
                        </a:rPr>
                        <a:t>Supplemental Disease Exposure (Asbestos, NOC)</a:t>
                      </a:r>
                      <a:endParaRPr kumimoji="0" lang="en-US" sz="1100" b="0" i="0" u="none" strike="noStrike" cap="none" normalizeH="0" baseline="0" dirty="0" smtClean="0">
                        <a:ln>
                          <a:noFill/>
                        </a:ln>
                        <a:solidFill>
                          <a:srgbClr val="000000"/>
                        </a:solidFill>
                        <a:effectLst/>
                        <a:latin typeface="Calibri" pitchFamily="34" charset="0"/>
                        <a:cs typeface="Arial" pitchFamily="34" charset="0"/>
                      </a:endParaRPr>
                    </a:p>
                  </a:txBody>
                  <a:tcPr horzOverflow="overflow"/>
                </a:tc>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endParaRPr kumimoji="0" lang="en-US" sz="1100" b="0" i="0" u="none" strike="noStrike" cap="none" normalizeH="0" baseline="0" dirty="0" smtClean="0">
                        <a:ln>
                          <a:noFill/>
                        </a:ln>
                        <a:solidFill>
                          <a:schemeClr val="tx1"/>
                        </a:solidFill>
                        <a:effectLst/>
                        <a:latin typeface="Calibri" pitchFamily="34" charset="0"/>
                      </a:endParaRPr>
                    </a:p>
                  </a:txBody>
                  <a:tcPr horzOverflow="overflow"/>
                </a:tc>
              </a:tr>
              <a:tr h="261938">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r>
                        <a:rPr kumimoji="0" lang="en-US" sz="1100" u="none" strike="noStrike" cap="none" normalizeH="0" baseline="0" dirty="0" smtClean="0">
                          <a:ln>
                            <a:noFill/>
                          </a:ln>
                          <a:effectLst/>
                        </a:rPr>
                        <a:t>Atomic Energy radiation Exposure NOC </a:t>
                      </a:r>
                      <a:endParaRPr kumimoji="0" lang="en-US" sz="1100" b="0" i="0" u="none" strike="noStrike" cap="none" normalizeH="0" baseline="0" dirty="0" smtClean="0">
                        <a:ln>
                          <a:noFill/>
                        </a:ln>
                        <a:solidFill>
                          <a:srgbClr val="000000"/>
                        </a:solidFill>
                        <a:effectLst/>
                        <a:latin typeface="Calibri" pitchFamily="34" charset="0"/>
                        <a:cs typeface="Arial" pitchFamily="34" charset="0"/>
                      </a:endParaRPr>
                    </a:p>
                  </a:txBody>
                  <a:tcPr horzOverflow="overflow"/>
                </a:tc>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endParaRPr kumimoji="0" lang="en-US" sz="1100" b="0" i="0" u="none" strike="noStrike" cap="none" normalizeH="0" baseline="0" dirty="0" smtClean="0">
                        <a:ln>
                          <a:noFill/>
                        </a:ln>
                        <a:solidFill>
                          <a:schemeClr val="tx1"/>
                        </a:solidFill>
                        <a:effectLst/>
                        <a:latin typeface="Calibri" pitchFamily="34" charset="0"/>
                      </a:endParaRPr>
                    </a:p>
                  </a:txBody>
                  <a:tcPr horzOverflow="overflow"/>
                </a:tc>
              </a:tr>
              <a:tr h="261938">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r>
                        <a:rPr kumimoji="0" lang="en-US" sz="1100" u="none" strike="noStrike" cap="none" normalizeH="0" baseline="0" dirty="0" smtClean="0">
                          <a:ln>
                            <a:noFill/>
                          </a:ln>
                          <a:effectLst/>
                        </a:rPr>
                        <a:t>Aircraft Seat Surcharge</a:t>
                      </a:r>
                      <a:endParaRPr kumimoji="0" lang="en-US" sz="1100" b="0" i="0" u="none" strike="noStrike" cap="none" normalizeH="0" baseline="0" dirty="0" smtClean="0">
                        <a:ln>
                          <a:noFill/>
                        </a:ln>
                        <a:solidFill>
                          <a:srgbClr val="000000"/>
                        </a:solidFill>
                        <a:effectLst/>
                        <a:latin typeface="Calibri" pitchFamily="34" charset="0"/>
                        <a:cs typeface="Arial" pitchFamily="34" charset="0"/>
                      </a:endParaRPr>
                    </a:p>
                  </a:txBody>
                  <a:tcPr horzOverflow="overflow"/>
                </a:tc>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endParaRPr kumimoji="0" lang="en-US" sz="1100" b="0" i="0" u="none" strike="noStrike" cap="none" normalizeH="0" baseline="0" dirty="0" smtClean="0">
                        <a:ln>
                          <a:noFill/>
                        </a:ln>
                        <a:solidFill>
                          <a:schemeClr val="tx1"/>
                        </a:solidFill>
                        <a:effectLst/>
                        <a:latin typeface="Calibri" pitchFamily="34" charset="0"/>
                      </a:endParaRPr>
                    </a:p>
                  </a:txBody>
                  <a:tcPr horzOverflow="overflow"/>
                </a:tc>
              </a:tr>
              <a:tr h="261938">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r>
                        <a:rPr kumimoji="0" lang="en-US" sz="1100" u="none" strike="noStrike" cap="none" normalizeH="0" baseline="0" dirty="0" smtClean="0">
                          <a:ln>
                            <a:noFill/>
                          </a:ln>
                          <a:effectLst/>
                        </a:rPr>
                        <a:t>Balance to Minimum Premium </a:t>
                      </a:r>
                      <a:endParaRPr kumimoji="0" lang="en-US" sz="1100" b="0" i="0" u="none" strike="noStrike" cap="none" normalizeH="0" baseline="0" dirty="0" smtClean="0">
                        <a:ln>
                          <a:noFill/>
                        </a:ln>
                        <a:solidFill>
                          <a:srgbClr val="000000"/>
                        </a:solidFill>
                        <a:effectLst/>
                        <a:latin typeface="Calibri" pitchFamily="34" charset="0"/>
                        <a:cs typeface="Arial" pitchFamily="34" charset="0"/>
                      </a:endParaRPr>
                    </a:p>
                  </a:txBody>
                  <a:tcPr horzOverflow="overflow"/>
                </a:tc>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r>
                        <a:rPr kumimoji="0" lang="en-US" sz="1100" u="none" strike="noStrike" cap="none" normalizeH="0" baseline="0" dirty="0" smtClean="0">
                          <a:ln>
                            <a:noFill/>
                          </a:ln>
                          <a:effectLst/>
                        </a:rPr>
                        <a:t>[Balance to minimum premium at Standard Limits]</a:t>
                      </a:r>
                      <a:endParaRPr kumimoji="0" lang="en-US" sz="1100" b="0" i="0" u="none" strike="noStrike" cap="none" normalizeH="0" baseline="0" dirty="0" smtClean="0">
                        <a:ln>
                          <a:noFill/>
                        </a:ln>
                        <a:solidFill>
                          <a:schemeClr val="tx1"/>
                        </a:solidFill>
                        <a:effectLst/>
                        <a:latin typeface="Calibri" pitchFamily="34" charset="0"/>
                      </a:endParaRPr>
                    </a:p>
                  </a:txBody>
                  <a:tcPr horzOverflow="overflow"/>
                </a:tc>
              </a:tr>
              <a:tr h="261938">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r>
                        <a:rPr kumimoji="0" lang="en-US" sz="1100" u="none" strike="noStrike" cap="none" normalizeH="0" baseline="0" dirty="0" smtClean="0">
                          <a:ln>
                            <a:noFill/>
                          </a:ln>
                          <a:effectLst/>
                        </a:rPr>
                        <a:t>TOTAL STANDARD PREMIUM</a:t>
                      </a:r>
                      <a:endParaRPr kumimoji="0" lang="en-US" sz="1100" b="1" i="0" u="none" strike="noStrike" cap="none" normalizeH="0" baseline="0" dirty="0" smtClean="0">
                        <a:ln>
                          <a:noFill/>
                        </a:ln>
                        <a:solidFill>
                          <a:srgbClr val="FF0000"/>
                        </a:solidFill>
                        <a:effectLst/>
                        <a:latin typeface="Calibri" pitchFamily="34" charset="0"/>
                        <a:cs typeface="Arial" pitchFamily="34" charset="0"/>
                      </a:endParaRPr>
                    </a:p>
                  </a:txBody>
                  <a:tcPr horzOverflow="overflow"/>
                </a:tc>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endParaRPr kumimoji="0" lang="en-US" sz="1100" b="0" i="0" u="none" strike="noStrike" cap="none" normalizeH="0" baseline="0" dirty="0" smtClean="0">
                        <a:ln>
                          <a:noFill/>
                        </a:ln>
                        <a:solidFill>
                          <a:schemeClr val="tx1"/>
                        </a:solidFill>
                        <a:effectLst/>
                        <a:latin typeface="Calibri" pitchFamily="34" charset="0"/>
                      </a:endParaRPr>
                    </a:p>
                  </a:txBody>
                  <a:tcPr horzOverflow="overflow"/>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7"/>
          <p:cNvSpPr txBox="1">
            <a:spLocks noChangeArrowheads="1"/>
          </p:cNvSpPr>
          <p:nvPr/>
        </p:nvSpPr>
        <p:spPr bwMode="auto">
          <a:xfrm>
            <a:off x="152400" y="152400"/>
            <a:ext cx="4572000" cy="369332"/>
          </a:xfrm>
          <a:prstGeom prst="rect">
            <a:avLst/>
          </a:prstGeom>
          <a:noFill/>
          <a:ln w="9525">
            <a:noFill/>
            <a:miter lim="800000"/>
            <a:headEnd/>
            <a:tailEnd/>
          </a:ln>
        </p:spPr>
        <p:txBody>
          <a:bodyPr>
            <a:spAutoFit/>
          </a:bodyPr>
          <a:lstStyle/>
          <a:p>
            <a:pPr eaLnBrk="0" hangingPunct="0">
              <a:buSzPct val="120000"/>
              <a:tabLst>
                <a:tab pos="1828800" algn="l"/>
              </a:tabLst>
            </a:pPr>
            <a:r>
              <a:rPr lang="en-US" b="1" dirty="0">
                <a:solidFill>
                  <a:schemeClr val="bg1"/>
                </a:solidFill>
                <a:latin typeface="Verdana" pitchFamily="34" charset="0"/>
              </a:rPr>
              <a:t>GA State Algorithm (</a:t>
            </a:r>
            <a:r>
              <a:rPr lang="en-US" b="1" dirty="0" smtClean="0">
                <a:solidFill>
                  <a:schemeClr val="bg1"/>
                </a:solidFill>
                <a:latin typeface="Verdana" pitchFamily="34" charset="0"/>
              </a:rPr>
              <a:t>Cont…)</a:t>
            </a:r>
            <a:endParaRPr lang="en-US" b="1" dirty="0">
              <a:solidFill>
                <a:schemeClr val="bg1"/>
              </a:solidFill>
              <a:latin typeface="Verdana" pitchFamily="34" charset="0"/>
            </a:endParaRPr>
          </a:p>
        </p:txBody>
      </p:sp>
      <p:sp>
        <p:nvSpPr>
          <p:cNvPr id="3" name="Rectangle 7"/>
          <p:cNvSpPr>
            <a:spLocks noChangeArrowheads="1"/>
          </p:cNvSpPr>
          <p:nvPr>
            <p:custDataLst>
              <p:tags r:id="rId1"/>
            </p:custDataLst>
          </p:nvPr>
        </p:nvSpPr>
        <p:spPr bwMode="auto">
          <a:xfrm>
            <a:off x="304800" y="3505200"/>
            <a:ext cx="990600" cy="427038"/>
          </a:xfrm>
          <a:prstGeom prst="rect">
            <a:avLst/>
          </a:prstGeom>
          <a:noFill/>
          <a:ln w="9525">
            <a:noFill/>
            <a:miter lim="800000"/>
            <a:headEnd/>
            <a:tailEnd/>
          </a:ln>
        </p:spPr>
        <p:txBody>
          <a:bodyPr anchor="ctr"/>
          <a:lstStyle/>
          <a:p>
            <a:pPr algn="ctr"/>
            <a:r>
              <a:rPr lang="en-US" sz="1200" b="1" dirty="0">
                <a:solidFill>
                  <a:schemeClr val="bg1"/>
                </a:solidFill>
                <a:latin typeface="ZapfHumnst BT"/>
                <a:ea typeface="MS PGothic" pitchFamily="34" charset="-128"/>
              </a:rPr>
              <a:t>Personal </a:t>
            </a:r>
          </a:p>
          <a:p>
            <a:pPr algn="ctr"/>
            <a:r>
              <a:rPr lang="en-US" sz="1200" b="1" dirty="0">
                <a:solidFill>
                  <a:schemeClr val="bg1"/>
                </a:solidFill>
                <a:latin typeface="ZapfHumnst BT"/>
                <a:ea typeface="MS PGothic" pitchFamily="34" charset="-128"/>
              </a:rPr>
              <a:t>Lines</a:t>
            </a:r>
          </a:p>
        </p:txBody>
      </p:sp>
      <p:graphicFrame>
        <p:nvGraphicFramePr>
          <p:cNvPr id="4" name="Group 42"/>
          <p:cNvGraphicFramePr>
            <a:graphicFrameLocks noGrp="1"/>
          </p:cNvGraphicFramePr>
          <p:nvPr>
            <p:extLst>
              <p:ext uri="{D42A27DB-BD31-4B8C-83A1-F6EECF244321}">
                <p14:modId xmlns:p14="http://schemas.microsoft.com/office/powerpoint/2010/main" val="2535325700"/>
              </p:ext>
            </p:extLst>
          </p:nvPr>
        </p:nvGraphicFramePr>
        <p:xfrm>
          <a:off x="381000" y="1371600"/>
          <a:ext cx="8229600" cy="2468880"/>
        </p:xfrm>
        <a:graphic>
          <a:graphicData uri="http://schemas.openxmlformats.org/drawingml/2006/table">
            <a:tbl>
              <a:tblPr>
                <a:tableStyleId>{3C2FFA5D-87B4-456A-9821-1D502468CF0F}</a:tableStyleId>
              </a:tblPr>
              <a:tblGrid>
                <a:gridCol w="3863975"/>
                <a:gridCol w="4365625"/>
              </a:tblGrid>
              <a:tr h="304800">
                <a:tc>
                  <a:txBody>
                    <a:bodyPr/>
                    <a:lstStyle/>
                    <a:p>
                      <a:pPr marL="342900" marR="0" lvl="0" indent="-342900" algn="l" defTabSz="914400" rtl="0" eaLnBrk="0" fontAlgn="b" latinLnBrk="0" hangingPunct="0">
                        <a:lnSpc>
                          <a:spcPct val="100000"/>
                        </a:lnSpc>
                        <a:spcBef>
                          <a:spcPct val="0"/>
                        </a:spcBef>
                        <a:spcAft>
                          <a:spcPct val="0"/>
                        </a:spcAft>
                        <a:buClrTx/>
                        <a:buSzTx/>
                        <a:buFont typeface="Arial" pitchFamily="34" charset="0"/>
                        <a:buNone/>
                        <a:tabLst/>
                      </a:pPr>
                      <a:r>
                        <a:rPr kumimoji="0" lang="en-US" sz="1200" u="none" strike="noStrike" cap="none" normalizeH="0" baseline="0" dirty="0" smtClean="0">
                          <a:ln>
                            <a:noFill/>
                          </a:ln>
                          <a:effectLst/>
                        </a:rPr>
                        <a:t>Premium Discount[§]</a:t>
                      </a:r>
                      <a:endParaRPr kumimoji="0" lang="en-US" sz="1200" b="0" i="0" u="none" strike="noStrike" cap="none" normalizeH="0" baseline="0" dirty="0" smtClean="0">
                        <a:ln>
                          <a:noFill/>
                        </a:ln>
                        <a:solidFill>
                          <a:schemeClr val="tx1"/>
                        </a:solidFill>
                        <a:effectLst/>
                        <a:latin typeface="Calibri" pitchFamily="34" charset="0"/>
                      </a:endParaRPr>
                    </a:p>
                  </a:txBody>
                  <a:tcPr anchor="ctr" horzOverflow="overflow"/>
                </a:tc>
                <a:tc>
                  <a:txBody>
                    <a:bodyPr/>
                    <a:lstStyle/>
                    <a:p>
                      <a:pPr marL="342900" marR="0" lvl="0" indent="-342900" algn="l" defTabSz="914400" rtl="0" eaLnBrk="0" fontAlgn="b" latinLnBrk="0" hangingPunct="0">
                        <a:lnSpc>
                          <a:spcPct val="100000"/>
                        </a:lnSpc>
                        <a:spcBef>
                          <a:spcPct val="0"/>
                        </a:spcBef>
                        <a:spcAft>
                          <a:spcPct val="0"/>
                        </a:spcAft>
                        <a:buClrTx/>
                        <a:buSzTx/>
                        <a:buFont typeface="Arial" pitchFamily="34" charset="0"/>
                        <a:buNone/>
                        <a:tabLst/>
                      </a:pPr>
                      <a:r>
                        <a:rPr kumimoji="0" lang="en-US" sz="1200" u="none" strike="noStrike" cap="none" normalizeH="0" baseline="0" dirty="0" smtClean="0">
                          <a:ln>
                            <a:noFill/>
                          </a:ln>
                          <a:effectLst/>
                        </a:rPr>
                        <a:t>[% applied to Standard Premium] </a:t>
                      </a:r>
                      <a:endParaRPr kumimoji="0" lang="en-US" sz="1200" b="0" i="0" u="none" strike="noStrike" cap="none" normalizeH="0" baseline="0" dirty="0" smtClean="0">
                        <a:ln>
                          <a:noFill/>
                        </a:ln>
                        <a:solidFill>
                          <a:schemeClr val="tx1"/>
                        </a:solidFill>
                        <a:effectLst/>
                        <a:latin typeface="Calibri" pitchFamily="34" charset="0"/>
                      </a:endParaRPr>
                    </a:p>
                  </a:txBody>
                  <a:tcPr anchor="ctr" horzOverflow="overflow"/>
                </a:tc>
              </a:tr>
              <a:tr h="304800">
                <a:tc>
                  <a:txBody>
                    <a:bodyPr/>
                    <a:lstStyle/>
                    <a:p>
                      <a:pPr marL="342900" marR="0" lvl="0" indent="-342900" algn="l" defTabSz="914400" rtl="0" eaLnBrk="0" fontAlgn="b" latinLnBrk="0" hangingPunct="0">
                        <a:lnSpc>
                          <a:spcPct val="100000"/>
                        </a:lnSpc>
                        <a:spcBef>
                          <a:spcPct val="0"/>
                        </a:spcBef>
                        <a:spcAft>
                          <a:spcPct val="0"/>
                        </a:spcAft>
                        <a:buClrTx/>
                        <a:buSzTx/>
                        <a:buFont typeface="Arial" pitchFamily="34" charset="0"/>
                        <a:buNone/>
                        <a:tabLst/>
                      </a:pPr>
                      <a:r>
                        <a:rPr kumimoji="0" lang="en-US" sz="1200" u="none" strike="noStrike" cap="none" normalizeH="0" baseline="0" dirty="0" smtClean="0">
                          <a:ln>
                            <a:noFill/>
                          </a:ln>
                          <a:effectLst/>
                        </a:rPr>
                        <a:t>Coal Mine Disease Charge</a:t>
                      </a:r>
                      <a:endParaRPr kumimoji="0" lang="en-US" sz="1200" b="0" i="0" u="none" strike="noStrike" cap="none" normalizeH="0" baseline="0" dirty="0" smtClean="0">
                        <a:ln>
                          <a:noFill/>
                        </a:ln>
                        <a:solidFill>
                          <a:schemeClr val="tx1"/>
                        </a:solidFill>
                        <a:effectLst/>
                        <a:latin typeface="Calibri" pitchFamily="34" charset="0"/>
                      </a:endParaRPr>
                    </a:p>
                  </a:txBody>
                  <a:tcPr anchor="ctr" horzOverflow="overflow"/>
                </a:tc>
                <a:tc>
                  <a:txBody>
                    <a:bodyPr/>
                    <a:lstStyle/>
                    <a:p>
                      <a:pPr marL="342900" marR="0" lvl="0" indent="-342900" algn="l" defTabSz="914400" rtl="0" eaLnBrk="0" fontAlgn="b" latinLnBrk="0" hangingPunct="0">
                        <a:lnSpc>
                          <a:spcPct val="100000"/>
                        </a:lnSpc>
                        <a:spcBef>
                          <a:spcPct val="0"/>
                        </a:spcBef>
                        <a:spcAft>
                          <a:spcPct val="0"/>
                        </a:spcAft>
                        <a:buClrTx/>
                        <a:buSzTx/>
                        <a:buFont typeface="Arial" pitchFamily="34" charset="0"/>
                        <a:buNone/>
                        <a:tabLst/>
                      </a:pPr>
                      <a:endParaRPr kumimoji="0" lang="en-US" sz="1200" b="0" i="0" u="none" strike="noStrike" cap="none" normalizeH="0" baseline="0" dirty="0" smtClean="0">
                        <a:ln>
                          <a:noFill/>
                        </a:ln>
                        <a:solidFill>
                          <a:schemeClr val="tx1"/>
                        </a:solidFill>
                        <a:effectLst/>
                        <a:latin typeface="Calibri" pitchFamily="34" charset="0"/>
                      </a:endParaRPr>
                    </a:p>
                  </a:txBody>
                  <a:tcPr anchor="ctr" horzOverflow="overflow"/>
                </a:tc>
              </a:tr>
              <a:tr h="304800">
                <a:tc>
                  <a:txBody>
                    <a:bodyPr/>
                    <a:lstStyle/>
                    <a:p>
                      <a:pPr marL="342900" marR="0" lvl="0" indent="-342900" algn="l" defTabSz="914400" rtl="0" eaLnBrk="0" fontAlgn="b" latinLnBrk="0" hangingPunct="0">
                        <a:lnSpc>
                          <a:spcPct val="100000"/>
                        </a:lnSpc>
                        <a:spcBef>
                          <a:spcPct val="0"/>
                        </a:spcBef>
                        <a:spcAft>
                          <a:spcPct val="0"/>
                        </a:spcAft>
                        <a:buClrTx/>
                        <a:buSzTx/>
                        <a:buFont typeface="Arial" pitchFamily="34" charset="0"/>
                        <a:buNone/>
                        <a:tabLst/>
                      </a:pPr>
                      <a:r>
                        <a:rPr kumimoji="0" lang="en-US" sz="1200" u="none" strike="noStrike" cap="none" normalizeH="0" baseline="0" dirty="0" smtClean="0">
                          <a:ln>
                            <a:noFill/>
                          </a:ln>
                          <a:effectLst/>
                        </a:rPr>
                        <a:t>Expense Constant </a:t>
                      </a:r>
                      <a:endParaRPr kumimoji="0" lang="en-US" sz="1200" b="0" i="0" u="none" strike="noStrike" cap="none" normalizeH="0" baseline="0" dirty="0" smtClean="0">
                        <a:ln>
                          <a:noFill/>
                        </a:ln>
                        <a:solidFill>
                          <a:schemeClr val="tx1"/>
                        </a:solidFill>
                        <a:effectLst/>
                        <a:latin typeface="Calibri" pitchFamily="34" charset="0"/>
                      </a:endParaRPr>
                    </a:p>
                  </a:txBody>
                  <a:tcPr anchor="ctr" horzOverflow="overflow"/>
                </a:tc>
                <a:tc>
                  <a:txBody>
                    <a:bodyPr/>
                    <a:lstStyle/>
                    <a:p>
                      <a:pPr marL="342900" marR="0" lvl="0" indent="-342900" algn="l" defTabSz="914400" rtl="0" eaLnBrk="0" fontAlgn="b" latinLnBrk="0" hangingPunct="0">
                        <a:lnSpc>
                          <a:spcPct val="100000"/>
                        </a:lnSpc>
                        <a:spcBef>
                          <a:spcPct val="0"/>
                        </a:spcBef>
                        <a:spcAft>
                          <a:spcPct val="0"/>
                        </a:spcAft>
                        <a:buClrTx/>
                        <a:buSzTx/>
                        <a:buFont typeface="Arial" pitchFamily="34" charset="0"/>
                        <a:buNone/>
                        <a:tabLst/>
                      </a:pPr>
                      <a:r>
                        <a:rPr kumimoji="0" lang="en-US" sz="1200" u="none" strike="noStrike" cap="none" normalizeH="0" baseline="0" dirty="0" smtClean="0">
                          <a:ln>
                            <a:noFill/>
                          </a:ln>
                          <a:effectLst/>
                        </a:rPr>
                        <a:t>  </a:t>
                      </a:r>
                      <a:endParaRPr kumimoji="0" lang="en-US" sz="1200" b="0" i="0" u="none" strike="noStrike" cap="none" normalizeH="0" baseline="0" dirty="0" smtClean="0">
                        <a:ln>
                          <a:noFill/>
                        </a:ln>
                        <a:solidFill>
                          <a:schemeClr val="tx1"/>
                        </a:solidFill>
                        <a:effectLst/>
                        <a:latin typeface="Calibri" pitchFamily="34" charset="0"/>
                      </a:endParaRPr>
                    </a:p>
                  </a:txBody>
                  <a:tcPr anchor="ctr" horzOverflow="overflow"/>
                </a:tc>
              </a:tr>
              <a:tr h="304800">
                <a:tc>
                  <a:txBody>
                    <a:bodyPr/>
                    <a:lstStyle/>
                    <a:p>
                      <a:pPr marL="342900" marR="0" lvl="0" indent="-342900" algn="l" defTabSz="914400" rtl="0" eaLnBrk="0" fontAlgn="b" latinLnBrk="0" hangingPunct="0">
                        <a:lnSpc>
                          <a:spcPct val="100000"/>
                        </a:lnSpc>
                        <a:spcBef>
                          <a:spcPct val="0"/>
                        </a:spcBef>
                        <a:spcAft>
                          <a:spcPct val="0"/>
                        </a:spcAft>
                        <a:buClrTx/>
                        <a:buSzTx/>
                        <a:buFont typeface="Arial" pitchFamily="34" charset="0"/>
                        <a:buNone/>
                        <a:tabLst/>
                      </a:pPr>
                      <a:r>
                        <a:rPr kumimoji="0" lang="en-US" sz="1200" u="none" strike="noStrike" cap="none" normalizeH="0" baseline="0" dirty="0" smtClean="0">
                          <a:ln>
                            <a:noFill/>
                          </a:ln>
                          <a:effectLst/>
                        </a:rPr>
                        <a:t>Terrorism</a:t>
                      </a:r>
                      <a:endParaRPr kumimoji="0" lang="en-US" sz="1200" b="0" i="0" u="none" strike="noStrike" cap="none" normalizeH="0" baseline="0" dirty="0" smtClean="0">
                        <a:ln>
                          <a:noFill/>
                        </a:ln>
                        <a:solidFill>
                          <a:schemeClr val="tx1"/>
                        </a:solidFill>
                        <a:effectLst/>
                        <a:latin typeface="Calibri" pitchFamily="34" charset="0"/>
                      </a:endParaRPr>
                    </a:p>
                  </a:txBody>
                  <a:tcPr anchor="ctr" horzOverflow="overflow"/>
                </a:tc>
                <a:tc>
                  <a:txBody>
                    <a:bodyPr/>
                    <a:lstStyle/>
                    <a:p>
                      <a:pPr marL="342900" marR="0" lvl="0" indent="-342900" algn="l" defTabSz="914400" rtl="0" eaLnBrk="0" fontAlgn="b" latinLnBrk="0" hangingPunct="0">
                        <a:lnSpc>
                          <a:spcPct val="100000"/>
                        </a:lnSpc>
                        <a:spcBef>
                          <a:spcPct val="0"/>
                        </a:spcBef>
                        <a:spcAft>
                          <a:spcPct val="0"/>
                        </a:spcAft>
                        <a:buClrTx/>
                        <a:buSzTx/>
                        <a:buFont typeface="Arial" pitchFamily="34" charset="0"/>
                        <a:buNone/>
                        <a:tabLst/>
                      </a:pPr>
                      <a:r>
                        <a:rPr kumimoji="0" lang="en-US" sz="1200" u="none" strike="noStrike" cap="none" normalizeH="0" baseline="0" dirty="0" smtClean="0">
                          <a:ln>
                            <a:noFill/>
                          </a:ln>
                          <a:effectLst/>
                        </a:rPr>
                        <a:t>[(PAYROLL / 100) * TERRORISM VALUE] </a:t>
                      </a:r>
                      <a:endParaRPr kumimoji="0" lang="en-US" sz="1200" b="0" i="0" u="none" strike="noStrike" cap="none" normalizeH="0" baseline="0" dirty="0" smtClean="0">
                        <a:ln>
                          <a:noFill/>
                        </a:ln>
                        <a:solidFill>
                          <a:schemeClr val="tx1"/>
                        </a:solidFill>
                        <a:effectLst/>
                        <a:latin typeface="Calibri" pitchFamily="34" charset="0"/>
                      </a:endParaRPr>
                    </a:p>
                  </a:txBody>
                  <a:tcPr anchor="ctr" horzOverflow="overflow"/>
                </a:tc>
              </a:tr>
              <a:tr h="304800">
                <a:tc>
                  <a:txBody>
                    <a:bodyPr/>
                    <a:lstStyle/>
                    <a:p>
                      <a:r>
                        <a:rPr kumimoji="0" lang="en-US" sz="1200" u="none" strike="noStrike" kern="1200" cap="none" normalizeH="0" baseline="0" dirty="0" smtClean="0">
                          <a:ln>
                            <a:noFill/>
                          </a:ln>
                          <a:effectLst/>
                        </a:rPr>
                        <a:t>Catastrophe (other than Certified</a:t>
                      </a:r>
                    </a:p>
                    <a:p>
                      <a:r>
                        <a:rPr kumimoji="0" lang="en-US" sz="1200" u="none" strike="noStrike" kern="1200" cap="none" normalizeH="0" baseline="0" dirty="0" smtClean="0">
                          <a:ln>
                            <a:noFill/>
                          </a:ln>
                          <a:effectLst/>
                        </a:rPr>
                        <a:t>Acts of Terrorism)</a:t>
                      </a:r>
                      <a:endParaRPr kumimoji="0" lang="en-US" sz="1200" b="0" i="0" u="none" strike="noStrike" kern="1200" cap="none" normalizeH="0" baseline="0" dirty="0" smtClean="0">
                        <a:ln>
                          <a:noFill/>
                        </a:ln>
                        <a:solidFill>
                          <a:schemeClr val="tx1"/>
                        </a:solidFill>
                        <a:effectLst/>
                        <a:latin typeface="Calibri" pitchFamily="34" charset="0"/>
                        <a:ea typeface="+mn-ea"/>
                        <a:cs typeface="Arial" pitchFamily="34" charset="0"/>
                      </a:endParaRPr>
                    </a:p>
                  </a:txBody>
                  <a:tcPr anchor="ctr" horzOverflow="overflow"/>
                </a:tc>
                <a:tc>
                  <a:txBody>
                    <a:bodyPr/>
                    <a:lstStyle/>
                    <a:p>
                      <a:r>
                        <a:rPr kumimoji="0" lang="en-US" sz="1200" u="none" strike="noStrike" cap="none" normalizeH="0" baseline="0" dirty="0" smtClean="0">
                          <a:ln>
                            <a:noFill/>
                          </a:ln>
                          <a:effectLst/>
                        </a:rPr>
                        <a:t>[(PAYROLL / 100) *</a:t>
                      </a:r>
                      <a:r>
                        <a:rPr kumimoji="0" lang="en-US" sz="1200" u="none" strike="noStrike" kern="1200" cap="none" normalizeH="0" baseline="0" dirty="0" smtClean="0">
                          <a:ln>
                            <a:noFill/>
                          </a:ln>
                          <a:effectLst/>
                        </a:rPr>
                        <a:t>CATASTROPHE</a:t>
                      </a:r>
                    </a:p>
                    <a:p>
                      <a:r>
                        <a:rPr kumimoji="0" lang="en-US" sz="1200" u="none" strike="noStrike" kern="1200" cap="none" normalizeH="0" baseline="0" dirty="0" smtClean="0">
                          <a:ln>
                            <a:noFill/>
                          </a:ln>
                          <a:effectLst/>
                        </a:rPr>
                        <a:t>(OTHER THAN CERTIFIED ACTS OF</a:t>
                      </a:r>
                    </a:p>
                    <a:p>
                      <a:r>
                        <a:rPr kumimoji="0" lang="en-US" sz="1200" u="none" strike="noStrike" kern="1200" cap="none" normalizeH="0" baseline="0" dirty="0" smtClean="0">
                          <a:ln>
                            <a:noFill/>
                          </a:ln>
                          <a:effectLst/>
                        </a:rPr>
                        <a:t>TERRORISM) VALUE] </a:t>
                      </a:r>
                      <a:endParaRPr kumimoji="0" lang="en-US" sz="1200" b="0" i="0" u="none" strike="noStrike" kern="1200" cap="none" normalizeH="0" baseline="0" dirty="0" smtClean="0">
                        <a:ln>
                          <a:noFill/>
                        </a:ln>
                        <a:solidFill>
                          <a:srgbClr val="000000"/>
                        </a:solidFill>
                        <a:effectLst/>
                        <a:latin typeface="Calibri" pitchFamily="34" charset="0"/>
                        <a:ea typeface="+mn-ea"/>
                        <a:cs typeface="Arial" pitchFamily="34" charset="0"/>
                      </a:endParaRPr>
                    </a:p>
                  </a:txBody>
                  <a:tcPr anchor="ctr" horzOverflow="overflow"/>
                </a:tc>
              </a:tr>
              <a:tr h="304800">
                <a:tc>
                  <a:txBody>
                    <a:bodyPr/>
                    <a:lstStyle/>
                    <a:p>
                      <a:pPr marL="342900" marR="0" lvl="0" indent="-342900" algn="l" defTabSz="914400" rtl="0" eaLnBrk="0" fontAlgn="b" latinLnBrk="0" hangingPunct="0">
                        <a:lnSpc>
                          <a:spcPct val="100000"/>
                        </a:lnSpc>
                        <a:spcBef>
                          <a:spcPct val="0"/>
                        </a:spcBef>
                        <a:spcAft>
                          <a:spcPct val="0"/>
                        </a:spcAft>
                        <a:buClrTx/>
                        <a:buSzTx/>
                        <a:buFont typeface="Arial" pitchFamily="34" charset="0"/>
                        <a:buNone/>
                        <a:tabLst/>
                      </a:pPr>
                      <a:r>
                        <a:rPr kumimoji="0" lang="en-US" sz="1200" u="none" strike="noStrike" cap="none" normalizeH="0" baseline="0" dirty="0" smtClean="0">
                          <a:ln>
                            <a:noFill/>
                          </a:ln>
                          <a:effectLst/>
                        </a:rPr>
                        <a:t>ESTIMATED ANNUAL PREMIUM</a:t>
                      </a:r>
                      <a:endParaRPr kumimoji="0" lang="en-US" sz="1200" b="0" i="0" u="none" strike="noStrike" cap="none" normalizeH="0" baseline="0" dirty="0" smtClean="0">
                        <a:ln>
                          <a:noFill/>
                        </a:ln>
                        <a:solidFill>
                          <a:schemeClr val="tx1"/>
                        </a:solidFill>
                        <a:effectLst/>
                        <a:latin typeface="Calibri" pitchFamily="34" charset="0"/>
                      </a:endParaRPr>
                    </a:p>
                  </a:txBody>
                  <a:tcPr anchor="ctr" horzOverflow="overflow"/>
                </a:tc>
                <a:tc>
                  <a:txBody>
                    <a:bodyPr/>
                    <a:lstStyle/>
                    <a:p>
                      <a:pPr marL="342900" marR="0" lvl="0" indent="-342900" algn="l" defTabSz="914400" rtl="0" eaLnBrk="0" fontAlgn="b" latinLnBrk="0" hangingPunct="0">
                        <a:lnSpc>
                          <a:spcPct val="100000"/>
                        </a:lnSpc>
                        <a:spcBef>
                          <a:spcPct val="0"/>
                        </a:spcBef>
                        <a:spcAft>
                          <a:spcPct val="0"/>
                        </a:spcAft>
                        <a:buClrTx/>
                        <a:buSzTx/>
                        <a:buFont typeface="Arial" pitchFamily="34" charset="0"/>
                        <a:buNone/>
                        <a:tabLst/>
                      </a:pPr>
                      <a:r>
                        <a:rPr kumimoji="0" lang="en-US" sz="1200" u="none" strike="noStrike" cap="none" normalizeH="0" baseline="0" dirty="0" smtClean="0">
                          <a:ln>
                            <a:noFill/>
                          </a:ln>
                          <a:effectLst/>
                        </a:rPr>
                        <a:t>  </a:t>
                      </a:r>
                      <a:endParaRPr kumimoji="0" lang="en-US" sz="1200" b="0" i="0" u="none" strike="noStrike" cap="none" normalizeH="0" baseline="0" dirty="0" smtClean="0">
                        <a:ln>
                          <a:noFill/>
                        </a:ln>
                        <a:solidFill>
                          <a:schemeClr val="tx1"/>
                        </a:solidFill>
                        <a:effectLst/>
                        <a:latin typeface="Calibri" pitchFamily="34" charset="0"/>
                      </a:endParaRPr>
                    </a:p>
                  </a:txBody>
                  <a:tcPr anchor="ctr" horzOverflow="overflow"/>
                </a:tc>
              </a:tr>
              <a:tr h="304800">
                <a:tc>
                  <a:txBody>
                    <a:bodyPr/>
                    <a:lstStyle/>
                    <a:p>
                      <a:pPr marL="342900" marR="0" lvl="0" indent="-342900" algn="l" defTabSz="914400" rtl="0" eaLnBrk="0" fontAlgn="b" latinLnBrk="0" hangingPunct="0">
                        <a:lnSpc>
                          <a:spcPct val="100000"/>
                        </a:lnSpc>
                        <a:spcBef>
                          <a:spcPct val="0"/>
                        </a:spcBef>
                        <a:spcAft>
                          <a:spcPct val="0"/>
                        </a:spcAft>
                        <a:buClrTx/>
                        <a:buSzTx/>
                        <a:buFont typeface="Arial" pitchFamily="34" charset="0"/>
                        <a:buNone/>
                        <a:tabLst/>
                      </a:pPr>
                      <a:r>
                        <a:rPr kumimoji="0" lang="en-US" sz="1200" u="none" strike="noStrike" cap="none" normalizeH="0" baseline="0" dirty="0" smtClean="0">
                          <a:ln>
                            <a:noFill/>
                          </a:ln>
                          <a:effectLst/>
                        </a:rPr>
                        <a:t>TOTAL AMOUNT DUE</a:t>
                      </a:r>
                      <a:endParaRPr kumimoji="0" lang="en-US" sz="1200" b="0" i="0" u="none" strike="noStrike" cap="none" normalizeH="0" baseline="0" dirty="0" smtClean="0">
                        <a:ln>
                          <a:noFill/>
                        </a:ln>
                        <a:solidFill>
                          <a:srgbClr val="FF0000"/>
                        </a:solidFill>
                        <a:effectLst/>
                        <a:latin typeface="Calibri" pitchFamily="34" charset="0"/>
                      </a:endParaRPr>
                    </a:p>
                  </a:txBody>
                  <a:tcPr anchor="ctr" horzOverflow="overflow"/>
                </a:tc>
                <a:tc>
                  <a:txBody>
                    <a:bodyPr/>
                    <a:lstStyle/>
                    <a:p>
                      <a:pPr marL="342900" marR="0" lvl="0" indent="-342900" algn="l" defTabSz="914400" rtl="0" eaLnBrk="0" fontAlgn="b" latinLnBrk="0" hangingPunct="0">
                        <a:lnSpc>
                          <a:spcPct val="100000"/>
                        </a:lnSpc>
                        <a:spcBef>
                          <a:spcPct val="0"/>
                        </a:spcBef>
                        <a:spcAft>
                          <a:spcPct val="0"/>
                        </a:spcAft>
                        <a:buClrTx/>
                        <a:buSzTx/>
                        <a:buFont typeface="Arial" pitchFamily="34" charset="0"/>
                        <a:buNone/>
                        <a:tabLst/>
                      </a:pPr>
                      <a:r>
                        <a:rPr kumimoji="0" lang="en-US" sz="1200" u="none" strike="noStrike" cap="none" normalizeH="0" baseline="0" dirty="0" smtClean="0">
                          <a:ln>
                            <a:noFill/>
                          </a:ln>
                          <a:effectLst/>
                        </a:rPr>
                        <a:t>  </a:t>
                      </a:r>
                      <a:endParaRPr kumimoji="0" lang="en-US" sz="1200" b="0" i="0" u="none" strike="noStrike" cap="none" normalizeH="0" baseline="0" dirty="0" smtClean="0">
                        <a:ln>
                          <a:noFill/>
                        </a:ln>
                        <a:solidFill>
                          <a:schemeClr val="tx1"/>
                        </a:solidFill>
                        <a:effectLst/>
                        <a:latin typeface="Calibri" pitchFamily="34" charset="0"/>
                      </a:endParaRPr>
                    </a:p>
                  </a:txBody>
                  <a:tcPr anchor="ctr" horzOverflow="overflow"/>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ChangeArrowheads="1"/>
          </p:cNvSpPr>
          <p:nvPr>
            <p:custDataLst>
              <p:tags r:id="rId1"/>
            </p:custDataLst>
          </p:nvPr>
        </p:nvSpPr>
        <p:spPr bwMode="auto">
          <a:xfrm>
            <a:off x="304800" y="3505200"/>
            <a:ext cx="990600" cy="427038"/>
          </a:xfrm>
          <a:prstGeom prst="rect">
            <a:avLst/>
          </a:prstGeom>
          <a:noFill/>
          <a:ln w="9525">
            <a:noFill/>
            <a:miter lim="800000"/>
            <a:headEnd/>
            <a:tailEnd/>
          </a:ln>
        </p:spPr>
        <p:txBody>
          <a:bodyPr anchor="ctr"/>
          <a:lstStyle/>
          <a:p>
            <a:pPr algn="ctr"/>
            <a:r>
              <a:rPr lang="en-US" sz="1200" b="1" dirty="0">
                <a:solidFill>
                  <a:schemeClr val="bg1"/>
                </a:solidFill>
                <a:latin typeface="ZapfHumnst BT"/>
                <a:ea typeface="MS PGothic" pitchFamily="34" charset="-128"/>
              </a:rPr>
              <a:t>Personal </a:t>
            </a:r>
          </a:p>
          <a:p>
            <a:pPr algn="ctr"/>
            <a:r>
              <a:rPr lang="en-US" sz="1200" b="1" dirty="0">
                <a:solidFill>
                  <a:schemeClr val="bg1"/>
                </a:solidFill>
                <a:latin typeface="ZapfHumnst BT"/>
                <a:ea typeface="MS PGothic" pitchFamily="34" charset="-128"/>
              </a:rPr>
              <a:t>Lines</a:t>
            </a:r>
          </a:p>
        </p:txBody>
      </p:sp>
      <p:sp>
        <p:nvSpPr>
          <p:cNvPr id="9220" name="TextBox 27"/>
          <p:cNvSpPr txBox="1">
            <a:spLocks noChangeArrowheads="1"/>
          </p:cNvSpPr>
          <p:nvPr/>
        </p:nvSpPr>
        <p:spPr bwMode="auto">
          <a:xfrm>
            <a:off x="152400" y="152400"/>
            <a:ext cx="4572000" cy="369332"/>
          </a:xfrm>
          <a:prstGeom prst="rect">
            <a:avLst/>
          </a:prstGeom>
          <a:noFill/>
          <a:ln w="9525">
            <a:noFill/>
            <a:miter lim="800000"/>
            <a:headEnd/>
            <a:tailEnd/>
          </a:ln>
        </p:spPr>
        <p:txBody>
          <a:bodyPr>
            <a:spAutoFit/>
          </a:bodyPr>
          <a:lstStyle/>
          <a:p>
            <a:pPr eaLnBrk="0" hangingPunct="0">
              <a:buSzPct val="120000"/>
              <a:tabLst>
                <a:tab pos="1828800" algn="l"/>
              </a:tabLst>
            </a:pPr>
            <a:r>
              <a:rPr lang="en-US" b="1" dirty="0">
                <a:solidFill>
                  <a:schemeClr val="bg1"/>
                </a:solidFill>
                <a:latin typeface="Verdana" pitchFamily="34" charset="0"/>
              </a:rPr>
              <a:t>WC Exclusions</a:t>
            </a:r>
          </a:p>
        </p:txBody>
      </p:sp>
      <p:pic>
        <p:nvPicPr>
          <p:cNvPr id="9221" name="Picture 33"/>
          <p:cNvPicPr>
            <a:picLocks noChangeAspect="1" noChangeArrowheads="1"/>
          </p:cNvPicPr>
          <p:nvPr/>
        </p:nvPicPr>
        <p:blipFill>
          <a:blip r:embed="rId3" cstate="print"/>
          <a:srcRect/>
          <a:stretch>
            <a:fillRect/>
          </a:stretch>
        </p:blipFill>
        <p:spPr bwMode="auto">
          <a:xfrm>
            <a:off x="685800" y="1271588"/>
            <a:ext cx="7924799" cy="48244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ChangeArrowheads="1"/>
          </p:cNvSpPr>
          <p:nvPr>
            <p:custDataLst>
              <p:tags r:id="rId1"/>
            </p:custDataLst>
          </p:nvPr>
        </p:nvSpPr>
        <p:spPr bwMode="auto">
          <a:xfrm>
            <a:off x="304800" y="3505200"/>
            <a:ext cx="990600" cy="427038"/>
          </a:xfrm>
          <a:prstGeom prst="rect">
            <a:avLst/>
          </a:prstGeom>
          <a:noFill/>
          <a:ln w="9525">
            <a:noFill/>
            <a:miter lim="800000"/>
            <a:headEnd/>
            <a:tailEnd/>
          </a:ln>
        </p:spPr>
        <p:txBody>
          <a:bodyPr anchor="ctr"/>
          <a:lstStyle/>
          <a:p>
            <a:pPr algn="ctr"/>
            <a:r>
              <a:rPr lang="en-US" sz="1200" b="1" dirty="0">
                <a:solidFill>
                  <a:schemeClr val="bg1"/>
                </a:solidFill>
                <a:latin typeface="ZapfHumnst BT"/>
                <a:ea typeface="MS PGothic" pitchFamily="34" charset="-128"/>
              </a:rPr>
              <a:t>Personal </a:t>
            </a:r>
          </a:p>
          <a:p>
            <a:pPr algn="ctr"/>
            <a:r>
              <a:rPr lang="en-US" sz="1200" b="1" dirty="0">
                <a:solidFill>
                  <a:schemeClr val="bg1"/>
                </a:solidFill>
                <a:latin typeface="ZapfHumnst BT"/>
                <a:ea typeface="MS PGothic" pitchFamily="34" charset="-128"/>
              </a:rPr>
              <a:t>Lines</a:t>
            </a:r>
          </a:p>
        </p:txBody>
      </p:sp>
      <p:sp>
        <p:nvSpPr>
          <p:cNvPr id="10244" name="TextBox 27"/>
          <p:cNvSpPr txBox="1">
            <a:spLocks noChangeArrowheads="1"/>
          </p:cNvSpPr>
          <p:nvPr/>
        </p:nvSpPr>
        <p:spPr bwMode="auto">
          <a:xfrm>
            <a:off x="152400" y="152400"/>
            <a:ext cx="4572000" cy="369332"/>
          </a:xfrm>
          <a:prstGeom prst="rect">
            <a:avLst/>
          </a:prstGeom>
          <a:noFill/>
          <a:ln w="9525">
            <a:noFill/>
            <a:miter lim="800000"/>
            <a:headEnd/>
            <a:tailEnd/>
          </a:ln>
        </p:spPr>
        <p:txBody>
          <a:bodyPr>
            <a:spAutoFit/>
          </a:bodyPr>
          <a:lstStyle/>
          <a:p>
            <a:pPr eaLnBrk="0" hangingPunct="0">
              <a:buSzPct val="120000"/>
              <a:tabLst>
                <a:tab pos="1828800" algn="l"/>
              </a:tabLst>
            </a:pPr>
            <a:r>
              <a:rPr lang="en-US" b="1" dirty="0">
                <a:solidFill>
                  <a:schemeClr val="bg1"/>
                </a:solidFill>
                <a:latin typeface="Verdana" pitchFamily="34" charset="0"/>
              </a:rPr>
              <a:t>WC Exclusions</a:t>
            </a:r>
          </a:p>
        </p:txBody>
      </p:sp>
      <p:pic>
        <p:nvPicPr>
          <p:cNvPr id="10245" name="Picture 32"/>
          <p:cNvPicPr>
            <a:picLocks noChangeAspect="1" noChangeArrowheads="1"/>
          </p:cNvPicPr>
          <p:nvPr/>
        </p:nvPicPr>
        <p:blipFill>
          <a:blip r:embed="rId3" cstate="print"/>
          <a:srcRect/>
          <a:stretch>
            <a:fillRect/>
          </a:stretch>
        </p:blipFill>
        <p:spPr bwMode="auto">
          <a:xfrm>
            <a:off x="609600" y="1676400"/>
            <a:ext cx="7772400" cy="1447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 y="228600"/>
            <a:ext cx="5562600" cy="338554"/>
          </a:xfrm>
          <a:prstGeom prst="rect">
            <a:avLst/>
          </a:prstGeom>
          <a:noFill/>
        </p:spPr>
        <p:txBody>
          <a:bodyPr wrap="square" rtlCol="0">
            <a:spAutoFit/>
          </a:bodyPr>
          <a:lstStyle/>
          <a:p>
            <a:r>
              <a:rPr lang="en-US" sz="1600" b="1" dirty="0" smtClean="0">
                <a:solidFill>
                  <a:schemeClr val="bg1"/>
                </a:solidFill>
                <a:latin typeface="Arial" pitchFamily="34" charset="0"/>
                <a:cs typeface="Arial" pitchFamily="34" charset="0"/>
              </a:rPr>
              <a:t>Deductible</a:t>
            </a:r>
            <a:endParaRPr lang="en-US" b="1" dirty="0">
              <a:solidFill>
                <a:schemeClr val="bg1"/>
              </a:solidFill>
              <a:latin typeface="Arial" pitchFamily="34" charset="0"/>
              <a:cs typeface="Arial" pitchFamily="34" charset="0"/>
            </a:endParaRPr>
          </a:p>
        </p:txBody>
      </p:sp>
      <p:sp>
        <p:nvSpPr>
          <p:cNvPr id="3" name="TextBox 2"/>
          <p:cNvSpPr txBox="1"/>
          <p:nvPr/>
        </p:nvSpPr>
        <p:spPr>
          <a:xfrm>
            <a:off x="304800" y="1143000"/>
            <a:ext cx="7848600" cy="1323439"/>
          </a:xfrm>
          <a:prstGeom prst="rect">
            <a:avLst/>
          </a:prstGeom>
          <a:noFill/>
        </p:spPr>
        <p:txBody>
          <a:bodyPr wrap="square" rtlCol="0">
            <a:spAutoFit/>
          </a:bodyPr>
          <a:lstStyle/>
          <a:p>
            <a:r>
              <a:rPr lang="en-US" sz="1600" b="1" dirty="0" smtClean="0">
                <a:latin typeface="Arial" pitchFamily="34" charset="0"/>
                <a:cs typeface="Arial" pitchFamily="34" charset="0"/>
              </a:rPr>
              <a:t>Deductible:</a:t>
            </a:r>
          </a:p>
          <a:p>
            <a:r>
              <a:rPr lang="en-US" sz="1600" dirty="0" smtClean="0">
                <a:latin typeface="Arial" pitchFamily="34" charset="0"/>
                <a:cs typeface="Arial" pitchFamily="34" charset="0"/>
              </a:rPr>
              <a:t>An Insurance Deductible is the amount, the insured is required and obligated to pay by the insurance policy. The deductible is chosen by the insured and is usually applied to coverage's. Generally the lower the deductible, the higher the insurance premium.</a:t>
            </a:r>
            <a:endParaRPr lang="en-US" sz="1600" dirty="0">
              <a:latin typeface="Arial" pitchFamily="34" charset="0"/>
              <a:cs typeface="Arial" pitchFamily="34" charset="0"/>
            </a:endParaRPr>
          </a:p>
        </p:txBody>
      </p:sp>
      <p:sp>
        <p:nvSpPr>
          <p:cNvPr id="4" name="TextBox 3"/>
          <p:cNvSpPr txBox="1"/>
          <p:nvPr/>
        </p:nvSpPr>
        <p:spPr>
          <a:xfrm>
            <a:off x="457200" y="2971800"/>
            <a:ext cx="8305800" cy="2554545"/>
          </a:xfrm>
          <a:prstGeom prst="rect">
            <a:avLst/>
          </a:prstGeom>
          <a:noFill/>
        </p:spPr>
        <p:txBody>
          <a:bodyPr wrap="square" rtlCol="0">
            <a:spAutoFit/>
          </a:bodyPr>
          <a:lstStyle/>
          <a:p>
            <a:r>
              <a:rPr lang="en-US" sz="1600" b="1" dirty="0" smtClean="0">
                <a:latin typeface="Arial" pitchFamily="34" charset="0"/>
                <a:cs typeface="Arial" pitchFamily="34" charset="0"/>
              </a:rPr>
              <a:t>Small Deductible:</a:t>
            </a:r>
          </a:p>
          <a:p>
            <a:r>
              <a:rPr lang="en-US" sz="1600" dirty="0" smtClean="0">
                <a:latin typeface="Arial" pitchFamily="34" charset="0"/>
                <a:cs typeface="Arial" pitchFamily="34" charset="0"/>
              </a:rPr>
              <a:t>A form of workers compensation insurance introduced in 1990 and approved for use in some states. The employer pays a reduced premium but must reimburse the insurer for claims that fall within the deductible amount.</a:t>
            </a:r>
          </a:p>
          <a:p>
            <a:r>
              <a:rPr lang="en-US" sz="1600" dirty="0" smtClean="0">
                <a:latin typeface="Arial" pitchFamily="34" charset="0"/>
                <a:cs typeface="Arial" pitchFamily="34" charset="0"/>
              </a:rPr>
              <a:t>Small deductible plans were developed for those employers who are not eligible for more complex premium savings programs or who may not be of the size to qualify for those other plans. These plans were also developed with the idea in mind to provide incentives for employers to implement loss control programs that ultimately assist in reducing the employers cost for workers compensation insurance. Small deductible plans vary from state to state with many approved deductibles ranging from $500 to $5,000. </a:t>
            </a:r>
            <a:endParaRPr lang="en-US" sz="1600" dirty="0">
              <a:latin typeface="Arial" pitchFamily="34" charset="0"/>
              <a:cs typeface="Arial"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 y="228600"/>
            <a:ext cx="5562600" cy="338554"/>
          </a:xfrm>
          <a:prstGeom prst="rect">
            <a:avLst/>
          </a:prstGeom>
          <a:noFill/>
        </p:spPr>
        <p:txBody>
          <a:bodyPr wrap="square" rtlCol="0">
            <a:spAutoFit/>
          </a:bodyPr>
          <a:lstStyle/>
          <a:p>
            <a:r>
              <a:rPr lang="en-US" sz="1600" b="1" dirty="0" smtClean="0">
                <a:solidFill>
                  <a:schemeClr val="bg1"/>
                </a:solidFill>
                <a:latin typeface="Arial" pitchFamily="34" charset="0"/>
                <a:cs typeface="Arial" pitchFamily="34" charset="0"/>
              </a:rPr>
              <a:t>Deductible (Cont…)</a:t>
            </a:r>
            <a:endParaRPr lang="en-US" b="1" dirty="0">
              <a:solidFill>
                <a:schemeClr val="bg1"/>
              </a:solidFill>
              <a:latin typeface="Arial" pitchFamily="34" charset="0"/>
              <a:cs typeface="Arial" pitchFamily="34" charset="0"/>
            </a:endParaRPr>
          </a:p>
        </p:txBody>
      </p:sp>
      <p:sp>
        <p:nvSpPr>
          <p:cNvPr id="3" name="TextBox 2"/>
          <p:cNvSpPr txBox="1"/>
          <p:nvPr/>
        </p:nvSpPr>
        <p:spPr>
          <a:xfrm>
            <a:off x="381000" y="1371600"/>
            <a:ext cx="8229600" cy="1600438"/>
          </a:xfrm>
          <a:prstGeom prst="rect">
            <a:avLst/>
          </a:prstGeom>
          <a:noFill/>
        </p:spPr>
        <p:txBody>
          <a:bodyPr wrap="square" rtlCol="0">
            <a:spAutoFit/>
          </a:bodyPr>
          <a:lstStyle/>
          <a:p>
            <a:r>
              <a:rPr lang="en-US" b="1" dirty="0" smtClean="0">
                <a:latin typeface="Arial" pitchFamily="34" charset="0"/>
                <a:cs typeface="Arial" pitchFamily="34" charset="0"/>
              </a:rPr>
              <a:t>Large Deductible:</a:t>
            </a:r>
          </a:p>
          <a:p>
            <a:r>
              <a:rPr lang="en-US" sz="1600" dirty="0" smtClean="0">
                <a:latin typeface="Arial" pitchFamily="34" charset="0"/>
                <a:cs typeface="Arial" pitchFamily="34" charset="0"/>
              </a:rPr>
              <a:t>Large deductible policies are designed to give employers that are willing to retain most of the risk an option that reduces their insurance costs without  depriving employees of the certainty of insured benefits. When large deductible policies operate as intended, they provide the best of both worlds. The employer gets cost savings from quasi-self-insurance, while its employees remain fully insured.</a:t>
            </a:r>
            <a:endParaRPr lang="en-US" sz="1600" dirty="0">
              <a:latin typeface="Arial" pitchFamily="34" charset="0"/>
              <a:cs typeface="Arial"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5"/>
          <p:cNvSpPr>
            <a:spLocks noChangeArrowheads="1"/>
          </p:cNvSpPr>
          <p:nvPr/>
        </p:nvSpPr>
        <p:spPr bwMode="auto">
          <a:xfrm>
            <a:off x="0" y="228600"/>
            <a:ext cx="4724400" cy="369332"/>
          </a:xfrm>
          <a:prstGeom prst="rect">
            <a:avLst/>
          </a:prstGeom>
          <a:noFill/>
          <a:ln w="9525">
            <a:noFill/>
            <a:miter lim="800000"/>
            <a:headEnd/>
            <a:tailEnd/>
          </a:ln>
        </p:spPr>
        <p:txBody>
          <a:bodyPr>
            <a:spAutoFit/>
          </a:bodyPr>
          <a:lstStyle/>
          <a:p>
            <a:r>
              <a:rPr lang="en-US" b="1" dirty="0">
                <a:solidFill>
                  <a:schemeClr val="bg1"/>
                </a:solidFill>
                <a:latin typeface="Arial" pitchFamily="34" charset="0"/>
                <a:cs typeface="Arial" pitchFamily="34" charset="0"/>
              </a:rPr>
              <a:t>USL&amp;H Coverage</a:t>
            </a:r>
            <a:endParaRPr lang="en-US" b="1" dirty="0">
              <a:latin typeface="Arial" pitchFamily="34" charset="0"/>
              <a:cs typeface="Arial" pitchFamily="34" charset="0"/>
            </a:endParaRPr>
          </a:p>
        </p:txBody>
      </p:sp>
      <p:sp>
        <p:nvSpPr>
          <p:cNvPr id="27" name="Rectangle 26"/>
          <p:cNvSpPr/>
          <p:nvPr/>
        </p:nvSpPr>
        <p:spPr>
          <a:xfrm>
            <a:off x="152400" y="990601"/>
            <a:ext cx="7924800" cy="5539978"/>
          </a:xfrm>
          <a:prstGeom prst="rect">
            <a:avLst/>
          </a:prstGeom>
        </p:spPr>
        <p:txBody>
          <a:bodyPr wrap="square">
            <a:spAutoFit/>
          </a:bodyPr>
          <a:lstStyle/>
          <a:p>
            <a:r>
              <a:rPr lang="en-US" sz="1600" b="1" dirty="0" smtClean="0">
                <a:latin typeface="Arial" pitchFamily="34" charset="0"/>
                <a:cs typeface="Arial" pitchFamily="34" charset="0"/>
              </a:rPr>
              <a:t>USL&amp;H</a:t>
            </a:r>
            <a:r>
              <a:rPr lang="en-US" sz="1600" dirty="0" smtClean="0">
                <a:latin typeface="Arial" pitchFamily="34" charset="0"/>
                <a:cs typeface="Arial" pitchFamily="34" charset="0"/>
              </a:rPr>
              <a:t> refers to the United States </a:t>
            </a:r>
            <a:r>
              <a:rPr lang="en-US" sz="1600" dirty="0" err="1" smtClean="0">
                <a:latin typeface="Arial" pitchFamily="34" charset="0"/>
                <a:cs typeface="Arial" pitchFamily="34" charset="0"/>
              </a:rPr>
              <a:t>Longshore</a:t>
            </a:r>
            <a:r>
              <a:rPr lang="en-US" sz="1600" dirty="0" smtClean="0">
                <a:latin typeface="Arial" pitchFamily="34" charset="0"/>
                <a:cs typeface="Arial" pitchFamily="34" charset="0"/>
              </a:rPr>
              <a:t> and </a:t>
            </a:r>
            <a:r>
              <a:rPr lang="en-US" sz="1600" dirty="0" err="1" smtClean="0">
                <a:latin typeface="Arial" pitchFamily="34" charset="0"/>
                <a:cs typeface="Arial" pitchFamily="34" charset="0"/>
              </a:rPr>
              <a:t>Harborworkers</a:t>
            </a:r>
            <a:r>
              <a:rPr lang="en-US" sz="1600" dirty="0" smtClean="0">
                <a:latin typeface="Arial" pitchFamily="34" charset="0"/>
                <a:cs typeface="Arial" pitchFamily="34" charset="0"/>
              </a:rPr>
              <a:t>' Compensation Act. This is a federal workers' compensation law enacted to provide benefits for employees in the event of their injury or death when working on or near navigable waters of the U.S. and engaged in maritime employment. The Act </a:t>
            </a:r>
            <a:r>
              <a:rPr lang="en-US" sz="1600" i="1" dirty="0" smtClean="0">
                <a:latin typeface="Arial" pitchFamily="34" charset="0"/>
                <a:cs typeface="Arial" pitchFamily="34" charset="0"/>
              </a:rPr>
              <a:t>excludes</a:t>
            </a:r>
            <a:r>
              <a:rPr lang="en-US" sz="1600" dirty="0" smtClean="0">
                <a:latin typeface="Arial" pitchFamily="34" charset="0"/>
                <a:cs typeface="Arial" pitchFamily="34" charset="0"/>
              </a:rPr>
              <a:t> certain employment such as masters and crew members of vessels.</a:t>
            </a:r>
            <a:r>
              <a:rPr lang="en-US" dirty="0" smtClean="0">
                <a:latin typeface="Arial" pitchFamily="34" charset="0"/>
                <a:cs typeface="Arial" pitchFamily="34" charset="0"/>
              </a:rPr>
              <a:t/>
            </a:r>
            <a:br>
              <a:rPr lang="en-US" dirty="0" smtClean="0">
                <a:latin typeface="Arial" pitchFamily="34" charset="0"/>
                <a:cs typeface="Arial" pitchFamily="34" charset="0"/>
              </a:rPr>
            </a:br>
            <a:endParaRPr lang="en-US" dirty="0" smtClean="0">
              <a:latin typeface="Arial" pitchFamily="34" charset="0"/>
              <a:cs typeface="Arial" pitchFamily="34" charset="0"/>
            </a:endParaRPr>
          </a:p>
          <a:p>
            <a:r>
              <a:rPr lang="en-US" sz="1600" dirty="0" smtClean="0">
                <a:latin typeface="Arial" pitchFamily="34" charset="0"/>
                <a:cs typeface="Arial" pitchFamily="34" charset="0"/>
              </a:rPr>
              <a:t>The </a:t>
            </a:r>
            <a:r>
              <a:rPr lang="en-US" sz="1600" dirty="0">
                <a:latin typeface="Arial" pitchFamily="34" charset="0"/>
                <a:cs typeface="Arial" pitchFamily="34" charset="0"/>
              </a:rPr>
              <a:t>USL&amp;H </a:t>
            </a:r>
            <a:r>
              <a:rPr lang="en-US" sz="1600" dirty="0" smtClean="0">
                <a:latin typeface="Arial" pitchFamily="34" charset="0"/>
                <a:cs typeface="Arial" pitchFamily="34" charset="0"/>
              </a:rPr>
              <a:t>compensation </a:t>
            </a:r>
            <a:r>
              <a:rPr lang="en-US" sz="1600" dirty="0">
                <a:latin typeface="Arial" pitchFamily="34" charset="0"/>
                <a:cs typeface="Arial" pitchFamily="34" charset="0"/>
              </a:rPr>
              <a:t>act follows the same principles as the state WC act. In some circumstances, an employer may be subject to both the USL&amp;H and the state WC law at the same time. Although both of these exposures may be insured, they must be covered and rated separately.</a:t>
            </a:r>
          </a:p>
          <a:p>
            <a:pPr algn="just">
              <a:defRPr/>
            </a:pPr>
            <a:endParaRPr lang="en-US" sz="1600" dirty="0">
              <a:latin typeface="Arial" pitchFamily="34" charset="0"/>
              <a:cs typeface="Arial" pitchFamily="34" charset="0"/>
            </a:endParaRPr>
          </a:p>
          <a:p>
            <a:pPr algn="just">
              <a:defRPr/>
            </a:pPr>
            <a:r>
              <a:rPr lang="en-US" sz="1600" dirty="0">
                <a:latin typeface="Arial" pitchFamily="34" charset="0"/>
                <a:cs typeface="Arial" pitchFamily="34" charset="0"/>
              </a:rPr>
              <a:t>Coverage can be provided by adding the USL&amp;H worker’s compensation act endt. to the WC&amp;EL policy. The endorsement amends the definition of ‘workers compensation law’ to include the USL&amp;H with respect to operations in any state designated in the endorsement schedule. (In practice, many WC&amp;EL insurers are unwilling to add LHWCA coverage because of the unfavorable loss experience associated with the LHWCA.)</a:t>
            </a:r>
          </a:p>
          <a:p>
            <a:pPr algn="just">
              <a:defRPr/>
            </a:pPr>
            <a:endParaRPr lang="en-US" sz="1600" dirty="0">
              <a:latin typeface="Arial" pitchFamily="34" charset="0"/>
              <a:cs typeface="Arial" pitchFamily="34" charset="0"/>
            </a:endParaRPr>
          </a:p>
          <a:p>
            <a:pPr lvl="1" indent="-457200" algn="just" fontAlgn="auto">
              <a:spcBef>
                <a:spcPts val="0"/>
              </a:spcBef>
              <a:spcAft>
                <a:spcPts val="0"/>
              </a:spcAft>
              <a:buClr>
                <a:srgbClr val="C00000"/>
              </a:buClr>
              <a:buSzPct val="80000"/>
              <a:defRPr/>
            </a:pPr>
            <a:r>
              <a:rPr lang="en-US" sz="1600" b="1" dirty="0">
                <a:latin typeface="Arial" pitchFamily="34" charset="0"/>
                <a:cs typeface="Arial" pitchFamily="34" charset="0"/>
              </a:rPr>
              <a:t>For example: </a:t>
            </a:r>
          </a:p>
          <a:p>
            <a:pPr algn="just">
              <a:defRPr/>
            </a:pPr>
            <a:endParaRPr lang="en-US" sz="1600" dirty="0">
              <a:latin typeface="Arial" pitchFamily="34" charset="0"/>
              <a:cs typeface="Arial" pitchFamily="34" charset="0"/>
            </a:endParaRPr>
          </a:p>
          <a:p>
            <a:pPr algn="just">
              <a:defRPr/>
            </a:pPr>
            <a:r>
              <a:rPr lang="en-US" sz="1600" dirty="0">
                <a:latin typeface="Arial" pitchFamily="34" charset="0"/>
                <a:cs typeface="Arial" pitchFamily="34" charset="0"/>
              </a:rPr>
              <a:t>Payroll Classification: 8810 : Clerical Employees NOC</a:t>
            </a:r>
          </a:p>
          <a:p>
            <a:pPr algn="just">
              <a:defRPr/>
            </a:pPr>
            <a:r>
              <a:rPr lang="en-US" sz="1600" dirty="0">
                <a:latin typeface="Arial" pitchFamily="34" charset="0"/>
                <a:cs typeface="Arial" pitchFamily="34" charset="0"/>
              </a:rPr>
              <a:t>USL&amp;H Classification: 8810F: Clerical Employees NOC – USL&amp;H</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066800"/>
            <a:ext cx="7543800" cy="4842864"/>
          </a:xfrm>
          <a:prstGeom prst="rect">
            <a:avLst/>
          </a:prstGeom>
        </p:spPr>
        <p:txBody>
          <a:bodyPr wrap="square">
            <a:spAutoFit/>
          </a:bodyPr>
          <a:lstStyle/>
          <a:p>
            <a:pPr lvl="1" indent="-457200" algn="just" fontAlgn="auto">
              <a:spcBef>
                <a:spcPts val="0"/>
              </a:spcBef>
              <a:spcAft>
                <a:spcPts val="0"/>
              </a:spcAft>
              <a:buClr>
                <a:srgbClr val="C00000"/>
              </a:buClr>
              <a:buSzPct val="8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600" b="1" dirty="0" smtClean="0">
                <a:latin typeface="Arial" pitchFamily="34" charset="0"/>
                <a:cs typeface="Arial" pitchFamily="34" charset="0"/>
              </a:rPr>
              <a:t>Introduction to Experience Rating</a:t>
            </a:r>
          </a:p>
          <a:p>
            <a:pPr indent="-330200">
              <a:spcBef>
                <a:spcPts val="50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600" dirty="0" smtClean="0">
                <a:latin typeface="Arial" pitchFamily="34" charset="0"/>
                <a:cs typeface="Arial" pitchFamily="34" charset="0"/>
              </a:rPr>
              <a:t>Experience Rating uses the employer’s past experience” (losses) to project future losses.</a:t>
            </a:r>
          </a:p>
          <a:p>
            <a:pPr indent="-330200">
              <a:spcBef>
                <a:spcPts val="30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IN" sz="1600" dirty="0" smtClean="0">
              <a:latin typeface="Arial" pitchFamily="34" charset="0"/>
              <a:cs typeface="Arial" pitchFamily="34" charset="0"/>
            </a:endParaRPr>
          </a:p>
          <a:p>
            <a:pPr lvl="1" indent="-457200" algn="just" fontAlgn="auto">
              <a:spcBef>
                <a:spcPts val="0"/>
              </a:spcBef>
              <a:spcAft>
                <a:spcPts val="0"/>
              </a:spcAft>
              <a:buClr>
                <a:srgbClr val="C00000"/>
              </a:buClr>
              <a:buSzPct val="8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600" b="1" dirty="0" smtClean="0">
                <a:latin typeface="Arial" pitchFamily="34" charset="0"/>
                <a:cs typeface="Arial" pitchFamily="34" charset="0"/>
              </a:rPr>
              <a:t>Why have Experience Rating?</a:t>
            </a:r>
          </a:p>
          <a:p>
            <a:pPr lvl="1" indent="-457200" algn="just" fontAlgn="auto">
              <a:spcBef>
                <a:spcPts val="0"/>
              </a:spcBef>
              <a:spcAft>
                <a:spcPts val="0"/>
              </a:spcAft>
              <a:buClr>
                <a:srgbClr val="C00000"/>
              </a:buClr>
              <a:buSzPct val="80000"/>
              <a:defRPr/>
            </a:pPr>
            <a:endParaRPr lang="en-IN" sz="1600" dirty="0" smtClean="0">
              <a:latin typeface="Arial" pitchFamily="34" charset="0"/>
              <a:cs typeface="Arial" pitchFamily="34" charset="0"/>
            </a:endParaRPr>
          </a:p>
          <a:p>
            <a:pPr lvl="1" indent="-457200" algn="just" fontAlgn="auto">
              <a:spcBef>
                <a:spcPts val="0"/>
              </a:spcBef>
              <a:spcAft>
                <a:spcPts val="0"/>
              </a:spcAft>
              <a:buSzPct val="80000"/>
              <a:buFont typeface="Wingdings" pitchFamily="2" charset="2"/>
              <a:buChar char="Ø"/>
              <a:defRPr/>
            </a:pPr>
            <a:r>
              <a:rPr lang="en-IN" sz="1600" dirty="0" smtClean="0">
                <a:latin typeface="Arial" pitchFamily="34" charset="0"/>
                <a:cs typeface="Arial" pitchFamily="34" charset="0"/>
              </a:rPr>
              <a:t>Incorporates both debits and credits</a:t>
            </a:r>
          </a:p>
          <a:p>
            <a:pPr lvl="1" indent="-457200" algn="just" fontAlgn="auto">
              <a:spcBef>
                <a:spcPts val="0"/>
              </a:spcBef>
              <a:spcAft>
                <a:spcPts val="0"/>
              </a:spcAft>
              <a:buSzPct val="80000"/>
              <a:buFont typeface="Wingdings" pitchFamily="2" charset="2"/>
              <a:buChar char="Ø"/>
              <a:defRPr/>
            </a:pPr>
            <a:r>
              <a:rPr lang="en-IN" sz="1600" dirty="0" smtClean="0">
                <a:latin typeface="Arial" pitchFamily="34" charset="0"/>
                <a:cs typeface="Arial" pitchFamily="34" charset="0"/>
              </a:rPr>
              <a:t>Gives employers some influence on their final premium</a:t>
            </a:r>
          </a:p>
          <a:p>
            <a:pPr lvl="1" indent="-457200" algn="just" fontAlgn="auto">
              <a:spcBef>
                <a:spcPts val="0"/>
              </a:spcBef>
              <a:spcAft>
                <a:spcPts val="0"/>
              </a:spcAft>
              <a:buSzPct val="80000"/>
              <a:buFont typeface="Wingdings" pitchFamily="2" charset="2"/>
              <a:buChar char="Ø"/>
              <a:defRPr/>
            </a:pPr>
            <a:r>
              <a:rPr lang="en-IN" sz="1600" dirty="0" smtClean="0">
                <a:latin typeface="Arial" pitchFamily="34" charset="0"/>
                <a:cs typeface="Arial" pitchFamily="34" charset="0"/>
              </a:rPr>
              <a:t>Provides incentives for safety programs</a:t>
            </a:r>
          </a:p>
          <a:p>
            <a:pPr lvl="1" indent="-457200" algn="just" fontAlgn="auto">
              <a:spcBef>
                <a:spcPts val="0"/>
              </a:spcBef>
              <a:spcAft>
                <a:spcPts val="0"/>
              </a:spcAft>
              <a:buSzPct val="80000"/>
              <a:buFont typeface="Wingdings" pitchFamily="2" charset="2"/>
              <a:buChar char="Ø"/>
              <a:defRPr/>
            </a:pPr>
            <a:r>
              <a:rPr lang="en-IN" sz="1600" dirty="0" smtClean="0">
                <a:latin typeface="Arial" pitchFamily="34" charset="0"/>
                <a:cs typeface="Arial" pitchFamily="34" charset="0"/>
              </a:rPr>
              <a:t>Promotes occupational health and safety</a:t>
            </a:r>
          </a:p>
          <a:p>
            <a:pPr lvl="1" indent="-457200" algn="just" fontAlgn="auto">
              <a:spcBef>
                <a:spcPts val="0"/>
              </a:spcBef>
              <a:spcAft>
                <a:spcPts val="0"/>
              </a:spcAft>
              <a:buClr>
                <a:srgbClr val="C00000"/>
              </a:buClr>
              <a:buSzPct val="80000"/>
              <a:buFont typeface="Wingdings" pitchFamily="2" charset="2"/>
              <a:buChar char="v"/>
              <a:defRPr/>
            </a:pPr>
            <a:endParaRPr lang="en-IN" sz="1600" dirty="0" smtClean="0">
              <a:latin typeface="Arial" pitchFamily="34" charset="0"/>
              <a:cs typeface="Arial" pitchFamily="34" charset="0"/>
            </a:endParaRPr>
          </a:p>
          <a:p>
            <a:pPr indent="-330200" algn="just">
              <a:lnSpc>
                <a:spcPct val="80000"/>
              </a:lnSpc>
              <a:spcBef>
                <a:spcPts val="50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600" dirty="0" smtClean="0">
                <a:latin typeface="Arial" pitchFamily="34" charset="0"/>
                <a:cs typeface="Arial" pitchFamily="34" charset="0"/>
              </a:rPr>
              <a:t>The experience of the employer is usually derived from the latest available three years. The experience is then compared with the “average” of all employers in that classification.</a:t>
            </a:r>
          </a:p>
          <a:p>
            <a:pPr indent="-330200" algn="just">
              <a:lnSpc>
                <a:spcPct val="80000"/>
              </a:lnSpc>
              <a:spcBef>
                <a:spcPts val="25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IN" sz="1600" dirty="0" smtClean="0">
              <a:latin typeface="Arial" pitchFamily="34" charset="0"/>
              <a:cs typeface="Arial" pitchFamily="34" charset="0"/>
            </a:endParaRPr>
          </a:p>
          <a:p>
            <a:pPr indent="-330200" algn="just">
              <a:lnSpc>
                <a:spcPct val="80000"/>
              </a:lnSpc>
              <a:spcBef>
                <a:spcPts val="45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600" dirty="0" smtClean="0">
                <a:latin typeface="Arial" pitchFamily="34" charset="0"/>
                <a:cs typeface="Arial" pitchFamily="34" charset="0"/>
              </a:rPr>
              <a:t>Experience ratings are not made by the insurance carriers. The experience ratings are computed by the appropriate advisory organization, such as the National Council on Compensation Insurance, Inc. (NCCI). The employer qualifies for experience rating if the manual premium exceeds an eligibility point. (Eligibility criteria differ by state.)</a:t>
            </a:r>
            <a:endParaRPr lang="en-IN" sz="1600" dirty="0">
              <a:latin typeface="Arial" pitchFamily="34" charset="0"/>
              <a:cs typeface="Arial" pitchFamily="34" charset="0"/>
            </a:endParaRPr>
          </a:p>
        </p:txBody>
      </p:sp>
      <p:sp>
        <p:nvSpPr>
          <p:cNvPr id="3" name="TextBox 2"/>
          <p:cNvSpPr txBox="1"/>
          <p:nvPr/>
        </p:nvSpPr>
        <p:spPr>
          <a:xfrm>
            <a:off x="228600" y="228600"/>
            <a:ext cx="5029200" cy="369332"/>
          </a:xfrm>
          <a:prstGeom prst="rect">
            <a:avLst/>
          </a:prstGeom>
          <a:noFill/>
        </p:spPr>
        <p:txBody>
          <a:bodyPr wrap="square" rtlCol="0">
            <a:spAutoFit/>
          </a:bodyPr>
          <a:lstStyle/>
          <a:p>
            <a:r>
              <a:rPr lang="en-IN" b="1" dirty="0" smtClean="0">
                <a:solidFill>
                  <a:schemeClr val="bg1"/>
                </a:solidFill>
                <a:latin typeface="Arial" pitchFamily="34" charset="0"/>
                <a:cs typeface="Arial" pitchFamily="34" charset="0"/>
              </a:rPr>
              <a:t>Experience Rating</a:t>
            </a:r>
            <a:endParaRPr lang="en-US"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524000"/>
            <a:ext cx="8305800" cy="1333698"/>
          </a:xfrm>
          <a:prstGeom prst="rect">
            <a:avLst/>
          </a:prstGeom>
        </p:spPr>
        <p:txBody>
          <a:bodyPr wrap="square">
            <a:spAutoFit/>
          </a:bodyPr>
          <a:lstStyle/>
          <a:p>
            <a:pPr indent="-330200">
              <a:lnSpc>
                <a:spcPct val="80000"/>
              </a:lnSpc>
              <a:spcBef>
                <a:spcPts val="45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600" dirty="0" smtClean="0">
                <a:latin typeface="Arial" pitchFamily="34" charset="0"/>
                <a:cs typeface="Arial" pitchFamily="34" charset="0"/>
              </a:rPr>
              <a:t>Equal to the average = UNITY (a Unity mod equals 1.00)</a:t>
            </a:r>
          </a:p>
          <a:p>
            <a:pPr indent="-330200">
              <a:lnSpc>
                <a:spcPct val="80000"/>
              </a:lnSpc>
              <a:spcBef>
                <a:spcPts val="45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IN" sz="1600" dirty="0" smtClean="0">
              <a:latin typeface="Arial" pitchFamily="34" charset="0"/>
              <a:cs typeface="Arial" pitchFamily="34" charset="0"/>
            </a:endParaRPr>
          </a:p>
          <a:p>
            <a:pPr indent="-330200">
              <a:lnSpc>
                <a:spcPct val="80000"/>
              </a:lnSpc>
              <a:spcBef>
                <a:spcPts val="45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600" dirty="0" smtClean="0">
                <a:latin typeface="Arial" pitchFamily="34" charset="0"/>
                <a:cs typeface="Arial" pitchFamily="34" charset="0"/>
              </a:rPr>
              <a:t>Lower than average = CREDIT (a Credit mod is less than 1.00, such as 0.75)</a:t>
            </a:r>
          </a:p>
          <a:p>
            <a:pPr indent="-330200">
              <a:lnSpc>
                <a:spcPct val="80000"/>
              </a:lnSpc>
              <a:spcBef>
                <a:spcPts val="45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IN" sz="1600" dirty="0" smtClean="0">
              <a:latin typeface="Arial" pitchFamily="34" charset="0"/>
              <a:cs typeface="Arial" pitchFamily="34" charset="0"/>
            </a:endParaRPr>
          </a:p>
          <a:p>
            <a:pPr indent="-330200">
              <a:lnSpc>
                <a:spcPct val="80000"/>
              </a:lnSpc>
              <a:spcBef>
                <a:spcPts val="45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600" dirty="0" smtClean="0">
                <a:latin typeface="Arial" pitchFamily="34" charset="0"/>
                <a:cs typeface="Arial" pitchFamily="34" charset="0"/>
              </a:rPr>
              <a:t>Higher than average = DEBIT (a Debit mod is greater than 1.00, such as 1.10</a:t>
            </a:r>
            <a:endParaRPr lang="en-US" sz="1600" dirty="0">
              <a:latin typeface="Arial" pitchFamily="34" charset="0"/>
              <a:cs typeface="Arial" pitchFamily="34" charset="0"/>
            </a:endParaRPr>
          </a:p>
        </p:txBody>
      </p:sp>
      <p:sp>
        <p:nvSpPr>
          <p:cNvPr id="4" name="TextBox 3"/>
          <p:cNvSpPr txBox="1"/>
          <p:nvPr/>
        </p:nvSpPr>
        <p:spPr>
          <a:xfrm>
            <a:off x="304800" y="152400"/>
            <a:ext cx="4495800" cy="646331"/>
          </a:xfrm>
          <a:prstGeom prst="rect">
            <a:avLst/>
          </a:prstGeom>
          <a:noFill/>
        </p:spPr>
        <p:txBody>
          <a:bodyPr wrap="square" rtlCol="0">
            <a:spAutoFit/>
          </a:bodyPr>
          <a:lstStyle/>
          <a:p>
            <a:pPr lvl="0" fontAlgn="base">
              <a:spcBef>
                <a:spcPct val="0"/>
              </a:spcBef>
              <a:spcAft>
                <a:spcPct val="0"/>
              </a:spcAft>
            </a:pPr>
            <a:r>
              <a:rPr lang="en-US" b="1" dirty="0" smtClean="0">
                <a:solidFill>
                  <a:prstClr val="white"/>
                </a:solidFill>
                <a:latin typeface="Arial" pitchFamily="34" charset="0"/>
                <a:cs typeface="Arial" pitchFamily="34" charset="0"/>
              </a:rPr>
              <a:t>Experience Rating (Cont …)</a:t>
            </a:r>
            <a:endParaRPr lang="en-US" b="1" dirty="0" smtClean="0">
              <a:solidFill>
                <a:prstClr val="black"/>
              </a:solidFill>
              <a:latin typeface="Arial" pitchFamily="34" charset="0"/>
              <a:cs typeface="Arial" pitchFamily="34" charset="0"/>
            </a:endParaRPr>
          </a:p>
          <a:p>
            <a:endParaRPr lang="en-US"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1000" y="1447800"/>
            <a:ext cx="8153400" cy="2554545"/>
          </a:xfrm>
          <a:prstGeom prst="rect">
            <a:avLst/>
          </a:prstGeom>
          <a:noFill/>
        </p:spPr>
        <p:txBody>
          <a:bodyPr wrap="square" rtlCol="0">
            <a:spAutoFit/>
          </a:bodyPr>
          <a:lstStyle/>
          <a:p>
            <a:pPr lvl="1" indent="-457200" algn="just" fontAlgn="auto">
              <a:spcBef>
                <a:spcPts val="0"/>
              </a:spcBef>
              <a:spcAft>
                <a:spcPts val="0"/>
              </a:spcAft>
              <a:buClr>
                <a:srgbClr val="C00000"/>
              </a:buClr>
              <a:buSzPct val="8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600" b="1" dirty="0" smtClean="0">
                <a:latin typeface="Arial" pitchFamily="34" charset="0"/>
                <a:cs typeface="Arial" pitchFamily="34" charset="0"/>
              </a:rPr>
              <a:t>Premium Discount: </a:t>
            </a:r>
          </a:p>
          <a:p>
            <a:pPr indent="-334963" algn="just">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IN" sz="1600" dirty="0" smtClean="0">
              <a:latin typeface="Arial" pitchFamily="34" charset="0"/>
              <a:cs typeface="Arial" pitchFamily="34" charset="0"/>
            </a:endParaRPr>
          </a:p>
          <a:p>
            <a:pPr indent="-334963" algn="just">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600" dirty="0" smtClean="0">
                <a:latin typeface="Arial" pitchFamily="34" charset="0"/>
                <a:cs typeface="Arial" pitchFamily="34" charset="0"/>
              </a:rPr>
              <a:t>Many of the expenses of providing workers compensation do not increase proportionately with increase of premium. For example, the cost of policy issuance and premium collection generally do not increase with the size of the premium. Underwriting expenses does increase with the size of premium, but it generally do not increase 100 times as much to underwrite a policy with a $100,000 premium as it does one with a $1,000 premium. Furthermore, the percentage paid to producers as commission is usually reduced as the premium increases. In recognition of these lower expenses, the premium discount plan provides an increasing credit for premiums.</a:t>
            </a:r>
            <a:endParaRPr lang="en-IN" sz="1600" dirty="0">
              <a:latin typeface="Arial" pitchFamily="34" charset="0"/>
              <a:cs typeface="Arial" pitchFamily="34" charset="0"/>
            </a:endParaRPr>
          </a:p>
        </p:txBody>
      </p:sp>
      <p:sp>
        <p:nvSpPr>
          <p:cNvPr id="4" name="TextBox 3"/>
          <p:cNvSpPr txBox="1"/>
          <p:nvPr/>
        </p:nvSpPr>
        <p:spPr>
          <a:xfrm>
            <a:off x="228600" y="228600"/>
            <a:ext cx="5105400" cy="677108"/>
          </a:xfrm>
          <a:prstGeom prst="rect">
            <a:avLst/>
          </a:prstGeom>
          <a:noFill/>
        </p:spPr>
        <p:txBody>
          <a:bodyPr wrap="square" rtlCol="0">
            <a:spAutoFit/>
          </a:bodyPr>
          <a:lstStyle/>
          <a:p>
            <a:pPr marL="0" lvl="1"/>
            <a:r>
              <a:rPr lang="en-IN" b="1" dirty="0" smtClean="0">
                <a:solidFill>
                  <a:schemeClr val="bg1"/>
                </a:solidFill>
                <a:latin typeface="Arial" pitchFamily="34" charset="0"/>
                <a:cs typeface="Arial" pitchFamily="34" charset="0"/>
              </a:rPr>
              <a:t>Premium Discount </a:t>
            </a:r>
          </a:p>
          <a:p>
            <a:endParaRPr lang="en-US" sz="2000"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295400"/>
            <a:ext cx="8382000" cy="1846659"/>
          </a:xfrm>
          <a:prstGeom prst="rect">
            <a:avLst/>
          </a:prstGeom>
          <a:noFill/>
        </p:spPr>
        <p:txBody>
          <a:bodyPr wrap="square" rtlCol="0">
            <a:spAutoFit/>
          </a:bodyPr>
          <a:lstStyle/>
          <a:p>
            <a:pPr lvl="1" indent="-457200" algn="just" fontAlgn="auto">
              <a:spcBef>
                <a:spcPts val="0"/>
              </a:spcBef>
              <a:spcAft>
                <a:spcPts val="0"/>
              </a:spcAft>
              <a:buClr>
                <a:srgbClr val="C00000"/>
              </a:buClr>
              <a:buSzPct val="8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600" b="1" dirty="0" smtClean="0">
                <a:latin typeface="Arial" pitchFamily="34" charset="0"/>
                <a:cs typeface="Arial" pitchFamily="34" charset="0"/>
              </a:rPr>
              <a:t>Expense Constant:</a:t>
            </a:r>
          </a:p>
          <a:p>
            <a:pPr algn="just">
              <a:defRPr/>
            </a:pPr>
            <a:endParaRPr lang="en-IN" sz="1600" dirty="0" smtClean="0">
              <a:latin typeface="Arial" pitchFamily="34" charset="0"/>
              <a:cs typeface="Arial" pitchFamily="34" charset="0"/>
            </a:endParaRPr>
          </a:p>
          <a:p>
            <a:pPr algn="just">
              <a:defRPr/>
            </a:pPr>
            <a:r>
              <a:rPr lang="en-IN" sz="1600" dirty="0" smtClean="0">
                <a:latin typeface="Arial" pitchFamily="34" charset="0"/>
                <a:cs typeface="Arial" pitchFamily="34" charset="0"/>
              </a:rPr>
              <a:t>An expense constant is a flat charge designed to cover the administrative expenses, such as policy issuance and record keeping, that are common to all the policies. An expense is applied regardless of the size of the policy premium. Not every state calls for an expense constant charge.</a:t>
            </a:r>
            <a:endParaRPr lang="en-US" sz="1600" dirty="0" smtClean="0">
              <a:latin typeface="Arial" pitchFamily="34" charset="0"/>
              <a:cs typeface="Arial" pitchFamily="34" charset="0"/>
            </a:endParaRPr>
          </a:p>
          <a:p>
            <a:endParaRPr lang="en-US" dirty="0">
              <a:latin typeface="Arial" pitchFamily="34" charset="0"/>
              <a:cs typeface="Arial" pitchFamily="34" charset="0"/>
            </a:endParaRPr>
          </a:p>
        </p:txBody>
      </p:sp>
      <p:sp>
        <p:nvSpPr>
          <p:cNvPr id="3" name="TextBox 2"/>
          <p:cNvSpPr txBox="1"/>
          <p:nvPr/>
        </p:nvSpPr>
        <p:spPr>
          <a:xfrm>
            <a:off x="0" y="228600"/>
            <a:ext cx="5715000" cy="369332"/>
          </a:xfrm>
          <a:prstGeom prst="rect">
            <a:avLst/>
          </a:prstGeom>
          <a:noFill/>
        </p:spPr>
        <p:txBody>
          <a:bodyPr wrap="square" rtlCol="0">
            <a:spAutoFit/>
          </a:bodyPr>
          <a:lstStyle/>
          <a:p>
            <a:pPr lvl="1" indent="-457200" algn="just" fontAlgn="auto">
              <a:spcBef>
                <a:spcPts val="0"/>
              </a:spcBef>
              <a:spcAft>
                <a:spcPts val="0"/>
              </a:spcAft>
              <a:buClr>
                <a:srgbClr val="C00000"/>
              </a:buClr>
              <a:buSzPct val="8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b="1" dirty="0" smtClean="0">
                <a:solidFill>
                  <a:schemeClr val="bg1"/>
                </a:solidFill>
                <a:latin typeface="Arial" pitchFamily="34" charset="0"/>
                <a:cs typeface="Arial" pitchFamily="34" charset="0"/>
              </a:rPr>
              <a:t>Expense Constant</a:t>
            </a:r>
            <a:endParaRPr lang="en-IN" sz="1600" b="1" dirty="0" smtClean="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219200"/>
            <a:ext cx="8610600" cy="4801314"/>
          </a:xfrm>
          <a:prstGeom prst="rect">
            <a:avLst/>
          </a:prstGeom>
          <a:noFill/>
        </p:spPr>
        <p:txBody>
          <a:bodyPr wrap="square" rtlCol="0">
            <a:spAutoFit/>
          </a:bodyPr>
          <a:lstStyle/>
          <a:p>
            <a:pPr lvl="1" indent="-457200" algn="just" fontAlgn="auto">
              <a:spcBef>
                <a:spcPts val="0"/>
              </a:spcBef>
              <a:spcAft>
                <a:spcPts val="0"/>
              </a:spcAft>
              <a:buClr>
                <a:srgbClr val="C00000"/>
              </a:buClr>
              <a:buSzPct val="8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600" b="1" dirty="0" smtClean="0">
                <a:latin typeface="Arial" pitchFamily="34" charset="0"/>
                <a:cs typeface="Arial" pitchFamily="34" charset="0"/>
              </a:rPr>
              <a:t>Minimum Premium Concepts:</a:t>
            </a:r>
          </a:p>
          <a:p>
            <a:pPr lvl="1" indent="-457200" algn="just" fontAlgn="auto">
              <a:spcBef>
                <a:spcPts val="0"/>
              </a:spcBef>
              <a:spcAft>
                <a:spcPts val="0"/>
              </a:spcAft>
              <a:buSzPct val="100000"/>
              <a:buFont typeface="Wingdings" pitchFamily="2" charset="2"/>
              <a:buChar char="Ø"/>
              <a:defRPr/>
            </a:pPr>
            <a:endParaRPr lang="en-IN" sz="1600" dirty="0" smtClean="0">
              <a:latin typeface="Arial" pitchFamily="34" charset="0"/>
              <a:cs typeface="Arial" pitchFamily="34" charset="0"/>
            </a:endParaRPr>
          </a:p>
          <a:p>
            <a:pPr lvl="1" indent="-457200" algn="just" fontAlgn="auto">
              <a:spcBef>
                <a:spcPts val="0"/>
              </a:spcBef>
              <a:spcAft>
                <a:spcPts val="0"/>
              </a:spcAft>
              <a:buSzPct val="100000"/>
              <a:buFont typeface="Wingdings" pitchFamily="2" charset="2"/>
              <a:buChar char="Ø"/>
              <a:defRPr/>
            </a:pPr>
            <a:r>
              <a:rPr lang="en-IN" sz="1600" dirty="0" smtClean="0">
                <a:latin typeface="Arial" pitchFamily="34" charset="0"/>
                <a:cs typeface="Arial" pitchFamily="34" charset="0"/>
              </a:rPr>
              <a:t>This is the minimum amount that needs to be charged for a particular coverage (class code). </a:t>
            </a:r>
          </a:p>
          <a:p>
            <a:pPr lvl="1" indent="-457200" algn="just" fontAlgn="auto">
              <a:spcBef>
                <a:spcPts val="0"/>
              </a:spcBef>
              <a:spcAft>
                <a:spcPts val="0"/>
              </a:spcAft>
              <a:buSzPct val="100000"/>
              <a:buFont typeface="Wingdings" pitchFamily="2" charset="2"/>
              <a:buChar char="Ø"/>
              <a:defRPr/>
            </a:pPr>
            <a:endParaRPr lang="en-IN" sz="1600" dirty="0" smtClean="0">
              <a:latin typeface="Arial" pitchFamily="34" charset="0"/>
              <a:cs typeface="Arial" pitchFamily="34" charset="0"/>
            </a:endParaRPr>
          </a:p>
          <a:p>
            <a:pPr lvl="1" indent="-457200" algn="just" fontAlgn="auto">
              <a:spcBef>
                <a:spcPts val="0"/>
              </a:spcBef>
              <a:spcAft>
                <a:spcPts val="0"/>
              </a:spcAft>
              <a:buSzPct val="100000"/>
              <a:buFont typeface="Wingdings" pitchFamily="2" charset="2"/>
              <a:buChar char="Ø"/>
              <a:defRPr/>
            </a:pPr>
            <a:r>
              <a:rPr lang="en-IN" sz="1600" dirty="0" smtClean="0">
                <a:latin typeface="Arial" pitchFamily="34" charset="0"/>
                <a:cs typeface="Arial" pitchFamily="34" charset="0"/>
              </a:rPr>
              <a:t>This is generally charged under generated class code 'To equal Min Premium'.</a:t>
            </a:r>
          </a:p>
          <a:p>
            <a:pPr lvl="1" indent="-457200" algn="just" fontAlgn="auto">
              <a:spcBef>
                <a:spcPts val="0"/>
              </a:spcBef>
              <a:spcAft>
                <a:spcPts val="0"/>
              </a:spcAft>
              <a:buSzPct val="100000"/>
              <a:buFont typeface="Wingdings" pitchFamily="2" charset="2"/>
              <a:buChar char="Ø"/>
              <a:defRPr/>
            </a:pPr>
            <a:endParaRPr lang="en-IN" sz="1600" dirty="0" smtClean="0">
              <a:latin typeface="Arial" pitchFamily="34" charset="0"/>
              <a:cs typeface="Arial" pitchFamily="34" charset="0"/>
            </a:endParaRPr>
          </a:p>
          <a:p>
            <a:pPr lvl="1" indent="-457200" algn="just" fontAlgn="auto">
              <a:spcBef>
                <a:spcPts val="0"/>
              </a:spcBef>
              <a:spcAft>
                <a:spcPts val="0"/>
              </a:spcAft>
              <a:buSzPct val="100000"/>
              <a:buFont typeface="Wingdings" pitchFamily="2" charset="2"/>
              <a:buChar char="Ø"/>
              <a:defRPr/>
            </a:pPr>
            <a:r>
              <a:rPr lang="en-IN" sz="1600" dirty="0" smtClean="0">
                <a:latin typeface="Arial" pitchFamily="34" charset="0"/>
                <a:cs typeface="Arial" pitchFamily="34" charset="0"/>
              </a:rPr>
              <a:t>The class codes with ZERO payroll are referred to as 'if-any' classes.</a:t>
            </a:r>
          </a:p>
          <a:p>
            <a:pPr lvl="1" indent="-457200" algn="just" fontAlgn="auto">
              <a:spcBef>
                <a:spcPts val="0"/>
              </a:spcBef>
              <a:spcAft>
                <a:spcPts val="0"/>
              </a:spcAft>
              <a:buSzPct val="100000"/>
              <a:buFont typeface="Wingdings" pitchFamily="2" charset="2"/>
              <a:buChar char="Ø"/>
              <a:defRPr/>
            </a:pPr>
            <a:endParaRPr lang="en-IN" sz="1600" dirty="0" smtClean="0">
              <a:latin typeface="Arial" pitchFamily="34" charset="0"/>
              <a:cs typeface="Arial" pitchFamily="34" charset="0"/>
            </a:endParaRPr>
          </a:p>
          <a:p>
            <a:pPr lvl="1" indent="-457200" algn="just" fontAlgn="auto">
              <a:spcBef>
                <a:spcPts val="0"/>
              </a:spcBef>
              <a:spcAft>
                <a:spcPts val="0"/>
              </a:spcAft>
              <a:buSzPct val="100000"/>
              <a:buFont typeface="Wingdings" pitchFamily="2" charset="2"/>
              <a:buChar char="Ø"/>
              <a:defRPr/>
            </a:pPr>
            <a:r>
              <a:rPr lang="en-IN" sz="1600" dirty="0" smtClean="0">
                <a:latin typeface="Arial" pitchFamily="34" charset="0"/>
                <a:cs typeface="Arial" pitchFamily="34" charset="0"/>
              </a:rPr>
              <a:t>The concept of Min Premium will only come into picture when the total subject premium is less then the minimum premium associated with the class code.</a:t>
            </a:r>
          </a:p>
          <a:p>
            <a:pPr lvl="1" indent="-457200" algn="just" fontAlgn="auto">
              <a:spcBef>
                <a:spcPts val="0"/>
              </a:spcBef>
              <a:spcAft>
                <a:spcPts val="0"/>
              </a:spcAft>
              <a:buSzPct val="100000"/>
              <a:buFont typeface="Wingdings" pitchFamily="2" charset="2"/>
              <a:buChar char="Ø"/>
              <a:defRPr/>
            </a:pPr>
            <a:endParaRPr lang="en-IN" sz="1600" dirty="0" smtClean="0">
              <a:latin typeface="Arial" pitchFamily="34" charset="0"/>
              <a:cs typeface="Arial" pitchFamily="34" charset="0"/>
            </a:endParaRPr>
          </a:p>
          <a:p>
            <a:pPr lvl="1" indent="-457200" algn="just" fontAlgn="auto">
              <a:spcBef>
                <a:spcPts val="0"/>
              </a:spcBef>
              <a:spcAft>
                <a:spcPts val="0"/>
              </a:spcAft>
              <a:buSzPct val="100000"/>
              <a:buFont typeface="Wingdings" pitchFamily="2" charset="2"/>
              <a:buChar char="Ø"/>
              <a:defRPr/>
            </a:pPr>
            <a:r>
              <a:rPr lang="en-IN" sz="1600" dirty="0" smtClean="0">
                <a:latin typeface="Arial" pitchFamily="34" charset="0"/>
                <a:cs typeface="Arial" pitchFamily="34" charset="0"/>
              </a:rPr>
              <a:t>When the min premium of a class code is less then the expense constant then the total estimated premium for the policy is equal to the expense constant.</a:t>
            </a:r>
          </a:p>
          <a:p>
            <a:pPr lvl="1" indent="-457200" algn="just" fontAlgn="auto">
              <a:spcBef>
                <a:spcPts val="0"/>
              </a:spcBef>
              <a:spcAft>
                <a:spcPts val="0"/>
              </a:spcAft>
              <a:buSzPct val="100000"/>
              <a:buFont typeface="Wingdings" pitchFamily="2" charset="2"/>
              <a:buChar char="Ø"/>
              <a:defRPr/>
            </a:pPr>
            <a:endParaRPr lang="en-IN" sz="1600" dirty="0" smtClean="0">
              <a:latin typeface="Arial" pitchFamily="34" charset="0"/>
              <a:cs typeface="Arial" pitchFamily="34" charset="0"/>
            </a:endParaRPr>
          </a:p>
          <a:p>
            <a:pPr lvl="1" indent="-457200" algn="just" fontAlgn="auto">
              <a:spcBef>
                <a:spcPts val="0"/>
              </a:spcBef>
              <a:spcAft>
                <a:spcPts val="0"/>
              </a:spcAft>
              <a:buSzPct val="100000"/>
              <a:buFont typeface="Wingdings" pitchFamily="2" charset="2"/>
              <a:buChar char="Ø"/>
              <a:defRPr/>
            </a:pPr>
            <a:r>
              <a:rPr lang="en-IN" sz="1600" dirty="0" smtClean="0">
                <a:latin typeface="Arial" pitchFamily="34" charset="0"/>
                <a:cs typeface="Arial" pitchFamily="34" charset="0"/>
              </a:rPr>
              <a:t>When the min premium of a class code is greater then the expense constant then the total estimated premium for the policy is equal to the '</a:t>
            </a:r>
            <a:r>
              <a:rPr lang="en-IN" sz="1600" dirty="0" err="1" smtClean="0">
                <a:latin typeface="Arial" pitchFamily="34" charset="0"/>
                <a:cs typeface="Arial" pitchFamily="34" charset="0"/>
              </a:rPr>
              <a:t>EC'+'To</a:t>
            </a:r>
            <a:r>
              <a:rPr lang="en-IN" sz="1600" dirty="0" smtClean="0">
                <a:latin typeface="Arial" pitchFamily="34" charset="0"/>
                <a:cs typeface="Arial" pitchFamily="34" charset="0"/>
              </a:rPr>
              <a:t> equal Min </a:t>
            </a:r>
            <a:r>
              <a:rPr lang="en-IN" sz="1600" dirty="0" err="1" smtClean="0">
                <a:latin typeface="Arial" pitchFamily="34" charset="0"/>
                <a:cs typeface="Arial" pitchFamily="34" charset="0"/>
              </a:rPr>
              <a:t>Prem</a:t>
            </a:r>
            <a:r>
              <a:rPr lang="en-IN" sz="1600" dirty="0" smtClean="0">
                <a:latin typeface="Arial" pitchFamily="34" charset="0"/>
                <a:cs typeface="Arial" pitchFamily="34" charset="0"/>
              </a:rPr>
              <a:t>' or minimum premium associated with the class code.</a:t>
            </a:r>
          </a:p>
          <a:p>
            <a:endParaRPr lang="en-US" dirty="0">
              <a:latin typeface="Arial" pitchFamily="34" charset="0"/>
              <a:cs typeface="Arial" pitchFamily="34" charset="0"/>
            </a:endParaRPr>
          </a:p>
        </p:txBody>
      </p:sp>
      <p:sp>
        <p:nvSpPr>
          <p:cNvPr id="4" name="TextBox 3"/>
          <p:cNvSpPr txBox="1"/>
          <p:nvPr/>
        </p:nvSpPr>
        <p:spPr>
          <a:xfrm>
            <a:off x="228600" y="228600"/>
            <a:ext cx="4876800" cy="369332"/>
          </a:xfrm>
          <a:prstGeom prst="rect">
            <a:avLst/>
          </a:prstGeom>
          <a:noFill/>
        </p:spPr>
        <p:txBody>
          <a:bodyPr wrap="square" rtlCol="0">
            <a:spAutoFit/>
          </a:bodyPr>
          <a:lstStyle/>
          <a:p>
            <a:r>
              <a:rPr lang="en-IN" b="1" dirty="0" smtClean="0">
                <a:solidFill>
                  <a:schemeClr val="bg1"/>
                </a:solidFill>
                <a:latin typeface="Arial" pitchFamily="34" charset="0"/>
                <a:cs typeface="Arial" pitchFamily="34" charset="0"/>
              </a:rPr>
              <a:t>Minimum Premium</a:t>
            </a:r>
            <a:endParaRPr lang="en-US" dirty="0">
              <a:solidFill>
                <a:schemeClr val="bg1"/>
              </a:solidFill>
              <a:latin typeface="Arial" pitchFamily="34" charset="0"/>
              <a:cs typeface="Arial"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219200"/>
            <a:ext cx="8610600" cy="2092881"/>
          </a:xfrm>
          <a:prstGeom prst="rect">
            <a:avLst/>
          </a:prstGeom>
          <a:noFill/>
        </p:spPr>
        <p:txBody>
          <a:bodyPr wrap="square" rtlCol="0">
            <a:spAutoFit/>
          </a:bodyPr>
          <a:lstStyle/>
          <a:p>
            <a:pPr lvl="1" indent="-457200" algn="just" fontAlgn="auto">
              <a:spcBef>
                <a:spcPts val="0"/>
              </a:spcBef>
              <a:spcAft>
                <a:spcPts val="0"/>
              </a:spcAft>
              <a:buSzPct val="100000"/>
              <a:buFont typeface="Wingdings" pitchFamily="2" charset="2"/>
              <a:buChar char="Ø"/>
              <a:defRPr/>
            </a:pPr>
            <a:endParaRPr lang="en-IN" sz="1600" dirty="0" smtClean="0">
              <a:latin typeface="Arial" pitchFamily="34" charset="0"/>
              <a:cs typeface="Arial" pitchFamily="34" charset="0"/>
            </a:endParaRPr>
          </a:p>
          <a:p>
            <a:pPr lvl="1" indent="-457200" algn="just" fontAlgn="auto">
              <a:spcBef>
                <a:spcPts val="0"/>
              </a:spcBef>
              <a:spcAft>
                <a:spcPts val="0"/>
              </a:spcAft>
              <a:buSzPct val="100000"/>
              <a:buFont typeface="Wingdings" pitchFamily="2" charset="2"/>
              <a:buChar char="Ø"/>
              <a:defRPr/>
            </a:pPr>
            <a:r>
              <a:rPr lang="en-IN" sz="1600" dirty="0" smtClean="0">
                <a:latin typeface="Arial" pitchFamily="34" charset="0"/>
                <a:cs typeface="Arial" pitchFamily="34" charset="0"/>
              </a:rPr>
              <a:t>For the policies having multiple class codes, the highest minimum premium associated with the class code will be considered as the min prem.</a:t>
            </a:r>
          </a:p>
          <a:p>
            <a:pPr lvl="1" indent="-457200" algn="just" fontAlgn="auto">
              <a:spcBef>
                <a:spcPts val="0"/>
              </a:spcBef>
              <a:spcAft>
                <a:spcPts val="0"/>
              </a:spcAft>
              <a:buSzPct val="100000"/>
              <a:buFont typeface="Wingdings" pitchFamily="2" charset="2"/>
              <a:buChar char="Ø"/>
              <a:defRPr/>
            </a:pPr>
            <a:endParaRPr lang="en-IN" sz="1600" dirty="0" smtClean="0">
              <a:latin typeface="Arial" pitchFamily="34" charset="0"/>
              <a:cs typeface="Arial" pitchFamily="34" charset="0"/>
            </a:endParaRPr>
          </a:p>
          <a:p>
            <a:pPr lvl="1" indent="-457200" algn="just" fontAlgn="auto">
              <a:spcBef>
                <a:spcPts val="0"/>
              </a:spcBef>
              <a:spcAft>
                <a:spcPts val="0"/>
              </a:spcAft>
              <a:buSzPct val="100000"/>
              <a:buFont typeface="Wingdings" pitchFamily="2" charset="2"/>
              <a:buChar char="Ø"/>
              <a:defRPr/>
            </a:pPr>
            <a:r>
              <a:rPr lang="en-IN" sz="1600" dirty="0" smtClean="0">
                <a:latin typeface="Arial" pitchFamily="34" charset="0"/>
                <a:cs typeface="Arial" pitchFamily="34" charset="0"/>
              </a:rPr>
              <a:t>Min </a:t>
            </a:r>
            <a:r>
              <a:rPr lang="en-IN" sz="1600" dirty="0" err="1" smtClean="0">
                <a:latin typeface="Arial" pitchFamily="34" charset="0"/>
                <a:cs typeface="Arial" pitchFamily="34" charset="0"/>
              </a:rPr>
              <a:t>Prem</a:t>
            </a:r>
            <a:r>
              <a:rPr lang="en-IN" sz="1600" dirty="0" smtClean="0">
                <a:latin typeface="Arial" pitchFamily="34" charset="0"/>
                <a:cs typeface="Arial" pitchFamily="34" charset="0"/>
              </a:rPr>
              <a:t> Calc Formula for Payroll classes: [(LC*LCM)*DM] + EC</a:t>
            </a:r>
          </a:p>
          <a:p>
            <a:pPr lvl="1" indent="-457200" algn="just" fontAlgn="auto">
              <a:spcBef>
                <a:spcPts val="0"/>
              </a:spcBef>
              <a:spcAft>
                <a:spcPts val="0"/>
              </a:spcAft>
              <a:buSzPct val="100000"/>
              <a:buFont typeface="Wingdings" pitchFamily="2" charset="2"/>
              <a:buChar char="Ø"/>
              <a:defRPr/>
            </a:pPr>
            <a:endParaRPr lang="en-IN" sz="1600" dirty="0" smtClean="0">
              <a:latin typeface="Arial" pitchFamily="34" charset="0"/>
              <a:cs typeface="Arial" pitchFamily="34" charset="0"/>
            </a:endParaRPr>
          </a:p>
          <a:p>
            <a:pPr lvl="1" indent="-457200" algn="just" fontAlgn="auto">
              <a:spcBef>
                <a:spcPts val="0"/>
              </a:spcBef>
              <a:spcAft>
                <a:spcPts val="0"/>
              </a:spcAft>
              <a:buSzPct val="100000"/>
              <a:buFont typeface="Wingdings" pitchFamily="2" charset="2"/>
              <a:buChar char="Ø"/>
              <a:defRPr/>
            </a:pPr>
            <a:r>
              <a:rPr lang="en-IN" sz="1600" dirty="0" smtClean="0">
                <a:latin typeface="Arial" pitchFamily="34" charset="0"/>
                <a:cs typeface="Arial" pitchFamily="34" charset="0"/>
              </a:rPr>
              <a:t>Min </a:t>
            </a:r>
            <a:r>
              <a:rPr lang="en-IN" sz="1600" dirty="0" err="1" smtClean="0">
                <a:latin typeface="Arial" pitchFamily="34" charset="0"/>
                <a:cs typeface="Arial" pitchFamily="34" charset="0"/>
              </a:rPr>
              <a:t>Prem</a:t>
            </a:r>
            <a:r>
              <a:rPr lang="en-IN" sz="1600" dirty="0" smtClean="0">
                <a:latin typeface="Arial" pitchFamily="34" charset="0"/>
                <a:cs typeface="Arial" pitchFamily="34" charset="0"/>
              </a:rPr>
              <a:t> Calc Formula for Non-Payroll classes: [(LC*LCM)*1] + EC</a:t>
            </a:r>
          </a:p>
          <a:p>
            <a:endParaRPr lang="en-US" dirty="0">
              <a:latin typeface="Arial" pitchFamily="34" charset="0"/>
              <a:cs typeface="Arial" pitchFamily="34" charset="0"/>
            </a:endParaRPr>
          </a:p>
        </p:txBody>
      </p:sp>
      <p:sp>
        <p:nvSpPr>
          <p:cNvPr id="3" name="TextBox 2"/>
          <p:cNvSpPr txBox="1"/>
          <p:nvPr/>
        </p:nvSpPr>
        <p:spPr>
          <a:xfrm>
            <a:off x="152400" y="152400"/>
            <a:ext cx="6019800" cy="646331"/>
          </a:xfrm>
          <a:prstGeom prst="rect">
            <a:avLst/>
          </a:prstGeom>
          <a:noFill/>
        </p:spPr>
        <p:txBody>
          <a:bodyPr wrap="square" rtlCol="0">
            <a:spAutoFit/>
          </a:bodyPr>
          <a:lstStyle/>
          <a:p>
            <a:r>
              <a:rPr lang="en-IN" b="1" dirty="0" smtClean="0">
                <a:solidFill>
                  <a:schemeClr val="bg1"/>
                </a:solidFill>
                <a:latin typeface="Arial" pitchFamily="34" charset="0"/>
                <a:cs typeface="Arial" pitchFamily="34" charset="0"/>
              </a:rPr>
              <a:t>Minimum Premium (Cont…)</a:t>
            </a:r>
            <a:endParaRPr lang="en-US" dirty="0" smtClean="0">
              <a:solidFill>
                <a:schemeClr val="bg1"/>
              </a:solidFill>
              <a:latin typeface="Arial" pitchFamily="34" charset="0"/>
              <a:cs typeface="Arial" pitchFamily="34" charset="0"/>
            </a:endParaRPr>
          </a:p>
          <a:p>
            <a:endParaRPr lang="en-US" dirty="0">
              <a:latin typeface="Arial" pitchFamily="34" charset="0"/>
              <a:cs typeface="Arial"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990600"/>
            <a:ext cx="8534400" cy="5052152"/>
          </a:xfrm>
          <a:prstGeom prst="rect">
            <a:avLst/>
          </a:prstGeom>
          <a:noFill/>
        </p:spPr>
        <p:txBody>
          <a:bodyPr wrap="square" rtlCol="0">
            <a:spAutoFit/>
          </a:bodyPr>
          <a:lstStyle/>
          <a:p>
            <a:pPr indent="-330200">
              <a:lnSpc>
                <a:spcPct val="80000"/>
              </a:lnSpc>
              <a:spcBef>
                <a:spcPts val="50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1600" b="1" dirty="0" smtClean="0">
                <a:latin typeface="Arial" pitchFamily="34" charset="0"/>
                <a:cs typeface="Arial" pitchFamily="34" charset="0"/>
              </a:rPr>
              <a:t>Schedule Rating:</a:t>
            </a:r>
          </a:p>
          <a:p>
            <a:pPr indent="-330200">
              <a:lnSpc>
                <a:spcPct val="80000"/>
              </a:lnSpc>
              <a:spcBef>
                <a:spcPts val="50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1600" b="1" dirty="0" smtClean="0">
                <a:solidFill>
                  <a:srgbClr val="C00000"/>
                </a:solidFill>
                <a:latin typeface="Arial" pitchFamily="34" charset="0"/>
                <a:cs typeface="Arial" pitchFamily="34" charset="0"/>
              </a:rPr>
              <a:t> </a:t>
            </a:r>
          </a:p>
          <a:p>
            <a:pPr indent="-330200">
              <a:lnSpc>
                <a:spcPct val="80000"/>
              </a:lnSpc>
              <a:spcBef>
                <a:spcPts val="50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600" dirty="0" smtClean="0">
                <a:latin typeface="Arial" pitchFamily="34" charset="0"/>
                <a:cs typeface="Arial" pitchFamily="34" charset="0"/>
              </a:rPr>
              <a:t>Schedule rating may be used in addition to experience rating. The NCCI or other appropriate rating bureaus administer the Schedule rating plans. </a:t>
            </a:r>
          </a:p>
          <a:p>
            <a:pPr indent="-330200">
              <a:lnSpc>
                <a:spcPct val="80000"/>
              </a:lnSpc>
              <a:spcBef>
                <a:spcPts val="50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IN" sz="1600" dirty="0" smtClean="0">
              <a:latin typeface="Arial" pitchFamily="34" charset="0"/>
              <a:cs typeface="Arial" pitchFamily="34" charset="0"/>
            </a:endParaRPr>
          </a:p>
          <a:p>
            <a:pPr indent="-330200">
              <a:lnSpc>
                <a:spcPct val="80000"/>
              </a:lnSpc>
              <a:spcBef>
                <a:spcPts val="50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600" dirty="0" smtClean="0">
                <a:latin typeface="Arial" pitchFamily="34" charset="0"/>
                <a:cs typeface="Arial" pitchFamily="34" charset="0"/>
              </a:rPr>
              <a:t>Schedule rating credits or debits are applied </a:t>
            </a:r>
            <a:r>
              <a:rPr lang="en-IN" sz="1600" i="1" dirty="0" smtClean="0">
                <a:latin typeface="Arial" pitchFamily="34" charset="0"/>
                <a:cs typeface="Arial" pitchFamily="34" charset="0"/>
              </a:rPr>
              <a:t>after</a:t>
            </a:r>
            <a:r>
              <a:rPr lang="en-IN" sz="1600" dirty="0" smtClean="0">
                <a:latin typeface="Arial" pitchFamily="34" charset="0"/>
                <a:cs typeface="Arial" pitchFamily="34" charset="0"/>
              </a:rPr>
              <a:t> the Experience modification. The maximum credit or debit is 25 percent. The goal of schedule rating is to reflect characteristics of a particular company that are not reflected in experience rating. NCCI rules require that schedule rating be applied to filed and approved rates </a:t>
            </a:r>
            <a:r>
              <a:rPr lang="en-IN" sz="1600" i="1" dirty="0" smtClean="0">
                <a:latin typeface="Arial" pitchFamily="34" charset="0"/>
                <a:cs typeface="Arial" pitchFamily="34" charset="0"/>
              </a:rPr>
              <a:t>without deviations.</a:t>
            </a:r>
            <a:r>
              <a:rPr lang="en-IN" sz="1600" dirty="0" smtClean="0">
                <a:latin typeface="Arial" pitchFamily="34" charset="0"/>
                <a:cs typeface="Arial" pitchFamily="34" charset="0"/>
              </a:rPr>
              <a:t> Deviations are discounts that are filed by carriers and applied to rates before the premium is calculated.</a:t>
            </a:r>
          </a:p>
          <a:p>
            <a:pPr indent="-330200">
              <a:lnSpc>
                <a:spcPct val="90000"/>
              </a:lnSpc>
              <a:spcBef>
                <a:spcPts val="50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IN" sz="1600" dirty="0" smtClean="0">
              <a:latin typeface="Arial" pitchFamily="34" charset="0"/>
              <a:cs typeface="Arial" pitchFamily="34" charset="0"/>
            </a:endParaRPr>
          </a:p>
          <a:p>
            <a:pPr indent="-330200">
              <a:lnSpc>
                <a:spcPct val="80000"/>
              </a:lnSpc>
              <a:spcBef>
                <a:spcPts val="50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600" b="1" dirty="0" smtClean="0">
                <a:latin typeface="Arial" pitchFamily="34" charset="0"/>
                <a:cs typeface="Arial" pitchFamily="34" charset="0"/>
              </a:rPr>
              <a:t>Why Is This Important?</a:t>
            </a:r>
          </a:p>
          <a:p>
            <a:pPr indent="-330200">
              <a:lnSpc>
                <a:spcPct val="90000"/>
              </a:lnSpc>
              <a:spcBef>
                <a:spcPts val="50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IN" sz="1600" dirty="0" smtClean="0">
              <a:latin typeface="Arial" pitchFamily="34" charset="0"/>
              <a:cs typeface="Arial" pitchFamily="34" charset="0"/>
            </a:endParaRPr>
          </a:p>
          <a:p>
            <a:pPr indent="-330200">
              <a:lnSpc>
                <a:spcPct val="90000"/>
              </a:lnSpc>
              <a:spcBef>
                <a:spcPts val="45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600" dirty="0" smtClean="0">
                <a:latin typeface="Arial" pitchFamily="34" charset="0"/>
                <a:cs typeface="Arial" pitchFamily="34" charset="0"/>
              </a:rPr>
              <a:t>The rates that are used for workers compensation coverage often are fairly consistent across classifications. However, businesses can directly control their premiums by preventing and managing claims to earn a lower experience mod. In addition, they can institute safety and employee training programs that enable them to qualify for schedule rating, another source of potentially lower premiums.</a:t>
            </a:r>
          </a:p>
          <a:p>
            <a:pPr indent="-330200">
              <a:lnSpc>
                <a:spcPct val="90000"/>
              </a:lnSpc>
              <a:spcBef>
                <a:spcPts val="45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600" dirty="0" smtClean="0">
                <a:latin typeface="Arial" pitchFamily="34" charset="0"/>
                <a:cs typeface="Arial" pitchFamily="34" charset="0"/>
              </a:rPr>
              <a:t>The opposite also is true. Both experience and schedule rating penalize businesses that fail to institute programs to prevent and manage claims. These businesses are forced to pay higher premiums for coverage that is mandated by law.</a:t>
            </a:r>
          </a:p>
        </p:txBody>
      </p:sp>
      <p:sp>
        <p:nvSpPr>
          <p:cNvPr id="3" name="TextBox 2"/>
          <p:cNvSpPr txBox="1"/>
          <p:nvPr/>
        </p:nvSpPr>
        <p:spPr>
          <a:xfrm>
            <a:off x="228600" y="228600"/>
            <a:ext cx="5334000" cy="313932"/>
          </a:xfrm>
          <a:prstGeom prst="rect">
            <a:avLst/>
          </a:prstGeom>
          <a:noFill/>
        </p:spPr>
        <p:txBody>
          <a:bodyPr wrap="square" rtlCol="0">
            <a:spAutoFit/>
          </a:bodyPr>
          <a:lstStyle/>
          <a:p>
            <a:pPr indent="-330200">
              <a:lnSpc>
                <a:spcPct val="80000"/>
              </a:lnSpc>
              <a:spcBef>
                <a:spcPts val="50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b="1" dirty="0" smtClean="0">
                <a:solidFill>
                  <a:schemeClr val="bg1"/>
                </a:solidFill>
                <a:latin typeface="Arial" pitchFamily="34" charset="0"/>
                <a:cs typeface="Arial" pitchFamily="34" charset="0"/>
              </a:rPr>
              <a:t>Schedule Rating</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219200"/>
            <a:ext cx="8305800" cy="4954177"/>
          </a:xfrm>
          <a:prstGeom prst="rect">
            <a:avLst/>
          </a:prstGeom>
          <a:noFill/>
        </p:spPr>
        <p:txBody>
          <a:bodyPr wrap="square" rtlCol="0">
            <a:spAutoFit/>
          </a:bodyPr>
          <a:lstStyle/>
          <a:p>
            <a:pPr indent="-330200">
              <a:lnSpc>
                <a:spcPct val="80000"/>
              </a:lnSpc>
              <a:spcBef>
                <a:spcPts val="50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1600" b="1" dirty="0" smtClean="0">
                <a:latin typeface="Arial" pitchFamily="34" charset="0"/>
                <a:cs typeface="Arial" pitchFamily="34" charset="0"/>
              </a:rPr>
              <a:t>Schedule Rating:</a:t>
            </a:r>
          </a:p>
          <a:p>
            <a:pPr indent="-330200">
              <a:lnSpc>
                <a:spcPct val="80000"/>
              </a:lnSpc>
              <a:spcBef>
                <a:spcPts val="50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1600" b="1" dirty="0" smtClean="0">
                <a:solidFill>
                  <a:srgbClr val="C00000"/>
                </a:solidFill>
                <a:latin typeface="Arial" pitchFamily="34" charset="0"/>
                <a:cs typeface="Arial" pitchFamily="34" charset="0"/>
              </a:rPr>
              <a:t> </a:t>
            </a:r>
          </a:p>
          <a:p>
            <a:pPr indent="-330200">
              <a:lnSpc>
                <a:spcPct val="90000"/>
              </a:lnSpc>
              <a:spcBef>
                <a:spcPts val="50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600" dirty="0" smtClean="0">
                <a:latin typeface="Arial" pitchFamily="34" charset="0"/>
                <a:cs typeface="Arial" pitchFamily="34" charset="0"/>
              </a:rPr>
              <a:t>Schedule credits or debits are assigned for reasons such as:</a:t>
            </a:r>
          </a:p>
          <a:p>
            <a:pPr lvl="1" indent="-457200" algn="just" fontAlgn="auto">
              <a:spcBef>
                <a:spcPts val="0"/>
              </a:spcBef>
              <a:spcAft>
                <a:spcPts val="0"/>
              </a:spcAft>
              <a:buClr>
                <a:srgbClr val="C00000"/>
              </a:buClr>
              <a:buSzPct val="80000"/>
              <a:buFont typeface="Wingdings" pitchFamily="2" charset="2"/>
              <a:buChar char="v"/>
              <a:defRPr/>
            </a:pPr>
            <a:endParaRPr lang="en-IN" sz="1600" dirty="0" smtClean="0">
              <a:latin typeface="Arial" pitchFamily="34" charset="0"/>
              <a:cs typeface="Arial" pitchFamily="34" charset="0"/>
            </a:endParaRPr>
          </a:p>
          <a:p>
            <a:pPr lvl="1" indent="-457200" algn="just" fontAlgn="auto">
              <a:spcBef>
                <a:spcPts val="0"/>
              </a:spcBef>
              <a:spcAft>
                <a:spcPts val="0"/>
              </a:spcAft>
              <a:buSzPct val="80000"/>
              <a:buFont typeface="Wingdings" pitchFamily="2" charset="2"/>
              <a:buChar char="Ø"/>
              <a:defRPr/>
            </a:pPr>
            <a:r>
              <a:rPr lang="en-IN" sz="1600" dirty="0" smtClean="0">
                <a:latin typeface="Arial" pitchFamily="34" charset="0"/>
                <a:cs typeface="Arial" pitchFamily="34" charset="0"/>
              </a:rPr>
              <a:t>Drug free workplaces</a:t>
            </a:r>
          </a:p>
          <a:p>
            <a:pPr lvl="1" indent="-457200" algn="just" fontAlgn="auto">
              <a:spcBef>
                <a:spcPts val="0"/>
              </a:spcBef>
              <a:spcAft>
                <a:spcPts val="0"/>
              </a:spcAft>
              <a:buSzPct val="80000"/>
              <a:buFont typeface="Wingdings" pitchFamily="2" charset="2"/>
              <a:buChar char="Ø"/>
              <a:defRPr/>
            </a:pPr>
            <a:endParaRPr lang="en-IN" sz="1600" dirty="0" smtClean="0">
              <a:latin typeface="Arial" pitchFamily="34" charset="0"/>
              <a:cs typeface="Arial" pitchFamily="34" charset="0"/>
            </a:endParaRPr>
          </a:p>
          <a:p>
            <a:pPr lvl="1" indent="-457200" algn="just" fontAlgn="auto">
              <a:lnSpc>
                <a:spcPct val="90000"/>
              </a:lnSpc>
              <a:spcBef>
                <a:spcPts val="0"/>
              </a:spcBef>
              <a:spcAft>
                <a:spcPts val="0"/>
              </a:spcAft>
              <a:buSzPct val="80000"/>
              <a:buFont typeface="Wingdings" pitchFamily="2" charset="2"/>
              <a:buChar char="Ø"/>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600" dirty="0" smtClean="0">
                <a:latin typeface="Arial" pitchFamily="34" charset="0"/>
                <a:cs typeface="Arial" pitchFamily="34" charset="0"/>
              </a:rPr>
              <a:t>Management cooperation</a:t>
            </a:r>
          </a:p>
          <a:p>
            <a:pPr lvl="1" indent="-457200" algn="just" fontAlgn="auto">
              <a:lnSpc>
                <a:spcPct val="90000"/>
              </a:lnSpc>
              <a:spcBef>
                <a:spcPts val="0"/>
              </a:spcBef>
              <a:spcAft>
                <a:spcPts val="0"/>
              </a:spcAft>
              <a:buSzPct val="8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IN" sz="1600" dirty="0" smtClean="0">
              <a:latin typeface="Arial" pitchFamily="34" charset="0"/>
              <a:cs typeface="Arial" pitchFamily="34" charset="0"/>
            </a:endParaRPr>
          </a:p>
          <a:p>
            <a:pPr lvl="1" indent="-457200" algn="just" fontAlgn="auto">
              <a:lnSpc>
                <a:spcPct val="90000"/>
              </a:lnSpc>
              <a:spcBef>
                <a:spcPts val="0"/>
              </a:spcBef>
              <a:spcAft>
                <a:spcPts val="0"/>
              </a:spcAft>
              <a:buSzPct val="80000"/>
              <a:buFont typeface="Wingdings" pitchFamily="2" charset="2"/>
              <a:buChar char="Ø"/>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600" dirty="0" smtClean="0">
                <a:latin typeface="Arial" pitchFamily="34" charset="0"/>
                <a:cs typeface="Arial" pitchFamily="34" charset="0"/>
              </a:rPr>
              <a:t>Safety devices and equipment</a:t>
            </a:r>
          </a:p>
          <a:p>
            <a:pPr lvl="1" indent="-457200" algn="just" fontAlgn="auto">
              <a:lnSpc>
                <a:spcPct val="90000"/>
              </a:lnSpc>
              <a:spcBef>
                <a:spcPts val="0"/>
              </a:spcBef>
              <a:spcAft>
                <a:spcPts val="0"/>
              </a:spcAft>
              <a:buSzPct val="80000"/>
              <a:buFont typeface="Wingdings" pitchFamily="2" charset="2"/>
              <a:buChar char="Ø"/>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IN" sz="1600" dirty="0" smtClean="0">
              <a:latin typeface="Arial" pitchFamily="34" charset="0"/>
              <a:cs typeface="Arial" pitchFamily="34" charset="0"/>
            </a:endParaRPr>
          </a:p>
          <a:p>
            <a:pPr lvl="1" indent="-457200" algn="just" fontAlgn="auto">
              <a:lnSpc>
                <a:spcPct val="90000"/>
              </a:lnSpc>
              <a:spcBef>
                <a:spcPts val="0"/>
              </a:spcBef>
              <a:spcAft>
                <a:spcPts val="0"/>
              </a:spcAft>
              <a:buSzPct val="80000"/>
              <a:buFont typeface="Wingdings" pitchFamily="2" charset="2"/>
              <a:buChar char="Ø"/>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600" dirty="0" smtClean="0">
                <a:latin typeface="Arial" pitchFamily="34" charset="0"/>
                <a:cs typeface="Arial" pitchFamily="34" charset="0"/>
              </a:rPr>
              <a:t>Safe work environments</a:t>
            </a:r>
          </a:p>
          <a:p>
            <a:pPr lvl="1" indent="-457200" algn="just" fontAlgn="auto">
              <a:lnSpc>
                <a:spcPct val="90000"/>
              </a:lnSpc>
              <a:spcBef>
                <a:spcPts val="0"/>
              </a:spcBef>
              <a:spcAft>
                <a:spcPts val="0"/>
              </a:spcAft>
              <a:buSzPct val="80000"/>
              <a:buFont typeface="Wingdings" pitchFamily="2" charset="2"/>
              <a:buChar char="Ø"/>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IN" sz="1600" dirty="0" smtClean="0">
              <a:latin typeface="Arial" pitchFamily="34" charset="0"/>
              <a:cs typeface="Arial" pitchFamily="34" charset="0"/>
            </a:endParaRPr>
          </a:p>
          <a:p>
            <a:pPr lvl="1" indent="-457200" algn="just" fontAlgn="auto">
              <a:lnSpc>
                <a:spcPct val="90000"/>
              </a:lnSpc>
              <a:spcBef>
                <a:spcPts val="0"/>
              </a:spcBef>
              <a:spcAft>
                <a:spcPts val="0"/>
              </a:spcAft>
              <a:buSzPct val="80000"/>
              <a:buFont typeface="Wingdings" pitchFamily="2" charset="2"/>
              <a:buChar char="Ø"/>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600" dirty="0" smtClean="0">
                <a:latin typeface="Arial" pitchFamily="34" charset="0"/>
                <a:cs typeface="Arial" pitchFamily="34" charset="0"/>
              </a:rPr>
              <a:t>Active employee safety committees</a:t>
            </a:r>
          </a:p>
          <a:p>
            <a:pPr lvl="1" indent="-457200" algn="just" fontAlgn="auto">
              <a:lnSpc>
                <a:spcPct val="90000"/>
              </a:lnSpc>
              <a:spcBef>
                <a:spcPts val="0"/>
              </a:spcBef>
              <a:spcAft>
                <a:spcPts val="0"/>
              </a:spcAft>
              <a:buSzPct val="80000"/>
              <a:buFont typeface="Wingdings" pitchFamily="2" charset="2"/>
              <a:buChar char="Ø"/>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IN" sz="1600" dirty="0" smtClean="0">
              <a:latin typeface="Arial" pitchFamily="34" charset="0"/>
              <a:cs typeface="Arial" pitchFamily="34" charset="0"/>
            </a:endParaRPr>
          </a:p>
          <a:p>
            <a:pPr lvl="1" indent="-457200" algn="just" fontAlgn="auto">
              <a:lnSpc>
                <a:spcPct val="90000"/>
              </a:lnSpc>
              <a:spcBef>
                <a:spcPts val="0"/>
              </a:spcBef>
              <a:spcAft>
                <a:spcPts val="0"/>
              </a:spcAft>
              <a:buSzPct val="80000"/>
              <a:buFont typeface="Wingdings" pitchFamily="2" charset="2"/>
              <a:buChar char="Ø"/>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600" dirty="0" smtClean="0">
                <a:latin typeface="Arial" pitchFamily="34" charset="0"/>
                <a:cs typeface="Arial" pitchFamily="34" charset="0"/>
              </a:rPr>
              <a:t>On-premises emergency medical facilities or personnel</a:t>
            </a:r>
          </a:p>
          <a:p>
            <a:pPr lvl="1" indent="-457200" algn="just" fontAlgn="auto">
              <a:lnSpc>
                <a:spcPct val="90000"/>
              </a:lnSpc>
              <a:spcBef>
                <a:spcPts val="0"/>
              </a:spcBef>
              <a:spcAft>
                <a:spcPts val="0"/>
              </a:spcAft>
              <a:buSzPct val="80000"/>
              <a:buFont typeface="Wingdings" pitchFamily="2" charset="2"/>
              <a:buChar char="Ø"/>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IN" sz="1600" dirty="0" smtClean="0">
              <a:latin typeface="Arial" pitchFamily="34" charset="0"/>
              <a:cs typeface="Arial" pitchFamily="34" charset="0"/>
            </a:endParaRPr>
          </a:p>
          <a:p>
            <a:pPr lvl="1" indent="-457200" algn="just" fontAlgn="auto">
              <a:lnSpc>
                <a:spcPct val="90000"/>
              </a:lnSpc>
              <a:spcBef>
                <a:spcPts val="0"/>
              </a:spcBef>
              <a:spcAft>
                <a:spcPts val="0"/>
              </a:spcAft>
              <a:buSzPct val="80000"/>
              <a:buFont typeface="Wingdings" pitchFamily="2" charset="2"/>
              <a:buChar char="Ø"/>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600" dirty="0" smtClean="0">
                <a:latin typeface="Arial" pitchFamily="34" charset="0"/>
                <a:cs typeface="Arial" pitchFamily="34" charset="0"/>
              </a:rPr>
              <a:t>Selection, training, experience, controls motivation, and supervision of employees</a:t>
            </a:r>
          </a:p>
          <a:p>
            <a:pPr lvl="1" indent="-457200" algn="just" fontAlgn="auto">
              <a:lnSpc>
                <a:spcPct val="90000"/>
              </a:lnSpc>
              <a:spcBef>
                <a:spcPts val="0"/>
              </a:spcBef>
              <a:spcAft>
                <a:spcPts val="0"/>
              </a:spcAft>
              <a:buSzPct val="80000"/>
              <a:buFont typeface="Wingdings" pitchFamily="2" charset="2"/>
              <a:buChar char="Ø"/>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IN" sz="1600" dirty="0" smtClean="0">
              <a:latin typeface="Arial" pitchFamily="34" charset="0"/>
              <a:cs typeface="Arial" pitchFamily="34" charset="0"/>
            </a:endParaRPr>
          </a:p>
          <a:p>
            <a:pPr lvl="1" indent="-457200" algn="just" fontAlgn="auto">
              <a:lnSpc>
                <a:spcPct val="90000"/>
              </a:lnSpc>
              <a:spcBef>
                <a:spcPts val="0"/>
              </a:spcBef>
              <a:spcAft>
                <a:spcPts val="0"/>
              </a:spcAft>
              <a:buSzPct val="80000"/>
              <a:buFont typeface="Wingdings" pitchFamily="2" charset="2"/>
              <a:buChar char="Ø"/>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600" dirty="0" smtClean="0">
                <a:latin typeface="Arial" pitchFamily="34" charset="0"/>
                <a:cs typeface="Arial" pitchFamily="34" charset="0"/>
              </a:rPr>
              <a:t>Classification peculiarities caused by technology, employee distribution, or assignment.</a:t>
            </a:r>
          </a:p>
          <a:p>
            <a:endParaRPr lang="en-US" dirty="0">
              <a:latin typeface="Arial" pitchFamily="34" charset="0"/>
              <a:cs typeface="Arial" pitchFamily="34" charset="0"/>
            </a:endParaRPr>
          </a:p>
        </p:txBody>
      </p:sp>
      <p:sp>
        <p:nvSpPr>
          <p:cNvPr id="3" name="TextBox 2"/>
          <p:cNvSpPr txBox="1"/>
          <p:nvPr/>
        </p:nvSpPr>
        <p:spPr>
          <a:xfrm>
            <a:off x="228600" y="228600"/>
            <a:ext cx="5334000" cy="646331"/>
          </a:xfrm>
          <a:prstGeom prst="rect">
            <a:avLst/>
          </a:prstGeom>
          <a:noFill/>
        </p:spPr>
        <p:txBody>
          <a:bodyPr wrap="square" rtlCol="0">
            <a:spAutoFit/>
          </a:bodyPr>
          <a:lstStyle/>
          <a:p>
            <a:r>
              <a:rPr lang="en-US" b="1" dirty="0" smtClean="0">
                <a:solidFill>
                  <a:schemeClr val="bg1"/>
                </a:solidFill>
                <a:latin typeface="Arial" pitchFamily="34" charset="0"/>
                <a:cs typeface="Arial" pitchFamily="34" charset="0"/>
              </a:rPr>
              <a:t>Schedule Rating (Cont…)</a:t>
            </a:r>
          </a:p>
          <a:p>
            <a:endParaRPr lang="en-US" dirty="0">
              <a:latin typeface="Arial" pitchFamily="34" charset="0"/>
              <a:cs typeface="Arial"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1000" y="1295400"/>
            <a:ext cx="8305800" cy="2910540"/>
          </a:xfrm>
          <a:prstGeom prst="rect">
            <a:avLst/>
          </a:prstGeom>
          <a:noFill/>
        </p:spPr>
        <p:txBody>
          <a:bodyPr wrap="square" rtlCol="0">
            <a:spAutoFit/>
          </a:bodyPr>
          <a:lstStyle/>
          <a:p>
            <a:pPr indent="-330200">
              <a:lnSpc>
                <a:spcPct val="90000"/>
              </a:lnSpc>
              <a:spcBef>
                <a:spcPts val="50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IN" sz="1600" dirty="0" smtClean="0">
              <a:latin typeface="Arial" pitchFamily="34" charset="0"/>
              <a:cs typeface="Arial" pitchFamily="34" charset="0"/>
            </a:endParaRPr>
          </a:p>
          <a:p>
            <a:pPr indent="-330200">
              <a:lnSpc>
                <a:spcPct val="80000"/>
              </a:lnSpc>
              <a:spcBef>
                <a:spcPts val="50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600" b="1" dirty="0" smtClean="0">
                <a:latin typeface="Arial" pitchFamily="34" charset="0"/>
                <a:cs typeface="Arial" pitchFamily="34" charset="0"/>
              </a:rPr>
              <a:t>Retrospective Rating:</a:t>
            </a:r>
          </a:p>
          <a:p>
            <a:pPr indent="-330200">
              <a:lnSpc>
                <a:spcPct val="90000"/>
              </a:lnSpc>
              <a:spcBef>
                <a:spcPts val="50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IN" sz="1600" dirty="0" smtClean="0">
              <a:latin typeface="Arial" pitchFamily="34" charset="0"/>
              <a:cs typeface="Arial" pitchFamily="34" charset="0"/>
            </a:endParaRPr>
          </a:p>
          <a:p>
            <a:pPr lvl="1" indent="-457200" algn="just" fontAlgn="auto">
              <a:lnSpc>
                <a:spcPct val="90000"/>
              </a:lnSpc>
              <a:spcBef>
                <a:spcPts val="0"/>
              </a:spcBef>
              <a:spcAft>
                <a:spcPts val="0"/>
              </a:spcAft>
              <a:buSzPct val="80000"/>
              <a:buFont typeface="Wingdings" pitchFamily="2" charset="2"/>
              <a:buChar char="Ø"/>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600" dirty="0" smtClean="0">
                <a:latin typeface="Arial" pitchFamily="34" charset="0"/>
                <a:cs typeface="Arial" pitchFamily="34" charset="0"/>
              </a:rPr>
              <a:t>The Retrospective Rating Plan bases the employer’s premium on its size and actual experience for the policy period, subject to maximum and minimum limits.</a:t>
            </a:r>
          </a:p>
          <a:p>
            <a:pPr lvl="1" indent="-457200" algn="just" fontAlgn="auto">
              <a:lnSpc>
                <a:spcPct val="90000"/>
              </a:lnSpc>
              <a:spcBef>
                <a:spcPts val="0"/>
              </a:spcBef>
              <a:spcAft>
                <a:spcPts val="0"/>
              </a:spcAft>
              <a:buSzPct val="80000"/>
              <a:buFont typeface="Wingdings" pitchFamily="2" charset="2"/>
              <a:buChar char="Ø"/>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IN" sz="1600" dirty="0" smtClean="0">
              <a:latin typeface="Arial" pitchFamily="34" charset="0"/>
              <a:cs typeface="Arial" pitchFamily="34" charset="0"/>
            </a:endParaRPr>
          </a:p>
          <a:p>
            <a:pPr lvl="1" indent="-457200" algn="just" fontAlgn="auto">
              <a:lnSpc>
                <a:spcPct val="90000"/>
              </a:lnSpc>
              <a:spcBef>
                <a:spcPts val="0"/>
              </a:spcBef>
              <a:spcAft>
                <a:spcPts val="0"/>
              </a:spcAft>
              <a:buSzPct val="80000"/>
              <a:buFont typeface="Wingdings" pitchFamily="2" charset="2"/>
              <a:buChar char="Ø"/>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600" dirty="0" smtClean="0">
                <a:latin typeface="Arial" pitchFamily="34" charset="0"/>
                <a:cs typeface="Arial" pitchFamily="34" charset="0"/>
              </a:rPr>
              <a:t>An initial premium is charged and then adjusted at the end of the policy period to reflect the actual losses. </a:t>
            </a:r>
          </a:p>
          <a:p>
            <a:pPr lvl="1" indent="-457200" algn="just" fontAlgn="auto">
              <a:lnSpc>
                <a:spcPct val="90000"/>
              </a:lnSpc>
              <a:spcBef>
                <a:spcPts val="0"/>
              </a:spcBef>
              <a:spcAft>
                <a:spcPts val="0"/>
              </a:spcAft>
              <a:buSzPct val="80000"/>
              <a:buFont typeface="Wingdings" pitchFamily="2" charset="2"/>
              <a:buChar char="Ø"/>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IN" sz="1600" dirty="0" smtClean="0">
              <a:latin typeface="Arial" pitchFamily="34" charset="0"/>
              <a:cs typeface="Arial" pitchFamily="34" charset="0"/>
            </a:endParaRPr>
          </a:p>
          <a:p>
            <a:pPr lvl="1" indent="-457200" algn="just" fontAlgn="auto">
              <a:lnSpc>
                <a:spcPct val="90000"/>
              </a:lnSpc>
              <a:spcBef>
                <a:spcPts val="0"/>
              </a:spcBef>
              <a:spcAft>
                <a:spcPts val="0"/>
              </a:spcAft>
              <a:buSzPct val="80000"/>
              <a:buFont typeface="Wingdings" pitchFamily="2" charset="2"/>
              <a:buChar char="Ø"/>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600" dirty="0" smtClean="0">
                <a:latin typeface="Arial" pitchFamily="34" charset="0"/>
                <a:cs typeface="Arial" pitchFamily="34" charset="0"/>
              </a:rPr>
              <a:t>A premium discount does not apply to policies written under a retrospective rating plan at the inception.</a:t>
            </a:r>
          </a:p>
          <a:p>
            <a:endParaRPr lang="en-US" dirty="0">
              <a:latin typeface="Arial" pitchFamily="34" charset="0"/>
              <a:cs typeface="Arial" pitchFamily="34" charset="0"/>
            </a:endParaRPr>
          </a:p>
        </p:txBody>
      </p:sp>
      <p:sp>
        <p:nvSpPr>
          <p:cNvPr id="3" name="TextBox 2"/>
          <p:cNvSpPr txBox="1"/>
          <p:nvPr/>
        </p:nvSpPr>
        <p:spPr>
          <a:xfrm>
            <a:off x="152400" y="228600"/>
            <a:ext cx="4724400" cy="646331"/>
          </a:xfrm>
          <a:prstGeom prst="rect">
            <a:avLst/>
          </a:prstGeom>
          <a:noFill/>
        </p:spPr>
        <p:txBody>
          <a:bodyPr wrap="square" rtlCol="0">
            <a:spAutoFit/>
          </a:bodyPr>
          <a:lstStyle/>
          <a:p>
            <a:r>
              <a:rPr lang="en-IN" b="1" dirty="0" smtClean="0">
                <a:solidFill>
                  <a:schemeClr val="bg1"/>
                </a:solidFill>
                <a:latin typeface="Arial" pitchFamily="34" charset="0"/>
                <a:cs typeface="Arial" pitchFamily="34" charset="0"/>
              </a:rPr>
              <a:t>Retrospective Rating</a:t>
            </a:r>
          </a:p>
          <a:p>
            <a:endParaRPr lang="en-US" dirty="0">
              <a:latin typeface="Arial" pitchFamily="34" charset="0"/>
              <a:cs typeface="Arial"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219200"/>
            <a:ext cx="8382000" cy="3920560"/>
          </a:xfrm>
          <a:prstGeom prst="rect">
            <a:avLst/>
          </a:prstGeom>
          <a:noFill/>
        </p:spPr>
        <p:txBody>
          <a:bodyPr wrap="square" rtlCol="0">
            <a:spAutoFit/>
          </a:bodyPr>
          <a:lstStyle/>
          <a:p>
            <a:pPr marL="331788" indent="-330200">
              <a:lnSpc>
                <a:spcPct val="80000"/>
              </a:lnSpc>
              <a:spcBef>
                <a:spcPts val="500"/>
              </a:spcBef>
              <a:buSzPct val="90000"/>
              <a:tabLst>
                <a:tab pos="331788" algn="l"/>
                <a:tab pos="436563" algn="l"/>
                <a:tab pos="885825" algn="l"/>
                <a:tab pos="1335088" algn="l"/>
                <a:tab pos="1784350" algn="l"/>
                <a:tab pos="2233613" algn="l"/>
                <a:tab pos="2682875" algn="l"/>
                <a:tab pos="3132138" algn="l"/>
                <a:tab pos="3581400" algn="l"/>
                <a:tab pos="4030663" algn="l"/>
                <a:tab pos="4479925" algn="l"/>
                <a:tab pos="4929188" algn="l"/>
                <a:tab pos="5378450" algn="l"/>
                <a:tab pos="5827713" algn="l"/>
                <a:tab pos="6276975" algn="l"/>
                <a:tab pos="6726238" algn="l"/>
                <a:tab pos="7175500" algn="l"/>
                <a:tab pos="7624763" algn="l"/>
                <a:tab pos="8074025" algn="l"/>
                <a:tab pos="8523288" algn="l"/>
                <a:tab pos="8972550" algn="l"/>
              </a:tabLst>
              <a:defRPr/>
            </a:pPr>
            <a:r>
              <a:rPr lang="en-IN" sz="1600" b="1" dirty="0" smtClean="0">
                <a:latin typeface="Arial" pitchFamily="34" charset="0"/>
                <a:cs typeface="Arial" pitchFamily="34" charset="0"/>
              </a:rPr>
              <a:t>    Deductibles:</a:t>
            </a:r>
          </a:p>
          <a:p>
            <a:pPr marL="331788" indent="-330200">
              <a:lnSpc>
                <a:spcPct val="80000"/>
              </a:lnSpc>
              <a:spcBef>
                <a:spcPts val="500"/>
              </a:spcBef>
              <a:buSzPct val="90000"/>
              <a:tabLst>
                <a:tab pos="331788" algn="l"/>
                <a:tab pos="436563" algn="l"/>
                <a:tab pos="885825" algn="l"/>
                <a:tab pos="1335088" algn="l"/>
                <a:tab pos="1784350" algn="l"/>
                <a:tab pos="2233613" algn="l"/>
                <a:tab pos="2682875" algn="l"/>
                <a:tab pos="3132138" algn="l"/>
                <a:tab pos="3581400" algn="l"/>
                <a:tab pos="4030663" algn="l"/>
                <a:tab pos="4479925" algn="l"/>
                <a:tab pos="4929188" algn="l"/>
                <a:tab pos="5378450" algn="l"/>
                <a:tab pos="5827713" algn="l"/>
                <a:tab pos="6276975" algn="l"/>
                <a:tab pos="6726238" algn="l"/>
                <a:tab pos="7175500" algn="l"/>
                <a:tab pos="7624763" algn="l"/>
                <a:tab pos="8074025" algn="l"/>
                <a:tab pos="8523288" algn="l"/>
                <a:tab pos="8972550" algn="l"/>
              </a:tabLst>
              <a:defRPr/>
            </a:pPr>
            <a:endParaRPr lang="en-IN" sz="1600" dirty="0" smtClean="0">
              <a:latin typeface="Arial" pitchFamily="34" charset="0"/>
              <a:cs typeface="Arial" pitchFamily="34" charset="0"/>
            </a:endParaRPr>
          </a:p>
          <a:p>
            <a:pPr marL="331788" indent="-330200" algn="just">
              <a:lnSpc>
                <a:spcPct val="80000"/>
              </a:lnSpc>
              <a:spcBef>
                <a:spcPts val="500"/>
              </a:spcBef>
              <a:buSzPct val="90000"/>
              <a:tabLst>
                <a:tab pos="331788" algn="l"/>
                <a:tab pos="436563" algn="l"/>
                <a:tab pos="885825" algn="l"/>
                <a:tab pos="1335088" algn="l"/>
                <a:tab pos="1784350" algn="l"/>
                <a:tab pos="2233613" algn="l"/>
                <a:tab pos="2682875" algn="l"/>
                <a:tab pos="3132138" algn="l"/>
                <a:tab pos="3581400" algn="l"/>
                <a:tab pos="4030663" algn="l"/>
                <a:tab pos="4479925" algn="l"/>
                <a:tab pos="4929188" algn="l"/>
                <a:tab pos="5378450" algn="l"/>
                <a:tab pos="5827713" algn="l"/>
                <a:tab pos="6276975" algn="l"/>
                <a:tab pos="6726238" algn="l"/>
                <a:tab pos="7175500" algn="l"/>
                <a:tab pos="7624763" algn="l"/>
                <a:tab pos="8074025" algn="l"/>
                <a:tab pos="8523288" algn="l"/>
                <a:tab pos="8972550" algn="l"/>
              </a:tabLst>
              <a:defRPr/>
            </a:pPr>
            <a:r>
              <a:rPr lang="en-IN" sz="1600" dirty="0" smtClean="0">
                <a:latin typeface="Arial" pitchFamily="34" charset="0"/>
                <a:cs typeface="Arial" pitchFamily="34" charset="0"/>
              </a:rPr>
              <a:t>	In almost all non-monopolistic states, an insured can reduce its premium by electing a deductible plan. The deductible applies to both medical and lost-time claims on a per claim basis. For example, about 1 percent of premium for a $100 deductible, and  3 to 6 percent for a $500 deductible.</a:t>
            </a:r>
          </a:p>
          <a:p>
            <a:pPr marL="331788" indent="-330200" algn="just">
              <a:lnSpc>
                <a:spcPct val="80000"/>
              </a:lnSpc>
              <a:spcBef>
                <a:spcPts val="500"/>
              </a:spcBef>
              <a:buClr>
                <a:srgbClr val="B2B2B2"/>
              </a:buClr>
              <a:buSzPct val="90000"/>
              <a:buFont typeface="Wingdings" pitchFamily="2" charset="2"/>
              <a:buNone/>
              <a:tabLst>
                <a:tab pos="331788" algn="l"/>
                <a:tab pos="436563" algn="l"/>
                <a:tab pos="885825" algn="l"/>
                <a:tab pos="1335088" algn="l"/>
                <a:tab pos="1784350" algn="l"/>
                <a:tab pos="2233613" algn="l"/>
                <a:tab pos="2682875" algn="l"/>
                <a:tab pos="3132138" algn="l"/>
                <a:tab pos="3581400" algn="l"/>
                <a:tab pos="4030663" algn="l"/>
                <a:tab pos="4479925" algn="l"/>
                <a:tab pos="4929188" algn="l"/>
                <a:tab pos="5378450" algn="l"/>
                <a:tab pos="5827713" algn="l"/>
                <a:tab pos="6276975" algn="l"/>
                <a:tab pos="6726238" algn="l"/>
                <a:tab pos="7175500" algn="l"/>
                <a:tab pos="7624763" algn="l"/>
                <a:tab pos="8074025" algn="l"/>
                <a:tab pos="8523288" algn="l"/>
                <a:tab pos="8972550" algn="l"/>
              </a:tabLst>
              <a:defRPr/>
            </a:pPr>
            <a:endParaRPr lang="en-IN" sz="1600" dirty="0" smtClean="0">
              <a:latin typeface="Arial" pitchFamily="34" charset="0"/>
              <a:cs typeface="Arial" pitchFamily="34" charset="0"/>
            </a:endParaRPr>
          </a:p>
          <a:p>
            <a:pPr marL="331788" indent="-330200" algn="just">
              <a:spcBef>
                <a:spcPts val="500"/>
              </a:spcBef>
              <a:buSzPct val="90000"/>
              <a:tabLst>
                <a:tab pos="331788" algn="l"/>
                <a:tab pos="436563" algn="l"/>
                <a:tab pos="885825" algn="l"/>
                <a:tab pos="1335088" algn="l"/>
                <a:tab pos="1784350" algn="l"/>
                <a:tab pos="2233613" algn="l"/>
                <a:tab pos="2682875" algn="l"/>
                <a:tab pos="3132138" algn="l"/>
                <a:tab pos="3581400" algn="l"/>
                <a:tab pos="4030663" algn="l"/>
                <a:tab pos="4479925" algn="l"/>
                <a:tab pos="4929188" algn="l"/>
                <a:tab pos="5378450" algn="l"/>
                <a:tab pos="5827713" algn="l"/>
                <a:tab pos="6276975" algn="l"/>
                <a:tab pos="6726238" algn="l"/>
                <a:tab pos="7175500" algn="l"/>
                <a:tab pos="7624763" algn="l"/>
                <a:tab pos="8074025" algn="l"/>
                <a:tab pos="8523288" algn="l"/>
                <a:tab pos="8972550" algn="l"/>
              </a:tabLst>
              <a:defRPr/>
            </a:pPr>
            <a:r>
              <a:rPr lang="en-IN" sz="1600" dirty="0" smtClean="0">
                <a:latin typeface="Arial" pitchFamily="34" charset="0"/>
                <a:cs typeface="Arial" pitchFamily="34" charset="0"/>
              </a:rPr>
              <a:t>       Large Deductible Plan, those with deductibles in the $50,000 to $250,000 per claim range, greatly reduce the premium and are available in most of the states. Insured electing such a plan are, in effect, self insuring most of their workers compensation exposure since most claims are less then deductible.</a:t>
            </a:r>
          </a:p>
          <a:p>
            <a:pPr marL="331788" indent="-330200" algn="just">
              <a:spcBef>
                <a:spcPts val="500"/>
              </a:spcBef>
              <a:buSzPct val="90000"/>
              <a:tabLst>
                <a:tab pos="331788" algn="l"/>
                <a:tab pos="436563" algn="l"/>
                <a:tab pos="885825" algn="l"/>
                <a:tab pos="1335088" algn="l"/>
                <a:tab pos="1784350" algn="l"/>
                <a:tab pos="2233613" algn="l"/>
                <a:tab pos="2682875" algn="l"/>
                <a:tab pos="3132138" algn="l"/>
                <a:tab pos="3581400" algn="l"/>
                <a:tab pos="4030663" algn="l"/>
                <a:tab pos="4479925" algn="l"/>
                <a:tab pos="4929188" algn="l"/>
                <a:tab pos="5378450" algn="l"/>
                <a:tab pos="5827713" algn="l"/>
                <a:tab pos="6276975" algn="l"/>
                <a:tab pos="6726238" algn="l"/>
                <a:tab pos="7175500" algn="l"/>
                <a:tab pos="7624763" algn="l"/>
                <a:tab pos="8074025" algn="l"/>
                <a:tab pos="8523288" algn="l"/>
                <a:tab pos="8972550" algn="l"/>
              </a:tabLst>
              <a:defRPr/>
            </a:pPr>
            <a:r>
              <a:rPr lang="en-IN" sz="1600" dirty="0" smtClean="0">
                <a:latin typeface="Arial" pitchFamily="34" charset="0"/>
                <a:cs typeface="Arial" pitchFamily="34" charset="0"/>
              </a:rPr>
              <a:t>    </a:t>
            </a:r>
          </a:p>
          <a:p>
            <a:pPr marL="1149350" indent="-1149350" algn="just">
              <a:spcBef>
                <a:spcPts val="500"/>
              </a:spcBef>
              <a:buSzPct val="90000"/>
              <a:tabLst>
                <a:tab pos="436563" algn="l"/>
                <a:tab pos="885825" algn="l"/>
                <a:tab pos="1335088" algn="l"/>
                <a:tab pos="1784350" algn="l"/>
                <a:tab pos="2233613" algn="l"/>
                <a:tab pos="2682875" algn="l"/>
                <a:tab pos="3132138" algn="l"/>
                <a:tab pos="3581400" algn="l"/>
                <a:tab pos="4030663" algn="l"/>
                <a:tab pos="4479925" algn="l"/>
                <a:tab pos="4929188" algn="l"/>
                <a:tab pos="5378450" algn="l"/>
                <a:tab pos="5827713" algn="l"/>
                <a:tab pos="6276975" algn="l"/>
                <a:tab pos="6726238" algn="l"/>
                <a:tab pos="7175500" algn="l"/>
                <a:tab pos="7624763" algn="l"/>
                <a:tab pos="8074025" algn="l"/>
                <a:tab pos="8523288" algn="l"/>
                <a:tab pos="8972550" algn="l"/>
              </a:tabLst>
              <a:defRPr/>
            </a:pPr>
            <a:r>
              <a:rPr lang="en-IN" sz="1600" dirty="0" smtClean="0">
                <a:latin typeface="Arial" pitchFamily="34" charset="0"/>
                <a:cs typeface="Arial" pitchFamily="34" charset="0"/>
              </a:rPr>
              <a:t>       NB 1. The only impact of deductibles on the policy is that it will reduce the premium.</a:t>
            </a:r>
          </a:p>
          <a:p>
            <a:pPr marL="331788" indent="-330200" algn="just">
              <a:spcBef>
                <a:spcPts val="500"/>
              </a:spcBef>
              <a:buSzPct val="90000"/>
              <a:tabLst>
                <a:tab pos="331788" algn="l"/>
                <a:tab pos="436563" algn="l"/>
                <a:tab pos="885825" algn="l"/>
                <a:tab pos="1335088" algn="l"/>
                <a:tab pos="1784350" algn="l"/>
                <a:tab pos="2233613" algn="l"/>
                <a:tab pos="2682875" algn="l"/>
                <a:tab pos="3132138" algn="l"/>
                <a:tab pos="3581400" algn="l"/>
                <a:tab pos="4030663" algn="l"/>
                <a:tab pos="4479925" algn="l"/>
                <a:tab pos="4929188" algn="l"/>
                <a:tab pos="5378450" algn="l"/>
                <a:tab pos="5827713" algn="l"/>
                <a:tab pos="6276975" algn="l"/>
                <a:tab pos="6726238" algn="l"/>
                <a:tab pos="7175500" algn="l"/>
                <a:tab pos="7624763" algn="l"/>
                <a:tab pos="8074025" algn="l"/>
                <a:tab pos="8523288" algn="l"/>
                <a:tab pos="8972550" algn="l"/>
              </a:tabLst>
              <a:defRPr/>
            </a:pPr>
            <a:r>
              <a:rPr lang="en-IN" sz="1600" dirty="0" smtClean="0">
                <a:latin typeface="Arial" pitchFamily="34" charset="0"/>
                <a:cs typeface="Arial" pitchFamily="34" charset="0"/>
              </a:rPr>
              <a:t>       NB2. The LD and PD is mutually exclusive in most of the states.</a:t>
            </a:r>
            <a:endParaRPr lang="en-US" sz="1600" dirty="0" smtClean="0">
              <a:latin typeface="Arial" pitchFamily="34" charset="0"/>
              <a:cs typeface="Arial" pitchFamily="34" charset="0"/>
            </a:endParaRPr>
          </a:p>
          <a:p>
            <a:endParaRPr lang="en-US" dirty="0">
              <a:latin typeface="Arial" pitchFamily="34" charset="0"/>
              <a:cs typeface="Arial" pitchFamily="34" charset="0"/>
            </a:endParaRPr>
          </a:p>
        </p:txBody>
      </p:sp>
      <p:sp>
        <p:nvSpPr>
          <p:cNvPr id="3" name="TextBox 2"/>
          <p:cNvSpPr txBox="1"/>
          <p:nvPr/>
        </p:nvSpPr>
        <p:spPr>
          <a:xfrm>
            <a:off x="304800" y="228600"/>
            <a:ext cx="5181600" cy="646331"/>
          </a:xfrm>
          <a:prstGeom prst="rect">
            <a:avLst/>
          </a:prstGeom>
          <a:noFill/>
        </p:spPr>
        <p:txBody>
          <a:bodyPr wrap="square" rtlCol="0">
            <a:spAutoFit/>
          </a:bodyPr>
          <a:lstStyle/>
          <a:p>
            <a:r>
              <a:rPr lang="en-US" b="1" dirty="0" smtClean="0">
                <a:solidFill>
                  <a:schemeClr val="bg1"/>
                </a:solidFill>
                <a:latin typeface="Arial" pitchFamily="34" charset="0"/>
                <a:cs typeface="Arial" pitchFamily="34" charset="0"/>
              </a:rPr>
              <a:t>Deductibles</a:t>
            </a:r>
          </a:p>
          <a:p>
            <a:endParaRPr lang="en-US"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447800"/>
            <a:ext cx="8458200" cy="1975926"/>
          </a:xfrm>
          <a:prstGeom prst="rect">
            <a:avLst/>
          </a:prstGeom>
          <a:noFill/>
        </p:spPr>
        <p:txBody>
          <a:bodyPr wrap="square" rtlCol="0">
            <a:spAutoFit/>
          </a:bodyPr>
          <a:lstStyle/>
          <a:p>
            <a:pPr marL="342900" indent="-342900">
              <a:spcBef>
                <a:spcPct val="20000"/>
              </a:spcBef>
              <a:defRPr/>
            </a:pPr>
            <a:r>
              <a:rPr lang="en-US" b="1" dirty="0" smtClean="0">
                <a:solidFill>
                  <a:srgbClr val="C00000"/>
                </a:solidFill>
                <a:latin typeface="Arial" pitchFamily="34" charset="0"/>
                <a:cs typeface="Arial" pitchFamily="34" charset="0"/>
              </a:rPr>
              <a:t>    </a:t>
            </a:r>
            <a:r>
              <a:rPr lang="en-US" sz="1600" b="1" dirty="0" smtClean="0">
                <a:latin typeface="Arial" pitchFamily="34" charset="0"/>
                <a:cs typeface="Arial" pitchFamily="34" charset="0"/>
              </a:rPr>
              <a:t>Rate Deviation:</a:t>
            </a:r>
          </a:p>
          <a:p>
            <a:pPr marL="342900" indent="-342900">
              <a:spcBef>
                <a:spcPct val="20000"/>
              </a:spcBef>
              <a:defRPr/>
            </a:pPr>
            <a:endParaRPr lang="en-US" sz="1600" b="1" dirty="0" smtClean="0">
              <a:latin typeface="Arial" pitchFamily="34" charset="0"/>
              <a:cs typeface="Arial" pitchFamily="34" charset="0"/>
            </a:endParaRPr>
          </a:p>
          <a:p>
            <a:pPr marL="342900" indent="-342900" algn="just">
              <a:spcBef>
                <a:spcPct val="20000"/>
              </a:spcBef>
              <a:defRPr/>
            </a:pPr>
            <a:r>
              <a:rPr lang="en-IN" sz="1600" dirty="0" smtClean="0">
                <a:latin typeface="Arial" pitchFamily="34" charset="0"/>
                <a:cs typeface="Arial" pitchFamily="34" charset="0"/>
              </a:rPr>
              <a:t>	In some states, insurer are permitted to apply a rate deviation factor (for example, 10 percent) to the premium as calculated by the rating manual. Insurers generally reserves these credits for better risks, although competitive pressures sometime result in average risk receiving a deviated premium.</a:t>
            </a:r>
            <a:endParaRPr lang="en-US" sz="1600" dirty="0" smtClean="0">
              <a:latin typeface="Arial" pitchFamily="34" charset="0"/>
              <a:cs typeface="Arial" pitchFamily="34" charset="0"/>
            </a:endParaRPr>
          </a:p>
          <a:p>
            <a:endParaRPr lang="en-US" dirty="0">
              <a:latin typeface="Arial" pitchFamily="34" charset="0"/>
              <a:cs typeface="Arial" pitchFamily="34" charset="0"/>
            </a:endParaRPr>
          </a:p>
        </p:txBody>
      </p:sp>
      <p:sp>
        <p:nvSpPr>
          <p:cNvPr id="4" name="TextBox 3"/>
          <p:cNvSpPr txBox="1"/>
          <p:nvPr/>
        </p:nvSpPr>
        <p:spPr>
          <a:xfrm>
            <a:off x="228600" y="304800"/>
            <a:ext cx="5029200" cy="369332"/>
          </a:xfrm>
          <a:prstGeom prst="rect">
            <a:avLst/>
          </a:prstGeom>
          <a:noFill/>
        </p:spPr>
        <p:txBody>
          <a:bodyPr wrap="square" rtlCol="0">
            <a:spAutoFit/>
          </a:bodyPr>
          <a:lstStyle/>
          <a:p>
            <a:r>
              <a:rPr lang="en-US" b="1" dirty="0" smtClean="0">
                <a:solidFill>
                  <a:schemeClr val="bg1"/>
                </a:solidFill>
                <a:latin typeface="Arial" pitchFamily="34" charset="0"/>
                <a:cs typeface="Arial" pitchFamily="34" charset="0"/>
              </a:rPr>
              <a:t>Rate Deviation</a:t>
            </a:r>
            <a:endParaRPr lang="en-US" dirty="0">
              <a:solidFill>
                <a:schemeClr val="bg1"/>
              </a:solidFill>
              <a:latin typeface="Arial" pitchFamily="34" charset="0"/>
              <a:cs typeface="Arial"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28600" y="228600"/>
            <a:ext cx="6019800" cy="646331"/>
          </a:xfrm>
          <a:prstGeom prst="rect">
            <a:avLst/>
          </a:prstGeom>
          <a:noFill/>
        </p:spPr>
        <p:txBody>
          <a:bodyPr wrap="square" rtlCol="0">
            <a:spAutoFit/>
          </a:bodyPr>
          <a:lstStyle/>
          <a:p>
            <a:r>
              <a:rPr lang="en-US" b="1" u="none" dirty="0" smtClean="0">
                <a:solidFill>
                  <a:schemeClr val="bg1"/>
                </a:solidFill>
                <a:latin typeface="Arial" pitchFamily="34" charset="0"/>
                <a:cs typeface="Arial" pitchFamily="34" charset="0"/>
              </a:rPr>
              <a:t>Assigned Risk vs. Voluntary Compensation</a:t>
            </a:r>
          </a:p>
          <a:p>
            <a:endParaRPr lang="en-US" dirty="0">
              <a:latin typeface="Arial" pitchFamily="34" charset="0"/>
              <a:cs typeface="Arial" pitchFamily="34" charset="0"/>
            </a:endParaRPr>
          </a:p>
        </p:txBody>
      </p:sp>
      <p:sp>
        <p:nvSpPr>
          <p:cNvPr id="4" name="Rectangle 3"/>
          <p:cNvSpPr/>
          <p:nvPr/>
        </p:nvSpPr>
        <p:spPr>
          <a:xfrm>
            <a:off x="533400" y="1676400"/>
            <a:ext cx="7239000" cy="2800767"/>
          </a:xfrm>
          <a:prstGeom prst="rect">
            <a:avLst/>
          </a:prstGeom>
        </p:spPr>
        <p:txBody>
          <a:bodyPr wrap="square">
            <a:spAutoFit/>
          </a:bodyPr>
          <a:lstStyle/>
          <a:p>
            <a:pPr marL="347663" indent="-334963">
              <a:buFont typeface="Wingdings" pitchFamily="2" charset="2"/>
              <a:buChar char="Ø"/>
            </a:pPr>
            <a:r>
              <a:rPr lang="en-US" sz="1600" u="none" dirty="0" smtClean="0">
                <a:latin typeface="Arial" pitchFamily="34" charset="0"/>
                <a:cs typeface="Arial" pitchFamily="34" charset="0"/>
              </a:rPr>
              <a:t>Businesses who have had unsatisfactory loss performance or    whose employees perform such hazardous functions that voluntary insurance companies will not insure them, can be assigned to an insurer.</a:t>
            </a:r>
          </a:p>
          <a:p>
            <a:r>
              <a:rPr lang="en-US" sz="1600" u="none" dirty="0" smtClean="0">
                <a:latin typeface="Arial" pitchFamily="34" charset="0"/>
                <a:cs typeface="Arial" pitchFamily="34" charset="0"/>
              </a:rPr>
              <a:t> </a:t>
            </a:r>
          </a:p>
          <a:p>
            <a:pPr marL="347663" indent="-334963">
              <a:buFont typeface="Wingdings" pitchFamily="2" charset="2"/>
              <a:buChar char="Ø"/>
            </a:pPr>
            <a:r>
              <a:rPr lang="en-US" sz="1600" dirty="0" smtClean="0">
                <a:latin typeface="Arial" pitchFamily="34" charset="0"/>
                <a:cs typeface="Arial" pitchFamily="34" charset="0"/>
              </a:rPr>
              <a:t>The Assigned Risk Plan provides a policyholder and their employees with the Statutorily mandated medical benefits and compensation for lost wages due to injury, occupational disease, or death arising from their employment. </a:t>
            </a:r>
          </a:p>
          <a:p>
            <a:pPr marL="347663" indent="-334963">
              <a:buFont typeface="Wingdings" pitchFamily="2" charset="2"/>
              <a:buChar char="Ø"/>
            </a:pPr>
            <a:endParaRPr lang="en-US" sz="1600" dirty="0" smtClean="0">
              <a:latin typeface="Arial" pitchFamily="34" charset="0"/>
              <a:cs typeface="Arial" pitchFamily="34" charset="0"/>
            </a:endParaRPr>
          </a:p>
          <a:p>
            <a:pPr marL="347663" indent="-334963">
              <a:buFont typeface="Wingdings" pitchFamily="2" charset="2"/>
              <a:buChar char="Ø"/>
            </a:pPr>
            <a:r>
              <a:rPr lang="en-US" sz="1600" dirty="0" smtClean="0">
                <a:latin typeface="Arial" pitchFamily="34" charset="0"/>
                <a:cs typeface="Arial" pitchFamily="34" charset="0"/>
              </a:rPr>
              <a:t>The rates charged in the Assigned Risk Plan are often higher than what is available in the voluntary market.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228600"/>
            <a:ext cx="6324600" cy="646331"/>
          </a:xfrm>
          <a:prstGeom prst="rect">
            <a:avLst/>
          </a:prstGeom>
          <a:noFill/>
        </p:spPr>
        <p:txBody>
          <a:bodyPr wrap="square" rtlCol="0">
            <a:spAutoFit/>
          </a:bodyPr>
          <a:lstStyle/>
          <a:p>
            <a:r>
              <a:rPr lang="en-US" b="1" u="none" dirty="0" smtClean="0">
                <a:solidFill>
                  <a:schemeClr val="bg1"/>
                </a:solidFill>
                <a:latin typeface="Arial" pitchFamily="34" charset="0"/>
                <a:cs typeface="Arial" pitchFamily="34" charset="0"/>
              </a:rPr>
              <a:t>Rate Establishment &amp; NCCI</a:t>
            </a:r>
          </a:p>
          <a:p>
            <a:endParaRPr lang="en-US" dirty="0">
              <a:latin typeface="Arial" pitchFamily="34" charset="0"/>
              <a:cs typeface="Arial" pitchFamily="34" charset="0"/>
            </a:endParaRPr>
          </a:p>
        </p:txBody>
      </p:sp>
      <p:sp>
        <p:nvSpPr>
          <p:cNvPr id="4" name="Rectangle 3"/>
          <p:cNvSpPr/>
          <p:nvPr/>
        </p:nvSpPr>
        <p:spPr>
          <a:xfrm>
            <a:off x="533400" y="1173063"/>
            <a:ext cx="8077200" cy="1815882"/>
          </a:xfrm>
          <a:prstGeom prst="rect">
            <a:avLst/>
          </a:prstGeom>
        </p:spPr>
        <p:txBody>
          <a:bodyPr wrap="square">
            <a:spAutoFit/>
          </a:bodyPr>
          <a:lstStyle/>
          <a:p>
            <a:r>
              <a:rPr lang="en-US" sz="1600" b="1" u="none" dirty="0" smtClean="0">
                <a:latin typeface="Arial" pitchFamily="34" charset="0"/>
                <a:cs typeface="Arial" pitchFamily="34" charset="0"/>
              </a:rPr>
              <a:t>Rate Establishment</a:t>
            </a:r>
            <a:endParaRPr lang="en-US" sz="1600" u="none" dirty="0" smtClean="0">
              <a:latin typeface="Arial" pitchFamily="34" charset="0"/>
              <a:cs typeface="Arial" pitchFamily="34" charset="0"/>
            </a:endParaRPr>
          </a:p>
          <a:p>
            <a:pPr marL="463550" indent="-463550"/>
            <a:endParaRPr lang="en-US" sz="1600" dirty="0" smtClean="0">
              <a:latin typeface="Arial" pitchFamily="34" charset="0"/>
              <a:cs typeface="Arial" pitchFamily="34" charset="0"/>
            </a:endParaRPr>
          </a:p>
          <a:p>
            <a:pPr marL="287338" lvl="0" indent="-285750">
              <a:buFont typeface="Wingdings" pitchFamily="2" charset="2"/>
              <a:buChar char="Ø"/>
            </a:pPr>
            <a:r>
              <a:rPr lang="en-US" sz="1600" u="none" dirty="0" smtClean="0">
                <a:latin typeface="Arial" pitchFamily="34" charset="0"/>
                <a:cs typeface="Arial" pitchFamily="34" charset="0"/>
              </a:rPr>
              <a:t>Most states require an insurer to belong to a single approved rating organization in order to write WC Insurance in a specific state.</a:t>
            </a:r>
          </a:p>
          <a:p>
            <a:pPr marL="287338" lvl="0" indent="-285750">
              <a:buFont typeface="Wingdings" pitchFamily="2" charset="2"/>
              <a:buChar char="Ø"/>
            </a:pPr>
            <a:endParaRPr lang="en-US" sz="1600" u="none" dirty="0" smtClean="0">
              <a:latin typeface="Arial" pitchFamily="34" charset="0"/>
              <a:cs typeface="Arial" pitchFamily="34" charset="0"/>
            </a:endParaRPr>
          </a:p>
          <a:p>
            <a:pPr marL="287338" indent="-285750">
              <a:buFont typeface="Wingdings" pitchFamily="2" charset="2"/>
              <a:buChar char="Ø"/>
            </a:pPr>
            <a:r>
              <a:rPr lang="en-US" sz="1600" u="none" dirty="0" smtClean="0">
                <a:latin typeface="Arial" pitchFamily="34" charset="0"/>
                <a:cs typeface="Arial" pitchFamily="34" charset="0"/>
              </a:rPr>
              <a:t>Rating data is filed either through an independent state bureau or via a large rating/ statistical information gathering organization, such as NCCI</a:t>
            </a:r>
          </a:p>
        </p:txBody>
      </p:sp>
      <p:sp>
        <p:nvSpPr>
          <p:cNvPr id="5" name="TextBox 4"/>
          <p:cNvSpPr txBox="1"/>
          <p:nvPr/>
        </p:nvSpPr>
        <p:spPr>
          <a:xfrm>
            <a:off x="381000" y="3581400"/>
            <a:ext cx="7848600" cy="2339102"/>
          </a:xfrm>
          <a:prstGeom prst="rect">
            <a:avLst/>
          </a:prstGeom>
          <a:noFill/>
        </p:spPr>
        <p:txBody>
          <a:bodyPr wrap="square" rtlCol="0">
            <a:spAutoFit/>
          </a:bodyPr>
          <a:lstStyle/>
          <a:p>
            <a:r>
              <a:rPr lang="en-US" sz="1600" b="1" u="none" dirty="0" smtClean="0">
                <a:latin typeface="Arial" pitchFamily="34" charset="0"/>
                <a:cs typeface="Arial" pitchFamily="34" charset="0"/>
              </a:rPr>
              <a:t>The National Council on Compensation Insurance (NCCI)</a:t>
            </a:r>
          </a:p>
          <a:p>
            <a:endParaRPr lang="en-US" sz="1600" b="1" dirty="0" smtClean="0">
              <a:latin typeface="Arial" pitchFamily="34" charset="0"/>
              <a:cs typeface="Arial" pitchFamily="34" charset="0"/>
            </a:endParaRPr>
          </a:p>
          <a:p>
            <a:pPr marL="287338" indent="-285750">
              <a:buFont typeface="Wingdings" pitchFamily="2" charset="2"/>
              <a:buChar char="Ø"/>
            </a:pPr>
            <a:r>
              <a:rPr lang="en-US" sz="1600" dirty="0" smtClean="0">
                <a:latin typeface="Arial" pitchFamily="34" charset="0"/>
                <a:cs typeface="Arial" pitchFamily="34" charset="0"/>
              </a:rPr>
              <a:t>The National Council on Compensation Insurance (NCCI) is a U.S. insurance rating and data collection bureau specializing in workers' compensation. Operating with a not-for-profit philosophy and owned by its member insurers, NCCI annually collects data covering more than four million workers compensation claims and two million policies. </a:t>
            </a:r>
          </a:p>
          <a:p>
            <a:r>
              <a:rPr lang="en-US" sz="1600" u="none" dirty="0" smtClean="0">
                <a:latin typeface="Arial" pitchFamily="34" charset="0"/>
                <a:cs typeface="Arial" pitchFamily="34" charset="0"/>
              </a:rPr>
              <a:t> </a:t>
            </a:r>
          </a:p>
          <a:p>
            <a:endParaRPr lang="en-US" dirty="0">
              <a:latin typeface="Arial" pitchFamily="34" charset="0"/>
              <a:cs typeface="Arial" pitchFamily="3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 y="228600"/>
            <a:ext cx="5943600" cy="646331"/>
          </a:xfrm>
          <a:prstGeom prst="rect">
            <a:avLst/>
          </a:prstGeom>
          <a:noFill/>
        </p:spPr>
        <p:txBody>
          <a:bodyPr wrap="square" rtlCol="0">
            <a:spAutoFit/>
          </a:bodyPr>
          <a:lstStyle/>
          <a:p>
            <a:r>
              <a:rPr lang="en-US" b="1" u="none" dirty="0" smtClean="0">
                <a:solidFill>
                  <a:schemeClr val="bg1"/>
                </a:solidFill>
                <a:latin typeface="Arial" pitchFamily="34" charset="0"/>
                <a:cs typeface="Arial" pitchFamily="34" charset="0"/>
              </a:rPr>
              <a:t>Rate Establishment &amp; NCCI (Cont…)</a:t>
            </a:r>
          </a:p>
          <a:p>
            <a:endParaRPr lang="en-US" dirty="0">
              <a:latin typeface="Arial" pitchFamily="34" charset="0"/>
              <a:cs typeface="Arial" pitchFamily="34" charset="0"/>
            </a:endParaRPr>
          </a:p>
        </p:txBody>
      </p:sp>
      <p:sp>
        <p:nvSpPr>
          <p:cNvPr id="3" name="Rectangle 2"/>
          <p:cNvSpPr/>
          <p:nvPr/>
        </p:nvSpPr>
        <p:spPr>
          <a:xfrm>
            <a:off x="381000" y="1447800"/>
            <a:ext cx="8001000" cy="2123658"/>
          </a:xfrm>
          <a:prstGeom prst="rect">
            <a:avLst/>
          </a:prstGeom>
        </p:spPr>
        <p:txBody>
          <a:bodyPr wrap="square">
            <a:spAutoFit/>
          </a:bodyPr>
          <a:lstStyle/>
          <a:p>
            <a:pPr marL="287338" lvl="0" indent="-285750">
              <a:buFont typeface="Wingdings" pitchFamily="2" charset="2"/>
              <a:buChar char="Ø"/>
            </a:pPr>
            <a:r>
              <a:rPr lang="en-US" sz="1600" dirty="0" smtClean="0">
                <a:latin typeface="Arial" pitchFamily="34" charset="0"/>
                <a:cs typeface="Arial" pitchFamily="34" charset="0"/>
              </a:rPr>
              <a:t>Servers as the filing agency for insured in most states.</a:t>
            </a:r>
          </a:p>
          <a:p>
            <a:pPr marL="287338" lvl="0" indent="-285750">
              <a:buFont typeface="Wingdings" pitchFamily="2" charset="2"/>
              <a:buChar char="Ø"/>
            </a:pPr>
            <a:endParaRPr lang="en-US" sz="1600" dirty="0" smtClean="0">
              <a:latin typeface="Arial" pitchFamily="34" charset="0"/>
              <a:cs typeface="Arial" pitchFamily="34" charset="0"/>
            </a:endParaRPr>
          </a:p>
          <a:p>
            <a:pPr marL="287338" lvl="0" indent="-285750">
              <a:buFont typeface="Wingdings" pitchFamily="2" charset="2"/>
              <a:buChar char="Ø"/>
            </a:pPr>
            <a:r>
              <a:rPr lang="en-US" sz="1600" dirty="0" smtClean="0">
                <a:latin typeface="Arial" pitchFamily="34" charset="0"/>
                <a:cs typeface="Arial" pitchFamily="34" charset="0"/>
              </a:rPr>
              <a:t>Prepares standard form and endorsements.</a:t>
            </a:r>
          </a:p>
          <a:p>
            <a:pPr marL="287338" lvl="0" indent="-285750">
              <a:buFont typeface="Wingdings" pitchFamily="2" charset="2"/>
              <a:buChar char="Ø"/>
            </a:pPr>
            <a:endParaRPr lang="en-US" sz="1600" dirty="0" smtClean="0">
              <a:latin typeface="Arial" pitchFamily="34" charset="0"/>
              <a:cs typeface="Arial" pitchFamily="34" charset="0"/>
            </a:endParaRPr>
          </a:p>
          <a:p>
            <a:pPr marL="287338" lvl="0" indent="-285750">
              <a:buFont typeface="Wingdings" pitchFamily="2" charset="2"/>
              <a:buChar char="Ø"/>
            </a:pPr>
            <a:r>
              <a:rPr lang="en-US" sz="1600" dirty="0" smtClean="0">
                <a:latin typeface="Arial" pitchFamily="34" charset="0"/>
                <a:cs typeface="Arial" pitchFamily="34" charset="0"/>
              </a:rPr>
              <a:t>Many independent rating bureaus use NCCI for their data.</a:t>
            </a:r>
          </a:p>
          <a:p>
            <a:pPr marL="287338" lvl="0" indent="-285750">
              <a:buFont typeface="Wingdings" pitchFamily="2" charset="2"/>
              <a:buChar char="Ø"/>
            </a:pPr>
            <a:endParaRPr lang="en-US" sz="1600" dirty="0" smtClean="0">
              <a:latin typeface="Arial" pitchFamily="34" charset="0"/>
              <a:cs typeface="Arial" pitchFamily="34" charset="0"/>
            </a:endParaRPr>
          </a:p>
          <a:p>
            <a:pPr marL="287338" lvl="0" indent="-285750">
              <a:buFont typeface="Wingdings" pitchFamily="2" charset="2"/>
              <a:buChar char="Ø"/>
            </a:pPr>
            <a:r>
              <a:rPr lang="en-US" sz="1600" dirty="0" smtClean="0">
                <a:latin typeface="Arial" pitchFamily="34" charset="0"/>
                <a:cs typeface="Arial" pitchFamily="34" charset="0"/>
              </a:rPr>
              <a:t>Even in states that don’t utilize any NCCI service, most procedures generating resemble those of NCCI.</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228600"/>
            <a:ext cx="5715000" cy="646331"/>
          </a:xfrm>
          <a:prstGeom prst="rect">
            <a:avLst/>
          </a:prstGeom>
          <a:noFill/>
        </p:spPr>
        <p:txBody>
          <a:bodyPr wrap="square" rtlCol="0">
            <a:spAutoFit/>
          </a:bodyPr>
          <a:lstStyle/>
          <a:p>
            <a:r>
              <a:rPr lang="en-US" b="1" u="none" dirty="0" smtClean="0">
                <a:solidFill>
                  <a:schemeClr val="bg1"/>
                </a:solidFill>
                <a:latin typeface="Arial" pitchFamily="34" charset="0"/>
                <a:cs typeface="Arial" pitchFamily="34" charset="0"/>
              </a:rPr>
              <a:t>State Wise Bureau List</a:t>
            </a:r>
            <a:endParaRPr lang="en-US" b="1" u="none" dirty="0" smtClean="0">
              <a:latin typeface="Arial" pitchFamily="34" charset="0"/>
              <a:cs typeface="Arial" pitchFamily="34" charset="0"/>
            </a:endParaRPr>
          </a:p>
          <a:p>
            <a:endParaRPr lang="en-US" dirty="0">
              <a:latin typeface="Arial" pitchFamily="34" charset="0"/>
              <a:cs typeface="Arial" pitchFamily="34" charset="0"/>
            </a:endParaRPr>
          </a:p>
        </p:txBody>
      </p:sp>
      <p:sp>
        <p:nvSpPr>
          <p:cNvPr id="3" name="TextBox 2"/>
          <p:cNvSpPr txBox="1"/>
          <p:nvPr/>
        </p:nvSpPr>
        <p:spPr>
          <a:xfrm>
            <a:off x="304800" y="990600"/>
            <a:ext cx="8001000" cy="1815882"/>
          </a:xfrm>
          <a:prstGeom prst="rect">
            <a:avLst/>
          </a:prstGeom>
          <a:noFill/>
        </p:spPr>
        <p:txBody>
          <a:bodyPr wrap="square" rtlCol="0">
            <a:spAutoFit/>
          </a:bodyPr>
          <a:lstStyle/>
          <a:p>
            <a:pPr marL="287338" indent="-285750">
              <a:buFont typeface="Wingdings" pitchFamily="2" charset="2"/>
              <a:buChar char="Ø"/>
            </a:pPr>
            <a:r>
              <a:rPr lang="en-US" sz="1600" b="1" dirty="0" smtClean="0">
                <a:latin typeface="Arial" pitchFamily="34" charset="0"/>
                <a:cs typeface="Arial" pitchFamily="34" charset="0"/>
              </a:rPr>
              <a:t>NCCI States – </a:t>
            </a:r>
            <a:r>
              <a:rPr lang="en-US" sz="1600" dirty="0" smtClean="0">
                <a:latin typeface="Arial" pitchFamily="34" charset="0"/>
                <a:cs typeface="Arial" pitchFamily="34" charset="0"/>
              </a:rPr>
              <a:t>Rating and data collection is done by the NCCI.</a:t>
            </a:r>
          </a:p>
          <a:p>
            <a:pPr marL="287338" indent="-285750">
              <a:buFont typeface="Wingdings" pitchFamily="2" charset="2"/>
              <a:buChar char="Ø"/>
            </a:pPr>
            <a:endParaRPr lang="en-US" sz="1600" dirty="0" smtClean="0">
              <a:latin typeface="Arial" pitchFamily="34" charset="0"/>
              <a:cs typeface="Arial" pitchFamily="34" charset="0"/>
            </a:endParaRPr>
          </a:p>
          <a:p>
            <a:pPr marL="287338" indent="-285750">
              <a:buFont typeface="Wingdings" pitchFamily="2" charset="2"/>
              <a:buChar char="Ø"/>
            </a:pPr>
            <a:r>
              <a:rPr lang="en-US" sz="1600" b="1" dirty="0" smtClean="0">
                <a:latin typeface="Arial" pitchFamily="34" charset="0"/>
                <a:cs typeface="Arial" pitchFamily="34" charset="0"/>
              </a:rPr>
              <a:t>Independent Bureau State- </a:t>
            </a:r>
            <a:r>
              <a:rPr lang="en-US" sz="1600" dirty="0" smtClean="0">
                <a:latin typeface="Arial" pitchFamily="34" charset="0"/>
                <a:cs typeface="Arial" pitchFamily="34" charset="0"/>
              </a:rPr>
              <a:t>Rating and data collection is done by the Private state bureaus.</a:t>
            </a:r>
          </a:p>
          <a:p>
            <a:pPr marL="287338" indent="-285750">
              <a:buFont typeface="Wingdings" pitchFamily="2" charset="2"/>
              <a:buChar char="Ø"/>
            </a:pPr>
            <a:endParaRPr lang="en-US" sz="1600" dirty="0" smtClean="0">
              <a:latin typeface="Arial" pitchFamily="34" charset="0"/>
              <a:cs typeface="Arial" pitchFamily="34" charset="0"/>
            </a:endParaRPr>
          </a:p>
          <a:p>
            <a:pPr marL="287338" indent="-285750">
              <a:buFont typeface="Wingdings" pitchFamily="2" charset="2"/>
              <a:buChar char="Ø"/>
            </a:pPr>
            <a:r>
              <a:rPr lang="en-US" sz="1600" b="1" dirty="0" smtClean="0">
                <a:latin typeface="Arial" pitchFamily="34" charset="0"/>
                <a:cs typeface="Arial" pitchFamily="34" charset="0"/>
              </a:rPr>
              <a:t>Monopolistic State- </a:t>
            </a:r>
            <a:r>
              <a:rPr lang="en-US" sz="1600" dirty="0" smtClean="0">
                <a:latin typeface="Arial" pitchFamily="34" charset="0"/>
                <a:cs typeface="Arial" pitchFamily="34" charset="0"/>
              </a:rPr>
              <a:t>Only state fund can provide the insurance. Private insurers are not allowed to operate in the states.</a:t>
            </a:r>
            <a:endParaRPr lang="en-US" sz="1600" dirty="0">
              <a:latin typeface="Arial" pitchFamily="34" charset="0"/>
              <a:cs typeface="Arial" pitchFamily="34" charset="0"/>
            </a:endParaRPr>
          </a:p>
        </p:txBody>
      </p:sp>
      <p:pic>
        <p:nvPicPr>
          <p:cNvPr id="4" name="Picture 1"/>
          <p:cNvPicPr>
            <a:picLocks noChangeAspect="1" noChangeArrowheads="1"/>
          </p:cNvPicPr>
          <p:nvPr/>
        </p:nvPicPr>
        <p:blipFill>
          <a:blip r:embed="rId2" cstate="print"/>
          <a:srcRect/>
          <a:stretch>
            <a:fillRect/>
          </a:stretch>
        </p:blipFill>
        <p:spPr bwMode="auto">
          <a:xfrm>
            <a:off x="2286000" y="3200400"/>
            <a:ext cx="4743450" cy="3200400"/>
          </a:xfrm>
          <a:prstGeom prst="rect">
            <a:avLst/>
          </a:prstGeom>
          <a:noFill/>
          <a:ln w="9525">
            <a:noFill/>
            <a:miter lim="800000"/>
            <a:headEnd/>
            <a:tailEnd/>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5" descr="Picture1.jp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33"/>
          <p:cNvGrpSpPr>
            <a:grpSpLocks/>
          </p:cNvGrpSpPr>
          <p:nvPr/>
        </p:nvGrpSpPr>
        <p:grpSpPr bwMode="auto">
          <a:xfrm>
            <a:off x="4114800" y="3876783"/>
            <a:ext cx="4724400" cy="685800"/>
            <a:chOff x="2286000" y="3608388"/>
            <a:chExt cx="5554362" cy="766727"/>
          </a:xfrm>
        </p:grpSpPr>
        <p:sp>
          <p:nvSpPr>
            <p:cNvPr id="20" name="Text Box 20"/>
            <p:cNvSpPr txBox="1">
              <a:spLocks noChangeArrowheads="1"/>
            </p:cNvSpPr>
            <p:nvPr/>
          </p:nvSpPr>
          <p:spPr bwMode="auto">
            <a:xfrm>
              <a:off x="2286000" y="4021924"/>
              <a:ext cx="1371794" cy="163284"/>
            </a:xfrm>
            <a:prstGeom prst="rect">
              <a:avLst/>
            </a:prstGeom>
            <a:noFill/>
            <a:ln w="9525" algn="in">
              <a:noFill/>
              <a:miter lim="800000"/>
              <a:headEnd/>
              <a:tailEnd/>
            </a:ln>
          </p:spPr>
          <p:txBody>
            <a:bodyPr lIns="36576" tIns="36576" rIns="36576" bIns="36576"/>
            <a:lstStyle/>
            <a:p>
              <a:pPr algn="ctr" fontAlgn="auto">
                <a:spcBef>
                  <a:spcPts val="0"/>
                </a:spcBef>
                <a:spcAft>
                  <a:spcPts val="0"/>
                </a:spcAft>
                <a:defRPr/>
              </a:pPr>
              <a:r>
                <a:rPr lang="en-US" sz="1400" b="1" dirty="0">
                  <a:solidFill>
                    <a:schemeClr val="tx2">
                      <a:lumMod val="50000"/>
                    </a:schemeClr>
                  </a:solidFill>
                  <a:latin typeface="Tw Cen MT" pitchFamily="34" charset="0"/>
                  <a:ea typeface="Calibri" pitchFamily="34" charset="0"/>
                  <a:cs typeface="Calibri" pitchFamily="34" charset="0"/>
                </a:rPr>
                <a:t>EXPERIENCE</a:t>
              </a:r>
              <a:endParaRPr lang="en-US" sz="1400" u="sng" dirty="0">
                <a:solidFill>
                  <a:schemeClr val="tx2">
                    <a:lumMod val="50000"/>
                  </a:schemeClr>
                </a:solidFill>
                <a:latin typeface="Tw Cen MT" pitchFamily="34" charset="0"/>
                <a:ea typeface="Calibri" pitchFamily="34" charset="0"/>
                <a:cs typeface="Calibri" pitchFamily="34" charset="0"/>
              </a:endParaRPr>
            </a:p>
          </p:txBody>
        </p:sp>
        <p:sp>
          <p:nvSpPr>
            <p:cNvPr id="21" name="Text Box 21"/>
            <p:cNvSpPr txBox="1">
              <a:spLocks noChangeArrowheads="1"/>
            </p:cNvSpPr>
            <p:nvPr/>
          </p:nvSpPr>
          <p:spPr bwMode="auto">
            <a:xfrm>
              <a:off x="3635375" y="4022723"/>
              <a:ext cx="13938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36576" tIns="36576" rIns="36576" bIns="36576"/>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1400" b="1" dirty="0">
                  <a:solidFill>
                    <a:srgbClr val="333333"/>
                  </a:solidFill>
                  <a:latin typeface="Tw Cen MT" pitchFamily="34" charset="0"/>
                </a:rPr>
                <a:t>EXPERTISE</a:t>
              </a:r>
              <a:endParaRPr lang="en-US" sz="1400" u="sng" dirty="0">
                <a:solidFill>
                  <a:srgbClr val="333333"/>
                </a:solidFill>
                <a:latin typeface="Tw Cen MT" pitchFamily="34" charset="0"/>
              </a:endParaRPr>
            </a:p>
          </p:txBody>
        </p:sp>
        <p:sp>
          <p:nvSpPr>
            <p:cNvPr id="22" name="Text Box 22"/>
            <p:cNvSpPr txBox="1">
              <a:spLocks noChangeArrowheads="1"/>
            </p:cNvSpPr>
            <p:nvPr/>
          </p:nvSpPr>
          <p:spPr bwMode="auto">
            <a:xfrm>
              <a:off x="6172199" y="4034347"/>
              <a:ext cx="1668163" cy="340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36576" tIns="36576" rIns="36576" bIns="36576"/>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400" b="1" dirty="0">
                  <a:solidFill>
                    <a:srgbClr val="333333"/>
                  </a:solidFill>
                  <a:latin typeface="Tw Cen MT" pitchFamily="34" charset="0"/>
                </a:rPr>
                <a:t>APPROACH</a:t>
              </a:r>
              <a:br>
                <a:rPr lang="en-US" sz="1400" b="1" dirty="0">
                  <a:solidFill>
                    <a:srgbClr val="333333"/>
                  </a:solidFill>
                  <a:latin typeface="Tw Cen MT" pitchFamily="34" charset="0"/>
                </a:rPr>
              </a:br>
              <a:r>
                <a:rPr lang="en-US" sz="700" b="1" dirty="0">
                  <a:solidFill>
                    <a:srgbClr val="333333"/>
                  </a:solidFill>
                  <a:latin typeface="Tw Cen MT" pitchFamily="34" charset="0"/>
                </a:rPr>
                <a:t>(KEEP-CUSTOMER-FOR-LIFE approach)</a:t>
              </a:r>
              <a:endParaRPr lang="en-US" sz="1400" u="sng" dirty="0">
                <a:solidFill>
                  <a:srgbClr val="333333"/>
                </a:solidFill>
                <a:latin typeface="Tw Cen MT" pitchFamily="34" charset="0"/>
              </a:endParaRPr>
            </a:p>
          </p:txBody>
        </p:sp>
        <p:sp>
          <p:nvSpPr>
            <p:cNvPr id="23" name="Freeform 23"/>
            <p:cNvSpPr>
              <a:spLocks noChangeAspect="1"/>
            </p:cNvSpPr>
            <p:nvPr/>
          </p:nvSpPr>
          <p:spPr bwMode="auto">
            <a:xfrm rot="1628237">
              <a:off x="2586038" y="3619500"/>
              <a:ext cx="546100" cy="274638"/>
            </a:xfrm>
            <a:custGeom>
              <a:avLst/>
              <a:gdLst>
                <a:gd name="T0" fmla="*/ 2147483647 w 274"/>
                <a:gd name="T1" fmla="*/ 2147483647 h 138"/>
                <a:gd name="T2" fmla="*/ 0 w 274"/>
                <a:gd name="T3" fmla="*/ 2147483647 h 138"/>
                <a:gd name="T4" fmla="*/ 0 w 274"/>
                <a:gd name="T5" fmla="*/ 2147483647 h 138"/>
                <a:gd name="T6" fmla="*/ 2147483647 w 274"/>
                <a:gd name="T7" fmla="*/ 2147483647 h 138"/>
                <a:gd name="T8" fmla="*/ 2147483647 w 274"/>
                <a:gd name="T9" fmla="*/ 2147483647 h 138"/>
                <a:gd name="T10" fmla="*/ 2147483647 w 274"/>
                <a:gd name="T11" fmla="*/ 2147483647 h 138"/>
                <a:gd name="T12" fmla="*/ 2147483647 w 274"/>
                <a:gd name="T13" fmla="*/ 2147483647 h 138"/>
                <a:gd name="T14" fmla="*/ 2147483647 w 274"/>
                <a:gd name="T15" fmla="*/ 2147483647 h 138"/>
                <a:gd name="T16" fmla="*/ 2147483647 w 274"/>
                <a:gd name="T17" fmla="*/ 2147483647 h 138"/>
                <a:gd name="T18" fmla="*/ 2147483647 w 274"/>
                <a:gd name="T19" fmla="*/ 2147483647 h 138"/>
                <a:gd name="T20" fmla="*/ 2147483647 w 274"/>
                <a:gd name="T21" fmla="*/ 2147483647 h 138"/>
                <a:gd name="T22" fmla="*/ 2147483647 w 274"/>
                <a:gd name="T23" fmla="*/ 2147483647 h 138"/>
                <a:gd name="T24" fmla="*/ 2147483647 w 274"/>
                <a:gd name="T25" fmla="*/ 2147483647 h 138"/>
                <a:gd name="T26" fmla="*/ 2147483647 w 274"/>
                <a:gd name="T27" fmla="*/ 2147483647 h 138"/>
                <a:gd name="T28" fmla="*/ 2147483647 w 274"/>
                <a:gd name="T29" fmla="*/ 2147483647 h 138"/>
                <a:gd name="T30" fmla="*/ 2147483647 w 274"/>
                <a:gd name="T31" fmla="*/ 2147483647 h 138"/>
                <a:gd name="T32" fmla="*/ 2147483647 w 274"/>
                <a:gd name="T33" fmla="*/ 2147483647 h 138"/>
                <a:gd name="T34" fmla="*/ 2147483647 w 274"/>
                <a:gd name="T35" fmla="*/ 2147483647 h 138"/>
                <a:gd name="T36" fmla="*/ 2147483647 w 274"/>
                <a:gd name="T37" fmla="*/ 2147483647 h 138"/>
                <a:gd name="T38" fmla="*/ 2147483647 w 274"/>
                <a:gd name="T39" fmla="*/ 2147483647 h 138"/>
                <a:gd name="T40" fmla="*/ 2147483647 w 274"/>
                <a:gd name="T41" fmla="*/ 0 h 138"/>
                <a:gd name="T42" fmla="*/ 2147483647 w 274"/>
                <a:gd name="T43" fmla="*/ 2147483647 h 138"/>
                <a:gd name="T44" fmla="*/ 2147483647 w 274"/>
                <a:gd name="T45" fmla="*/ 2147483647 h 138"/>
                <a:gd name="T46" fmla="*/ 2147483647 w 274"/>
                <a:gd name="T47" fmla="*/ 2147483647 h 138"/>
                <a:gd name="T48" fmla="*/ 2147483647 w 274"/>
                <a:gd name="T49" fmla="*/ 2147483647 h 138"/>
                <a:gd name="T50" fmla="*/ 2147483647 w 274"/>
                <a:gd name="T51" fmla="*/ 2147483647 h 138"/>
                <a:gd name="T52" fmla="*/ 2147483647 w 274"/>
                <a:gd name="T53" fmla="*/ 2147483647 h 138"/>
                <a:gd name="T54" fmla="*/ 2147483647 w 274"/>
                <a:gd name="T55" fmla="*/ 2147483647 h 138"/>
                <a:gd name="T56" fmla="*/ 2147483647 w 274"/>
                <a:gd name="T57" fmla="*/ 2147483647 h 138"/>
                <a:gd name="T58" fmla="*/ 2147483647 w 274"/>
                <a:gd name="T59" fmla="*/ 2147483647 h 138"/>
                <a:gd name="T60" fmla="*/ 2147483647 w 274"/>
                <a:gd name="T61" fmla="*/ 2147483647 h 138"/>
                <a:gd name="T62" fmla="*/ 2147483647 w 274"/>
                <a:gd name="T63" fmla="*/ 2147483647 h 138"/>
                <a:gd name="T64" fmla="*/ 2147483647 w 274"/>
                <a:gd name="T65" fmla="*/ 2147483647 h 138"/>
                <a:gd name="T66" fmla="*/ 2147483647 w 274"/>
                <a:gd name="T67" fmla="*/ 2147483647 h 138"/>
                <a:gd name="T68" fmla="*/ 2147483647 w 274"/>
                <a:gd name="T69" fmla="*/ 2147483647 h 138"/>
                <a:gd name="T70" fmla="*/ 2147483647 w 274"/>
                <a:gd name="T71" fmla="*/ 2147483647 h 138"/>
                <a:gd name="T72" fmla="*/ 2147483647 w 274"/>
                <a:gd name="T73" fmla="*/ 2147483647 h 138"/>
                <a:gd name="T74" fmla="*/ 2147483647 w 274"/>
                <a:gd name="T75" fmla="*/ 2147483647 h 13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74"/>
                <a:gd name="T115" fmla="*/ 0 h 138"/>
                <a:gd name="T116" fmla="*/ 274 w 274"/>
                <a:gd name="T117" fmla="*/ 138 h 13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74" h="138">
                  <a:moveTo>
                    <a:pt x="2" y="111"/>
                  </a:moveTo>
                  <a:lnTo>
                    <a:pt x="0" y="104"/>
                  </a:lnTo>
                  <a:lnTo>
                    <a:pt x="0" y="96"/>
                  </a:lnTo>
                  <a:lnTo>
                    <a:pt x="2" y="86"/>
                  </a:lnTo>
                  <a:lnTo>
                    <a:pt x="4" y="82"/>
                  </a:lnTo>
                  <a:lnTo>
                    <a:pt x="6" y="79"/>
                  </a:lnTo>
                  <a:lnTo>
                    <a:pt x="15" y="63"/>
                  </a:lnTo>
                  <a:lnTo>
                    <a:pt x="25" y="52"/>
                  </a:lnTo>
                  <a:lnTo>
                    <a:pt x="37" y="42"/>
                  </a:lnTo>
                  <a:lnTo>
                    <a:pt x="50" y="34"/>
                  </a:lnTo>
                  <a:lnTo>
                    <a:pt x="65" y="28"/>
                  </a:lnTo>
                  <a:lnTo>
                    <a:pt x="81" y="25"/>
                  </a:lnTo>
                  <a:lnTo>
                    <a:pt x="94" y="21"/>
                  </a:lnTo>
                  <a:lnTo>
                    <a:pt x="110" y="21"/>
                  </a:lnTo>
                  <a:lnTo>
                    <a:pt x="125" y="21"/>
                  </a:lnTo>
                  <a:lnTo>
                    <a:pt x="139" y="21"/>
                  </a:lnTo>
                  <a:lnTo>
                    <a:pt x="152" y="23"/>
                  </a:lnTo>
                  <a:lnTo>
                    <a:pt x="166" y="23"/>
                  </a:lnTo>
                  <a:lnTo>
                    <a:pt x="185" y="26"/>
                  </a:lnTo>
                  <a:lnTo>
                    <a:pt x="195" y="30"/>
                  </a:lnTo>
                  <a:lnTo>
                    <a:pt x="200" y="0"/>
                  </a:lnTo>
                  <a:lnTo>
                    <a:pt x="274" y="84"/>
                  </a:lnTo>
                  <a:lnTo>
                    <a:pt x="177" y="138"/>
                  </a:lnTo>
                  <a:lnTo>
                    <a:pt x="183" y="107"/>
                  </a:lnTo>
                  <a:lnTo>
                    <a:pt x="158" y="100"/>
                  </a:lnTo>
                  <a:lnTo>
                    <a:pt x="131" y="92"/>
                  </a:lnTo>
                  <a:lnTo>
                    <a:pt x="102" y="86"/>
                  </a:lnTo>
                  <a:lnTo>
                    <a:pt x="85" y="84"/>
                  </a:lnTo>
                  <a:lnTo>
                    <a:pt x="69" y="82"/>
                  </a:lnTo>
                  <a:lnTo>
                    <a:pt x="54" y="82"/>
                  </a:lnTo>
                  <a:lnTo>
                    <a:pt x="40" y="82"/>
                  </a:lnTo>
                  <a:lnTo>
                    <a:pt x="29" y="84"/>
                  </a:lnTo>
                  <a:lnTo>
                    <a:pt x="17" y="88"/>
                  </a:lnTo>
                  <a:lnTo>
                    <a:pt x="13" y="92"/>
                  </a:lnTo>
                  <a:lnTo>
                    <a:pt x="10" y="94"/>
                  </a:lnTo>
                  <a:lnTo>
                    <a:pt x="8" y="98"/>
                  </a:lnTo>
                  <a:lnTo>
                    <a:pt x="4" y="104"/>
                  </a:lnTo>
                  <a:lnTo>
                    <a:pt x="2" y="111"/>
                  </a:lnTo>
                  <a:close/>
                </a:path>
              </a:pathLst>
            </a:custGeom>
            <a:solidFill>
              <a:srgbClr val="990000"/>
            </a:solidFill>
            <a:ln w="9525" algn="ctr">
              <a:solidFill>
                <a:srgbClr val="C34733"/>
              </a:solidFill>
              <a:round/>
              <a:headEnd/>
              <a:tailEnd/>
            </a:ln>
          </p:spPr>
          <p:txBody>
            <a:bodyPr/>
            <a:lstStyle/>
            <a:p>
              <a:endParaRPr lang="en-US" dirty="0"/>
            </a:p>
          </p:txBody>
        </p:sp>
        <p:sp>
          <p:nvSpPr>
            <p:cNvPr id="24" name="Freeform 24"/>
            <p:cNvSpPr>
              <a:spLocks noChangeAspect="1"/>
            </p:cNvSpPr>
            <p:nvPr/>
          </p:nvSpPr>
          <p:spPr bwMode="auto">
            <a:xfrm rot="1628237">
              <a:off x="3830638" y="3614738"/>
              <a:ext cx="544512" cy="274637"/>
            </a:xfrm>
            <a:custGeom>
              <a:avLst/>
              <a:gdLst>
                <a:gd name="T0" fmla="*/ 2147483647 w 274"/>
                <a:gd name="T1" fmla="*/ 2147483647 h 138"/>
                <a:gd name="T2" fmla="*/ 0 w 274"/>
                <a:gd name="T3" fmla="*/ 2147483647 h 138"/>
                <a:gd name="T4" fmla="*/ 0 w 274"/>
                <a:gd name="T5" fmla="*/ 2147483647 h 138"/>
                <a:gd name="T6" fmla="*/ 2147483647 w 274"/>
                <a:gd name="T7" fmla="*/ 2147483647 h 138"/>
                <a:gd name="T8" fmla="*/ 2147483647 w 274"/>
                <a:gd name="T9" fmla="*/ 2147483647 h 138"/>
                <a:gd name="T10" fmla="*/ 2147483647 w 274"/>
                <a:gd name="T11" fmla="*/ 2147483647 h 138"/>
                <a:gd name="T12" fmla="*/ 2147483647 w 274"/>
                <a:gd name="T13" fmla="*/ 2147483647 h 138"/>
                <a:gd name="T14" fmla="*/ 2147483647 w 274"/>
                <a:gd name="T15" fmla="*/ 2147483647 h 138"/>
                <a:gd name="T16" fmla="*/ 2147483647 w 274"/>
                <a:gd name="T17" fmla="*/ 2147483647 h 138"/>
                <a:gd name="T18" fmla="*/ 2147483647 w 274"/>
                <a:gd name="T19" fmla="*/ 2147483647 h 138"/>
                <a:gd name="T20" fmla="*/ 2147483647 w 274"/>
                <a:gd name="T21" fmla="*/ 2147483647 h 138"/>
                <a:gd name="T22" fmla="*/ 2147483647 w 274"/>
                <a:gd name="T23" fmla="*/ 2147483647 h 138"/>
                <a:gd name="T24" fmla="*/ 2147483647 w 274"/>
                <a:gd name="T25" fmla="*/ 2147483647 h 138"/>
                <a:gd name="T26" fmla="*/ 2147483647 w 274"/>
                <a:gd name="T27" fmla="*/ 2147483647 h 138"/>
                <a:gd name="T28" fmla="*/ 2147483647 w 274"/>
                <a:gd name="T29" fmla="*/ 2147483647 h 138"/>
                <a:gd name="T30" fmla="*/ 2147483647 w 274"/>
                <a:gd name="T31" fmla="*/ 2147483647 h 138"/>
                <a:gd name="T32" fmla="*/ 2147483647 w 274"/>
                <a:gd name="T33" fmla="*/ 2147483647 h 138"/>
                <a:gd name="T34" fmla="*/ 2147483647 w 274"/>
                <a:gd name="T35" fmla="*/ 2147483647 h 138"/>
                <a:gd name="T36" fmla="*/ 2147483647 w 274"/>
                <a:gd name="T37" fmla="*/ 2147483647 h 138"/>
                <a:gd name="T38" fmla="*/ 2147483647 w 274"/>
                <a:gd name="T39" fmla="*/ 2147483647 h 138"/>
                <a:gd name="T40" fmla="*/ 2147483647 w 274"/>
                <a:gd name="T41" fmla="*/ 0 h 138"/>
                <a:gd name="T42" fmla="*/ 2147483647 w 274"/>
                <a:gd name="T43" fmla="*/ 2147483647 h 138"/>
                <a:gd name="T44" fmla="*/ 2147483647 w 274"/>
                <a:gd name="T45" fmla="*/ 2147483647 h 138"/>
                <a:gd name="T46" fmla="*/ 2147483647 w 274"/>
                <a:gd name="T47" fmla="*/ 2147483647 h 138"/>
                <a:gd name="T48" fmla="*/ 2147483647 w 274"/>
                <a:gd name="T49" fmla="*/ 2147483647 h 138"/>
                <a:gd name="T50" fmla="*/ 2147483647 w 274"/>
                <a:gd name="T51" fmla="*/ 2147483647 h 138"/>
                <a:gd name="T52" fmla="*/ 2147483647 w 274"/>
                <a:gd name="T53" fmla="*/ 2147483647 h 138"/>
                <a:gd name="T54" fmla="*/ 2147483647 w 274"/>
                <a:gd name="T55" fmla="*/ 2147483647 h 138"/>
                <a:gd name="T56" fmla="*/ 2147483647 w 274"/>
                <a:gd name="T57" fmla="*/ 2147483647 h 138"/>
                <a:gd name="T58" fmla="*/ 2147483647 w 274"/>
                <a:gd name="T59" fmla="*/ 2147483647 h 138"/>
                <a:gd name="T60" fmla="*/ 2147483647 w 274"/>
                <a:gd name="T61" fmla="*/ 2147483647 h 138"/>
                <a:gd name="T62" fmla="*/ 2147483647 w 274"/>
                <a:gd name="T63" fmla="*/ 2147483647 h 138"/>
                <a:gd name="T64" fmla="*/ 2147483647 w 274"/>
                <a:gd name="T65" fmla="*/ 2147483647 h 138"/>
                <a:gd name="T66" fmla="*/ 2147483647 w 274"/>
                <a:gd name="T67" fmla="*/ 2147483647 h 138"/>
                <a:gd name="T68" fmla="*/ 2147483647 w 274"/>
                <a:gd name="T69" fmla="*/ 2147483647 h 138"/>
                <a:gd name="T70" fmla="*/ 2147483647 w 274"/>
                <a:gd name="T71" fmla="*/ 2147483647 h 138"/>
                <a:gd name="T72" fmla="*/ 2147483647 w 274"/>
                <a:gd name="T73" fmla="*/ 2147483647 h 138"/>
                <a:gd name="T74" fmla="*/ 2147483647 w 274"/>
                <a:gd name="T75" fmla="*/ 2147483647 h 13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74"/>
                <a:gd name="T115" fmla="*/ 0 h 138"/>
                <a:gd name="T116" fmla="*/ 274 w 274"/>
                <a:gd name="T117" fmla="*/ 138 h 13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74" h="138">
                  <a:moveTo>
                    <a:pt x="2" y="111"/>
                  </a:moveTo>
                  <a:lnTo>
                    <a:pt x="0" y="104"/>
                  </a:lnTo>
                  <a:lnTo>
                    <a:pt x="0" y="96"/>
                  </a:lnTo>
                  <a:lnTo>
                    <a:pt x="2" y="86"/>
                  </a:lnTo>
                  <a:lnTo>
                    <a:pt x="4" y="82"/>
                  </a:lnTo>
                  <a:lnTo>
                    <a:pt x="6" y="79"/>
                  </a:lnTo>
                  <a:lnTo>
                    <a:pt x="15" y="63"/>
                  </a:lnTo>
                  <a:lnTo>
                    <a:pt x="25" y="52"/>
                  </a:lnTo>
                  <a:lnTo>
                    <a:pt x="37" y="42"/>
                  </a:lnTo>
                  <a:lnTo>
                    <a:pt x="50" y="34"/>
                  </a:lnTo>
                  <a:lnTo>
                    <a:pt x="65" y="28"/>
                  </a:lnTo>
                  <a:lnTo>
                    <a:pt x="81" y="25"/>
                  </a:lnTo>
                  <a:lnTo>
                    <a:pt x="94" y="21"/>
                  </a:lnTo>
                  <a:lnTo>
                    <a:pt x="110" y="21"/>
                  </a:lnTo>
                  <a:lnTo>
                    <a:pt x="125" y="21"/>
                  </a:lnTo>
                  <a:lnTo>
                    <a:pt x="139" y="21"/>
                  </a:lnTo>
                  <a:lnTo>
                    <a:pt x="152" y="23"/>
                  </a:lnTo>
                  <a:lnTo>
                    <a:pt x="166" y="23"/>
                  </a:lnTo>
                  <a:lnTo>
                    <a:pt x="185" y="26"/>
                  </a:lnTo>
                  <a:lnTo>
                    <a:pt x="195" y="30"/>
                  </a:lnTo>
                  <a:lnTo>
                    <a:pt x="200" y="0"/>
                  </a:lnTo>
                  <a:lnTo>
                    <a:pt x="274" y="84"/>
                  </a:lnTo>
                  <a:lnTo>
                    <a:pt x="177" y="138"/>
                  </a:lnTo>
                  <a:lnTo>
                    <a:pt x="183" y="107"/>
                  </a:lnTo>
                  <a:lnTo>
                    <a:pt x="158" y="100"/>
                  </a:lnTo>
                  <a:lnTo>
                    <a:pt x="131" y="92"/>
                  </a:lnTo>
                  <a:lnTo>
                    <a:pt x="102" y="86"/>
                  </a:lnTo>
                  <a:lnTo>
                    <a:pt x="85" y="84"/>
                  </a:lnTo>
                  <a:lnTo>
                    <a:pt x="69" y="82"/>
                  </a:lnTo>
                  <a:lnTo>
                    <a:pt x="54" y="82"/>
                  </a:lnTo>
                  <a:lnTo>
                    <a:pt x="40" y="82"/>
                  </a:lnTo>
                  <a:lnTo>
                    <a:pt x="29" y="84"/>
                  </a:lnTo>
                  <a:lnTo>
                    <a:pt x="17" y="88"/>
                  </a:lnTo>
                  <a:lnTo>
                    <a:pt x="13" y="92"/>
                  </a:lnTo>
                  <a:lnTo>
                    <a:pt x="10" y="94"/>
                  </a:lnTo>
                  <a:lnTo>
                    <a:pt x="8" y="98"/>
                  </a:lnTo>
                  <a:lnTo>
                    <a:pt x="4" y="104"/>
                  </a:lnTo>
                  <a:lnTo>
                    <a:pt x="2" y="111"/>
                  </a:lnTo>
                  <a:close/>
                </a:path>
              </a:pathLst>
            </a:custGeom>
            <a:solidFill>
              <a:srgbClr val="990000"/>
            </a:solidFill>
            <a:ln w="9525" algn="ctr">
              <a:solidFill>
                <a:srgbClr val="C34733"/>
              </a:solidFill>
              <a:round/>
              <a:headEnd/>
              <a:tailEnd/>
            </a:ln>
          </p:spPr>
          <p:txBody>
            <a:bodyPr/>
            <a:lstStyle/>
            <a:p>
              <a:endParaRPr lang="en-US" dirty="0"/>
            </a:p>
          </p:txBody>
        </p:sp>
        <p:sp>
          <p:nvSpPr>
            <p:cNvPr id="25" name="Freeform 25"/>
            <p:cNvSpPr>
              <a:spLocks noChangeAspect="1"/>
            </p:cNvSpPr>
            <p:nvPr/>
          </p:nvSpPr>
          <p:spPr bwMode="auto">
            <a:xfrm rot="1628237">
              <a:off x="6280976" y="3638601"/>
              <a:ext cx="546100" cy="274637"/>
            </a:xfrm>
            <a:custGeom>
              <a:avLst/>
              <a:gdLst>
                <a:gd name="T0" fmla="*/ 2147483647 w 274"/>
                <a:gd name="T1" fmla="*/ 2147483647 h 138"/>
                <a:gd name="T2" fmla="*/ 0 w 274"/>
                <a:gd name="T3" fmla="*/ 2147483647 h 138"/>
                <a:gd name="T4" fmla="*/ 0 w 274"/>
                <a:gd name="T5" fmla="*/ 2147483647 h 138"/>
                <a:gd name="T6" fmla="*/ 2147483647 w 274"/>
                <a:gd name="T7" fmla="*/ 2147483647 h 138"/>
                <a:gd name="T8" fmla="*/ 2147483647 w 274"/>
                <a:gd name="T9" fmla="*/ 2147483647 h 138"/>
                <a:gd name="T10" fmla="*/ 2147483647 w 274"/>
                <a:gd name="T11" fmla="*/ 2147483647 h 138"/>
                <a:gd name="T12" fmla="*/ 2147483647 w 274"/>
                <a:gd name="T13" fmla="*/ 2147483647 h 138"/>
                <a:gd name="T14" fmla="*/ 2147483647 w 274"/>
                <a:gd name="T15" fmla="*/ 2147483647 h 138"/>
                <a:gd name="T16" fmla="*/ 2147483647 w 274"/>
                <a:gd name="T17" fmla="*/ 2147483647 h 138"/>
                <a:gd name="T18" fmla="*/ 2147483647 w 274"/>
                <a:gd name="T19" fmla="*/ 2147483647 h 138"/>
                <a:gd name="T20" fmla="*/ 2147483647 w 274"/>
                <a:gd name="T21" fmla="*/ 2147483647 h 138"/>
                <a:gd name="T22" fmla="*/ 2147483647 w 274"/>
                <a:gd name="T23" fmla="*/ 2147483647 h 138"/>
                <a:gd name="T24" fmla="*/ 2147483647 w 274"/>
                <a:gd name="T25" fmla="*/ 2147483647 h 138"/>
                <a:gd name="T26" fmla="*/ 2147483647 w 274"/>
                <a:gd name="T27" fmla="*/ 2147483647 h 138"/>
                <a:gd name="T28" fmla="*/ 2147483647 w 274"/>
                <a:gd name="T29" fmla="*/ 2147483647 h 138"/>
                <a:gd name="T30" fmla="*/ 2147483647 w 274"/>
                <a:gd name="T31" fmla="*/ 2147483647 h 138"/>
                <a:gd name="T32" fmla="*/ 2147483647 w 274"/>
                <a:gd name="T33" fmla="*/ 2147483647 h 138"/>
                <a:gd name="T34" fmla="*/ 2147483647 w 274"/>
                <a:gd name="T35" fmla="*/ 2147483647 h 138"/>
                <a:gd name="T36" fmla="*/ 2147483647 w 274"/>
                <a:gd name="T37" fmla="*/ 2147483647 h 138"/>
                <a:gd name="T38" fmla="*/ 2147483647 w 274"/>
                <a:gd name="T39" fmla="*/ 2147483647 h 138"/>
                <a:gd name="T40" fmla="*/ 2147483647 w 274"/>
                <a:gd name="T41" fmla="*/ 0 h 138"/>
                <a:gd name="T42" fmla="*/ 2147483647 w 274"/>
                <a:gd name="T43" fmla="*/ 2147483647 h 138"/>
                <a:gd name="T44" fmla="*/ 2147483647 w 274"/>
                <a:gd name="T45" fmla="*/ 2147483647 h 138"/>
                <a:gd name="T46" fmla="*/ 2147483647 w 274"/>
                <a:gd name="T47" fmla="*/ 2147483647 h 138"/>
                <a:gd name="T48" fmla="*/ 2147483647 w 274"/>
                <a:gd name="T49" fmla="*/ 2147483647 h 138"/>
                <a:gd name="T50" fmla="*/ 2147483647 w 274"/>
                <a:gd name="T51" fmla="*/ 2147483647 h 138"/>
                <a:gd name="T52" fmla="*/ 2147483647 w 274"/>
                <a:gd name="T53" fmla="*/ 2147483647 h 138"/>
                <a:gd name="T54" fmla="*/ 2147483647 w 274"/>
                <a:gd name="T55" fmla="*/ 2147483647 h 138"/>
                <a:gd name="T56" fmla="*/ 2147483647 w 274"/>
                <a:gd name="T57" fmla="*/ 2147483647 h 138"/>
                <a:gd name="T58" fmla="*/ 2147483647 w 274"/>
                <a:gd name="T59" fmla="*/ 2147483647 h 138"/>
                <a:gd name="T60" fmla="*/ 2147483647 w 274"/>
                <a:gd name="T61" fmla="*/ 2147483647 h 138"/>
                <a:gd name="T62" fmla="*/ 2147483647 w 274"/>
                <a:gd name="T63" fmla="*/ 2147483647 h 138"/>
                <a:gd name="T64" fmla="*/ 2147483647 w 274"/>
                <a:gd name="T65" fmla="*/ 2147483647 h 138"/>
                <a:gd name="T66" fmla="*/ 2147483647 w 274"/>
                <a:gd name="T67" fmla="*/ 2147483647 h 138"/>
                <a:gd name="T68" fmla="*/ 2147483647 w 274"/>
                <a:gd name="T69" fmla="*/ 2147483647 h 138"/>
                <a:gd name="T70" fmla="*/ 2147483647 w 274"/>
                <a:gd name="T71" fmla="*/ 2147483647 h 138"/>
                <a:gd name="T72" fmla="*/ 2147483647 w 274"/>
                <a:gd name="T73" fmla="*/ 2147483647 h 138"/>
                <a:gd name="T74" fmla="*/ 2147483647 w 274"/>
                <a:gd name="T75" fmla="*/ 2147483647 h 13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74"/>
                <a:gd name="T115" fmla="*/ 0 h 138"/>
                <a:gd name="T116" fmla="*/ 274 w 274"/>
                <a:gd name="T117" fmla="*/ 138 h 13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74" h="138">
                  <a:moveTo>
                    <a:pt x="2" y="111"/>
                  </a:moveTo>
                  <a:lnTo>
                    <a:pt x="0" y="104"/>
                  </a:lnTo>
                  <a:lnTo>
                    <a:pt x="0" y="96"/>
                  </a:lnTo>
                  <a:lnTo>
                    <a:pt x="2" y="86"/>
                  </a:lnTo>
                  <a:lnTo>
                    <a:pt x="4" y="82"/>
                  </a:lnTo>
                  <a:lnTo>
                    <a:pt x="6" y="79"/>
                  </a:lnTo>
                  <a:lnTo>
                    <a:pt x="15" y="63"/>
                  </a:lnTo>
                  <a:lnTo>
                    <a:pt x="25" y="52"/>
                  </a:lnTo>
                  <a:lnTo>
                    <a:pt x="37" y="42"/>
                  </a:lnTo>
                  <a:lnTo>
                    <a:pt x="50" y="34"/>
                  </a:lnTo>
                  <a:lnTo>
                    <a:pt x="65" y="28"/>
                  </a:lnTo>
                  <a:lnTo>
                    <a:pt x="81" y="25"/>
                  </a:lnTo>
                  <a:lnTo>
                    <a:pt x="94" y="21"/>
                  </a:lnTo>
                  <a:lnTo>
                    <a:pt x="110" y="21"/>
                  </a:lnTo>
                  <a:lnTo>
                    <a:pt x="125" y="21"/>
                  </a:lnTo>
                  <a:lnTo>
                    <a:pt x="139" y="21"/>
                  </a:lnTo>
                  <a:lnTo>
                    <a:pt x="152" y="23"/>
                  </a:lnTo>
                  <a:lnTo>
                    <a:pt x="166" y="23"/>
                  </a:lnTo>
                  <a:lnTo>
                    <a:pt x="185" y="26"/>
                  </a:lnTo>
                  <a:lnTo>
                    <a:pt x="195" y="30"/>
                  </a:lnTo>
                  <a:lnTo>
                    <a:pt x="200" y="0"/>
                  </a:lnTo>
                  <a:lnTo>
                    <a:pt x="274" y="84"/>
                  </a:lnTo>
                  <a:lnTo>
                    <a:pt x="177" y="138"/>
                  </a:lnTo>
                  <a:lnTo>
                    <a:pt x="183" y="107"/>
                  </a:lnTo>
                  <a:lnTo>
                    <a:pt x="158" y="100"/>
                  </a:lnTo>
                  <a:lnTo>
                    <a:pt x="131" y="92"/>
                  </a:lnTo>
                  <a:lnTo>
                    <a:pt x="102" y="86"/>
                  </a:lnTo>
                  <a:lnTo>
                    <a:pt x="85" y="84"/>
                  </a:lnTo>
                  <a:lnTo>
                    <a:pt x="69" y="82"/>
                  </a:lnTo>
                  <a:lnTo>
                    <a:pt x="54" y="82"/>
                  </a:lnTo>
                  <a:lnTo>
                    <a:pt x="40" y="82"/>
                  </a:lnTo>
                  <a:lnTo>
                    <a:pt x="29" y="84"/>
                  </a:lnTo>
                  <a:lnTo>
                    <a:pt x="17" y="88"/>
                  </a:lnTo>
                  <a:lnTo>
                    <a:pt x="13" y="92"/>
                  </a:lnTo>
                  <a:lnTo>
                    <a:pt x="10" y="94"/>
                  </a:lnTo>
                  <a:lnTo>
                    <a:pt x="8" y="98"/>
                  </a:lnTo>
                  <a:lnTo>
                    <a:pt x="4" y="104"/>
                  </a:lnTo>
                  <a:lnTo>
                    <a:pt x="2" y="111"/>
                  </a:lnTo>
                  <a:close/>
                </a:path>
              </a:pathLst>
            </a:custGeom>
            <a:solidFill>
              <a:srgbClr val="990000"/>
            </a:solidFill>
            <a:ln w="9525" algn="ctr">
              <a:solidFill>
                <a:srgbClr val="C34733"/>
              </a:solidFill>
              <a:round/>
              <a:headEnd/>
              <a:tailEnd/>
            </a:ln>
          </p:spPr>
          <p:txBody>
            <a:bodyPr/>
            <a:lstStyle/>
            <a:p>
              <a:endParaRPr lang="en-US" dirty="0"/>
            </a:p>
          </p:txBody>
        </p:sp>
        <p:sp>
          <p:nvSpPr>
            <p:cNvPr id="26" name="Text Box 21"/>
            <p:cNvSpPr txBox="1">
              <a:spLocks noChangeArrowheads="1"/>
            </p:cNvSpPr>
            <p:nvPr/>
          </p:nvSpPr>
          <p:spPr bwMode="auto">
            <a:xfrm>
              <a:off x="5029200" y="4035424"/>
              <a:ext cx="9906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36576" tIns="36576" rIns="36576" bIns="36576"/>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1400" b="1" dirty="0">
                  <a:solidFill>
                    <a:srgbClr val="333333"/>
                  </a:solidFill>
                  <a:latin typeface="Tw Cen MT" pitchFamily="34" charset="0"/>
                </a:rPr>
                <a:t>R&amp;D</a:t>
              </a:r>
              <a:endParaRPr lang="en-US" sz="1400" u="sng" dirty="0">
                <a:solidFill>
                  <a:srgbClr val="333333"/>
                </a:solidFill>
                <a:latin typeface="Tw Cen MT" pitchFamily="34" charset="0"/>
              </a:endParaRPr>
            </a:p>
          </p:txBody>
        </p:sp>
        <p:sp>
          <p:nvSpPr>
            <p:cNvPr id="27" name="Freeform 26"/>
            <p:cNvSpPr>
              <a:spLocks noChangeAspect="1"/>
            </p:cNvSpPr>
            <p:nvPr/>
          </p:nvSpPr>
          <p:spPr bwMode="auto">
            <a:xfrm rot="1628237">
              <a:off x="5049838" y="3608388"/>
              <a:ext cx="544512" cy="274637"/>
            </a:xfrm>
            <a:custGeom>
              <a:avLst/>
              <a:gdLst>
                <a:gd name="T0" fmla="*/ 2147483647 w 274"/>
                <a:gd name="T1" fmla="*/ 2147483647 h 138"/>
                <a:gd name="T2" fmla="*/ 0 w 274"/>
                <a:gd name="T3" fmla="*/ 2147483647 h 138"/>
                <a:gd name="T4" fmla="*/ 0 w 274"/>
                <a:gd name="T5" fmla="*/ 2147483647 h 138"/>
                <a:gd name="T6" fmla="*/ 2147483647 w 274"/>
                <a:gd name="T7" fmla="*/ 2147483647 h 138"/>
                <a:gd name="T8" fmla="*/ 2147483647 w 274"/>
                <a:gd name="T9" fmla="*/ 2147483647 h 138"/>
                <a:gd name="T10" fmla="*/ 2147483647 w 274"/>
                <a:gd name="T11" fmla="*/ 2147483647 h 138"/>
                <a:gd name="T12" fmla="*/ 2147483647 w 274"/>
                <a:gd name="T13" fmla="*/ 2147483647 h 138"/>
                <a:gd name="T14" fmla="*/ 2147483647 w 274"/>
                <a:gd name="T15" fmla="*/ 2147483647 h 138"/>
                <a:gd name="T16" fmla="*/ 2147483647 w 274"/>
                <a:gd name="T17" fmla="*/ 2147483647 h 138"/>
                <a:gd name="T18" fmla="*/ 2147483647 w 274"/>
                <a:gd name="T19" fmla="*/ 2147483647 h 138"/>
                <a:gd name="T20" fmla="*/ 2147483647 w 274"/>
                <a:gd name="T21" fmla="*/ 2147483647 h 138"/>
                <a:gd name="T22" fmla="*/ 2147483647 w 274"/>
                <a:gd name="T23" fmla="*/ 2147483647 h 138"/>
                <a:gd name="T24" fmla="*/ 2147483647 w 274"/>
                <a:gd name="T25" fmla="*/ 2147483647 h 138"/>
                <a:gd name="T26" fmla="*/ 2147483647 w 274"/>
                <a:gd name="T27" fmla="*/ 2147483647 h 138"/>
                <a:gd name="T28" fmla="*/ 2147483647 w 274"/>
                <a:gd name="T29" fmla="*/ 2147483647 h 138"/>
                <a:gd name="T30" fmla="*/ 2147483647 w 274"/>
                <a:gd name="T31" fmla="*/ 2147483647 h 138"/>
                <a:gd name="T32" fmla="*/ 2147483647 w 274"/>
                <a:gd name="T33" fmla="*/ 2147483647 h 138"/>
                <a:gd name="T34" fmla="*/ 2147483647 w 274"/>
                <a:gd name="T35" fmla="*/ 2147483647 h 138"/>
                <a:gd name="T36" fmla="*/ 2147483647 w 274"/>
                <a:gd name="T37" fmla="*/ 2147483647 h 138"/>
                <a:gd name="T38" fmla="*/ 2147483647 w 274"/>
                <a:gd name="T39" fmla="*/ 2147483647 h 138"/>
                <a:gd name="T40" fmla="*/ 2147483647 w 274"/>
                <a:gd name="T41" fmla="*/ 0 h 138"/>
                <a:gd name="T42" fmla="*/ 2147483647 w 274"/>
                <a:gd name="T43" fmla="*/ 2147483647 h 138"/>
                <a:gd name="T44" fmla="*/ 2147483647 w 274"/>
                <a:gd name="T45" fmla="*/ 2147483647 h 138"/>
                <a:gd name="T46" fmla="*/ 2147483647 w 274"/>
                <a:gd name="T47" fmla="*/ 2147483647 h 138"/>
                <a:gd name="T48" fmla="*/ 2147483647 w 274"/>
                <a:gd name="T49" fmla="*/ 2147483647 h 138"/>
                <a:gd name="T50" fmla="*/ 2147483647 w 274"/>
                <a:gd name="T51" fmla="*/ 2147483647 h 138"/>
                <a:gd name="T52" fmla="*/ 2147483647 w 274"/>
                <a:gd name="T53" fmla="*/ 2147483647 h 138"/>
                <a:gd name="T54" fmla="*/ 2147483647 w 274"/>
                <a:gd name="T55" fmla="*/ 2147483647 h 138"/>
                <a:gd name="T56" fmla="*/ 2147483647 w 274"/>
                <a:gd name="T57" fmla="*/ 2147483647 h 138"/>
                <a:gd name="T58" fmla="*/ 2147483647 w 274"/>
                <a:gd name="T59" fmla="*/ 2147483647 h 138"/>
                <a:gd name="T60" fmla="*/ 2147483647 w 274"/>
                <a:gd name="T61" fmla="*/ 2147483647 h 138"/>
                <a:gd name="T62" fmla="*/ 2147483647 w 274"/>
                <a:gd name="T63" fmla="*/ 2147483647 h 138"/>
                <a:gd name="T64" fmla="*/ 2147483647 w 274"/>
                <a:gd name="T65" fmla="*/ 2147483647 h 138"/>
                <a:gd name="T66" fmla="*/ 2147483647 w 274"/>
                <a:gd name="T67" fmla="*/ 2147483647 h 138"/>
                <a:gd name="T68" fmla="*/ 2147483647 w 274"/>
                <a:gd name="T69" fmla="*/ 2147483647 h 138"/>
                <a:gd name="T70" fmla="*/ 2147483647 w 274"/>
                <a:gd name="T71" fmla="*/ 2147483647 h 138"/>
                <a:gd name="T72" fmla="*/ 2147483647 w 274"/>
                <a:gd name="T73" fmla="*/ 2147483647 h 138"/>
                <a:gd name="T74" fmla="*/ 2147483647 w 274"/>
                <a:gd name="T75" fmla="*/ 2147483647 h 13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74"/>
                <a:gd name="T115" fmla="*/ 0 h 138"/>
                <a:gd name="T116" fmla="*/ 274 w 274"/>
                <a:gd name="T117" fmla="*/ 138 h 13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74" h="138">
                  <a:moveTo>
                    <a:pt x="2" y="111"/>
                  </a:moveTo>
                  <a:lnTo>
                    <a:pt x="0" y="104"/>
                  </a:lnTo>
                  <a:lnTo>
                    <a:pt x="0" y="96"/>
                  </a:lnTo>
                  <a:lnTo>
                    <a:pt x="2" y="86"/>
                  </a:lnTo>
                  <a:lnTo>
                    <a:pt x="4" y="82"/>
                  </a:lnTo>
                  <a:lnTo>
                    <a:pt x="6" y="79"/>
                  </a:lnTo>
                  <a:lnTo>
                    <a:pt x="15" y="63"/>
                  </a:lnTo>
                  <a:lnTo>
                    <a:pt x="25" y="52"/>
                  </a:lnTo>
                  <a:lnTo>
                    <a:pt x="37" y="42"/>
                  </a:lnTo>
                  <a:lnTo>
                    <a:pt x="50" y="34"/>
                  </a:lnTo>
                  <a:lnTo>
                    <a:pt x="65" y="28"/>
                  </a:lnTo>
                  <a:lnTo>
                    <a:pt x="81" y="25"/>
                  </a:lnTo>
                  <a:lnTo>
                    <a:pt x="94" y="21"/>
                  </a:lnTo>
                  <a:lnTo>
                    <a:pt x="110" y="21"/>
                  </a:lnTo>
                  <a:lnTo>
                    <a:pt x="125" y="21"/>
                  </a:lnTo>
                  <a:lnTo>
                    <a:pt x="139" y="21"/>
                  </a:lnTo>
                  <a:lnTo>
                    <a:pt x="152" y="23"/>
                  </a:lnTo>
                  <a:lnTo>
                    <a:pt x="166" y="23"/>
                  </a:lnTo>
                  <a:lnTo>
                    <a:pt x="185" y="26"/>
                  </a:lnTo>
                  <a:lnTo>
                    <a:pt x="195" y="30"/>
                  </a:lnTo>
                  <a:lnTo>
                    <a:pt x="200" y="0"/>
                  </a:lnTo>
                  <a:lnTo>
                    <a:pt x="274" y="84"/>
                  </a:lnTo>
                  <a:lnTo>
                    <a:pt x="177" y="138"/>
                  </a:lnTo>
                  <a:lnTo>
                    <a:pt x="183" y="107"/>
                  </a:lnTo>
                  <a:lnTo>
                    <a:pt x="158" y="100"/>
                  </a:lnTo>
                  <a:lnTo>
                    <a:pt x="131" y="92"/>
                  </a:lnTo>
                  <a:lnTo>
                    <a:pt x="102" y="86"/>
                  </a:lnTo>
                  <a:lnTo>
                    <a:pt x="85" y="84"/>
                  </a:lnTo>
                  <a:lnTo>
                    <a:pt x="69" y="82"/>
                  </a:lnTo>
                  <a:lnTo>
                    <a:pt x="54" y="82"/>
                  </a:lnTo>
                  <a:lnTo>
                    <a:pt x="40" y="82"/>
                  </a:lnTo>
                  <a:lnTo>
                    <a:pt x="29" y="84"/>
                  </a:lnTo>
                  <a:lnTo>
                    <a:pt x="17" y="88"/>
                  </a:lnTo>
                  <a:lnTo>
                    <a:pt x="13" y="92"/>
                  </a:lnTo>
                  <a:lnTo>
                    <a:pt x="10" y="94"/>
                  </a:lnTo>
                  <a:lnTo>
                    <a:pt x="8" y="98"/>
                  </a:lnTo>
                  <a:lnTo>
                    <a:pt x="4" y="104"/>
                  </a:lnTo>
                  <a:lnTo>
                    <a:pt x="2" y="111"/>
                  </a:lnTo>
                  <a:close/>
                </a:path>
              </a:pathLst>
            </a:custGeom>
            <a:solidFill>
              <a:srgbClr val="990000"/>
            </a:solidFill>
            <a:ln w="9525" algn="ctr">
              <a:solidFill>
                <a:srgbClr val="C34733"/>
              </a:solidFill>
              <a:round/>
              <a:headEnd/>
              <a:tailEnd/>
            </a:ln>
          </p:spPr>
          <p:txBody>
            <a:bodyPr/>
            <a:lstStyle/>
            <a:p>
              <a:endParaRPr lang="en-US" dirty="0"/>
            </a:p>
          </p:txBody>
        </p:sp>
      </p:grpSp>
      <p:sp>
        <p:nvSpPr>
          <p:cNvPr id="29" name="Rectangle 14"/>
          <p:cNvSpPr>
            <a:spLocks noChangeArrowheads="1"/>
          </p:cNvSpPr>
          <p:nvPr/>
        </p:nvSpPr>
        <p:spPr bwMode="auto">
          <a:xfrm>
            <a:off x="2866696" y="1447800"/>
            <a:ext cx="67056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p>
            <a:pPr algn="ctr" eaLnBrk="0" hangingPunct="0">
              <a:buSzPct val="120000"/>
            </a:pPr>
            <a:r>
              <a:rPr lang="en-US" sz="4400" b="1" dirty="0" smtClean="0">
                <a:solidFill>
                  <a:srgbClr val="A40000"/>
                </a:solidFill>
                <a:latin typeface="Rage Italic" pitchFamily="66" charset="0"/>
              </a:rPr>
              <a:t>Thank You</a:t>
            </a:r>
          </a:p>
        </p:txBody>
      </p:sp>
      <p:pic>
        <p:nvPicPr>
          <p:cNvPr id="15" name="Picture 14" descr="VM-Logo-drive_small.png"/>
          <p:cNvPicPr>
            <a:picLocks noChangeAspect="1"/>
          </p:cNvPicPr>
          <p:nvPr/>
        </p:nvPicPr>
        <p:blipFill>
          <a:blip r:embed="rId4" cstate="print"/>
          <a:stretch>
            <a:fillRect/>
          </a:stretch>
        </p:blipFill>
        <p:spPr>
          <a:xfrm>
            <a:off x="5410200" y="2362200"/>
            <a:ext cx="1831852" cy="1185674"/>
          </a:xfrm>
          <a:prstGeom prst="rect">
            <a:avLst/>
          </a:prstGeom>
        </p:spPr>
      </p:pic>
    </p:spTree>
  </p:cSld>
  <p:clrMapOvr>
    <a:masterClrMapping/>
  </p:clrMapOvr>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pBmW5aOgoEilL4GRmVphNQ"/>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pBmW5aOgoEilL4GRmVphNQ"/>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pBmW5aOgoEilL4GRmVphNQ"/>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Departments xmlns="09339d3a-aaa0-497d-ae73-d8a5832d420d">Insurance P&amp;C</Departments>
    <Classification xmlns="09339d3a-aaa0-497d-ae73-d8a5832d420d">Internal Use</Classification>
    <SubCategory xmlns="09339d3a-aaa0-497d-ae73-d8a5832d420d">Best Practice</SubCategory>
    <Tags xmlns="09339d3a-aaa0-497d-ae73-d8a5832d420d">WC Detailed</Tags>
    <Contributors xmlns="09339d3a-aaa0-497d-ae73-d8a5832d420d">
      <UserInfo>
        <DisplayName>Alok Bharati</DisplayName>
        <AccountId>26</AccountId>
        <AccountType/>
      </UserInfo>
    </Contributo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mso-contentType ?>
<SharedContentType xmlns="Microsoft.SharePoint.Taxonomy.ContentTypeSync" SourceId="41087d73-5bfe-4c6e-a130-3d602495565a" ContentTypeId="0x010100F7548365F7A28B41B9A685ED46C1AC26" PreviousValue="false"/>
</file>

<file path=customXml/item4.xml><?xml version="1.0" encoding="utf-8"?>
<ct:contentTypeSchema xmlns:ct="http://schemas.microsoft.com/office/2006/metadata/contentType" xmlns:ma="http://schemas.microsoft.com/office/2006/metadata/properties/metaAttributes" ct:_="" ma:_="" ma:contentTypeName="VIKI New Document" ma:contentTypeID="0x010100F7548365F7A28B41B9A685ED46C1AC26001AB29883D45E2C4E9CA6FE95A9034FC3" ma:contentTypeVersion="5" ma:contentTypeDescription="" ma:contentTypeScope="" ma:versionID="bc1a5864616262670162eb204ab13928">
  <xsd:schema xmlns:xsd="http://www.w3.org/2001/XMLSchema" xmlns:xs="http://www.w3.org/2001/XMLSchema" xmlns:p="http://schemas.microsoft.com/office/2006/metadata/properties" xmlns:ns2="09339d3a-aaa0-497d-ae73-d8a5832d420d" targetNamespace="http://schemas.microsoft.com/office/2006/metadata/properties" ma:root="true" ma:fieldsID="86592b75fc3d2fa65ab3e34efd39cedb" ns2:_="">
    <xsd:import namespace="09339d3a-aaa0-497d-ae73-d8a5832d420d"/>
    <xsd:element name="properties">
      <xsd:complexType>
        <xsd:sequence>
          <xsd:element name="documentManagement">
            <xsd:complexType>
              <xsd:all>
                <xsd:element ref="ns2:Classification"/>
                <xsd:element ref="ns2:Contributors"/>
                <xsd:element ref="ns2:Departments"/>
                <xsd:element ref="ns2:SubCategory"/>
                <xsd:element ref="ns2:Tags"/>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9339d3a-aaa0-497d-ae73-d8a5832d420d" elementFormDefault="qualified">
    <xsd:import namespace="http://schemas.microsoft.com/office/2006/documentManagement/types"/>
    <xsd:import namespace="http://schemas.microsoft.com/office/infopath/2007/PartnerControls"/>
    <xsd:element name="Classification" ma:index="8" ma:displayName="Classification" ma:description="Refer Help &gt; Guidelines" ma:format="Dropdown" ma:internalName="Classification">
      <xsd:simpleType>
        <xsd:restriction base="dms:Choice">
          <xsd:enumeration value="Sensitive"/>
          <xsd:enumeration value="Confidential"/>
          <xsd:enumeration value="Internally Restricted"/>
          <xsd:enumeration value="Internal Use"/>
        </xsd:restriction>
      </xsd:simpleType>
    </xsd:element>
    <xsd:element name="Contributors" ma:index="9" ma:displayName="Contributors" ma:list="UserInfo" ma:SharePointGroup="0" ma:internalName="Contributors" ma:showField="Department">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Departments" ma:index="10" ma:displayName="Departments" ma:format="Dropdown" ma:internalName="Departments">
      <xsd:simpleType>
        <xsd:restriction base="dms:Choice">
          <xsd:enumeration value="Accounts"/>
          <xsd:enumeration value="Banking"/>
          <xsd:enumeration value="BizDynamics"/>
          <xsd:enumeration value="CCM"/>
          <xsd:enumeration value="Client Services"/>
          <xsd:enumeration value="Core Leverage"/>
          <xsd:enumeration value="Data Leverage"/>
          <xsd:enumeration value="Digital &amp; Cloud"/>
          <xsd:enumeration value="Facilities"/>
          <xsd:enumeration value="Finance"/>
          <xsd:enumeration value="Financial Services"/>
          <xsd:enumeration value="GRC Operations"/>
          <xsd:enumeration value="HR"/>
          <xsd:enumeration value="Insurance Health Care"/>
          <xsd:enumeration value="Insurance Life"/>
          <xsd:enumeration value="Insurance P&amp;C"/>
          <xsd:enumeration value="IT Operations"/>
          <xsd:enumeration value="Learning &amp; Development"/>
          <xsd:enumeration value="Management System"/>
          <xsd:enumeration value="Marketing"/>
          <xsd:enumeration value="Network Operations"/>
          <xsd:enumeration value="Operations"/>
          <xsd:enumeration value="Organization"/>
          <xsd:enumeration value="PMO"/>
          <xsd:enumeration value="Quality Leap"/>
          <xsd:enumeration value="Sales"/>
          <xsd:enumeration value="Security Operations"/>
          <xsd:enumeration value="WhiteCoats"/>
        </xsd:restriction>
      </xsd:simpleType>
    </xsd:element>
    <xsd:element name="SubCategory" ma:index="11" ma:displayName="SubCategory" ma:format="Dropdown" ma:internalName="SubCategory" ma:readOnly="false">
      <xsd:simpleType>
        <xsd:restriction base="dms:Choice">
          <xsd:enumeration value="Accelerator"/>
          <xsd:enumeration value="Analysis"/>
          <xsd:enumeration value="Architecture"/>
          <xsd:enumeration value="Best Practice"/>
          <xsd:enumeration value="Case Study"/>
          <xsd:enumeration value="Change Management"/>
          <xsd:enumeration value="Checklist"/>
          <xsd:enumeration value="Design Patterns"/>
          <xsd:enumeration value="Form"/>
          <xsd:enumeration value="Guideline"/>
          <xsd:enumeration value="Learning"/>
          <xsd:enumeration value="Market Research"/>
          <xsd:enumeration value="Methodology"/>
          <xsd:enumeration value="Policy"/>
          <xsd:enumeration value="Presales"/>
          <xsd:enumeration value="Presentation"/>
          <xsd:enumeration value="Procedure"/>
          <xsd:enumeration value="Process"/>
          <xsd:enumeration value="Program Management"/>
          <xsd:enumeration value="Project Closure"/>
          <xsd:enumeration value="Project Proposal"/>
          <xsd:enumeration value="Quality Management"/>
          <xsd:enumeration value="Report"/>
          <xsd:enumeration value="Risk Management"/>
          <xsd:enumeration value="SOW"/>
          <xsd:enumeration value="Standards"/>
          <xsd:enumeration value="Training"/>
          <xsd:enumeration value="Value Addition"/>
          <xsd:enumeration value="White Paper"/>
        </xsd:restriction>
      </xsd:simpleType>
    </xsd:element>
    <xsd:element name="Tags" ma:index="12" ma:displayName="Tags" ma:internalName="Tags">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E97AE85-D0BD-4956-90E6-3F09520F0A67}">
  <ds:schemaRefs>
    <ds:schemaRef ds:uri="9cb6d7bc-cb15-42b5-a8df-adcc0f71b619"/>
    <ds:schemaRef ds:uri="http://purl.org/dc/elements/1.1/"/>
    <ds:schemaRef ds:uri="http://schemas.microsoft.com/office/2006/metadata/properties"/>
    <ds:schemaRef ds:uri="http://schemas.microsoft.com/office/infopath/2007/PartnerControls"/>
    <ds:schemaRef ds:uri="http://purl.org/dc/terms/"/>
    <ds:schemaRef ds:uri="http://schemas.microsoft.com/office/2006/documentManagement/types"/>
    <ds:schemaRef ds:uri="http://schemas.openxmlformats.org/package/2006/metadata/core-properties"/>
    <ds:schemaRef ds:uri="http://www.w3.org/XML/1998/namespace"/>
    <ds:schemaRef ds:uri="http://purl.org/dc/dcmitype/"/>
  </ds:schemaRefs>
</ds:datastoreItem>
</file>

<file path=customXml/itemProps2.xml><?xml version="1.0" encoding="utf-8"?>
<ds:datastoreItem xmlns:ds="http://schemas.openxmlformats.org/officeDocument/2006/customXml" ds:itemID="{04AA52C7-1038-44AF-9598-242FE99DFCF9}">
  <ds:schemaRefs>
    <ds:schemaRef ds:uri="http://schemas.microsoft.com/sharepoint/v3/contenttype/forms"/>
  </ds:schemaRefs>
</ds:datastoreItem>
</file>

<file path=customXml/itemProps3.xml><?xml version="1.0" encoding="utf-8"?>
<ds:datastoreItem xmlns:ds="http://schemas.openxmlformats.org/officeDocument/2006/customXml" ds:itemID="{76543B15-A192-4492-8D26-A824E47DDE5E}"/>
</file>

<file path=customXml/itemProps4.xml><?xml version="1.0" encoding="utf-8"?>
<ds:datastoreItem xmlns:ds="http://schemas.openxmlformats.org/officeDocument/2006/customXml" ds:itemID="{744EEEA2-63DE-41B6-96EC-CAD4605B6F9F}"/>
</file>

<file path=docProps/app.xml><?xml version="1.0" encoding="utf-8"?>
<Properties xmlns="http://schemas.openxmlformats.org/officeDocument/2006/extended-properties" xmlns:vt="http://schemas.openxmlformats.org/officeDocument/2006/docPropsVTypes">
  <TotalTime>6512</TotalTime>
  <Words>3055</Words>
  <Application>Microsoft Office PowerPoint</Application>
  <PresentationFormat>On-screen Show (4:3)</PresentationFormat>
  <Paragraphs>368</Paragraphs>
  <Slides>42</Slides>
  <Notes>2</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42</vt:i4>
      </vt:variant>
    </vt:vector>
  </HeadingPairs>
  <TitlesOfParts>
    <vt:vector size="53" baseType="lpstr">
      <vt:lpstr>MS PGothic</vt:lpstr>
      <vt:lpstr>Arial</vt:lpstr>
      <vt:lpstr>Arial Narrow</vt:lpstr>
      <vt:lpstr>Calibri</vt:lpstr>
      <vt:lpstr>Rage Italic</vt:lpstr>
      <vt:lpstr>Tw Cen MT</vt:lpstr>
      <vt:lpstr>Verdana</vt:lpstr>
      <vt:lpstr>Wingdings</vt:lpstr>
      <vt:lpstr>ZapfHumnst BT</vt:lpstr>
      <vt:lpstr>Office Theme</vt:lpstr>
      <vt:lpstr>Microsoft Word Document</vt:lpstr>
      <vt:lpstr>PowerPoint Presentation</vt:lpstr>
      <vt:lpstr>PowerPoint Presentation</vt:lpstr>
      <vt:lpstr>PowerPoint Presentation</vt:lpstr>
      <vt:lpstr>PowerPoint Presentation</vt:lpstr>
      <vt:lpstr>PowerPoint Presentation</vt:lpstr>
      <vt:lpstr>PowerPoint Presentation</vt:lpstr>
      <vt:lpstr>What is 'Employer's Liability Insurance'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Workers Compensation</dc:title>
  <dc:creator>ankurkumar</dc:creator>
  <cp:lastModifiedBy>Alok Bharati</cp:lastModifiedBy>
  <cp:revision>12</cp:revision>
  <dcterms:created xsi:type="dcterms:W3CDTF">2012-10-09T10:13:54Z</dcterms:created>
  <dcterms:modified xsi:type="dcterms:W3CDTF">2016-06-21T10:10:22Z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0x010100F7548365F7A28B41B9A685ED46C1AC26001AB29883D45E2C4E9CA6FE95A9034FC3</vt:lpwstr>
  </property>
  <property fmtid="{D5CDD505-2E9C-101B-9397-08002B2CF9AE}" pid="3" name="Order">
    <vt:r8>12800</vt:r8>
  </property>
  <property fmtid="{D5CDD505-2E9C-101B-9397-08002B2CF9AE}" pid="4" name="xd_Signature">
    <vt:bool>false</vt:bool>
  </property>
  <property fmtid="{D5CDD505-2E9C-101B-9397-08002B2CF9AE}" pid="5" name="xd_ProgID">
    <vt:lpwstr/>
  </property>
  <property fmtid="{D5CDD505-2E9C-101B-9397-08002B2CF9AE}" pid="6" name="_ExtendedDescription">
    <vt:lpwstr/>
  </property>
  <property fmtid="{D5CDD505-2E9C-101B-9397-08002B2CF9AE}" pid="7" name="TriggerFlowInfo">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ies>
</file>
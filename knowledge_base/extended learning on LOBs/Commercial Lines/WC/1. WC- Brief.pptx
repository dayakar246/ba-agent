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xml" ContentType="application/vnd.openxmlformats-officedocument.presentationml.slide+xml"/>
  <Override PartName="/ppt/slideMasters/slideMaster1.xml" ContentType="application/vnd.openxmlformats-officedocument.presentationml.slideMaster+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13.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Override PartName="/customXml/itemProps4.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0" r:id="rId2"/>
    <p:sldId id="258" r:id="rId3"/>
    <p:sldId id="257" r:id="rId4"/>
    <p:sldId id="266" r:id="rId5"/>
    <p:sldId id="267" r:id="rId6"/>
    <p:sldId id="268" r:id="rId7"/>
    <p:sldId id="269" r:id="rId8"/>
    <p:sldId id="270" r:id="rId9"/>
    <p:sldId id="271" r:id="rId10"/>
    <p:sldId id="259" r:id="rId11"/>
    <p:sldId id="261" r:id="rId12"/>
    <p:sldId id="262" r:id="rId13"/>
    <p:sldId id="263" r:id="rId14"/>
    <p:sldId id="264" r:id="rId15"/>
    <p:sldId id="26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3" autoAdjust="0"/>
    <p:restoredTop sz="94660"/>
  </p:normalViewPr>
  <p:slideViewPr>
    <p:cSldViewPr snapToGrid="0">
      <p:cViewPr varScale="1">
        <p:scale>
          <a:sx n="75" d="100"/>
          <a:sy n="75" d="100"/>
        </p:scale>
        <p:origin x="28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customXml" Target="../customXml/item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629F87-5281-41D0-9961-C7F4A08EE0EC}" type="datetimeFigureOut">
              <a:rPr lang="en-US" smtClean="0"/>
              <a:t>7/1/2016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7AA33-ADA2-4B2B-B405-46CE835150C0}" type="slidenum">
              <a:rPr lang="en-US" smtClean="0"/>
              <a:t>‹#›</a:t>
            </a:fld>
            <a:endParaRPr lang="en-US"/>
          </a:p>
        </p:txBody>
      </p:sp>
    </p:spTree>
    <p:extLst>
      <p:ext uri="{BB962C8B-B14F-4D97-AF65-F5344CB8AC3E}">
        <p14:creationId xmlns:p14="http://schemas.microsoft.com/office/powerpoint/2010/main" val="2864135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A3926EB-BD52-4AE3-B0C0-D240C7C26208}" type="slidenum">
              <a:rPr lang="en-US" smtClean="0"/>
              <a:pPr>
                <a:defRPr/>
              </a:pPr>
              <a:t>1</a:t>
            </a:fld>
            <a:endParaRPr lang="en-US"/>
          </a:p>
        </p:txBody>
      </p:sp>
    </p:spTree>
    <p:extLst>
      <p:ext uri="{BB962C8B-B14F-4D97-AF65-F5344CB8AC3E}">
        <p14:creationId xmlns:p14="http://schemas.microsoft.com/office/powerpoint/2010/main" val="13092836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Workers Comp- A state-sponsored system that pays monetary benefits to workers who become injured or disabled in the course of their employment. Sick pay may qualify as workers' compensation under certain conditions.</a:t>
            </a:r>
            <a:br>
              <a:rPr lang="en-US" dirty="0" smtClean="0"/>
            </a:br>
            <a:r>
              <a:rPr lang="en-US" dirty="0" smtClean="0"/>
              <a:t>Workers' compensation should not be confused with disability insurance or unemployment income; it only pays workers who are injured on the job, while disability insurance pays out regardless of when or where the insured is injured or disabled. Workers' compensation also does not cover unemployment. Unlike unemployment income or disability benefits, workers' compensation is always tax-free.</a:t>
            </a:r>
            <a:br>
              <a:rPr lang="en-US" dirty="0" smtClean="0"/>
            </a:b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9A3926EB-BD52-4AE3-B0C0-D240C7C26208}" type="slidenum">
              <a:rPr lang="en-US" smtClean="0"/>
              <a:pPr>
                <a:defRPr/>
              </a:pPr>
              <a:t>3</a:t>
            </a:fld>
            <a:endParaRPr lang="en-US"/>
          </a:p>
        </p:txBody>
      </p:sp>
    </p:spTree>
    <p:extLst>
      <p:ext uri="{BB962C8B-B14F-4D97-AF65-F5344CB8AC3E}">
        <p14:creationId xmlns:p14="http://schemas.microsoft.com/office/powerpoint/2010/main" val="3001092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product for employers that protects them from major financial loss if a worker experiences a job-related injury or illness that workers compensation doesn’t cover</a:t>
            </a:r>
            <a:endParaRPr lang="en-US" dirty="0"/>
          </a:p>
        </p:txBody>
      </p:sp>
      <p:sp>
        <p:nvSpPr>
          <p:cNvPr id="4" name="Slide Number Placeholder 3"/>
          <p:cNvSpPr>
            <a:spLocks noGrp="1"/>
          </p:cNvSpPr>
          <p:nvPr>
            <p:ph type="sldNum" sz="quarter" idx="10"/>
          </p:nvPr>
        </p:nvSpPr>
        <p:spPr/>
        <p:txBody>
          <a:bodyPr/>
          <a:lstStyle/>
          <a:p>
            <a:fld id="{3A8B09B2-A27B-4A5D-A229-4AEAE861DCC0}" type="slidenum">
              <a:rPr lang="en-US" smtClean="0"/>
              <a:t>8</a:t>
            </a:fld>
            <a:endParaRPr lang="en-US"/>
          </a:p>
        </p:txBody>
      </p:sp>
    </p:spTree>
    <p:extLst>
      <p:ext uri="{BB962C8B-B14F-4D97-AF65-F5344CB8AC3E}">
        <p14:creationId xmlns:p14="http://schemas.microsoft.com/office/powerpoint/2010/main" val="26058698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Overexertion arises when one lifts, pulls, pushes or throws something, causing injury. This injury occurs when a </a:t>
            </a:r>
            <a:r>
              <a:rPr lang="en-US" u="sng" dirty="0" smtClean="0"/>
              <a:t>muscle is pulled, or a joint is forced to move beyond its typical range of motion</a:t>
            </a:r>
            <a:r>
              <a:rPr lang="en-US" dirty="0" smtClean="0"/>
              <a:t>. This is most commonly seen in </a:t>
            </a:r>
            <a:r>
              <a:rPr lang="en-US" u="sng" dirty="0" smtClean="0"/>
              <a:t>factory jobs, construction jobs, or jobs where physical labor is necessary</a:t>
            </a:r>
            <a:r>
              <a:rPr lang="en-US" dirty="0" smtClean="0"/>
              <a:t>. This is also commonly seen in police officers. This is the most common injury seen in the workplace, according to a study from the Department of Labor.</a:t>
            </a:r>
          </a:p>
          <a:p>
            <a:r>
              <a:rPr lang="en-US" dirty="0" smtClean="0"/>
              <a:t>2) Slip or Trip and Falls</a:t>
            </a:r>
          </a:p>
          <a:p>
            <a:endParaRPr lang="en-US" dirty="0" smtClean="0"/>
          </a:p>
          <a:p>
            <a:r>
              <a:rPr lang="en-US" dirty="0" smtClean="0"/>
              <a:t>Many of the slip, trip, and fall claims arise from </a:t>
            </a:r>
            <a:r>
              <a:rPr lang="en-US" u="sng" dirty="0" smtClean="0"/>
              <a:t>workers slipping on wet floors around the workplace</a:t>
            </a:r>
            <a:r>
              <a:rPr lang="en-US" dirty="0" smtClean="0"/>
              <a:t>. Many of these cases are also related to </a:t>
            </a:r>
            <a:r>
              <a:rPr lang="en-US" u="sng" dirty="0" smtClean="0"/>
              <a:t>individuals slipping and falling on snowy walkways</a:t>
            </a:r>
            <a:r>
              <a:rPr lang="en-US" dirty="0" smtClean="0"/>
              <a:t>. Many </a:t>
            </a:r>
            <a:r>
              <a:rPr lang="en-US" u="sng" dirty="0" smtClean="0"/>
              <a:t>security workers, groundskeepers, and store clerks</a:t>
            </a:r>
            <a:r>
              <a:rPr lang="en-US" dirty="0" smtClean="0"/>
              <a:t> can fall victim to wet floors such as in a store with a freshly mopped floor, or a groundskeeper walking around the perimeter of the building.</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ADE0CBC0-116E-48FC-A0F0-2DB3B092907E}" type="slidenum">
              <a:rPr lang="en-US" smtClean="0"/>
              <a:t>13</a:t>
            </a:fld>
            <a:endParaRPr lang="en-US"/>
          </a:p>
        </p:txBody>
      </p:sp>
    </p:spTree>
    <p:extLst>
      <p:ext uri="{BB962C8B-B14F-4D97-AF65-F5344CB8AC3E}">
        <p14:creationId xmlns:p14="http://schemas.microsoft.com/office/powerpoint/2010/main" val="13487928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8) Machinery Accidents</a:t>
            </a:r>
          </a:p>
          <a:p>
            <a:r>
              <a:rPr lang="en-US" dirty="0" smtClean="0"/>
              <a:t>Machinery accidents are typically reported in cases where large, heavy machinery has injured a worker by crushing or mutilating. Most commonly seen in factories or construction workers, these accidents can have huge medical cost ramifications. Many states have enacted laws that require training for employees before allowing them to operate equipment, along with maintenance requirements for machinery to keep it in a safe working state. Keeping employees knowledgeable on equipment, along with keeping that equipment maintained are two important factors in protecting employees from injury.</a:t>
            </a:r>
          </a:p>
          <a:p>
            <a:r>
              <a:rPr lang="en-US" dirty="0" smtClean="0"/>
              <a:t>9) Repetitive Motion</a:t>
            </a:r>
          </a:p>
          <a:p>
            <a:endParaRPr lang="en-US" dirty="0" smtClean="0"/>
          </a:p>
          <a:p>
            <a:r>
              <a:rPr lang="en-US" dirty="0" smtClean="0"/>
              <a:t>A repetitive injury is hard to pin-point, but is harder to prove. These injuries stem from workers doing the same motions over and over. Some examples of repetitive motion injuries can include using a mouse, sitting, lifting boxes, and working on an assembly line. Medically speaking, common injuries from repetitive or cumulative motions are tendonitis, carpal tunnel, and bursitis.</a:t>
            </a:r>
          </a:p>
          <a:p>
            <a:r>
              <a:rPr lang="en-US" dirty="0" smtClean="0"/>
              <a:t>10) Workplace violence</a:t>
            </a:r>
          </a:p>
          <a:p>
            <a:endParaRPr lang="en-US" dirty="0" smtClean="0"/>
          </a:p>
          <a:p>
            <a:r>
              <a:rPr lang="en-US" dirty="0" smtClean="0"/>
              <a:t>According to preliminary data from the Bureau of Labor Statistics, "375 workers were killed in shootings while on the job in 2012. Robbers were the assailants in 33 percent of the workplace homicides involving shootings in 2012, while coworkers accounted for 13 percent. There were two incidents in 2012 where at least 5 people were killed in workplace shootings; a total of 12 workers died in these two incidents. From 1992 to 2012, 140 government workers were shot and killed by a coworker while on the job." While nobody expects violence in the workplace, it does happen.</a:t>
            </a:r>
          </a:p>
        </p:txBody>
      </p:sp>
      <p:sp>
        <p:nvSpPr>
          <p:cNvPr id="4" name="Slide Number Placeholder 3"/>
          <p:cNvSpPr>
            <a:spLocks noGrp="1"/>
          </p:cNvSpPr>
          <p:nvPr>
            <p:ph type="sldNum" sz="quarter" idx="10"/>
          </p:nvPr>
        </p:nvSpPr>
        <p:spPr/>
        <p:txBody>
          <a:bodyPr/>
          <a:lstStyle/>
          <a:p>
            <a:fld id="{ADE0CBC0-116E-48FC-A0F0-2DB3B092907E}" type="slidenum">
              <a:rPr lang="en-US" smtClean="0"/>
              <a:t>15</a:t>
            </a:fld>
            <a:endParaRPr lang="en-US"/>
          </a:p>
        </p:txBody>
      </p:sp>
    </p:spTree>
    <p:extLst>
      <p:ext uri="{BB962C8B-B14F-4D97-AF65-F5344CB8AC3E}">
        <p14:creationId xmlns:p14="http://schemas.microsoft.com/office/powerpoint/2010/main" val="10861817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68CE7C1-39D0-4CE7-B4F7-C7651A23ADA1}" type="datetimeFigureOut">
              <a:rPr lang="en-US" smtClean="0"/>
              <a:t>7/1/2016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A350A8-C165-4B5A-BAC0-6A9D6A6D7E47}" type="slidenum">
              <a:rPr lang="en-US" smtClean="0"/>
              <a:t>‹#›</a:t>
            </a:fld>
            <a:endParaRPr lang="en-US"/>
          </a:p>
        </p:txBody>
      </p:sp>
    </p:spTree>
    <p:extLst>
      <p:ext uri="{BB962C8B-B14F-4D97-AF65-F5344CB8AC3E}">
        <p14:creationId xmlns:p14="http://schemas.microsoft.com/office/powerpoint/2010/main" val="4089817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68CE7C1-39D0-4CE7-B4F7-C7651A23ADA1}" type="datetimeFigureOut">
              <a:rPr lang="en-US" smtClean="0"/>
              <a:t>7/1/2016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A350A8-C165-4B5A-BAC0-6A9D6A6D7E47}" type="slidenum">
              <a:rPr lang="en-US" smtClean="0"/>
              <a:t>‹#›</a:t>
            </a:fld>
            <a:endParaRPr lang="en-US"/>
          </a:p>
        </p:txBody>
      </p:sp>
    </p:spTree>
    <p:extLst>
      <p:ext uri="{BB962C8B-B14F-4D97-AF65-F5344CB8AC3E}">
        <p14:creationId xmlns:p14="http://schemas.microsoft.com/office/powerpoint/2010/main" val="2436253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68CE7C1-39D0-4CE7-B4F7-C7651A23ADA1}" type="datetimeFigureOut">
              <a:rPr lang="en-US" smtClean="0"/>
              <a:t>7/1/2016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A350A8-C165-4B5A-BAC0-6A9D6A6D7E47}" type="slidenum">
              <a:rPr lang="en-US" smtClean="0"/>
              <a:t>‹#›</a:t>
            </a:fld>
            <a:endParaRPr lang="en-US"/>
          </a:p>
        </p:txBody>
      </p:sp>
    </p:spTree>
    <p:extLst>
      <p:ext uri="{BB962C8B-B14F-4D97-AF65-F5344CB8AC3E}">
        <p14:creationId xmlns:p14="http://schemas.microsoft.com/office/powerpoint/2010/main" val="3392063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68CE7C1-39D0-4CE7-B4F7-C7651A23ADA1}" type="datetimeFigureOut">
              <a:rPr lang="en-US" smtClean="0"/>
              <a:t>7/1/2016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A350A8-C165-4B5A-BAC0-6A9D6A6D7E47}" type="slidenum">
              <a:rPr lang="en-US" smtClean="0"/>
              <a:t>‹#›</a:t>
            </a:fld>
            <a:endParaRPr lang="en-US"/>
          </a:p>
        </p:txBody>
      </p:sp>
    </p:spTree>
    <p:extLst>
      <p:ext uri="{BB962C8B-B14F-4D97-AF65-F5344CB8AC3E}">
        <p14:creationId xmlns:p14="http://schemas.microsoft.com/office/powerpoint/2010/main" val="4172469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68CE7C1-39D0-4CE7-B4F7-C7651A23ADA1}" type="datetimeFigureOut">
              <a:rPr lang="en-US" smtClean="0"/>
              <a:t>7/1/2016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A350A8-C165-4B5A-BAC0-6A9D6A6D7E47}" type="slidenum">
              <a:rPr lang="en-US" smtClean="0"/>
              <a:t>‹#›</a:t>
            </a:fld>
            <a:endParaRPr lang="en-US"/>
          </a:p>
        </p:txBody>
      </p:sp>
    </p:spTree>
    <p:extLst>
      <p:ext uri="{BB962C8B-B14F-4D97-AF65-F5344CB8AC3E}">
        <p14:creationId xmlns:p14="http://schemas.microsoft.com/office/powerpoint/2010/main" val="3510660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68CE7C1-39D0-4CE7-B4F7-C7651A23ADA1}" type="datetimeFigureOut">
              <a:rPr lang="en-US" smtClean="0"/>
              <a:t>7/1/2016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A350A8-C165-4B5A-BAC0-6A9D6A6D7E47}" type="slidenum">
              <a:rPr lang="en-US" smtClean="0"/>
              <a:t>‹#›</a:t>
            </a:fld>
            <a:endParaRPr lang="en-US"/>
          </a:p>
        </p:txBody>
      </p:sp>
    </p:spTree>
    <p:extLst>
      <p:ext uri="{BB962C8B-B14F-4D97-AF65-F5344CB8AC3E}">
        <p14:creationId xmlns:p14="http://schemas.microsoft.com/office/powerpoint/2010/main" val="1284531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8CE7C1-39D0-4CE7-B4F7-C7651A23ADA1}" type="datetimeFigureOut">
              <a:rPr lang="en-US" smtClean="0"/>
              <a:t>7/1/2016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A350A8-C165-4B5A-BAC0-6A9D6A6D7E47}" type="slidenum">
              <a:rPr lang="en-US" smtClean="0"/>
              <a:t>‹#›</a:t>
            </a:fld>
            <a:endParaRPr lang="en-US"/>
          </a:p>
        </p:txBody>
      </p:sp>
    </p:spTree>
    <p:extLst>
      <p:ext uri="{BB962C8B-B14F-4D97-AF65-F5344CB8AC3E}">
        <p14:creationId xmlns:p14="http://schemas.microsoft.com/office/powerpoint/2010/main" val="2908867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8CE7C1-39D0-4CE7-B4F7-C7651A23ADA1}" type="datetimeFigureOut">
              <a:rPr lang="en-US" smtClean="0"/>
              <a:t>7/1/2016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A350A8-C165-4B5A-BAC0-6A9D6A6D7E47}" type="slidenum">
              <a:rPr lang="en-US" smtClean="0"/>
              <a:t>‹#›</a:t>
            </a:fld>
            <a:endParaRPr lang="en-US"/>
          </a:p>
        </p:txBody>
      </p:sp>
    </p:spTree>
    <p:extLst>
      <p:ext uri="{BB962C8B-B14F-4D97-AF65-F5344CB8AC3E}">
        <p14:creationId xmlns:p14="http://schemas.microsoft.com/office/powerpoint/2010/main" val="2778687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8CE7C1-39D0-4CE7-B4F7-C7651A23ADA1}" type="datetimeFigureOut">
              <a:rPr lang="en-US" smtClean="0"/>
              <a:t>7/1/2016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A350A8-C165-4B5A-BAC0-6A9D6A6D7E47}" type="slidenum">
              <a:rPr lang="en-US" smtClean="0"/>
              <a:t>‹#›</a:t>
            </a:fld>
            <a:endParaRPr lang="en-US"/>
          </a:p>
        </p:txBody>
      </p:sp>
    </p:spTree>
    <p:extLst>
      <p:ext uri="{BB962C8B-B14F-4D97-AF65-F5344CB8AC3E}">
        <p14:creationId xmlns:p14="http://schemas.microsoft.com/office/powerpoint/2010/main" val="3460073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68CE7C1-39D0-4CE7-B4F7-C7651A23ADA1}" type="datetimeFigureOut">
              <a:rPr lang="en-US" smtClean="0"/>
              <a:t>7/1/2016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A350A8-C165-4B5A-BAC0-6A9D6A6D7E47}" type="slidenum">
              <a:rPr lang="en-US" smtClean="0"/>
              <a:t>‹#›</a:t>
            </a:fld>
            <a:endParaRPr lang="en-US"/>
          </a:p>
        </p:txBody>
      </p:sp>
    </p:spTree>
    <p:extLst>
      <p:ext uri="{BB962C8B-B14F-4D97-AF65-F5344CB8AC3E}">
        <p14:creationId xmlns:p14="http://schemas.microsoft.com/office/powerpoint/2010/main" val="182083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68CE7C1-39D0-4CE7-B4F7-C7651A23ADA1}" type="datetimeFigureOut">
              <a:rPr lang="en-US" smtClean="0"/>
              <a:t>7/1/2016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A350A8-C165-4B5A-BAC0-6A9D6A6D7E47}" type="slidenum">
              <a:rPr lang="en-US" smtClean="0"/>
              <a:t>‹#›</a:t>
            </a:fld>
            <a:endParaRPr lang="en-US"/>
          </a:p>
        </p:txBody>
      </p:sp>
    </p:spTree>
    <p:extLst>
      <p:ext uri="{BB962C8B-B14F-4D97-AF65-F5344CB8AC3E}">
        <p14:creationId xmlns:p14="http://schemas.microsoft.com/office/powerpoint/2010/main" val="1811121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2" name="Rectangle 62"/>
          <p:cNvSpPr>
            <a:spLocks noChangeArrowheads="1"/>
          </p:cNvSpPr>
          <p:nvPr userDrawn="1"/>
        </p:nvSpPr>
        <p:spPr bwMode="auto">
          <a:xfrm>
            <a:off x="0" y="0"/>
            <a:ext cx="9855200" cy="762000"/>
          </a:xfrm>
          <a:prstGeom prst="rect">
            <a:avLst/>
          </a:prstGeom>
          <a:solidFill>
            <a:srgbClr val="5F5F5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sp>
        <p:nvSpPr>
          <p:cNvPr id="3" name="Rectangle 63"/>
          <p:cNvSpPr>
            <a:spLocks noChangeArrowheads="1"/>
          </p:cNvSpPr>
          <p:nvPr userDrawn="1"/>
        </p:nvSpPr>
        <p:spPr bwMode="auto">
          <a:xfrm>
            <a:off x="8534400" y="0"/>
            <a:ext cx="13208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sp>
        <p:nvSpPr>
          <p:cNvPr id="4" name="Rectangle 64"/>
          <p:cNvSpPr>
            <a:spLocks noChangeArrowheads="1"/>
          </p:cNvSpPr>
          <p:nvPr userDrawn="1"/>
        </p:nvSpPr>
        <p:spPr bwMode="auto">
          <a:xfrm>
            <a:off x="11684000" y="0"/>
            <a:ext cx="508000" cy="76358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sp>
        <p:nvSpPr>
          <p:cNvPr id="5" name="Rectangle 65"/>
          <p:cNvSpPr>
            <a:spLocks noChangeArrowheads="1"/>
          </p:cNvSpPr>
          <p:nvPr userDrawn="1"/>
        </p:nvSpPr>
        <p:spPr bwMode="auto">
          <a:xfrm>
            <a:off x="9042400" y="0"/>
            <a:ext cx="406400" cy="763588"/>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pic>
        <p:nvPicPr>
          <p:cNvPr id="6"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956800" y="0"/>
            <a:ext cx="1534584"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sp>
        <p:nvSpPr>
          <p:cNvPr id="7" name="Rectangle 67"/>
          <p:cNvSpPr>
            <a:spLocks noChangeArrowheads="1"/>
          </p:cNvSpPr>
          <p:nvPr userDrawn="1"/>
        </p:nvSpPr>
        <p:spPr bwMode="auto">
          <a:xfrm>
            <a:off x="0" y="762000"/>
            <a:ext cx="12192000" cy="76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sp>
        <p:nvSpPr>
          <p:cNvPr id="8" name="Text Box 46"/>
          <p:cNvSpPr txBox="1">
            <a:spLocks noChangeArrowheads="1"/>
          </p:cNvSpPr>
          <p:nvPr userDrawn="1"/>
        </p:nvSpPr>
        <p:spPr bwMode="auto">
          <a:xfrm>
            <a:off x="0" y="6553200"/>
            <a:ext cx="12090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en-US" sz="900" smtClean="0">
                <a:solidFill>
                  <a:srgbClr val="5F5F5F"/>
                </a:solidFill>
                <a:latin typeface="Arial Narrow" panose="020B0606020202030204" pitchFamily="34" charset="0"/>
              </a:rPr>
              <a:t>NOTE: All information contained herein is Proprietary &amp; Confidential material of ValueMomentum Inc. All rights are reserved.</a:t>
            </a:r>
          </a:p>
        </p:txBody>
      </p:sp>
      <p:sp>
        <p:nvSpPr>
          <p:cNvPr id="9" name="Rectangle 63"/>
          <p:cNvSpPr>
            <a:spLocks noChangeArrowheads="1"/>
          </p:cNvSpPr>
          <p:nvPr userDrawn="1"/>
        </p:nvSpPr>
        <p:spPr bwMode="auto">
          <a:xfrm>
            <a:off x="11684000" y="0"/>
            <a:ext cx="1016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spTree>
    <p:extLst>
      <p:ext uri="{BB962C8B-B14F-4D97-AF65-F5344CB8AC3E}">
        <p14:creationId xmlns:p14="http://schemas.microsoft.com/office/powerpoint/2010/main" val="2323102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2" name="Rectangle 62"/>
          <p:cNvSpPr>
            <a:spLocks noChangeArrowheads="1"/>
          </p:cNvSpPr>
          <p:nvPr userDrawn="1"/>
        </p:nvSpPr>
        <p:spPr bwMode="auto">
          <a:xfrm>
            <a:off x="0" y="0"/>
            <a:ext cx="9855200" cy="762000"/>
          </a:xfrm>
          <a:prstGeom prst="rect">
            <a:avLst/>
          </a:prstGeom>
          <a:solidFill>
            <a:srgbClr val="5F5F5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sp>
        <p:nvSpPr>
          <p:cNvPr id="3" name="Rectangle 63"/>
          <p:cNvSpPr>
            <a:spLocks noChangeArrowheads="1"/>
          </p:cNvSpPr>
          <p:nvPr userDrawn="1"/>
        </p:nvSpPr>
        <p:spPr bwMode="auto">
          <a:xfrm>
            <a:off x="8534400" y="0"/>
            <a:ext cx="13208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sp>
        <p:nvSpPr>
          <p:cNvPr id="4" name="Rectangle 64"/>
          <p:cNvSpPr>
            <a:spLocks noChangeArrowheads="1"/>
          </p:cNvSpPr>
          <p:nvPr userDrawn="1"/>
        </p:nvSpPr>
        <p:spPr bwMode="auto">
          <a:xfrm>
            <a:off x="11684000" y="0"/>
            <a:ext cx="508000" cy="76358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sp>
        <p:nvSpPr>
          <p:cNvPr id="5" name="Rectangle 65"/>
          <p:cNvSpPr>
            <a:spLocks noChangeArrowheads="1"/>
          </p:cNvSpPr>
          <p:nvPr userDrawn="1"/>
        </p:nvSpPr>
        <p:spPr bwMode="auto">
          <a:xfrm>
            <a:off x="9042400" y="0"/>
            <a:ext cx="406400" cy="763588"/>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pic>
        <p:nvPicPr>
          <p:cNvPr id="6"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956800" y="0"/>
            <a:ext cx="1534584"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sp>
        <p:nvSpPr>
          <p:cNvPr id="7" name="Rectangle 67"/>
          <p:cNvSpPr>
            <a:spLocks noChangeArrowheads="1"/>
          </p:cNvSpPr>
          <p:nvPr userDrawn="1"/>
        </p:nvSpPr>
        <p:spPr bwMode="auto">
          <a:xfrm>
            <a:off x="0" y="762000"/>
            <a:ext cx="12192000" cy="76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sp>
        <p:nvSpPr>
          <p:cNvPr id="8" name="Text Box 46"/>
          <p:cNvSpPr txBox="1">
            <a:spLocks noChangeArrowheads="1"/>
          </p:cNvSpPr>
          <p:nvPr userDrawn="1"/>
        </p:nvSpPr>
        <p:spPr bwMode="auto">
          <a:xfrm>
            <a:off x="0" y="6553200"/>
            <a:ext cx="12090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en-US" sz="900" smtClean="0">
                <a:solidFill>
                  <a:srgbClr val="5F5F5F"/>
                </a:solidFill>
                <a:latin typeface="Arial Narrow" panose="020B0606020202030204" pitchFamily="34" charset="0"/>
              </a:rPr>
              <a:t>NOTE: All information contained herein is Proprietary &amp; Confidential material of ValueMomentum Inc. All rights are reserved.</a:t>
            </a:r>
          </a:p>
        </p:txBody>
      </p:sp>
      <p:sp>
        <p:nvSpPr>
          <p:cNvPr id="9" name="Rectangle 63"/>
          <p:cNvSpPr>
            <a:spLocks noChangeArrowheads="1"/>
          </p:cNvSpPr>
          <p:nvPr userDrawn="1"/>
        </p:nvSpPr>
        <p:spPr bwMode="auto">
          <a:xfrm>
            <a:off x="11684000" y="0"/>
            <a:ext cx="1016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spTree>
    <p:extLst>
      <p:ext uri="{BB962C8B-B14F-4D97-AF65-F5344CB8AC3E}">
        <p14:creationId xmlns:p14="http://schemas.microsoft.com/office/powerpoint/2010/main" val="11207676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Rectangle 62"/>
          <p:cNvSpPr>
            <a:spLocks noChangeArrowheads="1"/>
          </p:cNvSpPr>
          <p:nvPr userDrawn="1"/>
        </p:nvSpPr>
        <p:spPr bwMode="auto">
          <a:xfrm>
            <a:off x="0" y="0"/>
            <a:ext cx="9855200" cy="762000"/>
          </a:xfrm>
          <a:prstGeom prst="rect">
            <a:avLst/>
          </a:prstGeom>
          <a:solidFill>
            <a:srgbClr val="5F5F5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sp>
        <p:nvSpPr>
          <p:cNvPr id="3" name="Rectangle 63"/>
          <p:cNvSpPr>
            <a:spLocks noChangeArrowheads="1"/>
          </p:cNvSpPr>
          <p:nvPr userDrawn="1"/>
        </p:nvSpPr>
        <p:spPr bwMode="auto">
          <a:xfrm>
            <a:off x="8534400" y="0"/>
            <a:ext cx="13208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sp>
        <p:nvSpPr>
          <p:cNvPr id="4" name="Rectangle 64"/>
          <p:cNvSpPr>
            <a:spLocks noChangeArrowheads="1"/>
          </p:cNvSpPr>
          <p:nvPr userDrawn="1"/>
        </p:nvSpPr>
        <p:spPr bwMode="auto">
          <a:xfrm>
            <a:off x="11684000" y="0"/>
            <a:ext cx="508000" cy="763588"/>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sp>
        <p:nvSpPr>
          <p:cNvPr id="5" name="Rectangle 65"/>
          <p:cNvSpPr>
            <a:spLocks noChangeArrowheads="1"/>
          </p:cNvSpPr>
          <p:nvPr userDrawn="1"/>
        </p:nvSpPr>
        <p:spPr bwMode="auto">
          <a:xfrm>
            <a:off x="9042400" y="0"/>
            <a:ext cx="406400" cy="763588"/>
          </a:xfrm>
          <a:prstGeom prst="rect">
            <a:avLst/>
          </a:prstGeom>
          <a:solidFill>
            <a:srgbClr val="A5002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pic>
        <p:nvPicPr>
          <p:cNvPr id="6" name="Picture 3"/>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956800" y="0"/>
            <a:ext cx="1534584"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pic>
      <p:sp>
        <p:nvSpPr>
          <p:cNvPr id="7" name="Rectangle 67"/>
          <p:cNvSpPr>
            <a:spLocks noChangeArrowheads="1"/>
          </p:cNvSpPr>
          <p:nvPr userDrawn="1"/>
        </p:nvSpPr>
        <p:spPr bwMode="auto">
          <a:xfrm>
            <a:off x="0" y="762000"/>
            <a:ext cx="12192000" cy="76200"/>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sp>
        <p:nvSpPr>
          <p:cNvPr id="8" name="Text Box 46"/>
          <p:cNvSpPr txBox="1">
            <a:spLocks noChangeArrowheads="1"/>
          </p:cNvSpPr>
          <p:nvPr userDrawn="1"/>
        </p:nvSpPr>
        <p:spPr bwMode="auto">
          <a:xfrm>
            <a:off x="0" y="6553200"/>
            <a:ext cx="120904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en-US" sz="900" smtClean="0">
                <a:solidFill>
                  <a:srgbClr val="5F5F5F"/>
                </a:solidFill>
                <a:latin typeface="Arial Narrow" panose="020B0606020202030204" pitchFamily="34" charset="0"/>
              </a:rPr>
              <a:t>NOTE: All information contained herein is Proprietary &amp; Confidential material of ValueMomentum Inc. All rights are reserved.</a:t>
            </a:r>
          </a:p>
        </p:txBody>
      </p:sp>
      <p:sp>
        <p:nvSpPr>
          <p:cNvPr id="9" name="Rectangle 63"/>
          <p:cNvSpPr>
            <a:spLocks noChangeArrowheads="1"/>
          </p:cNvSpPr>
          <p:nvPr userDrawn="1"/>
        </p:nvSpPr>
        <p:spPr bwMode="auto">
          <a:xfrm>
            <a:off x="11684000" y="0"/>
            <a:ext cx="101600" cy="76358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800" smtClean="0">
              <a:latin typeface="Calibri" panose="020F0502020204030204" pitchFamily="34" charset="0"/>
            </a:endParaRPr>
          </a:p>
        </p:txBody>
      </p:sp>
    </p:spTree>
    <p:extLst>
      <p:ext uri="{BB962C8B-B14F-4D97-AF65-F5344CB8AC3E}">
        <p14:creationId xmlns:p14="http://schemas.microsoft.com/office/powerpoint/2010/main" val="1605111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7" name="Rectangle 62"/>
          <p:cNvSpPr>
            <a:spLocks noChangeArrowheads="1"/>
          </p:cNvSpPr>
          <p:nvPr userDrawn="1"/>
        </p:nvSpPr>
        <p:spPr bwMode="auto">
          <a:xfrm>
            <a:off x="0" y="2"/>
            <a:ext cx="9855200" cy="761999"/>
          </a:xfrm>
          <a:prstGeom prst="rect">
            <a:avLst/>
          </a:prstGeom>
          <a:solidFill>
            <a:srgbClr val="5F5F5F"/>
          </a:solidFill>
          <a:ln w="9525">
            <a:noFill/>
            <a:miter lim="800000"/>
            <a:headEnd/>
            <a:tailEnd/>
          </a:ln>
        </p:spPr>
        <p:txBody>
          <a:bodyPr wrap="none" anchor="ctr"/>
          <a:lstStyle/>
          <a:p>
            <a:pPr>
              <a:defRPr/>
            </a:pPr>
            <a:endParaRPr lang="en-US" sz="1800"/>
          </a:p>
        </p:txBody>
      </p:sp>
      <p:sp>
        <p:nvSpPr>
          <p:cNvPr id="8" name="Rectangle 63"/>
          <p:cNvSpPr>
            <a:spLocks noChangeArrowheads="1"/>
          </p:cNvSpPr>
          <p:nvPr userDrawn="1"/>
        </p:nvSpPr>
        <p:spPr bwMode="auto">
          <a:xfrm>
            <a:off x="8534400" y="0"/>
            <a:ext cx="1320800" cy="763546"/>
          </a:xfrm>
          <a:prstGeom prst="rect">
            <a:avLst/>
          </a:prstGeom>
          <a:solidFill>
            <a:srgbClr val="CC0000"/>
          </a:solidFill>
          <a:ln w="9525">
            <a:noFill/>
            <a:miter lim="800000"/>
            <a:headEnd/>
            <a:tailEnd/>
          </a:ln>
        </p:spPr>
        <p:txBody>
          <a:bodyPr wrap="none" anchor="ctr"/>
          <a:lstStyle/>
          <a:p>
            <a:pPr>
              <a:defRPr/>
            </a:pPr>
            <a:endParaRPr lang="en-US" sz="1800"/>
          </a:p>
        </p:txBody>
      </p:sp>
      <p:sp>
        <p:nvSpPr>
          <p:cNvPr id="9" name="Rectangle 64"/>
          <p:cNvSpPr>
            <a:spLocks noChangeArrowheads="1"/>
          </p:cNvSpPr>
          <p:nvPr userDrawn="1"/>
        </p:nvSpPr>
        <p:spPr bwMode="auto">
          <a:xfrm>
            <a:off x="11684000" y="0"/>
            <a:ext cx="508000" cy="763546"/>
          </a:xfrm>
          <a:prstGeom prst="rect">
            <a:avLst/>
          </a:prstGeom>
          <a:solidFill>
            <a:srgbClr val="969696"/>
          </a:solidFill>
          <a:ln w="9525">
            <a:noFill/>
            <a:miter lim="800000"/>
            <a:headEnd/>
            <a:tailEnd/>
          </a:ln>
        </p:spPr>
        <p:txBody>
          <a:bodyPr wrap="none" anchor="ctr"/>
          <a:lstStyle/>
          <a:p>
            <a:pPr>
              <a:defRPr/>
            </a:pPr>
            <a:endParaRPr lang="en-US" sz="1800"/>
          </a:p>
        </p:txBody>
      </p:sp>
      <p:sp>
        <p:nvSpPr>
          <p:cNvPr id="10" name="Rectangle 65"/>
          <p:cNvSpPr>
            <a:spLocks noChangeArrowheads="1"/>
          </p:cNvSpPr>
          <p:nvPr userDrawn="1"/>
        </p:nvSpPr>
        <p:spPr bwMode="auto">
          <a:xfrm>
            <a:off x="9042400" y="0"/>
            <a:ext cx="406400" cy="763546"/>
          </a:xfrm>
          <a:prstGeom prst="rect">
            <a:avLst/>
          </a:prstGeom>
          <a:solidFill>
            <a:srgbClr val="A50021"/>
          </a:solidFill>
          <a:ln w="9525">
            <a:noFill/>
            <a:miter lim="800000"/>
            <a:headEnd/>
            <a:tailEnd/>
          </a:ln>
        </p:spPr>
        <p:txBody>
          <a:bodyPr wrap="none" anchor="ctr"/>
          <a:lstStyle/>
          <a:p>
            <a:pPr>
              <a:defRPr/>
            </a:pPr>
            <a:endParaRPr lang="en-US" sz="1800"/>
          </a:p>
        </p:txBody>
      </p:sp>
      <p:pic>
        <p:nvPicPr>
          <p:cNvPr id="12" name="Picture 3"/>
          <p:cNvPicPr>
            <a:picLocks noChangeAspect="1" noChangeArrowheads="1"/>
          </p:cNvPicPr>
          <p:nvPr userDrawn="1"/>
        </p:nvPicPr>
        <p:blipFill>
          <a:blip r:embed="rId2" cstate="print"/>
          <a:srcRect/>
          <a:stretch>
            <a:fillRect/>
          </a:stretch>
        </p:blipFill>
        <p:spPr bwMode="auto">
          <a:xfrm>
            <a:off x="9956801" y="0"/>
            <a:ext cx="1533969" cy="783124"/>
          </a:xfrm>
          <a:prstGeom prst="rect">
            <a:avLst/>
          </a:prstGeom>
          <a:noFill/>
          <a:ln w="6350" algn="ctr">
            <a:noFill/>
            <a:miter lim="800000"/>
            <a:headEnd/>
            <a:tailEnd/>
          </a:ln>
        </p:spPr>
      </p:pic>
      <p:sp>
        <p:nvSpPr>
          <p:cNvPr id="13" name="Rectangle 67"/>
          <p:cNvSpPr>
            <a:spLocks noChangeArrowheads="1"/>
          </p:cNvSpPr>
          <p:nvPr userDrawn="1"/>
        </p:nvSpPr>
        <p:spPr bwMode="auto">
          <a:xfrm>
            <a:off x="0" y="762000"/>
            <a:ext cx="12192000" cy="76200"/>
          </a:xfrm>
          <a:prstGeom prst="rect">
            <a:avLst/>
          </a:prstGeom>
          <a:solidFill>
            <a:srgbClr val="000000"/>
          </a:solidFill>
          <a:ln w="9525">
            <a:noFill/>
            <a:miter lim="800000"/>
            <a:headEnd/>
            <a:tailEnd/>
          </a:ln>
        </p:spPr>
        <p:txBody>
          <a:bodyPr wrap="none" anchor="ctr"/>
          <a:lstStyle/>
          <a:p>
            <a:pPr>
              <a:defRPr/>
            </a:pPr>
            <a:endParaRPr lang="en-US" sz="1800"/>
          </a:p>
        </p:txBody>
      </p:sp>
      <p:sp>
        <p:nvSpPr>
          <p:cNvPr id="14" name="Text Box 46"/>
          <p:cNvSpPr txBox="1">
            <a:spLocks noChangeArrowheads="1"/>
          </p:cNvSpPr>
          <p:nvPr userDrawn="1"/>
        </p:nvSpPr>
        <p:spPr bwMode="auto">
          <a:xfrm>
            <a:off x="0" y="6629400"/>
            <a:ext cx="12090400" cy="228600"/>
          </a:xfrm>
          <a:prstGeom prst="rect">
            <a:avLst/>
          </a:prstGeom>
          <a:noFill/>
          <a:ln w="9525">
            <a:noFill/>
            <a:miter lim="800000"/>
            <a:headEnd/>
            <a:tailEnd/>
          </a:ln>
        </p:spPr>
        <p:txBody>
          <a:bodyPr>
            <a:spAutoFit/>
          </a:bodyPr>
          <a:lstStyle/>
          <a:p>
            <a:pPr algn="l" eaLnBrk="0" hangingPunct="0">
              <a:defRPr/>
            </a:pPr>
            <a:r>
              <a:rPr lang="en-US" altLang="en-US" sz="900" u="none" dirty="0">
                <a:solidFill>
                  <a:srgbClr val="5F5F5F"/>
                </a:solidFill>
                <a:latin typeface="Arial Narrow" pitchFamily="34" charset="0"/>
              </a:rPr>
              <a:t>NOTE: All information contained herein is Proprietary &amp; Confidential material of ValueMomentum Inc. All rights are reserved.</a:t>
            </a:r>
          </a:p>
        </p:txBody>
      </p:sp>
      <p:sp>
        <p:nvSpPr>
          <p:cNvPr id="15" name="Rectangle 63"/>
          <p:cNvSpPr>
            <a:spLocks noChangeArrowheads="1"/>
          </p:cNvSpPr>
          <p:nvPr userDrawn="1"/>
        </p:nvSpPr>
        <p:spPr bwMode="auto">
          <a:xfrm>
            <a:off x="11684000" y="0"/>
            <a:ext cx="101600" cy="763546"/>
          </a:xfrm>
          <a:prstGeom prst="rect">
            <a:avLst/>
          </a:prstGeom>
          <a:solidFill>
            <a:srgbClr val="CC0000"/>
          </a:solidFill>
          <a:ln w="9525">
            <a:noFill/>
            <a:miter lim="800000"/>
            <a:headEnd/>
            <a:tailEnd/>
          </a:ln>
        </p:spPr>
        <p:txBody>
          <a:bodyPr wrap="none" anchor="ctr"/>
          <a:lstStyle/>
          <a:p>
            <a:pPr>
              <a:defRPr/>
            </a:pPr>
            <a:endParaRPr lang="en-US" sz="1800"/>
          </a:p>
        </p:txBody>
      </p:sp>
    </p:spTree>
    <p:extLst>
      <p:ext uri="{BB962C8B-B14F-4D97-AF65-F5344CB8AC3E}">
        <p14:creationId xmlns:p14="http://schemas.microsoft.com/office/powerpoint/2010/main" val="9196840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98552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sz="1800" dirty="0">
              <a:latin typeface="+mn-lt"/>
            </a:endParaRPr>
          </a:p>
        </p:txBody>
      </p:sp>
      <p:sp>
        <p:nvSpPr>
          <p:cNvPr id="9" name="Rectangle 63"/>
          <p:cNvSpPr>
            <a:spLocks noChangeArrowheads="1"/>
          </p:cNvSpPr>
          <p:nvPr userDrawn="1"/>
        </p:nvSpPr>
        <p:spPr bwMode="auto">
          <a:xfrm>
            <a:off x="8534400" y="0"/>
            <a:ext cx="13208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sz="1800" dirty="0">
              <a:latin typeface="+mn-lt"/>
            </a:endParaRPr>
          </a:p>
        </p:txBody>
      </p:sp>
      <p:sp>
        <p:nvSpPr>
          <p:cNvPr id="10" name="Rectangle 64"/>
          <p:cNvSpPr>
            <a:spLocks noChangeArrowheads="1"/>
          </p:cNvSpPr>
          <p:nvPr userDrawn="1"/>
        </p:nvSpPr>
        <p:spPr bwMode="auto">
          <a:xfrm>
            <a:off x="11684000" y="0"/>
            <a:ext cx="508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sz="1800" dirty="0">
              <a:latin typeface="+mn-lt"/>
            </a:endParaRPr>
          </a:p>
        </p:txBody>
      </p:sp>
      <p:sp>
        <p:nvSpPr>
          <p:cNvPr id="11" name="Rectangle 65"/>
          <p:cNvSpPr>
            <a:spLocks noChangeArrowheads="1"/>
          </p:cNvSpPr>
          <p:nvPr userDrawn="1"/>
        </p:nvSpPr>
        <p:spPr bwMode="auto">
          <a:xfrm>
            <a:off x="9042400" y="0"/>
            <a:ext cx="4064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sz="1800" dirty="0">
              <a:latin typeface="+mn-lt"/>
            </a:endParaRPr>
          </a:p>
        </p:txBody>
      </p:sp>
      <p:sp>
        <p:nvSpPr>
          <p:cNvPr id="12" name="Rectangle 67"/>
          <p:cNvSpPr>
            <a:spLocks noChangeArrowheads="1"/>
          </p:cNvSpPr>
          <p:nvPr userDrawn="1"/>
        </p:nvSpPr>
        <p:spPr bwMode="auto">
          <a:xfrm>
            <a:off x="0" y="762000"/>
            <a:ext cx="12192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sz="1800" dirty="0">
              <a:latin typeface="+mn-lt"/>
            </a:endParaRPr>
          </a:p>
        </p:txBody>
      </p:sp>
      <p:sp>
        <p:nvSpPr>
          <p:cNvPr id="13" name="Text Box 46"/>
          <p:cNvSpPr txBox="1">
            <a:spLocks noChangeArrowheads="1"/>
          </p:cNvSpPr>
          <p:nvPr userDrawn="1"/>
        </p:nvSpPr>
        <p:spPr bwMode="auto">
          <a:xfrm>
            <a:off x="2387600" y="6627168"/>
            <a:ext cx="74168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11684000" y="0"/>
            <a:ext cx="101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sz="1800"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9855200" y="-65926"/>
            <a:ext cx="1828800" cy="887774"/>
          </a:xfrm>
          <a:prstGeom prst="rect">
            <a:avLst/>
          </a:prstGeom>
        </p:spPr>
      </p:pic>
    </p:spTree>
    <p:extLst>
      <p:ext uri="{BB962C8B-B14F-4D97-AF65-F5344CB8AC3E}">
        <p14:creationId xmlns:p14="http://schemas.microsoft.com/office/powerpoint/2010/main" val="6085993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98552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sz="1800" dirty="0">
              <a:latin typeface="+mn-lt"/>
            </a:endParaRPr>
          </a:p>
        </p:txBody>
      </p:sp>
      <p:sp>
        <p:nvSpPr>
          <p:cNvPr id="9" name="Rectangle 63"/>
          <p:cNvSpPr>
            <a:spLocks noChangeArrowheads="1"/>
          </p:cNvSpPr>
          <p:nvPr userDrawn="1"/>
        </p:nvSpPr>
        <p:spPr bwMode="auto">
          <a:xfrm>
            <a:off x="8534400" y="0"/>
            <a:ext cx="13208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sz="1800" dirty="0">
              <a:latin typeface="+mn-lt"/>
            </a:endParaRPr>
          </a:p>
        </p:txBody>
      </p:sp>
      <p:sp>
        <p:nvSpPr>
          <p:cNvPr id="10" name="Rectangle 64"/>
          <p:cNvSpPr>
            <a:spLocks noChangeArrowheads="1"/>
          </p:cNvSpPr>
          <p:nvPr userDrawn="1"/>
        </p:nvSpPr>
        <p:spPr bwMode="auto">
          <a:xfrm>
            <a:off x="11684000" y="0"/>
            <a:ext cx="508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sz="1800" dirty="0">
              <a:latin typeface="+mn-lt"/>
            </a:endParaRPr>
          </a:p>
        </p:txBody>
      </p:sp>
      <p:sp>
        <p:nvSpPr>
          <p:cNvPr id="11" name="Rectangle 65"/>
          <p:cNvSpPr>
            <a:spLocks noChangeArrowheads="1"/>
          </p:cNvSpPr>
          <p:nvPr userDrawn="1"/>
        </p:nvSpPr>
        <p:spPr bwMode="auto">
          <a:xfrm>
            <a:off x="9042400" y="0"/>
            <a:ext cx="4064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sz="1800" dirty="0">
              <a:latin typeface="+mn-lt"/>
            </a:endParaRPr>
          </a:p>
        </p:txBody>
      </p:sp>
      <p:sp>
        <p:nvSpPr>
          <p:cNvPr id="12" name="Rectangle 67"/>
          <p:cNvSpPr>
            <a:spLocks noChangeArrowheads="1"/>
          </p:cNvSpPr>
          <p:nvPr userDrawn="1"/>
        </p:nvSpPr>
        <p:spPr bwMode="auto">
          <a:xfrm>
            <a:off x="0" y="762000"/>
            <a:ext cx="12192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sz="1800" dirty="0">
              <a:latin typeface="+mn-lt"/>
            </a:endParaRPr>
          </a:p>
        </p:txBody>
      </p:sp>
      <p:sp>
        <p:nvSpPr>
          <p:cNvPr id="13" name="Text Box 46"/>
          <p:cNvSpPr txBox="1">
            <a:spLocks noChangeArrowheads="1"/>
          </p:cNvSpPr>
          <p:nvPr userDrawn="1"/>
        </p:nvSpPr>
        <p:spPr bwMode="auto">
          <a:xfrm>
            <a:off x="2387600" y="6627168"/>
            <a:ext cx="74168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11684000" y="0"/>
            <a:ext cx="101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sz="1800"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9855200" y="-65926"/>
            <a:ext cx="1828800" cy="887774"/>
          </a:xfrm>
          <a:prstGeom prst="rect">
            <a:avLst/>
          </a:prstGeom>
        </p:spPr>
      </p:pic>
    </p:spTree>
    <p:extLst>
      <p:ext uri="{BB962C8B-B14F-4D97-AF65-F5344CB8AC3E}">
        <p14:creationId xmlns:p14="http://schemas.microsoft.com/office/powerpoint/2010/main" val="19422724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8" name="Rectangle 62"/>
          <p:cNvSpPr>
            <a:spLocks noChangeArrowheads="1"/>
          </p:cNvSpPr>
          <p:nvPr userDrawn="1"/>
        </p:nvSpPr>
        <p:spPr bwMode="auto">
          <a:xfrm>
            <a:off x="0" y="0"/>
            <a:ext cx="9855200" cy="762000"/>
          </a:xfrm>
          <a:prstGeom prst="rect">
            <a:avLst/>
          </a:prstGeom>
          <a:solidFill>
            <a:srgbClr val="5F5F5F"/>
          </a:solidFill>
          <a:ln w="9525">
            <a:noFill/>
            <a:miter lim="800000"/>
            <a:headEnd/>
            <a:tailEnd/>
          </a:ln>
        </p:spPr>
        <p:txBody>
          <a:bodyPr wrap="none" anchor="ctr"/>
          <a:lstStyle/>
          <a:p>
            <a:pPr fontAlgn="auto">
              <a:spcBef>
                <a:spcPts val="0"/>
              </a:spcBef>
              <a:spcAft>
                <a:spcPts val="0"/>
              </a:spcAft>
              <a:defRPr/>
            </a:pPr>
            <a:endParaRPr lang="en-US" sz="1800" dirty="0">
              <a:latin typeface="+mn-lt"/>
            </a:endParaRPr>
          </a:p>
        </p:txBody>
      </p:sp>
      <p:sp>
        <p:nvSpPr>
          <p:cNvPr id="9" name="Rectangle 63"/>
          <p:cNvSpPr>
            <a:spLocks noChangeArrowheads="1"/>
          </p:cNvSpPr>
          <p:nvPr userDrawn="1"/>
        </p:nvSpPr>
        <p:spPr bwMode="auto">
          <a:xfrm>
            <a:off x="8534400" y="0"/>
            <a:ext cx="13208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sz="1800" dirty="0">
              <a:latin typeface="+mn-lt"/>
            </a:endParaRPr>
          </a:p>
        </p:txBody>
      </p:sp>
      <p:sp>
        <p:nvSpPr>
          <p:cNvPr id="10" name="Rectangle 64"/>
          <p:cNvSpPr>
            <a:spLocks noChangeArrowheads="1"/>
          </p:cNvSpPr>
          <p:nvPr userDrawn="1"/>
        </p:nvSpPr>
        <p:spPr bwMode="auto">
          <a:xfrm>
            <a:off x="11684000" y="0"/>
            <a:ext cx="508000" cy="763588"/>
          </a:xfrm>
          <a:prstGeom prst="rect">
            <a:avLst/>
          </a:prstGeom>
          <a:solidFill>
            <a:srgbClr val="969696"/>
          </a:solidFill>
          <a:ln w="9525">
            <a:noFill/>
            <a:miter lim="800000"/>
            <a:headEnd/>
            <a:tailEnd/>
          </a:ln>
        </p:spPr>
        <p:txBody>
          <a:bodyPr wrap="none" anchor="ctr"/>
          <a:lstStyle/>
          <a:p>
            <a:pPr fontAlgn="auto">
              <a:spcBef>
                <a:spcPts val="0"/>
              </a:spcBef>
              <a:spcAft>
                <a:spcPts val="0"/>
              </a:spcAft>
              <a:defRPr/>
            </a:pPr>
            <a:endParaRPr lang="en-US" sz="1800" dirty="0">
              <a:latin typeface="+mn-lt"/>
            </a:endParaRPr>
          </a:p>
        </p:txBody>
      </p:sp>
      <p:sp>
        <p:nvSpPr>
          <p:cNvPr id="11" name="Rectangle 65"/>
          <p:cNvSpPr>
            <a:spLocks noChangeArrowheads="1"/>
          </p:cNvSpPr>
          <p:nvPr userDrawn="1"/>
        </p:nvSpPr>
        <p:spPr bwMode="auto">
          <a:xfrm>
            <a:off x="9042400" y="0"/>
            <a:ext cx="406400" cy="763588"/>
          </a:xfrm>
          <a:prstGeom prst="rect">
            <a:avLst/>
          </a:prstGeom>
          <a:solidFill>
            <a:srgbClr val="A50021"/>
          </a:solidFill>
          <a:ln w="9525">
            <a:noFill/>
            <a:miter lim="800000"/>
            <a:headEnd/>
            <a:tailEnd/>
          </a:ln>
        </p:spPr>
        <p:txBody>
          <a:bodyPr wrap="none" anchor="ctr"/>
          <a:lstStyle/>
          <a:p>
            <a:pPr fontAlgn="auto">
              <a:spcBef>
                <a:spcPts val="0"/>
              </a:spcBef>
              <a:spcAft>
                <a:spcPts val="0"/>
              </a:spcAft>
              <a:defRPr/>
            </a:pPr>
            <a:endParaRPr lang="en-US" sz="1800" dirty="0">
              <a:latin typeface="+mn-lt"/>
            </a:endParaRPr>
          </a:p>
        </p:txBody>
      </p:sp>
      <p:sp>
        <p:nvSpPr>
          <p:cNvPr id="12" name="Rectangle 67"/>
          <p:cNvSpPr>
            <a:spLocks noChangeArrowheads="1"/>
          </p:cNvSpPr>
          <p:nvPr userDrawn="1"/>
        </p:nvSpPr>
        <p:spPr bwMode="auto">
          <a:xfrm>
            <a:off x="0" y="762000"/>
            <a:ext cx="12192000" cy="76200"/>
          </a:xfrm>
          <a:prstGeom prst="rect">
            <a:avLst/>
          </a:prstGeom>
          <a:solidFill>
            <a:srgbClr val="000000"/>
          </a:solidFill>
          <a:ln w="9525">
            <a:noFill/>
            <a:miter lim="800000"/>
            <a:headEnd/>
            <a:tailEnd/>
          </a:ln>
          <a:effectLst>
            <a:outerShdw blurRad="50800" dist="38100" dir="5400000" algn="t" rotWithShape="0">
              <a:prstClr val="black">
                <a:alpha val="40000"/>
              </a:prstClr>
            </a:outerShdw>
          </a:effectLst>
        </p:spPr>
        <p:txBody>
          <a:bodyPr wrap="none" anchor="ctr"/>
          <a:lstStyle/>
          <a:p>
            <a:pPr fontAlgn="auto">
              <a:spcBef>
                <a:spcPts val="0"/>
              </a:spcBef>
              <a:spcAft>
                <a:spcPts val="0"/>
              </a:spcAft>
              <a:defRPr/>
            </a:pPr>
            <a:endParaRPr lang="en-US" sz="1800" dirty="0">
              <a:latin typeface="+mn-lt"/>
            </a:endParaRPr>
          </a:p>
        </p:txBody>
      </p:sp>
      <p:sp>
        <p:nvSpPr>
          <p:cNvPr id="13" name="Text Box 46"/>
          <p:cNvSpPr txBox="1">
            <a:spLocks noChangeArrowheads="1"/>
          </p:cNvSpPr>
          <p:nvPr userDrawn="1"/>
        </p:nvSpPr>
        <p:spPr bwMode="auto">
          <a:xfrm>
            <a:off x="2387600" y="6627168"/>
            <a:ext cx="7416800" cy="230832"/>
          </a:xfrm>
          <a:prstGeom prst="rect">
            <a:avLst/>
          </a:prstGeom>
          <a:noFill/>
          <a:ln w="9525">
            <a:noFill/>
            <a:miter lim="800000"/>
            <a:headEnd/>
            <a:tailEnd/>
          </a:ln>
        </p:spPr>
        <p:txBody>
          <a:bodyPr wrap="square">
            <a:spAutoFit/>
          </a:bodyPr>
          <a:lstStyle/>
          <a:p>
            <a:pPr eaLnBrk="0" fontAlgn="auto" hangingPunct="0">
              <a:spcBef>
                <a:spcPts val="0"/>
              </a:spcBef>
              <a:spcAft>
                <a:spcPts val="0"/>
              </a:spcAft>
              <a:defRPr/>
            </a:pPr>
            <a:r>
              <a:rPr lang="en-US" altLang="en-US" sz="900" dirty="0">
                <a:solidFill>
                  <a:srgbClr val="5F5F5F"/>
                </a:solidFill>
                <a:latin typeface="Arial Narrow" pitchFamily="34" charset="0"/>
              </a:rPr>
              <a:t>NOTE: All information contained herein is Proprietary &amp; Confidential material of ValueMomentum Inc. All rights are reserved.</a:t>
            </a:r>
          </a:p>
        </p:txBody>
      </p:sp>
      <p:sp>
        <p:nvSpPr>
          <p:cNvPr id="14" name="Rectangle 63"/>
          <p:cNvSpPr>
            <a:spLocks noChangeArrowheads="1"/>
          </p:cNvSpPr>
          <p:nvPr userDrawn="1"/>
        </p:nvSpPr>
        <p:spPr bwMode="auto">
          <a:xfrm>
            <a:off x="11684000" y="0"/>
            <a:ext cx="101600" cy="763588"/>
          </a:xfrm>
          <a:prstGeom prst="rect">
            <a:avLst/>
          </a:prstGeom>
          <a:solidFill>
            <a:srgbClr val="CC0000"/>
          </a:solidFill>
          <a:ln w="9525">
            <a:noFill/>
            <a:miter lim="800000"/>
            <a:headEnd/>
            <a:tailEnd/>
          </a:ln>
        </p:spPr>
        <p:txBody>
          <a:bodyPr wrap="none" anchor="ctr"/>
          <a:lstStyle/>
          <a:p>
            <a:pPr fontAlgn="auto">
              <a:spcBef>
                <a:spcPts val="0"/>
              </a:spcBef>
              <a:spcAft>
                <a:spcPts val="0"/>
              </a:spcAft>
              <a:defRPr/>
            </a:pPr>
            <a:endParaRPr lang="en-US" sz="1800" dirty="0">
              <a:latin typeface="+mn-lt"/>
            </a:endParaRPr>
          </a:p>
        </p:txBody>
      </p:sp>
      <p:pic>
        <p:nvPicPr>
          <p:cNvPr id="16" name="Picture 15" descr="VM-Logo-drive_small.png"/>
          <p:cNvPicPr>
            <a:picLocks noChangeAspect="1"/>
          </p:cNvPicPr>
          <p:nvPr userDrawn="1"/>
        </p:nvPicPr>
        <p:blipFill>
          <a:blip r:embed="rId2" cstate="print"/>
          <a:stretch>
            <a:fillRect/>
          </a:stretch>
        </p:blipFill>
        <p:spPr>
          <a:xfrm>
            <a:off x="9855200" y="-65926"/>
            <a:ext cx="1828800" cy="887774"/>
          </a:xfrm>
          <a:prstGeom prst="rect">
            <a:avLst/>
          </a:prstGeom>
        </p:spPr>
      </p:pic>
    </p:spTree>
    <p:extLst>
      <p:ext uri="{BB962C8B-B14F-4D97-AF65-F5344CB8AC3E}">
        <p14:creationId xmlns:p14="http://schemas.microsoft.com/office/powerpoint/2010/main" val="421016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8CE7C1-39D0-4CE7-B4F7-C7651A23ADA1}" type="datetimeFigureOut">
              <a:rPr lang="en-US" smtClean="0"/>
              <a:t>7/1/2016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A350A8-C165-4B5A-BAC0-6A9D6A6D7E47}" type="slidenum">
              <a:rPr lang="en-US" smtClean="0"/>
              <a:t>‹#›</a:t>
            </a:fld>
            <a:endParaRPr lang="en-US"/>
          </a:p>
        </p:txBody>
      </p:sp>
    </p:spTree>
    <p:extLst>
      <p:ext uri="{BB962C8B-B14F-4D97-AF65-F5344CB8AC3E}">
        <p14:creationId xmlns:p14="http://schemas.microsoft.com/office/powerpoint/2010/main" val="1078070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p:cNvSpPr txBox="1">
            <a:spLocks/>
          </p:cNvSpPr>
          <p:nvPr/>
        </p:nvSpPr>
        <p:spPr bwMode="auto">
          <a:xfrm>
            <a:off x="8458200" y="6553200"/>
            <a:ext cx="22098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eaLnBrk="1" hangingPunct="1">
              <a:spcBef>
                <a:spcPct val="0"/>
              </a:spcBef>
              <a:buFontTx/>
              <a:buNone/>
            </a:pPr>
            <a:fld id="{CACAED3A-D58B-42F2-AC44-6CCF5080DCCD}" type="slidenum">
              <a:rPr lang="en-US" altLang="en-US" sz="1400"/>
              <a:pPr algn="r" eaLnBrk="1" hangingPunct="1">
                <a:spcBef>
                  <a:spcPct val="0"/>
                </a:spcBef>
                <a:buFontTx/>
                <a:buNone/>
              </a:pPr>
              <a:t>1</a:t>
            </a:fld>
            <a:endParaRPr lang="en-US" altLang="en-US" sz="1400"/>
          </a:p>
        </p:txBody>
      </p:sp>
      <p:sp>
        <p:nvSpPr>
          <p:cNvPr id="21507" name="Rectangle 66"/>
          <p:cNvSpPr>
            <a:spLocks noChangeArrowheads="1"/>
          </p:cNvSpPr>
          <p:nvPr/>
        </p:nvSpPr>
        <p:spPr bwMode="auto">
          <a:xfrm>
            <a:off x="1600200" y="182563"/>
            <a:ext cx="6324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tabLst>
                <a:tab pos="1828800" algn="l"/>
              </a:tabLst>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tabLst>
                <a:tab pos="182880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82880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82880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828800" algn="l"/>
              </a:tabLst>
              <a:defRPr sz="2000">
                <a:solidFill>
                  <a:schemeClr val="tx1"/>
                </a:solidFill>
                <a:latin typeface="Calibri" panose="020F0502020204030204" pitchFamily="34" charset="0"/>
              </a:defRPr>
            </a:lvl9pPr>
          </a:lstStyle>
          <a:p>
            <a:pPr>
              <a:spcBef>
                <a:spcPct val="0"/>
              </a:spcBef>
              <a:buSzPct val="120000"/>
              <a:buFontTx/>
              <a:buNone/>
            </a:pPr>
            <a:r>
              <a:rPr lang="en-US" altLang="en-US" sz="2000" dirty="0">
                <a:solidFill>
                  <a:schemeClr val="bg1"/>
                </a:solidFill>
              </a:rPr>
              <a:t>Commercial Lines</a:t>
            </a:r>
          </a:p>
        </p:txBody>
      </p:sp>
      <p:sp>
        <p:nvSpPr>
          <p:cNvPr id="21508" name="Rectangle 5"/>
          <p:cNvSpPr>
            <a:spLocks noChangeArrowheads="1"/>
          </p:cNvSpPr>
          <p:nvPr/>
        </p:nvSpPr>
        <p:spPr bwMode="auto">
          <a:xfrm>
            <a:off x="1676400" y="3325813"/>
            <a:ext cx="876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SzPct val="120000"/>
              <a:buFontTx/>
              <a:buNone/>
            </a:pPr>
            <a:r>
              <a:rPr lang="en-US" altLang="en-US" sz="2400">
                <a:solidFill>
                  <a:srgbClr val="FF0000"/>
                </a:solidFill>
                <a:latin typeface="Verdana" panose="020B0604030504040204" pitchFamily="34" charset="0"/>
              </a:rPr>
              <a:t> </a:t>
            </a:r>
            <a:endParaRPr lang="en-US" altLang="en-US" sz="2400">
              <a:solidFill>
                <a:srgbClr val="008000"/>
              </a:solidFill>
              <a:latin typeface="Verdana" panose="020B0604030504040204" pitchFamily="34" charset="0"/>
            </a:endParaRPr>
          </a:p>
        </p:txBody>
      </p:sp>
      <p:sp>
        <p:nvSpPr>
          <p:cNvPr id="6" name="Rectangle 6"/>
          <p:cNvSpPr>
            <a:spLocks noChangeArrowheads="1"/>
          </p:cNvSpPr>
          <p:nvPr/>
        </p:nvSpPr>
        <p:spPr bwMode="auto">
          <a:xfrm>
            <a:off x="4648200" y="1981200"/>
            <a:ext cx="2590800" cy="914400"/>
          </a:xfrm>
          <a:prstGeom prst="rect">
            <a:avLst/>
          </a:prstGeom>
          <a:solidFill>
            <a:schemeClr val="accent6"/>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600" b="1" dirty="0">
                <a:solidFill>
                  <a:schemeClr val="tx1"/>
                </a:solidFill>
              </a:rPr>
              <a:t>Commercial</a:t>
            </a:r>
          </a:p>
        </p:txBody>
      </p:sp>
      <p:sp>
        <p:nvSpPr>
          <p:cNvPr id="7" name="Rectangle 11"/>
          <p:cNvSpPr>
            <a:spLocks noChangeArrowheads="1"/>
          </p:cNvSpPr>
          <p:nvPr/>
        </p:nvSpPr>
        <p:spPr bwMode="auto">
          <a:xfrm>
            <a:off x="1676400" y="4191000"/>
            <a:ext cx="1143000" cy="914400"/>
          </a:xfrm>
          <a:prstGeom prst="rect">
            <a:avLst/>
          </a:prstGeom>
          <a:solidFill>
            <a:schemeClr val="accent1">
              <a:lumMod val="75000"/>
            </a:schemeClr>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General </a:t>
            </a:r>
          </a:p>
          <a:p>
            <a:pPr algn="ctr" eaLnBrk="1" hangingPunct="1">
              <a:defRPr/>
            </a:pPr>
            <a:r>
              <a:rPr lang="en-US" sz="1400" b="1" dirty="0">
                <a:solidFill>
                  <a:prstClr val="black"/>
                </a:solidFill>
              </a:rPr>
              <a:t>Liability</a:t>
            </a:r>
          </a:p>
        </p:txBody>
      </p:sp>
      <p:sp>
        <p:nvSpPr>
          <p:cNvPr id="8" name="Rectangle 12"/>
          <p:cNvSpPr>
            <a:spLocks noChangeArrowheads="1"/>
          </p:cNvSpPr>
          <p:nvPr/>
        </p:nvSpPr>
        <p:spPr bwMode="auto">
          <a:xfrm>
            <a:off x="3048000" y="4191000"/>
            <a:ext cx="1219200" cy="914400"/>
          </a:xfrm>
          <a:prstGeom prst="rect">
            <a:avLst/>
          </a:prstGeom>
          <a:solidFill>
            <a:schemeClr val="accent5"/>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Property</a:t>
            </a:r>
          </a:p>
        </p:txBody>
      </p:sp>
      <p:sp>
        <p:nvSpPr>
          <p:cNvPr id="9" name="Rectangle 13"/>
          <p:cNvSpPr>
            <a:spLocks noChangeArrowheads="1"/>
          </p:cNvSpPr>
          <p:nvPr/>
        </p:nvSpPr>
        <p:spPr bwMode="auto">
          <a:xfrm>
            <a:off x="4419600" y="4191000"/>
            <a:ext cx="1143000" cy="914400"/>
          </a:xfrm>
          <a:prstGeom prst="rect">
            <a:avLst/>
          </a:prstGeom>
          <a:solidFill>
            <a:schemeClr val="accent5"/>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Business</a:t>
            </a:r>
          </a:p>
          <a:p>
            <a:pPr algn="ctr" eaLnBrk="1" hangingPunct="1">
              <a:defRPr/>
            </a:pPr>
            <a:r>
              <a:rPr lang="en-US" sz="1400" b="1" dirty="0">
                <a:solidFill>
                  <a:prstClr val="black"/>
                </a:solidFill>
              </a:rPr>
              <a:t>Owners</a:t>
            </a:r>
          </a:p>
          <a:p>
            <a:pPr algn="ctr" eaLnBrk="1" hangingPunct="1">
              <a:defRPr/>
            </a:pPr>
            <a:r>
              <a:rPr lang="en-US" sz="1400" b="1" dirty="0">
                <a:solidFill>
                  <a:prstClr val="black"/>
                </a:solidFill>
              </a:rPr>
              <a:t>Program</a:t>
            </a:r>
          </a:p>
        </p:txBody>
      </p:sp>
      <p:sp>
        <p:nvSpPr>
          <p:cNvPr id="10" name="Rectangle 14"/>
          <p:cNvSpPr>
            <a:spLocks noChangeArrowheads="1"/>
          </p:cNvSpPr>
          <p:nvPr/>
        </p:nvSpPr>
        <p:spPr bwMode="auto">
          <a:xfrm>
            <a:off x="5638800" y="4191000"/>
            <a:ext cx="1447800" cy="914400"/>
          </a:xfrm>
          <a:prstGeom prst="rect">
            <a:avLst/>
          </a:prstGeom>
          <a:solidFill>
            <a:schemeClr val="accent5"/>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en-US" sz="1400" b="1" dirty="0">
                <a:solidFill>
                  <a:prstClr val="black"/>
                </a:solidFill>
              </a:rPr>
              <a:t>Commercial </a:t>
            </a:r>
          </a:p>
          <a:p>
            <a:pPr algn="ctr"/>
            <a:r>
              <a:rPr lang="en-US" sz="1400" b="1" dirty="0">
                <a:solidFill>
                  <a:prstClr val="black"/>
                </a:solidFill>
              </a:rPr>
              <a:t>Auto</a:t>
            </a:r>
          </a:p>
        </p:txBody>
      </p:sp>
      <p:sp>
        <p:nvSpPr>
          <p:cNvPr id="11" name="Rectangle 18"/>
          <p:cNvSpPr>
            <a:spLocks noChangeArrowheads="1"/>
          </p:cNvSpPr>
          <p:nvPr/>
        </p:nvSpPr>
        <p:spPr bwMode="auto">
          <a:xfrm>
            <a:off x="7315200" y="4191000"/>
            <a:ext cx="1447800" cy="914400"/>
          </a:xfrm>
          <a:prstGeom prst="rect">
            <a:avLst/>
          </a:prstGeom>
          <a:solidFill>
            <a:schemeClr val="accent5"/>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Commercial</a:t>
            </a:r>
          </a:p>
          <a:p>
            <a:pPr algn="ctr" eaLnBrk="1" hangingPunct="1">
              <a:defRPr/>
            </a:pPr>
            <a:r>
              <a:rPr lang="en-US" sz="1400" b="1" dirty="0">
                <a:solidFill>
                  <a:prstClr val="black"/>
                </a:solidFill>
              </a:rPr>
              <a:t> Umbrella</a:t>
            </a:r>
          </a:p>
        </p:txBody>
      </p:sp>
      <p:sp>
        <p:nvSpPr>
          <p:cNvPr id="21515" name="Line 21"/>
          <p:cNvSpPr>
            <a:spLocks noChangeShapeType="1"/>
          </p:cNvSpPr>
          <p:nvPr/>
        </p:nvSpPr>
        <p:spPr bwMode="auto">
          <a:xfrm>
            <a:off x="5943600" y="2895600"/>
            <a:ext cx="0" cy="609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16" name="Line 22"/>
          <p:cNvSpPr>
            <a:spLocks noChangeShapeType="1"/>
          </p:cNvSpPr>
          <p:nvPr/>
        </p:nvSpPr>
        <p:spPr bwMode="auto">
          <a:xfrm>
            <a:off x="2057400" y="3505200"/>
            <a:ext cx="769620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14" name="Rectangle 28"/>
          <p:cNvSpPr>
            <a:spLocks noChangeArrowheads="1"/>
          </p:cNvSpPr>
          <p:nvPr/>
        </p:nvSpPr>
        <p:spPr bwMode="auto">
          <a:xfrm>
            <a:off x="8915400" y="4191000"/>
            <a:ext cx="1600200" cy="914400"/>
          </a:xfrm>
          <a:prstGeom prst="rect">
            <a:avLst/>
          </a:prstGeom>
          <a:solidFill>
            <a:srgbClr val="FFFF00"/>
          </a:solidFill>
          <a:ln>
            <a:noFill/>
          </a:ln>
          <a:effectLst>
            <a:outerShdw blurRad="76200" dir="18900000" sy="23000" kx="-1200000" algn="b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r>
              <a:rPr lang="en-US" sz="1400" b="1" dirty="0">
                <a:solidFill>
                  <a:prstClr val="black"/>
                </a:solidFill>
              </a:rPr>
              <a:t>Workers </a:t>
            </a:r>
          </a:p>
          <a:p>
            <a:pPr algn="ctr" eaLnBrk="1" hangingPunct="1">
              <a:defRPr/>
            </a:pPr>
            <a:r>
              <a:rPr lang="en-US" sz="1400" b="1" dirty="0">
                <a:solidFill>
                  <a:prstClr val="black"/>
                </a:solidFill>
              </a:rPr>
              <a:t>Compensation</a:t>
            </a:r>
          </a:p>
        </p:txBody>
      </p:sp>
      <p:sp>
        <p:nvSpPr>
          <p:cNvPr id="21518" name="Line 30"/>
          <p:cNvSpPr>
            <a:spLocks noChangeShapeType="1"/>
          </p:cNvSpPr>
          <p:nvPr/>
        </p:nvSpPr>
        <p:spPr bwMode="auto">
          <a:xfrm>
            <a:off x="20574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19" name="Line 31"/>
          <p:cNvSpPr>
            <a:spLocks noChangeShapeType="1"/>
          </p:cNvSpPr>
          <p:nvPr/>
        </p:nvSpPr>
        <p:spPr bwMode="auto">
          <a:xfrm>
            <a:off x="36576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20" name="Line 32"/>
          <p:cNvSpPr>
            <a:spLocks noChangeShapeType="1"/>
          </p:cNvSpPr>
          <p:nvPr/>
        </p:nvSpPr>
        <p:spPr bwMode="auto">
          <a:xfrm>
            <a:off x="49530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21" name="Line 33"/>
          <p:cNvSpPr>
            <a:spLocks noChangeShapeType="1"/>
          </p:cNvSpPr>
          <p:nvPr/>
        </p:nvSpPr>
        <p:spPr bwMode="auto">
          <a:xfrm>
            <a:off x="63246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22" name="Line 34"/>
          <p:cNvSpPr>
            <a:spLocks noChangeShapeType="1"/>
          </p:cNvSpPr>
          <p:nvPr/>
        </p:nvSpPr>
        <p:spPr bwMode="auto">
          <a:xfrm>
            <a:off x="80010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sp>
        <p:nvSpPr>
          <p:cNvPr id="21523" name="Line 36"/>
          <p:cNvSpPr>
            <a:spLocks noChangeShapeType="1"/>
          </p:cNvSpPr>
          <p:nvPr/>
        </p:nvSpPr>
        <p:spPr bwMode="auto">
          <a:xfrm>
            <a:off x="9753600" y="3505200"/>
            <a:ext cx="0" cy="6858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wrap="none" lIns="92075" tIns="46038" rIns="92075" bIns="46038" anchor="ctr"/>
          <a:lstStyle/>
          <a:p>
            <a:endParaRPr lang="en-US"/>
          </a:p>
        </p:txBody>
      </p:sp>
      <p:pic>
        <p:nvPicPr>
          <p:cNvPr id="2" name="Picture 1"/>
          <p:cNvPicPr>
            <a:picLocks noChangeAspect="1"/>
          </p:cNvPicPr>
          <p:nvPr/>
        </p:nvPicPr>
        <p:blipFill>
          <a:blip r:embed="rId3"/>
          <a:stretch>
            <a:fillRect/>
          </a:stretch>
        </p:blipFill>
        <p:spPr>
          <a:xfrm>
            <a:off x="10098025" y="0"/>
            <a:ext cx="1377815" cy="755970"/>
          </a:xfrm>
          <a:prstGeom prst="rect">
            <a:avLst/>
          </a:prstGeom>
        </p:spPr>
      </p:pic>
      <p:pic>
        <p:nvPicPr>
          <p:cNvPr id="3" name="Picture 2"/>
          <p:cNvPicPr>
            <a:picLocks noChangeAspect="1"/>
          </p:cNvPicPr>
          <p:nvPr/>
        </p:nvPicPr>
        <p:blipFill>
          <a:blip r:embed="rId4"/>
          <a:stretch>
            <a:fillRect/>
          </a:stretch>
        </p:blipFill>
        <p:spPr>
          <a:xfrm>
            <a:off x="1645848" y="893555"/>
            <a:ext cx="2609850" cy="1752600"/>
          </a:xfrm>
          <a:prstGeom prst="rect">
            <a:avLst/>
          </a:prstGeom>
        </p:spPr>
      </p:pic>
    </p:spTree>
    <p:extLst>
      <p:ext uri="{BB962C8B-B14F-4D97-AF65-F5344CB8AC3E}">
        <p14:creationId xmlns:p14="http://schemas.microsoft.com/office/powerpoint/2010/main" val="661108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1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05000" y="5092700"/>
            <a:ext cx="8178800" cy="1107996"/>
          </a:xfrm>
          <a:prstGeom prst="rect">
            <a:avLst/>
          </a:prstGeom>
          <a:noFill/>
        </p:spPr>
        <p:txBody>
          <a:bodyPr wrap="square" rtlCol="0">
            <a:spAutoFit/>
          </a:bodyPr>
          <a:lstStyle/>
          <a:p>
            <a:r>
              <a:rPr lang="en-US" sz="6600" dirty="0" smtClean="0"/>
              <a:t>Workers Compensation</a:t>
            </a:r>
            <a:endParaRPr lang="en-US" sz="6600" dirty="0"/>
          </a:p>
        </p:txBody>
      </p:sp>
      <p:pic>
        <p:nvPicPr>
          <p:cNvPr id="3" name="Picture 2"/>
          <p:cNvPicPr>
            <a:picLocks noChangeAspect="1"/>
          </p:cNvPicPr>
          <p:nvPr/>
        </p:nvPicPr>
        <p:blipFill>
          <a:blip r:embed="rId2"/>
          <a:stretch>
            <a:fillRect/>
          </a:stretch>
        </p:blipFill>
        <p:spPr>
          <a:xfrm>
            <a:off x="1574800" y="1219200"/>
            <a:ext cx="8839200" cy="4038600"/>
          </a:xfrm>
          <a:prstGeom prst="rect">
            <a:avLst/>
          </a:prstGeom>
        </p:spPr>
      </p:pic>
    </p:spTree>
    <p:extLst>
      <p:ext uri="{BB962C8B-B14F-4D97-AF65-F5344CB8AC3E}">
        <p14:creationId xmlns:p14="http://schemas.microsoft.com/office/powerpoint/2010/main" val="2840345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03308" y="1028701"/>
            <a:ext cx="8001000" cy="2874633"/>
          </a:xfrm>
          <a:prstGeom prst="rect">
            <a:avLst/>
          </a:prstGeom>
        </p:spPr>
        <p:txBody>
          <a:bodyPr wrap="square">
            <a:spAutoFit/>
          </a:bodyPr>
          <a:lstStyle/>
          <a:p>
            <a:endParaRPr lang="en-US" sz="2800" dirty="0"/>
          </a:p>
          <a:p>
            <a:pPr marL="342900" indent="-342900">
              <a:spcBef>
                <a:spcPct val="20000"/>
              </a:spcBef>
              <a:buClr>
                <a:srgbClr val="C00000"/>
              </a:buClr>
              <a:buFont typeface="Wingdings" pitchFamily="2" charset="2"/>
              <a:buChar char="v"/>
              <a:defRPr/>
            </a:pPr>
            <a:r>
              <a:rPr lang="en-US" sz="2400" b="1" dirty="0">
                <a:solidFill>
                  <a:srgbClr val="C00000"/>
                </a:solidFill>
              </a:rPr>
              <a:t>Workers' compensation </a:t>
            </a:r>
          </a:p>
          <a:p>
            <a:pPr marL="342900" indent="-342900">
              <a:buFont typeface="Wingdings" panose="05000000000000000000" pitchFamily="2" charset="2"/>
              <a:buChar char="Ø"/>
            </a:pPr>
            <a:r>
              <a:rPr lang="en-US" sz="2400" dirty="0">
                <a:latin typeface="+mj-lt"/>
              </a:rPr>
              <a:t>provides insurance to cover medical care and compensation for employees who are injured in the course of employment, in exchange for mandatory relinquishment of the employee's right to sue his or her employer for the tort of negligence.</a:t>
            </a:r>
          </a:p>
          <a:p>
            <a:endParaRPr lang="en-US" sz="2800" dirty="0"/>
          </a:p>
        </p:txBody>
      </p:sp>
      <p:sp>
        <p:nvSpPr>
          <p:cNvPr id="3" name="Rectangle 2"/>
          <p:cNvSpPr/>
          <p:nvPr/>
        </p:nvSpPr>
        <p:spPr>
          <a:xfrm>
            <a:off x="2054943" y="228600"/>
            <a:ext cx="1835567" cy="369332"/>
          </a:xfrm>
          <a:prstGeom prst="rect">
            <a:avLst/>
          </a:prstGeom>
        </p:spPr>
        <p:txBody>
          <a:bodyPr wrap="none">
            <a:spAutoFit/>
          </a:bodyPr>
          <a:lstStyle/>
          <a:p>
            <a:pPr>
              <a:buSzPct val="120000"/>
            </a:pPr>
            <a:r>
              <a:rPr lang="en-US" altLang="en-US" dirty="0">
                <a:solidFill>
                  <a:schemeClr val="bg1"/>
                </a:solidFill>
              </a:rPr>
              <a:t>Commercial Lines</a:t>
            </a:r>
          </a:p>
        </p:txBody>
      </p:sp>
      <p:pic>
        <p:nvPicPr>
          <p:cNvPr id="4" name="Picture 3"/>
          <p:cNvPicPr>
            <a:picLocks noChangeAspect="1"/>
          </p:cNvPicPr>
          <p:nvPr/>
        </p:nvPicPr>
        <p:blipFill>
          <a:blip r:embed="rId3"/>
          <a:stretch>
            <a:fillRect/>
          </a:stretch>
        </p:blipFill>
        <p:spPr>
          <a:xfrm>
            <a:off x="8915401" y="0"/>
            <a:ext cx="1377815" cy="755970"/>
          </a:xfrm>
          <a:prstGeom prst="rect">
            <a:avLst/>
          </a:prstGeom>
        </p:spPr>
      </p:pic>
      <p:sp>
        <p:nvSpPr>
          <p:cNvPr id="6" name="Rectangle 5"/>
          <p:cNvSpPr/>
          <p:nvPr/>
        </p:nvSpPr>
        <p:spPr>
          <a:xfrm>
            <a:off x="1603308" y="3456940"/>
            <a:ext cx="9242492" cy="2308324"/>
          </a:xfrm>
          <a:prstGeom prst="rect">
            <a:avLst/>
          </a:prstGeom>
        </p:spPr>
        <p:txBody>
          <a:bodyPr wrap="square">
            <a:spAutoFit/>
          </a:bodyPr>
          <a:lstStyle/>
          <a:p>
            <a:endParaRPr lang="en-US" sz="2400" dirty="0" smtClean="0"/>
          </a:p>
          <a:p>
            <a:pPr marL="342900" indent="-342900">
              <a:buFont typeface="Wingdings" panose="05000000000000000000" pitchFamily="2" charset="2"/>
              <a:buChar char="Ø"/>
            </a:pPr>
            <a:r>
              <a:rPr lang="en-US" sz="2400" dirty="0" smtClean="0"/>
              <a:t>Workers compensation is a form of insurance designed to help employees recover from injuries sustained in the workplace. </a:t>
            </a:r>
          </a:p>
          <a:p>
            <a:pPr marL="342900" indent="-342900">
              <a:buFont typeface="Wingdings" panose="05000000000000000000" pitchFamily="2" charset="2"/>
              <a:buChar char="Ø"/>
            </a:pPr>
            <a:endParaRPr lang="en-US" sz="2400" dirty="0" smtClean="0"/>
          </a:p>
          <a:p>
            <a:pPr marL="342900" indent="-342900">
              <a:buFont typeface="Wingdings" panose="05000000000000000000" pitchFamily="2" charset="2"/>
              <a:buChar char="Ø"/>
            </a:pPr>
            <a:r>
              <a:rPr lang="en-US" sz="2400" dirty="0" smtClean="0"/>
              <a:t>Every state has different laws pertaining to workers compensation programs.</a:t>
            </a:r>
            <a:endParaRPr lang="en-US" sz="2400" dirty="0"/>
          </a:p>
        </p:txBody>
      </p:sp>
    </p:spTree>
    <p:extLst>
      <p:ext uri="{BB962C8B-B14F-4D97-AF65-F5344CB8AC3E}">
        <p14:creationId xmlns:p14="http://schemas.microsoft.com/office/powerpoint/2010/main" val="2691800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1000"/>
                                        <p:tgtEl>
                                          <p:spTgt spid="2">
                                            <p:txEl>
                                              <p:pRg st="2" end="2"/>
                                            </p:txEl>
                                          </p:spTgt>
                                        </p:tgtEl>
                                      </p:cBhvr>
                                    </p:animEffect>
                                    <p:anim calcmode="lin" valueType="num">
                                      <p:cBhvr>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Effect transition="in" filter="fade">
                                      <p:cBhvr>
                                        <p:cTn id="19" dur="1000"/>
                                        <p:tgtEl>
                                          <p:spTgt spid="6">
                                            <p:txEl>
                                              <p:pRg st="1" end="1"/>
                                            </p:txEl>
                                          </p:spTgt>
                                        </p:tgtEl>
                                      </p:cBhvr>
                                    </p:animEffect>
                                    <p:anim calcmode="lin" valueType="num">
                                      <p:cBhvr>
                                        <p:cTn id="20"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6">
                                            <p:txEl>
                                              <p:pRg st="3" end="3"/>
                                            </p:txEl>
                                          </p:spTgt>
                                        </p:tgtEl>
                                        <p:attrNameLst>
                                          <p:attrName>style.visibility</p:attrName>
                                        </p:attrNameLst>
                                      </p:cBhvr>
                                      <p:to>
                                        <p:strVal val="visible"/>
                                      </p:to>
                                    </p:set>
                                    <p:animEffect transition="in" filter="fade">
                                      <p:cBhvr>
                                        <p:cTn id="24" dur="1000"/>
                                        <p:tgtEl>
                                          <p:spTgt spid="6">
                                            <p:txEl>
                                              <p:pRg st="3" end="3"/>
                                            </p:txEl>
                                          </p:spTgt>
                                        </p:tgtEl>
                                      </p:cBhvr>
                                    </p:animEffect>
                                    <p:anim calcmode="lin" valueType="num">
                                      <p:cBhvr>
                                        <p:cTn id="25"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6"/>
          <p:cNvSpPr>
            <a:spLocks noChangeArrowheads="1"/>
          </p:cNvSpPr>
          <p:nvPr/>
        </p:nvSpPr>
        <p:spPr bwMode="auto">
          <a:xfrm>
            <a:off x="1581150" y="60217"/>
            <a:ext cx="6343650" cy="646331"/>
          </a:xfrm>
          <a:prstGeom prst="rect">
            <a:avLst/>
          </a:prstGeom>
          <a:noFill/>
          <a:ln w="12700">
            <a:noFill/>
            <a:miter lim="800000"/>
            <a:headEnd/>
            <a:tailEnd/>
          </a:ln>
        </p:spPr>
        <p:txBody>
          <a:bodyPr wrap="square" anchor="ctr">
            <a:spAutoFit/>
          </a:bodyPr>
          <a:lstStyle/>
          <a:p>
            <a:pPr marL="0" lvl="1" eaLnBrk="0" hangingPunct="0">
              <a:buSzPct val="120000"/>
              <a:tabLst>
                <a:tab pos="1828800" algn="l"/>
              </a:tabLst>
              <a:defRPr/>
            </a:pPr>
            <a:r>
              <a:rPr lang="en-IN" b="1" dirty="0">
                <a:solidFill>
                  <a:schemeClr val="bg1"/>
                </a:solidFill>
                <a:latin typeface="Arial" pitchFamily="34" charset="0"/>
                <a:cs typeface="Arial" pitchFamily="34" charset="0"/>
              </a:rPr>
              <a:t>Workers Compensation and Employers’ Liability Introduction</a:t>
            </a:r>
          </a:p>
        </p:txBody>
      </p:sp>
      <p:pic>
        <p:nvPicPr>
          <p:cNvPr id="8" name="Picture 2" descr="E:\Documents and Settings\ankurkumar\Desktop\construction-worker.jpg"/>
          <p:cNvPicPr>
            <a:picLocks noChangeAspect="1" noChangeArrowheads="1"/>
          </p:cNvPicPr>
          <p:nvPr/>
        </p:nvPicPr>
        <p:blipFill>
          <a:blip r:embed="rId2" cstate="print"/>
          <a:srcRect/>
          <a:stretch>
            <a:fillRect/>
          </a:stretch>
        </p:blipFill>
        <p:spPr bwMode="auto">
          <a:xfrm>
            <a:off x="7239000" y="3581400"/>
            <a:ext cx="3238500" cy="2971800"/>
          </a:xfrm>
          <a:prstGeom prst="rect">
            <a:avLst/>
          </a:prstGeom>
          <a:noFill/>
        </p:spPr>
      </p:pic>
      <p:sp>
        <p:nvSpPr>
          <p:cNvPr id="9" name="TextBox 8"/>
          <p:cNvSpPr txBox="1"/>
          <p:nvPr/>
        </p:nvSpPr>
        <p:spPr>
          <a:xfrm>
            <a:off x="1905000" y="1143001"/>
            <a:ext cx="7848600" cy="2723823"/>
          </a:xfrm>
          <a:prstGeom prst="rect">
            <a:avLst/>
          </a:prstGeom>
          <a:noFill/>
        </p:spPr>
        <p:txBody>
          <a:bodyPr wrap="square" rtlCol="0">
            <a:spAutoFit/>
          </a:bodyPr>
          <a:lstStyle/>
          <a:p>
            <a:pPr marL="0" lvl="1" indent="-330200">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b="1" dirty="0">
                <a:latin typeface="Arial" pitchFamily="34" charset="0"/>
                <a:cs typeface="Arial" pitchFamily="34" charset="0"/>
              </a:rPr>
              <a:t>Workers Compensation and Employers’ Liability Insurance:</a:t>
            </a:r>
          </a:p>
          <a:p>
            <a:pPr indent="-330200">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a:latin typeface="Arial" pitchFamily="34" charset="0"/>
                <a:cs typeface="Arial" pitchFamily="34" charset="0"/>
              </a:rPr>
              <a:t> </a:t>
            </a:r>
          </a:p>
          <a:p>
            <a:pPr indent="-330200"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a:latin typeface="Arial" pitchFamily="34" charset="0"/>
                <a:cs typeface="Arial" pitchFamily="34" charset="0"/>
              </a:rPr>
              <a:t>Workers Compensation and EL Insurance responds to two basic loss exposure faced by employer: </a:t>
            </a:r>
          </a:p>
          <a:p>
            <a:pPr indent="-330200"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a:latin typeface="Arial" pitchFamily="34" charset="0"/>
              <a:cs typeface="Arial" pitchFamily="34" charset="0"/>
            </a:endParaRPr>
          </a:p>
          <a:p>
            <a:pPr marL="447675" indent="-777875"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a:latin typeface="Arial" pitchFamily="34" charset="0"/>
                <a:cs typeface="Arial" pitchFamily="34" charset="0"/>
              </a:rPr>
              <a:t> 1. The legal responsibility  to pay benefits to employees as required by state workers compensation statutes.</a:t>
            </a:r>
          </a:p>
          <a:p>
            <a:pPr indent="-330200"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dirty="0">
              <a:latin typeface="Arial" pitchFamily="34" charset="0"/>
              <a:cs typeface="Arial" pitchFamily="34" charset="0"/>
            </a:endParaRPr>
          </a:p>
          <a:p>
            <a:pPr marL="463550" indent="-463550"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dirty="0">
                <a:latin typeface="Arial" pitchFamily="34" charset="0"/>
                <a:cs typeface="Arial" pitchFamily="34" charset="0"/>
              </a:rPr>
              <a:t> 2. The cost to defend against and possibly pay, liability claims made against the employer on account of bodily injury to an employee.</a:t>
            </a:r>
          </a:p>
          <a:p>
            <a:endParaRPr lang="en-US" dirty="0">
              <a:latin typeface="Arial" pitchFamily="34" charset="0"/>
              <a:cs typeface="Arial" pitchFamily="34" charset="0"/>
            </a:endParaRPr>
          </a:p>
        </p:txBody>
      </p:sp>
    </p:spTree>
    <p:extLst>
      <p:ext uri="{BB962C8B-B14F-4D97-AF65-F5344CB8AC3E}">
        <p14:creationId xmlns:p14="http://schemas.microsoft.com/office/powerpoint/2010/main" val="12061692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6"/>
          <p:cNvSpPr>
            <a:spLocks noChangeArrowheads="1"/>
          </p:cNvSpPr>
          <p:nvPr/>
        </p:nvSpPr>
        <p:spPr bwMode="auto">
          <a:xfrm>
            <a:off x="1581150" y="54380"/>
            <a:ext cx="6343650" cy="1015663"/>
          </a:xfrm>
          <a:prstGeom prst="rect">
            <a:avLst/>
          </a:prstGeom>
          <a:noFill/>
          <a:ln w="12700">
            <a:noFill/>
            <a:miter lim="800000"/>
            <a:headEnd/>
            <a:tailEnd/>
          </a:ln>
        </p:spPr>
        <p:txBody>
          <a:bodyPr wrap="square" anchor="ctr">
            <a:spAutoFit/>
          </a:bodyPr>
          <a:lstStyle/>
          <a:p>
            <a:pPr marL="0" lvl="1" eaLnBrk="0" hangingPunct="0">
              <a:buSzPct val="120000"/>
              <a:tabLst>
                <a:tab pos="1828800" algn="l"/>
              </a:tabLst>
              <a:defRPr/>
            </a:pPr>
            <a:r>
              <a:rPr lang="en-IN" b="1" dirty="0">
                <a:solidFill>
                  <a:schemeClr val="bg1"/>
                </a:solidFill>
                <a:latin typeface="Arial" pitchFamily="34" charset="0"/>
                <a:cs typeface="Arial" pitchFamily="34" charset="0"/>
              </a:rPr>
              <a:t>Workers Compensation and Employers’ Liability Introduction (Cont….)</a:t>
            </a:r>
          </a:p>
          <a:p>
            <a:pPr eaLnBrk="0" hangingPunct="0">
              <a:buSzPct val="120000"/>
              <a:tabLst>
                <a:tab pos="1828800" algn="l"/>
              </a:tabLst>
              <a:defRPr/>
            </a:pPr>
            <a:endParaRPr lang="en-US" sz="2400" dirty="0">
              <a:solidFill>
                <a:schemeClr val="bg1"/>
              </a:solidFill>
              <a:latin typeface="Arial" pitchFamily="34" charset="0"/>
              <a:cs typeface="Arial" pitchFamily="34" charset="0"/>
            </a:endParaRPr>
          </a:p>
        </p:txBody>
      </p:sp>
      <p:sp>
        <p:nvSpPr>
          <p:cNvPr id="7" name="TextBox 6"/>
          <p:cNvSpPr txBox="1"/>
          <p:nvPr/>
        </p:nvSpPr>
        <p:spPr>
          <a:xfrm>
            <a:off x="1752600" y="1295401"/>
            <a:ext cx="7848600" cy="2979277"/>
          </a:xfrm>
          <a:prstGeom prst="rect">
            <a:avLst/>
          </a:prstGeom>
          <a:noFill/>
        </p:spPr>
        <p:txBody>
          <a:bodyPr wrap="square" rtlCol="0">
            <a:spAutoFit/>
          </a:bodyPr>
          <a:lstStyle/>
          <a:p>
            <a:pPr lvl="1" indent="-457200" algn="just">
              <a:lnSpc>
                <a:spcPct val="80000"/>
              </a:lnSpc>
              <a:buClr>
                <a:srgbClr val="C00000"/>
              </a:buClr>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1600" b="1" dirty="0">
                <a:latin typeface="Arial" pitchFamily="34" charset="0"/>
                <a:cs typeface="Arial" pitchFamily="34" charset="0"/>
              </a:rPr>
              <a:t>Requirement of Benefits:</a:t>
            </a:r>
          </a:p>
          <a:p>
            <a:pPr lvl="1" indent="-457200" algn="just">
              <a:lnSpc>
                <a:spcPct val="80000"/>
              </a:lnSpc>
              <a:buSzPct val="8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1600" b="1" dirty="0">
              <a:latin typeface="Arial" pitchFamily="34" charset="0"/>
              <a:cs typeface="Arial" pitchFamily="34" charset="0"/>
            </a:endParaRPr>
          </a:p>
          <a:p>
            <a:pPr lvl="1" indent="-457200" algn="just">
              <a:buSzPct val="80000"/>
              <a:buFont typeface="Wingdings" pitchFamily="2" charset="2"/>
              <a:buChar char="Ø"/>
              <a:defRPr/>
            </a:pPr>
            <a:r>
              <a:rPr lang="en-IN" sz="1600" dirty="0">
                <a:latin typeface="Arial" pitchFamily="34" charset="0"/>
                <a:cs typeface="Arial" pitchFamily="34" charset="0"/>
              </a:rPr>
              <a:t>Provides Benefits for Medical Expenses from either occupational injury/disease.</a:t>
            </a:r>
          </a:p>
          <a:p>
            <a:pPr lvl="1" indent="-457200" algn="just">
              <a:buSzPct val="80000"/>
              <a:buFont typeface="Wingdings" pitchFamily="2" charset="2"/>
              <a:buChar char="Ø"/>
              <a:defRPr/>
            </a:pPr>
            <a:endParaRPr lang="en-IN" sz="1600" dirty="0">
              <a:latin typeface="Arial" pitchFamily="34" charset="0"/>
              <a:cs typeface="Arial" pitchFamily="34" charset="0"/>
            </a:endParaRPr>
          </a:p>
          <a:p>
            <a:pPr lvl="1" indent="-457200" algn="just">
              <a:buSzPct val="80000"/>
              <a:buFont typeface="Wingdings" pitchFamily="2" charset="2"/>
              <a:buChar char="Ø"/>
              <a:defRPr/>
            </a:pPr>
            <a:r>
              <a:rPr lang="en-IN" sz="1600" dirty="0">
                <a:latin typeface="Arial" pitchFamily="34" charset="0"/>
                <a:cs typeface="Arial" pitchFamily="34" charset="0"/>
              </a:rPr>
              <a:t>Cause of Injury/Disease must be related to employment &amp; in course of employment.</a:t>
            </a:r>
          </a:p>
          <a:p>
            <a:pPr lvl="1" indent="-457200" algn="just">
              <a:buSzPct val="80000"/>
              <a:buFont typeface="Wingdings" pitchFamily="2" charset="2"/>
              <a:buChar char="Ø"/>
              <a:defRPr/>
            </a:pPr>
            <a:endParaRPr lang="en-IN" sz="1600" dirty="0">
              <a:latin typeface="Arial" pitchFamily="34" charset="0"/>
              <a:cs typeface="Arial" pitchFamily="34" charset="0"/>
            </a:endParaRPr>
          </a:p>
          <a:p>
            <a:pPr lvl="1" indent="-457200" algn="just">
              <a:buSzPct val="80000"/>
              <a:buFont typeface="Wingdings" pitchFamily="2" charset="2"/>
              <a:buChar char="Ø"/>
              <a:defRPr/>
            </a:pPr>
            <a:r>
              <a:rPr lang="en-IN" sz="1600" dirty="0">
                <a:latin typeface="Arial" pitchFamily="34" charset="0"/>
                <a:cs typeface="Arial" pitchFamily="34" charset="0"/>
              </a:rPr>
              <a:t>There must be </a:t>
            </a:r>
            <a:r>
              <a:rPr lang="en-IN" sz="1600" u="sng" dirty="0">
                <a:latin typeface="Arial" pitchFamily="34" charset="0"/>
                <a:cs typeface="Arial" pitchFamily="34" charset="0"/>
              </a:rPr>
              <a:t>A CAUSE &amp; EFFECT RELATION</a:t>
            </a:r>
            <a:r>
              <a:rPr lang="en-IN" sz="1600" dirty="0">
                <a:latin typeface="Arial" pitchFamily="34" charset="0"/>
                <a:cs typeface="Arial" pitchFamily="34" charset="0"/>
              </a:rPr>
              <a:t> between the</a:t>
            </a:r>
            <a:r>
              <a:rPr lang="en-IN" sz="1600" u="sng" dirty="0">
                <a:latin typeface="Arial" pitchFamily="34" charset="0"/>
                <a:cs typeface="Arial" pitchFamily="34" charset="0"/>
              </a:rPr>
              <a:t> OCCUPATION &amp; DISEASE</a:t>
            </a:r>
          </a:p>
          <a:p>
            <a:pPr lvl="1" indent="-457200" algn="just">
              <a:buSzPct val="80000"/>
              <a:buFont typeface="Wingdings" pitchFamily="2" charset="2"/>
              <a:buChar char="Ø"/>
              <a:defRPr/>
            </a:pPr>
            <a:endParaRPr lang="en-IN" sz="1600" u="sng" dirty="0">
              <a:latin typeface="Arial" pitchFamily="34" charset="0"/>
              <a:cs typeface="Arial" pitchFamily="34" charset="0"/>
            </a:endParaRPr>
          </a:p>
          <a:p>
            <a:pPr lvl="1" indent="-457200" algn="just">
              <a:buSzPct val="80000"/>
              <a:buFont typeface="Wingdings" pitchFamily="2" charset="2"/>
              <a:buChar char="Ø"/>
              <a:defRPr/>
            </a:pPr>
            <a:r>
              <a:rPr lang="en-IN" sz="1600" dirty="0">
                <a:latin typeface="Arial" pitchFamily="34" charset="0"/>
                <a:cs typeface="Arial" pitchFamily="34" charset="0"/>
              </a:rPr>
              <a:t>Provides benefits for wage loss from either occupational injury/disease.</a:t>
            </a:r>
            <a:endParaRPr lang="en-US" sz="1600" dirty="0">
              <a:latin typeface="Arial" pitchFamily="34" charset="0"/>
              <a:cs typeface="Arial" pitchFamily="34" charset="0"/>
            </a:endParaRPr>
          </a:p>
          <a:p>
            <a:endParaRPr lang="en-US" dirty="0">
              <a:latin typeface="Arial" pitchFamily="34" charset="0"/>
              <a:cs typeface="Arial" pitchFamily="34" charset="0"/>
            </a:endParaRPr>
          </a:p>
        </p:txBody>
      </p:sp>
    </p:spTree>
    <p:extLst>
      <p:ext uri="{BB962C8B-B14F-4D97-AF65-F5344CB8AC3E}">
        <p14:creationId xmlns:p14="http://schemas.microsoft.com/office/powerpoint/2010/main" val="42648895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76400" y="0"/>
            <a:ext cx="6096000" cy="1292662"/>
          </a:xfrm>
          <a:prstGeom prst="rect">
            <a:avLst/>
          </a:prstGeom>
          <a:noFill/>
        </p:spPr>
        <p:txBody>
          <a:bodyPr wrap="square" rtlCol="0">
            <a:spAutoFit/>
          </a:bodyPr>
          <a:lstStyle/>
          <a:p>
            <a:pPr marL="0" lvl="1" eaLnBrk="0" hangingPunct="0">
              <a:buSzPct val="120000"/>
              <a:tabLst>
                <a:tab pos="1828800" algn="l"/>
              </a:tabLst>
              <a:defRPr/>
            </a:pPr>
            <a:r>
              <a:rPr lang="en-IN" b="1" dirty="0">
                <a:solidFill>
                  <a:schemeClr val="bg1"/>
                </a:solidFill>
                <a:latin typeface="Arial" pitchFamily="34" charset="0"/>
                <a:cs typeface="Arial" pitchFamily="34" charset="0"/>
              </a:rPr>
              <a:t>Workers Compensation and Employers’ Liability Introduction (Cont….)</a:t>
            </a:r>
          </a:p>
          <a:p>
            <a:pPr eaLnBrk="0" hangingPunct="0">
              <a:buSzPct val="120000"/>
              <a:tabLst>
                <a:tab pos="1828800" algn="l"/>
              </a:tabLst>
              <a:defRPr/>
            </a:pPr>
            <a:endParaRPr lang="en-US" sz="2400" dirty="0">
              <a:solidFill>
                <a:schemeClr val="bg1"/>
              </a:solidFill>
              <a:latin typeface="Arial" pitchFamily="34" charset="0"/>
              <a:cs typeface="Arial" pitchFamily="34" charset="0"/>
            </a:endParaRPr>
          </a:p>
          <a:p>
            <a:endParaRPr lang="en-US" dirty="0">
              <a:solidFill>
                <a:schemeClr val="bg1"/>
              </a:solidFill>
              <a:latin typeface="Arial" pitchFamily="34" charset="0"/>
              <a:cs typeface="Arial" pitchFamily="34" charset="0"/>
            </a:endParaRPr>
          </a:p>
        </p:txBody>
      </p:sp>
      <p:pic>
        <p:nvPicPr>
          <p:cNvPr id="4" name="Picture 3"/>
          <p:cNvPicPr>
            <a:picLocks noChangeAspect="1" noChangeArrowheads="1"/>
          </p:cNvPicPr>
          <p:nvPr/>
        </p:nvPicPr>
        <p:blipFill>
          <a:blip r:embed="rId2" cstate="print"/>
          <a:srcRect/>
          <a:stretch>
            <a:fillRect/>
          </a:stretch>
        </p:blipFill>
        <p:spPr bwMode="auto">
          <a:xfrm>
            <a:off x="1905001" y="990601"/>
            <a:ext cx="8229600" cy="5289550"/>
          </a:xfrm>
          <a:prstGeom prst="rect">
            <a:avLst/>
          </a:prstGeom>
          <a:noFill/>
          <a:ln w="9525">
            <a:noFill/>
            <a:round/>
            <a:headEnd/>
            <a:tailEnd/>
          </a:ln>
        </p:spPr>
      </p:pic>
    </p:spTree>
    <p:extLst>
      <p:ext uri="{BB962C8B-B14F-4D97-AF65-F5344CB8AC3E}">
        <p14:creationId xmlns:p14="http://schemas.microsoft.com/office/powerpoint/2010/main" val="3918743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81200" y="1295401"/>
            <a:ext cx="7467600" cy="3028521"/>
          </a:xfrm>
          <a:prstGeom prst="rect">
            <a:avLst/>
          </a:prstGeom>
          <a:noFill/>
        </p:spPr>
        <p:txBody>
          <a:bodyPr wrap="square" rtlCol="0">
            <a:spAutoFit/>
          </a:bodyPr>
          <a:lstStyle/>
          <a:p>
            <a:pPr lvl="1" indent="-457200">
              <a:lnSpc>
                <a:spcPct val="80000"/>
              </a:lnSpc>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b="1" dirty="0">
                <a:latin typeface="Arial" pitchFamily="34" charset="0"/>
                <a:cs typeface="Arial" pitchFamily="34" charset="0"/>
              </a:rPr>
              <a:t>Workers Compensation Exclusions: </a:t>
            </a:r>
          </a:p>
          <a:p>
            <a:pPr lvl="1" indent="-457200">
              <a:lnSpc>
                <a:spcPct val="80000"/>
              </a:lnSpc>
              <a:buSzPct val="80000"/>
              <a:buFont typeface="Wingdings"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b="1" dirty="0">
              <a:latin typeface="Arial" pitchFamily="34" charset="0"/>
              <a:cs typeface="Arial" pitchFamily="34" charset="0"/>
            </a:endParaRPr>
          </a:p>
          <a:p>
            <a:pPr lvl="1" indent="-457200" algn="just">
              <a:buSzPct val="80000"/>
              <a:buFont typeface="Wingdings" pitchFamily="2" charset="2"/>
              <a:buChar char="Ø"/>
              <a:defRPr/>
            </a:pPr>
            <a:r>
              <a:rPr lang="en-IN" dirty="0">
                <a:latin typeface="Arial" pitchFamily="34" charset="0"/>
                <a:cs typeface="Arial" pitchFamily="34" charset="0"/>
              </a:rPr>
              <a:t>Damages for injury or death for any illegally employed person.</a:t>
            </a:r>
          </a:p>
          <a:p>
            <a:pPr lvl="1" indent="-457200" algn="just">
              <a:buSzPct val="80000"/>
              <a:buFont typeface="Wingdings" pitchFamily="2" charset="2"/>
              <a:buChar char="Ø"/>
              <a:defRPr/>
            </a:pPr>
            <a:endParaRPr lang="en-IN" dirty="0">
              <a:latin typeface="Arial" pitchFamily="34" charset="0"/>
              <a:cs typeface="Arial" pitchFamily="34" charset="0"/>
            </a:endParaRPr>
          </a:p>
          <a:p>
            <a:pPr lvl="1" indent="-457200" algn="just">
              <a:buSzPct val="80000"/>
              <a:buFont typeface="Wingdings" pitchFamily="2" charset="2"/>
              <a:buChar char="Ø"/>
              <a:defRPr/>
            </a:pPr>
            <a:r>
              <a:rPr lang="en-IN" dirty="0">
                <a:latin typeface="Arial" pitchFamily="34" charset="0"/>
                <a:cs typeface="Arial" pitchFamily="34" charset="0"/>
              </a:rPr>
              <a:t>Bodily injury intentionally caused by the insured.</a:t>
            </a:r>
          </a:p>
          <a:p>
            <a:pPr lvl="1" indent="-457200" algn="just">
              <a:buSzPct val="80000"/>
              <a:buFont typeface="Wingdings" pitchFamily="2" charset="2"/>
              <a:buChar char="Ø"/>
              <a:defRPr/>
            </a:pPr>
            <a:endParaRPr lang="en-IN" dirty="0">
              <a:latin typeface="Arial" pitchFamily="34" charset="0"/>
              <a:cs typeface="Arial" pitchFamily="34" charset="0"/>
            </a:endParaRPr>
          </a:p>
          <a:p>
            <a:pPr lvl="1" indent="-457200" algn="just">
              <a:buSzPct val="80000"/>
              <a:buFont typeface="Wingdings" pitchFamily="2" charset="2"/>
              <a:buChar char="Ø"/>
              <a:defRPr/>
            </a:pPr>
            <a:r>
              <a:rPr lang="en-IN" dirty="0">
                <a:latin typeface="Arial" pitchFamily="34" charset="0"/>
                <a:cs typeface="Arial" pitchFamily="34" charset="0"/>
              </a:rPr>
              <a:t>Damages arising out of employment practices, including  demotion, harassment, discrimination, and termination.</a:t>
            </a:r>
          </a:p>
          <a:p>
            <a:pPr lvl="1" indent="-457200" algn="just">
              <a:buSzPct val="80000"/>
              <a:buFont typeface="Wingdings" pitchFamily="2" charset="2"/>
              <a:buChar char="Ø"/>
              <a:defRPr/>
            </a:pPr>
            <a:endParaRPr lang="en-IN" dirty="0">
              <a:latin typeface="Arial" pitchFamily="34" charset="0"/>
              <a:cs typeface="Arial" pitchFamily="34" charset="0"/>
            </a:endParaRPr>
          </a:p>
          <a:p>
            <a:pPr lvl="1" indent="-457200" algn="just">
              <a:buSzPct val="80000"/>
              <a:buFont typeface="Wingdings" pitchFamily="2" charset="2"/>
              <a:buChar char="Ø"/>
              <a:defRPr/>
            </a:pPr>
            <a:r>
              <a:rPr lang="en-IN" dirty="0">
                <a:latin typeface="Arial" pitchFamily="34" charset="0"/>
                <a:cs typeface="Arial" pitchFamily="34" charset="0"/>
              </a:rPr>
              <a:t>Fines or penalties imposed for violation of federal or state law.</a:t>
            </a:r>
          </a:p>
          <a:p>
            <a:endParaRPr lang="en-US" dirty="0">
              <a:latin typeface="Arial" pitchFamily="34" charset="0"/>
              <a:cs typeface="Arial" pitchFamily="34" charset="0"/>
            </a:endParaRPr>
          </a:p>
        </p:txBody>
      </p:sp>
      <p:sp>
        <p:nvSpPr>
          <p:cNvPr id="3" name="TextBox 2"/>
          <p:cNvSpPr txBox="1"/>
          <p:nvPr/>
        </p:nvSpPr>
        <p:spPr>
          <a:xfrm>
            <a:off x="1828800" y="228601"/>
            <a:ext cx="5486400" cy="646331"/>
          </a:xfrm>
          <a:prstGeom prst="rect">
            <a:avLst/>
          </a:prstGeom>
          <a:noFill/>
        </p:spPr>
        <p:txBody>
          <a:bodyPr wrap="square" rtlCol="0">
            <a:spAutoFit/>
          </a:bodyPr>
          <a:lstStyle/>
          <a:p>
            <a:pPr marL="0" lvl="1"/>
            <a:r>
              <a:rPr lang="en-IN" b="1" dirty="0">
                <a:solidFill>
                  <a:schemeClr val="bg1"/>
                </a:solidFill>
                <a:latin typeface="Arial" pitchFamily="34" charset="0"/>
                <a:cs typeface="Arial" pitchFamily="34" charset="0"/>
              </a:rPr>
              <a:t>Workers Compensation Exclusions </a:t>
            </a:r>
          </a:p>
          <a:p>
            <a:endParaRPr lang="en-US"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630447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is 'Employer's Liability Insurance'</a:t>
            </a:r>
            <a:br>
              <a:rPr lang="en-US" dirty="0" smtClean="0"/>
            </a:br>
            <a:endParaRPr lang="en-US" dirty="0"/>
          </a:p>
        </p:txBody>
      </p:sp>
      <p:sp>
        <p:nvSpPr>
          <p:cNvPr id="3" name="Content Placeholder 2"/>
          <p:cNvSpPr>
            <a:spLocks noGrp="1"/>
          </p:cNvSpPr>
          <p:nvPr>
            <p:ph idx="1"/>
          </p:nvPr>
        </p:nvSpPr>
        <p:spPr/>
        <p:txBody>
          <a:bodyPr>
            <a:normAutofit/>
          </a:bodyPr>
          <a:lstStyle/>
          <a:p>
            <a:r>
              <a:rPr lang="en-US" sz="1800" dirty="0">
                <a:latin typeface="Arial" pitchFamily="34" charset="0"/>
                <a:cs typeface="Arial" pitchFamily="34" charset="0"/>
              </a:rPr>
              <a:t>An insurance policy that provides coverage for an employer's two key exposures arising out of injuries sustained by employees. </a:t>
            </a:r>
            <a:r>
              <a:rPr lang="en-US" sz="1800" b="1" dirty="0">
                <a:latin typeface="Arial" pitchFamily="34" charset="0"/>
                <a:cs typeface="Arial" pitchFamily="34" charset="0"/>
              </a:rPr>
              <a:t>Part One </a:t>
            </a:r>
            <a:r>
              <a:rPr lang="en-US" sz="1800" dirty="0">
                <a:latin typeface="Arial" pitchFamily="34" charset="0"/>
                <a:cs typeface="Arial" pitchFamily="34" charset="0"/>
              </a:rPr>
              <a:t>of the policy covers the employer's statutory liabilities under workers compensation laws, and </a:t>
            </a:r>
            <a:r>
              <a:rPr lang="en-US" sz="1800" b="1" dirty="0">
                <a:latin typeface="Arial" pitchFamily="34" charset="0"/>
                <a:cs typeface="Arial" pitchFamily="34" charset="0"/>
              </a:rPr>
              <a:t>Part Two </a:t>
            </a:r>
            <a:r>
              <a:rPr lang="en-US" sz="1800" dirty="0">
                <a:latin typeface="Arial" pitchFamily="34" charset="0"/>
                <a:cs typeface="Arial" pitchFamily="34" charset="0"/>
              </a:rPr>
              <a:t>of the policy covers liability arising out of employees' work-related injuries that do not fall under the workers compensation statute. In most states, the standard workers compensation and employers liability policy published by the National Council on Compensation Insurance (NCCI) is the required policy form.</a:t>
            </a:r>
          </a:p>
          <a:p>
            <a:r>
              <a:rPr lang="en-US" sz="1800" dirty="0">
                <a:latin typeface="Arial" pitchFamily="34" charset="0"/>
                <a:cs typeface="Arial" pitchFamily="34" charset="0"/>
              </a:rPr>
              <a:t>Employer's liability insurance can be packaged with workers compensation insurance to further protect companies against the costs associated with workplace injuries, illnesses and deaths that aren’t covered under workers compensation. Employer's liability insurance is also called “part 2” of a workers’ compensation policy.</a:t>
            </a:r>
          </a:p>
          <a:p>
            <a:r>
              <a:rPr lang="en-US" sz="1800" dirty="0">
                <a:latin typeface="Arial" pitchFamily="34" charset="0"/>
                <a:cs typeface="Arial" pitchFamily="34" charset="0"/>
              </a:rPr>
              <a:t>This coverage provided by part 2 of the workers compensation policy provides coverage to the insured (employer) for liability to employees for work-related bodily injury or disease, other than liability imposed on the insured by a workers compensation law.</a:t>
            </a:r>
          </a:p>
          <a:p>
            <a:endParaRPr lang="en-US" dirty="0" smtClean="0"/>
          </a:p>
          <a:p>
            <a:endParaRPr lang="en-US" dirty="0" smtClean="0"/>
          </a:p>
          <a:p>
            <a:endParaRPr lang="en-US" dirty="0" smtClean="0"/>
          </a:p>
        </p:txBody>
      </p:sp>
    </p:spTree>
    <p:extLst>
      <p:ext uri="{BB962C8B-B14F-4D97-AF65-F5344CB8AC3E}">
        <p14:creationId xmlns:p14="http://schemas.microsoft.com/office/powerpoint/2010/main" val="6294788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57400" y="1600201"/>
            <a:ext cx="7620000" cy="3570208"/>
          </a:xfrm>
          <a:prstGeom prst="rect">
            <a:avLst/>
          </a:prstGeom>
          <a:noFill/>
        </p:spPr>
        <p:txBody>
          <a:bodyPr wrap="square" rtlCol="0">
            <a:spAutoFit/>
          </a:bodyPr>
          <a:lstStyle/>
          <a:p>
            <a:pPr>
              <a:defRPr/>
            </a:pPr>
            <a:endParaRPr lang="en-US" sz="1600" dirty="0">
              <a:latin typeface="Arial" pitchFamily="34" charset="0"/>
              <a:cs typeface="Arial" pitchFamily="34" charset="0"/>
            </a:endParaRPr>
          </a:p>
          <a:p>
            <a:pPr algn="just">
              <a:defRPr/>
            </a:pPr>
            <a:r>
              <a:rPr lang="en-US" sz="1600" dirty="0">
                <a:latin typeface="Arial" pitchFamily="34" charset="0"/>
                <a:cs typeface="Arial" pitchFamily="34" charset="0"/>
              </a:rPr>
              <a:t>The insurer agrees to defend the insured against claims and suits seeking covered damages. There are ways in which the employer can be held liable under the common law as the result of  employee injury:</a:t>
            </a:r>
          </a:p>
          <a:p>
            <a:pPr algn="just">
              <a:defRPr/>
            </a:pPr>
            <a:endParaRPr lang="en-US" sz="1600" dirty="0">
              <a:latin typeface="Arial" pitchFamily="34" charset="0"/>
              <a:cs typeface="Arial" pitchFamily="34" charset="0"/>
            </a:endParaRPr>
          </a:p>
          <a:p>
            <a:pPr lvl="1" indent="-457200" algn="just">
              <a:buSzPct val="80000"/>
              <a:buFont typeface="Wingdings" pitchFamily="2" charset="2"/>
              <a:buChar char="Ø"/>
              <a:defRPr/>
            </a:pPr>
            <a:r>
              <a:rPr lang="en-US" sz="1600" dirty="0">
                <a:latin typeface="Arial" pitchFamily="34" charset="0"/>
                <a:cs typeface="Arial" pitchFamily="34" charset="0"/>
              </a:rPr>
              <a:t>An employee of the insured sues a third party (such as machine manufacturer) for an occupational injury, and the third party then sues the employer. The third party’s suit might allege, for example, that the employer was negligent in maintaining the machine.</a:t>
            </a:r>
          </a:p>
          <a:p>
            <a:pPr lvl="1" indent="-457200" algn="just">
              <a:buSzPct val="80000"/>
              <a:buFont typeface="Wingdings" pitchFamily="2" charset="2"/>
              <a:buChar char="Ø"/>
              <a:defRPr/>
            </a:pPr>
            <a:endParaRPr lang="en-US" sz="1600" dirty="0">
              <a:latin typeface="Arial" pitchFamily="34" charset="0"/>
              <a:cs typeface="Arial" pitchFamily="34" charset="0"/>
            </a:endParaRPr>
          </a:p>
          <a:p>
            <a:pPr lvl="1" indent="-457200" algn="just">
              <a:buSzPct val="80000"/>
              <a:buFont typeface="Wingdings" pitchFamily="2" charset="2"/>
              <a:buChar char="Ø"/>
              <a:defRPr/>
            </a:pPr>
            <a:r>
              <a:rPr lang="en-US" sz="1600" dirty="0">
                <a:latin typeface="Arial" pitchFamily="34" charset="0"/>
                <a:cs typeface="Arial" pitchFamily="34" charset="0"/>
              </a:rPr>
              <a:t>The spouse or family member of an injured employee sues the employer for loss of companionship or services (such as housekeeping or yard work that the employee would otherwise have performed) resulting from the injury.</a:t>
            </a:r>
          </a:p>
          <a:p>
            <a:endParaRPr lang="en-US" dirty="0">
              <a:latin typeface="Arial" pitchFamily="34" charset="0"/>
              <a:cs typeface="Arial" pitchFamily="34" charset="0"/>
            </a:endParaRPr>
          </a:p>
        </p:txBody>
      </p:sp>
      <p:sp>
        <p:nvSpPr>
          <p:cNvPr id="3" name="TextBox 2"/>
          <p:cNvSpPr txBox="1"/>
          <p:nvPr/>
        </p:nvSpPr>
        <p:spPr>
          <a:xfrm>
            <a:off x="1752600" y="228601"/>
            <a:ext cx="5791200" cy="646331"/>
          </a:xfrm>
          <a:prstGeom prst="rect">
            <a:avLst/>
          </a:prstGeom>
          <a:noFill/>
        </p:spPr>
        <p:txBody>
          <a:bodyPr wrap="square" rtlCol="0">
            <a:spAutoFit/>
          </a:bodyPr>
          <a:lstStyle/>
          <a:p>
            <a:pPr marL="0" lvl="1"/>
            <a:r>
              <a:rPr lang="en-IN" b="1" dirty="0">
                <a:solidFill>
                  <a:schemeClr val="bg1"/>
                </a:solidFill>
                <a:latin typeface="Arial" pitchFamily="34" charset="0"/>
                <a:cs typeface="Arial" pitchFamily="34" charset="0"/>
              </a:rPr>
              <a:t>Employers Liability </a:t>
            </a:r>
            <a:r>
              <a:rPr lang="en-IN" b="1" dirty="0" smtClean="0">
                <a:solidFill>
                  <a:schemeClr val="bg1"/>
                </a:solidFill>
                <a:latin typeface="Arial" pitchFamily="34" charset="0"/>
                <a:cs typeface="Arial" pitchFamily="34" charset="0"/>
              </a:rPr>
              <a:t>Scenarios </a:t>
            </a:r>
            <a:endParaRPr lang="en-IN" b="1" dirty="0">
              <a:solidFill>
                <a:schemeClr val="bg1"/>
              </a:solidFill>
              <a:latin typeface="Arial" pitchFamily="34" charset="0"/>
              <a:cs typeface="Arial" pitchFamily="34" charset="0"/>
            </a:endParaRPr>
          </a:p>
          <a:p>
            <a:endParaRPr lang="en-US"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3162306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76400" y="1480814"/>
            <a:ext cx="9791700" cy="2026709"/>
          </a:xfrm>
          <a:prstGeom prst="rect">
            <a:avLst/>
          </a:prstGeom>
        </p:spPr>
        <p:txBody>
          <a:bodyPr wrap="square">
            <a:spAutoFit/>
          </a:bodyPr>
          <a:lstStyle/>
          <a:p>
            <a:endParaRPr lang="en-US" sz="2000" dirty="0"/>
          </a:p>
          <a:p>
            <a:pPr marL="342900" indent="-342900">
              <a:spcBef>
                <a:spcPct val="20000"/>
              </a:spcBef>
              <a:buClr>
                <a:srgbClr val="C00000"/>
              </a:buClr>
              <a:buFont typeface="Wingdings" panose="05000000000000000000" pitchFamily="2" charset="2"/>
              <a:buChar char="Ø"/>
              <a:defRPr/>
            </a:pPr>
            <a:r>
              <a:rPr lang="en-IN" sz="2000" dirty="0" smtClean="0"/>
              <a:t>The </a:t>
            </a:r>
            <a:r>
              <a:rPr lang="en-IN" sz="2000" dirty="0"/>
              <a:t>legal </a:t>
            </a:r>
            <a:r>
              <a:rPr lang="en-IN" sz="2400" dirty="0"/>
              <a:t>responsibility</a:t>
            </a:r>
            <a:r>
              <a:rPr lang="en-IN" sz="2000" dirty="0"/>
              <a:t>  to pay benefits to employees as required by state workers </a:t>
            </a:r>
            <a:r>
              <a:rPr lang="en-IN" sz="2000" dirty="0" smtClean="0"/>
              <a:t> </a:t>
            </a:r>
          </a:p>
          <a:p>
            <a:pPr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2000" dirty="0" smtClean="0"/>
              <a:t>      compensation </a:t>
            </a:r>
            <a:r>
              <a:rPr lang="en-IN" sz="2000" dirty="0"/>
              <a:t>statutes</a:t>
            </a:r>
            <a:r>
              <a:rPr lang="en-IN" sz="2000" dirty="0" smtClean="0"/>
              <a:t>.</a:t>
            </a:r>
          </a:p>
          <a:p>
            <a:pPr marL="447675" indent="-777875" algn="just">
              <a:lnSpc>
                <a:spcPct val="80000"/>
              </a:lnSpc>
              <a:spcBef>
                <a:spcPts val="450"/>
              </a:spcBef>
              <a:buSzPct val="90000"/>
              <a:buFont typeface="Wingdings" panose="05000000000000000000"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2000" dirty="0"/>
          </a:p>
          <a:p>
            <a:pPr marL="342900" indent="-342900" algn="just">
              <a:lnSpc>
                <a:spcPct val="80000"/>
              </a:lnSpc>
              <a:spcBef>
                <a:spcPts val="450"/>
              </a:spcBef>
              <a:buSzPct val="90000"/>
              <a:buFont typeface="Wingdings" panose="05000000000000000000" pitchFamily="2" charset="2"/>
              <a:buChar char="Ø"/>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2000" dirty="0" smtClean="0"/>
              <a:t>The </a:t>
            </a:r>
            <a:r>
              <a:rPr lang="en-IN" sz="2000" dirty="0"/>
              <a:t>cost to defend against and possibly pay, liability claims made against the employer </a:t>
            </a:r>
            <a:r>
              <a:rPr lang="en-IN" sz="2000" dirty="0" smtClean="0"/>
              <a:t>on  account </a:t>
            </a:r>
            <a:r>
              <a:rPr lang="en-IN" sz="2000" dirty="0"/>
              <a:t>of bodily injury to an employee</a:t>
            </a:r>
            <a:r>
              <a:rPr lang="en-IN" sz="2000" dirty="0" smtClean="0"/>
              <a:t>.</a:t>
            </a:r>
            <a:endParaRPr lang="en-IN" sz="2000" dirty="0"/>
          </a:p>
        </p:txBody>
      </p:sp>
      <p:sp>
        <p:nvSpPr>
          <p:cNvPr id="3" name="Rectangle 2"/>
          <p:cNvSpPr/>
          <p:nvPr/>
        </p:nvSpPr>
        <p:spPr>
          <a:xfrm>
            <a:off x="541137" y="259834"/>
            <a:ext cx="2314288" cy="461665"/>
          </a:xfrm>
          <a:prstGeom prst="rect">
            <a:avLst/>
          </a:prstGeom>
        </p:spPr>
        <p:txBody>
          <a:bodyPr wrap="none">
            <a:spAutoFit/>
          </a:bodyPr>
          <a:lstStyle/>
          <a:p>
            <a:r>
              <a:rPr lang="en-US" sz="2400" dirty="0" smtClean="0">
                <a:solidFill>
                  <a:schemeClr val="bg1"/>
                </a:solidFill>
              </a:rPr>
              <a:t> WC responds to:</a:t>
            </a:r>
            <a:endParaRPr lang="en-US" sz="2400" dirty="0">
              <a:solidFill>
                <a:schemeClr val="bg1"/>
              </a:solidFill>
            </a:endParaRPr>
          </a:p>
        </p:txBody>
      </p:sp>
    </p:spTree>
    <p:extLst>
      <p:ext uri="{BB962C8B-B14F-4D97-AF65-F5344CB8AC3E}">
        <p14:creationId xmlns:p14="http://schemas.microsoft.com/office/powerpoint/2010/main" val="3384635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fade">
                                      <p:cBhvr>
                                        <p:cTn id="7" dur="1000"/>
                                        <p:tgtEl>
                                          <p:spTgt spid="2">
                                            <p:txEl>
                                              <p:pRg st="1" end="1"/>
                                            </p:txEl>
                                          </p:spTgt>
                                        </p:tgtEl>
                                      </p:cBhvr>
                                    </p:animEffect>
                                    <p:anim calcmode="lin" valueType="num">
                                      <p:cBhvr>
                                        <p:cTn id="8"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fade">
                                      <p:cBhvr>
                                        <p:cTn id="12" dur="1000"/>
                                        <p:tgtEl>
                                          <p:spTgt spid="2">
                                            <p:txEl>
                                              <p:pRg st="2" end="2"/>
                                            </p:txEl>
                                          </p:spTgt>
                                        </p:tgtEl>
                                      </p:cBhvr>
                                    </p:animEffect>
                                    <p:anim calcmode="lin" valueType="num">
                                      <p:cBhvr>
                                        <p:cTn id="13"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animEffect transition="in" filter="fade">
                                      <p:cBhvr>
                                        <p:cTn id="19" dur="1000"/>
                                        <p:tgtEl>
                                          <p:spTgt spid="2">
                                            <p:txEl>
                                              <p:pRg st="4" end="4"/>
                                            </p:txEl>
                                          </p:spTgt>
                                        </p:tgtEl>
                                      </p:cBhvr>
                                    </p:animEffect>
                                    <p:anim calcmode="lin" valueType="num">
                                      <p:cBhvr>
                                        <p:cTn id="20"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22400" y="1453198"/>
            <a:ext cx="8255000" cy="3062377"/>
          </a:xfrm>
          <a:prstGeom prst="rect">
            <a:avLst/>
          </a:prstGeom>
        </p:spPr>
        <p:txBody>
          <a:bodyPr wrap="square">
            <a:spAutoFit/>
          </a:bodyPr>
          <a:lstStyle/>
          <a:p>
            <a:pPr marL="285750" indent="-285750">
              <a:buFont typeface="Wingdings" panose="05000000000000000000" pitchFamily="2" charset="2"/>
              <a:buChar char="Ø"/>
            </a:pPr>
            <a:endParaRPr lang="en-US" dirty="0" smtClean="0"/>
          </a:p>
          <a:p>
            <a:pPr marL="463550" indent="-463550" algn="just">
              <a:lnSpc>
                <a:spcPct val="80000"/>
              </a:lnSpc>
              <a:spcBef>
                <a:spcPts val="450"/>
              </a:spcBef>
              <a:buSzPct val="90000"/>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endParaRPr lang="en-IN" sz="2000" dirty="0"/>
          </a:p>
          <a:p>
            <a:pPr marL="463550" indent="-463550" algn="just">
              <a:lnSpc>
                <a:spcPct val="80000"/>
              </a:lnSpc>
              <a:spcBef>
                <a:spcPts val="450"/>
              </a:spcBef>
              <a:buSzPct val="90000"/>
              <a:buFont typeface="Wingdings" panose="05000000000000000000" pitchFamily="2" charset="2"/>
              <a:buChar char="v"/>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2000" b="1" dirty="0">
                <a:solidFill>
                  <a:srgbClr val="C00000"/>
                </a:solidFill>
              </a:rPr>
              <a:t>WC Benefits: </a:t>
            </a:r>
          </a:p>
          <a:p>
            <a:pPr marL="914400" lvl="1" indent="-457200" algn="just">
              <a:lnSpc>
                <a:spcPct val="80000"/>
              </a:lnSpc>
              <a:spcBef>
                <a:spcPts val="450"/>
              </a:spcBef>
              <a:buSzPct val="90000"/>
              <a:buFont typeface="+mj-lt"/>
              <a:buAutoNum type="arabicPeriod"/>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2000" dirty="0"/>
              <a:t>Medical benefit, </a:t>
            </a:r>
          </a:p>
          <a:p>
            <a:pPr marL="914400" lvl="1" indent="-457200" algn="just">
              <a:lnSpc>
                <a:spcPct val="80000"/>
              </a:lnSpc>
              <a:spcBef>
                <a:spcPts val="450"/>
              </a:spcBef>
              <a:buSzPct val="90000"/>
              <a:buFont typeface="+mj-lt"/>
              <a:buAutoNum type="arabicPeriod"/>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2000" dirty="0"/>
              <a:t>Disability Income benefits, </a:t>
            </a:r>
          </a:p>
          <a:p>
            <a:pPr marL="914400" lvl="1" indent="-457200" algn="just">
              <a:lnSpc>
                <a:spcPct val="80000"/>
              </a:lnSpc>
              <a:spcBef>
                <a:spcPts val="450"/>
              </a:spcBef>
              <a:buSzPct val="90000"/>
              <a:buFont typeface="+mj-lt"/>
              <a:buAutoNum type="arabicPeriod"/>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2000" dirty="0"/>
              <a:t>Rehabilitation Benefits, </a:t>
            </a:r>
          </a:p>
          <a:p>
            <a:pPr marL="914400" lvl="1" indent="-457200" algn="just">
              <a:lnSpc>
                <a:spcPct val="80000"/>
              </a:lnSpc>
              <a:spcBef>
                <a:spcPts val="450"/>
              </a:spcBef>
              <a:buSzPct val="90000"/>
              <a:buFont typeface="+mj-lt"/>
              <a:buAutoNum type="arabicPeriod"/>
              <a:tabLst>
                <a:tab pos="34290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lang="en-IN" sz="2000" dirty="0"/>
              <a:t>Death Benefits</a:t>
            </a:r>
          </a:p>
          <a:p>
            <a:endParaRPr lang="en-US" dirty="0" smtClean="0"/>
          </a:p>
          <a:p>
            <a:endParaRPr lang="en-US" dirty="0" smtClean="0"/>
          </a:p>
          <a:p>
            <a:endParaRPr lang="en-US" dirty="0" smtClean="0"/>
          </a:p>
        </p:txBody>
      </p:sp>
      <p:sp>
        <p:nvSpPr>
          <p:cNvPr id="4" name="Rectangle 3"/>
          <p:cNvSpPr/>
          <p:nvPr/>
        </p:nvSpPr>
        <p:spPr>
          <a:xfrm>
            <a:off x="386723" y="132834"/>
            <a:ext cx="6272102" cy="523220"/>
          </a:xfrm>
          <a:prstGeom prst="rect">
            <a:avLst/>
          </a:prstGeom>
        </p:spPr>
        <p:txBody>
          <a:bodyPr wrap="none">
            <a:spAutoFit/>
          </a:bodyPr>
          <a:lstStyle/>
          <a:p>
            <a:r>
              <a:rPr lang="en-US" sz="2800" dirty="0" smtClean="0">
                <a:solidFill>
                  <a:schemeClr val="bg1"/>
                </a:solidFill>
              </a:rPr>
              <a:t>Common Workers Compensation Benefits</a:t>
            </a:r>
            <a:endParaRPr lang="en-US" sz="2800" dirty="0">
              <a:solidFill>
                <a:schemeClr val="bg1"/>
              </a:solidFill>
            </a:endParaRPr>
          </a:p>
        </p:txBody>
      </p:sp>
    </p:spTree>
    <p:extLst>
      <p:ext uri="{BB962C8B-B14F-4D97-AF65-F5344CB8AC3E}">
        <p14:creationId xmlns:p14="http://schemas.microsoft.com/office/powerpoint/2010/main" val="2823917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1000"/>
                                        <p:tgtEl>
                                          <p:spTgt spid="3">
                                            <p:txEl>
                                              <p:pRg st="3" end="3"/>
                                            </p:txEl>
                                          </p:spTgt>
                                        </p:tgtEl>
                                      </p:cBhvr>
                                    </p:animEffect>
                                    <p:anim calcmode="lin" valueType="num">
                                      <p:cBhvr>
                                        <p:cTn id="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1000"/>
                                        <p:tgtEl>
                                          <p:spTgt spid="3">
                                            <p:txEl>
                                              <p:pRg st="4" end="4"/>
                                            </p:txEl>
                                          </p:spTgt>
                                        </p:tgtEl>
                                      </p:cBhvr>
                                    </p:animEffect>
                                    <p:anim calcmode="lin" valueType="num">
                                      <p:cBhvr>
                                        <p:cTn id="1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animEffect transition="in" filter="fade">
                                      <p:cBhvr>
                                        <p:cTn id="17" dur="1000"/>
                                        <p:tgtEl>
                                          <p:spTgt spid="3">
                                            <p:txEl>
                                              <p:pRg st="5" end="5"/>
                                            </p:txEl>
                                          </p:spTgt>
                                        </p:tgtEl>
                                      </p:cBhvr>
                                    </p:animEffect>
                                    <p:anim calcmode="lin" valueType="num">
                                      <p:cBhvr>
                                        <p:cTn id="18"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5" end="5"/>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1000"/>
                                        <p:tgtEl>
                                          <p:spTgt spid="3">
                                            <p:txEl>
                                              <p:pRg st="6" end="6"/>
                                            </p:txEl>
                                          </p:spTgt>
                                        </p:tgtEl>
                                      </p:cBhvr>
                                    </p:animEffect>
                                    <p:anim calcmode="lin" valueType="num">
                                      <p:cBhvr>
                                        <p:cTn id="2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259308" y="218364"/>
            <a:ext cx="7540388" cy="369332"/>
          </a:xfrm>
          <a:prstGeom prst="rect">
            <a:avLst/>
          </a:prstGeom>
          <a:noFill/>
        </p:spPr>
        <p:txBody>
          <a:bodyPr wrap="square" rtlCol="0">
            <a:spAutoFit/>
          </a:bodyPr>
          <a:lstStyle/>
          <a:p>
            <a:pPr marL="0" lvl="1" eaLnBrk="0" hangingPunct="0">
              <a:buSzPct val="120000"/>
              <a:tabLst>
                <a:tab pos="1828800" algn="l"/>
              </a:tabLst>
              <a:defRPr/>
            </a:pPr>
            <a:r>
              <a:rPr lang="en-IN" b="1" dirty="0">
                <a:solidFill>
                  <a:schemeClr val="bg1"/>
                </a:solidFill>
                <a:latin typeface="Arial" pitchFamily="34" charset="0"/>
                <a:cs typeface="Arial" pitchFamily="34" charset="0"/>
              </a:rPr>
              <a:t>Workers </a:t>
            </a:r>
            <a:r>
              <a:rPr lang="en-IN" b="1" dirty="0" smtClean="0">
                <a:solidFill>
                  <a:schemeClr val="bg1"/>
                </a:solidFill>
                <a:latin typeface="Arial" pitchFamily="34" charset="0"/>
                <a:cs typeface="Arial" pitchFamily="34" charset="0"/>
              </a:rPr>
              <a:t>Compensation</a:t>
            </a:r>
            <a:endParaRPr lang="en-US" dirty="0">
              <a:solidFill>
                <a:schemeClr val="bg1"/>
              </a:solidFill>
              <a:latin typeface="Arial" pitchFamily="34" charset="0"/>
              <a:cs typeface="Arial" pitchFamily="34" charset="0"/>
            </a:endParaRPr>
          </a:p>
        </p:txBody>
      </p:sp>
      <p:pic>
        <p:nvPicPr>
          <p:cNvPr id="4" name="Picture 3"/>
          <p:cNvPicPr>
            <a:picLocks noChangeAspect="1" noChangeArrowheads="1"/>
          </p:cNvPicPr>
          <p:nvPr/>
        </p:nvPicPr>
        <p:blipFill>
          <a:blip r:embed="rId2" cstate="print"/>
          <a:srcRect/>
          <a:stretch>
            <a:fillRect/>
          </a:stretch>
        </p:blipFill>
        <p:spPr bwMode="auto">
          <a:xfrm>
            <a:off x="1905001" y="990601"/>
            <a:ext cx="8229600" cy="5289550"/>
          </a:xfrm>
          <a:prstGeom prst="rect">
            <a:avLst/>
          </a:prstGeom>
          <a:noFill/>
          <a:ln w="9525">
            <a:noFill/>
            <a:round/>
            <a:headEnd/>
            <a:tailEnd/>
          </a:ln>
        </p:spPr>
      </p:pic>
    </p:spTree>
    <p:extLst>
      <p:ext uri="{BB962C8B-B14F-4D97-AF65-F5344CB8AC3E}">
        <p14:creationId xmlns:p14="http://schemas.microsoft.com/office/powerpoint/2010/main" val="759308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3100" y="1318548"/>
            <a:ext cx="10947400" cy="5078313"/>
          </a:xfrm>
          <a:prstGeom prst="rect">
            <a:avLst/>
          </a:prstGeom>
        </p:spPr>
        <p:txBody>
          <a:bodyPr wrap="square">
            <a:spAutoFit/>
          </a:bodyPr>
          <a:lstStyle/>
          <a:p>
            <a:r>
              <a:rPr lang="en-US" b="1" dirty="0" smtClean="0"/>
              <a:t>1) Overexertion</a:t>
            </a:r>
          </a:p>
          <a:p>
            <a:endParaRPr lang="en-US" dirty="0" smtClean="0"/>
          </a:p>
          <a:p>
            <a:pPr marL="285750" indent="-285750">
              <a:buFont typeface="Arial" panose="020B0604020202020204" pitchFamily="34" charset="0"/>
              <a:buChar char="•"/>
            </a:pPr>
            <a:r>
              <a:rPr lang="en-US" dirty="0"/>
              <a:t>M</a:t>
            </a:r>
            <a:r>
              <a:rPr lang="en-US" dirty="0" smtClean="0"/>
              <a:t>uscle is pulled, or a joint is forced to move beyond its typical range of motion. </a:t>
            </a:r>
          </a:p>
          <a:p>
            <a:pPr marL="285750" indent="-285750">
              <a:buFont typeface="Arial" panose="020B0604020202020204" pitchFamily="34" charset="0"/>
              <a:buChar char="•"/>
            </a:pPr>
            <a:r>
              <a:rPr lang="en-US" dirty="0"/>
              <a:t>F</a:t>
            </a:r>
            <a:r>
              <a:rPr lang="en-US" dirty="0" smtClean="0"/>
              <a:t>actory jobs, construction jobs, or jobs where physical labor is necessary. </a:t>
            </a:r>
          </a:p>
          <a:p>
            <a:endParaRPr lang="en-US" dirty="0" smtClean="0"/>
          </a:p>
          <a:p>
            <a:r>
              <a:rPr lang="en-US" b="1" dirty="0" smtClean="0"/>
              <a:t>2) Slip or Trip and Falls</a:t>
            </a:r>
          </a:p>
          <a:p>
            <a:pPr marL="285750" indent="-285750">
              <a:buFont typeface="Arial" panose="020B0604020202020204" pitchFamily="34" charset="0"/>
              <a:buChar char="•"/>
            </a:pPr>
            <a:r>
              <a:rPr lang="en-US" dirty="0" smtClean="0"/>
              <a:t>Workers slipping on wet floors around the workplace. </a:t>
            </a:r>
          </a:p>
          <a:p>
            <a:pPr marL="285750" indent="-285750">
              <a:buFont typeface="Arial" panose="020B0604020202020204" pitchFamily="34" charset="0"/>
              <a:buChar char="•"/>
            </a:pPr>
            <a:r>
              <a:rPr lang="en-US" dirty="0"/>
              <a:t>I</a:t>
            </a:r>
            <a:r>
              <a:rPr lang="en-US" dirty="0" smtClean="0"/>
              <a:t>ndividuals slipping and falling on snowy walkways. </a:t>
            </a:r>
          </a:p>
          <a:p>
            <a:pPr marL="285750" indent="-285750">
              <a:buFont typeface="Arial" panose="020B0604020202020204" pitchFamily="34" charset="0"/>
              <a:buChar char="•"/>
            </a:pPr>
            <a:r>
              <a:rPr lang="en-US" dirty="0"/>
              <a:t>S</a:t>
            </a:r>
            <a:r>
              <a:rPr lang="en-US" dirty="0" smtClean="0"/>
              <a:t>ecurity workers, groundskeepers, and store clerks</a:t>
            </a:r>
          </a:p>
          <a:p>
            <a:pPr marL="285750" indent="-285750">
              <a:buFont typeface="Arial" panose="020B0604020202020204" pitchFamily="34" charset="0"/>
              <a:buChar char="•"/>
            </a:pPr>
            <a:r>
              <a:rPr lang="en-US" dirty="0" smtClean="0"/>
              <a:t>Falls to a lower level </a:t>
            </a:r>
          </a:p>
          <a:p>
            <a:pPr lvl="1"/>
            <a:r>
              <a:rPr lang="en-US" dirty="0" smtClean="0"/>
              <a:t>typically happen when a worker falls off a ladder, a roof, or falls down a flight of stairs. Roofers falling from a roof, construction workers slipping off a multi-level workspace, and teachers falling down stairs are all instances of falling to lower levels.</a:t>
            </a:r>
          </a:p>
          <a:p>
            <a:r>
              <a:rPr lang="en-US" b="1" dirty="0" smtClean="0"/>
              <a:t>4) Bodily Reaction</a:t>
            </a:r>
          </a:p>
          <a:p>
            <a:pPr marL="285750" indent="-285750">
              <a:buFont typeface="Arial" panose="020B0604020202020204" pitchFamily="34" charset="0"/>
              <a:buChar char="•"/>
            </a:pPr>
            <a:r>
              <a:rPr lang="en-US" dirty="0" smtClean="0"/>
              <a:t>A bodily reaction injury may occur when one trips or slips, avoids falling, but still sustains an injury such as a twisted or sprained ankle. </a:t>
            </a:r>
          </a:p>
          <a:p>
            <a:pPr marL="285750" indent="-285750">
              <a:buFont typeface="Arial" panose="020B0604020202020204" pitchFamily="34" charset="0"/>
              <a:buChar char="•"/>
            </a:pPr>
            <a:r>
              <a:rPr lang="en-US" dirty="0" smtClean="0"/>
              <a:t>Most commonly this is seen in police officers and nurses.</a:t>
            </a:r>
          </a:p>
          <a:p>
            <a:pPr lvl="1"/>
            <a:endParaRPr lang="en-US" dirty="0"/>
          </a:p>
        </p:txBody>
      </p:sp>
      <p:sp>
        <p:nvSpPr>
          <p:cNvPr id="3" name="TextBox 2"/>
          <p:cNvSpPr txBox="1"/>
          <p:nvPr/>
        </p:nvSpPr>
        <p:spPr>
          <a:xfrm>
            <a:off x="673100" y="259307"/>
            <a:ext cx="4899547" cy="400110"/>
          </a:xfrm>
          <a:prstGeom prst="rect">
            <a:avLst/>
          </a:prstGeom>
          <a:noFill/>
        </p:spPr>
        <p:txBody>
          <a:bodyPr wrap="square" rtlCol="0">
            <a:spAutoFit/>
          </a:bodyPr>
          <a:lstStyle/>
          <a:p>
            <a:r>
              <a:rPr lang="en-US" sz="2000" dirty="0" smtClean="0">
                <a:solidFill>
                  <a:schemeClr val="bg1"/>
                </a:solidFill>
              </a:rPr>
              <a:t>Common WC Scenarios</a:t>
            </a:r>
            <a:endParaRPr lang="en-US" sz="2000" dirty="0">
              <a:solidFill>
                <a:schemeClr val="bg1"/>
              </a:solidFill>
            </a:endParaRPr>
          </a:p>
        </p:txBody>
      </p:sp>
    </p:spTree>
    <p:extLst>
      <p:ext uri="{BB962C8B-B14F-4D97-AF65-F5344CB8AC3E}">
        <p14:creationId xmlns:p14="http://schemas.microsoft.com/office/powerpoint/2010/main" val="5279452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637989" y="1715076"/>
            <a:ext cx="10972800" cy="3970318"/>
          </a:xfrm>
          <a:prstGeom prst="rect">
            <a:avLst/>
          </a:prstGeom>
        </p:spPr>
        <p:txBody>
          <a:bodyPr wrap="square">
            <a:spAutoFit/>
          </a:bodyPr>
          <a:lstStyle/>
          <a:p>
            <a:endParaRPr lang="en-US" dirty="0" smtClean="0"/>
          </a:p>
          <a:p>
            <a:r>
              <a:rPr lang="en-US" b="1" dirty="0" smtClean="0"/>
              <a:t>5) Struck by Object</a:t>
            </a:r>
          </a:p>
          <a:p>
            <a:pPr marL="285750" indent="-285750">
              <a:buFont typeface="Arial" panose="020B0604020202020204" pitchFamily="34" charset="0"/>
              <a:buChar char="•"/>
            </a:pPr>
            <a:r>
              <a:rPr lang="en-US" dirty="0" smtClean="0"/>
              <a:t>While very plain, this injury occurs most commonly when something falls off a shelf, or things are dropped by another worker onto a lower level. </a:t>
            </a:r>
          </a:p>
          <a:p>
            <a:pPr marL="285750" indent="-285750">
              <a:buFont typeface="Arial" panose="020B0604020202020204" pitchFamily="34" charset="0"/>
              <a:buChar char="•"/>
            </a:pPr>
            <a:r>
              <a:rPr lang="en-US" dirty="0" smtClean="0"/>
              <a:t>Office workers, along with restaurant &amp; retail workers are all in danger of being struck by something.</a:t>
            </a:r>
          </a:p>
          <a:p>
            <a:endParaRPr lang="en-US" dirty="0" smtClean="0"/>
          </a:p>
          <a:p>
            <a:r>
              <a:rPr lang="en-US" b="1" dirty="0" smtClean="0"/>
              <a:t>6) Struck Against an Object</a:t>
            </a:r>
          </a:p>
          <a:p>
            <a:pPr marL="285750" indent="-285750">
              <a:buFont typeface="Arial" panose="020B0604020202020204" pitchFamily="34" charset="0"/>
              <a:buChar char="•"/>
            </a:pPr>
            <a:r>
              <a:rPr lang="en-US" dirty="0" smtClean="0"/>
              <a:t>This injury occurs when an individual falls into something, or is physically forced into something such as a bookshelf, barricade, or other stationary object. </a:t>
            </a:r>
          </a:p>
          <a:p>
            <a:pPr marL="285750" indent="-285750">
              <a:buFont typeface="Arial" panose="020B0604020202020204" pitchFamily="34" charset="0"/>
              <a:buChar char="•"/>
            </a:pPr>
            <a:r>
              <a:rPr lang="en-US" dirty="0" smtClean="0"/>
              <a:t>Office workers and factory workers can easily become a victim of falling into something.</a:t>
            </a:r>
          </a:p>
          <a:p>
            <a:r>
              <a:rPr lang="en-US" b="1" dirty="0" smtClean="0"/>
              <a:t>7) Highway Incident</a:t>
            </a:r>
          </a:p>
          <a:p>
            <a:pPr marL="285750" indent="-285750">
              <a:buFont typeface="Arial" panose="020B0604020202020204" pitchFamily="34" charset="0"/>
              <a:buChar char="•"/>
            </a:pPr>
            <a:r>
              <a:rPr lang="en-US" dirty="0" smtClean="0"/>
              <a:t>Especially in the cases of truck drivers, one of the top causes of injury is an accident while driving (for business purposes) on the roadway. </a:t>
            </a:r>
          </a:p>
          <a:p>
            <a:pPr marL="285750" indent="-285750">
              <a:buFont typeface="Arial" panose="020B0604020202020204" pitchFamily="34" charset="0"/>
              <a:buChar char="•"/>
            </a:pPr>
            <a:r>
              <a:rPr lang="en-US" dirty="0"/>
              <a:t>C</a:t>
            </a:r>
            <a:r>
              <a:rPr lang="en-US" dirty="0" smtClean="0"/>
              <a:t>ommon occurrence for traveling business representatives and police officers.</a:t>
            </a:r>
            <a:endParaRPr lang="en-US" dirty="0"/>
          </a:p>
        </p:txBody>
      </p:sp>
    </p:spTree>
    <p:extLst>
      <p:ext uri="{BB962C8B-B14F-4D97-AF65-F5344CB8AC3E}">
        <p14:creationId xmlns:p14="http://schemas.microsoft.com/office/powerpoint/2010/main" val="10645923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2100" y="948690"/>
            <a:ext cx="11633200" cy="5632311"/>
          </a:xfrm>
          <a:prstGeom prst="rect">
            <a:avLst/>
          </a:prstGeom>
        </p:spPr>
        <p:txBody>
          <a:bodyPr wrap="square">
            <a:spAutoFit/>
          </a:bodyPr>
          <a:lstStyle/>
          <a:p>
            <a:r>
              <a:rPr lang="en-US" b="1" dirty="0" smtClean="0"/>
              <a:t>8) Machinery Accidents</a:t>
            </a:r>
          </a:p>
          <a:p>
            <a:pPr marL="285750" indent="-285750">
              <a:buFont typeface="Arial" panose="020B0604020202020204" pitchFamily="34" charset="0"/>
              <a:buChar char="•"/>
            </a:pPr>
            <a:r>
              <a:rPr lang="en-US" dirty="0"/>
              <a:t>I</a:t>
            </a:r>
            <a:r>
              <a:rPr lang="en-US" dirty="0" smtClean="0"/>
              <a:t>n cases where large, heavy machinery has injured a worker by crushing or mutilating.</a:t>
            </a:r>
          </a:p>
          <a:p>
            <a:pPr marL="285750" indent="-285750">
              <a:buFont typeface="Arial" panose="020B0604020202020204" pitchFamily="34" charset="0"/>
              <a:buChar char="•"/>
            </a:pPr>
            <a:r>
              <a:rPr lang="en-US" dirty="0" smtClean="0"/>
              <a:t>Most commonly seen in factories or construction workers, these accidents can have huge medical cost ramifications.</a:t>
            </a:r>
          </a:p>
          <a:p>
            <a:pPr marL="285750" indent="-285750">
              <a:buFont typeface="Arial" panose="020B0604020202020204" pitchFamily="34" charset="0"/>
              <a:buChar char="•"/>
            </a:pPr>
            <a:r>
              <a:rPr lang="en-US" dirty="0" smtClean="0"/>
              <a:t>Many states have enacted laws that require training for employees before allowing them to operate equipment, along with maintenance requirements for machinery to keep it in a safe working state. </a:t>
            </a:r>
          </a:p>
          <a:p>
            <a:pPr marL="285750" indent="-285750">
              <a:buFont typeface="Arial" panose="020B0604020202020204" pitchFamily="34" charset="0"/>
              <a:buChar char="•"/>
            </a:pPr>
            <a:r>
              <a:rPr lang="en-US" dirty="0" smtClean="0"/>
              <a:t>Keeping employees knowledgeable on equipment, along with keeping that equipment maintained are two important factors in protecting employees from injury.</a:t>
            </a:r>
          </a:p>
          <a:p>
            <a:pPr marL="285750" indent="-285750">
              <a:buFont typeface="Arial" panose="020B0604020202020204" pitchFamily="34" charset="0"/>
              <a:buChar char="•"/>
            </a:pPr>
            <a:endParaRPr lang="en-US" dirty="0" smtClean="0"/>
          </a:p>
          <a:p>
            <a:r>
              <a:rPr lang="en-US" b="1" dirty="0" smtClean="0"/>
              <a:t>9) Repetitive Motion</a:t>
            </a:r>
          </a:p>
          <a:p>
            <a:pPr marL="285750" indent="-285750">
              <a:buFont typeface="Arial" panose="020B0604020202020204" pitchFamily="34" charset="0"/>
              <a:buChar char="•"/>
            </a:pPr>
            <a:r>
              <a:rPr lang="en-US" dirty="0" smtClean="0"/>
              <a:t>A repetitive injury is hard to pin-point, but is harder to prove. These injuries stem from workers doing the same motions over and over. </a:t>
            </a:r>
          </a:p>
          <a:p>
            <a:pPr marL="285750" indent="-285750">
              <a:buFont typeface="Arial" panose="020B0604020202020204" pitchFamily="34" charset="0"/>
              <a:buChar char="•"/>
            </a:pPr>
            <a:r>
              <a:rPr lang="en-US" dirty="0" smtClean="0"/>
              <a:t>Some examples of repetitive motion injuries can include using a mouse</a:t>
            </a:r>
            <a:r>
              <a:rPr lang="en-US" b="1" i="1" dirty="0" smtClean="0"/>
              <a:t>( Carpel Tunnel Syndrome), </a:t>
            </a:r>
            <a:r>
              <a:rPr lang="en-US" dirty="0" smtClean="0"/>
              <a:t>sitting, lifting boxes, and working on an assembly line. </a:t>
            </a:r>
          </a:p>
          <a:p>
            <a:pPr marL="285750" indent="-285750">
              <a:buFont typeface="Arial" panose="020B0604020202020204" pitchFamily="34" charset="0"/>
              <a:buChar char="•"/>
            </a:pPr>
            <a:r>
              <a:rPr lang="en-US" dirty="0" smtClean="0"/>
              <a:t>Medically speaking, common injuries from repetitive or cumulative motions are tendonitis, carpal tunnel, and bursitis.</a:t>
            </a:r>
          </a:p>
          <a:p>
            <a:pPr marL="285750" indent="-285750">
              <a:buFont typeface="Arial" panose="020B0604020202020204" pitchFamily="34" charset="0"/>
              <a:buChar char="•"/>
            </a:pPr>
            <a:endParaRPr lang="en-US" dirty="0" smtClean="0"/>
          </a:p>
          <a:p>
            <a:r>
              <a:rPr lang="en-US" b="1" dirty="0" smtClean="0"/>
              <a:t>10) Workplace violence</a:t>
            </a:r>
          </a:p>
          <a:p>
            <a:pPr marL="285750" indent="-285750">
              <a:buFont typeface="Arial" panose="020B0604020202020204" pitchFamily="34" charset="0"/>
              <a:buChar char="•"/>
            </a:pPr>
            <a:r>
              <a:rPr lang="en-US" dirty="0" smtClean="0"/>
              <a:t>There are four positions that make up 20% of the total number of injuries : </a:t>
            </a:r>
          </a:p>
          <a:p>
            <a:r>
              <a:rPr lang="en-US" dirty="0"/>
              <a:t> </a:t>
            </a:r>
            <a:r>
              <a:rPr lang="en-US" dirty="0" smtClean="0"/>
              <a:t>     Police/Security officers, Nursing Aides/Orderlies/Attendants, Janitors/Cleaners, and Tractor-Trailer/Heavy Truck drivers. </a:t>
            </a:r>
          </a:p>
          <a:p>
            <a:pPr marL="285750" indent="-285750">
              <a:buFont typeface="Arial" panose="020B0604020202020204" pitchFamily="34" charset="0"/>
              <a:buChar char="•"/>
            </a:pPr>
            <a:r>
              <a:rPr lang="en-US" dirty="0" smtClean="0"/>
              <a:t>Due to the high physical activity required by these positions, along with the exposure to dangerous situations, these jobs are considered some of the highest risk positions for injuries.</a:t>
            </a:r>
          </a:p>
        </p:txBody>
      </p:sp>
    </p:spTree>
    <p:extLst>
      <p:ext uri="{BB962C8B-B14F-4D97-AF65-F5344CB8AC3E}">
        <p14:creationId xmlns:p14="http://schemas.microsoft.com/office/powerpoint/2010/main" val="326594561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haredContentType xmlns="Microsoft.SharePoint.Taxonomy.ContentTypeSync" SourceId="41087d73-5bfe-4c6e-a130-3d602495565a" ContentTypeId="0x010100F7548365F7A28B41B9A685ED46C1AC26" PreviousValue="false"/>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Departments xmlns="09339d3a-aaa0-497d-ae73-d8a5832d420d">Insurance P&amp;C</Departments>
    <Classification xmlns="09339d3a-aaa0-497d-ae73-d8a5832d420d">Internal Use</Classification>
    <SubCategory xmlns="09339d3a-aaa0-497d-ae73-d8a5832d420d">Best Practice</SubCategory>
    <Tags xmlns="09339d3a-aaa0-497d-ae73-d8a5832d420d">wc brief</Tags>
    <Contributors xmlns="09339d3a-aaa0-497d-ae73-d8a5832d420d">
      <UserInfo>
        <DisplayName>Alok Bharati</DisplayName>
        <AccountId>26</AccountId>
        <AccountType/>
      </UserInfo>
    </Contributors>
  </documentManagement>
</p:properties>
</file>

<file path=customXml/item4.xml><?xml version="1.0" encoding="utf-8"?>
<ct:contentTypeSchema xmlns:ct="http://schemas.microsoft.com/office/2006/metadata/contentType" xmlns:ma="http://schemas.microsoft.com/office/2006/metadata/properties/metaAttributes" ct:_="" ma:_="" ma:contentTypeName="VIKI New Document" ma:contentTypeID="0x010100F7548365F7A28B41B9A685ED46C1AC26001AB29883D45E2C4E9CA6FE95A9034FC3" ma:contentTypeVersion="5" ma:contentTypeDescription="" ma:contentTypeScope="" ma:versionID="bc1a5864616262670162eb204ab13928">
  <xsd:schema xmlns:xsd="http://www.w3.org/2001/XMLSchema" xmlns:xs="http://www.w3.org/2001/XMLSchema" xmlns:p="http://schemas.microsoft.com/office/2006/metadata/properties" xmlns:ns2="09339d3a-aaa0-497d-ae73-d8a5832d420d" targetNamespace="http://schemas.microsoft.com/office/2006/metadata/properties" ma:root="true" ma:fieldsID="86592b75fc3d2fa65ab3e34efd39cedb" ns2:_="">
    <xsd:import namespace="09339d3a-aaa0-497d-ae73-d8a5832d420d"/>
    <xsd:element name="properties">
      <xsd:complexType>
        <xsd:sequence>
          <xsd:element name="documentManagement">
            <xsd:complexType>
              <xsd:all>
                <xsd:element ref="ns2:Classification"/>
                <xsd:element ref="ns2:Contributors"/>
                <xsd:element ref="ns2:Departments"/>
                <xsd:element ref="ns2:SubCategory"/>
                <xsd:element ref="ns2:Tags"/>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339d3a-aaa0-497d-ae73-d8a5832d420d" elementFormDefault="qualified">
    <xsd:import namespace="http://schemas.microsoft.com/office/2006/documentManagement/types"/>
    <xsd:import namespace="http://schemas.microsoft.com/office/infopath/2007/PartnerControls"/>
    <xsd:element name="Classification" ma:index="8" ma:displayName="Classification" ma:description="Refer Help &gt; Guidelines" ma:format="Dropdown" ma:internalName="Classification">
      <xsd:simpleType>
        <xsd:restriction base="dms:Choice">
          <xsd:enumeration value="Sensitive"/>
          <xsd:enumeration value="Confidential"/>
          <xsd:enumeration value="Internally Restricted"/>
          <xsd:enumeration value="Internal Use"/>
        </xsd:restriction>
      </xsd:simpleType>
    </xsd:element>
    <xsd:element name="Contributors" ma:index="9" ma:displayName="Contributors" ma:list="UserInfo" ma:SharePointGroup="0" ma:internalName="Contributors" ma:showField="Department">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Departments" ma:index="10" ma:displayName="Departments" ma:format="Dropdown" ma:internalName="Departments">
      <xsd:simpleType>
        <xsd:restriction base="dms:Choice">
          <xsd:enumeration value="Accounts"/>
          <xsd:enumeration value="Banking"/>
          <xsd:enumeration value="BizDynamics"/>
          <xsd:enumeration value="CCM"/>
          <xsd:enumeration value="Client Services"/>
          <xsd:enumeration value="Core Leverage"/>
          <xsd:enumeration value="Data Leverage"/>
          <xsd:enumeration value="Digital &amp; Cloud"/>
          <xsd:enumeration value="Facilities"/>
          <xsd:enumeration value="Finance"/>
          <xsd:enumeration value="Financial Services"/>
          <xsd:enumeration value="GRC Operations"/>
          <xsd:enumeration value="HR"/>
          <xsd:enumeration value="Insurance Health Care"/>
          <xsd:enumeration value="Insurance Life"/>
          <xsd:enumeration value="Insurance P&amp;C"/>
          <xsd:enumeration value="IT Operations"/>
          <xsd:enumeration value="Learning &amp; Development"/>
          <xsd:enumeration value="Management System"/>
          <xsd:enumeration value="Marketing"/>
          <xsd:enumeration value="Network Operations"/>
          <xsd:enumeration value="Operations"/>
          <xsd:enumeration value="Organization"/>
          <xsd:enumeration value="PMO"/>
          <xsd:enumeration value="Quality Leap"/>
          <xsd:enumeration value="Sales"/>
          <xsd:enumeration value="Security Operations"/>
          <xsd:enumeration value="WhiteCoats"/>
        </xsd:restriction>
      </xsd:simpleType>
    </xsd:element>
    <xsd:element name="SubCategory" ma:index="11" ma:displayName="SubCategory" ma:format="Dropdown" ma:internalName="SubCategory" ma:readOnly="false">
      <xsd:simpleType>
        <xsd:restriction base="dms:Choice">
          <xsd:enumeration value="Accelerator"/>
          <xsd:enumeration value="Analysis"/>
          <xsd:enumeration value="Architecture"/>
          <xsd:enumeration value="Best Practice"/>
          <xsd:enumeration value="Case Study"/>
          <xsd:enumeration value="Change Management"/>
          <xsd:enumeration value="Checklist"/>
          <xsd:enumeration value="Design Patterns"/>
          <xsd:enumeration value="Form"/>
          <xsd:enumeration value="Guideline"/>
          <xsd:enumeration value="Learning"/>
          <xsd:enumeration value="Market Research"/>
          <xsd:enumeration value="Methodology"/>
          <xsd:enumeration value="Policy"/>
          <xsd:enumeration value="Presales"/>
          <xsd:enumeration value="Presentation"/>
          <xsd:enumeration value="Procedure"/>
          <xsd:enumeration value="Process"/>
          <xsd:enumeration value="Program Management"/>
          <xsd:enumeration value="Project Closure"/>
          <xsd:enumeration value="Project Proposal"/>
          <xsd:enumeration value="Quality Management"/>
          <xsd:enumeration value="Report"/>
          <xsd:enumeration value="Risk Management"/>
          <xsd:enumeration value="SOW"/>
          <xsd:enumeration value="Standards"/>
          <xsd:enumeration value="Training"/>
          <xsd:enumeration value="Value Addition"/>
          <xsd:enumeration value="White Paper"/>
        </xsd:restriction>
      </xsd:simpleType>
    </xsd:element>
    <xsd:element name="Tags" ma:index="12" ma:displayName="Tags" ma:internalName="Tags">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14B9FCC-57EC-4A68-BA21-55C767A21873}"/>
</file>

<file path=customXml/itemProps2.xml><?xml version="1.0" encoding="utf-8"?>
<ds:datastoreItem xmlns:ds="http://schemas.openxmlformats.org/officeDocument/2006/customXml" ds:itemID="{E7D7A754-7821-4EB4-A551-56DEB8BB28B8}"/>
</file>

<file path=customXml/itemProps3.xml><?xml version="1.0" encoding="utf-8"?>
<ds:datastoreItem xmlns:ds="http://schemas.openxmlformats.org/officeDocument/2006/customXml" ds:itemID="{D20BDD19-5DDE-46E2-97DF-0CF9CA0301EA}"/>
</file>

<file path=customXml/itemProps4.xml><?xml version="1.0" encoding="utf-8"?>
<ds:datastoreItem xmlns:ds="http://schemas.openxmlformats.org/officeDocument/2006/customXml" ds:itemID="{98E45FDB-075B-470D-B895-ACA124E30FE0}"/>
</file>

<file path=docProps/app.xml><?xml version="1.0" encoding="utf-8"?>
<Properties xmlns="http://schemas.openxmlformats.org/officeDocument/2006/extended-properties" xmlns:vt="http://schemas.openxmlformats.org/officeDocument/2006/docPropsVTypes">
  <TotalTime>10</TotalTime>
  <Words>1744</Words>
  <Application>Microsoft Office PowerPoint</Application>
  <PresentationFormat>Widescreen</PresentationFormat>
  <Paragraphs>142</Paragraphs>
  <Slides>15</Slides>
  <Notes>5</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Arial Narrow</vt:lpstr>
      <vt:lpstr>Calibri</vt:lpstr>
      <vt:lpstr>Calibri Light</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'Employer's Liability Insurance'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Alok Bharati</dc:creator>
  <cp:lastModifiedBy>Alok Bharati</cp:lastModifiedBy>
  <cp:revision>4</cp:revision>
  <dcterms:created xsi:type="dcterms:W3CDTF">2016-07-01T12:18:22Z</dcterms:created>
  <dcterms:modified xsi:type="dcterms:W3CDTF">2016-07-01T12:31:02Z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0x010100F7548365F7A28B41B9A685ED46C1AC26001AB29883D45E2C4E9CA6FE95A9034FC3</vt:lpwstr>
  </property>
  <property fmtid="{D5CDD505-2E9C-101B-9397-08002B2CF9AE}" pid="3" name="Order">
    <vt:r8>5700</vt:r8>
  </property>
  <property fmtid="{D5CDD505-2E9C-101B-9397-08002B2CF9AE}" pid="4" name="xd_Signature">
    <vt:bool>false</vt:bool>
  </property>
  <property fmtid="{D5CDD505-2E9C-101B-9397-08002B2CF9AE}" pid="5" name="xd_ProgID">
    <vt:lpwstr/>
  </property>
  <property fmtid="{D5CDD505-2E9C-101B-9397-08002B2CF9AE}" pid="6" name="_ExtendedDescription">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
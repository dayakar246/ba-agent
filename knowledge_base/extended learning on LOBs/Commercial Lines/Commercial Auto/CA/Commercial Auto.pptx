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61" r:id="rId5"/>
    <p:sldId id="262" r:id="rId6"/>
    <p:sldId id="267" r:id="rId7"/>
    <p:sldId id="257" r:id="rId8"/>
    <p:sldId id="264" r:id="rId9"/>
    <p:sldId id="263" r:id="rId10"/>
    <p:sldId id="259" r:id="rId11"/>
    <p:sldId id="265" r:id="rId12"/>
    <p:sldId id="266"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6B616D-FA3A-4BBA-9401-515D15CBAB25}" v="108" dt="2020-06-15T10:30:48.229"/>
    <p1510:client id="{5D42D563-AC8D-4422-B5C5-612CDC40B53C}" v="10" dt="2020-05-20T09:26:31.157"/>
    <p1510:client id="{5D57FAC3-D94B-4A4B-A274-C58CF64418C2}" v="1" dt="2020-05-07T08:14:26.713"/>
    <p1510:client id="{E23F85D0-FC84-4AC4-8E52-F4306CDD691F}" v="6" dt="2020-05-07T08:27:16.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ustomXml" Target="../customXml/item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nika Das" userId="S::karnika.das@valuemomentum.com::90879897-c20d-448f-ab29-64c43d7bbf24" providerId="AD" clId="Web-{5D42D563-AC8D-4422-B5C5-612CDC40B53C}"/>
    <pc:docChg chg="modSld">
      <pc:chgData name="Karnika Das" userId="S::karnika.das@valuemomentum.com::90879897-c20d-448f-ab29-64c43d7bbf24" providerId="AD" clId="Web-{5D42D563-AC8D-4422-B5C5-612CDC40B53C}" dt="2020-05-20T09:26:29.844" v="8" actId="20577"/>
      <pc:docMkLst>
        <pc:docMk/>
      </pc:docMkLst>
      <pc:sldChg chg="modSp">
        <pc:chgData name="Karnika Das" userId="S::karnika.das@valuemomentum.com::90879897-c20d-448f-ab29-64c43d7bbf24" providerId="AD" clId="Web-{5D42D563-AC8D-4422-B5C5-612CDC40B53C}" dt="2020-05-20T09:26:28.517" v="6" actId="20577"/>
        <pc:sldMkLst>
          <pc:docMk/>
          <pc:sldMk cId="1192236112" sldId="267"/>
        </pc:sldMkLst>
        <pc:spChg chg="mod">
          <ac:chgData name="Karnika Das" userId="S::karnika.das@valuemomentum.com::90879897-c20d-448f-ab29-64c43d7bbf24" providerId="AD" clId="Web-{5D42D563-AC8D-4422-B5C5-612CDC40B53C}" dt="2020-05-20T09:26:28.517" v="6" actId="20577"/>
          <ac:spMkLst>
            <pc:docMk/>
            <pc:sldMk cId="1192236112" sldId="267"/>
            <ac:spMk id="3" creationId="{07B329DA-89FE-44DF-8F0B-E90FD63167C2}"/>
          </ac:spMkLst>
        </pc:spChg>
      </pc:sldChg>
    </pc:docChg>
  </pc:docChgLst>
  <pc:docChgLst>
    <pc:chgData name="Alok Bharati" userId="S::alok.bharati@valuemomentum.com::2f6e0e27-ace8-4335-a59d-f4692af8e221" providerId="AD" clId="Web-{5D57FAC3-D94B-4A4B-A274-C58CF64418C2}"/>
    <pc:docChg chg="sldOrd">
      <pc:chgData name="Alok Bharati" userId="S::alok.bharati@valuemomentum.com::2f6e0e27-ace8-4335-a59d-f4692af8e221" providerId="AD" clId="Web-{5D57FAC3-D94B-4A4B-A274-C58CF64418C2}" dt="2020-05-07T08:14:26.697" v="0"/>
      <pc:docMkLst>
        <pc:docMk/>
      </pc:docMkLst>
      <pc:sldChg chg="ord">
        <pc:chgData name="Alok Bharati" userId="S::alok.bharati@valuemomentum.com::2f6e0e27-ace8-4335-a59d-f4692af8e221" providerId="AD" clId="Web-{5D57FAC3-D94B-4A4B-A274-C58CF64418C2}" dt="2020-05-07T08:14:26.697" v="0"/>
        <pc:sldMkLst>
          <pc:docMk/>
          <pc:sldMk cId="1192236112" sldId="267"/>
        </pc:sldMkLst>
      </pc:sldChg>
    </pc:docChg>
  </pc:docChgLst>
  <pc:docChgLst>
    <pc:chgData name="Karnika Das" userId="S::karnika.das@valuemomentum.com::90879897-c20d-448f-ab29-64c43d7bbf24" providerId="AD" clId="Web-{176B616D-FA3A-4BBA-9401-515D15CBAB25}"/>
    <pc:docChg chg="delSld modSld">
      <pc:chgData name="Karnika Das" userId="S::karnika.das@valuemomentum.com::90879897-c20d-448f-ab29-64c43d7bbf24" providerId="AD" clId="Web-{176B616D-FA3A-4BBA-9401-515D15CBAB25}" dt="2020-06-15T10:30:48.229" v="106"/>
      <pc:docMkLst>
        <pc:docMk/>
      </pc:docMkLst>
      <pc:sldChg chg="modSp">
        <pc:chgData name="Karnika Das" userId="S::karnika.das@valuemomentum.com::90879897-c20d-448f-ab29-64c43d7bbf24" providerId="AD" clId="Web-{176B616D-FA3A-4BBA-9401-515D15CBAB25}" dt="2020-06-15T10:23:26.269" v="18" actId="20577"/>
        <pc:sldMkLst>
          <pc:docMk/>
          <pc:sldMk cId="1868874999" sldId="257"/>
        </pc:sldMkLst>
        <pc:spChg chg="mod">
          <ac:chgData name="Karnika Das" userId="S::karnika.das@valuemomentum.com::90879897-c20d-448f-ab29-64c43d7bbf24" providerId="AD" clId="Web-{176B616D-FA3A-4BBA-9401-515D15CBAB25}" dt="2020-06-15T10:23:26.269" v="18" actId="20577"/>
          <ac:spMkLst>
            <pc:docMk/>
            <pc:sldMk cId="1868874999" sldId="257"/>
            <ac:spMk id="3" creationId="{00000000-0000-0000-0000-000000000000}"/>
          </ac:spMkLst>
        </pc:spChg>
      </pc:sldChg>
      <pc:sldChg chg="del">
        <pc:chgData name="Karnika Das" userId="S::karnika.das@valuemomentum.com::90879897-c20d-448f-ab29-64c43d7bbf24" providerId="AD" clId="Web-{176B616D-FA3A-4BBA-9401-515D15CBAB25}" dt="2020-06-15T10:30:48.229" v="106"/>
        <pc:sldMkLst>
          <pc:docMk/>
          <pc:sldMk cId="3522871728" sldId="258"/>
        </pc:sldMkLst>
      </pc:sldChg>
      <pc:sldChg chg="addSp modSp addAnim">
        <pc:chgData name="Karnika Das" userId="S::karnika.das@valuemomentum.com::90879897-c20d-448f-ab29-64c43d7bbf24" providerId="AD" clId="Web-{176B616D-FA3A-4BBA-9401-515D15CBAB25}" dt="2020-06-15T10:25:20.369" v="104" actId="20577"/>
        <pc:sldMkLst>
          <pc:docMk/>
          <pc:sldMk cId="1276402992" sldId="263"/>
        </pc:sldMkLst>
        <pc:spChg chg="mod">
          <ac:chgData name="Karnika Das" userId="S::karnika.das@valuemomentum.com::90879897-c20d-448f-ab29-64c43d7bbf24" providerId="AD" clId="Web-{176B616D-FA3A-4BBA-9401-515D15CBAB25}" dt="2020-06-15T10:25:20.369" v="104" actId="20577"/>
          <ac:spMkLst>
            <pc:docMk/>
            <pc:sldMk cId="1276402992" sldId="263"/>
            <ac:spMk id="2" creationId="{00000000-0000-0000-0000-000000000000}"/>
          </ac:spMkLst>
        </pc:spChg>
        <pc:spChg chg="add mod">
          <ac:chgData name="Karnika Das" userId="S::karnika.das@valuemomentum.com::90879897-c20d-448f-ab29-64c43d7bbf24" providerId="AD" clId="Web-{176B616D-FA3A-4BBA-9401-515D15CBAB25}" dt="2020-06-15T10:25:03.821" v="96" actId="20577"/>
          <ac:spMkLst>
            <pc:docMk/>
            <pc:sldMk cId="1276402992" sldId="263"/>
            <ac:spMk id="5" creationId="{3FD78337-B6D9-4B8C-9087-E5EDEC395FBA}"/>
          </ac:spMkLst>
        </pc:spChg>
      </pc:sldChg>
    </pc:docChg>
  </pc:docChgLst>
  <pc:docChgLst>
    <pc:chgData name="Alok Bharati" userId="S::alok.bharati@valuemomentum.com::2f6e0e27-ace8-4335-a59d-f4692af8e221" providerId="AD" clId="Web-{E23F85D0-FC84-4AC4-8E52-F4306CDD691F}"/>
    <pc:docChg chg="modSld">
      <pc:chgData name="Alok Bharati" userId="S::alok.bharati@valuemomentum.com::2f6e0e27-ace8-4335-a59d-f4692af8e221" providerId="AD" clId="Web-{E23F85D0-FC84-4AC4-8E52-F4306CDD691F}" dt="2020-05-07T08:27:16.760" v="5" actId="20577"/>
      <pc:docMkLst>
        <pc:docMk/>
      </pc:docMkLst>
      <pc:sldChg chg="modSp">
        <pc:chgData name="Alok Bharati" userId="S::alok.bharati@valuemomentum.com::2f6e0e27-ace8-4335-a59d-f4692af8e221" providerId="AD" clId="Web-{E23F85D0-FC84-4AC4-8E52-F4306CDD691F}" dt="2020-05-07T08:27:16.760" v="4" actId="20577"/>
        <pc:sldMkLst>
          <pc:docMk/>
          <pc:sldMk cId="1192236112" sldId="267"/>
        </pc:sldMkLst>
        <pc:spChg chg="mod">
          <ac:chgData name="Alok Bharati" userId="S::alok.bharati@valuemomentum.com::2f6e0e27-ace8-4335-a59d-f4692af8e221" providerId="AD" clId="Web-{E23F85D0-FC84-4AC4-8E52-F4306CDD691F}" dt="2020-05-07T08:27:16.760" v="4" actId="20577"/>
          <ac:spMkLst>
            <pc:docMk/>
            <pc:sldMk cId="1192236112" sldId="267"/>
            <ac:spMk id="2" creationId="{C6F8C898-4369-4185-BE15-E2744980B4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D87FC3-0AB0-4A4E-B7F3-FF1177F3C3C1}" type="datetimeFigureOut">
              <a:rPr lang="en-US" smtClean="0"/>
              <a:t>6/15/2020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D9371D-AEF7-4CA8-85C2-DEDDC051CD91}" type="slidenum">
              <a:rPr lang="en-US" smtClean="0"/>
              <a:t>‹#›</a:t>
            </a:fld>
            <a:endParaRPr lang="en-US"/>
          </a:p>
        </p:txBody>
      </p:sp>
    </p:spTree>
    <p:extLst>
      <p:ext uri="{BB962C8B-B14F-4D97-AF65-F5344CB8AC3E}">
        <p14:creationId xmlns:p14="http://schemas.microsoft.com/office/powerpoint/2010/main" val="1769575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1</a:t>
            </a:fld>
            <a:endParaRPr lang="en-US"/>
          </a:p>
        </p:txBody>
      </p:sp>
    </p:spTree>
    <p:extLst>
      <p:ext uri="{BB962C8B-B14F-4D97-AF65-F5344CB8AC3E}">
        <p14:creationId xmlns:p14="http://schemas.microsoft.com/office/powerpoint/2010/main" val="45897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Auto Property loss exposure exists for any organization that owns one or more autos. Physical damage to or loss of an auto from many different causes of loss can reduce the auto’s value or reduce business income until the vehicle can be repaired or replaced.</a:t>
            </a:r>
          </a:p>
          <a:p>
            <a:r>
              <a:rPr lang="en-US"/>
              <a:t>Auto Liability exposure is the possibility that the organization may have to defend itself against, and perhaps pay damages as a result of, suits alleging negligent ownership, maintenance, or use of autos.</a:t>
            </a:r>
          </a:p>
          <a:p>
            <a:r>
              <a:rPr lang="en-US"/>
              <a:t>Liabilities can arise from owned autos, hired or borrowed autos, or employees’ autos operated on behalf of the organization.</a:t>
            </a:r>
          </a:p>
          <a:p>
            <a:pPr marL="0" marR="0" indent="0" algn="l" defTabSz="914400" rtl="0" eaLnBrk="0" fontAlgn="base" latinLnBrk="0" hangingPunct="0">
              <a:lnSpc>
                <a:spcPct val="100000"/>
              </a:lnSpc>
              <a:spcBef>
                <a:spcPct val="30000"/>
              </a:spcBef>
              <a:spcAft>
                <a:spcPct val="0"/>
              </a:spcAft>
              <a:buClrTx/>
              <a:buSzTx/>
              <a:buFontTx/>
              <a:buNone/>
              <a:tabLst/>
              <a:defRPr/>
            </a:pPr>
            <a:r>
              <a:rPr lang="en-US" u="sng"/>
              <a:t>Liability assumed under contract- </a:t>
            </a:r>
            <a:r>
              <a:rPr lang="en-US"/>
              <a:t>An auto rental agreement or lease may contain a Hold Harmless Agreement whereby the renter, or lessee (company), agrees to indemnify the owner for the owner’s liability to others arising out of the hired auto.</a:t>
            </a:r>
          </a:p>
          <a:p>
            <a:pPr marL="0" marR="0" indent="0" algn="l" defTabSz="914400" rtl="0" eaLnBrk="0" fontAlgn="base" latinLnBrk="0" hangingPunct="0">
              <a:lnSpc>
                <a:spcPct val="100000"/>
              </a:lnSpc>
              <a:spcBef>
                <a:spcPct val="30000"/>
              </a:spcBef>
              <a:spcAft>
                <a:spcPct val="0"/>
              </a:spcAft>
              <a:buClrTx/>
              <a:buSzTx/>
              <a:buFontTx/>
              <a:buNone/>
              <a:tabLst/>
              <a:defRPr/>
            </a:pPr>
            <a:r>
              <a:rPr lang="en-US" u="sng"/>
              <a:t>Employer’s non ownership Liability:</a:t>
            </a:r>
            <a:r>
              <a:rPr lang="en-US" u="sng" baseline="0"/>
              <a:t> </a:t>
            </a:r>
            <a:r>
              <a:rPr lang="en-US" baseline="0"/>
              <a:t>an employer’s liability for its employee’s operation of their autos in the employer’s business.</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a:t>Bailee Loss exposures: Some businesses, such as repair shops, service stations, and parking lots, take temporary possession of customer’s autos. So, they face the </a:t>
            </a:r>
            <a:r>
              <a:rPr lang="en-US" baseline="0" err="1"/>
              <a:t>bailee</a:t>
            </a:r>
            <a:r>
              <a:rPr lang="en-US" baseline="0"/>
              <a:t> loss exposures. A </a:t>
            </a:r>
            <a:r>
              <a:rPr lang="en-US" baseline="0" err="1"/>
              <a:t>bailee</a:t>
            </a:r>
            <a:r>
              <a:rPr lang="en-US" baseline="0"/>
              <a:t> is legally liable for damage for damage to customers’ property only if the damage occurs as a result of the </a:t>
            </a:r>
            <a:r>
              <a:rPr lang="en-US" baseline="0" err="1"/>
              <a:t>bailee’s</a:t>
            </a:r>
            <a:r>
              <a:rPr lang="en-US" baseline="0"/>
              <a:t> negligence. If not they choose to make ‘ good will’ payment.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p>
          <a:p>
            <a:endParaRPr lang="en-US"/>
          </a:p>
          <a:p>
            <a:endParaRPr lang="en-US"/>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4</a:t>
            </a:fld>
            <a:endParaRPr lang="en-US"/>
          </a:p>
        </p:txBody>
      </p:sp>
    </p:spTree>
    <p:extLst>
      <p:ext uri="{BB962C8B-B14F-4D97-AF65-F5344CB8AC3E}">
        <p14:creationId xmlns:p14="http://schemas.microsoft.com/office/powerpoint/2010/main" val="1861047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FC6FBEA-D210-4337-B1D4-50C14425835A}" type="datetimeFigureOut">
              <a:rPr lang="en-US" smtClean="0"/>
              <a:t>6/15/2020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111153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C6FBEA-D210-4337-B1D4-50C14425835A}" type="datetimeFigureOut">
              <a:rPr lang="en-US" smtClean="0"/>
              <a:t>6/15/2020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198895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C6FBEA-D210-4337-B1D4-50C14425835A}" type="datetimeFigureOut">
              <a:rPr lang="en-US" smtClean="0"/>
              <a:t>6/15/2020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1150057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FC6FBEA-D210-4337-B1D4-50C14425835A}" type="datetimeFigureOut">
              <a:rPr lang="en-US" smtClean="0"/>
              <a:t>6/15/2020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391943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FC6FBEA-D210-4337-B1D4-50C14425835A}" type="datetimeFigureOut">
              <a:rPr lang="en-US" smtClean="0"/>
              <a:t>6/15/2020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3216204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C6FBEA-D210-4337-B1D4-50C14425835A}" type="datetimeFigureOut">
              <a:rPr lang="en-US" smtClean="0"/>
              <a:t>6/15/2020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3503411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C6FBEA-D210-4337-B1D4-50C14425835A}" type="datetimeFigureOut">
              <a:rPr lang="en-US" smtClean="0"/>
              <a:t>6/15/2020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1063746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C6FBEA-D210-4337-B1D4-50C14425835A}" type="datetimeFigureOut">
              <a:rPr lang="en-US" smtClean="0"/>
              <a:t>6/15/2020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2357886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C6FBEA-D210-4337-B1D4-50C14425835A}" type="datetimeFigureOut">
              <a:rPr lang="en-US" smtClean="0"/>
              <a:t>6/15/2020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1045768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C6FBEA-D210-4337-B1D4-50C14425835A}" type="datetimeFigureOut">
              <a:rPr lang="en-US" smtClean="0"/>
              <a:t>6/15/2020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260182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C6FBEA-D210-4337-B1D4-50C14425835A}" type="datetimeFigureOut">
              <a:rPr lang="en-US" smtClean="0"/>
              <a:t>6/15/2020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230753-2AA4-4B73-BA98-119857BB550C}" type="slidenum">
              <a:rPr lang="en-US" smtClean="0"/>
              <a:t>‹#›</a:t>
            </a:fld>
            <a:endParaRPr lang="en-US"/>
          </a:p>
        </p:txBody>
      </p:sp>
    </p:spTree>
    <p:extLst>
      <p:ext uri="{BB962C8B-B14F-4D97-AF65-F5344CB8AC3E}">
        <p14:creationId xmlns:p14="http://schemas.microsoft.com/office/powerpoint/2010/main" val="2515613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4809592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8368064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413760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285019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spTree>
    <p:extLst>
      <p:ext uri="{BB962C8B-B14F-4D97-AF65-F5344CB8AC3E}">
        <p14:creationId xmlns:p14="http://schemas.microsoft.com/office/powerpoint/2010/main" val="2290620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C6FBEA-D210-4337-B1D4-50C14425835A}" type="datetimeFigureOut">
              <a:rPr lang="en-US" smtClean="0"/>
              <a:t>6/15/2020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230753-2AA4-4B73-BA98-119857BB550C}" type="slidenum">
              <a:rPr lang="en-US" smtClean="0"/>
              <a:t>‹#›</a:t>
            </a:fld>
            <a:endParaRPr lang="en-US"/>
          </a:p>
        </p:txBody>
      </p:sp>
    </p:spTree>
    <p:extLst>
      <p:ext uri="{BB962C8B-B14F-4D97-AF65-F5344CB8AC3E}">
        <p14:creationId xmlns:p14="http://schemas.microsoft.com/office/powerpoint/2010/main" val="3784917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2mck1OSUWtY" TargetMode="External"/><Relationship Id="rId2" Type="http://schemas.openxmlformats.org/officeDocument/2006/relationships/hyperlink" Target="https://youtu.be/LYH37mGcHZw" TargetMode="External"/><Relationship Id="rId1" Type="http://schemas.openxmlformats.org/officeDocument/2006/relationships/slideLayout" Target="../slideLayouts/slideLayout15.xml"/><Relationship Id="rId6" Type="http://schemas.openxmlformats.org/officeDocument/2006/relationships/hyperlink" Target="https://youtu.be/CFfFpFaUXe4" TargetMode="External"/><Relationship Id="rId5" Type="http://schemas.openxmlformats.org/officeDocument/2006/relationships/hyperlink" Target="https://www.geico.com/information/aboutinsurance/commercial/" TargetMode="External"/><Relationship Id="rId4" Type="http://schemas.openxmlformats.org/officeDocument/2006/relationships/hyperlink" Target="https://youtu.be/WScOc-a11bk"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s://www.allstate.com/tools-and-resources/videos/typically-covered-homeowners-insurance.aspx" TargetMode="External"/><Relationship Id="rId2" Type="http://schemas.openxmlformats.org/officeDocument/2006/relationships/image" Target="../media/image4.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txBox="1">
            <a:spLocks/>
          </p:cNvSpPr>
          <p:nvPr/>
        </p:nvSpPr>
        <p:spPr bwMode="auto">
          <a:xfrm>
            <a:off x="8458200" y="6553200"/>
            <a:ext cx="2209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CACAED3A-D58B-42F2-AC44-6CCF5080DCCD}" type="slidenum">
              <a:rPr lang="en-US" altLang="en-US" sz="1400"/>
              <a:pPr algn="r" eaLnBrk="1" hangingPunct="1">
                <a:spcBef>
                  <a:spcPct val="0"/>
                </a:spcBef>
                <a:buFontTx/>
                <a:buNone/>
              </a:pPr>
              <a:t>1</a:t>
            </a:fld>
            <a:endParaRPr lang="en-US" altLang="en-US" sz="1400"/>
          </a:p>
        </p:txBody>
      </p:sp>
      <p:sp>
        <p:nvSpPr>
          <p:cNvPr id="21507" name="Rectangle 66"/>
          <p:cNvSpPr>
            <a:spLocks noChangeArrowheads="1"/>
          </p:cNvSpPr>
          <p:nvPr/>
        </p:nvSpPr>
        <p:spPr bwMode="auto">
          <a:xfrm>
            <a:off x="1600200" y="182563"/>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a:solidFill>
                  <a:schemeClr val="bg1"/>
                </a:solidFill>
              </a:rPr>
              <a:t>Commercial Lines</a:t>
            </a:r>
          </a:p>
        </p:txBody>
      </p:sp>
      <p:sp>
        <p:nvSpPr>
          <p:cNvPr id="21508" name="Rectangle 5"/>
          <p:cNvSpPr>
            <a:spLocks noChangeArrowheads="1"/>
          </p:cNvSpPr>
          <p:nvPr/>
        </p:nvSpPr>
        <p:spPr bwMode="auto">
          <a:xfrm>
            <a:off x="1676400" y="3325813"/>
            <a:ext cx="876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SzPct val="120000"/>
              <a:buFontTx/>
              <a:buNone/>
            </a:pPr>
            <a:r>
              <a:rPr lang="en-US" altLang="en-US" sz="2400">
                <a:solidFill>
                  <a:srgbClr val="FF0000"/>
                </a:solidFill>
                <a:latin typeface="Verdana" panose="020B0604030504040204" pitchFamily="34" charset="0"/>
              </a:rPr>
              <a:t> </a:t>
            </a:r>
            <a:endParaRPr lang="en-US" altLang="en-US" sz="2400">
              <a:solidFill>
                <a:srgbClr val="008000"/>
              </a:solidFill>
              <a:latin typeface="Verdana" panose="020B0604030504040204" pitchFamily="34" charset="0"/>
            </a:endParaRPr>
          </a:p>
        </p:txBody>
      </p:sp>
      <p:sp>
        <p:nvSpPr>
          <p:cNvPr id="6" name="Rectangle 6"/>
          <p:cNvSpPr>
            <a:spLocks noChangeArrowheads="1"/>
          </p:cNvSpPr>
          <p:nvPr/>
        </p:nvSpPr>
        <p:spPr bwMode="auto">
          <a:xfrm>
            <a:off x="4648200" y="1981200"/>
            <a:ext cx="2590800" cy="914400"/>
          </a:xfrm>
          <a:prstGeom prst="rect">
            <a:avLst/>
          </a:prstGeom>
          <a:solidFill>
            <a:schemeClr val="accent6"/>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a:solidFill>
                  <a:schemeClr val="tx1"/>
                </a:solidFill>
              </a:rPr>
              <a:t>Commercial</a:t>
            </a:r>
          </a:p>
        </p:txBody>
      </p:sp>
      <p:sp>
        <p:nvSpPr>
          <p:cNvPr id="7" name="Rectangle 11"/>
          <p:cNvSpPr>
            <a:spLocks noChangeArrowheads="1"/>
          </p:cNvSpPr>
          <p:nvPr/>
        </p:nvSpPr>
        <p:spPr bwMode="auto">
          <a:xfrm>
            <a:off x="1676400" y="4191000"/>
            <a:ext cx="1143000" cy="914400"/>
          </a:xfrm>
          <a:prstGeom prst="rect">
            <a:avLst/>
          </a:prstGeom>
          <a:solidFill>
            <a:schemeClr val="accent1">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a:solidFill>
                  <a:prstClr val="black"/>
                </a:solidFill>
              </a:rPr>
              <a:t>General </a:t>
            </a:r>
          </a:p>
          <a:p>
            <a:pPr algn="ctr" eaLnBrk="1" hangingPunct="1">
              <a:defRPr/>
            </a:pPr>
            <a:r>
              <a:rPr lang="en-US" sz="1400" b="1">
                <a:solidFill>
                  <a:prstClr val="black"/>
                </a:solidFill>
              </a:rPr>
              <a:t>Liability</a:t>
            </a:r>
          </a:p>
        </p:txBody>
      </p:sp>
      <p:sp>
        <p:nvSpPr>
          <p:cNvPr id="8" name="Rectangle 12"/>
          <p:cNvSpPr>
            <a:spLocks noChangeArrowheads="1"/>
          </p:cNvSpPr>
          <p:nvPr/>
        </p:nvSpPr>
        <p:spPr bwMode="auto">
          <a:xfrm>
            <a:off x="3048000" y="4191000"/>
            <a:ext cx="12192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a:solidFill>
                  <a:prstClr val="black"/>
                </a:solidFill>
              </a:rPr>
              <a:t>Property</a:t>
            </a:r>
          </a:p>
        </p:txBody>
      </p:sp>
      <p:sp>
        <p:nvSpPr>
          <p:cNvPr id="9" name="Rectangle 13"/>
          <p:cNvSpPr>
            <a:spLocks noChangeArrowheads="1"/>
          </p:cNvSpPr>
          <p:nvPr/>
        </p:nvSpPr>
        <p:spPr bwMode="auto">
          <a:xfrm>
            <a:off x="4419600" y="4191000"/>
            <a:ext cx="11430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a:solidFill>
                  <a:prstClr val="black"/>
                </a:solidFill>
              </a:rPr>
              <a:t>Business</a:t>
            </a:r>
          </a:p>
          <a:p>
            <a:pPr algn="ctr" eaLnBrk="1" hangingPunct="1">
              <a:defRPr/>
            </a:pPr>
            <a:r>
              <a:rPr lang="en-US" sz="1400" b="1">
                <a:solidFill>
                  <a:prstClr val="black"/>
                </a:solidFill>
              </a:rPr>
              <a:t>Owners</a:t>
            </a:r>
          </a:p>
          <a:p>
            <a:pPr algn="ctr" eaLnBrk="1" hangingPunct="1">
              <a:defRPr/>
            </a:pPr>
            <a:r>
              <a:rPr lang="en-US" sz="1400" b="1">
                <a:solidFill>
                  <a:prstClr val="black"/>
                </a:solidFill>
              </a:rPr>
              <a:t>Program</a:t>
            </a:r>
          </a:p>
        </p:txBody>
      </p:sp>
      <p:sp>
        <p:nvSpPr>
          <p:cNvPr id="10" name="Rectangle 14"/>
          <p:cNvSpPr>
            <a:spLocks noChangeArrowheads="1"/>
          </p:cNvSpPr>
          <p:nvPr/>
        </p:nvSpPr>
        <p:spPr bwMode="auto">
          <a:xfrm>
            <a:off x="5638800" y="4191000"/>
            <a:ext cx="1447800" cy="914400"/>
          </a:xfrm>
          <a:prstGeom prst="rect">
            <a:avLst/>
          </a:prstGeom>
          <a:solidFill>
            <a:srgbClr val="FFFF00"/>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a:solidFill>
                  <a:prstClr val="black"/>
                </a:solidFill>
              </a:rPr>
              <a:t>Commercial </a:t>
            </a:r>
          </a:p>
          <a:p>
            <a:pPr algn="ctr" eaLnBrk="1" hangingPunct="1">
              <a:defRPr/>
            </a:pPr>
            <a:r>
              <a:rPr lang="en-US" sz="1400" b="1">
                <a:solidFill>
                  <a:prstClr val="black"/>
                </a:solidFill>
              </a:rPr>
              <a:t>Auto</a:t>
            </a:r>
          </a:p>
        </p:txBody>
      </p:sp>
      <p:sp>
        <p:nvSpPr>
          <p:cNvPr id="11" name="Rectangle 18"/>
          <p:cNvSpPr>
            <a:spLocks noChangeArrowheads="1"/>
          </p:cNvSpPr>
          <p:nvPr/>
        </p:nvSpPr>
        <p:spPr bwMode="auto">
          <a:xfrm>
            <a:off x="7315200" y="4191000"/>
            <a:ext cx="14478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a:solidFill>
                  <a:prstClr val="black"/>
                </a:solidFill>
              </a:rPr>
              <a:t>Commercial</a:t>
            </a:r>
          </a:p>
          <a:p>
            <a:pPr algn="ctr" eaLnBrk="1" hangingPunct="1">
              <a:defRPr/>
            </a:pPr>
            <a:r>
              <a:rPr lang="en-US" sz="1400" b="1">
                <a:solidFill>
                  <a:prstClr val="black"/>
                </a:solidFill>
              </a:rPr>
              <a:t> Umbrella</a:t>
            </a:r>
          </a:p>
        </p:txBody>
      </p:sp>
      <p:sp>
        <p:nvSpPr>
          <p:cNvPr id="21515" name="Line 21"/>
          <p:cNvSpPr>
            <a:spLocks noChangeShapeType="1"/>
          </p:cNvSpPr>
          <p:nvPr/>
        </p:nvSpPr>
        <p:spPr bwMode="auto">
          <a:xfrm>
            <a:off x="5943600" y="28956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16" name="Line 22"/>
          <p:cNvSpPr>
            <a:spLocks noChangeShapeType="1"/>
          </p:cNvSpPr>
          <p:nvPr/>
        </p:nvSpPr>
        <p:spPr bwMode="auto">
          <a:xfrm>
            <a:off x="2057400" y="3505200"/>
            <a:ext cx="769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14" name="Rectangle 28"/>
          <p:cNvSpPr>
            <a:spLocks noChangeArrowheads="1"/>
          </p:cNvSpPr>
          <p:nvPr/>
        </p:nvSpPr>
        <p:spPr bwMode="auto">
          <a:xfrm>
            <a:off x="8915400" y="4191000"/>
            <a:ext cx="16002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a:solidFill>
                  <a:prstClr val="black"/>
                </a:solidFill>
              </a:rPr>
              <a:t>Workers </a:t>
            </a:r>
          </a:p>
          <a:p>
            <a:pPr algn="ctr" eaLnBrk="1" hangingPunct="1">
              <a:defRPr/>
            </a:pPr>
            <a:r>
              <a:rPr lang="en-US" sz="1400" b="1">
                <a:solidFill>
                  <a:prstClr val="black"/>
                </a:solidFill>
              </a:rPr>
              <a:t>Compensation</a:t>
            </a:r>
          </a:p>
        </p:txBody>
      </p:sp>
      <p:sp>
        <p:nvSpPr>
          <p:cNvPr id="21518" name="Line 30"/>
          <p:cNvSpPr>
            <a:spLocks noChangeShapeType="1"/>
          </p:cNvSpPr>
          <p:nvPr/>
        </p:nvSpPr>
        <p:spPr bwMode="auto">
          <a:xfrm>
            <a:off x="20574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19" name="Line 31"/>
          <p:cNvSpPr>
            <a:spLocks noChangeShapeType="1"/>
          </p:cNvSpPr>
          <p:nvPr/>
        </p:nvSpPr>
        <p:spPr bwMode="auto">
          <a:xfrm>
            <a:off x="3657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0" name="Line 32"/>
          <p:cNvSpPr>
            <a:spLocks noChangeShapeType="1"/>
          </p:cNvSpPr>
          <p:nvPr/>
        </p:nvSpPr>
        <p:spPr bwMode="auto">
          <a:xfrm>
            <a:off x="49530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1" name="Line 33"/>
          <p:cNvSpPr>
            <a:spLocks noChangeShapeType="1"/>
          </p:cNvSpPr>
          <p:nvPr/>
        </p:nvSpPr>
        <p:spPr bwMode="auto">
          <a:xfrm>
            <a:off x="6324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2" name="Line 34"/>
          <p:cNvSpPr>
            <a:spLocks noChangeShapeType="1"/>
          </p:cNvSpPr>
          <p:nvPr/>
        </p:nvSpPr>
        <p:spPr bwMode="auto">
          <a:xfrm>
            <a:off x="80010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3" name="Line 36"/>
          <p:cNvSpPr>
            <a:spLocks noChangeShapeType="1"/>
          </p:cNvSpPr>
          <p:nvPr/>
        </p:nvSpPr>
        <p:spPr bwMode="auto">
          <a:xfrm>
            <a:off x="9753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pic>
        <p:nvPicPr>
          <p:cNvPr id="2" name="Picture 1"/>
          <p:cNvPicPr>
            <a:picLocks noChangeAspect="1"/>
          </p:cNvPicPr>
          <p:nvPr/>
        </p:nvPicPr>
        <p:blipFill>
          <a:blip r:embed="rId3"/>
          <a:stretch>
            <a:fillRect/>
          </a:stretch>
        </p:blipFill>
        <p:spPr>
          <a:xfrm>
            <a:off x="10098025" y="0"/>
            <a:ext cx="1377815" cy="755970"/>
          </a:xfrm>
          <a:prstGeom prst="rect">
            <a:avLst/>
          </a:prstGeom>
        </p:spPr>
      </p:pic>
      <p:pic>
        <p:nvPicPr>
          <p:cNvPr id="3" name="Picture 2"/>
          <p:cNvPicPr>
            <a:picLocks noChangeAspect="1"/>
          </p:cNvPicPr>
          <p:nvPr/>
        </p:nvPicPr>
        <p:blipFill>
          <a:blip r:embed="rId4"/>
          <a:stretch>
            <a:fillRect/>
          </a:stretch>
        </p:blipFill>
        <p:spPr>
          <a:xfrm>
            <a:off x="1645848" y="893555"/>
            <a:ext cx="2609850" cy="1752600"/>
          </a:xfrm>
          <a:prstGeom prst="rect">
            <a:avLst/>
          </a:prstGeom>
        </p:spPr>
      </p:pic>
    </p:spTree>
    <p:extLst>
      <p:ext uri="{BB962C8B-B14F-4D97-AF65-F5344CB8AC3E}">
        <p14:creationId xmlns:p14="http://schemas.microsoft.com/office/powerpoint/2010/main" val="428805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27200" y="2552700"/>
            <a:ext cx="8750300" cy="1446550"/>
          </a:xfrm>
          <a:prstGeom prst="rect">
            <a:avLst/>
          </a:prstGeom>
          <a:noFill/>
        </p:spPr>
        <p:txBody>
          <a:bodyPr wrap="square" rtlCol="0">
            <a:spAutoFit/>
          </a:bodyPr>
          <a:lstStyle/>
          <a:p>
            <a:r>
              <a:rPr lang="en-US" sz="8800"/>
              <a:t>Commercial Auto</a:t>
            </a:r>
          </a:p>
        </p:txBody>
      </p:sp>
    </p:spTree>
    <p:extLst>
      <p:ext uri="{BB962C8B-B14F-4D97-AF65-F5344CB8AC3E}">
        <p14:creationId xmlns:p14="http://schemas.microsoft.com/office/powerpoint/2010/main" val="3364962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F8C898-4369-4185-BE15-E2744980B445}"/>
              </a:ext>
            </a:extLst>
          </p:cNvPr>
          <p:cNvSpPr/>
          <p:nvPr/>
        </p:nvSpPr>
        <p:spPr>
          <a:xfrm>
            <a:off x="636105" y="2828835"/>
            <a:ext cx="11290852" cy="1477328"/>
          </a:xfrm>
          <a:prstGeom prst="rect">
            <a:avLst/>
          </a:prstGeom>
        </p:spPr>
        <p:txBody>
          <a:bodyPr wrap="square" anchor="t">
            <a:spAutoFit/>
          </a:bodyPr>
          <a:lstStyle/>
          <a:p>
            <a:r>
              <a:rPr lang="en-US"/>
              <a:t>The Difference Between Personal and Commercial Auto Insurance : </a:t>
            </a:r>
            <a:r>
              <a:rPr lang="en-US">
                <a:hlinkClick r:id="rId2"/>
              </a:rPr>
              <a:t>https://youtu.be/LYH37mGcHZw</a:t>
            </a:r>
            <a:endParaRPr lang="en-US"/>
          </a:p>
          <a:p>
            <a:r>
              <a:rPr lang="en-US"/>
              <a:t>Understanding Auto Insurance : </a:t>
            </a:r>
            <a:r>
              <a:rPr lang="en-US">
                <a:hlinkClick r:id="rId3"/>
              </a:rPr>
              <a:t>https://youtu.be/2mck1OSUWtY</a:t>
            </a:r>
            <a:endParaRPr lang="en-US"/>
          </a:p>
          <a:p>
            <a:r>
              <a:rPr lang="en-US"/>
              <a:t>What Does Commercial Auto Insurance Cover? : </a:t>
            </a:r>
            <a:r>
              <a:rPr lang="en-US">
                <a:hlinkClick r:id="rId4"/>
              </a:rPr>
              <a:t>https://youtu.be/WScOc-a11bk</a:t>
            </a:r>
            <a:endParaRPr lang="en-US"/>
          </a:p>
          <a:p>
            <a:r>
              <a:rPr lang="en-US">
                <a:ea typeface="+mn-lt"/>
                <a:cs typeface="+mn-lt"/>
                <a:hlinkClick r:id="rId5"/>
              </a:rPr>
              <a:t>https://www.geico.com/information/aboutinsurance/commercial/</a:t>
            </a:r>
            <a:endParaRPr lang="en-US">
              <a:ea typeface="+mn-lt"/>
              <a:cs typeface="+mn-lt"/>
            </a:endParaRPr>
          </a:p>
          <a:p>
            <a:r>
              <a:rPr lang="en-US"/>
              <a:t>What Are the Benefits of Commercial Auto Insurance? </a:t>
            </a:r>
            <a:r>
              <a:rPr lang="en-US">
                <a:hlinkClick r:id="rId6"/>
              </a:rPr>
              <a:t>https://youtu.be/CFfFpFaUXe4</a:t>
            </a:r>
            <a:endParaRPr lang="en-US"/>
          </a:p>
        </p:txBody>
      </p:sp>
      <p:sp>
        <p:nvSpPr>
          <p:cNvPr id="3" name="TextBox 2">
            <a:extLst>
              <a:ext uri="{FF2B5EF4-FFF2-40B4-BE49-F238E27FC236}">
                <a16:creationId xmlns:a16="http://schemas.microsoft.com/office/drawing/2014/main" id="{07B329DA-89FE-44DF-8F0B-E90FD63167C2}"/>
              </a:ext>
            </a:extLst>
          </p:cNvPr>
          <p:cNvSpPr txBox="1"/>
          <p:nvPr/>
        </p:nvSpPr>
        <p:spPr>
          <a:xfrm>
            <a:off x="762000" y="190500"/>
            <a:ext cx="5105400" cy="381000"/>
          </a:xfrm>
          <a:prstGeom prst="rect">
            <a:avLst/>
          </a:prstGeom>
          <a:noFill/>
        </p:spPr>
        <p:txBody>
          <a:bodyPr wrap="square" rtlCol="0" anchor="t">
            <a:spAutoFit/>
          </a:bodyPr>
          <a:lstStyle/>
          <a:p>
            <a:r>
              <a:rPr lang="en-US">
                <a:solidFill>
                  <a:schemeClr val="bg1"/>
                </a:solidFill>
              </a:rPr>
              <a:t>Videos </a:t>
            </a:r>
          </a:p>
        </p:txBody>
      </p:sp>
    </p:spTree>
    <p:extLst>
      <p:ext uri="{BB962C8B-B14F-4D97-AF65-F5344CB8AC3E}">
        <p14:creationId xmlns:p14="http://schemas.microsoft.com/office/powerpoint/2010/main" val="119223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52600" y="228600"/>
            <a:ext cx="5334000" cy="369332"/>
          </a:xfrm>
          <a:prstGeom prst="rect">
            <a:avLst/>
          </a:prstGeom>
          <a:noFill/>
        </p:spPr>
        <p:txBody>
          <a:bodyPr wrap="square" rtlCol="0">
            <a:spAutoFit/>
          </a:bodyPr>
          <a:lstStyle/>
          <a:p>
            <a:r>
              <a:rPr lang="en-US">
                <a:solidFill>
                  <a:schemeClr val="bg1"/>
                </a:solidFill>
              </a:rPr>
              <a:t>Commercial Automobile Insurance</a:t>
            </a:r>
          </a:p>
        </p:txBody>
      </p:sp>
      <p:sp>
        <p:nvSpPr>
          <p:cNvPr id="3" name="TextBox 2"/>
          <p:cNvSpPr txBox="1"/>
          <p:nvPr/>
        </p:nvSpPr>
        <p:spPr>
          <a:xfrm>
            <a:off x="1993900" y="2133601"/>
            <a:ext cx="9144000" cy="2308324"/>
          </a:xfrm>
          <a:prstGeom prst="rect">
            <a:avLst/>
          </a:prstGeom>
          <a:noFill/>
        </p:spPr>
        <p:txBody>
          <a:bodyPr wrap="square" rtlCol="0" anchor="t">
            <a:spAutoFit/>
          </a:bodyPr>
          <a:lstStyle/>
          <a:p>
            <a:r>
              <a:rPr lang="en-US" b="1" dirty="0"/>
              <a:t>Automobile Loss Exposure :</a:t>
            </a:r>
          </a:p>
          <a:p>
            <a:endParaRPr lang="en-US" b="1"/>
          </a:p>
          <a:p>
            <a:pPr marL="800100" lvl="1" indent="-342900">
              <a:buFont typeface="Wingdings" panose="05000000000000000000" pitchFamily="2" charset="2"/>
              <a:buChar char="Ø"/>
            </a:pPr>
            <a:r>
              <a:rPr lang="en-US" b="1" dirty="0"/>
              <a:t>Property Loss </a:t>
            </a:r>
          </a:p>
          <a:p>
            <a:pPr marL="742950" lvl="1" indent="-285750">
              <a:buFont typeface="Wingdings" panose="05000000000000000000" pitchFamily="2" charset="2"/>
              <a:buChar char="Ø"/>
            </a:pPr>
            <a:endParaRPr lang="en-US" b="1"/>
          </a:p>
          <a:p>
            <a:pPr marL="742950" lvl="1" indent="-285750">
              <a:buFont typeface="Wingdings" panose="05000000000000000000" pitchFamily="2" charset="2"/>
              <a:buChar char="Ø"/>
            </a:pPr>
            <a:r>
              <a:rPr lang="en-US" b="1" dirty="0"/>
              <a:t>Liability Loss</a:t>
            </a:r>
            <a:endParaRPr lang="en-US" b="1" dirty="0">
              <a:cs typeface="Calibri"/>
            </a:endParaRPr>
          </a:p>
          <a:p>
            <a:pPr marL="742950" lvl="1" indent="-285750">
              <a:buFont typeface="Wingdings" panose="05000000000000000000" pitchFamily="2" charset="2"/>
              <a:buChar char="Ø"/>
            </a:pPr>
            <a:endParaRPr lang="en-US" b="1" dirty="0">
              <a:cs typeface="Calibri"/>
            </a:endParaRPr>
          </a:p>
          <a:p>
            <a:pPr marL="742950" lvl="1" indent="-285750">
              <a:buFont typeface="Wingdings" panose="05000000000000000000" pitchFamily="2" charset="2"/>
              <a:buChar char="Ø"/>
            </a:pPr>
            <a:r>
              <a:rPr lang="en-US" b="1" dirty="0">
                <a:cs typeface="Calibri" panose="020F0502020204030204"/>
              </a:rPr>
              <a:t>Personal Loss</a:t>
            </a:r>
          </a:p>
          <a:p>
            <a:endParaRPr lang="en-US" b="1">
              <a:cs typeface="Calibri" panose="020F0502020204030204"/>
            </a:endParaRPr>
          </a:p>
        </p:txBody>
      </p:sp>
    </p:spTree>
    <p:extLst>
      <p:ext uri="{BB962C8B-B14F-4D97-AF65-F5344CB8AC3E}">
        <p14:creationId xmlns:p14="http://schemas.microsoft.com/office/powerpoint/2010/main" val="186887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9100" y="1757740"/>
            <a:ext cx="9245600" cy="2862322"/>
          </a:xfrm>
          <a:prstGeom prst="rect">
            <a:avLst/>
          </a:prstGeom>
        </p:spPr>
        <p:txBody>
          <a:bodyPr wrap="square">
            <a:spAutoFit/>
          </a:bodyPr>
          <a:lstStyle/>
          <a:p>
            <a:pPr marL="342900" indent="-342900">
              <a:buAutoNum type="arabicPeriod"/>
            </a:pPr>
            <a:r>
              <a:rPr lang="en-US"/>
              <a:t>Auto Property loss exposure :</a:t>
            </a:r>
          </a:p>
          <a:p>
            <a:pPr marL="342900" indent="-342900">
              <a:buAutoNum type="arabicPeriod"/>
            </a:pPr>
            <a:endParaRPr lang="en-US"/>
          </a:p>
          <a:p>
            <a:pPr lvl="1"/>
            <a:r>
              <a:rPr lang="en-US"/>
              <a:t>             </a:t>
            </a:r>
            <a:r>
              <a:rPr lang="en-US" err="1"/>
              <a:t>i</a:t>
            </a:r>
            <a:r>
              <a:rPr lang="en-US"/>
              <a:t>. Decrease in or loss of the auto’s value</a:t>
            </a:r>
          </a:p>
          <a:p>
            <a:pPr lvl="1"/>
            <a:r>
              <a:rPr lang="en-US"/>
              <a:t> </a:t>
            </a:r>
          </a:p>
          <a:p>
            <a:pPr lvl="1"/>
            <a:r>
              <a:rPr lang="en-US"/>
              <a:t>            ii. Loss of use of the auto until it can be repaired or replaced</a:t>
            </a:r>
          </a:p>
          <a:p>
            <a:pPr lvl="3"/>
            <a:r>
              <a:rPr lang="en-US"/>
              <a:t>- Insurer pays cost of repairing the vehicle or its ACV, whichever is lesser.</a:t>
            </a:r>
          </a:p>
          <a:p>
            <a:pPr lvl="3"/>
            <a:r>
              <a:rPr lang="en-US"/>
              <a:t>- Limited Rental Reimbursement Endorsement- Cost to rent a substitute vehicle- to continue operations and avoid loss of income.</a:t>
            </a:r>
          </a:p>
          <a:p>
            <a:pPr lvl="1"/>
            <a:endParaRPr lang="en-US"/>
          </a:p>
          <a:p>
            <a:pPr lvl="2"/>
            <a:r>
              <a:rPr lang="en-US"/>
              <a:t>iii. Coverages like- Fire, hail, windstorm , vandalism, collision, overturn theft etc.</a:t>
            </a:r>
          </a:p>
        </p:txBody>
      </p:sp>
      <p:sp>
        <p:nvSpPr>
          <p:cNvPr id="3" name="TextBox 2"/>
          <p:cNvSpPr txBox="1"/>
          <p:nvPr/>
        </p:nvSpPr>
        <p:spPr>
          <a:xfrm>
            <a:off x="279400" y="177800"/>
            <a:ext cx="7099300" cy="461665"/>
          </a:xfrm>
          <a:prstGeom prst="rect">
            <a:avLst/>
          </a:prstGeom>
          <a:noFill/>
        </p:spPr>
        <p:txBody>
          <a:bodyPr wrap="square" rtlCol="0">
            <a:spAutoFit/>
          </a:bodyPr>
          <a:lstStyle/>
          <a:p>
            <a:r>
              <a:rPr lang="en-US" sz="2400">
                <a:solidFill>
                  <a:schemeClr val="bg1"/>
                </a:solidFill>
              </a:rPr>
              <a:t>Commercial Auto : Property Loss Exposure</a:t>
            </a:r>
          </a:p>
        </p:txBody>
      </p:sp>
    </p:spTree>
    <p:extLst>
      <p:ext uri="{BB962C8B-B14F-4D97-AF65-F5344CB8AC3E}">
        <p14:creationId xmlns:p14="http://schemas.microsoft.com/office/powerpoint/2010/main" val="152255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fade">
                                      <p:cBhvr>
                                        <p:cTn id="14" dur="1000"/>
                                        <p:tgtEl>
                                          <p:spTgt spid="2">
                                            <p:txEl>
                                              <p:pRg st="4" end="4"/>
                                            </p:txEl>
                                          </p:spTgt>
                                        </p:tgtEl>
                                      </p:cBhvr>
                                    </p:animEffect>
                                    <p:anim calcmode="lin" valueType="num">
                                      <p:cBhvr>
                                        <p:cTn id="1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1000"/>
                                        <p:tgtEl>
                                          <p:spTgt spid="2">
                                            <p:txEl>
                                              <p:pRg st="5" end="5"/>
                                            </p:txEl>
                                          </p:spTgt>
                                        </p:tgtEl>
                                      </p:cBhvr>
                                    </p:animEffect>
                                    <p:anim calcmode="lin" valueType="num">
                                      <p:cBhvr>
                                        <p:cTn id="2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fade">
                                      <p:cBhvr>
                                        <p:cTn id="26" dur="1000"/>
                                        <p:tgtEl>
                                          <p:spTgt spid="2">
                                            <p:txEl>
                                              <p:pRg st="6" end="6"/>
                                            </p:txEl>
                                          </p:spTgt>
                                        </p:tgtEl>
                                      </p:cBhvr>
                                    </p:animEffect>
                                    <p:anim calcmode="lin" valueType="num">
                                      <p:cBhvr>
                                        <p:cTn id="2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1000"/>
                                        <p:tgtEl>
                                          <p:spTgt spid="2">
                                            <p:txEl>
                                              <p:pRg st="8" end="8"/>
                                            </p:txEl>
                                          </p:spTgt>
                                        </p:tgtEl>
                                      </p:cBhvr>
                                    </p:animEffect>
                                    <p:anim calcmode="lin" valueType="num">
                                      <p:cBhvr>
                                        <p:cTn id="3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0" y="1262440"/>
            <a:ext cx="9791700" cy="3416320"/>
          </a:xfrm>
          <a:prstGeom prst="rect">
            <a:avLst/>
          </a:prstGeom>
        </p:spPr>
        <p:txBody>
          <a:bodyPr wrap="square" anchor="t">
            <a:spAutoFit/>
          </a:bodyPr>
          <a:lstStyle/>
          <a:p>
            <a:r>
              <a:rPr lang="en-US" dirty="0"/>
              <a:t>2. Auto Liability Exposures :</a:t>
            </a:r>
          </a:p>
          <a:p>
            <a:endParaRPr lang="en-US"/>
          </a:p>
          <a:p>
            <a:pPr marL="742950" lvl="1" indent="-285750">
              <a:buFontTx/>
              <a:buChar char="-"/>
            </a:pPr>
            <a:r>
              <a:rPr lang="en-US" dirty="0"/>
              <a:t>Auto Liability exposure is the possibility that the organization may have to defend itself against, and perhaps pay damages as a result of, suits alleging </a:t>
            </a:r>
            <a:r>
              <a:rPr lang="en-US" b="1" dirty="0"/>
              <a:t>negligent ownership, maintenance, or use of autos.</a:t>
            </a:r>
            <a:endParaRPr lang="en-US" b="1" dirty="0">
              <a:cs typeface="Calibri"/>
            </a:endParaRPr>
          </a:p>
          <a:p>
            <a:pPr marL="742950" lvl="1" indent="-285750">
              <a:buFontTx/>
              <a:buChar char="-"/>
            </a:pPr>
            <a:endParaRPr lang="en-US"/>
          </a:p>
          <a:p>
            <a:pPr marL="742950" lvl="1" indent="-285750">
              <a:buFontTx/>
              <a:buChar char="-"/>
            </a:pPr>
            <a:r>
              <a:rPr lang="en-US" dirty="0"/>
              <a:t>Liabilities can arise from </a:t>
            </a:r>
            <a:r>
              <a:rPr lang="en-US" b="1" dirty="0"/>
              <a:t>owned autos, hired or borrowed autos, or employees’ autos</a:t>
            </a:r>
            <a:r>
              <a:rPr lang="en-US" dirty="0"/>
              <a:t> operated on behalf of the organization.</a:t>
            </a:r>
            <a:endParaRPr lang="en-US" dirty="0">
              <a:cs typeface="Calibri"/>
            </a:endParaRPr>
          </a:p>
          <a:p>
            <a:pPr marL="742950" lvl="1" indent="-285750">
              <a:buFontTx/>
              <a:buChar char="-"/>
            </a:pPr>
            <a:endParaRPr lang="en-US" dirty="0"/>
          </a:p>
          <a:p>
            <a:pPr marL="742950" lvl="1" indent="-285750">
              <a:buFontTx/>
              <a:buChar char="-"/>
            </a:pPr>
            <a:r>
              <a:rPr lang="en-US" dirty="0"/>
              <a:t>Liability assumed </a:t>
            </a:r>
            <a:r>
              <a:rPr lang="en-US" b="1" dirty="0"/>
              <a:t>under contract/ Employers Non ownership </a:t>
            </a:r>
            <a:r>
              <a:rPr lang="en-US" dirty="0"/>
              <a:t>Liability</a:t>
            </a:r>
            <a:endParaRPr lang="en-US" dirty="0">
              <a:cs typeface="Calibri"/>
            </a:endParaRPr>
          </a:p>
          <a:p>
            <a:pPr marL="742950" lvl="1" indent="-285750">
              <a:buFontTx/>
              <a:buChar char="-"/>
            </a:pPr>
            <a:endParaRPr lang="en-US"/>
          </a:p>
          <a:p>
            <a:pPr marL="742950" lvl="1" indent="-285750">
              <a:buFontTx/>
              <a:buChar char="-"/>
            </a:pPr>
            <a:r>
              <a:rPr lang="en-US" b="1" dirty="0"/>
              <a:t>Bailee</a:t>
            </a:r>
            <a:r>
              <a:rPr lang="en-US" dirty="0"/>
              <a:t> Loss exposures- Agrawal Packers &amp; Movers</a:t>
            </a:r>
            <a:endParaRPr lang="en-US" dirty="0">
              <a:cs typeface="Calibri"/>
            </a:endParaRPr>
          </a:p>
        </p:txBody>
      </p:sp>
      <p:sp>
        <p:nvSpPr>
          <p:cNvPr id="3" name="TextBox 2"/>
          <p:cNvSpPr txBox="1"/>
          <p:nvPr/>
        </p:nvSpPr>
        <p:spPr>
          <a:xfrm>
            <a:off x="279400" y="177800"/>
            <a:ext cx="7099300" cy="461665"/>
          </a:xfrm>
          <a:prstGeom prst="rect">
            <a:avLst/>
          </a:prstGeom>
          <a:noFill/>
        </p:spPr>
        <p:txBody>
          <a:bodyPr wrap="square" rtlCol="0">
            <a:spAutoFit/>
          </a:bodyPr>
          <a:lstStyle/>
          <a:p>
            <a:r>
              <a:rPr lang="en-US" sz="2400">
                <a:solidFill>
                  <a:schemeClr val="bg1"/>
                </a:solidFill>
              </a:rPr>
              <a:t>Commercial Auto : Liability Exposure</a:t>
            </a:r>
          </a:p>
        </p:txBody>
      </p:sp>
      <p:sp>
        <p:nvSpPr>
          <p:cNvPr id="5" name="Rectangle 4">
            <a:extLst>
              <a:ext uri="{FF2B5EF4-FFF2-40B4-BE49-F238E27FC236}">
                <a16:creationId xmlns:a16="http://schemas.microsoft.com/office/drawing/2014/main" id="{3FD78337-B6D9-4B8C-9087-E5EDEC395FBA}"/>
              </a:ext>
            </a:extLst>
          </p:cNvPr>
          <p:cNvSpPr/>
          <p:nvPr/>
        </p:nvSpPr>
        <p:spPr>
          <a:xfrm>
            <a:off x="1323298" y="4750151"/>
            <a:ext cx="9791700" cy="1754326"/>
          </a:xfrm>
          <a:prstGeom prst="rect">
            <a:avLst/>
          </a:prstGeom>
        </p:spPr>
        <p:txBody>
          <a:bodyPr wrap="square" anchor="t">
            <a:spAutoFit/>
          </a:bodyPr>
          <a:lstStyle/>
          <a:p>
            <a:r>
              <a:rPr lang="en-US" dirty="0"/>
              <a:t>3. Personal Exposures :</a:t>
            </a:r>
          </a:p>
          <a:p>
            <a:endParaRPr lang="en-US"/>
          </a:p>
          <a:p>
            <a:pPr marL="742950" lvl="1" indent="-285750">
              <a:buFontTx/>
              <a:buChar char="-"/>
            </a:pPr>
            <a:r>
              <a:rPr lang="en-US" dirty="0"/>
              <a:t>Auto Medical payments</a:t>
            </a:r>
            <a:endParaRPr lang="en-US" b="1" dirty="0"/>
          </a:p>
          <a:p>
            <a:pPr marL="742950" lvl="1" indent="-285750">
              <a:buFontTx/>
              <a:buChar char="-"/>
            </a:pPr>
            <a:r>
              <a:rPr lang="en-US" dirty="0">
                <a:cs typeface="Calibri"/>
              </a:rPr>
              <a:t>PIP Coverage</a:t>
            </a:r>
          </a:p>
          <a:p>
            <a:pPr marL="742950" lvl="1" indent="-285750">
              <a:buFontTx/>
              <a:buChar char="-"/>
            </a:pPr>
            <a:r>
              <a:rPr lang="en-US" dirty="0">
                <a:cs typeface="Calibri"/>
              </a:rPr>
              <a:t>Uninsured/underinsured coverages</a:t>
            </a:r>
          </a:p>
          <a:p>
            <a:pPr lvl="1"/>
            <a:endParaRPr lang="en-US">
              <a:cs typeface="Calibri" panose="020F0502020204030204"/>
            </a:endParaRPr>
          </a:p>
        </p:txBody>
      </p:sp>
    </p:spTree>
    <p:extLst>
      <p:ext uri="{BB962C8B-B14F-4D97-AF65-F5344CB8AC3E}">
        <p14:creationId xmlns:p14="http://schemas.microsoft.com/office/powerpoint/2010/main" val="127640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fade">
                                      <p:cBhvr>
                                        <p:cTn id="14" dur="1000"/>
                                        <p:tgtEl>
                                          <p:spTgt spid="2">
                                            <p:txEl>
                                              <p:pRg st="4" end="4"/>
                                            </p:txEl>
                                          </p:spTgt>
                                        </p:tgtEl>
                                      </p:cBhvr>
                                    </p:animEffect>
                                    <p:anim calcmode="lin" valueType="num">
                                      <p:cBhvr>
                                        <p:cTn id="1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animEffect transition="in" filter="fade">
                                      <p:cBhvr>
                                        <p:cTn id="21" dur="1000"/>
                                        <p:tgtEl>
                                          <p:spTgt spid="2">
                                            <p:txEl>
                                              <p:pRg st="6" end="6"/>
                                            </p:txEl>
                                          </p:spTgt>
                                        </p:tgtEl>
                                      </p:cBhvr>
                                    </p:animEffect>
                                    <p:anim calcmode="lin" valueType="num">
                                      <p:cBhvr>
                                        <p:cTn id="2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fade">
                                      <p:cBhvr>
                                        <p:cTn id="28" dur="1000"/>
                                        <p:tgtEl>
                                          <p:spTgt spid="2">
                                            <p:txEl>
                                              <p:pRg st="8" end="8"/>
                                            </p:txEl>
                                          </p:spTgt>
                                        </p:tgtEl>
                                      </p:cBhvr>
                                    </p:animEffect>
                                    <p:anim calcmode="lin" valueType="num">
                                      <p:cBhvr>
                                        <p:cTn id="29"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0" y="228600"/>
            <a:ext cx="5562600" cy="369332"/>
          </a:xfrm>
          <a:prstGeom prst="rect">
            <a:avLst/>
          </a:prstGeom>
          <a:noFill/>
        </p:spPr>
        <p:txBody>
          <a:bodyPr wrap="square" rtlCol="0">
            <a:spAutoFit/>
          </a:bodyPr>
          <a:lstStyle/>
          <a:p>
            <a:r>
              <a:rPr lang="en-US">
                <a:solidFill>
                  <a:schemeClr val="bg1"/>
                </a:solidFill>
              </a:rPr>
              <a:t>Commercial Auto coverage Forms</a:t>
            </a:r>
          </a:p>
        </p:txBody>
      </p:sp>
      <p:sp>
        <p:nvSpPr>
          <p:cNvPr id="3" name="TextBox 2"/>
          <p:cNvSpPr txBox="1"/>
          <p:nvPr/>
        </p:nvSpPr>
        <p:spPr>
          <a:xfrm>
            <a:off x="1981200" y="2184401"/>
            <a:ext cx="9867900" cy="3139321"/>
          </a:xfrm>
          <a:prstGeom prst="rect">
            <a:avLst/>
          </a:prstGeom>
          <a:noFill/>
        </p:spPr>
        <p:txBody>
          <a:bodyPr wrap="square" rtlCol="0">
            <a:spAutoFit/>
          </a:bodyPr>
          <a:lstStyle/>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r>
              <a:rPr lang="en-US" b="1"/>
              <a:t>Garage Coverage Form</a:t>
            </a:r>
          </a:p>
          <a:p>
            <a:pPr marL="285750" indent="-285750">
              <a:buFont typeface="Arial" panose="020B0604020202020204" pitchFamily="34" charset="0"/>
              <a:buChar char="•"/>
            </a:pPr>
            <a:r>
              <a:rPr lang="en-US"/>
              <a:t>for auto dealers- Car Show rooms, Car service Centers</a:t>
            </a:r>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r>
              <a:rPr lang="en-US" b="1"/>
              <a:t>Motor Carrier Coverage Form </a:t>
            </a:r>
          </a:p>
          <a:p>
            <a:pPr marL="285750" indent="-285750">
              <a:buFont typeface="Arial" panose="020B0604020202020204" pitchFamily="34" charset="0"/>
              <a:buChar char="•"/>
            </a:pPr>
            <a:r>
              <a:rPr lang="en-US"/>
              <a:t>for transporters- Truckers- Packers &amp; Movers, Logistics</a:t>
            </a:r>
          </a:p>
          <a:p>
            <a:endParaRPr lang="en-US"/>
          </a:p>
          <a:p>
            <a:pPr marL="285750" indent="-285750">
              <a:buFont typeface="Wingdings" panose="05000000000000000000" pitchFamily="2" charset="2"/>
              <a:buChar char="Ø"/>
            </a:pPr>
            <a:r>
              <a:rPr lang="en-US" b="1"/>
              <a:t>Business auto Coverage Form</a:t>
            </a:r>
          </a:p>
          <a:p>
            <a:pPr marL="285750" indent="-285750">
              <a:buFont typeface="Arial" panose="020B0604020202020204" pitchFamily="34" charset="0"/>
              <a:buChar char="•"/>
            </a:pPr>
            <a:r>
              <a:rPr lang="en-US"/>
              <a:t>for organizations other than auto dealers and  motor carriers- JCVs, Concrete mixtures, Road rollers, Cranes etc.</a:t>
            </a:r>
          </a:p>
          <a:p>
            <a:pPr marL="285750" indent="-285750">
              <a:buFontTx/>
              <a:buChar char="-"/>
            </a:pPr>
            <a:endParaRPr lang="en-US"/>
          </a:p>
        </p:txBody>
      </p:sp>
    </p:spTree>
    <p:extLst>
      <p:ext uri="{BB962C8B-B14F-4D97-AF65-F5344CB8AC3E}">
        <p14:creationId xmlns:p14="http://schemas.microsoft.com/office/powerpoint/2010/main" val="280488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1000"/>
                                        <p:tgtEl>
                                          <p:spTgt spid="3">
                                            <p:txEl>
                                              <p:pRg st="7" end="7"/>
                                            </p:txEl>
                                          </p:spTgt>
                                        </p:tgtEl>
                                      </p:cBhvr>
                                    </p:animEffect>
                                    <p:anim calcmode="lin" valueType="num">
                                      <p:cBhvr>
                                        <p:cTn id="2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1668145"/>
            <a:ext cx="11125200" cy="3693319"/>
          </a:xfrm>
          <a:prstGeom prst="rect">
            <a:avLst/>
          </a:prstGeom>
        </p:spPr>
        <p:txBody>
          <a:bodyPr wrap="square">
            <a:spAutoFit/>
          </a:bodyPr>
          <a:lstStyle/>
          <a:p>
            <a:pPr marL="285750" indent="-285750">
              <a:buFont typeface="Wingdings" panose="05000000000000000000" pitchFamily="2" charset="2"/>
              <a:buChar char="Ø"/>
            </a:pPr>
            <a:r>
              <a:rPr lang="en-US" b="1"/>
              <a:t>Business Auto Coverage Form has 5 sections :</a:t>
            </a:r>
          </a:p>
          <a:p>
            <a:endParaRPr lang="en-US" b="1"/>
          </a:p>
          <a:p>
            <a:pPr marL="742950" lvl="1" indent="-285750">
              <a:buFont typeface="Arial" panose="020B0604020202020204" pitchFamily="34" charset="0"/>
              <a:buChar char="•"/>
            </a:pPr>
            <a:r>
              <a:rPr lang="en-US"/>
              <a:t>Section 1- has 9 description of covered autos    </a:t>
            </a:r>
          </a:p>
          <a:p>
            <a:pPr marL="742950" lvl="1" indent="-285750">
              <a:buFont typeface="Arial" panose="020B0604020202020204" pitchFamily="34" charset="0"/>
              <a:buChar char="•"/>
            </a:pPr>
            <a:r>
              <a:rPr lang="en-US"/>
              <a:t>Section 2- provisions of auto liability insurance   </a:t>
            </a:r>
          </a:p>
          <a:p>
            <a:pPr marL="742950" lvl="1" indent="-285750">
              <a:buFont typeface="Arial" panose="020B0604020202020204" pitchFamily="34" charset="0"/>
              <a:buChar char="•"/>
            </a:pPr>
            <a:r>
              <a:rPr lang="en-US"/>
              <a:t>Section 3- 4 optional insuring agreement- collision, comprehensive, Specified Cause of Loss, Towing &amp; </a:t>
            </a:r>
            <a:r>
              <a:rPr lang="en-US" err="1"/>
              <a:t>labour</a:t>
            </a:r>
            <a:r>
              <a:rPr lang="en-US"/>
              <a:t>       </a:t>
            </a:r>
          </a:p>
          <a:p>
            <a:pPr marL="742950" lvl="1" indent="-285750">
              <a:buFont typeface="Arial" panose="020B0604020202020204" pitchFamily="34" charset="0"/>
              <a:buChar char="•"/>
            </a:pPr>
            <a:r>
              <a:rPr lang="en-US"/>
              <a:t>Section  4- Terms &amp; conditions   </a:t>
            </a:r>
          </a:p>
          <a:p>
            <a:pPr marL="742950" lvl="1" indent="-285750">
              <a:buFont typeface="Arial" panose="020B0604020202020204" pitchFamily="34" charset="0"/>
              <a:buChar char="•"/>
            </a:pPr>
            <a:r>
              <a:rPr lang="en-US"/>
              <a:t>Section  5- Definitions</a:t>
            </a:r>
          </a:p>
          <a:p>
            <a:pPr marL="742950" lvl="1" indent="-285750">
              <a:buFont typeface="Arial" panose="020B0604020202020204" pitchFamily="34" charset="0"/>
              <a:buChar char="•"/>
            </a:pPr>
            <a:endParaRPr lang="en-US"/>
          </a:p>
          <a:p>
            <a:pPr lvl="1"/>
            <a:r>
              <a:rPr lang="en-US"/>
              <a:t>Additional coverages: </a:t>
            </a:r>
          </a:p>
          <a:p>
            <a:pPr marL="742950" lvl="1" indent="-285750">
              <a:buFont typeface="Arial" panose="020B0604020202020204" pitchFamily="34" charset="0"/>
              <a:buChar char="•"/>
            </a:pPr>
            <a:r>
              <a:rPr lang="en-US"/>
              <a:t>1. Personal Injury Protection  </a:t>
            </a:r>
          </a:p>
          <a:p>
            <a:pPr marL="742950" lvl="1" indent="-285750">
              <a:buFont typeface="Arial" panose="020B0604020202020204" pitchFamily="34" charset="0"/>
              <a:buChar char="•"/>
            </a:pPr>
            <a:r>
              <a:rPr lang="en-US"/>
              <a:t>2. Auto medical Payment for occupants  </a:t>
            </a:r>
          </a:p>
          <a:p>
            <a:pPr marL="742950" lvl="1" indent="-285750">
              <a:buFont typeface="Arial" panose="020B0604020202020204" pitchFamily="34" charset="0"/>
              <a:buChar char="•"/>
            </a:pPr>
            <a:r>
              <a:rPr lang="en-US"/>
              <a:t>3. Uninsured Motorist</a:t>
            </a:r>
          </a:p>
          <a:p>
            <a:pPr marL="285750" indent="-285750">
              <a:buFont typeface="Wingdings" panose="05000000000000000000" pitchFamily="2" charset="2"/>
              <a:buChar char="Ø"/>
            </a:pPr>
            <a:endParaRPr lang="en-US"/>
          </a:p>
        </p:txBody>
      </p:sp>
      <p:sp>
        <p:nvSpPr>
          <p:cNvPr id="3" name="TextBox 2"/>
          <p:cNvSpPr txBox="1"/>
          <p:nvPr/>
        </p:nvSpPr>
        <p:spPr>
          <a:xfrm>
            <a:off x="190500" y="215900"/>
            <a:ext cx="4965700" cy="400110"/>
          </a:xfrm>
          <a:prstGeom prst="rect">
            <a:avLst/>
          </a:prstGeom>
          <a:noFill/>
        </p:spPr>
        <p:txBody>
          <a:bodyPr wrap="square" rtlCol="0">
            <a:spAutoFit/>
          </a:bodyPr>
          <a:lstStyle/>
          <a:p>
            <a:r>
              <a:rPr lang="en-US" sz="2000">
                <a:solidFill>
                  <a:schemeClr val="bg1"/>
                </a:solidFill>
              </a:rPr>
              <a:t>What does a Business Auto Form consist ?</a:t>
            </a:r>
          </a:p>
        </p:txBody>
      </p:sp>
    </p:spTree>
    <p:extLst>
      <p:ext uri="{BB962C8B-B14F-4D97-AF65-F5344CB8AC3E}">
        <p14:creationId xmlns:p14="http://schemas.microsoft.com/office/powerpoint/2010/main" val="81129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1000"/>
                                        <p:tgtEl>
                                          <p:spTgt spid="2">
                                            <p:txEl>
                                              <p:pRg st="4" end="4"/>
                                            </p:txEl>
                                          </p:spTgt>
                                        </p:tgtEl>
                                      </p:cBhvr>
                                    </p:animEffect>
                                    <p:anim calcmode="lin" valueType="num">
                                      <p:cBhvr>
                                        <p:cTn id="1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1000"/>
                                        <p:tgtEl>
                                          <p:spTgt spid="2">
                                            <p:txEl>
                                              <p:pRg st="5" end="5"/>
                                            </p:txEl>
                                          </p:spTgt>
                                        </p:tgtEl>
                                      </p:cBhvr>
                                    </p:animEffect>
                                    <p:anim calcmode="lin" valueType="num">
                                      <p:cBhvr>
                                        <p:cTn id="2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1000"/>
                                        <p:tgtEl>
                                          <p:spTgt spid="2">
                                            <p:txEl>
                                              <p:pRg st="6" end="6"/>
                                            </p:txEl>
                                          </p:spTgt>
                                        </p:tgtEl>
                                      </p:cBhvr>
                                    </p:animEffect>
                                    <p:anim calcmode="lin" valueType="num">
                                      <p:cBhvr>
                                        <p:cTn id="28"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fade">
                                      <p:cBhvr>
                                        <p:cTn id="34" dur="1000"/>
                                        <p:tgtEl>
                                          <p:spTgt spid="2">
                                            <p:txEl>
                                              <p:pRg st="8" end="8"/>
                                            </p:txEl>
                                          </p:spTgt>
                                        </p:tgtEl>
                                      </p:cBhvr>
                                    </p:animEffect>
                                    <p:anim calcmode="lin" valueType="num">
                                      <p:cBhvr>
                                        <p:cTn id="35"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Effect transition="in" filter="fade">
                                      <p:cBhvr>
                                        <p:cTn id="39" dur="1000"/>
                                        <p:tgtEl>
                                          <p:spTgt spid="2">
                                            <p:txEl>
                                              <p:pRg st="9" end="9"/>
                                            </p:txEl>
                                          </p:spTgt>
                                        </p:tgtEl>
                                      </p:cBhvr>
                                    </p:animEffect>
                                    <p:anim calcmode="lin" valueType="num">
                                      <p:cBhvr>
                                        <p:cTn id="40"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
                                            <p:txEl>
                                              <p:pRg st="10" end="10"/>
                                            </p:txEl>
                                          </p:spTgt>
                                        </p:tgtEl>
                                        <p:attrNameLst>
                                          <p:attrName>style.visibility</p:attrName>
                                        </p:attrNameLst>
                                      </p:cBhvr>
                                      <p:to>
                                        <p:strVal val="visible"/>
                                      </p:to>
                                    </p:set>
                                    <p:animEffect transition="in" filter="fade">
                                      <p:cBhvr>
                                        <p:cTn id="44" dur="1000"/>
                                        <p:tgtEl>
                                          <p:spTgt spid="2">
                                            <p:txEl>
                                              <p:pRg st="10" end="10"/>
                                            </p:txEl>
                                          </p:spTgt>
                                        </p:tgtEl>
                                      </p:cBhvr>
                                    </p:animEffect>
                                    <p:anim calcmode="lin" valueType="num">
                                      <p:cBhvr>
                                        <p:cTn id="4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
                                            <p:txEl>
                                              <p:pRg st="11" end="11"/>
                                            </p:txEl>
                                          </p:spTgt>
                                        </p:tgtEl>
                                        <p:attrNameLst>
                                          <p:attrName>style.visibility</p:attrName>
                                        </p:attrNameLst>
                                      </p:cBhvr>
                                      <p:to>
                                        <p:strVal val="visible"/>
                                      </p:to>
                                    </p:set>
                                    <p:animEffect transition="in" filter="fade">
                                      <p:cBhvr>
                                        <p:cTn id="49" dur="1000"/>
                                        <p:tgtEl>
                                          <p:spTgt spid="2">
                                            <p:txEl>
                                              <p:pRg st="11" end="11"/>
                                            </p:txEl>
                                          </p:spTgt>
                                        </p:tgtEl>
                                      </p:cBhvr>
                                    </p:animEffect>
                                    <p:anim calcmode="lin" valueType="num">
                                      <p:cBhvr>
                                        <p:cTn id="50"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200" y="1810941"/>
            <a:ext cx="10845800" cy="3693319"/>
          </a:xfrm>
          <a:prstGeom prst="rect">
            <a:avLst/>
          </a:prstGeom>
        </p:spPr>
        <p:txBody>
          <a:bodyPr wrap="square">
            <a:spAutoFit/>
          </a:bodyPr>
          <a:lstStyle/>
          <a:p>
            <a:pPr marL="285750" indent="-285750">
              <a:buFont typeface="Wingdings" panose="05000000000000000000" pitchFamily="2" charset="2"/>
              <a:buChar char="Ø"/>
            </a:pPr>
            <a:r>
              <a:rPr lang="en-US" b="1"/>
              <a:t>Garage Form: </a:t>
            </a:r>
          </a:p>
          <a:p>
            <a:pPr marL="285750" indent="-285750">
              <a:buFont typeface="Wingdings" panose="05000000000000000000" pitchFamily="2" charset="2"/>
              <a:buChar char="Ø"/>
            </a:pPr>
            <a:endParaRPr lang="en-US" b="1"/>
          </a:p>
          <a:p>
            <a:pPr marL="742950" lvl="1" indent="-285750">
              <a:buFont typeface="Arial" panose="020B0604020202020204" pitchFamily="34" charset="0"/>
              <a:buChar char="•"/>
            </a:pPr>
            <a:r>
              <a:rPr lang="en-US"/>
              <a:t>Can be extended to cover an auto dealers inventory of autos on a reporting basis.</a:t>
            </a:r>
          </a:p>
          <a:p>
            <a:pPr marL="742950" lvl="1" indent="-285750">
              <a:buFont typeface="Arial" panose="020B0604020202020204" pitchFamily="34" charset="0"/>
              <a:buChar char="•"/>
            </a:pPr>
            <a:r>
              <a:rPr lang="en-US"/>
              <a:t>Optional Garage keepers Insurance- covers damage to customers autos in the insured’s care, custody or control</a:t>
            </a:r>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r>
              <a:rPr lang="en-US" b="1"/>
              <a:t>Motor Carrier Form: </a:t>
            </a:r>
          </a:p>
          <a:p>
            <a:pPr marL="285750" indent="-285750">
              <a:buFont typeface="Wingdings" panose="05000000000000000000" pitchFamily="2" charset="2"/>
              <a:buChar char="Ø"/>
            </a:pPr>
            <a:endParaRPr lang="en-US" b="1"/>
          </a:p>
          <a:p>
            <a:pPr marL="742950" lvl="1" indent="-285750">
              <a:buFont typeface="Arial" panose="020B0604020202020204" pitchFamily="34" charset="0"/>
              <a:buChar char="•"/>
            </a:pPr>
            <a:r>
              <a:rPr lang="en-US"/>
              <a:t>For owner operator s who lease their trucks to the named insured.</a:t>
            </a:r>
          </a:p>
          <a:p>
            <a:pPr marL="742950" lvl="1" indent="-285750">
              <a:buFont typeface="Arial" panose="020B0604020202020204" pitchFamily="34" charset="0"/>
              <a:buChar char="•"/>
            </a:pPr>
            <a:r>
              <a:rPr lang="en-US"/>
              <a:t>Optional trailer interchange insurance- covers insured’s liability for damage to trailers of others while in the insured care, custody and control.</a:t>
            </a:r>
          </a:p>
        </p:txBody>
      </p:sp>
      <p:sp>
        <p:nvSpPr>
          <p:cNvPr id="3" name="TextBox 2"/>
          <p:cNvSpPr txBox="1"/>
          <p:nvPr/>
        </p:nvSpPr>
        <p:spPr>
          <a:xfrm>
            <a:off x="469900" y="228600"/>
            <a:ext cx="5054600" cy="400110"/>
          </a:xfrm>
          <a:prstGeom prst="rect">
            <a:avLst/>
          </a:prstGeom>
          <a:noFill/>
        </p:spPr>
        <p:txBody>
          <a:bodyPr wrap="square" rtlCol="0">
            <a:spAutoFit/>
          </a:bodyPr>
          <a:lstStyle/>
          <a:p>
            <a:r>
              <a:rPr lang="en-US" sz="2000">
                <a:solidFill>
                  <a:schemeClr val="bg1"/>
                </a:solidFill>
              </a:rPr>
              <a:t>Garage and Motor Carrier Form</a:t>
            </a:r>
          </a:p>
        </p:txBody>
      </p:sp>
    </p:spTree>
    <p:extLst>
      <p:ext uri="{BB962C8B-B14F-4D97-AF65-F5344CB8AC3E}">
        <p14:creationId xmlns:p14="http://schemas.microsoft.com/office/powerpoint/2010/main" val="396202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animEffect transition="in" filter="fade">
                                      <p:cBhvr>
                                        <p:cTn id="21" dur="1000"/>
                                        <p:tgtEl>
                                          <p:spTgt spid="2">
                                            <p:txEl>
                                              <p:pRg st="9" end="9"/>
                                            </p:txEl>
                                          </p:spTgt>
                                        </p:tgtEl>
                                      </p:cBhvr>
                                    </p:animEffect>
                                    <p:anim calcmode="lin" valueType="num">
                                      <p:cBhvr>
                                        <p:cTn id="22"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10" end="10"/>
                                            </p:txEl>
                                          </p:spTgt>
                                        </p:tgtEl>
                                        <p:attrNameLst>
                                          <p:attrName>style.visibility</p:attrName>
                                        </p:attrNameLst>
                                      </p:cBhvr>
                                      <p:to>
                                        <p:strVal val="visible"/>
                                      </p:to>
                                    </p:set>
                                    <p:animEffect transition="in" filter="fade">
                                      <p:cBhvr>
                                        <p:cTn id="28" dur="1000"/>
                                        <p:tgtEl>
                                          <p:spTgt spid="2">
                                            <p:txEl>
                                              <p:pRg st="10" end="10"/>
                                            </p:txEl>
                                          </p:spTgt>
                                        </p:tgtEl>
                                      </p:cBhvr>
                                    </p:animEffect>
                                    <p:anim calcmode="lin" valueType="num">
                                      <p:cBhvr>
                                        <p:cTn id="29"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190500"/>
            <a:ext cx="5105400" cy="381000"/>
          </a:xfrm>
          <a:prstGeom prst="rect">
            <a:avLst/>
          </a:prstGeom>
          <a:noFill/>
        </p:spPr>
        <p:txBody>
          <a:bodyPr wrap="square" rtlCol="0">
            <a:spAutoFit/>
          </a:bodyPr>
          <a:lstStyle/>
          <a:p>
            <a:r>
              <a:rPr lang="en-US">
                <a:solidFill>
                  <a:schemeClr val="bg1"/>
                </a:solidFill>
              </a:rPr>
              <a:t>Rating </a:t>
            </a:r>
          </a:p>
        </p:txBody>
      </p:sp>
      <p:sp>
        <p:nvSpPr>
          <p:cNvPr id="3" name="TextBox 2"/>
          <p:cNvSpPr txBox="1"/>
          <p:nvPr/>
        </p:nvSpPr>
        <p:spPr>
          <a:xfrm>
            <a:off x="1828800" y="1676400"/>
            <a:ext cx="8572500" cy="2862322"/>
          </a:xfrm>
          <a:prstGeom prst="rect">
            <a:avLst/>
          </a:prstGeom>
          <a:noFill/>
        </p:spPr>
        <p:txBody>
          <a:bodyPr wrap="square" rtlCol="0">
            <a:spAutoFit/>
          </a:bodyPr>
          <a:lstStyle/>
          <a:p>
            <a:r>
              <a:rPr lang="en-US"/>
              <a:t>Zone Rated:</a:t>
            </a:r>
          </a:p>
          <a:p>
            <a:endParaRPr lang="en-US"/>
          </a:p>
          <a:p>
            <a:pPr marL="285750" indent="-285750">
              <a:buFontTx/>
              <a:buChar char="-"/>
            </a:pPr>
            <a:r>
              <a:rPr lang="en-US"/>
              <a:t>The methodology for rating trucks, tractors and trailers depends upon whether </a:t>
            </a:r>
          </a:p>
          <a:p>
            <a:r>
              <a:rPr lang="en-US"/>
              <a:t>     the vehicles must be zone rated or not.</a:t>
            </a:r>
          </a:p>
          <a:p>
            <a:endParaRPr lang="en-US"/>
          </a:p>
          <a:p>
            <a:pPr marL="285750" indent="-285750">
              <a:buFontTx/>
              <a:buChar char="-"/>
            </a:pPr>
            <a:r>
              <a:rPr lang="en-US"/>
              <a:t>A vehicle is zone rated if it is a ‘’medium’’ or ‘’large’’ truck operating more than 200 miles from its principal garaging location.</a:t>
            </a:r>
          </a:p>
          <a:p>
            <a:endParaRPr lang="en-US"/>
          </a:p>
          <a:p>
            <a:pPr marL="285750" indent="-285750">
              <a:buFontTx/>
              <a:buChar char="-"/>
            </a:pPr>
            <a:r>
              <a:rPr lang="en-US"/>
              <a:t>The premiums for zone rated vehicles reflect the various zones in which they are  operated. </a:t>
            </a:r>
          </a:p>
        </p:txBody>
      </p:sp>
      <p:pic>
        <p:nvPicPr>
          <p:cNvPr id="4" name="Picture 3"/>
          <p:cNvPicPr>
            <a:picLocks noChangeAspect="1"/>
          </p:cNvPicPr>
          <p:nvPr/>
        </p:nvPicPr>
        <p:blipFill>
          <a:blip r:embed="rId2"/>
          <a:stretch>
            <a:fillRect/>
          </a:stretch>
        </p:blipFill>
        <p:spPr>
          <a:xfrm>
            <a:off x="6400800" y="4880042"/>
            <a:ext cx="3505504" cy="1298561"/>
          </a:xfrm>
          <a:prstGeom prst="rect">
            <a:avLst/>
          </a:prstGeom>
        </p:spPr>
      </p:pic>
      <p:sp>
        <p:nvSpPr>
          <p:cNvPr id="6" name="Rectangle 5"/>
          <p:cNvSpPr/>
          <p:nvPr/>
        </p:nvSpPr>
        <p:spPr>
          <a:xfrm>
            <a:off x="1143000" y="5067657"/>
            <a:ext cx="6096000" cy="1200329"/>
          </a:xfrm>
          <a:prstGeom prst="rect">
            <a:avLst/>
          </a:prstGeom>
        </p:spPr>
        <p:txBody>
          <a:bodyPr>
            <a:spAutoFit/>
          </a:bodyPr>
          <a:lstStyle/>
          <a:p>
            <a:r>
              <a:rPr lang="en-US">
                <a:hlinkClick r:id="rId3"/>
              </a:rPr>
              <a:t>https://www.allstate.com/tools-and-resources/videos/typically-covered-homeowners-insurance.aspx</a:t>
            </a:r>
            <a:endParaRPr lang="en-US"/>
          </a:p>
          <a:p>
            <a:endParaRPr lang="en-US"/>
          </a:p>
        </p:txBody>
      </p:sp>
    </p:spTree>
    <p:extLst>
      <p:ext uri="{BB962C8B-B14F-4D97-AF65-F5344CB8AC3E}">
        <p14:creationId xmlns:p14="http://schemas.microsoft.com/office/powerpoint/2010/main" val="537983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anim calcmode="lin" valueType="num">
                                      <p:cBhvr>
                                        <p:cTn id="2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Commercial Auto</Tags>
    <Contributors xmlns="09339d3a-aaa0-497d-ae73-d8a5832d420d">
      <UserInfo>
        <DisplayName>Alok Bharati</DisplayName>
        <AccountId>26</AccountId>
        <AccountType/>
      </UserInfo>
    </Contributo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41087d73-5bfe-4c6e-a130-3d602495565a" ContentTypeId="0x010100F7548365F7A28B41B9A685ED46C1AC26" PreviousValue="false"/>
</file>

<file path=customXml/itemProps1.xml><?xml version="1.0" encoding="utf-8"?>
<ds:datastoreItem xmlns:ds="http://schemas.openxmlformats.org/officeDocument/2006/customXml" ds:itemID="{FC98781F-7481-4730-8300-7470E2D97E3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66B3FF8-9BA0-4609-A813-FA2C4907C6DD}">
  <ds:schemaRefs>
    <ds:schemaRef ds:uri="http://schemas.microsoft.com/sharepoint/v3/contenttype/forms"/>
  </ds:schemaRefs>
</ds:datastoreItem>
</file>

<file path=customXml/itemProps3.xml><?xml version="1.0" encoding="utf-8"?>
<ds:datastoreItem xmlns:ds="http://schemas.openxmlformats.org/officeDocument/2006/customXml" ds:itemID="{A8D32CB1-E2D1-4828-9733-37C14AA5EF3A}"/>
</file>

<file path=customXml/itemProps4.xml><?xml version="1.0" encoding="utf-8"?>
<ds:datastoreItem xmlns:ds="http://schemas.openxmlformats.org/officeDocument/2006/customXml" ds:itemID="{9EBAA97F-1B4B-409B-8D5F-1BB5E355C7ED}"/>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2</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revision>23</cp:revision>
  <dcterms:created xsi:type="dcterms:W3CDTF">2016-06-30T13:06:17Z</dcterms:created>
  <dcterms:modified xsi:type="dcterms:W3CDTF">2020-06-15T10:30:48Z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4600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
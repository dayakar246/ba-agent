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2"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4.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CC9FD-3BAE-40AC-8C66-0BF8847DD1A3}" type="datetimeFigureOut">
              <a:rPr lang="en-IN" smtClean="0"/>
              <a:t>04-03-2024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B5133-5C53-4005-B2E2-EA78D530B53A}" type="slidenum">
              <a:rPr lang="en-IN" smtClean="0"/>
              <a:t>‹#›</a:t>
            </a:fld>
            <a:endParaRPr lang="en-IN"/>
          </a:p>
        </p:txBody>
      </p:sp>
    </p:spTree>
    <p:extLst>
      <p:ext uri="{BB962C8B-B14F-4D97-AF65-F5344CB8AC3E}">
        <p14:creationId xmlns:p14="http://schemas.microsoft.com/office/powerpoint/2010/main" val="574820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Premises liability exposure is exposure to liability for injury or damage due to the ownership, occupancy, or use of premises. The standard of care imposed on an owner-occupant, a landlord, or a tenant is that the property be maintained as a reasonable and prudent person would maintain it. For example, a reasonable and prudent person would be expected to keep floors dry and free of objects that might cause injury to another person.</a:t>
            </a:r>
          </a:p>
          <a:p>
            <a:r>
              <a:rPr lang="en-US" dirty="0"/>
              <a:t>this exposure is generally associated with manufacturers, processors, or contractors. For example, if someone is injured as a result of negligent construction activity while a contractor is paving a road, any resulting liability claim against the contractor will be considered to have arisen from the operations liability exposure.</a:t>
            </a:r>
          </a:p>
          <a:p>
            <a:r>
              <a:rPr lang="en-US" dirty="0"/>
              <a:t>for example, a child is injured by a dangerously defective toy, the injury is considered to have arisen from the toy manufacturer’s products liability exposure. Products liability can be imposed on a manufacturer, seller, or distributor of products under several different legal theories, including negligence, breach of warranty, and strict liability in tort.</a:t>
            </a:r>
          </a:p>
          <a:p>
            <a:r>
              <a:rPr lang="en-US" dirty="0"/>
              <a:t>The products liability exposure is associated with any items or goods sold by an organization, which could be the manufacturer, the wholesaler, or the retailer of the goods. The completed operations liability exposure typically relates to an organization’s liability for work it has performed and finished, including any materials it provided.</a:t>
            </a:r>
          </a:p>
          <a:p>
            <a:r>
              <a:rPr lang="en-US" dirty="0"/>
              <a:t>For example, a furnace sold by its manufacturer to a heating contractor is within the manufacturer’s products liability exposure. After the contractor who bought the furnace has installed it in a customer’s home, the furnace and all labor and parts included in the installation job are within the contractor’s completed operations liability exposure.</a:t>
            </a:r>
          </a:p>
        </p:txBody>
      </p:sp>
      <p:sp>
        <p:nvSpPr>
          <p:cNvPr id="4" name="Slide Number Placeholder 3"/>
          <p:cNvSpPr>
            <a:spLocks noGrp="1"/>
          </p:cNvSpPr>
          <p:nvPr>
            <p:ph type="sldNum" sz="quarter" idx="10"/>
          </p:nvPr>
        </p:nvSpPr>
        <p:spPr/>
        <p:txBody>
          <a:bodyPr/>
          <a:lstStyle/>
          <a:p>
            <a:fld id="{B7A57691-B56D-4694-A91B-D15F3ED3C037}" type="slidenum">
              <a:rPr lang="en-US" smtClean="0"/>
              <a:t>2</a:t>
            </a:fld>
            <a:endParaRPr lang="en-US"/>
          </a:p>
        </p:txBody>
      </p:sp>
    </p:spTree>
    <p:extLst>
      <p:ext uri="{BB962C8B-B14F-4D97-AF65-F5344CB8AC3E}">
        <p14:creationId xmlns:p14="http://schemas.microsoft.com/office/powerpoint/2010/main" val="600505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Business auto Coverage Form– (for organizations other than auto dealers and  </a:t>
            </a:r>
          </a:p>
          <a:p>
            <a:r>
              <a:rPr lang="en-US" dirty="0"/>
              <a:t>                                                       motor carriers)</a:t>
            </a:r>
          </a:p>
          <a:p>
            <a:r>
              <a:rPr lang="en-US" dirty="0"/>
              <a:t>-- Garage Coverage Form- (for auto dealers)</a:t>
            </a:r>
          </a:p>
          <a:p>
            <a:r>
              <a:rPr lang="en-US" dirty="0"/>
              <a:t>-- Motor Carrier Coverage Form – ( for transporters)</a:t>
            </a:r>
          </a:p>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3</a:t>
            </a:fld>
            <a:endParaRPr lang="en-US"/>
          </a:p>
        </p:txBody>
      </p:sp>
    </p:spTree>
    <p:extLst>
      <p:ext uri="{BB962C8B-B14F-4D97-AF65-F5344CB8AC3E}">
        <p14:creationId xmlns:p14="http://schemas.microsoft.com/office/powerpoint/2010/main" val="2848148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6D133C-3AF8-4D99-8D18-3C03BB83E480}" type="datetimeFigureOut">
              <a:rPr lang="en-IN" smtClean="0"/>
              <a:t>04-03-2024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1791964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6D133C-3AF8-4D99-8D18-3C03BB83E480}" type="datetimeFigureOut">
              <a:rPr lang="en-IN" smtClean="0"/>
              <a:t>04-03-2024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2166061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6D133C-3AF8-4D99-8D18-3C03BB83E480}" type="datetimeFigureOut">
              <a:rPr lang="en-IN" smtClean="0"/>
              <a:t>04-03-2024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2515186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B6D133C-3AF8-4D99-8D18-3C03BB83E480}" type="datetimeFigureOut">
              <a:rPr lang="en-IN" smtClean="0"/>
              <a:t>04-03-2024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304636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B6D133C-3AF8-4D99-8D18-3C03BB83E480}" type="datetimeFigureOut">
              <a:rPr lang="en-IN" smtClean="0"/>
              <a:t>04-03-2024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3185751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B6D133C-3AF8-4D99-8D18-3C03BB83E480}" type="datetimeFigureOut">
              <a:rPr lang="en-IN" smtClean="0"/>
              <a:t>04-03-2024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3459065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6D133C-3AF8-4D99-8D18-3C03BB83E480}" type="datetimeFigureOut">
              <a:rPr lang="en-IN" smtClean="0"/>
              <a:t>04-03-2024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1021016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6D133C-3AF8-4D99-8D18-3C03BB83E480}" type="datetimeFigureOut">
              <a:rPr lang="en-IN" smtClean="0"/>
              <a:t>04-03-2024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2172694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6D133C-3AF8-4D99-8D18-3C03BB83E480}" type="datetimeFigureOut">
              <a:rPr lang="en-IN" smtClean="0"/>
              <a:t>04-03-2024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117629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6D133C-3AF8-4D99-8D18-3C03BB83E480}" type="datetimeFigureOut">
              <a:rPr lang="en-IN" smtClean="0"/>
              <a:t>04-03-2024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300829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6D133C-3AF8-4D99-8D18-3C03BB83E480}" type="datetimeFigureOut">
              <a:rPr lang="en-IN" smtClean="0"/>
              <a:t>04-03-2024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6530D5-17B8-4E7A-9D35-27223DE9CB69}" type="slidenum">
              <a:rPr lang="en-IN" smtClean="0"/>
              <a:t>‹#›</a:t>
            </a:fld>
            <a:endParaRPr lang="en-IN"/>
          </a:p>
        </p:txBody>
      </p:sp>
    </p:spTree>
    <p:extLst>
      <p:ext uri="{BB962C8B-B14F-4D97-AF65-F5344CB8AC3E}">
        <p14:creationId xmlns:p14="http://schemas.microsoft.com/office/powerpoint/2010/main" val="3233898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2468" y="195809"/>
            <a:ext cx="1227358" cy="1083176"/>
          </a:xfrm>
          <a:prstGeom prst="rect">
            <a:avLst/>
          </a:prstGeom>
        </p:spPr>
      </p:pic>
    </p:spTree>
    <p:extLst>
      <p:ext uri="{BB962C8B-B14F-4D97-AF65-F5344CB8AC3E}">
        <p14:creationId xmlns:p14="http://schemas.microsoft.com/office/powerpoint/2010/main" val="3640977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6D133C-3AF8-4D99-8D18-3C03BB83E480}" type="datetimeFigureOut">
              <a:rPr lang="en-IN" smtClean="0"/>
              <a:t>04-03-2024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6530D5-17B8-4E7A-9D35-27223DE9CB69}" type="slidenum">
              <a:rPr lang="en-IN" smtClean="0"/>
              <a:t>‹#›</a:t>
            </a:fld>
            <a:endParaRPr lang="en-IN"/>
          </a:p>
        </p:txBody>
      </p:sp>
    </p:spTree>
    <p:extLst>
      <p:ext uri="{BB962C8B-B14F-4D97-AF65-F5344CB8AC3E}">
        <p14:creationId xmlns:p14="http://schemas.microsoft.com/office/powerpoint/2010/main" val="4005333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3875" y="2050411"/>
            <a:ext cx="9144000" cy="2387600"/>
          </a:xfrm>
        </p:spPr>
        <p:txBody>
          <a:bodyPr/>
          <a:lstStyle/>
          <a:p>
            <a:r>
              <a:rPr lang="en-IN" dirty="0"/>
              <a:t>Commercial Auto Insurance</a:t>
            </a:r>
            <a:br>
              <a:rPr lang="en-IN" dirty="0"/>
            </a:br>
            <a:endParaRPr lang="en-IN" dirty="0"/>
          </a:p>
        </p:txBody>
      </p:sp>
    </p:spTree>
    <p:extLst>
      <p:ext uri="{BB962C8B-B14F-4D97-AF65-F5344CB8AC3E}">
        <p14:creationId xmlns:p14="http://schemas.microsoft.com/office/powerpoint/2010/main" val="344191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Insurance</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7" name="TextBox 6"/>
          <p:cNvSpPr txBox="1"/>
          <p:nvPr/>
        </p:nvSpPr>
        <p:spPr>
          <a:xfrm>
            <a:off x="304800" y="1122223"/>
            <a:ext cx="11887199" cy="2646878"/>
          </a:xfrm>
          <a:prstGeom prst="rect">
            <a:avLst/>
          </a:prstGeom>
          <a:noFill/>
        </p:spPr>
        <p:txBody>
          <a:bodyPr wrap="square" rtlCol="0">
            <a:spAutoFit/>
          </a:bodyPr>
          <a:lstStyle/>
          <a:p>
            <a:r>
              <a:rPr lang="en-US" sz="2000" b="1" dirty="0"/>
              <a:t>What is commercial insurance ?</a:t>
            </a:r>
          </a:p>
          <a:p>
            <a:endParaRPr lang="en-US" dirty="0"/>
          </a:p>
          <a:p>
            <a:r>
              <a:rPr lang="en-US" dirty="0"/>
              <a:t>Coverage for businesses for protection against potential losses through unforeseen circumstances like theft, liability, </a:t>
            </a:r>
          </a:p>
          <a:p>
            <a:r>
              <a:rPr lang="en-US" dirty="0"/>
              <a:t>property damage, and for coverage in the event of an interruption of business or injured employees.</a:t>
            </a:r>
          </a:p>
          <a:p>
            <a:endParaRPr lang="en-US" dirty="0"/>
          </a:p>
          <a:p>
            <a:r>
              <a:rPr lang="en-US" sz="2000" b="1" dirty="0"/>
              <a:t>What determines applicable insurance personal/commercial ?</a:t>
            </a:r>
          </a:p>
          <a:p>
            <a:endParaRPr lang="en-US" dirty="0"/>
          </a:p>
          <a:p>
            <a:r>
              <a:rPr lang="en-US" dirty="0"/>
              <a:t>It is the use/activity that governs the applicable insurance.</a:t>
            </a:r>
            <a:br>
              <a:rPr lang="en-US" dirty="0"/>
            </a:br>
            <a:endParaRPr lang="en-US" dirty="0"/>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3733800"/>
            <a:ext cx="60007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1496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0" name="TextBox 49"/>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 Policy</a:t>
            </a:r>
          </a:p>
        </p:txBody>
      </p:sp>
      <p:sp>
        <p:nvSpPr>
          <p:cNvPr id="6" name="TextBox 5"/>
          <p:cNvSpPr txBox="1"/>
          <p:nvPr/>
        </p:nvSpPr>
        <p:spPr>
          <a:xfrm>
            <a:off x="407472" y="956541"/>
            <a:ext cx="10778836" cy="5632311"/>
          </a:xfrm>
          <a:prstGeom prst="rect">
            <a:avLst/>
          </a:prstGeom>
          <a:noFill/>
        </p:spPr>
        <p:txBody>
          <a:bodyPr wrap="square" rtlCol="0">
            <a:spAutoFit/>
          </a:bodyPr>
          <a:lstStyle/>
          <a:p>
            <a:pPr marL="285750" indent="-285750">
              <a:buFont typeface="Wingdings" panose="05000000000000000000" pitchFamily="2" charset="2"/>
              <a:buChar char="v"/>
            </a:pPr>
            <a:r>
              <a:rPr lang="en-US" dirty="0"/>
              <a:t>Loss exposures:</a:t>
            </a:r>
          </a:p>
          <a:p>
            <a:pPr marL="742950" lvl="1" indent="-285750">
              <a:buFont typeface="Wingdings" panose="05000000000000000000" pitchFamily="2" charset="2"/>
              <a:buChar char="v"/>
            </a:pPr>
            <a:r>
              <a:rPr lang="en-US" dirty="0"/>
              <a:t>Liability arising out of the use of owned, hired or rented auto</a:t>
            </a:r>
          </a:p>
          <a:p>
            <a:pPr marL="742950" lvl="1" indent="-285750">
              <a:buFont typeface="Wingdings" panose="05000000000000000000" pitchFamily="2" charset="2"/>
              <a:buChar char="v"/>
            </a:pPr>
            <a:r>
              <a:rPr lang="en-US" dirty="0"/>
              <a:t>Decrease in the value of the auto because of damage</a:t>
            </a:r>
          </a:p>
          <a:p>
            <a:pPr marL="742950" lvl="1" indent="-285750">
              <a:buFont typeface="Wingdings" panose="05000000000000000000" pitchFamily="2" charset="2"/>
              <a:buChar char="v"/>
            </a:pPr>
            <a:r>
              <a:rPr lang="en-US" dirty="0"/>
              <a:t>Possibility of financial loss from a person’s injury, sickness or death</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Primary coverages provided include</a:t>
            </a:r>
          </a:p>
          <a:p>
            <a:pPr marL="742950" lvl="1" indent="-285750">
              <a:buFont typeface="Wingdings" panose="05000000000000000000" pitchFamily="2" charset="2"/>
              <a:buChar char="v"/>
            </a:pPr>
            <a:r>
              <a:rPr lang="en-US" b="1" dirty="0"/>
              <a:t>Liability coverage</a:t>
            </a:r>
          </a:p>
          <a:p>
            <a:pPr marL="1200150" lvl="2" indent="-285750">
              <a:buFont typeface="Wingdings" panose="05000000000000000000" pitchFamily="2" charset="2"/>
              <a:buChar char="v"/>
            </a:pPr>
            <a:r>
              <a:rPr lang="en-US" dirty="0"/>
              <a:t>Damages because of bodily injury or property damage</a:t>
            </a:r>
          </a:p>
          <a:p>
            <a:pPr marL="1200150" lvl="2" indent="-285750">
              <a:buFont typeface="Wingdings" panose="05000000000000000000" pitchFamily="2" charset="2"/>
              <a:buChar char="v"/>
            </a:pPr>
            <a:r>
              <a:rPr lang="en-US" dirty="0"/>
              <a:t>Pay for covered pollution cost or expense</a:t>
            </a:r>
          </a:p>
          <a:p>
            <a:pPr marL="1200150" lvl="2" indent="-285750">
              <a:buFont typeface="Wingdings" panose="05000000000000000000" pitchFamily="2" charset="2"/>
              <a:buChar char="v"/>
            </a:pPr>
            <a:r>
              <a:rPr lang="en-US" dirty="0"/>
              <a:t>Pay for defense costs</a:t>
            </a:r>
          </a:p>
          <a:p>
            <a:r>
              <a:rPr lang="en-US" dirty="0"/>
              <a:t>                 Coverage extensions (payable in addition to the limit of insurance):</a:t>
            </a:r>
          </a:p>
          <a:p>
            <a:pPr marL="1200150" lvl="2" indent="-285750">
              <a:buFont typeface="Wingdings" panose="05000000000000000000" pitchFamily="2" charset="2"/>
              <a:buChar char="v"/>
            </a:pPr>
            <a:r>
              <a:rPr lang="en-US" dirty="0"/>
              <a:t>All expenses incurred by the insurer</a:t>
            </a:r>
          </a:p>
          <a:p>
            <a:pPr marL="1200150" lvl="2" indent="-285750">
              <a:buFont typeface="Wingdings" panose="05000000000000000000" pitchFamily="2" charset="2"/>
              <a:buChar char="v"/>
            </a:pPr>
            <a:r>
              <a:rPr lang="en-US" dirty="0"/>
              <a:t>Cost of bail bonds up to $ 2,000</a:t>
            </a:r>
          </a:p>
          <a:p>
            <a:pPr marL="1200150" lvl="2" indent="-285750">
              <a:buFont typeface="Wingdings" panose="05000000000000000000" pitchFamily="2" charset="2"/>
              <a:buChar char="v"/>
            </a:pPr>
            <a:r>
              <a:rPr lang="en-US" dirty="0"/>
              <a:t>Reasonable expenses incurred by the insured at insurer’s request</a:t>
            </a:r>
          </a:p>
          <a:p>
            <a:pPr marL="1200150" lvl="2" indent="-285750">
              <a:buFont typeface="Wingdings" panose="05000000000000000000" pitchFamily="2" charset="2"/>
              <a:buChar char="v"/>
            </a:pPr>
            <a:r>
              <a:rPr lang="en-US" dirty="0"/>
              <a:t>Interest on judgements</a:t>
            </a:r>
          </a:p>
          <a:p>
            <a:pPr marL="742950" lvl="1" indent="-285750">
              <a:buFont typeface="Wingdings" panose="05000000000000000000" pitchFamily="2" charset="2"/>
              <a:buChar char="v"/>
            </a:pPr>
            <a:r>
              <a:rPr lang="en-US" b="1" dirty="0"/>
              <a:t>Physical damage coverage</a:t>
            </a:r>
          </a:p>
          <a:p>
            <a:pPr marL="1200150" lvl="2" indent="-285750">
              <a:buFont typeface="Wingdings" panose="05000000000000000000" pitchFamily="2" charset="2"/>
              <a:buChar char="v"/>
            </a:pPr>
            <a:r>
              <a:rPr lang="en-US" dirty="0"/>
              <a:t>Collision coverage</a:t>
            </a:r>
          </a:p>
          <a:p>
            <a:pPr marL="1200150" lvl="2" indent="-285750">
              <a:buFont typeface="Wingdings" panose="05000000000000000000" pitchFamily="2" charset="2"/>
              <a:buChar char="v"/>
            </a:pPr>
            <a:r>
              <a:rPr lang="en-US" dirty="0"/>
              <a:t>Comprehensive coverage</a:t>
            </a:r>
          </a:p>
          <a:p>
            <a:pPr marL="1200150" lvl="2" indent="-285750">
              <a:buFont typeface="Wingdings" panose="05000000000000000000" pitchFamily="2" charset="2"/>
              <a:buChar char="v"/>
            </a:pPr>
            <a:r>
              <a:rPr lang="en-US" dirty="0"/>
              <a:t>Specified causes of loss coverage</a:t>
            </a:r>
          </a:p>
          <a:p>
            <a:pPr marL="1200150" lvl="2" indent="-285750">
              <a:buFont typeface="Wingdings" panose="05000000000000000000" pitchFamily="2" charset="2"/>
              <a:buChar char="v"/>
            </a:pPr>
            <a:r>
              <a:rPr lang="en-US" dirty="0"/>
              <a:t>Coverage extensions include towing, transportation and loss of use expenses</a:t>
            </a:r>
          </a:p>
        </p:txBody>
      </p:sp>
    </p:spTree>
    <p:extLst>
      <p:ext uri="{BB962C8B-B14F-4D97-AF65-F5344CB8AC3E}">
        <p14:creationId xmlns:p14="http://schemas.microsoft.com/office/powerpoint/2010/main" val="2351843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0" name="TextBox 49"/>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 Policy contd..</a:t>
            </a:r>
          </a:p>
        </p:txBody>
      </p:sp>
      <p:sp>
        <p:nvSpPr>
          <p:cNvPr id="7" name="TextBox 6"/>
          <p:cNvSpPr txBox="1"/>
          <p:nvPr/>
        </p:nvSpPr>
        <p:spPr>
          <a:xfrm>
            <a:off x="41566" y="1052953"/>
            <a:ext cx="11984183" cy="5632311"/>
          </a:xfrm>
          <a:prstGeom prst="rect">
            <a:avLst/>
          </a:prstGeom>
          <a:noFill/>
        </p:spPr>
        <p:txBody>
          <a:bodyPr wrap="square" rtlCol="0">
            <a:spAutoFit/>
          </a:bodyPr>
          <a:lstStyle/>
          <a:p>
            <a:pPr marL="285750" indent="-285750">
              <a:buFont typeface="Wingdings" panose="05000000000000000000" pitchFamily="2" charset="2"/>
              <a:buChar char="v"/>
            </a:pPr>
            <a:r>
              <a:rPr lang="en-US" dirty="0"/>
              <a:t>Auto dealers and other land motor vehicle dealers are eligible for Auto dealers coverage form which </a:t>
            </a:r>
          </a:p>
          <a:p>
            <a:r>
              <a:rPr lang="en-US" dirty="0"/>
              <a:t>     provides them </a:t>
            </a:r>
            <a:r>
              <a:rPr lang="en-US" b="1" dirty="0"/>
              <a:t>garage keepers coverage </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A combined single limit of insurance applies to all bodily injury, property damage and covered pollution costs under liability coverage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For physical damage the maximum the insurer will pay is the lesser of ACV or the cost of repairing or replacing the property with alike property</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Common exclusions include:</a:t>
            </a:r>
          </a:p>
          <a:p>
            <a:pPr marL="800100" lvl="1" indent="-342900">
              <a:buFont typeface="Wingdings" panose="05000000000000000000" pitchFamily="2" charset="2"/>
              <a:buChar char="v"/>
            </a:pPr>
            <a:r>
              <a:rPr lang="en-US" dirty="0"/>
              <a:t>Liability coverage</a:t>
            </a:r>
          </a:p>
          <a:p>
            <a:pPr marL="1257300" lvl="2" indent="-342900">
              <a:buFont typeface="Wingdings" panose="05000000000000000000" pitchFamily="2" charset="2"/>
              <a:buChar char="v"/>
            </a:pPr>
            <a:r>
              <a:rPr lang="en-US" dirty="0"/>
              <a:t>Expected or intended injury</a:t>
            </a:r>
          </a:p>
          <a:p>
            <a:pPr marL="1257300" lvl="2" indent="-342900">
              <a:buFont typeface="Wingdings" panose="05000000000000000000" pitchFamily="2" charset="2"/>
              <a:buChar char="v"/>
            </a:pPr>
            <a:r>
              <a:rPr lang="en-US" dirty="0"/>
              <a:t>Contractual liability</a:t>
            </a:r>
          </a:p>
          <a:p>
            <a:pPr marL="1257300" lvl="2" indent="-342900">
              <a:buFont typeface="Wingdings" panose="05000000000000000000" pitchFamily="2" charset="2"/>
              <a:buChar char="v"/>
            </a:pPr>
            <a:r>
              <a:rPr lang="en-US" dirty="0"/>
              <a:t>Care, custody or control</a:t>
            </a:r>
          </a:p>
          <a:p>
            <a:pPr marL="1257300" lvl="2" indent="-342900">
              <a:buFont typeface="Wingdings" panose="05000000000000000000" pitchFamily="2" charset="2"/>
              <a:buChar char="v"/>
            </a:pPr>
            <a:r>
              <a:rPr lang="en-US" dirty="0"/>
              <a:t>Loading or unloading</a:t>
            </a:r>
          </a:p>
          <a:p>
            <a:pPr marL="1257300" lvl="2" indent="-342900">
              <a:buFont typeface="Wingdings" panose="05000000000000000000" pitchFamily="2" charset="2"/>
              <a:buChar char="v"/>
            </a:pPr>
            <a:r>
              <a:rPr lang="en-US" dirty="0"/>
              <a:t>Operations and completed operations</a:t>
            </a:r>
          </a:p>
          <a:p>
            <a:pPr marL="1257300" lvl="2" indent="-342900">
              <a:buFont typeface="Wingdings" panose="05000000000000000000" pitchFamily="2" charset="2"/>
              <a:buChar char="v"/>
            </a:pPr>
            <a:r>
              <a:rPr lang="en-US" dirty="0"/>
              <a:t>Pollution, war and racing</a:t>
            </a:r>
          </a:p>
          <a:p>
            <a:pPr marL="800100" lvl="1" indent="-342900">
              <a:buFont typeface="Wingdings" panose="05000000000000000000" pitchFamily="2" charset="2"/>
              <a:buChar char="v"/>
            </a:pPr>
            <a:r>
              <a:rPr lang="en-US" dirty="0"/>
              <a:t>Physical damage coverage</a:t>
            </a:r>
          </a:p>
          <a:p>
            <a:pPr marL="1257300" lvl="2" indent="-342900">
              <a:buFont typeface="Wingdings" panose="05000000000000000000" pitchFamily="2" charset="2"/>
              <a:buChar char="v"/>
            </a:pPr>
            <a:r>
              <a:rPr lang="en-US" dirty="0"/>
              <a:t>Electronic equipment</a:t>
            </a:r>
          </a:p>
          <a:p>
            <a:pPr marL="1257300" lvl="2" indent="-342900">
              <a:buFont typeface="Wingdings" panose="05000000000000000000" pitchFamily="2" charset="2"/>
              <a:buChar char="v"/>
            </a:pPr>
            <a:r>
              <a:rPr lang="en-US" dirty="0"/>
              <a:t>Nuclear hazard and war &amp; military actions</a:t>
            </a:r>
          </a:p>
        </p:txBody>
      </p:sp>
    </p:spTree>
    <p:extLst>
      <p:ext uri="{BB962C8B-B14F-4D97-AF65-F5344CB8AC3E}">
        <p14:creationId xmlns:p14="http://schemas.microsoft.com/office/powerpoint/2010/main" val="3790918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0" name="TextBox 49"/>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 Policy contd..</a:t>
            </a:r>
          </a:p>
        </p:txBody>
      </p:sp>
      <p:sp>
        <p:nvSpPr>
          <p:cNvPr id="7" name="TextBox 6"/>
          <p:cNvSpPr txBox="1"/>
          <p:nvPr/>
        </p:nvSpPr>
        <p:spPr>
          <a:xfrm>
            <a:off x="541656" y="1686039"/>
            <a:ext cx="10764982" cy="3970318"/>
          </a:xfrm>
          <a:prstGeom prst="rect">
            <a:avLst/>
          </a:prstGeom>
          <a:noFill/>
        </p:spPr>
        <p:txBody>
          <a:bodyPr wrap="square" rtlCol="0">
            <a:spAutoFit/>
          </a:bodyPr>
          <a:lstStyle/>
          <a:p>
            <a:pPr marL="285750" indent="-285750">
              <a:buFont typeface="Wingdings" panose="05000000000000000000" pitchFamily="2" charset="2"/>
              <a:buChar char="v"/>
            </a:pPr>
            <a:r>
              <a:rPr lang="en-US" dirty="0"/>
              <a:t>Endorsements can be used to enhance the coverages provided by the BACF. Common endorsements:</a:t>
            </a:r>
          </a:p>
          <a:p>
            <a:pPr marL="742950" lvl="1" indent="-285750">
              <a:buFont typeface="Wingdings" panose="05000000000000000000" pitchFamily="2" charset="2"/>
              <a:buChar char="v"/>
            </a:pPr>
            <a:r>
              <a:rPr lang="en-US" dirty="0"/>
              <a:t>Medical payments – pays regardless of insured’s fault, no aggregate limits defined</a:t>
            </a:r>
          </a:p>
          <a:p>
            <a:pPr marL="742950" lvl="1" indent="-285750">
              <a:buFont typeface="Wingdings" panose="05000000000000000000" pitchFamily="2" charset="2"/>
              <a:buChar char="v"/>
            </a:pPr>
            <a:r>
              <a:rPr lang="en-US" dirty="0"/>
              <a:t>Personal injury protection and added personal injury protection – pays regardless of fault for medical expense, income loss and other expenses resulting from the bodily injury to occupants of a covered auto</a:t>
            </a:r>
          </a:p>
          <a:p>
            <a:pPr marL="742950" lvl="1" indent="-285750">
              <a:buFont typeface="Wingdings" panose="05000000000000000000" pitchFamily="2" charset="2"/>
              <a:buChar char="v"/>
            </a:pPr>
            <a:r>
              <a:rPr lang="en-US" dirty="0"/>
              <a:t>Uninsured and underinsured motorists</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Primary rating factors</a:t>
            </a:r>
          </a:p>
          <a:p>
            <a:pPr marL="742950" lvl="1" indent="-285750">
              <a:buFont typeface="Wingdings" panose="05000000000000000000" pitchFamily="2" charset="2"/>
              <a:buChar char="v"/>
            </a:pPr>
            <a:r>
              <a:rPr lang="en-US" dirty="0"/>
              <a:t>Territory</a:t>
            </a:r>
          </a:p>
          <a:p>
            <a:pPr marL="742950" lvl="1" indent="-285750">
              <a:buFont typeface="Wingdings" panose="05000000000000000000" pitchFamily="2" charset="2"/>
              <a:buChar char="v"/>
            </a:pPr>
            <a:r>
              <a:rPr lang="en-US" dirty="0"/>
              <a:t>Policy limit</a:t>
            </a:r>
          </a:p>
          <a:p>
            <a:pPr marL="742950" lvl="1" indent="-285750">
              <a:buFont typeface="Wingdings" panose="05000000000000000000" pitchFamily="2" charset="2"/>
              <a:buChar char="v"/>
            </a:pPr>
            <a:r>
              <a:rPr lang="en-US" dirty="0"/>
              <a:t>Vehicle original cost</a:t>
            </a:r>
          </a:p>
          <a:p>
            <a:pPr marL="742950" lvl="1" indent="-285750">
              <a:buFont typeface="Wingdings" panose="05000000000000000000" pitchFamily="2" charset="2"/>
              <a:buChar char="v"/>
            </a:pPr>
            <a:r>
              <a:rPr lang="en-US" dirty="0"/>
              <a:t>Deductible</a:t>
            </a:r>
          </a:p>
          <a:p>
            <a:pPr marL="742950" lvl="1" indent="-285750">
              <a:buFont typeface="Wingdings" panose="05000000000000000000" pitchFamily="2" charset="2"/>
              <a:buChar char="v"/>
            </a:pPr>
            <a:r>
              <a:rPr lang="en-US" dirty="0"/>
              <a:t>Vehicle’s size class</a:t>
            </a:r>
          </a:p>
          <a:p>
            <a:pPr marL="742950" lvl="1" indent="-285750">
              <a:buFont typeface="Wingdings" panose="05000000000000000000" pitchFamily="2" charset="2"/>
              <a:buChar char="v"/>
            </a:pPr>
            <a:r>
              <a:rPr lang="en-US" dirty="0"/>
              <a:t>Business use</a:t>
            </a:r>
          </a:p>
          <a:p>
            <a:pPr marL="742950" lvl="1" indent="-285750">
              <a:buFont typeface="Wingdings" panose="05000000000000000000" pitchFamily="2" charset="2"/>
              <a:buChar char="v"/>
            </a:pPr>
            <a:r>
              <a:rPr lang="en-US" dirty="0"/>
              <a:t>Radius class</a:t>
            </a:r>
          </a:p>
        </p:txBody>
      </p:sp>
    </p:spTree>
    <p:extLst>
      <p:ext uri="{BB962C8B-B14F-4D97-AF65-F5344CB8AC3E}">
        <p14:creationId xmlns:p14="http://schemas.microsoft.com/office/powerpoint/2010/main" val="3226201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0" name="TextBox 49"/>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 Policy contd..</a:t>
            </a:r>
          </a:p>
        </p:txBody>
      </p:sp>
      <p:pic>
        <p:nvPicPr>
          <p:cNvPr id="2" name="Picture 1"/>
          <p:cNvPicPr>
            <a:picLocks noChangeAspect="1"/>
          </p:cNvPicPr>
          <p:nvPr/>
        </p:nvPicPr>
        <p:blipFill>
          <a:blip r:embed="rId3"/>
          <a:stretch>
            <a:fillRect/>
          </a:stretch>
        </p:blipFill>
        <p:spPr>
          <a:xfrm>
            <a:off x="1012716" y="1103353"/>
            <a:ext cx="9786970" cy="5440517"/>
          </a:xfrm>
          <a:prstGeom prst="rect">
            <a:avLst/>
          </a:prstGeom>
        </p:spPr>
      </p:pic>
    </p:spTree>
    <p:extLst>
      <p:ext uri="{BB962C8B-B14F-4D97-AF65-F5344CB8AC3E}">
        <p14:creationId xmlns:p14="http://schemas.microsoft.com/office/powerpoint/2010/main" val="3674755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4" name="TextBox 3"/>
          <p:cNvSpPr txBox="1"/>
          <p:nvPr/>
        </p:nvSpPr>
        <p:spPr>
          <a:xfrm>
            <a:off x="2632364" y="3546764"/>
            <a:ext cx="1596656" cy="369332"/>
          </a:xfrm>
          <a:prstGeom prst="rect">
            <a:avLst/>
          </a:prstGeom>
          <a:noFill/>
        </p:spPr>
        <p:txBody>
          <a:bodyPr wrap="none" rtlCol="0">
            <a:spAutoFit/>
          </a:bodyPr>
          <a:lstStyle/>
          <a:p>
            <a:r>
              <a:rPr lang="en-US" dirty="0"/>
              <a:t>Coverage Form</a:t>
            </a:r>
          </a:p>
        </p:txBody>
      </p:sp>
      <p:sp>
        <p:nvSpPr>
          <p:cNvPr id="8" name="TextBox 7"/>
          <p:cNvSpPr txBox="1"/>
          <p:nvPr/>
        </p:nvSpPr>
        <p:spPr>
          <a:xfrm>
            <a:off x="7065818" y="3546461"/>
            <a:ext cx="2594685" cy="369332"/>
          </a:xfrm>
          <a:prstGeom prst="rect">
            <a:avLst/>
          </a:prstGeom>
          <a:noFill/>
        </p:spPr>
        <p:txBody>
          <a:bodyPr wrap="none" rtlCol="0">
            <a:spAutoFit/>
          </a:bodyPr>
          <a:lstStyle/>
          <a:p>
            <a:r>
              <a:rPr lang="en-US" dirty="0"/>
              <a:t>Sample Declarations Page</a:t>
            </a:r>
          </a:p>
        </p:txBody>
      </p:sp>
      <p:sp>
        <p:nvSpPr>
          <p:cNvPr id="6" name="TextBox 5"/>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 Policy contd..</a:t>
            </a:r>
          </a:p>
        </p:txBody>
      </p:sp>
      <p:graphicFrame>
        <p:nvGraphicFramePr>
          <p:cNvPr id="2" name="Object 1"/>
          <p:cNvGraphicFramePr>
            <a:graphicFrameLocks noChangeAspect="1"/>
          </p:cNvGraphicFramePr>
          <p:nvPr/>
        </p:nvGraphicFramePr>
        <p:xfrm>
          <a:off x="2973388" y="2605088"/>
          <a:ext cx="914400" cy="771525"/>
        </p:xfrm>
        <a:graphic>
          <a:graphicData uri="http://schemas.openxmlformats.org/presentationml/2006/ole">
            <mc:AlternateContent xmlns:mc="http://schemas.openxmlformats.org/markup-compatibility/2006">
              <mc:Choice xmlns:v="urn:schemas-microsoft-com:vml" Requires="v">
                <p:oleObj name="Acrobat Document" showAsIcon="1" r:id="rId3" imgW="914400" imgH="771480" progId="AcroExch.Document.11">
                  <p:embed/>
                </p:oleObj>
              </mc:Choice>
              <mc:Fallback>
                <p:oleObj name="Acrobat Document" showAsIcon="1" r:id="rId3" imgW="914400" imgH="771480" progId="AcroExch.Document.11">
                  <p:embed/>
                  <p:pic>
                    <p:nvPicPr>
                      <p:cNvPr id="2" name="Object 1"/>
                      <p:cNvPicPr/>
                      <p:nvPr/>
                    </p:nvPicPr>
                    <p:blipFill>
                      <a:blip r:embed="rId4"/>
                      <a:stretch>
                        <a:fillRect/>
                      </a:stretch>
                    </p:blipFill>
                    <p:spPr>
                      <a:xfrm>
                        <a:off x="2973388" y="2605088"/>
                        <a:ext cx="914400" cy="771525"/>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7905960" y="2572555"/>
          <a:ext cx="914400" cy="771525"/>
        </p:xfrm>
        <a:graphic>
          <a:graphicData uri="http://schemas.openxmlformats.org/presentationml/2006/ole">
            <mc:AlternateContent xmlns:mc="http://schemas.openxmlformats.org/markup-compatibility/2006">
              <mc:Choice xmlns:v="urn:schemas-microsoft-com:vml" Requires="v">
                <p:oleObj name="Acrobat Document" showAsIcon="1" r:id="rId5" imgW="914400" imgH="771480" progId="AcroExch.Document.11">
                  <p:embed/>
                </p:oleObj>
              </mc:Choice>
              <mc:Fallback>
                <p:oleObj name="Acrobat Document" showAsIcon="1" r:id="rId5" imgW="914400" imgH="771480" progId="AcroExch.Document.11">
                  <p:embed/>
                  <p:pic>
                    <p:nvPicPr>
                      <p:cNvPr id="7" name="Object 6"/>
                      <p:cNvPicPr/>
                      <p:nvPr/>
                    </p:nvPicPr>
                    <p:blipFill>
                      <a:blip r:embed="rId6"/>
                      <a:stretch>
                        <a:fillRect/>
                      </a:stretch>
                    </p:blipFill>
                    <p:spPr>
                      <a:xfrm>
                        <a:off x="7905960" y="2572555"/>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473454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41087d73-5bfe-4c6e-a130-3d602495565a" ContentTypeId="0x010100F7548365F7A28B41B9A685ED46C1AC26"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Best Practice</SubCategory>
    <Tags xmlns="09339d3a-aaa0-497d-ae73-d8a5832d420d">Commercial Auto</Tags>
  </documentManagement>
</p:properties>
</file>

<file path=customXml/itemProps1.xml><?xml version="1.0" encoding="utf-8"?>
<ds:datastoreItem xmlns:ds="http://schemas.openxmlformats.org/officeDocument/2006/customXml" ds:itemID="{BF4F05AE-C0A2-4D72-8430-0828064C3193}"/>
</file>

<file path=customXml/itemProps2.xml><?xml version="1.0" encoding="utf-8"?>
<ds:datastoreItem xmlns:ds="http://schemas.openxmlformats.org/officeDocument/2006/customXml" ds:itemID="{FB94E9AC-C0E0-4C37-95FB-4598C2F38072}"/>
</file>

<file path=customXml/itemProps3.xml><?xml version="1.0" encoding="utf-8"?>
<ds:datastoreItem xmlns:ds="http://schemas.openxmlformats.org/officeDocument/2006/customXml" ds:itemID="{2052FBFD-7FF5-4FEB-BD78-0BA8A0E51F27}"/>
</file>

<file path=customXml/itemProps4.xml><?xml version="1.0" encoding="utf-8"?>
<ds:datastoreItem xmlns:ds="http://schemas.openxmlformats.org/officeDocument/2006/customXml" ds:itemID="{64456040-65A2-41EE-BE1C-C6DB3CA6E7DE}"/>
</file>

<file path=docMetadata/LabelInfo.xml><?xml version="1.0" encoding="utf-8"?>
<clbl:labelList xmlns:clbl="http://schemas.microsoft.com/office/2020/mipLabelMetadata">
  <clbl:label id="{13085c86-4bcb-460a-a6f0-b373421c6323}" enabled="0" method="" siteId="{13085c86-4bcb-460a-a6f0-b373421c6323}" removed="1"/>
</clbl:labelList>
</file>

<file path=docProps/app.xml><?xml version="1.0" encoding="utf-8"?>
<Properties xmlns="http://schemas.openxmlformats.org/officeDocument/2006/extended-properties" xmlns:vt="http://schemas.openxmlformats.org/officeDocument/2006/docPropsVTypes">
  <TotalTime>94</TotalTime>
  <Words>882</Words>
  <Application>Microsoft Office PowerPoint</Application>
  <PresentationFormat>Widescreen</PresentationFormat>
  <Paragraphs>85</Paragraphs>
  <Slides>7</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Arial</vt:lpstr>
      <vt:lpstr>Calibri</vt:lpstr>
      <vt:lpstr>Calibri Light</vt:lpstr>
      <vt:lpstr>Segoe UI Semibold</vt:lpstr>
      <vt:lpstr>Wingdings</vt:lpstr>
      <vt:lpstr>Office Theme</vt:lpstr>
      <vt:lpstr>Acrobat Document</vt:lpstr>
      <vt:lpstr>Commercial Auto Insurance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Auto Insurance</dc:title>
  <dc:creator>Alok Bharati</dc:creator>
  <cp:lastModifiedBy>Alok Bharati</cp:lastModifiedBy>
  <cp:revision>2</cp:revision>
  <dcterms:created xsi:type="dcterms:W3CDTF">2018-09-12T11:21:14Z</dcterms:created>
  <dcterms:modified xsi:type="dcterms:W3CDTF">2024-03-04T09:27:34Z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
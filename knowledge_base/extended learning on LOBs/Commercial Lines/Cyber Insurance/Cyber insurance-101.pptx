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1163" r:id="rId3"/>
    <p:sldId id="1175" r:id="rId4"/>
    <p:sldId id="1174" r:id="rId5"/>
    <p:sldId id="1176" r:id="rId6"/>
    <p:sldId id="1177" r:id="rId7"/>
    <p:sldId id="1178" r:id="rId8"/>
    <p:sldId id="1179" r:id="rId9"/>
    <p:sldId id="1180" r:id="rId10"/>
    <p:sldId id="118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7" d="100"/>
          <a:sy n="67" d="100"/>
        </p:scale>
        <p:origin x="64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18" Type="http://schemas.openxmlformats.org/officeDocument/2006/relationships/customXml" Target="../customXml/item3.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ustomXml" Target="../customXml/item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B06DC-8F78-B632-18AF-6B08101E378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2FD1EFB-A282-5A2D-F348-F7F30A7F10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C98084E-756C-28EC-8A45-BDCDD02F2C98}"/>
              </a:ext>
            </a:extLst>
          </p:cNvPr>
          <p:cNvSpPr>
            <a:spLocks noGrp="1"/>
          </p:cNvSpPr>
          <p:nvPr>
            <p:ph type="dt" sz="half" idx="10"/>
          </p:nvPr>
        </p:nvSpPr>
        <p:spPr/>
        <p:txBody>
          <a:bodyPr/>
          <a:lstStyle/>
          <a:p>
            <a:fld id="{915D5C03-EA76-4A5C-9066-05A80BCB542D}" type="datetimeFigureOut">
              <a:rPr lang="en-IN" smtClean="0"/>
              <a:t>08-02-2023</a:t>
            </a:fld>
            <a:endParaRPr lang="en-IN"/>
          </a:p>
        </p:txBody>
      </p:sp>
      <p:sp>
        <p:nvSpPr>
          <p:cNvPr id="5" name="Footer Placeholder 4">
            <a:extLst>
              <a:ext uri="{FF2B5EF4-FFF2-40B4-BE49-F238E27FC236}">
                <a16:creationId xmlns:a16="http://schemas.microsoft.com/office/drawing/2014/main" id="{E481021B-B6F3-7744-C1E0-5A32BB5117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C01348-57E4-87E1-6BCA-EA6A65BEAB05}"/>
              </a:ext>
            </a:extLst>
          </p:cNvPr>
          <p:cNvSpPr>
            <a:spLocks noGrp="1"/>
          </p:cNvSpPr>
          <p:nvPr>
            <p:ph type="sldNum" sz="quarter" idx="12"/>
          </p:nvPr>
        </p:nvSpPr>
        <p:spPr/>
        <p:txBody>
          <a:bodyPr/>
          <a:lstStyle/>
          <a:p>
            <a:fld id="{D84C5A93-EA71-4AE7-8B0D-4AA487B7DBCA}" type="slidenum">
              <a:rPr lang="en-IN" smtClean="0"/>
              <a:t>‹#›</a:t>
            </a:fld>
            <a:endParaRPr lang="en-IN"/>
          </a:p>
        </p:txBody>
      </p:sp>
    </p:spTree>
    <p:extLst>
      <p:ext uri="{BB962C8B-B14F-4D97-AF65-F5344CB8AC3E}">
        <p14:creationId xmlns:p14="http://schemas.microsoft.com/office/powerpoint/2010/main" val="2585043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0AB04-4A40-0419-02CB-DD37522C798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E5809CE-633A-3A74-6A3B-60BB8C0D52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3FC558-44E7-8E9B-C206-2F9C3686DA69}"/>
              </a:ext>
            </a:extLst>
          </p:cNvPr>
          <p:cNvSpPr>
            <a:spLocks noGrp="1"/>
          </p:cNvSpPr>
          <p:nvPr>
            <p:ph type="dt" sz="half" idx="10"/>
          </p:nvPr>
        </p:nvSpPr>
        <p:spPr/>
        <p:txBody>
          <a:bodyPr/>
          <a:lstStyle/>
          <a:p>
            <a:fld id="{915D5C03-EA76-4A5C-9066-05A80BCB542D}" type="datetimeFigureOut">
              <a:rPr lang="en-IN" smtClean="0"/>
              <a:t>08-02-2023</a:t>
            </a:fld>
            <a:endParaRPr lang="en-IN"/>
          </a:p>
        </p:txBody>
      </p:sp>
      <p:sp>
        <p:nvSpPr>
          <p:cNvPr id="5" name="Footer Placeholder 4">
            <a:extLst>
              <a:ext uri="{FF2B5EF4-FFF2-40B4-BE49-F238E27FC236}">
                <a16:creationId xmlns:a16="http://schemas.microsoft.com/office/drawing/2014/main" id="{D084A606-47AD-A462-B4BC-E954133C40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09F43D-12AA-3D2C-B64D-200ECE17D212}"/>
              </a:ext>
            </a:extLst>
          </p:cNvPr>
          <p:cNvSpPr>
            <a:spLocks noGrp="1"/>
          </p:cNvSpPr>
          <p:nvPr>
            <p:ph type="sldNum" sz="quarter" idx="12"/>
          </p:nvPr>
        </p:nvSpPr>
        <p:spPr/>
        <p:txBody>
          <a:bodyPr/>
          <a:lstStyle/>
          <a:p>
            <a:fld id="{D84C5A93-EA71-4AE7-8B0D-4AA487B7DBCA}" type="slidenum">
              <a:rPr lang="en-IN" smtClean="0"/>
              <a:t>‹#›</a:t>
            </a:fld>
            <a:endParaRPr lang="en-IN"/>
          </a:p>
        </p:txBody>
      </p:sp>
    </p:spTree>
    <p:extLst>
      <p:ext uri="{BB962C8B-B14F-4D97-AF65-F5344CB8AC3E}">
        <p14:creationId xmlns:p14="http://schemas.microsoft.com/office/powerpoint/2010/main" val="3942199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53AE9-C061-1A98-C6CB-CF1C8F7EA9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AFDA6B8-86E3-A07D-9E55-B431048086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695CC4-8916-ABB8-909E-3A06F4246808}"/>
              </a:ext>
            </a:extLst>
          </p:cNvPr>
          <p:cNvSpPr>
            <a:spLocks noGrp="1"/>
          </p:cNvSpPr>
          <p:nvPr>
            <p:ph type="dt" sz="half" idx="10"/>
          </p:nvPr>
        </p:nvSpPr>
        <p:spPr/>
        <p:txBody>
          <a:bodyPr/>
          <a:lstStyle/>
          <a:p>
            <a:fld id="{915D5C03-EA76-4A5C-9066-05A80BCB542D}" type="datetimeFigureOut">
              <a:rPr lang="en-IN" smtClean="0"/>
              <a:t>08-02-2023</a:t>
            </a:fld>
            <a:endParaRPr lang="en-IN"/>
          </a:p>
        </p:txBody>
      </p:sp>
      <p:sp>
        <p:nvSpPr>
          <p:cNvPr id="5" name="Footer Placeholder 4">
            <a:extLst>
              <a:ext uri="{FF2B5EF4-FFF2-40B4-BE49-F238E27FC236}">
                <a16:creationId xmlns:a16="http://schemas.microsoft.com/office/drawing/2014/main" id="{D78A3695-A8BB-77E7-0DBB-F0F9DF89B9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532D39-F1EB-6001-761B-62EBED9A6502}"/>
              </a:ext>
            </a:extLst>
          </p:cNvPr>
          <p:cNvSpPr>
            <a:spLocks noGrp="1"/>
          </p:cNvSpPr>
          <p:nvPr>
            <p:ph type="sldNum" sz="quarter" idx="12"/>
          </p:nvPr>
        </p:nvSpPr>
        <p:spPr/>
        <p:txBody>
          <a:bodyPr/>
          <a:lstStyle/>
          <a:p>
            <a:fld id="{D84C5A93-EA71-4AE7-8B0D-4AA487B7DBCA}" type="slidenum">
              <a:rPr lang="en-IN" smtClean="0"/>
              <a:t>‹#›</a:t>
            </a:fld>
            <a:endParaRPr lang="en-IN"/>
          </a:p>
        </p:txBody>
      </p:sp>
    </p:spTree>
    <p:extLst>
      <p:ext uri="{BB962C8B-B14F-4D97-AF65-F5344CB8AC3E}">
        <p14:creationId xmlns:p14="http://schemas.microsoft.com/office/powerpoint/2010/main" val="2466352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75B13-60BD-86FD-C93E-4C49BF73EFE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F83B8C7-7CD7-C7BC-DF13-74993B3CC9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2D99823-FCC0-D0AE-28CF-C7179C4CA4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CD02AD5-7A4E-AAF7-E3F0-6DEFBE08321B}"/>
              </a:ext>
            </a:extLst>
          </p:cNvPr>
          <p:cNvSpPr>
            <a:spLocks noGrp="1"/>
          </p:cNvSpPr>
          <p:nvPr>
            <p:ph type="dt" sz="half" idx="10"/>
          </p:nvPr>
        </p:nvSpPr>
        <p:spPr/>
        <p:txBody>
          <a:bodyPr/>
          <a:lstStyle/>
          <a:p>
            <a:fld id="{915D5C03-EA76-4A5C-9066-05A80BCB542D}" type="datetimeFigureOut">
              <a:rPr lang="en-IN" smtClean="0"/>
              <a:t>08-02-2023</a:t>
            </a:fld>
            <a:endParaRPr lang="en-IN"/>
          </a:p>
        </p:txBody>
      </p:sp>
      <p:sp>
        <p:nvSpPr>
          <p:cNvPr id="6" name="Footer Placeholder 5">
            <a:extLst>
              <a:ext uri="{FF2B5EF4-FFF2-40B4-BE49-F238E27FC236}">
                <a16:creationId xmlns:a16="http://schemas.microsoft.com/office/drawing/2014/main" id="{7B4C4AF7-23AC-433C-2184-72E622EFF2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B8E74B-6543-F4C9-4926-B46EEE8FDFB2}"/>
              </a:ext>
            </a:extLst>
          </p:cNvPr>
          <p:cNvSpPr>
            <a:spLocks noGrp="1"/>
          </p:cNvSpPr>
          <p:nvPr>
            <p:ph type="sldNum" sz="quarter" idx="12"/>
          </p:nvPr>
        </p:nvSpPr>
        <p:spPr/>
        <p:txBody>
          <a:bodyPr/>
          <a:lstStyle/>
          <a:p>
            <a:fld id="{D84C5A93-EA71-4AE7-8B0D-4AA487B7DBCA}" type="slidenum">
              <a:rPr lang="en-IN" smtClean="0"/>
              <a:t>‹#›</a:t>
            </a:fld>
            <a:endParaRPr lang="en-IN"/>
          </a:p>
        </p:txBody>
      </p:sp>
    </p:spTree>
    <p:extLst>
      <p:ext uri="{BB962C8B-B14F-4D97-AF65-F5344CB8AC3E}">
        <p14:creationId xmlns:p14="http://schemas.microsoft.com/office/powerpoint/2010/main" val="3223947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B2567-F787-F6B5-E0AD-ECB5B1CC8C2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9ECFD75-3C33-7188-76F9-0EB6897FFB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F9723D-BED5-F6A8-BE5F-0C70EE5488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4FAB3CC-FD7A-768C-6CAB-534C8D5912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92610F-428C-932E-78B6-D07791BE3C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8AC1EB6-C265-BC78-C9CA-F3F646CEC664}"/>
              </a:ext>
            </a:extLst>
          </p:cNvPr>
          <p:cNvSpPr>
            <a:spLocks noGrp="1"/>
          </p:cNvSpPr>
          <p:nvPr>
            <p:ph type="dt" sz="half" idx="10"/>
          </p:nvPr>
        </p:nvSpPr>
        <p:spPr/>
        <p:txBody>
          <a:bodyPr/>
          <a:lstStyle/>
          <a:p>
            <a:fld id="{915D5C03-EA76-4A5C-9066-05A80BCB542D}" type="datetimeFigureOut">
              <a:rPr lang="en-IN" smtClean="0"/>
              <a:t>08-02-2023</a:t>
            </a:fld>
            <a:endParaRPr lang="en-IN"/>
          </a:p>
        </p:txBody>
      </p:sp>
      <p:sp>
        <p:nvSpPr>
          <p:cNvPr id="8" name="Footer Placeholder 7">
            <a:extLst>
              <a:ext uri="{FF2B5EF4-FFF2-40B4-BE49-F238E27FC236}">
                <a16:creationId xmlns:a16="http://schemas.microsoft.com/office/drawing/2014/main" id="{AB31CAF3-A27D-8A50-54E6-0488C4179E0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F2081C9-E224-7278-4445-9D2B815D605A}"/>
              </a:ext>
            </a:extLst>
          </p:cNvPr>
          <p:cNvSpPr>
            <a:spLocks noGrp="1"/>
          </p:cNvSpPr>
          <p:nvPr>
            <p:ph type="sldNum" sz="quarter" idx="12"/>
          </p:nvPr>
        </p:nvSpPr>
        <p:spPr/>
        <p:txBody>
          <a:bodyPr/>
          <a:lstStyle/>
          <a:p>
            <a:fld id="{D84C5A93-EA71-4AE7-8B0D-4AA487B7DBCA}" type="slidenum">
              <a:rPr lang="en-IN" smtClean="0"/>
              <a:t>‹#›</a:t>
            </a:fld>
            <a:endParaRPr lang="en-IN"/>
          </a:p>
        </p:txBody>
      </p:sp>
    </p:spTree>
    <p:extLst>
      <p:ext uri="{BB962C8B-B14F-4D97-AF65-F5344CB8AC3E}">
        <p14:creationId xmlns:p14="http://schemas.microsoft.com/office/powerpoint/2010/main" val="34047355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0846D-B1EE-E9F3-1376-B1F613ED489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8E60FF-D425-F5A5-DD11-17B5B2D9B7E4}"/>
              </a:ext>
            </a:extLst>
          </p:cNvPr>
          <p:cNvSpPr>
            <a:spLocks noGrp="1"/>
          </p:cNvSpPr>
          <p:nvPr>
            <p:ph type="dt" sz="half" idx="10"/>
          </p:nvPr>
        </p:nvSpPr>
        <p:spPr/>
        <p:txBody>
          <a:bodyPr/>
          <a:lstStyle/>
          <a:p>
            <a:fld id="{915D5C03-EA76-4A5C-9066-05A80BCB542D}" type="datetimeFigureOut">
              <a:rPr lang="en-IN" smtClean="0"/>
              <a:t>08-02-2023</a:t>
            </a:fld>
            <a:endParaRPr lang="en-IN"/>
          </a:p>
        </p:txBody>
      </p:sp>
      <p:sp>
        <p:nvSpPr>
          <p:cNvPr id="4" name="Footer Placeholder 3">
            <a:extLst>
              <a:ext uri="{FF2B5EF4-FFF2-40B4-BE49-F238E27FC236}">
                <a16:creationId xmlns:a16="http://schemas.microsoft.com/office/drawing/2014/main" id="{19AF0DDD-CA07-F328-FADF-D0208FE600E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C7F17DA-D0F2-0F83-8993-E6AF24D757A5}"/>
              </a:ext>
            </a:extLst>
          </p:cNvPr>
          <p:cNvSpPr>
            <a:spLocks noGrp="1"/>
          </p:cNvSpPr>
          <p:nvPr>
            <p:ph type="sldNum" sz="quarter" idx="12"/>
          </p:nvPr>
        </p:nvSpPr>
        <p:spPr/>
        <p:txBody>
          <a:bodyPr/>
          <a:lstStyle/>
          <a:p>
            <a:fld id="{D84C5A93-EA71-4AE7-8B0D-4AA487B7DBCA}" type="slidenum">
              <a:rPr lang="en-IN" smtClean="0"/>
              <a:t>‹#›</a:t>
            </a:fld>
            <a:endParaRPr lang="en-IN"/>
          </a:p>
        </p:txBody>
      </p:sp>
    </p:spTree>
    <p:extLst>
      <p:ext uri="{BB962C8B-B14F-4D97-AF65-F5344CB8AC3E}">
        <p14:creationId xmlns:p14="http://schemas.microsoft.com/office/powerpoint/2010/main" val="13771279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ED4328-CE08-0D8E-1277-C72BC968626C}"/>
              </a:ext>
            </a:extLst>
          </p:cNvPr>
          <p:cNvSpPr>
            <a:spLocks noGrp="1"/>
          </p:cNvSpPr>
          <p:nvPr>
            <p:ph type="dt" sz="half" idx="10"/>
          </p:nvPr>
        </p:nvSpPr>
        <p:spPr/>
        <p:txBody>
          <a:bodyPr/>
          <a:lstStyle/>
          <a:p>
            <a:fld id="{915D5C03-EA76-4A5C-9066-05A80BCB542D}" type="datetimeFigureOut">
              <a:rPr lang="en-IN" smtClean="0"/>
              <a:t>08-02-2023</a:t>
            </a:fld>
            <a:endParaRPr lang="en-IN"/>
          </a:p>
        </p:txBody>
      </p:sp>
      <p:sp>
        <p:nvSpPr>
          <p:cNvPr id="3" name="Footer Placeholder 2">
            <a:extLst>
              <a:ext uri="{FF2B5EF4-FFF2-40B4-BE49-F238E27FC236}">
                <a16:creationId xmlns:a16="http://schemas.microsoft.com/office/drawing/2014/main" id="{52212192-92EB-B941-FC18-78C05D26169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2810470-C1AC-F134-6909-1960E11E269F}"/>
              </a:ext>
            </a:extLst>
          </p:cNvPr>
          <p:cNvSpPr>
            <a:spLocks noGrp="1"/>
          </p:cNvSpPr>
          <p:nvPr>
            <p:ph type="sldNum" sz="quarter" idx="12"/>
          </p:nvPr>
        </p:nvSpPr>
        <p:spPr/>
        <p:txBody>
          <a:bodyPr/>
          <a:lstStyle/>
          <a:p>
            <a:fld id="{D84C5A93-EA71-4AE7-8B0D-4AA487B7DBCA}" type="slidenum">
              <a:rPr lang="en-IN" smtClean="0"/>
              <a:t>‹#›</a:t>
            </a:fld>
            <a:endParaRPr lang="en-IN"/>
          </a:p>
        </p:txBody>
      </p:sp>
    </p:spTree>
    <p:extLst>
      <p:ext uri="{BB962C8B-B14F-4D97-AF65-F5344CB8AC3E}">
        <p14:creationId xmlns:p14="http://schemas.microsoft.com/office/powerpoint/2010/main" val="1432046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84964-6A36-E23D-BC42-64AEE4E312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B5B78A0-3865-5237-884A-72F7C0AD10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0C3A9CB-629A-EBEE-07A5-AC25C7479B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2AD5A0-D502-A296-47F9-2AE2BC188674}"/>
              </a:ext>
            </a:extLst>
          </p:cNvPr>
          <p:cNvSpPr>
            <a:spLocks noGrp="1"/>
          </p:cNvSpPr>
          <p:nvPr>
            <p:ph type="dt" sz="half" idx="10"/>
          </p:nvPr>
        </p:nvSpPr>
        <p:spPr/>
        <p:txBody>
          <a:bodyPr/>
          <a:lstStyle/>
          <a:p>
            <a:fld id="{915D5C03-EA76-4A5C-9066-05A80BCB542D}" type="datetimeFigureOut">
              <a:rPr lang="en-IN" smtClean="0"/>
              <a:t>08-02-2023</a:t>
            </a:fld>
            <a:endParaRPr lang="en-IN"/>
          </a:p>
        </p:txBody>
      </p:sp>
      <p:sp>
        <p:nvSpPr>
          <p:cNvPr id="6" name="Footer Placeholder 5">
            <a:extLst>
              <a:ext uri="{FF2B5EF4-FFF2-40B4-BE49-F238E27FC236}">
                <a16:creationId xmlns:a16="http://schemas.microsoft.com/office/drawing/2014/main" id="{92822289-364E-89BF-C2DE-FFA62A8F52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5147D3-AC45-CB33-FD0F-D74E5ADB0868}"/>
              </a:ext>
            </a:extLst>
          </p:cNvPr>
          <p:cNvSpPr>
            <a:spLocks noGrp="1"/>
          </p:cNvSpPr>
          <p:nvPr>
            <p:ph type="sldNum" sz="quarter" idx="12"/>
          </p:nvPr>
        </p:nvSpPr>
        <p:spPr/>
        <p:txBody>
          <a:bodyPr/>
          <a:lstStyle/>
          <a:p>
            <a:fld id="{D84C5A93-EA71-4AE7-8B0D-4AA487B7DBCA}" type="slidenum">
              <a:rPr lang="en-IN" smtClean="0"/>
              <a:t>‹#›</a:t>
            </a:fld>
            <a:endParaRPr lang="en-IN"/>
          </a:p>
        </p:txBody>
      </p:sp>
    </p:spTree>
    <p:extLst>
      <p:ext uri="{BB962C8B-B14F-4D97-AF65-F5344CB8AC3E}">
        <p14:creationId xmlns:p14="http://schemas.microsoft.com/office/powerpoint/2010/main" val="2041564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B7388-3484-D144-3CA9-D051FBEE86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3A4A291-60AF-3C94-28AB-6C7ED51510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F9CC47C-F691-4D51-519A-EEB21AAFC0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30ABA2-A87E-DD81-5C9E-49C7526BA492}"/>
              </a:ext>
            </a:extLst>
          </p:cNvPr>
          <p:cNvSpPr>
            <a:spLocks noGrp="1"/>
          </p:cNvSpPr>
          <p:nvPr>
            <p:ph type="dt" sz="half" idx="10"/>
          </p:nvPr>
        </p:nvSpPr>
        <p:spPr/>
        <p:txBody>
          <a:bodyPr/>
          <a:lstStyle/>
          <a:p>
            <a:fld id="{915D5C03-EA76-4A5C-9066-05A80BCB542D}" type="datetimeFigureOut">
              <a:rPr lang="en-IN" smtClean="0"/>
              <a:t>08-02-2023</a:t>
            </a:fld>
            <a:endParaRPr lang="en-IN"/>
          </a:p>
        </p:txBody>
      </p:sp>
      <p:sp>
        <p:nvSpPr>
          <p:cNvPr id="6" name="Footer Placeholder 5">
            <a:extLst>
              <a:ext uri="{FF2B5EF4-FFF2-40B4-BE49-F238E27FC236}">
                <a16:creationId xmlns:a16="http://schemas.microsoft.com/office/drawing/2014/main" id="{C9A51584-2CCF-8F10-5E3D-1A2101AE27E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6666AF-1937-EDE6-E43D-1A68D88454F1}"/>
              </a:ext>
            </a:extLst>
          </p:cNvPr>
          <p:cNvSpPr>
            <a:spLocks noGrp="1"/>
          </p:cNvSpPr>
          <p:nvPr>
            <p:ph type="sldNum" sz="quarter" idx="12"/>
          </p:nvPr>
        </p:nvSpPr>
        <p:spPr/>
        <p:txBody>
          <a:bodyPr/>
          <a:lstStyle/>
          <a:p>
            <a:fld id="{D84C5A93-EA71-4AE7-8B0D-4AA487B7DBCA}" type="slidenum">
              <a:rPr lang="en-IN" smtClean="0"/>
              <a:t>‹#›</a:t>
            </a:fld>
            <a:endParaRPr lang="en-IN"/>
          </a:p>
        </p:txBody>
      </p:sp>
    </p:spTree>
    <p:extLst>
      <p:ext uri="{BB962C8B-B14F-4D97-AF65-F5344CB8AC3E}">
        <p14:creationId xmlns:p14="http://schemas.microsoft.com/office/powerpoint/2010/main" val="40032048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064B6-23AD-8DA9-B40B-A6A44258CDE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D71ECE9-44E9-D400-3217-D47F559A69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184665-545D-1E3E-9FB5-A8410EADD3D8}"/>
              </a:ext>
            </a:extLst>
          </p:cNvPr>
          <p:cNvSpPr>
            <a:spLocks noGrp="1"/>
          </p:cNvSpPr>
          <p:nvPr>
            <p:ph type="dt" sz="half" idx="10"/>
          </p:nvPr>
        </p:nvSpPr>
        <p:spPr/>
        <p:txBody>
          <a:bodyPr/>
          <a:lstStyle/>
          <a:p>
            <a:fld id="{915D5C03-EA76-4A5C-9066-05A80BCB542D}" type="datetimeFigureOut">
              <a:rPr lang="en-IN" smtClean="0"/>
              <a:t>08-02-2023</a:t>
            </a:fld>
            <a:endParaRPr lang="en-IN"/>
          </a:p>
        </p:txBody>
      </p:sp>
      <p:sp>
        <p:nvSpPr>
          <p:cNvPr id="5" name="Footer Placeholder 4">
            <a:extLst>
              <a:ext uri="{FF2B5EF4-FFF2-40B4-BE49-F238E27FC236}">
                <a16:creationId xmlns:a16="http://schemas.microsoft.com/office/drawing/2014/main" id="{C631D3C2-756C-C38C-1F56-8804D5B555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68EDE1-2997-E374-532A-614B3ED4F128}"/>
              </a:ext>
            </a:extLst>
          </p:cNvPr>
          <p:cNvSpPr>
            <a:spLocks noGrp="1"/>
          </p:cNvSpPr>
          <p:nvPr>
            <p:ph type="sldNum" sz="quarter" idx="12"/>
          </p:nvPr>
        </p:nvSpPr>
        <p:spPr/>
        <p:txBody>
          <a:bodyPr/>
          <a:lstStyle/>
          <a:p>
            <a:fld id="{D84C5A93-EA71-4AE7-8B0D-4AA487B7DBCA}" type="slidenum">
              <a:rPr lang="en-IN" smtClean="0"/>
              <a:t>‹#›</a:t>
            </a:fld>
            <a:endParaRPr lang="en-IN"/>
          </a:p>
        </p:txBody>
      </p:sp>
    </p:spTree>
    <p:extLst>
      <p:ext uri="{BB962C8B-B14F-4D97-AF65-F5344CB8AC3E}">
        <p14:creationId xmlns:p14="http://schemas.microsoft.com/office/powerpoint/2010/main" val="1235108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A57ED1-BE2C-99DF-DECC-E3AA4E8B57C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64A4509-A808-DD73-E1BC-1E830B32B5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56FC01-9D45-9CA0-044E-51011DC3AE47}"/>
              </a:ext>
            </a:extLst>
          </p:cNvPr>
          <p:cNvSpPr>
            <a:spLocks noGrp="1"/>
          </p:cNvSpPr>
          <p:nvPr>
            <p:ph type="dt" sz="half" idx="10"/>
          </p:nvPr>
        </p:nvSpPr>
        <p:spPr/>
        <p:txBody>
          <a:bodyPr/>
          <a:lstStyle/>
          <a:p>
            <a:fld id="{915D5C03-EA76-4A5C-9066-05A80BCB542D}" type="datetimeFigureOut">
              <a:rPr lang="en-IN" smtClean="0"/>
              <a:t>08-02-2023</a:t>
            </a:fld>
            <a:endParaRPr lang="en-IN"/>
          </a:p>
        </p:txBody>
      </p:sp>
      <p:sp>
        <p:nvSpPr>
          <p:cNvPr id="5" name="Footer Placeholder 4">
            <a:extLst>
              <a:ext uri="{FF2B5EF4-FFF2-40B4-BE49-F238E27FC236}">
                <a16:creationId xmlns:a16="http://schemas.microsoft.com/office/drawing/2014/main" id="{11904DAD-0908-66F8-285F-4A81A37912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A28389-128F-FC83-8492-A8398F8C5547}"/>
              </a:ext>
            </a:extLst>
          </p:cNvPr>
          <p:cNvSpPr>
            <a:spLocks noGrp="1"/>
          </p:cNvSpPr>
          <p:nvPr>
            <p:ph type="sldNum" sz="quarter" idx="12"/>
          </p:nvPr>
        </p:nvSpPr>
        <p:spPr/>
        <p:txBody>
          <a:bodyPr/>
          <a:lstStyle/>
          <a:p>
            <a:fld id="{D84C5A93-EA71-4AE7-8B0D-4AA487B7DBCA}" type="slidenum">
              <a:rPr lang="en-IN" smtClean="0"/>
              <a:t>‹#›</a:t>
            </a:fld>
            <a:endParaRPr lang="en-IN"/>
          </a:p>
        </p:txBody>
      </p:sp>
    </p:spTree>
    <p:extLst>
      <p:ext uri="{BB962C8B-B14F-4D97-AF65-F5344CB8AC3E}">
        <p14:creationId xmlns:p14="http://schemas.microsoft.com/office/powerpoint/2010/main" val="21843170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4" name="TextBox 3"/>
          <p:cNvSpPr txBox="1"/>
          <p:nvPr userDrawn="1"/>
        </p:nvSpPr>
        <p:spPr>
          <a:xfrm>
            <a:off x="11371554" y="6363129"/>
            <a:ext cx="608274" cy="364439"/>
          </a:xfrm>
          <a:prstGeom prst="rect">
            <a:avLst/>
          </a:prstGeom>
          <a:noFill/>
        </p:spPr>
        <p:txBody>
          <a:bodyPr wrap="square" rtlCol="0">
            <a:spAutoFit/>
          </a:bodyPr>
          <a:lstStyle/>
          <a:p>
            <a:fld id="{65B66DB6-D71E-4B3E-9AE0-4919FDE04E8D}" type="slidenum">
              <a:rPr lang="en-US" sz="1776" smtClean="0">
                <a:solidFill>
                  <a:schemeClr val="tx1"/>
                </a:solidFill>
              </a:rPr>
              <a:t>‹#›</a:t>
            </a:fld>
            <a:endParaRPr lang="en-US" sz="1776" dirty="0">
              <a:solidFill>
                <a:schemeClr val="tx1"/>
              </a:solidFill>
            </a:endParaRP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36297" y="195809"/>
            <a:ext cx="1297157" cy="843001"/>
          </a:xfrm>
          <a:prstGeom prst="rect">
            <a:avLst/>
          </a:prstGeom>
        </p:spPr>
      </p:pic>
    </p:spTree>
    <p:extLst>
      <p:ext uri="{BB962C8B-B14F-4D97-AF65-F5344CB8AC3E}">
        <p14:creationId xmlns:p14="http://schemas.microsoft.com/office/powerpoint/2010/main" val="37950506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28B2B7-E42F-1CFA-9024-EF29B57D5B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6FE321C-8AD2-ABD6-798A-459DF2B869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871945-DF8E-71A5-0F95-E03548F846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5D5C03-EA76-4A5C-9066-05A80BCB542D}" type="datetimeFigureOut">
              <a:rPr lang="en-IN" smtClean="0"/>
              <a:t>08-02-2023</a:t>
            </a:fld>
            <a:endParaRPr lang="en-IN"/>
          </a:p>
        </p:txBody>
      </p:sp>
      <p:sp>
        <p:nvSpPr>
          <p:cNvPr id="5" name="Footer Placeholder 4">
            <a:extLst>
              <a:ext uri="{FF2B5EF4-FFF2-40B4-BE49-F238E27FC236}">
                <a16:creationId xmlns:a16="http://schemas.microsoft.com/office/drawing/2014/main" id="{CA8132D1-17EE-6FA3-73CD-65796C65C1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3C87377-73DA-A510-CE14-1EBF115F87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4C5A93-EA71-4AE7-8B0D-4AA487B7DBCA}" type="slidenum">
              <a:rPr lang="en-IN" smtClean="0"/>
              <a:t>‹#›</a:t>
            </a:fld>
            <a:endParaRPr lang="en-IN"/>
          </a:p>
        </p:txBody>
      </p:sp>
    </p:spTree>
    <p:extLst>
      <p:ext uri="{BB962C8B-B14F-4D97-AF65-F5344CB8AC3E}">
        <p14:creationId xmlns:p14="http://schemas.microsoft.com/office/powerpoint/2010/main" val="1267289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02540-AC3D-050D-4A96-F2D671691715}"/>
              </a:ext>
            </a:extLst>
          </p:cNvPr>
          <p:cNvSpPr>
            <a:spLocks noGrp="1"/>
          </p:cNvSpPr>
          <p:nvPr>
            <p:ph type="ctrTitle"/>
          </p:nvPr>
        </p:nvSpPr>
        <p:spPr/>
        <p:txBody>
          <a:bodyPr/>
          <a:lstStyle/>
          <a:p>
            <a:r>
              <a:rPr lang="en-IN" dirty="0"/>
              <a:t>Cyber insurance Overview</a:t>
            </a:r>
          </a:p>
        </p:txBody>
      </p:sp>
    </p:spTree>
    <p:extLst>
      <p:ext uri="{BB962C8B-B14F-4D97-AF65-F5344CB8AC3E}">
        <p14:creationId xmlns:p14="http://schemas.microsoft.com/office/powerpoint/2010/main" val="2982137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797332"/>
            <a:ext cx="9804188" cy="264653"/>
          </a:xfrm>
          <a:prstGeom prst="rect">
            <a:avLst/>
          </a:prstGeom>
        </p:spPr>
      </p:pic>
      <p:sp>
        <p:nvSpPr>
          <p:cNvPr id="30" name="TextBox 29"/>
          <p:cNvSpPr txBox="1"/>
          <p:nvPr/>
        </p:nvSpPr>
        <p:spPr>
          <a:xfrm>
            <a:off x="5569" y="30697"/>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altLang="en-US" sz="3454" dirty="0">
                <a:solidFill>
                  <a:schemeClr val="tx1"/>
                </a:solidFill>
                <a:latin typeface="Segoe UI Semibold" panose="020B0702040204020203" pitchFamily="34" charset="0"/>
                <a:cs typeface="BrowalliaUPC" panose="020B0604020202020204" pitchFamily="34" charset="-34"/>
              </a:rPr>
              <a:t>Cyber Insurance</a:t>
            </a:r>
          </a:p>
        </p:txBody>
      </p:sp>
      <p:pic>
        <p:nvPicPr>
          <p:cNvPr id="4098" name="Picture 2" descr="http://cdphready.org/wp-content/uploads/2015/02/Discussion-Round-Table_small-1170x78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33373" y="1474047"/>
            <a:ext cx="4238019" cy="483449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0142BAD-CD4C-6E88-5799-DB9274241DD3}"/>
              </a:ext>
            </a:extLst>
          </p:cNvPr>
          <p:cNvSpPr txBox="1"/>
          <p:nvPr/>
        </p:nvSpPr>
        <p:spPr>
          <a:xfrm>
            <a:off x="161925" y="1352136"/>
            <a:ext cx="7562850" cy="5355312"/>
          </a:xfrm>
          <a:prstGeom prst="rect">
            <a:avLst/>
          </a:prstGeom>
          <a:noFill/>
        </p:spPr>
        <p:txBody>
          <a:bodyPr wrap="square">
            <a:spAutoFit/>
          </a:bodyPr>
          <a:lstStyle/>
          <a:p>
            <a:r>
              <a:rPr lang="en-US" dirty="0">
                <a:solidFill>
                  <a:schemeClr val="accent1"/>
                </a:solidFill>
              </a:rPr>
              <a:t>What is cyber insurance?</a:t>
            </a:r>
          </a:p>
          <a:p>
            <a:endParaRPr lang="en-US" dirty="0"/>
          </a:p>
          <a:p>
            <a:r>
              <a:rPr lang="en-US" dirty="0"/>
              <a:t>Cyber insurance is a form of insurance for businesses and individuals against internet-based risks. The most common risk is data breaches. Cyber insurance typically includes indemnification from lawsuits related to data breaches, such as errors and omissions. It also covers losses from network security breaches, theft of intellectual property, and loss of privacy.</a:t>
            </a:r>
          </a:p>
          <a:p>
            <a:endParaRPr lang="en-US" dirty="0"/>
          </a:p>
          <a:p>
            <a:r>
              <a:rPr lang="en-US" dirty="0"/>
              <a:t>Cyber insurance generally covers your business' liability for a data breach involving sensitive customer information, such as Social Security numbers, credit card numbers, account numbers, driver's license numbers and health records.</a:t>
            </a:r>
          </a:p>
          <a:p>
            <a:endParaRPr lang="en-US" dirty="0"/>
          </a:p>
          <a:p>
            <a:endParaRPr lang="en-US" dirty="0"/>
          </a:p>
          <a:p>
            <a:r>
              <a:rPr lang="en-US" dirty="0">
                <a:solidFill>
                  <a:schemeClr val="accent1"/>
                </a:solidFill>
              </a:rPr>
              <a:t>Won’t my general liability policy cover cyber liability?</a:t>
            </a:r>
          </a:p>
          <a:p>
            <a:r>
              <a:rPr lang="en-US" dirty="0"/>
              <a:t>General liability insurance covers bodily injuries and property damage resulting to others  from your products, premises, services or operations. Cyber insurance is often excluded from a general liability policy.</a:t>
            </a:r>
          </a:p>
          <a:p>
            <a:endParaRPr lang="en-US" dirty="0"/>
          </a:p>
        </p:txBody>
      </p:sp>
    </p:spTree>
    <p:extLst>
      <p:ext uri="{BB962C8B-B14F-4D97-AF65-F5344CB8AC3E}">
        <p14:creationId xmlns:p14="http://schemas.microsoft.com/office/powerpoint/2010/main" val="1873981870"/>
      </p:ext>
    </p:extLst>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133065-378C-9AB9-10E9-BE1D2B099699}"/>
              </a:ext>
            </a:extLst>
          </p:cNvPr>
          <p:cNvSpPr txBox="1"/>
          <p:nvPr/>
        </p:nvSpPr>
        <p:spPr>
          <a:xfrm>
            <a:off x="385762" y="1118950"/>
            <a:ext cx="11420475" cy="1477328"/>
          </a:xfrm>
          <a:prstGeom prst="rect">
            <a:avLst/>
          </a:prstGeom>
          <a:noFill/>
          <a:ln>
            <a:solidFill>
              <a:srgbClr val="00B0F0"/>
            </a:solidFill>
          </a:ln>
        </p:spPr>
        <p:txBody>
          <a:bodyPr wrap="square">
            <a:spAutoFit/>
          </a:bodyPr>
          <a:lstStyle/>
          <a:p>
            <a:r>
              <a:rPr lang="en-US" dirty="0"/>
              <a:t>Cyber insurers offer coverage to traditional insurers, cloud providers, and internet service providers. The coverage plan can be customized based on the level of security position. The cyber insurers will normally ask the customers to do a self-assessment form, then arrange an onsite assessment and third party to perform a risk assessment on the customer information technology and cybersecurity level. The higher level of cybersecurity, the lower premium the companies have to pay. </a:t>
            </a:r>
          </a:p>
        </p:txBody>
      </p:sp>
      <p:pic>
        <p:nvPicPr>
          <p:cNvPr id="4" name="Picture 3">
            <a:extLst>
              <a:ext uri="{FF2B5EF4-FFF2-40B4-BE49-F238E27FC236}">
                <a16:creationId xmlns:a16="http://schemas.microsoft.com/office/drawing/2014/main" id="{0E37927F-BED3-01B1-0CA4-870019C53FB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797332"/>
            <a:ext cx="9804188" cy="264653"/>
          </a:xfrm>
          <a:prstGeom prst="rect">
            <a:avLst/>
          </a:prstGeom>
        </p:spPr>
      </p:pic>
      <p:sp>
        <p:nvSpPr>
          <p:cNvPr id="6" name="TextBox 5">
            <a:extLst>
              <a:ext uri="{FF2B5EF4-FFF2-40B4-BE49-F238E27FC236}">
                <a16:creationId xmlns:a16="http://schemas.microsoft.com/office/drawing/2014/main" id="{BA1FEB55-A051-25BB-4ED9-7D4B8DB703AC}"/>
              </a:ext>
            </a:extLst>
          </p:cNvPr>
          <p:cNvSpPr txBox="1"/>
          <p:nvPr/>
        </p:nvSpPr>
        <p:spPr>
          <a:xfrm>
            <a:off x="95250" y="301423"/>
            <a:ext cx="6096000" cy="461665"/>
          </a:xfrm>
          <a:prstGeom prst="rect">
            <a:avLst/>
          </a:prstGeom>
          <a:noFill/>
        </p:spPr>
        <p:txBody>
          <a:bodyPr wrap="square">
            <a:spAutoFit/>
          </a:bodyPr>
          <a:lstStyle/>
          <a:p>
            <a:r>
              <a:rPr lang="en-IN" sz="2400" dirty="0"/>
              <a:t>Coverage of Cyber Insurance</a:t>
            </a:r>
          </a:p>
        </p:txBody>
      </p:sp>
      <p:sp>
        <p:nvSpPr>
          <p:cNvPr id="8" name="TextBox 7">
            <a:extLst>
              <a:ext uri="{FF2B5EF4-FFF2-40B4-BE49-F238E27FC236}">
                <a16:creationId xmlns:a16="http://schemas.microsoft.com/office/drawing/2014/main" id="{BDC1E782-FE4A-11CE-AF04-52431B9A720D}"/>
              </a:ext>
            </a:extLst>
          </p:cNvPr>
          <p:cNvSpPr txBox="1"/>
          <p:nvPr/>
        </p:nvSpPr>
        <p:spPr>
          <a:xfrm>
            <a:off x="457200" y="3642330"/>
            <a:ext cx="4981575" cy="2862322"/>
          </a:xfrm>
          <a:prstGeom prst="rect">
            <a:avLst/>
          </a:prstGeom>
          <a:noFill/>
          <a:ln>
            <a:solidFill>
              <a:srgbClr val="00B0F0"/>
            </a:solidFill>
          </a:ln>
        </p:spPr>
        <p:txBody>
          <a:bodyPr wrap="square">
            <a:spAutoFit/>
          </a:bodyPr>
          <a:lstStyle/>
          <a:p>
            <a:r>
              <a:rPr lang="en-US" b="1" dirty="0"/>
              <a:t>First-party coverage </a:t>
            </a:r>
            <a:r>
              <a:rPr lang="en-US" dirty="0"/>
              <a:t>often provides reimbursement to companies to cover the costs of a cyberattack that negatively impacted their business. The coverage can be very specific or broad, depending on the company’s requirements. For example, it can be as broad to include reimbursement for post-cyber attack costs like hiring crisis management consultants or negotiators to rebuild brand reputation and manage ransom payments, data recovery, and credit monitoring.</a:t>
            </a:r>
          </a:p>
        </p:txBody>
      </p:sp>
      <p:sp>
        <p:nvSpPr>
          <p:cNvPr id="10" name="TextBox 9">
            <a:extLst>
              <a:ext uri="{FF2B5EF4-FFF2-40B4-BE49-F238E27FC236}">
                <a16:creationId xmlns:a16="http://schemas.microsoft.com/office/drawing/2014/main" id="{C9E5B006-3BC7-2056-FC83-B1ADB13FF756}"/>
              </a:ext>
            </a:extLst>
          </p:cNvPr>
          <p:cNvSpPr txBox="1"/>
          <p:nvPr/>
        </p:nvSpPr>
        <p:spPr>
          <a:xfrm>
            <a:off x="6334125" y="3642330"/>
            <a:ext cx="5181600" cy="2862322"/>
          </a:xfrm>
          <a:prstGeom prst="rect">
            <a:avLst/>
          </a:prstGeom>
          <a:noFill/>
          <a:ln>
            <a:solidFill>
              <a:srgbClr val="00B0F0"/>
            </a:solidFill>
          </a:ln>
        </p:spPr>
        <p:txBody>
          <a:bodyPr wrap="square">
            <a:spAutoFit/>
          </a:bodyPr>
          <a:lstStyle/>
          <a:p>
            <a:r>
              <a:rPr lang="en-US" b="1" dirty="0"/>
              <a:t>Third-party coverage covers </a:t>
            </a:r>
            <a:r>
              <a:rPr lang="en-US" dirty="0"/>
              <a:t>the entities’ expenses incurred by their customers because of malware infections, data breaches, or other forms of cyberattacks in which the insured entity was at fault. Furthermore, they also offer benefits such as criminal reward funds, regular security audits, and post-incident public relations. Since the underwriting of cyber insurance is still in its early development, cyber insurers are collaborating with IT security companies to create their products.</a:t>
            </a:r>
          </a:p>
        </p:txBody>
      </p:sp>
      <p:sp>
        <p:nvSpPr>
          <p:cNvPr id="12" name="TextBox 11">
            <a:extLst>
              <a:ext uri="{FF2B5EF4-FFF2-40B4-BE49-F238E27FC236}">
                <a16:creationId xmlns:a16="http://schemas.microsoft.com/office/drawing/2014/main" id="{BCE73C05-D204-8883-DBA0-35AFAB50A406}"/>
              </a:ext>
            </a:extLst>
          </p:cNvPr>
          <p:cNvSpPr txBox="1"/>
          <p:nvPr/>
        </p:nvSpPr>
        <p:spPr>
          <a:xfrm>
            <a:off x="1481137" y="2846338"/>
            <a:ext cx="9705975" cy="369332"/>
          </a:xfrm>
          <a:prstGeom prst="rect">
            <a:avLst/>
          </a:prstGeom>
          <a:noFill/>
        </p:spPr>
        <p:txBody>
          <a:bodyPr wrap="square">
            <a:spAutoFit/>
          </a:bodyPr>
          <a:lstStyle/>
          <a:p>
            <a:r>
              <a:rPr lang="en-US" dirty="0"/>
              <a:t>Basically, there are two types of coverage, first-party, and third-party coverage.</a:t>
            </a:r>
          </a:p>
        </p:txBody>
      </p:sp>
    </p:spTree>
    <p:extLst>
      <p:ext uri="{BB962C8B-B14F-4D97-AF65-F5344CB8AC3E}">
        <p14:creationId xmlns:p14="http://schemas.microsoft.com/office/powerpoint/2010/main" val="2497261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797332"/>
            <a:ext cx="9804188" cy="264653"/>
          </a:xfrm>
          <a:prstGeom prst="rect">
            <a:avLst/>
          </a:prstGeom>
        </p:spPr>
      </p:pic>
      <p:sp>
        <p:nvSpPr>
          <p:cNvPr id="30" name="TextBox 29"/>
          <p:cNvSpPr txBox="1"/>
          <p:nvPr/>
        </p:nvSpPr>
        <p:spPr>
          <a:xfrm>
            <a:off x="39604" y="6540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endParaRPr lang="en-US" altLang="en-US" sz="3454" dirty="0">
              <a:solidFill>
                <a:schemeClr val="tx1"/>
              </a:solidFill>
              <a:latin typeface="Segoe UI Semibold" panose="020B0702040204020203" pitchFamily="34" charset="0"/>
              <a:cs typeface="BrowalliaUPC" panose="020B0604020202020204" pitchFamily="34" charset="-34"/>
            </a:endParaRPr>
          </a:p>
        </p:txBody>
      </p:sp>
      <p:sp>
        <p:nvSpPr>
          <p:cNvPr id="4" name="TextBox 3">
            <a:extLst>
              <a:ext uri="{FF2B5EF4-FFF2-40B4-BE49-F238E27FC236}">
                <a16:creationId xmlns:a16="http://schemas.microsoft.com/office/drawing/2014/main" id="{A8F14F0A-9303-8E65-F021-FD208C45BF26}"/>
              </a:ext>
            </a:extLst>
          </p:cNvPr>
          <p:cNvSpPr txBox="1"/>
          <p:nvPr/>
        </p:nvSpPr>
        <p:spPr>
          <a:xfrm>
            <a:off x="552450" y="1443841"/>
            <a:ext cx="11058525" cy="4247317"/>
          </a:xfrm>
          <a:prstGeom prst="rect">
            <a:avLst/>
          </a:prstGeom>
          <a:noFill/>
        </p:spPr>
        <p:txBody>
          <a:bodyPr wrap="square">
            <a:spAutoFit/>
          </a:bodyPr>
          <a:lstStyle/>
          <a:p>
            <a:r>
              <a:rPr lang="en-US" dirty="0">
                <a:solidFill>
                  <a:schemeClr val="accent1"/>
                </a:solidFill>
              </a:rPr>
              <a:t>Primarily, What does cyber insurance cover?</a:t>
            </a:r>
          </a:p>
          <a:p>
            <a:r>
              <a:rPr lang="en-US" b="1" dirty="0"/>
              <a:t>Data compromise protection</a:t>
            </a:r>
            <a:r>
              <a:rPr lang="en-US" dirty="0"/>
              <a:t>, which includes credit monitoring and services provided by a public-relations firm.</a:t>
            </a:r>
          </a:p>
          <a:p>
            <a:r>
              <a:rPr lang="en-US" b="1" dirty="0"/>
              <a:t>Identity recovery protection</a:t>
            </a:r>
            <a:r>
              <a:rPr lang="en-US" dirty="0"/>
              <a:t>, which helps victims of identity fraud restore their credit history.</a:t>
            </a:r>
          </a:p>
          <a:p>
            <a:r>
              <a:rPr lang="en-US" b="1" dirty="0"/>
              <a:t>Cyber Protection</a:t>
            </a:r>
            <a:r>
              <a:rPr lang="en-US" dirty="0"/>
              <a:t>, which protects your business against damage caused by a virus or computer attack, as well as helping with the cost of restoring and recreating data.</a:t>
            </a:r>
            <a:endParaRPr lang="en-IN" dirty="0"/>
          </a:p>
          <a:p>
            <a:endParaRPr lang="en-US" dirty="0">
              <a:solidFill>
                <a:schemeClr val="accent1"/>
              </a:solidFill>
            </a:endParaRPr>
          </a:p>
          <a:p>
            <a:r>
              <a:rPr lang="en-US" dirty="0"/>
              <a:t>Besides legal fees and expenses, cyber insurance typically helps with:</a:t>
            </a:r>
          </a:p>
          <a:p>
            <a:endParaRPr lang="en-US" dirty="0"/>
          </a:p>
          <a:p>
            <a:pPr marL="742950" lvl="1" indent="-285750">
              <a:buFont typeface="Courier New" panose="02070309020205020404" pitchFamily="49" charset="0"/>
              <a:buChar char="o"/>
            </a:pPr>
            <a:r>
              <a:rPr lang="en-US" dirty="0"/>
              <a:t>Notifying customers about a data breach</a:t>
            </a:r>
          </a:p>
          <a:p>
            <a:pPr marL="742950" lvl="1" indent="-285750">
              <a:buFont typeface="Courier New" panose="02070309020205020404" pitchFamily="49" charset="0"/>
              <a:buChar char="o"/>
            </a:pPr>
            <a:r>
              <a:rPr lang="en-US" dirty="0"/>
              <a:t>Restoring personal identities of affected customers</a:t>
            </a:r>
          </a:p>
          <a:p>
            <a:pPr marL="742950" lvl="1" indent="-285750">
              <a:buFont typeface="Courier New" panose="02070309020205020404" pitchFamily="49" charset="0"/>
              <a:buChar char="o"/>
            </a:pPr>
            <a:r>
              <a:rPr lang="en-US" dirty="0"/>
              <a:t>Recovering compromised data</a:t>
            </a:r>
          </a:p>
          <a:p>
            <a:pPr marL="742950" lvl="1" indent="-285750">
              <a:buFont typeface="Courier New" panose="02070309020205020404" pitchFamily="49" charset="0"/>
              <a:buChar char="o"/>
            </a:pPr>
            <a:r>
              <a:rPr lang="en-US" dirty="0"/>
              <a:t>Repairing damaged computer systems</a:t>
            </a:r>
          </a:p>
          <a:p>
            <a:pPr marL="742950" lvl="1" indent="-285750">
              <a:buFont typeface="Courier New" panose="02070309020205020404" pitchFamily="49" charset="0"/>
              <a:buChar char="o"/>
            </a:pPr>
            <a:r>
              <a:rPr lang="en-US" dirty="0"/>
              <a:t>Most states require companies to notify customers of a data breach involving personally identifiable information– a process that can be very expensive. And even though most states don’t require companies to offer free credit monitoring following a breach, such a gesture goes a long way with public relations.</a:t>
            </a:r>
          </a:p>
        </p:txBody>
      </p:sp>
    </p:spTree>
    <p:extLst>
      <p:ext uri="{BB962C8B-B14F-4D97-AF65-F5344CB8AC3E}">
        <p14:creationId xmlns:p14="http://schemas.microsoft.com/office/powerpoint/2010/main" val="3132990175"/>
      </p:ext>
    </p:extLst>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818AC0-DCF7-A456-E69A-B7325F97F696}"/>
              </a:ext>
            </a:extLst>
          </p:cNvPr>
          <p:cNvSpPr txBox="1"/>
          <p:nvPr/>
        </p:nvSpPr>
        <p:spPr>
          <a:xfrm>
            <a:off x="500062" y="646807"/>
            <a:ext cx="11649075" cy="2400657"/>
          </a:xfrm>
          <a:prstGeom prst="rect">
            <a:avLst/>
          </a:prstGeom>
          <a:noFill/>
        </p:spPr>
        <p:txBody>
          <a:bodyPr wrap="square">
            <a:spAutoFit/>
          </a:bodyPr>
          <a:lstStyle/>
          <a:p>
            <a:r>
              <a:rPr lang="en-US" sz="2400" dirty="0"/>
              <a:t>Types of Cyber Insurance</a:t>
            </a:r>
          </a:p>
          <a:p>
            <a:r>
              <a:rPr lang="en-US" dirty="0">
                <a:solidFill>
                  <a:schemeClr val="accent1"/>
                </a:solidFill>
              </a:rPr>
              <a:t>Stand-Alone</a:t>
            </a:r>
            <a:r>
              <a:rPr lang="en-US" dirty="0"/>
              <a:t> </a:t>
            </a:r>
          </a:p>
          <a:p>
            <a:endParaRPr lang="en-US" dirty="0"/>
          </a:p>
          <a:p>
            <a:r>
              <a:rPr lang="en-US" dirty="0"/>
              <a:t>Stand-alone cyber insurance, bought separately or on the top of the primary cyber policy,  closes the gaps in traditional insurance products of cyber exclusions. It offers more comprehensive cyber coverage than an extension of an existing policy like professional indemnity or management liability insurance. Moreover, it covers mainly a wide range of cyber risks and is developed to reduce company risk exposure by reimbursing recovery expenses involved after a cyber-related attack.</a:t>
            </a:r>
          </a:p>
          <a:p>
            <a:endParaRPr lang="en-US" dirty="0"/>
          </a:p>
        </p:txBody>
      </p:sp>
      <p:sp>
        <p:nvSpPr>
          <p:cNvPr id="5" name="TextBox 4">
            <a:extLst>
              <a:ext uri="{FF2B5EF4-FFF2-40B4-BE49-F238E27FC236}">
                <a16:creationId xmlns:a16="http://schemas.microsoft.com/office/drawing/2014/main" id="{2BA1B4EA-6D08-C4C8-9B34-853BFB2893DE}"/>
              </a:ext>
            </a:extLst>
          </p:cNvPr>
          <p:cNvSpPr txBox="1"/>
          <p:nvPr/>
        </p:nvSpPr>
        <p:spPr>
          <a:xfrm>
            <a:off x="500062" y="2969150"/>
            <a:ext cx="11191875" cy="3693319"/>
          </a:xfrm>
          <a:prstGeom prst="rect">
            <a:avLst/>
          </a:prstGeom>
          <a:noFill/>
        </p:spPr>
        <p:txBody>
          <a:bodyPr wrap="square">
            <a:spAutoFit/>
          </a:bodyPr>
          <a:lstStyle/>
          <a:p>
            <a:r>
              <a:rPr lang="en-US" dirty="0">
                <a:solidFill>
                  <a:schemeClr val="accent1"/>
                </a:solidFill>
              </a:rPr>
              <a:t>Cyber Endorsement</a:t>
            </a:r>
          </a:p>
          <a:p>
            <a:endParaRPr lang="en-US" dirty="0"/>
          </a:p>
          <a:p>
            <a:r>
              <a:rPr lang="en-US" dirty="0"/>
              <a:t>Cyber insurance can be also bought as normal coverage added into a traditional insurance policy which is usually offered in a package with traditional insurance products such as general liability, professional indemnity, property, director and officer, crime, and more.</a:t>
            </a:r>
          </a:p>
          <a:p>
            <a:endParaRPr lang="en-US" dirty="0">
              <a:solidFill>
                <a:schemeClr val="accent1"/>
              </a:solidFill>
            </a:endParaRPr>
          </a:p>
          <a:p>
            <a:r>
              <a:rPr lang="en-US" dirty="0">
                <a:solidFill>
                  <a:schemeClr val="accent1"/>
                </a:solidFill>
              </a:rPr>
              <a:t>Silent Cyber </a:t>
            </a:r>
          </a:p>
          <a:p>
            <a:endParaRPr lang="en-US" dirty="0"/>
          </a:p>
          <a:p>
            <a:r>
              <a:rPr lang="en-US" dirty="0"/>
              <a:t>Silent cyber refers to potential cyber exposures in the grey areas of traditional insurance product coverage which may not implicitly exclude or include cyber risks. The lack of clarity often leads to misunderstanding and confusion about the coverage. As such, it became a key concern for insurers and industry regulators in the US and EU because claims disputes arose over cyber expenses implicitly stated in traditional policies.</a:t>
            </a:r>
          </a:p>
          <a:p>
            <a:endParaRPr lang="en-US" dirty="0"/>
          </a:p>
        </p:txBody>
      </p:sp>
      <p:pic>
        <p:nvPicPr>
          <p:cNvPr id="6" name="Picture 5">
            <a:extLst>
              <a:ext uri="{FF2B5EF4-FFF2-40B4-BE49-F238E27FC236}">
                <a16:creationId xmlns:a16="http://schemas.microsoft.com/office/drawing/2014/main" id="{C5A77142-CB39-C78A-C417-D2A07B84F2D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53220" y="892582"/>
            <a:ext cx="9804188" cy="264653"/>
          </a:xfrm>
          <a:prstGeom prst="rect">
            <a:avLst/>
          </a:prstGeom>
        </p:spPr>
      </p:pic>
    </p:spTree>
    <p:extLst>
      <p:ext uri="{BB962C8B-B14F-4D97-AF65-F5344CB8AC3E}">
        <p14:creationId xmlns:p14="http://schemas.microsoft.com/office/powerpoint/2010/main" val="687778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E6E679-C9AD-199D-AFAA-E8A939ACB914}"/>
              </a:ext>
            </a:extLst>
          </p:cNvPr>
          <p:cNvSpPr txBox="1"/>
          <p:nvPr/>
        </p:nvSpPr>
        <p:spPr>
          <a:xfrm>
            <a:off x="914399" y="1997839"/>
            <a:ext cx="10106025" cy="2031325"/>
          </a:xfrm>
          <a:prstGeom prst="rect">
            <a:avLst/>
          </a:prstGeom>
          <a:noFill/>
        </p:spPr>
        <p:txBody>
          <a:bodyPr wrap="square">
            <a:spAutoFit/>
          </a:bodyPr>
          <a:lstStyle/>
          <a:p>
            <a:r>
              <a:rPr lang="en-US" dirty="0">
                <a:solidFill>
                  <a:schemeClr val="accent1"/>
                </a:solidFill>
              </a:rPr>
              <a:t>Personal Cyber Insurance</a:t>
            </a:r>
          </a:p>
          <a:p>
            <a:endParaRPr lang="en-US" dirty="0"/>
          </a:p>
          <a:p>
            <a:r>
              <a:rPr lang="en-US" dirty="0"/>
              <a:t>Personal cyber insurance provides coverage to cover the costs associated with cyberbullying and identity theft. There is a wide variety of ways that cyberattacks can end up in a financial loss, from the theft of bank account details to payment extortion via anonymous online threats. In general, there are no two same personal insurance policies, and it is mainly categorized into financial loss from fraud, home, and personal protection, and extortion.</a:t>
            </a:r>
          </a:p>
        </p:txBody>
      </p:sp>
      <p:pic>
        <p:nvPicPr>
          <p:cNvPr id="4" name="Picture 3">
            <a:extLst>
              <a:ext uri="{FF2B5EF4-FFF2-40B4-BE49-F238E27FC236}">
                <a16:creationId xmlns:a16="http://schemas.microsoft.com/office/drawing/2014/main" id="{338A81A9-F357-CB0C-DAE7-4B04AABDCCB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53220" y="892582"/>
            <a:ext cx="9804188" cy="264653"/>
          </a:xfrm>
          <a:prstGeom prst="rect">
            <a:avLst/>
          </a:prstGeom>
        </p:spPr>
      </p:pic>
    </p:spTree>
    <p:extLst>
      <p:ext uri="{BB962C8B-B14F-4D97-AF65-F5344CB8AC3E}">
        <p14:creationId xmlns:p14="http://schemas.microsoft.com/office/powerpoint/2010/main" val="2689088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81B883F-8E04-BA4C-796A-2597F7E09A3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93860" y="1136422"/>
            <a:ext cx="9804188" cy="264653"/>
          </a:xfrm>
          <a:prstGeom prst="rect">
            <a:avLst/>
          </a:prstGeom>
        </p:spPr>
      </p:pic>
      <p:sp>
        <p:nvSpPr>
          <p:cNvPr id="4" name="TextBox 3">
            <a:extLst>
              <a:ext uri="{FF2B5EF4-FFF2-40B4-BE49-F238E27FC236}">
                <a16:creationId xmlns:a16="http://schemas.microsoft.com/office/drawing/2014/main" id="{A60F36E6-6B34-CA15-9CE1-E0A0714EBB37}"/>
              </a:ext>
            </a:extLst>
          </p:cNvPr>
          <p:cNvSpPr txBox="1"/>
          <p:nvPr/>
        </p:nvSpPr>
        <p:spPr>
          <a:xfrm>
            <a:off x="200025" y="767090"/>
            <a:ext cx="6096000" cy="461665"/>
          </a:xfrm>
          <a:prstGeom prst="rect">
            <a:avLst/>
          </a:prstGeom>
          <a:noFill/>
        </p:spPr>
        <p:txBody>
          <a:bodyPr wrap="square">
            <a:spAutoFit/>
          </a:bodyPr>
          <a:lstStyle/>
          <a:p>
            <a:r>
              <a:rPr lang="en-US" sz="2400" dirty="0"/>
              <a:t>Emerging technologies to be aware of</a:t>
            </a:r>
            <a:endParaRPr lang="en-IN" sz="2400" dirty="0"/>
          </a:p>
        </p:txBody>
      </p:sp>
      <p:sp>
        <p:nvSpPr>
          <p:cNvPr id="6" name="TextBox 5">
            <a:extLst>
              <a:ext uri="{FF2B5EF4-FFF2-40B4-BE49-F238E27FC236}">
                <a16:creationId xmlns:a16="http://schemas.microsoft.com/office/drawing/2014/main" id="{9AAC3194-8678-05FB-879E-D9E2875DB212}"/>
              </a:ext>
            </a:extLst>
          </p:cNvPr>
          <p:cNvSpPr txBox="1"/>
          <p:nvPr/>
        </p:nvSpPr>
        <p:spPr>
          <a:xfrm>
            <a:off x="409574" y="1401075"/>
            <a:ext cx="11488565" cy="923330"/>
          </a:xfrm>
          <a:prstGeom prst="rect">
            <a:avLst/>
          </a:prstGeom>
          <a:noFill/>
        </p:spPr>
        <p:txBody>
          <a:bodyPr wrap="square">
            <a:spAutoFit/>
          </a:bodyPr>
          <a:lstStyle/>
          <a:p>
            <a:r>
              <a:rPr lang="en-US" dirty="0"/>
              <a:t>The cyber insurance market is growing as fast as technology innovation. Technology can enhance business to be more streamlined and efficient, but sometimes innovation comes at a cost. </a:t>
            </a:r>
            <a:r>
              <a:rPr lang="en-US" dirty="0">
                <a:solidFill>
                  <a:schemeClr val="accent1"/>
                </a:solidFill>
              </a:rPr>
              <a:t>Here are some of the technologies that are used and succumb to cyberattacks:</a:t>
            </a:r>
            <a:endParaRPr lang="en-IN" dirty="0">
              <a:solidFill>
                <a:schemeClr val="accent1"/>
              </a:solidFill>
            </a:endParaRPr>
          </a:p>
        </p:txBody>
      </p:sp>
      <p:sp>
        <p:nvSpPr>
          <p:cNvPr id="8" name="TextBox 7">
            <a:extLst>
              <a:ext uri="{FF2B5EF4-FFF2-40B4-BE49-F238E27FC236}">
                <a16:creationId xmlns:a16="http://schemas.microsoft.com/office/drawing/2014/main" id="{741D10D3-4B38-44CD-268F-97665C1E0852}"/>
              </a:ext>
            </a:extLst>
          </p:cNvPr>
          <p:cNvSpPr txBox="1"/>
          <p:nvPr/>
        </p:nvSpPr>
        <p:spPr>
          <a:xfrm>
            <a:off x="409574" y="2392740"/>
            <a:ext cx="4933951" cy="3693319"/>
          </a:xfrm>
          <a:prstGeom prst="rect">
            <a:avLst/>
          </a:prstGeom>
          <a:noFill/>
          <a:ln>
            <a:solidFill>
              <a:srgbClr val="00B0F0"/>
            </a:solidFill>
          </a:ln>
        </p:spPr>
        <p:txBody>
          <a:bodyPr wrap="square">
            <a:spAutoFit/>
          </a:bodyPr>
          <a:lstStyle/>
          <a:p>
            <a:r>
              <a:rPr lang="en-US" dirty="0">
                <a:solidFill>
                  <a:schemeClr val="accent1"/>
                </a:solidFill>
              </a:rPr>
              <a:t>IoT</a:t>
            </a:r>
          </a:p>
          <a:p>
            <a:endParaRPr lang="en-US" dirty="0"/>
          </a:p>
          <a:p>
            <a:r>
              <a:rPr lang="en-US" dirty="0"/>
              <a:t>The Internet of Things (IoT) means a network of interconnected objects that are embedded with software, sensors, and other technologies for exchanging and connecting data with other devices or systems over the internet. The increased usage of such devices poses greater cybersecurity risks because of the immense amounts of personal and insightful data that are being collected. It can also be misused by hackers to overload networks, damage the equipment, and turn off important equipment for financial gain.</a:t>
            </a:r>
            <a:endParaRPr lang="en-IN" dirty="0"/>
          </a:p>
        </p:txBody>
      </p:sp>
      <p:sp>
        <p:nvSpPr>
          <p:cNvPr id="10" name="TextBox 9">
            <a:extLst>
              <a:ext uri="{FF2B5EF4-FFF2-40B4-BE49-F238E27FC236}">
                <a16:creationId xmlns:a16="http://schemas.microsoft.com/office/drawing/2014/main" id="{E9C2F74B-662F-379C-DE20-478650CCBF9C}"/>
              </a:ext>
            </a:extLst>
          </p:cNvPr>
          <p:cNvSpPr txBox="1"/>
          <p:nvPr/>
        </p:nvSpPr>
        <p:spPr>
          <a:xfrm>
            <a:off x="5802139" y="2392740"/>
            <a:ext cx="6096000" cy="3693319"/>
          </a:xfrm>
          <a:prstGeom prst="rect">
            <a:avLst/>
          </a:prstGeom>
          <a:noFill/>
          <a:ln>
            <a:solidFill>
              <a:srgbClr val="00B0F0"/>
            </a:solidFill>
          </a:ln>
        </p:spPr>
        <p:txBody>
          <a:bodyPr wrap="square">
            <a:spAutoFit/>
          </a:bodyPr>
          <a:lstStyle/>
          <a:p>
            <a:r>
              <a:rPr lang="en-US" dirty="0">
                <a:solidFill>
                  <a:schemeClr val="accent1"/>
                </a:solidFill>
              </a:rPr>
              <a:t>Autonomous vehicles</a:t>
            </a:r>
          </a:p>
          <a:p>
            <a:endParaRPr lang="en-US" dirty="0"/>
          </a:p>
          <a:p>
            <a:r>
              <a:rPr lang="en-US" dirty="0"/>
              <a:t>An autonomous car can sense its surroundings and operate without human intervention. One of the key concerns is the various electrical control units (ECU) in the car that are interconnected. For example, if hackers manage to gain access to vulnerable electronic control units, they can play with the safety of the car by controlling its engine or breaking and causing accidents. Even more worrisome is that automakers source ECUs from many different sources, meaning no single player fully understands the vehicle’s source code.</a:t>
            </a:r>
          </a:p>
          <a:p>
            <a:endParaRPr lang="en-US" dirty="0"/>
          </a:p>
          <a:p>
            <a:endParaRPr lang="en-IN" dirty="0"/>
          </a:p>
        </p:txBody>
      </p:sp>
    </p:spTree>
    <p:extLst>
      <p:ext uri="{BB962C8B-B14F-4D97-AF65-F5344CB8AC3E}">
        <p14:creationId xmlns:p14="http://schemas.microsoft.com/office/powerpoint/2010/main" val="2350727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60B7A44-89A0-D267-CABF-7C393C033E2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93860" y="1136422"/>
            <a:ext cx="9804188" cy="264653"/>
          </a:xfrm>
          <a:prstGeom prst="rect">
            <a:avLst/>
          </a:prstGeom>
        </p:spPr>
      </p:pic>
      <p:sp>
        <p:nvSpPr>
          <p:cNvPr id="4" name="TextBox 3">
            <a:extLst>
              <a:ext uri="{FF2B5EF4-FFF2-40B4-BE49-F238E27FC236}">
                <a16:creationId xmlns:a16="http://schemas.microsoft.com/office/drawing/2014/main" id="{DE12C6C6-8E0D-277D-EE11-05C8D135EC54}"/>
              </a:ext>
            </a:extLst>
          </p:cNvPr>
          <p:cNvSpPr txBox="1"/>
          <p:nvPr/>
        </p:nvSpPr>
        <p:spPr>
          <a:xfrm>
            <a:off x="438150" y="1559689"/>
            <a:ext cx="6096000" cy="2862322"/>
          </a:xfrm>
          <a:prstGeom prst="rect">
            <a:avLst/>
          </a:prstGeom>
          <a:noFill/>
          <a:ln>
            <a:solidFill>
              <a:srgbClr val="00B0F0"/>
            </a:solidFill>
          </a:ln>
        </p:spPr>
        <p:txBody>
          <a:bodyPr wrap="square">
            <a:spAutoFit/>
          </a:bodyPr>
          <a:lstStyle/>
          <a:p>
            <a:r>
              <a:rPr lang="en-US" dirty="0">
                <a:solidFill>
                  <a:schemeClr val="accent1"/>
                </a:solidFill>
              </a:rPr>
              <a:t>Cloud technology</a:t>
            </a:r>
          </a:p>
          <a:p>
            <a:endParaRPr lang="en-US" dirty="0"/>
          </a:p>
          <a:p>
            <a:r>
              <a:rPr lang="en-US" dirty="0"/>
              <a:t>Cloud technology enables people to use online resources to store and share information in the virtual space. Large companies or SMEs are spending significantly on cloud services and it could open up a higher risk of cyberattacks. Hackers will scan the internet for cloud servers that are vulnerable and without a certain amount of security measures, which hackers will use in turn to carry out cyber attacks in the unpatched systems for financial gains.</a:t>
            </a:r>
            <a:endParaRPr lang="en-IN" dirty="0"/>
          </a:p>
        </p:txBody>
      </p:sp>
    </p:spTree>
    <p:extLst>
      <p:ext uri="{BB962C8B-B14F-4D97-AF65-F5344CB8AC3E}">
        <p14:creationId xmlns:p14="http://schemas.microsoft.com/office/powerpoint/2010/main" val="935419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476E49-6428-2D9C-E9D6-14D24D69D2BF}"/>
              </a:ext>
            </a:extLst>
          </p:cNvPr>
          <p:cNvSpPr txBox="1"/>
          <p:nvPr/>
        </p:nvSpPr>
        <p:spPr>
          <a:xfrm>
            <a:off x="293860" y="767090"/>
            <a:ext cx="6096000" cy="523220"/>
          </a:xfrm>
          <a:prstGeom prst="rect">
            <a:avLst/>
          </a:prstGeom>
          <a:noFill/>
        </p:spPr>
        <p:txBody>
          <a:bodyPr wrap="square">
            <a:spAutoFit/>
          </a:bodyPr>
          <a:lstStyle/>
          <a:p>
            <a:r>
              <a:rPr lang="en-US" sz="2800" dirty="0"/>
              <a:t>Ways</a:t>
            </a:r>
            <a:r>
              <a:rPr lang="en-US" sz="2400" dirty="0"/>
              <a:t> to combat cyber attacks</a:t>
            </a:r>
          </a:p>
        </p:txBody>
      </p:sp>
      <p:pic>
        <p:nvPicPr>
          <p:cNvPr id="4" name="Picture 3">
            <a:extLst>
              <a:ext uri="{FF2B5EF4-FFF2-40B4-BE49-F238E27FC236}">
                <a16:creationId xmlns:a16="http://schemas.microsoft.com/office/drawing/2014/main" id="{4DE7E4BE-3FD6-3255-6346-6689B98E000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93860" y="1136422"/>
            <a:ext cx="9804188" cy="264653"/>
          </a:xfrm>
          <a:prstGeom prst="rect">
            <a:avLst/>
          </a:prstGeom>
        </p:spPr>
      </p:pic>
      <p:sp>
        <p:nvSpPr>
          <p:cNvPr id="6" name="TextBox 5">
            <a:extLst>
              <a:ext uri="{FF2B5EF4-FFF2-40B4-BE49-F238E27FC236}">
                <a16:creationId xmlns:a16="http://schemas.microsoft.com/office/drawing/2014/main" id="{80540C7F-3D99-F3B4-30F1-9150C97A213C}"/>
              </a:ext>
            </a:extLst>
          </p:cNvPr>
          <p:cNvSpPr txBox="1"/>
          <p:nvPr/>
        </p:nvSpPr>
        <p:spPr>
          <a:xfrm>
            <a:off x="419100" y="1401075"/>
            <a:ext cx="5000626" cy="4247317"/>
          </a:xfrm>
          <a:prstGeom prst="rect">
            <a:avLst/>
          </a:prstGeom>
          <a:noFill/>
          <a:ln>
            <a:solidFill>
              <a:srgbClr val="00B0F0"/>
            </a:solidFill>
          </a:ln>
        </p:spPr>
        <p:txBody>
          <a:bodyPr wrap="square">
            <a:spAutoFit/>
          </a:bodyPr>
          <a:lstStyle/>
          <a:p>
            <a:r>
              <a:rPr lang="en-US" dirty="0">
                <a:solidFill>
                  <a:schemeClr val="accent1"/>
                </a:solidFill>
              </a:rPr>
              <a:t>Blockchain</a:t>
            </a:r>
          </a:p>
          <a:p>
            <a:endParaRPr lang="en-US" dirty="0"/>
          </a:p>
          <a:p>
            <a:r>
              <a:rPr lang="en-US" dirty="0"/>
              <a:t>Blockchain has been regarded as a way that has the potential to fundamentally change the insurance industry. Its basic feature of access through unique code and unique time stamp on every block/ transaction safes guards against any unwanted tampering. It helps to reduce a company’s cyber risk by offering an unchanging, shared, and decentralized ledger. It reduces the risk of a network that can be compromised from a single source. Insurers also prefer companies that are utilizing blockchain technology by offering lower premiums due to the perceived higher cybersecurity levels.</a:t>
            </a:r>
            <a:endParaRPr lang="en-IN" dirty="0"/>
          </a:p>
        </p:txBody>
      </p:sp>
      <p:sp>
        <p:nvSpPr>
          <p:cNvPr id="8" name="TextBox 7">
            <a:extLst>
              <a:ext uri="{FF2B5EF4-FFF2-40B4-BE49-F238E27FC236}">
                <a16:creationId xmlns:a16="http://schemas.microsoft.com/office/drawing/2014/main" id="{D0392D0D-D486-7C71-D9D4-7770552DBD58}"/>
              </a:ext>
            </a:extLst>
          </p:cNvPr>
          <p:cNvSpPr txBox="1"/>
          <p:nvPr/>
        </p:nvSpPr>
        <p:spPr>
          <a:xfrm>
            <a:off x="6257925" y="1401075"/>
            <a:ext cx="5381625" cy="2862322"/>
          </a:xfrm>
          <a:prstGeom prst="rect">
            <a:avLst/>
          </a:prstGeom>
          <a:noFill/>
          <a:ln>
            <a:solidFill>
              <a:srgbClr val="00B0F0"/>
            </a:solidFill>
          </a:ln>
        </p:spPr>
        <p:txBody>
          <a:bodyPr wrap="square">
            <a:spAutoFit/>
          </a:bodyPr>
          <a:lstStyle/>
          <a:p>
            <a:r>
              <a:rPr lang="en-US" dirty="0">
                <a:solidFill>
                  <a:schemeClr val="accent1"/>
                </a:solidFill>
              </a:rPr>
              <a:t>Data encryption</a:t>
            </a:r>
          </a:p>
          <a:p>
            <a:endParaRPr lang="en-US" dirty="0"/>
          </a:p>
          <a:p>
            <a:r>
              <a:rPr lang="en-US" dirty="0"/>
              <a:t>Data encryption is a secure way to encode information and make it only can be decrypted and accessed by a user with the right encryption key. It allows companies to transmit vast amounts of confidential data from one network to another without being compromised. Helping businesses to maintain high levels of trust in their customers and also reducing penalties businesses need to pay for non-compliance.</a:t>
            </a:r>
            <a:endParaRPr lang="en-IN" dirty="0"/>
          </a:p>
        </p:txBody>
      </p:sp>
    </p:spTree>
    <p:extLst>
      <p:ext uri="{BB962C8B-B14F-4D97-AF65-F5344CB8AC3E}">
        <p14:creationId xmlns:p14="http://schemas.microsoft.com/office/powerpoint/2010/main" val="3292714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2D6598-6E4D-E5AF-113F-2D768E5EBDF0}"/>
              </a:ext>
            </a:extLst>
          </p:cNvPr>
          <p:cNvSpPr txBox="1"/>
          <p:nvPr/>
        </p:nvSpPr>
        <p:spPr>
          <a:xfrm>
            <a:off x="3048000" y="1997839"/>
            <a:ext cx="6096000" cy="2862322"/>
          </a:xfrm>
          <a:prstGeom prst="rect">
            <a:avLst/>
          </a:prstGeom>
          <a:noFill/>
          <a:ln>
            <a:solidFill>
              <a:srgbClr val="00B0F0"/>
            </a:solidFill>
          </a:ln>
        </p:spPr>
        <p:txBody>
          <a:bodyPr wrap="square">
            <a:spAutoFit/>
          </a:bodyPr>
          <a:lstStyle/>
          <a:p>
            <a:r>
              <a:rPr lang="en-US" dirty="0">
                <a:solidFill>
                  <a:schemeClr val="accent1"/>
                </a:solidFill>
              </a:rPr>
              <a:t>Educating employees</a:t>
            </a:r>
          </a:p>
          <a:p>
            <a:endParaRPr lang="en-US" dirty="0"/>
          </a:p>
          <a:p>
            <a:r>
              <a:rPr lang="en-US" dirty="0"/>
              <a:t>While it’s important to set up a system to protect your business with cybersecurity, employees can be even more vulnerable to cyber-attacks. All employees should understand the right way to dispose of sensitive information and have processes in place to change passwords on a regular basis. By investing in employee development and learning in cybersecurity, the chances of suffering from cyber-attacks will decrease substantially.</a:t>
            </a:r>
            <a:endParaRPr lang="en-IN" dirty="0"/>
          </a:p>
        </p:txBody>
      </p:sp>
    </p:spTree>
    <p:extLst>
      <p:ext uri="{BB962C8B-B14F-4D97-AF65-F5344CB8AC3E}">
        <p14:creationId xmlns:p14="http://schemas.microsoft.com/office/powerpoint/2010/main" val="12292863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VIKI New Document" ma:contentTypeID="0x010100F7548365F7A28B41B9A685ED46C1AC26001AB29883D45E2C4E9CA6FE95A9034FC3" ma:contentTypeVersion="5" ma:contentTypeDescription="" ma:contentTypeScope="" ma:versionID="bc1a5864616262670162eb204ab13928">
  <xsd:schema xmlns:xsd="http://www.w3.org/2001/XMLSchema" xmlns:xs="http://www.w3.org/2001/XMLSchema" xmlns:p="http://schemas.microsoft.com/office/2006/metadata/properties" xmlns:ns2="09339d3a-aaa0-497d-ae73-d8a5832d420d" targetNamespace="http://schemas.microsoft.com/office/2006/metadata/properties" ma:root="true" ma:fieldsID="86592b75fc3d2fa65ab3e34efd39cedb" ns2:_="">
    <xsd:import namespace="09339d3a-aaa0-497d-ae73-d8a5832d420d"/>
    <xsd:element name="properties">
      <xsd:complexType>
        <xsd:sequence>
          <xsd:element name="documentManagement">
            <xsd:complexType>
              <xsd:all>
                <xsd:element ref="ns2:Classification"/>
                <xsd:element ref="ns2:Contributors"/>
                <xsd:element ref="ns2:Departments"/>
                <xsd:element ref="ns2:SubCategory"/>
                <xsd:element ref="ns2:Tags"/>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339d3a-aaa0-497d-ae73-d8a5832d420d" elementFormDefault="qualified">
    <xsd:import namespace="http://schemas.microsoft.com/office/2006/documentManagement/types"/>
    <xsd:import namespace="http://schemas.microsoft.com/office/infopath/2007/PartnerControls"/>
    <xsd:element name="Classification" ma:index="8" ma:displayName="Classification" ma:description="Refer Help &gt; Guidelines" ma:format="Dropdown" ma:internalName="Classification">
      <xsd:simpleType>
        <xsd:restriction base="dms:Choice">
          <xsd:enumeration value="Sensitive"/>
          <xsd:enumeration value="Confidential"/>
          <xsd:enumeration value="Internally Restricted"/>
          <xsd:enumeration value="Internal Use"/>
        </xsd:restriction>
      </xsd:simpleType>
    </xsd:element>
    <xsd:element name="Contributors" ma:index="9" ma:displayName="Contributors" ma:list="UserInfo" ma:SharePointGroup="0" ma:internalName="Contributors" ma:showField="Department">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Departments" ma:index="10" ma:displayName="Departments" ma:format="Dropdown" ma:internalName="Departments">
      <xsd:simpleType>
        <xsd:restriction base="dms:Choice">
          <xsd:enumeration value="Accounts"/>
          <xsd:enumeration value="Banking"/>
          <xsd:enumeration value="BizDynamics"/>
          <xsd:enumeration value="CCM"/>
          <xsd:enumeration value="Client Services"/>
          <xsd:enumeration value="Core Leverage"/>
          <xsd:enumeration value="Data Leverage"/>
          <xsd:enumeration value="Digital &amp; Cloud"/>
          <xsd:enumeration value="Facilities"/>
          <xsd:enumeration value="Finance"/>
          <xsd:enumeration value="Financial Services"/>
          <xsd:enumeration value="GRC Operations"/>
          <xsd:enumeration value="HR"/>
          <xsd:enumeration value="Insurance Health Care"/>
          <xsd:enumeration value="Insurance Life"/>
          <xsd:enumeration value="Insurance P&amp;C"/>
          <xsd:enumeration value="IT Operations"/>
          <xsd:enumeration value="Learning &amp; Development"/>
          <xsd:enumeration value="Management System"/>
          <xsd:enumeration value="Marketing"/>
          <xsd:enumeration value="Network Operations"/>
          <xsd:enumeration value="Operations"/>
          <xsd:enumeration value="Organization"/>
          <xsd:enumeration value="PMO"/>
          <xsd:enumeration value="Quality Leap"/>
          <xsd:enumeration value="Sales"/>
          <xsd:enumeration value="Security Operations"/>
          <xsd:enumeration value="WhiteCoats"/>
        </xsd:restriction>
      </xsd:simpleType>
    </xsd:element>
    <xsd:element name="SubCategory" ma:index="11" ma:displayName="SubCategory" ma:format="Dropdown" ma:internalName="SubCategory" ma:readOnly="false">
      <xsd:simpleType>
        <xsd:restriction base="dms:Choice">
          <xsd:enumeration value="Accelerator"/>
          <xsd:enumeration value="Analysis"/>
          <xsd:enumeration value="Architecture"/>
          <xsd:enumeration value="Best Practice"/>
          <xsd:enumeration value="Case Study"/>
          <xsd:enumeration value="Change Management"/>
          <xsd:enumeration value="Checklist"/>
          <xsd:enumeration value="Design Patterns"/>
          <xsd:enumeration value="Form"/>
          <xsd:enumeration value="Guideline"/>
          <xsd:enumeration value="Learning"/>
          <xsd:enumeration value="Market Research"/>
          <xsd:enumeration value="Methodology"/>
          <xsd:enumeration value="Policy"/>
          <xsd:enumeration value="Presales"/>
          <xsd:enumeration value="Presentation"/>
          <xsd:enumeration value="Procedure"/>
          <xsd:enumeration value="Process"/>
          <xsd:enumeration value="Program Management"/>
          <xsd:enumeration value="Project Closure"/>
          <xsd:enumeration value="Project Proposal"/>
          <xsd:enumeration value="Quality Management"/>
          <xsd:enumeration value="Report"/>
          <xsd:enumeration value="Risk Management"/>
          <xsd:enumeration value="SOW"/>
          <xsd:enumeration value="Standards"/>
          <xsd:enumeration value="Training"/>
          <xsd:enumeration value="Value Addition"/>
          <xsd:enumeration value="White Paper"/>
        </xsd:restriction>
      </xsd:simpleType>
    </xsd:element>
    <xsd:element name="Tags" ma:index="12" ma:displayName="Tags" ma:internalName="Tag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haredContentType xmlns="Microsoft.SharePoint.Taxonomy.ContentTypeSync" SourceId="41087d73-5bfe-4c6e-a130-3d602495565a" ContentTypeId="0x010100F7548365F7A28B41B9A685ED46C1AC26" PreviousValue="false"/>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Departments xmlns="09339d3a-aaa0-497d-ae73-d8a5832d420d">Insurance P&amp;C</Departments>
    <Classification xmlns="09339d3a-aaa0-497d-ae73-d8a5832d420d">Internal Use</Classification>
    <Contributors xmlns="09339d3a-aaa0-497d-ae73-d8a5832d420d">
      <UserInfo>
        <DisplayName>Alok Bharati</DisplayName>
        <AccountId>26</AccountId>
        <AccountType/>
      </UserInfo>
    </Contributors>
    <SubCategory xmlns="09339d3a-aaa0-497d-ae73-d8a5832d420d">Best Practice</SubCategory>
    <Tags xmlns="09339d3a-aaa0-497d-ae73-d8a5832d420d">Cyber Insurance PPT</Tags>
  </documentManagement>
</p:properties>
</file>

<file path=customXml/itemProps1.xml><?xml version="1.0" encoding="utf-8"?>
<ds:datastoreItem xmlns:ds="http://schemas.openxmlformats.org/officeDocument/2006/customXml" ds:itemID="{A8A4F300-07DC-446D-A6C2-A75E1CE325BB}"/>
</file>

<file path=customXml/itemProps2.xml><?xml version="1.0" encoding="utf-8"?>
<ds:datastoreItem xmlns:ds="http://schemas.openxmlformats.org/officeDocument/2006/customXml" ds:itemID="{9E661572-2FA6-4EC3-B76F-6843157A52C0}"/>
</file>

<file path=customXml/itemProps3.xml><?xml version="1.0" encoding="utf-8"?>
<ds:datastoreItem xmlns:ds="http://schemas.openxmlformats.org/officeDocument/2006/customXml" ds:itemID="{F8153C47-2EB0-4ABE-8A4D-60F0CC052B83}"/>
</file>

<file path=customXml/itemProps4.xml><?xml version="1.0" encoding="utf-8"?>
<ds:datastoreItem xmlns:ds="http://schemas.openxmlformats.org/officeDocument/2006/customXml" ds:itemID="{E590AF6C-AFB8-4526-B853-415136AC4EA2}"/>
</file>

<file path=docProps/app.xml><?xml version="1.0" encoding="utf-8"?>
<Properties xmlns="http://schemas.openxmlformats.org/officeDocument/2006/extended-properties" xmlns:vt="http://schemas.openxmlformats.org/officeDocument/2006/docPropsVTypes">
  <TotalTime>1441</TotalTime>
  <Words>1397</Words>
  <Application>Microsoft Office PowerPoint</Application>
  <PresentationFormat>Widescreen</PresentationFormat>
  <Paragraphs>63</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Courier New</vt:lpstr>
      <vt:lpstr>Segoe UI Semibold</vt:lpstr>
      <vt:lpstr>Office Theme</vt:lpstr>
      <vt:lpstr>Cyber insurance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insurance</dc:title>
  <dc:creator>Alok Bharati</dc:creator>
  <cp:lastModifiedBy>Alok Bharati</cp:lastModifiedBy>
  <cp:revision>3</cp:revision>
  <dcterms:created xsi:type="dcterms:W3CDTF">2023-02-08T06:54:08Z</dcterms:created>
  <dcterms:modified xsi:type="dcterms:W3CDTF">2023-02-09T06:55:59Z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0x010100F7548365F7A28B41B9A685ED46C1AC26001AB29883D45E2C4E9CA6FE95A9034FC3</vt:lpwstr>
  </property>
</Properties>
</file>
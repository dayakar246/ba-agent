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63" r:id="rId2"/>
    <p:sldId id="265" r:id="rId3"/>
    <p:sldId id="272" r:id="rId4"/>
    <p:sldId id="273" r:id="rId5"/>
    <p:sldId id="274" r:id="rId6"/>
    <p:sldId id="275" r:id="rId7"/>
    <p:sldId id="276" r:id="rId8"/>
    <p:sldId id="277" r:id="rId9"/>
    <p:sldId id="278" r:id="rId10"/>
    <p:sldId id="279" r:id="rId11"/>
    <p:sldId id="280" r:id="rId12"/>
    <p:sldId id="281"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4660"/>
  </p:normalViewPr>
  <p:slideViewPr>
    <p:cSldViewPr snapToGrid="0">
      <p:cViewPr varScale="1">
        <p:scale>
          <a:sx n="70" d="100"/>
          <a:sy n="70" d="100"/>
        </p:scale>
        <p:origin x="69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6F6F8-1AC0-4D01-BEA1-308F81A1BEC2}" type="datetimeFigureOut">
              <a:rPr lang="en-US" smtClean="0"/>
              <a:t>3/28/2019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A57691-B56D-4694-A91B-D15F3ED3C037}" type="slidenum">
              <a:rPr lang="en-US" smtClean="0"/>
              <a:t>‹#›</a:t>
            </a:fld>
            <a:endParaRPr lang="en-US"/>
          </a:p>
        </p:txBody>
      </p:sp>
    </p:spTree>
    <p:extLst>
      <p:ext uri="{BB962C8B-B14F-4D97-AF65-F5344CB8AC3E}">
        <p14:creationId xmlns:p14="http://schemas.microsoft.com/office/powerpoint/2010/main" val="1344751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https://www.youtube.com/watch?v=VTxi4crWVD8&amp;feature=youtu.be</a:t>
            </a:r>
          </a:p>
          <a:p>
            <a:r>
              <a:rPr lang="en-US" dirty="0" smtClean="0"/>
              <a:t>https://howmuch.net/costs/business-owner-policy</a:t>
            </a:r>
          </a:p>
          <a:p>
            <a:r>
              <a:rPr lang="en-US" dirty="0" smtClean="0"/>
              <a:t>https://www.youtube.com/watch?v=tnU48r-y1EE&amp;feature=youtu.be</a:t>
            </a:r>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3</a:t>
            </a:fld>
            <a:endParaRPr lang="en-US"/>
          </a:p>
        </p:txBody>
      </p:sp>
    </p:spTree>
    <p:extLst>
      <p:ext uri="{BB962C8B-B14F-4D97-AF65-F5344CB8AC3E}">
        <p14:creationId xmlns:p14="http://schemas.microsoft.com/office/powerpoint/2010/main" val="350308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Business income coverage - https://www.youtube.com/watch?v=W-eI74tIYd8</a:t>
            </a:r>
          </a:p>
          <a:p>
            <a:r>
              <a:rPr lang="en-US" dirty="0" smtClean="0"/>
              <a:t>Business interruption coverage - https://howmuch.net/costs/business-interruption-insurance</a:t>
            </a:r>
            <a:endParaRPr lang="en-US" dirty="0"/>
          </a:p>
        </p:txBody>
      </p:sp>
      <p:sp>
        <p:nvSpPr>
          <p:cNvPr id="4" name="Slide Number Placeholder 3"/>
          <p:cNvSpPr>
            <a:spLocks noGrp="1"/>
          </p:cNvSpPr>
          <p:nvPr>
            <p:ph type="sldNum" sz="quarter" idx="10"/>
          </p:nvPr>
        </p:nvSpPr>
        <p:spPr/>
        <p:txBody>
          <a:bodyPr/>
          <a:lstStyle/>
          <a:p>
            <a:fld id="{B7A57691-B56D-4694-A91B-D15F3ED3C037}" type="slidenum">
              <a:rPr lang="en-US" smtClean="0"/>
              <a:t>4</a:t>
            </a:fld>
            <a:endParaRPr lang="en-US"/>
          </a:p>
        </p:txBody>
      </p:sp>
    </p:spTree>
    <p:extLst>
      <p:ext uri="{BB962C8B-B14F-4D97-AF65-F5344CB8AC3E}">
        <p14:creationId xmlns:p14="http://schemas.microsoft.com/office/powerpoint/2010/main" val="5102399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529491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712084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1892865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63479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A57FDC6-F59E-4632-8367-1ACF8DB7596C}" type="datetimeFigureOut">
              <a:rPr lang="en-US" smtClean="0"/>
              <a:t>3/28/2019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48703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57FDC6-F59E-4632-8367-1ACF8DB7596C}" type="datetimeFigureOut">
              <a:rPr lang="en-US" smtClean="0"/>
              <a:t>3/28/2019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885282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57FDC6-F59E-4632-8367-1ACF8DB7596C}" type="datetimeFigureOut">
              <a:rPr lang="en-US" smtClean="0"/>
              <a:t>3/28/2019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048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858063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A57FDC6-F59E-4632-8367-1ACF8DB7596C}" type="datetimeFigureOut">
              <a:rPr lang="en-US" smtClean="0"/>
              <a:t>3/28/2019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3578773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2788709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A57FDC6-F59E-4632-8367-1ACF8DB7596C}" type="datetimeFigureOut">
              <a:rPr lang="en-US" smtClean="0"/>
              <a:t>3/28/2019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E6AAB-77F3-4DB9-8673-65DEA91D1CFB}" type="slidenum">
              <a:rPr lang="en-US" smtClean="0"/>
              <a:t>‹#›</a:t>
            </a:fld>
            <a:endParaRPr lang="en-US"/>
          </a:p>
        </p:txBody>
      </p:sp>
    </p:spTree>
    <p:extLst>
      <p:ext uri="{BB962C8B-B14F-4D97-AF65-F5344CB8AC3E}">
        <p14:creationId xmlns:p14="http://schemas.microsoft.com/office/powerpoint/2010/main" val="4165847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305821"/>
      </p:ext>
    </p:extLst>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t>‹#›</a:t>
            </a:fld>
            <a:endParaRPr lang="en-US" sz="1776" dirty="0">
              <a:solidFill>
                <a:schemeClr val="tx1"/>
              </a:solidFill>
            </a:endParaRP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52468" y="195809"/>
            <a:ext cx="1227358" cy="1083176"/>
          </a:xfrm>
          <a:prstGeom prst="rect">
            <a:avLst/>
          </a:prstGeom>
        </p:spPr>
      </p:pic>
    </p:spTree>
    <p:extLst>
      <p:ext uri="{BB962C8B-B14F-4D97-AF65-F5344CB8AC3E}">
        <p14:creationId xmlns:p14="http://schemas.microsoft.com/office/powerpoint/2010/main" val="2625624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57FDC6-F59E-4632-8367-1ACF8DB7596C}" type="datetimeFigureOut">
              <a:rPr lang="en-US" smtClean="0"/>
              <a:t>3/28/2019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CE6AAB-77F3-4DB9-8673-65DEA91D1CFB}" type="slidenum">
              <a:rPr lang="en-US" smtClean="0"/>
              <a:t>‹#›</a:t>
            </a:fld>
            <a:endParaRPr lang="en-US"/>
          </a:p>
        </p:txBody>
      </p:sp>
    </p:spTree>
    <p:extLst>
      <p:ext uri="{BB962C8B-B14F-4D97-AF65-F5344CB8AC3E}">
        <p14:creationId xmlns:p14="http://schemas.microsoft.com/office/powerpoint/2010/main" val="4286025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8016" y="729154"/>
            <a:ext cx="4342251" cy="3835655"/>
          </a:xfrm>
          <a:prstGeom prst="rect">
            <a:avLst/>
          </a:prstGeom>
        </p:spPr>
      </p:pic>
      <p:sp>
        <p:nvSpPr>
          <p:cNvPr id="5" name="TextBox 4"/>
          <p:cNvSpPr txBox="1"/>
          <p:nvPr/>
        </p:nvSpPr>
        <p:spPr>
          <a:xfrm>
            <a:off x="1559868" y="4945488"/>
            <a:ext cx="9298546" cy="630942"/>
          </a:xfrm>
          <a:prstGeom prst="rect">
            <a:avLst/>
          </a:prstGeom>
          <a:noFill/>
        </p:spPr>
        <p:txBody>
          <a:bodyPr wrap="square" rtlCol="0">
            <a:spAutoFit/>
          </a:bodyPr>
          <a:lstStyle/>
          <a:p>
            <a:pPr algn="ctr"/>
            <a:r>
              <a:rPr lang="en-US" sz="3500" dirty="0" smtClean="0">
                <a:latin typeface="Segoe UI Semibold" panose="020B0702040204020203" pitchFamily="34" charset="0"/>
                <a:cs typeface="Segoe UI Semibold" panose="020B0702040204020203" pitchFamily="34" charset="0"/>
              </a:rPr>
              <a:t>Businessowners Policy</a:t>
            </a:r>
            <a:endParaRPr lang="en-US" sz="3500"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48196187"/>
      </p:ext>
    </p:extLst>
  </p:cSld>
  <p:clrMapOvr>
    <a:masterClrMapping/>
  </p:clrMapOvr>
  <p:transition>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797332"/>
            <a:ext cx="9804188" cy="264653"/>
          </a:xfrm>
          <a:prstGeom prst="rect">
            <a:avLst/>
          </a:prstGeom>
        </p:spPr>
      </p:pic>
      <p:sp>
        <p:nvSpPr>
          <p:cNvPr id="8" name="TextBox 7"/>
          <p:cNvSpPr txBox="1"/>
          <p:nvPr/>
        </p:nvSpPr>
        <p:spPr>
          <a:xfrm>
            <a:off x="5569" y="-794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endParaRPr lang="en-US" altLang="en-US" sz="3454" dirty="0">
              <a:solidFill>
                <a:schemeClr val="tx1"/>
              </a:solidFill>
              <a:latin typeface="Segoe UI Semibold" panose="020B0702040204020203" pitchFamily="34" charset="0"/>
              <a:cs typeface="Segoe UI Semibold" panose="020B0702040204020203" pitchFamily="34" charset="0"/>
            </a:endParaRPr>
          </a:p>
        </p:txBody>
      </p:sp>
      <p:sp>
        <p:nvSpPr>
          <p:cNvPr id="2" name="TextBox 1"/>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13" name="TextBox 12"/>
          <p:cNvSpPr txBox="1"/>
          <p:nvPr/>
        </p:nvSpPr>
        <p:spPr>
          <a:xfrm>
            <a:off x="391059" y="2488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454" dirty="0" smtClean="0">
                <a:solidFill>
                  <a:schemeClr val="tx1"/>
                </a:solidFill>
                <a:latin typeface="Segoe UI Semibold" panose="020B0702040204020203" pitchFamily="34" charset="0"/>
                <a:cs typeface="Segoe UI Semibold" panose="020B0702040204020203" pitchFamily="34" charset="0"/>
              </a:rPr>
              <a:t>Objectives	</a:t>
            </a:r>
            <a:endParaRPr lang="en-US" altLang="en-US" sz="3454" dirty="0">
              <a:solidFill>
                <a:schemeClr val="tx1"/>
              </a:solidFill>
              <a:latin typeface="Segoe UI Semibold" panose="020B0702040204020203" pitchFamily="34" charset="0"/>
              <a:cs typeface="Segoe UI Semibold" panose="020B0702040204020203" pitchFamily="34" charset="0"/>
            </a:endParaRPr>
          </a:p>
        </p:txBody>
      </p:sp>
      <p:sp>
        <p:nvSpPr>
          <p:cNvPr id="14" name="TextBox 13"/>
          <p:cNvSpPr txBox="1"/>
          <p:nvPr/>
        </p:nvSpPr>
        <p:spPr>
          <a:xfrm>
            <a:off x="1222690" y="1061985"/>
            <a:ext cx="9474003" cy="3477875"/>
          </a:xfrm>
          <a:prstGeom prst="rect">
            <a:avLst/>
          </a:prstGeom>
          <a:noFill/>
        </p:spPr>
        <p:txBody>
          <a:bodyPr wrap="square" rtlCol="0">
            <a:spAutoFit/>
          </a:bodyPr>
          <a:lstStyle/>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provides an overview on what is </a:t>
            </a:r>
            <a:r>
              <a:rPr lang="en-US" sz="2200" dirty="0" smtClean="0">
                <a:latin typeface="Segoe UI Light" panose="020B0502040204020203" pitchFamily="34" charset="0"/>
                <a:cs typeface="Arial" pitchFamily="34" charset="0"/>
              </a:rPr>
              <a:t>Businessowners </a:t>
            </a:r>
            <a:r>
              <a:rPr lang="en-US" sz="2200" dirty="0">
                <a:latin typeface="Segoe UI Light" panose="020B0502040204020203" pitchFamily="34" charset="0"/>
                <a:cs typeface="Arial" pitchFamily="34" charset="0"/>
              </a:rPr>
              <a:t>Insurance and why it is required</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loss exposures covered under Business owners policy and their corresponding Financial consequences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the BOP eligibility rules and their necessity</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coverages in BOP and comparing it with CPP</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limits and rating factors applicable for the coverages</a:t>
            </a:r>
          </a:p>
          <a:p>
            <a:pPr marL="285750" indent="-285750" algn="just">
              <a:buFont typeface="Arial" panose="020B0604020202020204" pitchFamily="34" charset="0"/>
              <a:buChar char="•"/>
            </a:pPr>
            <a:r>
              <a:rPr lang="en-US" sz="2200" dirty="0">
                <a:latin typeface="Segoe UI Light" panose="020B0502040204020203" pitchFamily="34" charset="0"/>
                <a:cs typeface="Arial" pitchFamily="34" charset="0"/>
              </a:rPr>
              <a:t>To provide an understanding on ISO Forms by showing sample </a:t>
            </a:r>
            <a:r>
              <a:rPr lang="en-US" sz="2200" dirty="0" smtClean="0">
                <a:latin typeface="Segoe UI Light" panose="020B0502040204020203" pitchFamily="34" charset="0"/>
                <a:cs typeface="Arial" pitchFamily="34" charset="0"/>
              </a:rPr>
              <a:t>forms</a:t>
            </a:r>
            <a:endParaRPr lang="en-US" sz="2200" dirty="0">
              <a:latin typeface="Segoe UI Light" panose="020B0502040204020203" pitchFamily="34" charset="0"/>
              <a:cs typeface="Arial" pitchFamily="34" charset="0"/>
            </a:endParaRPr>
          </a:p>
        </p:txBody>
      </p:sp>
    </p:spTree>
    <p:extLst>
      <p:ext uri="{BB962C8B-B14F-4D97-AF65-F5344CB8AC3E}">
        <p14:creationId xmlns:p14="http://schemas.microsoft.com/office/powerpoint/2010/main" val="4145113748"/>
      </p:ext>
    </p:extLst>
  </p:cSld>
  <p:clrMapOvr>
    <a:masterClrMapping/>
  </p:clrMapOvr>
  <p:transition>
    <p:fade thruBlk="1"/>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4" name="TextBox 3"/>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Businessowners Policy</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5" name="TextBox 4"/>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6" name="Rectangle 5"/>
          <p:cNvSpPr/>
          <p:nvPr/>
        </p:nvSpPr>
        <p:spPr>
          <a:xfrm>
            <a:off x="865123" y="1568454"/>
            <a:ext cx="7803854" cy="2133982"/>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What is Businessowners Insurance Policy?</a:t>
            </a:r>
          </a:p>
          <a:p>
            <a:endParaRPr lang="en-US" dirty="0" smtClean="0">
              <a:latin typeface="Segoe UI Light" panose="020B0502040204020203" pitchFamily="34" charset="0"/>
              <a:cs typeface="Arial" pitchFamily="34" charset="0"/>
            </a:endParaRPr>
          </a:p>
          <a:p>
            <a:r>
              <a:rPr lang="en-US" dirty="0" smtClean="0">
                <a:latin typeface="Segoe UI Light" panose="020B0502040204020203" pitchFamily="34" charset="0"/>
                <a:cs typeface="Arial" pitchFamily="34" charset="0"/>
              </a:rPr>
              <a:t>	BOP widely insures eligible small to mid-size businesses against most of the property and liability loss exposures. It is </a:t>
            </a:r>
            <a:r>
              <a:rPr lang="en-US" dirty="0">
                <a:latin typeface="Segoe UI Light" panose="020B0502040204020203" pitchFamily="34" charset="0"/>
                <a:cs typeface="Arial" pitchFamily="34" charset="0"/>
              </a:rPr>
              <a:t>issued as a stand-alone policy.</a:t>
            </a:r>
          </a:p>
          <a:p>
            <a:endParaRPr lang="en-US" dirty="0" smtClean="0">
              <a:latin typeface="Segoe UI Light" panose="020B0502040204020203" pitchFamily="34" charset="0"/>
              <a:cs typeface="Arial" pitchFamily="34" charset="0"/>
            </a:endParaRPr>
          </a:p>
          <a:p>
            <a:endParaRPr lang="en-US" dirty="0">
              <a:latin typeface="Segoe UI Light" panose="020B0502040204020203" pitchFamily="34" charset="0"/>
              <a:cs typeface="Arial" pitchFamily="34" charset="0"/>
            </a:endParaRPr>
          </a:p>
          <a:p>
            <a:r>
              <a:rPr lang="en-US" dirty="0" smtClean="0">
                <a:latin typeface="Segoe UI Light" panose="020B0502040204020203" pitchFamily="34" charset="0"/>
              </a:rPr>
              <a:t>	</a:t>
            </a:r>
            <a:endParaRPr lang="en-US" dirty="0"/>
          </a:p>
        </p:txBody>
      </p:sp>
    </p:spTree>
    <p:extLst>
      <p:ext uri="{BB962C8B-B14F-4D97-AF65-F5344CB8AC3E}">
        <p14:creationId xmlns:p14="http://schemas.microsoft.com/office/powerpoint/2010/main" val="32624467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73301"/>
            <a:ext cx="9804188" cy="264653"/>
          </a:xfrm>
          <a:prstGeom prst="rect">
            <a:avLst/>
          </a:prstGeom>
        </p:spPr>
      </p:pic>
      <p:sp>
        <p:nvSpPr>
          <p:cNvPr id="3" name="TextBox 2"/>
          <p:cNvSpPr txBox="1"/>
          <p:nvPr/>
        </p:nvSpPr>
        <p:spPr>
          <a:xfrm>
            <a:off x="407472" y="83541"/>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Businessowners Policy</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83511"/>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TextBox 4"/>
          <p:cNvSpPr txBox="1"/>
          <p:nvPr/>
        </p:nvSpPr>
        <p:spPr>
          <a:xfrm>
            <a:off x="1094704" y="1545465"/>
            <a:ext cx="7018986" cy="2665927"/>
          </a:xfrm>
          <a:prstGeom prst="rect">
            <a:avLst/>
          </a:prstGeom>
          <a:noFill/>
        </p:spPr>
        <p:txBody>
          <a:bodyPr wrap="square" rtlCol="0">
            <a:spAutoFit/>
          </a:bodyPr>
          <a:lstStyle/>
          <a:p>
            <a:endParaRPr lang="en-US" dirty="0"/>
          </a:p>
        </p:txBody>
      </p:sp>
      <p:sp>
        <p:nvSpPr>
          <p:cNvPr id="6" name="TextBox 5"/>
          <p:cNvSpPr txBox="1"/>
          <p:nvPr/>
        </p:nvSpPr>
        <p:spPr>
          <a:xfrm>
            <a:off x="643944" y="1378039"/>
            <a:ext cx="9347172" cy="4411529"/>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Loss Exposures Covered by BOP</a:t>
            </a:r>
          </a:p>
          <a:p>
            <a:endParaRPr lang="en-US" sz="1600" dirty="0" smtClean="0">
              <a:latin typeface="Segoe UI" panose="020B0502040204020203" pitchFamily="34" charset="0"/>
              <a:cs typeface="Segoe UI" panose="020B0502040204020203" pitchFamily="34" charset="0"/>
            </a:endParaRP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Buildings</a:t>
            </a: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Business Personal Property</a:t>
            </a: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Business income and  extra expense</a:t>
            </a: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Premises and operations liability</a:t>
            </a: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Products and completed operations liability</a:t>
            </a: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Contractual liability</a:t>
            </a: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Personal and advertising injury liability</a:t>
            </a: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Employee dishonesty</a:t>
            </a: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Theft of money and securities</a:t>
            </a: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Forgery and alteration</a:t>
            </a:r>
          </a:p>
          <a:p>
            <a:pPr marL="285750" indent="-285750">
              <a:buFont typeface="Wingdings" panose="05000000000000000000" pitchFamily="2" charset="2"/>
              <a:buChar char="v"/>
            </a:pPr>
            <a:r>
              <a:rPr lang="en-US" sz="1600" dirty="0" smtClean="0">
                <a:latin typeface="Segoe UI" panose="020B0502040204020203" pitchFamily="34" charset="0"/>
                <a:cs typeface="Segoe UI" panose="020B0502040204020203" pitchFamily="34" charset="0"/>
              </a:rPr>
              <a:t>Equipment breakdown</a:t>
            </a:r>
          </a:p>
          <a:p>
            <a:r>
              <a:rPr lang="en-US" sz="1600" b="1" i="1" dirty="0" smtClean="0">
                <a:latin typeface="Segoe UI" panose="020B0502040204020203" pitchFamily="34" charset="0"/>
                <a:cs typeface="Segoe UI" panose="020B0502040204020203" pitchFamily="34" charset="0"/>
              </a:rPr>
              <a:t> </a:t>
            </a:r>
          </a:p>
          <a:p>
            <a:r>
              <a:rPr lang="en-US" sz="1600" b="1" i="1" dirty="0" smtClean="0">
                <a:latin typeface="Segoe UI" panose="020B0502040204020203" pitchFamily="34" charset="0"/>
                <a:cs typeface="Segoe UI" panose="020B0502040204020203" pitchFamily="34" charset="0"/>
              </a:rPr>
              <a:t>	Provides </a:t>
            </a:r>
            <a:r>
              <a:rPr lang="en-US" sz="1600" b="1" i="1" dirty="0">
                <a:latin typeface="Segoe UI" panose="020B0502040204020203" pitchFamily="34" charset="0"/>
                <a:cs typeface="Segoe UI" panose="020B0502040204020203" pitchFamily="34" charset="0"/>
              </a:rPr>
              <a:t>packaged property and liability coverages ( except workers compensation, auto (other than hired and non-owned auto liability), inland marine </a:t>
            </a:r>
            <a:r>
              <a:rPr lang="en-US" sz="1600" b="1" i="1" dirty="0" smtClean="0">
                <a:latin typeface="Segoe UI" panose="020B0502040204020203" pitchFamily="34" charset="0"/>
                <a:cs typeface="Segoe UI" panose="020B0502040204020203" pitchFamily="34" charset="0"/>
              </a:rPr>
              <a:t>)</a:t>
            </a:r>
            <a:endParaRPr lang="en-US" sz="1600" b="1" i="1" dirty="0">
              <a:latin typeface="Segoe UI" panose="020B0502040204020203" pitchFamily="34" charset="0"/>
              <a:cs typeface="Segoe UI" panose="020B0502040204020203" pitchFamily="34" charset="0"/>
            </a:endParaRPr>
          </a:p>
          <a:p>
            <a:endParaRPr lang="en-US" sz="1600" dirty="0" smtClean="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736417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Businessowners Policy</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TextBox 4"/>
          <p:cNvSpPr txBox="1"/>
          <p:nvPr/>
        </p:nvSpPr>
        <p:spPr>
          <a:xfrm>
            <a:off x="541656" y="1311038"/>
            <a:ext cx="8164462" cy="4903971"/>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BOP eligibility </a:t>
            </a:r>
            <a:r>
              <a:rPr lang="en-US" sz="2467" b="1" dirty="0" smtClean="0">
                <a:solidFill>
                  <a:srgbClr val="00B0F0"/>
                </a:solidFill>
                <a:latin typeface="Segoe UI Light" panose="020B0502040204020203" pitchFamily="34" charset="0"/>
                <a:cs typeface="Arial" pitchFamily="34" charset="0"/>
              </a:rPr>
              <a:t>rules </a:t>
            </a:r>
          </a:p>
          <a:p>
            <a:r>
              <a:rPr lang="en-US" dirty="0">
                <a:latin typeface="Segoe UI Light" panose="020B0502040204020203" pitchFamily="34" charset="0"/>
                <a:cs typeface="Arial" pitchFamily="34" charset="0"/>
              </a:rPr>
              <a:t>Eligibility </a:t>
            </a:r>
            <a:r>
              <a:rPr lang="en-US" dirty="0" smtClean="0">
                <a:latin typeface="Segoe UI Light" panose="020B0502040204020203" pitchFamily="34" charset="0"/>
                <a:cs typeface="Arial" pitchFamily="34" charset="0"/>
              </a:rPr>
              <a:t>rules are based on criteria related to</a:t>
            </a:r>
          </a:p>
          <a:p>
            <a:pPr marL="285750" indent="-285750">
              <a:buFont typeface="Arial" panose="020B0604020202020204" pitchFamily="34" charset="0"/>
              <a:buChar char="•"/>
            </a:pPr>
            <a:r>
              <a:rPr lang="en-US" dirty="0" smtClean="0">
                <a:latin typeface="Segoe UI Light" panose="020B0502040204020203" pitchFamily="34" charset="0"/>
                <a:cs typeface="Arial" pitchFamily="34" charset="0"/>
              </a:rPr>
              <a:t>Business Size, and</a:t>
            </a:r>
          </a:p>
          <a:p>
            <a:pPr marL="285750" indent="-285750">
              <a:buFont typeface="Arial" panose="020B0604020202020204" pitchFamily="34" charset="0"/>
              <a:buChar char="•"/>
            </a:pPr>
            <a:r>
              <a:rPr lang="en-US" dirty="0" smtClean="0">
                <a:latin typeface="Segoe UI Light" panose="020B0502040204020203" pitchFamily="34" charset="0"/>
                <a:cs typeface="Arial" pitchFamily="34" charset="0"/>
              </a:rPr>
              <a:t>Complexity of the loss exposures</a:t>
            </a:r>
          </a:p>
          <a:p>
            <a:pPr marL="285750" indent="-285750">
              <a:buFont typeface="Arial" panose="020B0604020202020204" pitchFamily="34" charset="0"/>
              <a:buChar char="•"/>
            </a:pPr>
            <a:endParaRPr lang="en-US" dirty="0" smtClean="0">
              <a:latin typeface="Segoe UI Light" panose="020B0502040204020203" pitchFamily="34" charset="0"/>
              <a:cs typeface="Arial" pitchFamily="34" charset="0"/>
            </a:endParaRPr>
          </a:p>
          <a:p>
            <a:r>
              <a:rPr lang="en-US" b="1" dirty="0">
                <a:latin typeface="Segoe UI Light" panose="020B0502040204020203" pitchFamily="34" charset="0"/>
                <a:cs typeface="Arial" pitchFamily="34" charset="0"/>
              </a:rPr>
              <a:t> </a:t>
            </a:r>
            <a:r>
              <a:rPr lang="en-US" b="1" dirty="0" smtClean="0">
                <a:latin typeface="Segoe UI Light" panose="020B0502040204020203" pitchFamily="34" charset="0"/>
                <a:cs typeface="Arial" pitchFamily="34" charset="0"/>
              </a:rPr>
              <a:t>   Example</a:t>
            </a:r>
            <a:r>
              <a:rPr lang="en-US" dirty="0" smtClean="0">
                <a:latin typeface="Segoe UI Light" panose="020B0502040204020203" pitchFamily="34" charset="0"/>
                <a:cs typeface="Arial" pitchFamily="34" charset="0"/>
              </a:rPr>
              <a:t>: Total floor area, building height in stories, annual gross sales, occupancy or business type and characteristics of the applicants operations</a:t>
            </a:r>
          </a:p>
          <a:p>
            <a:endParaRPr lang="en-US" dirty="0">
              <a:latin typeface="Segoe UI Light" panose="020B0502040204020203" pitchFamily="34" charset="0"/>
              <a:cs typeface="Arial" pitchFamily="34" charset="0"/>
            </a:endParaRPr>
          </a:p>
          <a:p>
            <a:r>
              <a:rPr lang="en-US" dirty="0" smtClean="0">
                <a:latin typeface="Segoe UI Light" panose="020B0502040204020203" pitchFamily="34" charset="0"/>
                <a:cs typeface="Arial" pitchFamily="34" charset="0"/>
              </a:rPr>
              <a:t>ISO Commercial lines manual rules for BOP</a:t>
            </a:r>
          </a:p>
          <a:p>
            <a:pPr marL="285750" indent="-285750">
              <a:buFont typeface="Arial" panose="020B0604020202020204" pitchFamily="34" charset="0"/>
              <a:buChar char="•"/>
            </a:pPr>
            <a:r>
              <a:rPr lang="en-US" dirty="0" smtClean="0">
                <a:latin typeface="Segoe UI Light" panose="020B0502040204020203" pitchFamily="34" charset="0"/>
                <a:cs typeface="Arial" pitchFamily="34" charset="0"/>
              </a:rPr>
              <a:t>Eligible risk </a:t>
            </a:r>
            <a:r>
              <a:rPr lang="en-US" dirty="0">
                <a:latin typeface="Segoe UI Light" panose="020B0502040204020203" pitchFamily="34" charset="0"/>
                <a:cs typeface="Arial" pitchFamily="34" charset="0"/>
              </a:rPr>
              <a:t>m</a:t>
            </a:r>
            <a:r>
              <a:rPr lang="en-US" dirty="0" smtClean="0">
                <a:latin typeface="Segoe UI Light" panose="020B0502040204020203" pitchFamily="34" charset="0"/>
                <a:cs typeface="Arial" pitchFamily="34" charset="0"/>
              </a:rPr>
              <a:t>ay not exceed 35,000 square feet in total floor area</a:t>
            </a:r>
          </a:p>
          <a:p>
            <a:pPr marL="285750" indent="-285750">
              <a:buFont typeface="Arial" panose="020B0604020202020204" pitchFamily="34" charset="0"/>
              <a:buChar char="•"/>
            </a:pPr>
            <a:r>
              <a:rPr lang="en-US" dirty="0" smtClean="0">
                <a:latin typeface="Segoe UI Light" panose="020B0502040204020203" pitchFamily="34" charset="0"/>
                <a:cs typeface="Arial" pitchFamily="34" charset="0"/>
              </a:rPr>
              <a:t>Not more than $6 million in annual gross sales per location</a:t>
            </a:r>
          </a:p>
          <a:p>
            <a:r>
              <a:rPr lang="en-US" dirty="0" smtClean="0">
                <a:latin typeface="Segoe UI Light" panose="020B0502040204020203" pitchFamily="34" charset="0"/>
                <a:cs typeface="Arial" pitchFamily="34" charset="0"/>
              </a:rPr>
              <a:t> </a:t>
            </a:r>
          </a:p>
          <a:p>
            <a:pPr marL="285750" indent="-285750">
              <a:buFont typeface="Arial" panose="020B0604020202020204" pitchFamily="34" charset="0"/>
              <a:buChar char="•"/>
            </a:pPr>
            <a:endParaRPr lang="en-US" dirty="0" smtClean="0">
              <a:latin typeface="Segoe UI Light" panose="020B0502040204020203" pitchFamily="34" charset="0"/>
              <a:cs typeface="Arial" pitchFamily="34" charset="0"/>
            </a:endParaRPr>
          </a:p>
          <a:p>
            <a:pPr marL="285750" indent="-285750">
              <a:buFont typeface="Arial" panose="020B0604020202020204" pitchFamily="34" charset="0"/>
              <a:buChar char="•"/>
            </a:pPr>
            <a:endParaRPr lang="en-US" dirty="0">
              <a:latin typeface="Segoe UI Light" panose="020B0502040204020203" pitchFamily="34" charset="0"/>
              <a:cs typeface="Arial" pitchFamily="34" charset="0"/>
            </a:endParaRPr>
          </a:p>
          <a:p>
            <a:r>
              <a:rPr lang="en-US" i="1" dirty="0" smtClean="0">
                <a:latin typeface="Segoe UI Light" panose="020B0502040204020203" pitchFamily="34" charset="0"/>
              </a:rPr>
              <a:t>	BOP </a:t>
            </a:r>
            <a:r>
              <a:rPr lang="en-US" i="1" dirty="0">
                <a:latin typeface="Segoe UI Light" panose="020B0502040204020203" pitchFamily="34" charset="0"/>
              </a:rPr>
              <a:t>is not intended for auto business, bars, grills, big manufacturers, places of amusement and financial </a:t>
            </a:r>
            <a:r>
              <a:rPr lang="en-US" i="1" dirty="0" smtClean="0">
                <a:latin typeface="Segoe UI Light" panose="020B0502040204020203" pitchFamily="34" charset="0"/>
              </a:rPr>
              <a:t>institutions</a:t>
            </a:r>
            <a:endParaRPr lang="en-US" dirty="0" smtClean="0">
              <a:latin typeface="Segoe UI Light" panose="020B0502040204020203" pitchFamily="34" charset="0"/>
              <a:cs typeface="Arial" pitchFamily="34" charset="0"/>
            </a:endParaRPr>
          </a:p>
          <a:p>
            <a:endParaRPr lang="en-US" dirty="0"/>
          </a:p>
        </p:txBody>
      </p:sp>
    </p:spTree>
    <p:extLst>
      <p:ext uri="{BB962C8B-B14F-4D97-AF65-F5344CB8AC3E}">
        <p14:creationId xmlns:p14="http://schemas.microsoft.com/office/powerpoint/2010/main" val="12676441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Businessowners Policy</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TextBox 4"/>
          <p:cNvSpPr txBox="1"/>
          <p:nvPr/>
        </p:nvSpPr>
        <p:spPr>
          <a:xfrm>
            <a:off x="656822" y="1236372"/>
            <a:ext cx="9427335" cy="3272755"/>
          </a:xfrm>
          <a:prstGeom prst="rect">
            <a:avLst/>
          </a:prstGeom>
          <a:noFill/>
        </p:spPr>
        <p:txBody>
          <a:bodyPr wrap="square" rtlCol="0">
            <a:spAutoFit/>
          </a:bodyPr>
          <a:lstStyle/>
          <a:p>
            <a:r>
              <a:rPr lang="en-US" sz="2467" b="1" dirty="0">
                <a:solidFill>
                  <a:srgbClr val="00B0F0"/>
                </a:solidFill>
                <a:latin typeface="Segoe UI" panose="020B0502040204020203" pitchFamily="34" charset="0"/>
                <a:cs typeface="Segoe UI" panose="020B0502040204020203" pitchFamily="34" charset="0"/>
              </a:rPr>
              <a:t>Rating </a:t>
            </a:r>
            <a:r>
              <a:rPr lang="en-US" sz="2467" b="1" dirty="0" smtClean="0">
                <a:solidFill>
                  <a:srgbClr val="00B0F0"/>
                </a:solidFill>
                <a:latin typeface="Segoe UI" panose="020B0502040204020203" pitchFamily="34" charset="0"/>
                <a:cs typeface="Segoe UI" panose="020B0502040204020203" pitchFamily="34" charset="0"/>
              </a:rPr>
              <a:t>in BOP :</a:t>
            </a:r>
            <a:endParaRPr lang="en-US" sz="2467" b="1" dirty="0">
              <a:solidFill>
                <a:srgbClr val="00B0F0"/>
              </a:solidFill>
              <a:latin typeface="Segoe UI" panose="020B0502040204020203" pitchFamily="34" charset="0"/>
              <a:cs typeface="Segoe UI" panose="020B0502040204020203" pitchFamily="34" charset="0"/>
            </a:endParaRPr>
          </a:p>
          <a:p>
            <a:endParaRPr lang="en-US" dirty="0" smtClean="0">
              <a:latin typeface="Segoe UI" panose="020B0502040204020203" pitchFamily="34" charset="0"/>
              <a:cs typeface="Segoe UI" panose="020B0502040204020203" pitchFamily="34" charset="0"/>
            </a:endParaRPr>
          </a:p>
          <a:p>
            <a:r>
              <a:rPr lang="en-US" sz="1600" dirty="0" smtClean="0">
                <a:latin typeface="Segoe UI" panose="020B0502040204020203" pitchFamily="34" charset="0"/>
                <a:cs typeface="Segoe UI" panose="020B0502040204020203" pitchFamily="34" charset="0"/>
              </a:rPr>
              <a:t>BOP rating incorporates the below variables</a:t>
            </a:r>
          </a:p>
          <a:p>
            <a:endParaRPr lang="en-US" sz="1600" dirty="0" smtClean="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dirty="0" smtClean="0">
                <a:latin typeface="Segoe UI" panose="020B0502040204020203" pitchFamily="34" charset="0"/>
                <a:cs typeface="Segoe UI" panose="020B0502040204020203" pitchFamily="34" charset="0"/>
              </a:rPr>
              <a:t>Territory</a:t>
            </a:r>
          </a:p>
          <a:p>
            <a:pPr marL="285750" indent="-285750">
              <a:buFont typeface="Arial" panose="020B0604020202020204" pitchFamily="34" charset="0"/>
              <a:buChar char="•"/>
            </a:pPr>
            <a:r>
              <a:rPr lang="en-US" sz="1600" dirty="0" smtClean="0">
                <a:latin typeface="Segoe UI" panose="020B0502040204020203" pitchFamily="34" charset="0"/>
                <a:cs typeface="Segoe UI" panose="020B0502040204020203" pitchFamily="34" charset="0"/>
              </a:rPr>
              <a:t>Type of Construction</a:t>
            </a:r>
          </a:p>
          <a:p>
            <a:pPr marL="285750" indent="-285750">
              <a:buFont typeface="Arial" panose="020B0604020202020204" pitchFamily="34" charset="0"/>
              <a:buChar char="•"/>
            </a:pPr>
            <a:r>
              <a:rPr lang="en-US" sz="1600" dirty="0" smtClean="0">
                <a:latin typeface="Segoe UI" panose="020B0502040204020203" pitchFamily="34" charset="0"/>
                <a:cs typeface="Segoe UI" panose="020B0502040204020203" pitchFamily="34" charset="0"/>
              </a:rPr>
              <a:t>Public fire protection </a:t>
            </a:r>
          </a:p>
          <a:p>
            <a:pPr marL="285750" indent="-285750">
              <a:buFont typeface="Arial" panose="020B0604020202020204" pitchFamily="34" charset="0"/>
              <a:buChar char="•"/>
            </a:pPr>
            <a:r>
              <a:rPr lang="en-US" sz="1600" dirty="0" smtClean="0">
                <a:latin typeface="Segoe UI" panose="020B0502040204020203" pitchFamily="34" charset="0"/>
                <a:cs typeface="Segoe UI" panose="020B0502040204020203" pitchFamily="34" charset="0"/>
              </a:rPr>
              <a:t>Occupancy of the building</a:t>
            </a:r>
          </a:p>
          <a:p>
            <a:pPr marL="285750" indent="-285750">
              <a:buFont typeface="Arial" panose="020B0604020202020204" pitchFamily="34" charset="0"/>
              <a:buChar char="•"/>
            </a:pPr>
            <a:r>
              <a:rPr lang="en-US" sz="1600" dirty="0" smtClean="0">
                <a:latin typeface="Segoe UI" panose="020B0502040204020203" pitchFamily="34" charset="0"/>
                <a:cs typeface="Segoe UI" panose="020B0502040204020203" pitchFamily="34" charset="0"/>
              </a:rPr>
              <a:t>Presence of sprinklers</a:t>
            </a:r>
          </a:p>
          <a:p>
            <a:pPr marL="285750" indent="-285750">
              <a:buFont typeface="Arial" panose="020B0604020202020204" pitchFamily="34" charset="0"/>
              <a:buChar char="•"/>
            </a:pPr>
            <a:r>
              <a:rPr lang="en-US" sz="1600" dirty="0" smtClean="0">
                <a:latin typeface="Segoe UI" panose="020B0502040204020203" pitchFamily="34" charset="0"/>
                <a:cs typeface="Segoe UI" panose="020B0502040204020203" pitchFamily="34" charset="0"/>
              </a:rPr>
              <a:t>Deductibles</a:t>
            </a:r>
          </a:p>
          <a:p>
            <a:pPr marL="285750" indent="-285750">
              <a:buFont typeface="Arial" panose="020B0604020202020204" pitchFamily="34" charset="0"/>
              <a:buChar char="•"/>
            </a:pPr>
            <a:endParaRPr lang="en-US" dirty="0" smtClean="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940655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Businessowners Policy</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TextBox 4"/>
          <p:cNvSpPr txBox="1"/>
          <p:nvPr/>
        </p:nvSpPr>
        <p:spPr>
          <a:xfrm>
            <a:off x="541656" y="1184857"/>
            <a:ext cx="7856113" cy="5858079"/>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BOP Property Coverages :</a:t>
            </a:r>
          </a:p>
          <a:p>
            <a:endParaRPr lang="en-US" sz="2000" dirty="0" smtClean="0">
              <a:latin typeface="Segoe UI" panose="020B0502040204020203" pitchFamily="34" charset="0"/>
              <a:cs typeface="Segoe UI" panose="020B0502040204020203" pitchFamily="34" charset="0"/>
            </a:endParaRPr>
          </a:p>
          <a:p>
            <a:r>
              <a:rPr lang="en-US" sz="1600" dirty="0">
                <a:latin typeface="Segoe UI Light" panose="020B0502040204020203" pitchFamily="34" charset="0"/>
                <a:cs typeface="Arial" pitchFamily="34" charset="0"/>
              </a:rPr>
              <a:t>BOP offers </a:t>
            </a:r>
            <a:r>
              <a:rPr lang="en-US" sz="1600" dirty="0" smtClean="0">
                <a:latin typeface="Segoe UI Light" panose="020B0502040204020203" pitchFamily="34" charset="0"/>
                <a:cs typeface="Arial" pitchFamily="34" charset="0"/>
              </a:rPr>
              <a:t>most of the options available in the commercial package policies but some difference exists.</a:t>
            </a:r>
          </a:p>
          <a:p>
            <a:endParaRPr lang="en-US" sz="1600" dirty="0" smtClean="0">
              <a:latin typeface="Segoe UI Light" panose="020B0502040204020203" pitchFamily="34" charset="0"/>
              <a:cs typeface="Arial" pitchFamily="34" charset="0"/>
            </a:endParaRPr>
          </a:p>
          <a:p>
            <a:r>
              <a:rPr lang="en-US" sz="1600" dirty="0" smtClean="0">
                <a:latin typeface="Segoe UI Light" panose="020B0502040204020203" pitchFamily="34" charset="0"/>
                <a:cs typeface="Arial" pitchFamily="34" charset="0"/>
              </a:rPr>
              <a:t>Major property coverage difference between BOP and Commercial property coverage are:</a:t>
            </a:r>
          </a:p>
          <a:p>
            <a:pPr marL="285750" indent="-285750">
              <a:buFont typeface="Wingdings" panose="05000000000000000000" pitchFamily="2" charset="2"/>
              <a:buChar char="v"/>
            </a:pPr>
            <a:r>
              <a:rPr lang="en-US" sz="1600" dirty="0" smtClean="0">
                <a:latin typeface="Segoe UI Light" panose="020B0502040204020203" pitchFamily="34" charset="0"/>
                <a:cs typeface="Arial" pitchFamily="34" charset="0"/>
              </a:rPr>
              <a:t>Covered causes of loss and valuation provisions</a:t>
            </a:r>
          </a:p>
          <a:p>
            <a:pPr marL="742950" lvl="1" indent="-285750">
              <a:buFont typeface="Courier New" panose="02070309020205020404" pitchFamily="49" charset="0"/>
              <a:buChar char="o"/>
            </a:pPr>
            <a:r>
              <a:rPr lang="en-US" sz="1600" dirty="0" smtClean="0">
                <a:latin typeface="Segoe UI Light" panose="020B0502040204020203" pitchFamily="34" charset="0"/>
                <a:cs typeface="Arial" pitchFamily="34" charset="0"/>
              </a:rPr>
              <a:t>Commercial property package all three cause of loss forms whereas most insurer offers only two versions of BOP property coverage (namely “ a named peril form” and  “ special form “</a:t>
            </a:r>
          </a:p>
          <a:p>
            <a:pPr marL="742950" lvl="1" indent="-285750">
              <a:buFont typeface="Courier New" panose="02070309020205020404" pitchFamily="49" charset="0"/>
              <a:buChar char="o"/>
            </a:pPr>
            <a:r>
              <a:rPr lang="en-US" sz="1600" dirty="0" smtClean="0">
                <a:latin typeface="Segoe UI Light" panose="020B0502040204020203" pitchFamily="34" charset="0"/>
                <a:cs typeface="Arial" pitchFamily="34" charset="0"/>
              </a:rPr>
              <a:t>Standard valuation in BOP is Replacement cost whereas in CP is Actual cash value</a:t>
            </a:r>
          </a:p>
          <a:p>
            <a:pPr lvl="1"/>
            <a:endParaRPr lang="en-US" sz="1600" dirty="0" smtClean="0">
              <a:latin typeface="Segoe UI Light" panose="020B0502040204020203" pitchFamily="34" charset="0"/>
              <a:cs typeface="Arial" pitchFamily="34" charset="0"/>
            </a:endParaRPr>
          </a:p>
          <a:p>
            <a:pPr marL="285750" indent="-285750">
              <a:buFont typeface="Wingdings" panose="05000000000000000000" pitchFamily="2" charset="2"/>
              <a:buChar char="v"/>
            </a:pPr>
            <a:r>
              <a:rPr lang="en-US" sz="1600" dirty="0" smtClean="0">
                <a:latin typeface="Segoe UI Light" panose="020B0502040204020203" pitchFamily="34" charset="0"/>
                <a:cs typeface="Arial" pitchFamily="34" charset="0"/>
              </a:rPr>
              <a:t>No Coinsurance in BOP</a:t>
            </a:r>
          </a:p>
          <a:p>
            <a:pPr marL="285750" indent="-285750">
              <a:buFont typeface="Wingdings" panose="05000000000000000000" pitchFamily="2" charset="2"/>
              <a:buChar char="v"/>
            </a:pPr>
            <a:r>
              <a:rPr lang="en-US" sz="1600" dirty="0" smtClean="0">
                <a:latin typeface="Segoe UI Light" panose="020B0502040204020203" pitchFamily="34" charset="0"/>
                <a:cs typeface="Arial" pitchFamily="34" charset="0"/>
              </a:rPr>
              <a:t>Shorter list of property not covered in BOP compared to CP</a:t>
            </a:r>
          </a:p>
          <a:p>
            <a:pPr marL="285750" indent="-285750">
              <a:buFont typeface="Wingdings" panose="05000000000000000000" pitchFamily="2" charset="2"/>
              <a:buChar char="v"/>
            </a:pPr>
            <a:r>
              <a:rPr lang="en-US" sz="1600" dirty="0" smtClean="0">
                <a:latin typeface="Segoe UI Light" panose="020B0502040204020203" pitchFamily="34" charset="0"/>
                <a:cs typeface="Arial" pitchFamily="34" charset="0"/>
              </a:rPr>
              <a:t>BOP provides novel solution to the problem of fluctuating values by “Automatic Seasonal Increase Provision like Peak season endorsement”</a:t>
            </a:r>
          </a:p>
          <a:p>
            <a:pPr marL="285750" indent="-285750">
              <a:buFont typeface="Wingdings" panose="05000000000000000000" pitchFamily="2" charset="2"/>
              <a:buChar char="v"/>
            </a:pPr>
            <a:r>
              <a:rPr lang="en-US" sz="1600" dirty="0" smtClean="0">
                <a:latin typeface="Segoe UI Light" panose="020B0502040204020203" pitchFamily="34" charset="0"/>
                <a:cs typeface="Arial" pitchFamily="34" charset="0"/>
              </a:rPr>
              <a:t>Business Income and Extra Expense Coverage is in automatically included in BOP</a:t>
            </a:r>
          </a:p>
          <a:p>
            <a:endParaRPr lang="en-US" dirty="0">
              <a:latin typeface="Segoe UI Light" panose="020B0502040204020203" pitchFamily="34" charset="0"/>
              <a:cs typeface="Arial" pitchFamily="34" charset="0"/>
            </a:endParaRPr>
          </a:p>
          <a:p>
            <a:endParaRPr lang="en-US" sz="2000" dirty="0" smtClean="0">
              <a:latin typeface="Segoe UI" panose="020B0502040204020203" pitchFamily="34" charset="0"/>
              <a:cs typeface="Segoe UI" panose="020B0502040204020203" pitchFamily="34" charset="0"/>
            </a:endParaRPr>
          </a:p>
          <a:p>
            <a:endParaRPr lang="en-US" dirty="0" smtClean="0"/>
          </a:p>
          <a:p>
            <a:endParaRPr lang="en-US" dirty="0"/>
          </a:p>
        </p:txBody>
      </p:sp>
    </p:spTree>
    <p:extLst>
      <p:ext uri="{BB962C8B-B14F-4D97-AF65-F5344CB8AC3E}">
        <p14:creationId xmlns:p14="http://schemas.microsoft.com/office/powerpoint/2010/main" val="38270764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Businessowners Policy</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Rectangle 4"/>
          <p:cNvSpPr/>
          <p:nvPr/>
        </p:nvSpPr>
        <p:spPr>
          <a:xfrm>
            <a:off x="541656" y="1050833"/>
            <a:ext cx="6096000" cy="3447098"/>
          </a:xfrm>
          <a:prstGeom prst="rect">
            <a:avLst/>
          </a:prstGeom>
        </p:spPr>
        <p:txBody>
          <a:bodyPr>
            <a:spAutoFit/>
          </a:bodyPr>
          <a:lstStyle/>
          <a:p>
            <a:pPr marL="285750" indent="-285750">
              <a:buFont typeface="Wingdings" panose="05000000000000000000" pitchFamily="2" charset="2"/>
              <a:buChar char="v"/>
            </a:pPr>
            <a:r>
              <a:rPr lang="en-US" dirty="0" smtClean="0">
                <a:latin typeface="Segoe UI Light" panose="020B0502040204020203" pitchFamily="34" charset="0"/>
                <a:cs typeface="Arial" pitchFamily="34" charset="0"/>
              </a:rPr>
              <a:t>Other property coverages in BOP are</a:t>
            </a:r>
          </a:p>
          <a:p>
            <a:endParaRPr lang="en-US" dirty="0">
              <a:latin typeface="Segoe UI Light" panose="020B0502040204020203" pitchFamily="34" charset="0"/>
              <a:cs typeface="Arial" pitchFamily="34" charset="0"/>
            </a:endParaRPr>
          </a:p>
          <a:p>
            <a:pPr marL="836996" lvl="1" indent="-285750">
              <a:buFont typeface="Arial" panose="020B0604020202020204" pitchFamily="34" charset="0"/>
              <a:buChar char="•"/>
            </a:pPr>
            <a:r>
              <a:rPr lang="en-US" sz="1600" dirty="0">
                <a:latin typeface="Segoe UI Light" panose="020B0502040204020203" pitchFamily="34" charset="0"/>
              </a:rPr>
              <a:t>Employee dishonesty</a:t>
            </a:r>
          </a:p>
          <a:p>
            <a:pPr marL="836996" lvl="1" indent="-285750">
              <a:buFont typeface="Arial" panose="020B0604020202020204" pitchFamily="34" charset="0"/>
              <a:buChar char="•"/>
            </a:pPr>
            <a:r>
              <a:rPr lang="en-US" sz="1600" dirty="0">
                <a:latin typeface="Segoe UI Light" panose="020B0502040204020203" pitchFamily="34" charset="0"/>
              </a:rPr>
              <a:t>Money and securities(special form) or burglary and robbery (named peril form)</a:t>
            </a:r>
          </a:p>
          <a:p>
            <a:pPr marL="836996" lvl="1" indent="-285750">
              <a:buFont typeface="Arial" panose="020B0604020202020204" pitchFamily="34" charset="0"/>
              <a:buChar char="•"/>
            </a:pPr>
            <a:r>
              <a:rPr lang="en-US" sz="1600" dirty="0">
                <a:latin typeface="Segoe UI Light" panose="020B0502040204020203" pitchFamily="34" charset="0"/>
              </a:rPr>
              <a:t>Forgery</a:t>
            </a:r>
          </a:p>
          <a:p>
            <a:pPr marL="836996" lvl="1" indent="-285750">
              <a:buFont typeface="Arial" panose="020B0604020202020204" pitchFamily="34" charset="0"/>
              <a:buChar char="•"/>
            </a:pPr>
            <a:r>
              <a:rPr lang="en-US" sz="1600" dirty="0">
                <a:latin typeface="Segoe UI Light" panose="020B0502040204020203" pitchFamily="34" charset="0"/>
              </a:rPr>
              <a:t>Interior/exterior glass</a:t>
            </a:r>
          </a:p>
          <a:p>
            <a:pPr marL="836996" lvl="1" indent="-285750">
              <a:buFont typeface="Arial" panose="020B0604020202020204" pitchFamily="34" charset="0"/>
              <a:buChar char="•"/>
            </a:pPr>
            <a:r>
              <a:rPr lang="en-US" sz="1600" dirty="0">
                <a:latin typeface="Segoe UI Light" panose="020B0502040204020203" pitchFamily="34" charset="0"/>
              </a:rPr>
              <a:t>Outdoor signs</a:t>
            </a:r>
          </a:p>
          <a:p>
            <a:pPr marL="836996" lvl="1" indent="-285750">
              <a:buFont typeface="Arial" panose="020B0604020202020204" pitchFamily="34" charset="0"/>
              <a:buChar char="•"/>
            </a:pPr>
            <a:r>
              <a:rPr lang="en-US" sz="1600" dirty="0">
                <a:latin typeface="Segoe UI Light" panose="020B0502040204020203" pitchFamily="34" charset="0"/>
              </a:rPr>
              <a:t>Mechanical breakdown</a:t>
            </a:r>
          </a:p>
          <a:p>
            <a:pPr marL="836996" lvl="1" indent="-285750">
              <a:buFont typeface="Arial" panose="020B0604020202020204" pitchFamily="34" charset="0"/>
              <a:buChar char="•"/>
            </a:pPr>
            <a:r>
              <a:rPr lang="en-US" sz="1600" dirty="0">
                <a:latin typeface="Segoe UI Light" panose="020B0502040204020203" pitchFamily="34" charset="0"/>
              </a:rPr>
              <a:t>Money orders and counterfeit paper currency</a:t>
            </a:r>
          </a:p>
          <a:p>
            <a:pPr marL="836996" lvl="1" indent="-285750">
              <a:buFont typeface="Arial" panose="020B0604020202020204" pitchFamily="34" charset="0"/>
              <a:buChar char="•"/>
            </a:pPr>
            <a:r>
              <a:rPr lang="en-US" sz="1600" dirty="0">
                <a:latin typeface="Segoe UI Light" panose="020B0502040204020203" pitchFamily="34" charset="0"/>
              </a:rPr>
              <a:t>Computer coverage </a:t>
            </a:r>
          </a:p>
          <a:p>
            <a:pPr marL="836996" lvl="1" indent="-285750">
              <a:buFont typeface="Arial" panose="020B0604020202020204" pitchFamily="34" charset="0"/>
              <a:buChar char="•"/>
            </a:pPr>
            <a:r>
              <a:rPr lang="en-US" sz="1600" dirty="0">
                <a:latin typeface="Segoe UI Light" panose="020B0502040204020203" pitchFamily="34" charset="0"/>
              </a:rPr>
              <a:t>Accounts receivable</a:t>
            </a:r>
          </a:p>
          <a:p>
            <a:pPr marL="836996" lvl="1" indent="-285750">
              <a:buFont typeface="Arial" panose="020B0604020202020204" pitchFamily="34" charset="0"/>
              <a:buChar char="•"/>
            </a:pPr>
            <a:r>
              <a:rPr lang="en-US" sz="1600" dirty="0">
                <a:latin typeface="Segoe UI Light" panose="020B0502040204020203" pitchFamily="34" charset="0"/>
              </a:rPr>
              <a:t>Valuable papers and record</a:t>
            </a:r>
            <a:r>
              <a:rPr lang="en-US" sz="2200" dirty="0">
                <a:latin typeface="Segoe UI Light" panose="020B0502040204020203" pitchFamily="34" charset="0"/>
              </a:rPr>
              <a:t>s</a:t>
            </a:r>
          </a:p>
        </p:txBody>
      </p:sp>
    </p:spTree>
    <p:extLst>
      <p:ext uri="{BB962C8B-B14F-4D97-AF65-F5344CB8AC3E}">
        <p14:creationId xmlns:p14="http://schemas.microsoft.com/office/powerpoint/2010/main" val="636285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Businessowners Policy</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TextBox 4"/>
          <p:cNvSpPr txBox="1"/>
          <p:nvPr/>
        </p:nvSpPr>
        <p:spPr>
          <a:xfrm>
            <a:off x="682580" y="1050833"/>
            <a:ext cx="9028090" cy="6227410"/>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BOP Liability Coverages :</a:t>
            </a:r>
          </a:p>
          <a:p>
            <a:endParaRPr lang="en-US" sz="1200" dirty="0">
              <a:latin typeface="Segoe UI" panose="020B0502040204020203" pitchFamily="34" charset="0"/>
              <a:cs typeface="Segoe UI" panose="020B0502040204020203" pitchFamily="34" charset="0"/>
            </a:endParaRPr>
          </a:p>
          <a:p>
            <a:pPr marL="285750" indent="-285750">
              <a:buFont typeface="Wingdings" panose="05000000000000000000" pitchFamily="2" charset="2"/>
              <a:buChar char="v"/>
            </a:pPr>
            <a:r>
              <a:rPr lang="en-US" sz="1600" b="1" dirty="0">
                <a:latin typeface="Segoe UI Light" panose="020B0502040204020203" pitchFamily="34" charset="0"/>
              </a:rPr>
              <a:t>Bodily injury and property damage liability</a:t>
            </a:r>
          </a:p>
          <a:p>
            <a:pPr marL="836996" lvl="1" indent="-285750">
              <a:buFont typeface="Wingdings" panose="05000000000000000000" pitchFamily="2" charset="2"/>
              <a:buChar char="v"/>
            </a:pPr>
            <a:r>
              <a:rPr lang="en-US" sz="1600" dirty="0">
                <a:latin typeface="Segoe UI Light" panose="020B0502040204020203" pitchFamily="34" charset="0"/>
              </a:rPr>
              <a:t>Premises and operations</a:t>
            </a:r>
          </a:p>
          <a:p>
            <a:pPr marL="836996" lvl="1" indent="-285750">
              <a:buFont typeface="Wingdings" panose="05000000000000000000" pitchFamily="2" charset="2"/>
              <a:buChar char="v"/>
            </a:pPr>
            <a:r>
              <a:rPr lang="en-US" sz="1600" dirty="0">
                <a:latin typeface="Segoe UI Light" panose="020B0502040204020203" pitchFamily="34" charset="0"/>
              </a:rPr>
              <a:t>Products and completed operations</a:t>
            </a:r>
          </a:p>
          <a:p>
            <a:pPr marL="836996" lvl="1" indent="-285750">
              <a:buFont typeface="Wingdings" panose="05000000000000000000" pitchFamily="2" charset="2"/>
              <a:buChar char="v"/>
            </a:pPr>
            <a:r>
              <a:rPr lang="en-US" sz="1600" dirty="0">
                <a:latin typeface="Segoe UI Light" panose="020B0502040204020203" pitchFamily="34" charset="0"/>
              </a:rPr>
              <a:t>Liability assumed under a contract</a:t>
            </a:r>
          </a:p>
          <a:p>
            <a:pPr marL="836996" lvl="1" indent="-285750">
              <a:buFont typeface="Wingdings" panose="05000000000000000000" pitchFamily="2" charset="2"/>
              <a:buChar char="v"/>
            </a:pPr>
            <a:endParaRPr lang="en-US" sz="1600" dirty="0">
              <a:latin typeface="Segoe UI Light" panose="020B0502040204020203" pitchFamily="34" charset="0"/>
            </a:endParaRPr>
          </a:p>
          <a:p>
            <a:pPr marL="285750" indent="-285750">
              <a:buFont typeface="Wingdings" panose="05000000000000000000" pitchFamily="2" charset="2"/>
              <a:buChar char="v"/>
            </a:pPr>
            <a:r>
              <a:rPr lang="en-US" sz="1600" b="1" dirty="0">
                <a:latin typeface="Segoe UI Light" panose="020B0502040204020203" pitchFamily="34" charset="0"/>
              </a:rPr>
              <a:t>Personal and advertising injury liability</a:t>
            </a:r>
          </a:p>
          <a:p>
            <a:pPr marL="285750" indent="-285750">
              <a:buFont typeface="Wingdings" panose="05000000000000000000" pitchFamily="2" charset="2"/>
              <a:buChar char="v"/>
            </a:pPr>
            <a:endParaRPr lang="en-US" sz="1600" dirty="0">
              <a:latin typeface="Segoe UI Light" panose="020B0502040204020203" pitchFamily="34" charset="0"/>
            </a:endParaRPr>
          </a:p>
          <a:p>
            <a:pPr marL="285750" indent="-285750">
              <a:buFont typeface="Wingdings" panose="05000000000000000000" pitchFamily="2" charset="2"/>
              <a:buChar char="v"/>
            </a:pPr>
            <a:r>
              <a:rPr lang="en-US" sz="1600" b="1" dirty="0">
                <a:latin typeface="Segoe UI Light" panose="020B0502040204020203" pitchFamily="34" charset="0"/>
              </a:rPr>
              <a:t>Medical payments coverage </a:t>
            </a:r>
            <a:r>
              <a:rPr lang="en-US" sz="1600" dirty="0">
                <a:latin typeface="Segoe UI Light" panose="020B0502040204020203" pitchFamily="34" charset="0"/>
              </a:rPr>
              <a:t>(</a:t>
            </a:r>
            <a:r>
              <a:rPr lang="en-US" sz="1600" b="1" dirty="0">
                <a:latin typeface="Segoe UI Light" panose="020B0502040204020203" pitchFamily="34" charset="0"/>
              </a:rPr>
              <a:t>paid regardless of fault</a:t>
            </a:r>
            <a:r>
              <a:rPr lang="en-US" sz="1600" dirty="0">
                <a:latin typeface="Segoe UI Light" panose="020B0502040204020203" pitchFamily="34" charset="0"/>
              </a:rPr>
              <a:t>)</a:t>
            </a:r>
          </a:p>
          <a:p>
            <a:endParaRPr lang="en-US" sz="1600" dirty="0">
              <a:latin typeface="Segoe UI Light" panose="020B0502040204020203" pitchFamily="34" charset="0"/>
            </a:endParaRPr>
          </a:p>
          <a:p>
            <a:pPr marL="285750" indent="-285750">
              <a:buFont typeface="Wingdings" panose="05000000000000000000" pitchFamily="2" charset="2"/>
              <a:buChar char="v"/>
            </a:pPr>
            <a:r>
              <a:rPr lang="en-US" sz="1600" b="1" dirty="0">
                <a:latin typeface="Segoe UI Light" panose="020B0502040204020203" pitchFamily="34" charset="0"/>
              </a:rPr>
              <a:t>Some BOPs automatically provide Professional liability coverage for some professions (which is otherwise excluded) e.g. retail </a:t>
            </a:r>
            <a:r>
              <a:rPr lang="en-US" sz="1600" b="1" dirty="0" smtClean="0">
                <a:latin typeface="Segoe UI Light" panose="020B0502040204020203" pitchFamily="34" charset="0"/>
              </a:rPr>
              <a:t>drugstores</a:t>
            </a:r>
          </a:p>
          <a:p>
            <a:pPr marL="285750" indent="-285750">
              <a:buFont typeface="Wingdings" panose="05000000000000000000" pitchFamily="2" charset="2"/>
              <a:buChar char="v"/>
            </a:pPr>
            <a:endParaRPr lang="en-US" sz="1600" b="1" dirty="0">
              <a:latin typeface="Segoe UI Light" panose="020B0502040204020203" pitchFamily="34" charset="0"/>
            </a:endParaRPr>
          </a:p>
          <a:p>
            <a:pPr marL="285750" indent="-285750">
              <a:buFont typeface="Wingdings" panose="05000000000000000000" pitchFamily="2" charset="2"/>
              <a:buChar char="v"/>
            </a:pPr>
            <a:r>
              <a:rPr lang="en-US" sz="1600" b="1" dirty="0">
                <a:latin typeface="Segoe UI Light" panose="020B0502040204020203" pitchFamily="34" charset="0"/>
              </a:rPr>
              <a:t>Hired and non-owned auto liability coverage can be added without having to purchase a separate business auto policy </a:t>
            </a:r>
          </a:p>
          <a:p>
            <a:pPr marL="285750" indent="-285750">
              <a:buFont typeface="Wingdings" panose="05000000000000000000" pitchFamily="2" charset="2"/>
              <a:buChar char="v"/>
            </a:pPr>
            <a:endParaRPr lang="en-US" sz="1600" b="1" dirty="0">
              <a:latin typeface="Segoe UI Light" panose="020B0502040204020203" pitchFamily="34" charset="0"/>
            </a:endParaRPr>
          </a:p>
          <a:p>
            <a:pPr marL="285750" indent="-285750">
              <a:buFont typeface="Wingdings" panose="05000000000000000000" pitchFamily="2" charset="2"/>
              <a:buChar char="v"/>
            </a:pPr>
            <a:r>
              <a:rPr lang="en-US" sz="1600" b="1" dirty="0">
                <a:latin typeface="Segoe UI Light" panose="020B0502040204020203" pitchFamily="34" charset="0"/>
              </a:rPr>
              <a:t>Limit of liability is defined as - each occurrence limit/general aggregate limit/products or completed operations aggregate limit (x/2x/x)</a:t>
            </a:r>
          </a:p>
          <a:p>
            <a:pPr marL="285750" indent="-285750">
              <a:buFont typeface="Wingdings" panose="05000000000000000000" pitchFamily="2" charset="2"/>
              <a:buChar char="v"/>
            </a:pPr>
            <a:endParaRPr lang="en-US" sz="1600" b="1" dirty="0">
              <a:latin typeface="Segoe UI Light" panose="020B0502040204020203" pitchFamily="34" charset="0"/>
            </a:endParaRPr>
          </a:p>
          <a:p>
            <a:pPr marL="285750" indent="-285750">
              <a:buFont typeface="Wingdings" panose="05000000000000000000" pitchFamily="2" charset="2"/>
              <a:buChar char="v"/>
            </a:pPr>
            <a:r>
              <a:rPr lang="en-US" sz="1600" b="1" dirty="0">
                <a:latin typeface="Segoe UI Light" panose="020B0502040204020203" pitchFamily="34" charset="0"/>
              </a:rPr>
              <a:t>Supplementary payment is provided for cost of bail bonds (up to $250), loss of earnings ( $250 per day), prejudgment interest etc.</a:t>
            </a:r>
          </a:p>
          <a:p>
            <a:endParaRPr lang="en-US" dirty="0">
              <a:latin typeface="Segoe UI" panose="020B0502040204020203" pitchFamily="34" charset="0"/>
              <a:cs typeface="Segoe UI" panose="020B0502040204020203" pitchFamily="34" charset="0"/>
            </a:endParaRPr>
          </a:p>
          <a:p>
            <a:endParaRPr lang="en-US" dirty="0"/>
          </a:p>
        </p:txBody>
      </p:sp>
    </p:spTree>
    <p:extLst>
      <p:ext uri="{BB962C8B-B14F-4D97-AF65-F5344CB8AC3E}">
        <p14:creationId xmlns:p14="http://schemas.microsoft.com/office/powerpoint/2010/main" val="40350326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Businessowners Policy</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Rectangle 4"/>
          <p:cNvSpPr/>
          <p:nvPr/>
        </p:nvSpPr>
        <p:spPr>
          <a:xfrm>
            <a:off x="652529" y="1359326"/>
            <a:ext cx="7705859" cy="3180422"/>
          </a:xfrm>
          <a:prstGeom prst="rect">
            <a:avLst/>
          </a:prstGeom>
        </p:spPr>
        <p:txBody>
          <a:bodyPr wrap="square">
            <a:spAutoFit/>
          </a:bodyPr>
          <a:lstStyle/>
          <a:p>
            <a:r>
              <a:rPr lang="en-US" sz="2467" b="1" dirty="0">
                <a:solidFill>
                  <a:srgbClr val="00B0F0"/>
                </a:solidFill>
                <a:latin typeface="Segoe UI Light" panose="020B0502040204020203" pitchFamily="34" charset="0"/>
                <a:cs typeface="Arial" pitchFamily="34" charset="0"/>
              </a:rPr>
              <a:t>Exclusions in BOP:</a:t>
            </a:r>
          </a:p>
          <a:p>
            <a:pPr marL="285750" indent="-285750">
              <a:buFont typeface="Wingdings" panose="05000000000000000000" pitchFamily="2" charset="2"/>
              <a:buChar char="v"/>
            </a:pPr>
            <a:endParaRPr lang="en-US" sz="1600" b="1" dirty="0">
              <a:latin typeface="Segoe UI Light" panose="020B0502040204020203" pitchFamily="34" charset="0"/>
            </a:endParaRPr>
          </a:p>
          <a:p>
            <a:pPr marL="285750" indent="-285750">
              <a:buFont typeface="Wingdings" panose="05000000000000000000" pitchFamily="2" charset="2"/>
              <a:buChar char="v"/>
            </a:pPr>
            <a:r>
              <a:rPr lang="en-US" sz="1600" b="1" dirty="0" smtClean="0">
                <a:latin typeface="Segoe UI Light" panose="020B0502040204020203" pitchFamily="34" charset="0"/>
              </a:rPr>
              <a:t>Common </a:t>
            </a:r>
            <a:r>
              <a:rPr lang="en-US" sz="1600" b="1" dirty="0">
                <a:latin typeface="Segoe UI Light" panose="020B0502040204020203" pitchFamily="34" charset="0"/>
              </a:rPr>
              <a:t>exclusions depend on the coverage form chosen</a:t>
            </a:r>
          </a:p>
          <a:p>
            <a:pPr marL="285750" indent="-285750">
              <a:buFont typeface="Wingdings" panose="05000000000000000000" pitchFamily="2" charset="2"/>
              <a:buChar char="v"/>
            </a:pPr>
            <a:endParaRPr lang="en-US" sz="1600" b="1" dirty="0">
              <a:latin typeface="Segoe UI Light" panose="020B0502040204020203" pitchFamily="34" charset="0"/>
            </a:endParaRPr>
          </a:p>
          <a:p>
            <a:pPr marL="285750" indent="-285750">
              <a:buFont typeface="Wingdings" panose="05000000000000000000" pitchFamily="2" charset="2"/>
              <a:buChar char="v"/>
            </a:pPr>
            <a:r>
              <a:rPr lang="en-US" sz="1600" b="1" dirty="0">
                <a:latin typeface="Segoe UI Light" panose="020B0502040204020203" pitchFamily="34" charset="0"/>
              </a:rPr>
              <a:t>Basic and broad forms generally exclude</a:t>
            </a:r>
          </a:p>
          <a:p>
            <a:pPr marL="894146" lvl="1" indent="-342900">
              <a:buFont typeface="Wingdings" panose="05000000000000000000" pitchFamily="2" charset="2"/>
              <a:buChar char="v"/>
            </a:pPr>
            <a:r>
              <a:rPr lang="en-US" sz="1600" dirty="0">
                <a:solidFill>
                  <a:prstClr val="black"/>
                </a:solidFill>
                <a:latin typeface="Segoe UI Light" panose="020B0502040204020203" pitchFamily="34" charset="0"/>
              </a:rPr>
              <a:t>Ordinance or law, earth movement, government action, nuclear hazard, war, mechanical or electrical breakdown and steam boiler explosions, nuclear damage, war etc. </a:t>
            </a:r>
          </a:p>
          <a:p>
            <a:pPr marL="285750" indent="-285750">
              <a:buFont typeface="Wingdings" panose="05000000000000000000" pitchFamily="2" charset="2"/>
              <a:buChar char="v"/>
            </a:pPr>
            <a:endParaRPr lang="en-US" sz="1600" b="1" dirty="0">
              <a:latin typeface="Segoe UI Light" panose="020B0502040204020203" pitchFamily="34" charset="0"/>
            </a:endParaRPr>
          </a:p>
          <a:p>
            <a:pPr marL="285750" indent="-285750">
              <a:buFont typeface="Wingdings" panose="05000000000000000000" pitchFamily="2" charset="2"/>
              <a:buChar char="v"/>
            </a:pPr>
            <a:r>
              <a:rPr lang="en-US" sz="1600" b="1" dirty="0">
                <a:solidFill>
                  <a:prstClr val="black"/>
                </a:solidFill>
                <a:latin typeface="Segoe UI Light" panose="020B0502040204020203" pitchFamily="34" charset="0"/>
              </a:rPr>
              <a:t>Special form generally excludes</a:t>
            </a:r>
          </a:p>
          <a:p>
            <a:pPr marL="836996" lvl="1" indent="-285750">
              <a:buFont typeface="Wingdings" panose="05000000000000000000" pitchFamily="2" charset="2"/>
              <a:buChar char="v"/>
            </a:pPr>
            <a:r>
              <a:rPr lang="en-US" sz="1600" dirty="0">
                <a:solidFill>
                  <a:prstClr val="black"/>
                </a:solidFill>
                <a:latin typeface="Segoe UI Light" panose="020B0502040204020203" pitchFamily="34" charset="0"/>
              </a:rPr>
              <a:t>Common exclusions include wear and tear, rust, corrosion, decay, mechanical breakdown, loss or damage to products etc.</a:t>
            </a:r>
          </a:p>
        </p:txBody>
      </p:sp>
    </p:spTree>
    <p:extLst>
      <p:ext uri="{BB962C8B-B14F-4D97-AF65-F5344CB8AC3E}">
        <p14:creationId xmlns:p14="http://schemas.microsoft.com/office/powerpoint/2010/main" val="12248658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Businessowners Policy</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Rectangle 4"/>
          <p:cNvSpPr/>
          <p:nvPr/>
        </p:nvSpPr>
        <p:spPr>
          <a:xfrm>
            <a:off x="742681" y="1433661"/>
            <a:ext cx="9248435" cy="3672865"/>
          </a:xfrm>
          <a:prstGeom prst="rect">
            <a:avLst/>
          </a:prstGeom>
        </p:spPr>
        <p:txBody>
          <a:bodyPr wrap="square">
            <a:spAutoFit/>
          </a:bodyPr>
          <a:lstStyle/>
          <a:p>
            <a:pPr fontAlgn="base">
              <a:spcBef>
                <a:spcPct val="0"/>
              </a:spcBef>
              <a:spcAft>
                <a:spcPct val="0"/>
              </a:spcAft>
            </a:pPr>
            <a:r>
              <a:rPr lang="en-US" sz="2467" b="1" dirty="0">
                <a:solidFill>
                  <a:srgbClr val="00B0F0"/>
                </a:solidFill>
                <a:latin typeface="Segoe UI Light" panose="020B0502040204020203" pitchFamily="34" charset="0"/>
                <a:cs typeface="Arial" pitchFamily="34" charset="0"/>
              </a:rPr>
              <a:t>Insurance to value provision (Coinsurance)</a:t>
            </a:r>
            <a:r>
              <a:rPr lang="en-US" sz="1600" dirty="0">
                <a:solidFill>
                  <a:prstClr val="black"/>
                </a:solidFill>
                <a:latin typeface="Segoe UI Light" panose="020B0502040204020203" pitchFamily="34" charset="0"/>
              </a:rPr>
              <a:t> clause requires the insured to carry insurance equal to at least a specified percentage of the property’s ACV or replacement cost value. If the amount of insurance carried does not meet the coinsurance requirement the payment will be calculated as per the below formula:</a:t>
            </a:r>
          </a:p>
          <a:p>
            <a:pPr fontAlgn="base">
              <a:spcBef>
                <a:spcPct val="0"/>
              </a:spcBef>
              <a:spcAft>
                <a:spcPct val="0"/>
              </a:spcAft>
            </a:pPr>
            <a:endParaRPr lang="en-US" sz="1600" dirty="0">
              <a:solidFill>
                <a:prstClr val="black"/>
              </a:solidFill>
              <a:latin typeface="Segoe UI Light" panose="020B0502040204020203" pitchFamily="34" charset="0"/>
            </a:endParaRPr>
          </a:p>
          <a:p>
            <a:pPr fontAlgn="base">
              <a:spcBef>
                <a:spcPct val="0"/>
              </a:spcBef>
              <a:spcAft>
                <a:spcPct val="0"/>
              </a:spcAft>
            </a:pPr>
            <a:r>
              <a:rPr lang="en-US" sz="1600" dirty="0">
                <a:solidFill>
                  <a:prstClr val="black"/>
                </a:solidFill>
                <a:latin typeface="Segoe UI Light" panose="020B0502040204020203" pitchFamily="34" charset="0"/>
              </a:rPr>
              <a:t>     </a:t>
            </a:r>
            <a:r>
              <a:rPr lang="en-US" sz="1600" b="1" dirty="0">
                <a:solidFill>
                  <a:prstClr val="black"/>
                </a:solidFill>
                <a:latin typeface="Segoe UI Light" panose="020B0502040204020203" pitchFamily="34" charset="0"/>
              </a:rPr>
              <a:t>Loss amount (less deductible)  =                      Amount of insurance carried</a:t>
            </a:r>
          </a:p>
          <a:p>
            <a:pPr fontAlgn="base">
              <a:spcBef>
                <a:spcPct val="0"/>
              </a:spcBef>
              <a:spcAft>
                <a:spcPct val="0"/>
              </a:spcAft>
            </a:pPr>
            <a:r>
              <a:rPr lang="en-US" sz="1600" b="1" dirty="0">
                <a:solidFill>
                  <a:prstClr val="black"/>
                </a:solidFill>
                <a:latin typeface="Segoe UI Light" panose="020B0502040204020203" pitchFamily="34" charset="0"/>
              </a:rPr>
              <a:t>                                                                       -------------------------------------     X   Loss </a:t>
            </a:r>
          </a:p>
          <a:p>
            <a:pPr fontAlgn="base">
              <a:spcBef>
                <a:spcPct val="0"/>
              </a:spcBef>
              <a:spcAft>
                <a:spcPct val="0"/>
              </a:spcAft>
            </a:pPr>
            <a:r>
              <a:rPr lang="en-US" sz="1600" b="1" dirty="0">
                <a:solidFill>
                  <a:prstClr val="black"/>
                </a:solidFill>
                <a:latin typeface="Segoe UI Light" panose="020B0502040204020203" pitchFamily="34" charset="0"/>
              </a:rPr>
              <a:t>                                                                            Amount of insurance required </a:t>
            </a:r>
          </a:p>
          <a:p>
            <a:pPr fontAlgn="base">
              <a:spcBef>
                <a:spcPct val="0"/>
              </a:spcBef>
              <a:spcAft>
                <a:spcPct val="0"/>
              </a:spcAft>
            </a:pPr>
            <a:endParaRPr lang="en-US" sz="1600" dirty="0">
              <a:solidFill>
                <a:prstClr val="black"/>
              </a:solidFill>
              <a:latin typeface="Segoe UI Light" panose="020B0502040204020203" pitchFamily="34" charset="0"/>
            </a:endParaRPr>
          </a:p>
          <a:p>
            <a:pPr fontAlgn="base">
              <a:spcBef>
                <a:spcPct val="0"/>
              </a:spcBef>
              <a:spcAft>
                <a:spcPct val="0"/>
              </a:spcAft>
            </a:pPr>
            <a:r>
              <a:rPr lang="en-US" sz="1600" dirty="0">
                <a:solidFill>
                  <a:prstClr val="black"/>
                </a:solidFill>
                <a:latin typeface="Segoe UI Light" panose="020B0502040204020203" pitchFamily="34" charset="0"/>
              </a:rPr>
              <a:t>      e.g. The value of the property is $250,000 </a:t>
            </a:r>
          </a:p>
          <a:p>
            <a:pPr fontAlgn="base">
              <a:spcBef>
                <a:spcPct val="0"/>
              </a:spcBef>
              <a:spcAft>
                <a:spcPct val="0"/>
              </a:spcAft>
            </a:pPr>
            <a:r>
              <a:rPr lang="en-US" sz="1600" dirty="0">
                <a:solidFill>
                  <a:prstClr val="black"/>
                </a:solidFill>
                <a:latin typeface="Segoe UI Light" panose="020B0502040204020203" pitchFamily="34" charset="0"/>
              </a:rPr>
              <a:t>             The Coinsurance percentage for it is 80% </a:t>
            </a:r>
          </a:p>
          <a:p>
            <a:pPr fontAlgn="base">
              <a:spcBef>
                <a:spcPct val="0"/>
              </a:spcBef>
              <a:spcAft>
                <a:spcPct val="0"/>
              </a:spcAft>
            </a:pPr>
            <a:r>
              <a:rPr lang="en-US" sz="1600" dirty="0">
                <a:solidFill>
                  <a:prstClr val="black"/>
                </a:solidFill>
                <a:latin typeface="Segoe UI Light" panose="020B0502040204020203" pitchFamily="34" charset="0"/>
              </a:rPr>
              <a:t>             The Limit of Insurance for it is $100,000 </a:t>
            </a:r>
          </a:p>
          <a:p>
            <a:pPr fontAlgn="base">
              <a:spcBef>
                <a:spcPct val="0"/>
              </a:spcBef>
              <a:spcAft>
                <a:spcPct val="0"/>
              </a:spcAft>
            </a:pPr>
            <a:r>
              <a:rPr lang="en-US" sz="1600" dirty="0">
                <a:solidFill>
                  <a:prstClr val="black"/>
                </a:solidFill>
                <a:latin typeface="Segoe UI Light" panose="020B0502040204020203" pitchFamily="34" charset="0"/>
              </a:rPr>
              <a:t>             The Deductible is $250</a:t>
            </a:r>
          </a:p>
          <a:p>
            <a:pPr fontAlgn="base">
              <a:spcBef>
                <a:spcPct val="0"/>
              </a:spcBef>
              <a:spcAft>
                <a:spcPct val="0"/>
              </a:spcAft>
            </a:pPr>
            <a:r>
              <a:rPr lang="en-US" sz="1600" dirty="0">
                <a:solidFill>
                  <a:prstClr val="black"/>
                </a:solidFill>
                <a:latin typeface="Segoe UI Light" panose="020B0502040204020203" pitchFamily="34" charset="0"/>
              </a:rPr>
              <a:t>             The amount of loss is $ 40,000 </a:t>
            </a:r>
          </a:p>
        </p:txBody>
      </p:sp>
      <p:sp>
        <p:nvSpPr>
          <p:cNvPr id="6" name="TextBox 9"/>
          <p:cNvSpPr txBox="1"/>
          <p:nvPr/>
        </p:nvSpPr>
        <p:spPr>
          <a:xfrm>
            <a:off x="588520" y="4973091"/>
            <a:ext cx="11191899" cy="1077218"/>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551246" algn="l" rtl="0" fontAlgn="base">
              <a:spcBef>
                <a:spcPct val="0"/>
              </a:spcBef>
              <a:spcAft>
                <a:spcPct val="0"/>
              </a:spcAft>
              <a:defRPr kern="1200">
                <a:solidFill>
                  <a:schemeClr val="tx1"/>
                </a:solidFill>
                <a:latin typeface="Arial" charset="0"/>
                <a:ea typeface="+mn-ea"/>
                <a:cs typeface="Arial" charset="0"/>
              </a:defRPr>
            </a:lvl2pPr>
            <a:lvl3pPr marL="1102492" algn="l" rtl="0" fontAlgn="base">
              <a:spcBef>
                <a:spcPct val="0"/>
              </a:spcBef>
              <a:spcAft>
                <a:spcPct val="0"/>
              </a:spcAft>
              <a:defRPr kern="1200">
                <a:solidFill>
                  <a:schemeClr val="tx1"/>
                </a:solidFill>
                <a:latin typeface="Arial" charset="0"/>
                <a:ea typeface="+mn-ea"/>
                <a:cs typeface="Arial" charset="0"/>
              </a:defRPr>
            </a:lvl3pPr>
            <a:lvl4pPr marL="1653738" algn="l" rtl="0" fontAlgn="base">
              <a:spcBef>
                <a:spcPct val="0"/>
              </a:spcBef>
              <a:spcAft>
                <a:spcPct val="0"/>
              </a:spcAft>
              <a:defRPr kern="1200">
                <a:solidFill>
                  <a:schemeClr val="tx1"/>
                </a:solidFill>
                <a:latin typeface="Arial" charset="0"/>
                <a:ea typeface="+mn-ea"/>
                <a:cs typeface="Arial" charset="0"/>
              </a:defRPr>
            </a:lvl4pPr>
            <a:lvl5pPr marL="2204984" algn="l" rtl="0" fontAlgn="base">
              <a:spcBef>
                <a:spcPct val="0"/>
              </a:spcBef>
              <a:spcAft>
                <a:spcPct val="0"/>
              </a:spcAft>
              <a:defRPr kern="1200">
                <a:solidFill>
                  <a:schemeClr val="tx1"/>
                </a:solidFill>
                <a:latin typeface="Arial" charset="0"/>
                <a:ea typeface="+mn-ea"/>
                <a:cs typeface="Arial" charset="0"/>
              </a:defRPr>
            </a:lvl5pPr>
            <a:lvl6pPr marL="2756230" algn="l" defTabSz="1102492" rtl="0" eaLnBrk="1" latinLnBrk="0" hangingPunct="1">
              <a:defRPr kern="1200">
                <a:solidFill>
                  <a:schemeClr val="tx1"/>
                </a:solidFill>
                <a:latin typeface="Arial" charset="0"/>
                <a:ea typeface="+mn-ea"/>
                <a:cs typeface="Arial" charset="0"/>
              </a:defRPr>
            </a:lvl6pPr>
            <a:lvl7pPr marL="3307476" algn="l" defTabSz="1102492" rtl="0" eaLnBrk="1" latinLnBrk="0" hangingPunct="1">
              <a:defRPr kern="1200">
                <a:solidFill>
                  <a:schemeClr val="tx1"/>
                </a:solidFill>
                <a:latin typeface="Arial" charset="0"/>
                <a:ea typeface="+mn-ea"/>
                <a:cs typeface="Arial" charset="0"/>
              </a:defRPr>
            </a:lvl7pPr>
            <a:lvl8pPr marL="3858722" algn="l" defTabSz="1102492" rtl="0" eaLnBrk="1" latinLnBrk="0" hangingPunct="1">
              <a:defRPr kern="1200">
                <a:solidFill>
                  <a:schemeClr val="tx1"/>
                </a:solidFill>
                <a:latin typeface="Arial" charset="0"/>
                <a:ea typeface="+mn-ea"/>
                <a:cs typeface="Arial" charset="0"/>
              </a:defRPr>
            </a:lvl8pPr>
            <a:lvl9pPr marL="4409968" algn="l" defTabSz="1102492" rtl="0" eaLnBrk="1" latinLnBrk="0" hangingPunct="1">
              <a:defRPr kern="1200">
                <a:solidFill>
                  <a:schemeClr val="tx1"/>
                </a:solidFill>
                <a:latin typeface="Arial" charset="0"/>
                <a:ea typeface="+mn-ea"/>
                <a:cs typeface="Arial" charset="0"/>
              </a:defRPr>
            </a:lvl9pPr>
          </a:lstStyle>
          <a:p>
            <a:pPr fontAlgn="base">
              <a:spcBef>
                <a:spcPct val="0"/>
              </a:spcBef>
              <a:spcAft>
                <a:spcPct val="0"/>
              </a:spcAft>
            </a:pPr>
            <a:endParaRPr lang="en-US" sz="1600" dirty="0">
              <a:solidFill>
                <a:prstClr val="black"/>
              </a:solidFill>
            </a:endParaRPr>
          </a:p>
          <a:p>
            <a:pPr fontAlgn="base">
              <a:spcBef>
                <a:spcPct val="0"/>
              </a:spcBef>
              <a:spcAft>
                <a:spcPct val="0"/>
              </a:spcAft>
            </a:pPr>
            <a:r>
              <a:rPr lang="en-US" sz="1600" dirty="0">
                <a:solidFill>
                  <a:prstClr val="black"/>
                </a:solidFill>
                <a:latin typeface="Segoe UI Light" panose="020B0502040204020203" pitchFamily="34" charset="0"/>
              </a:rPr>
              <a:t>     </a:t>
            </a:r>
            <a:r>
              <a:rPr lang="en-US" sz="1600" dirty="0" smtClean="0">
                <a:solidFill>
                  <a:prstClr val="black"/>
                </a:solidFill>
                <a:latin typeface="Segoe UI Light" panose="020B0502040204020203" pitchFamily="34" charset="0"/>
              </a:rPr>
              <a:t>   Loss amount (less deductible) </a:t>
            </a:r>
            <a:r>
              <a:rPr lang="en-US" sz="1600" dirty="0">
                <a:solidFill>
                  <a:prstClr val="black"/>
                </a:solidFill>
                <a:latin typeface="Segoe UI Light" panose="020B0502040204020203" pitchFamily="34" charset="0"/>
              </a:rPr>
              <a:t>=           </a:t>
            </a:r>
            <a:r>
              <a:rPr lang="en-US" sz="1600" dirty="0" smtClean="0">
                <a:solidFill>
                  <a:prstClr val="black"/>
                </a:solidFill>
                <a:latin typeface="Segoe UI Light" panose="020B0502040204020203" pitchFamily="34" charset="0"/>
              </a:rPr>
              <a:t>$</a:t>
            </a:r>
            <a:r>
              <a:rPr lang="en-US" sz="1600" dirty="0">
                <a:solidFill>
                  <a:prstClr val="black"/>
                </a:solidFill>
                <a:latin typeface="Segoe UI Light" panose="020B0502040204020203" pitchFamily="34" charset="0"/>
              </a:rPr>
              <a:t>100,000</a:t>
            </a:r>
          </a:p>
          <a:p>
            <a:pPr fontAlgn="base">
              <a:spcBef>
                <a:spcPct val="0"/>
              </a:spcBef>
              <a:spcAft>
                <a:spcPct val="0"/>
              </a:spcAft>
            </a:pPr>
            <a:r>
              <a:rPr lang="en-US" sz="1600" dirty="0">
                <a:solidFill>
                  <a:prstClr val="black"/>
                </a:solidFill>
                <a:latin typeface="Segoe UI Light" panose="020B0502040204020203" pitchFamily="34" charset="0"/>
              </a:rPr>
              <a:t>                                                        </a:t>
            </a:r>
            <a:r>
              <a:rPr lang="en-US" sz="1600" dirty="0" smtClean="0">
                <a:solidFill>
                  <a:prstClr val="black"/>
                </a:solidFill>
                <a:latin typeface="Segoe UI Light" panose="020B0502040204020203" pitchFamily="34" charset="0"/>
              </a:rPr>
              <a:t>    ---------------------     </a:t>
            </a:r>
            <a:r>
              <a:rPr lang="en-US" sz="1600" dirty="0">
                <a:solidFill>
                  <a:prstClr val="black"/>
                </a:solidFill>
                <a:latin typeface="Segoe UI Light" panose="020B0502040204020203" pitchFamily="34" charset="0"/>
              </a:rPr>
              <a:t>X   $40,000   </a:t>
            </a:r>
            <a:r>
              <a:rPr lang="en-US" sz="1600" dirty="0" smtClean="0">
                <a:solidFill>
                  <a:prstClr val="black"/>
                </a:solidFill>
                <a:latin typeface="Segoe UI Light" panose="020B0502040204020203" pitchFamily="34" charset="0"/>
              </a:rPr>
              <a:t> -  $250 =  $19,750</a:t>
            </a:r>
            <a:endParaRPr lang="en-US" sz="1600" dirty="0">
              <a:solidFill>
                <a:prstClr val="black"/>
              </a:solidFill>
              <a:latin typeface="Segoe UI Light" panose="020B0502040204020203" pitchFamily="34" charset="0"/>
            </a:endParaRPr>
          </a:p>
          <a:p>
            <a:pPr fontAlgn="base">
              <a:spcBef>
                <a:spcPct val="0"/>
              </a:spcBef>
              <a:spcAft>
                <a:spcPct val="0"/>
              </a:spcAft>
            </a:pPr>
            <a:r>
              <a:rPr lang="en-US" sz="1600" dirty="0">
                <a:solidFill>
                  <a:prstClr val="black"/>
                </a:solidFill>
                <a:latin typeface="Segoe UI Light" panose="020B0502040204020203" pitchFamily="34" charset="0"/>
              </a:rPr>
              <a:t>                                                        </a:t>
            </a:r>
            <a:r>
              <a:rPr lang="en-US" sz="1600" dirty="0" smtClean="0">
                <a:solidFill>
                  <a:prstClr val="black"/>
                </a:solidFill>
                <a:latin typeface="Segoe UI Light" panose="020B0502040204020203" pitchFamily="34" charset="0"/>
              </a:rPr>
              <a:t>      </a:t>
            </a:r>
            <a:r>
              <a:rPr lang="en-US" sz="1600" dirty="0">
                <a:solidFill>
                  <a:prstClr val="black"/>
                </a:solidFill>
                <a:latin typeface="Segoe UI Light" panose="020B0502040204020203" pitchFamily="34" charset="0"/>
              </a:rPr>
              <a:t>(80% of $250,000) </a:t>
            </a:r>
            <a:endParaRPr lang="en-US" sz="1600" dirty="0">
              <a:latin typeface="Segoe UI Light" panose="020B0502040204020203" pitchFamily="34" charset="0"/>
            </a:endParaRPr>
          </a:p>
        </p:txBody>
      </p:sp>
    </p:spTree>
    <p:extLst>
      <p:ext uri="{BB962C8B-B14F-4D97-AF65-F5344CB8AC3E}">
        <p14:creationId xmlns:p14="http://schemas.microsoft.com/office/powerpoint/2010/main" val="17298208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928" y="786180"/>
            <a:ext cx="9804188" cy="264653"/>
          </a:xfrm>
          <a:prstGeom prst="rect">
            <a:avLst/>
          </a:prstGeom>
        </p:spPr>
      </p:pic>
      <p:sp>
        <p:nvSpPr>
          <p:cNvPr id="3" name="TextBox 2"/>
          <p:cNvSpPr txBox="1"/>
          <p:nvPr/>
        </p:nvSpPr>
        <p:spPr>
          <a:xfrm>
            <a:off x="407472" y="96420"/>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sz="3454" dirty="0" smtClean="0">
                <a:solidFill>
                  <a:schemeClr val="tx1"/>
                </a:solidFill>
                <a:latin typeface="Segoe UI Semibold" panose="020B0702040204020203" pitchFamily="34" charset="0"/>
                <a:cs typeface="Segoe UI Semibold" panose="020B0702040204020203" pitchFamily="34" charset="0"/>
              </a:rPr>
              <a:t>Businessowners Policy</a:t>
            </a:r>
            <a:endParaRPr lang="en-US" sz="3454" dirty="0">
              <a:solidFill>
                <a:schemeClr val="tx1"/>
              </a:solidFill>
              <a:latin typeface="Segoe UI Semibold" panose="020B0702040204020203" pitchFamily="34" charset="0"/>
              <a:cs typeface="Segoe UI Semibold" panose="020B0702040204020203" pitchFamily="34" charset="0"/>
            </a:endParaRPr>
          </a:p>
        </p:txBody>
      </p:sp>
      <p:sp>
        <p:nvSpPr>
          <p:cNvPr id="4" name="TextBox 3"/>
          <p:cNvSpPr txBox="1"/>
          <p:nvPr/>
        </p:nvSpPr>
        <p:spPr>
          <a:xfrm>
            <a:off x="541656" y="6596390"/>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5" name="TextBox 4"/>
          <p:cNvSpPr txBox="1"/>
          <p:nvPr/>
        </p:nvSpPr>
        <p:spPr>
          <a:xfrm>
            <a:off x="734096" y="1296252"/>
            <a:ext cx="9504608" cy="748988"/>
          </a:xfrm>
          <a:prstGeom prst="rect">
            <a:avLst/>
          </a:prstGeom>
          <a:noFill/>
        </p:spPr>
        <p:txBody>
          <a:bodyPr wrap="square" rtlCol="0">
            <a:spAutoFit/>
          </a:bodyPr>
          <a:lstStyle/>
          <a:p>
            <a:r>
              <a:rPr lang="en-US" sz="2467" b="1" dirty="0">
                <a:solidFill>
                  <a:srgbClr val="00B0F0"/>
                </a:solidFill>
                <a:latin typeface="Segoe UI Light" panose="020B0502040204020203" pitchFamily="34" charset="0"/>
                <a:cs typeface="Arial" pitchFamily="34" charset="0"/>
              </a:rPr>
              <a:t>BOP Sample </a:t>
            </a:r>
            <a:r>
              <a:rPr lang="en-US" sz="2467" b="1" dirty="0" smtClean="0">
                <a:solidFill>
                  <a:srgbClr val="00B0F0"/>
                </a:solidFill>
                <a:latin typeface="Segoe UI Light" panose="020B0502040204020203" pitchFamily="34" charset="0"/>
                <a:cs typeface="Arial" pitchFamily="34" charset="0"/>
              </a:rPr>
              <a:t>Forms</a:t>
            </a:r>
            <a:endParaRPr lang="en-US" dirty="0" smtClean="0"/>
          </a:p>
          <a:p>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val="1871416916"/>
              </p:ext>
            </p:extLst>
          </p:nvPr>
        </p:nvGraphicFramePr>
        <p:xfrm>
          <a:off x="4572000" y="3303526"/>
          <a:ext cx="914400" cy="771525"/>
        </p:xfrm>
        <a:graphic>
          <a:graphicData uri="http://schemas.openxmlformats.org/presentationml/2006/ole">
            <mc:AlternateContent xmlns:mc="http://schemas.openxmlformats.org/markup-compatibility/2006">
              <mc:Choice xmlns:v="urn:schemas-microsoft-com:vml" Requires="v">
                <p:oleObj spid="_x0000_s1026" name="Acrobat Document" showAsIcon="1" r:id="rId4" imgW="914400" imgH="771480" progId="AcroExch.Document.11">
                  <p:embed/>
                </p:oleObj>
              </mc:Choice>
              <mc:Fallback>
                <p:oleObj name="Acrobat Document" showAsIcon="1" r:id="rId4" imgW="914400" imgH="771480" progId="AcroExch.Document.11">
                  <p:embed/>
                  <p:pic>
                    <p:nvPicPr>
                      <p:cNvPr id="0" name=""/>
                      <p:cNvPicPr/>
                      <p:nvPr/>
                    </p:nvPicPr>
                    <p:blipFill>
                      <a:blip r:embed="rId5"/>
                      <a:stretch>
                        <a:fillRect/>
                      </a:stretch>
                    </p:blipFill>
                    <p:spPr>
                      <a:xfrm>
                        <a:off x="4572000" y="3303526"/>
                        <a:ext cx="914400" cy="771525"/>
                      </a:xfrm>
                      <a:prstGeom prst="rect">
                        <a:avLst/>
                      </a:prstGeom>
                    </p:spPr>
                  </p:pic>
                </p:oleObj>
              </mc:Fallback>
            </mc:AlternateContent>
          </a:graphicData>
        </a:graphic>
      </p:graphicFrame>
      <p:sp>
        <p:nvSpPr>
          <p:cNvPr id="7" name="TextBox 6"/>
          <p:cNvSpPr txBox="1"/>
          <p:nvPr/>
        </p:nvSpPr>
        <p:spPr>
          <a:xfrm>
            <a:off x="4053385" y="4189863"/>
            <a:ext cx="2045496" cy="369332"/>
          </a:xfrm>
          <a:prstGeom prst="rect">
            <a:avLst/>
          </a:prstGeom>
          <a:noFill/>
        </p:spPr>
        <p:txBody>
          <a:bodyPr wrap="none" rtlCol="0">
            <a:spAutoFit/>
          </a:bodyPr>
          <a:lstStyle/>
          <a:p>
            <a:r>
              <a:rPr lang="en-US" dirty="0" smtClean="0"/>
              <a:t>BOP Coverage Form</a:t>
            </a:r>
            <a:endParaRPr lang="en-US" dirty="0"/>
          </a:p>
        </p:txBody>
      </p:sp>
    </p:spTree>
    <p:extLst>
      <p:ext uri="{BB962C8B-B14F-4D97-AF65-F5344CB8AC3E}">
        <p14:creationId xmlns:p14="http://schemas.microsoft.com/office/powerpoint/2010/main" val="16234698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1390" y="640860"/>
            <a:ext cx="9804188" cy="264653"/>
          </a:xfrm>
          <a:prstGeom prst="rect">
            <a:avLst/>
          </a:prstGeom>
        </p:spPr>
      </p:pic>
      <p:sp>
        <p:nvSpPr>
          <p:cNvPr id="6" name="TextBox 5"/>
          <p:cNvSpPr txBox="1"/>
          <p:nvPr/>
        </p:nvSpPr>
        <p:spPr>
          <a:xfrm>
            <a:off x="173462" y="6493359"/>
            <a:ext cx="11191741" cy="261610"/>
          </a:xfrm>
          <a:prstGeom prst="rect">
            <a:avLst/>
          </a:prstGeom>
          <a:noFill/>
        </p:spPr>
        <p:txBody>
          <a:bodyPr wrap="square" rtlCol="0">
            <a:spAutoFit/>
          </a:bodyPr>
          <a:lstStyle/>
          <a:p>
            <a:r>
              <a:rPr lang="en-IN" sz="1100" dirty="0" smtClean="0"/>
              <a:t>Note: All Information contained herein is proprietary &amp; confidential material of ValueMomentum Inc. All rights are reserved.  </a:t>
            </a:r>
            <a:endParaRPr lang="en-IN" sz="1100" dirty="0"/>
          </a:p>
        </p:txBody>
      </p:sp>
      <p:sp>
        <p:nvSpPr>
          <p:cNvPr id="8" name="Rectangle 7"/>
          <p:cNvSpPr/>
          <p:nvPr/>
        </p:nvSpPr>
        <p:spPr>
          <a:xfrm>
            <a:off x="3971189" y="2967335"/>
            <a:ext cx="4249626" cy="1015663"/>
          </a:xfrm>
          <a:prstGeom prst="rect">
            <a:avLst/>
          </a:prstGeom>
          <a:noFill/>
        </p:spPr>
        <p:txBody>
          <a:bodyPr wrap="none" lIns="91440" tIns="45720" rIns="91440" bIns="45720">
            <a:spAutoFit/>
          </a:bodyPr>
          <a:lstStyle/>
          <a:p>
            <a:pPr algn="ctr"/>
            <a:r>
              <a:rPr lang="en-US" sz="60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60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4623923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14610</TotalTime>
  <Words>1051</Words>
  <Application>Microsoft Office PowerPoint</Application>
  <PresentationFormat>Widescreen</PresentationFormat>
  <Paragraphs>154</Paragraphs>
  <Slides>13</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Calibri Light</vt:lpstr>
      <vt:lpstr>Courier New</vt:lpstr>
      <vt:lpstr>Segoe UI</vt:lpstr>
      <vt:lpstr>Segoe UI Light</vt:lpstr>
      <vt:lpstr>Segoe UI Semibold</vt:lpstr>
      <vt:lpstr>Wingdings</vt:lpstr>
      <vt:lpstr>Office Theme</vt:lpstr>
      <vt:lpstr>Adobe Acrobat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Avinash Kumar Singh</cp:lastModifiedBy>
  <cp:revision>56</cp:revision>
  <dcterms:created xsi:type="dcterms:W3CDTF">2016-07-06T01:57:31Z</dcterms:created>
  <dcterms:modified xsi:type="dcterms:W3CDTF">2019-03-28T12:13:03Z</dcterms:modified>
</cp:coreProperties>
</file>
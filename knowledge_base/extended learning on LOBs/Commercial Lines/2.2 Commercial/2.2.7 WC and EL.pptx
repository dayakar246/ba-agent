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3" r:id="rId2"/>
    <p:sldId id="265" r:id="rId3"/>
    <p:sldId id="286" r:id="rId4"/>
    <p:sldId id="274" r:id="rId5"/>
    <p:sldId id="275" r:id="rId6"/>
    <p:sldId id="276" r:id="rId7"/>
    <p:sldId id="277" r:id="rId8"/>
    <p:sldId id="287" r:id="rId9"/>
    <p:sldId id="280" r:id="rId10"/>
    <p:sldId id="281" r:id="rId11"/>
    <p:sldId id="282" r:id="rId12"/>
    <p:sldId id="283"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94660"/>
  </p:normalViewPr>
  <p:slideViewPr>
    <p:cSldViewPr snapToGrid="0">
      <p:cViewPr varScale="1">
        <p:scale>
          <a:sx n="70" d="100"/>
          <a:sy n="70" d="100"/>
        </p:scale>
        <p:origin x="69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C6F6F8-1AC0-4D01-BEA1-308F81A1BEC2}" type="datetimeFigureOut">
              <a:rPr lang="en-US" smtClean="0"/>
              <a:t>3/28/2019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A57691-B56D-4694-A91B-D15F3ED3C037}" type="slidenum">
              <a:rPr lang="en-US" smtClean="0"/>
              <a:t>‹#›</a:t>
            </a:fld>
            <a:endParaRPr lang="en-US"/>
          </a:p>
        </p:txBody>
      </p:sp>
    </p:spTree>
    <p:extLst>
      <p:ext uri="{BB962C8B-B14F-4D97-AF65-F5344CB8AC3E}">
        <p14:creationId xmlns:p14="http://schemas.microsoft.com/office/powerpoint/2010/main" val="1344751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youtu.be/spL7QoQ5T_8"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youtu.be/TFp7-8x1fno"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hlinkClick r:id="rId3"/>
              </a:rPr>
              <a:t>https://youtu.be/spL7QoQ5T_8</a:t>
            </a:r>
            <a:endParaRPr lang="en-IN" dirty="0" smtClean="0"/>
          </a:p>
          <a:p>
            <a:r>
              <a:rPr lang="en-IN" dirty="0" smtClean="0"/>
              <a:t>https://howmuch.net/costs/workers-compensation</a:t>
            </a:r>
          </a:p>
          <a:p>
            <a:r>
              <a:rPr lang="en-IN" smtClean="0"/>
              <a:t>https://www.allianz.com.au/business/workers-compensation/</a:t>
            </a:r>
            <a:endParaRPr lang="en-IN" dirty="0" smtClean="0"/>
          </a:p>
        </p:txBody>
      </p:sp>
      <p:sp>
        <p:nvSpPr>
          <p:cNvPr id="4" name="Slide Number Placeholder 3"/>
          <p:cNvSpPr>
            <a:spLocks noGrp="1"/>
          </p:cNvSpPr>
          <p:nvPr>
            <p:ph type="sldNum" sz="quarter" idx="10"/>
          </p:nvPr>
        </p:nvSpPr>
        <p:spPr/>
        <p:txBody>
          <a:bodyPr/>
          <a:lstStyle/>
          <a:p>
            <a:fld id="{B7A57691-B56D-4694-A91B-D15F3ED3C037}" type="slidenum">
              <a:rPr lang="en-US" smtClean="0"/>
              <a:t>3</a:t>
            </a:fld>
            <a:endParaRPr lang="en-US"/>
          </a:p>
        </p:txBody>
      </p:sp>
    </p:spTree>
    <p:extLst>
      <p:ext uri="{BB962C8B-B14F-4D97-AF65-F5344CB8AC3E}">
        <p14:creationId xmlns:p14="http://schemas.microsoft.com/office/powerpoint/2010/main" val="3762672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Overexertion arises when one lifts, pulls, pushes or throws something, causing injury. This injury occurs when a </a:t>
            </a:r>
            <a:r>
              <a:rPr lang="en-US" u="sng" dirty="0" smtClean="0"/>
              <a:t>muscle is pulled, or a joint is forced to move beyond its typical range of motion</a:t>
            </a:r>
            <a:r>
              <a:rPr lang="en-US" dirty="0" smtClean="0"/>
              <a:t>. This is most commonly seen in </a:t>
            </a:r>
            <a:r>
              <a:rPr lang="en-US" u="sng" dirty="0" smtClean="0"/>
              <a:t>factory jobs, construction jobs, or jobs where physical labor is necessary</a:t>
            </a:r>
            <a:r>
              <a:rPr lang="en-US" dirty="0" smtClean="0"/>
              <a:t>. This is also commonly seen in police officers. This is the most common injury seen in the workplace, according to a study from the Department of Labor.</a:t>
            </a:r>
          </a:p>
          <a:p>
            <a:r>
              <a:rPr lang="en-US" dirty="0" smtClean="0"/>
              <a:t>2) Slip or Trip and Falls</a:t>
            </a:r>
          </a:p>
          <a:p>
            <a:endParaRPr lang="en-US" dirty="0" smtClean="0"/>
          </a:p>
          <a:p>
            <a:r>
              <a:rPr lang="en-US" dirty="0" smtClean="0"/>
              <a:t>Many of the slip, trip, and fall claims arise from </a:t>
            </a:r>
            <a:r>
              <a:rPr lang="en-US" u="sng" dirty="0" smtClean="0"/>
              <a:t>workers slipping on wet floors around the workplace</a:t>
            </a:r>
            <a:r>
              <a:rPr lang="en-US" dirty="0" smtClean="0"/>
              <a:t>. Many of these cases are also related to </a:t>
            </a:r>
            <a:r>
              <a:rPr lang="en-US" u="sng" dirty="0" smtClean="0"/>
              <a:t>individuals slipping and falling on snowy walkways</a:t>
            </a:r>
            <a:r>
              <a:rPr lang="en-US" dirty="0" smtClean="0"/>
              <a:t>. Many </a:t>
            </a:r>
            <a:r>
              <a:rPr lang="en-US" u="sng" dirty="0" smtClean="0"/>
              <a:t>security workers, groundskeepers, and store clerks</a:t>
            </a:r>
            <a:r>
              <a:rPr lang="en-US" dirty="0" smtClean="0"/>
              <a:t> can fall victim to wet floors such as in a store with a freshly mopped floor, or a groundskeeper walking around the perimeter of the building.</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smtClean="0"/>
          </a:p>
          <a:p>
            <a:endParaRPr lang="en-IN" dirty="0"/>
          </a:p>
        </p:txBody>
      </p:sp>
      <p:sp>
        <p:nvSpPr>
          <p:cNvPr id="4" name="Slide Number Placeholder 3"/>
          <p:cNvSpPr>
            <a:spLocks noGrp="1"/>
          </p:cNvSpPr>
          <p:nvPr>
            <p:ph type="sldNum" sz="quarter" idx="10"/>
          </p:nvPr>
        </p:nvSpPr>
        <p:spPr/>
        <p:txBody>
          <a:bodyPr/>
          <a:lstStyle/>
          <a:p>
            <a:fld id="{B7A57691-B56D-4694-A91B-D15F3ED3C037}" type="slidenum">
              <a:rPr lang="en-US" smtClean="0"/>
              <a:t>4</a:t>
            </a:fld>
            <a:endParaRPr lang="en-US"/>
          </a:p>
        </p:txBody>
      </p:sp>
    </p:spTree>
    <p:extLst>
      <p:ext uri="{BB962C8B-B14F-4D97-AF65-F5344CB8AC3E}">
        <p14:creationId xmlns:p14="http://schemas.microsoft.com/office/powerpoint/2010/main" val="3305413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 Machinery Accidents</a:t>
            </a:r>
          </a:p>
          <a:p>
            <a:r>
              <a:rPr lang="en-US" dirty="0" smtClean="0"/>
              <a:t>Machinery accidents are typically reported in cases where large, heavy machinery has injured a worker by crushing or mutilating. Most commonly seen in factories or construction workers, these accidents can have huge medical cost ramifications. Many states have enacted laws that require training for employees before allowing them to operate equipment, along with maintenance requirements for machinery to keep it in a safe working state. Keeping employees knowledgeable on equipment, along with keeping that equipment maintained are two important factors in protecting employees from injury.</a:t>
            </a:r>
          </a:p>
          <a:p>
            <a:r>
              <a:rPr lang="en-US" dirty="0" smtClean="0"/>
              <a:t>9) Repetitive Motion</a:t>
            </a:r>
          </a:p>
          <a:p>
            <a:endParaRPr lang="en-US" dirty="0" smtClean="0"/>
          </a:p>
          <a:p>
            <a:r>
              <a:rPr lang="en-US" dirty="0" smtClean="0"/>
              <a:t>A repetitive injury is hard to pin-point, but is harder to prove. These injuries stem from workers doing the same motions over and over. Some examples of repetitive motion injuries can include using a mouse, sitting, lifting boxes, and working on an assembly line. Medically speaking, common injuries from repetitive or cumulative motions are tendonitis, carpal tunnel, and bursitis.</a:t>
            </a:r>
          </a:p>
          <a:p>
            <a:r>
              <a:rPr lang="en-US" dirty="0" smtClean="0"/>
              <a:t>10) Workplace violence</a:t>
            </a:r>
          </a:p>
          <a:p>
            <a:endParaRPr lang="en-US" dirty="0" smtClean="0"/>
          </a:p>
          <a:p>
            <a:r>
              <a:rPr lang="en-US" dirty="0" smtClean="0"/>
              <a:t>According to preliminary data from the Bureau of Labor Statistics, "375 workers were killed in shootings while on the job in 2012. Robbers were the assailants in 33 percent of the workplace homicides involving shootings in 2012, while coworkers accounted for 13 percent. There were two incidents in 2012 where at least 5 people were killed in workplace shootings; a total of 12 workers died in these two incidents. From 1992 to 2012, 140 government workers were shot and killed by a coworker while on the job." While nobody expects violence in the workplace, it does happen.</a:t>
            </a:r>
          </a:p>
          <a:p>
            <a:endParaRPr lang="en-IN" dirty="0"/>
          </a:p>
        </p:txBody>
      </p:sp>
      <p:sp>
        <p:nvSpPr>
          <p:cNvPr id="4" name="Slide Number Placeholder 3"/>
          <p:cNvSpPr>
            <a:spLocks noGrp="1"/>
          </p:cNvSpPr>
          <p:nvPr>
            <p:ph type="sldNum" sz="quarter" idx="10"/>
          </p:nvPr>
        </p:nvSpPr>
        <p:spPr/>
        <p:txBody>
          <a:bodyPr/>
          <a:lstStyle/>
          <a:p>
            <a:fld id="{B7A57691-B56D-4694-A91B-D15F3ED3C037}" type="slidenum">
              <a:rPr lang="en-US" smtClean="0"/>
              <a:t>6</a:t>
            </a:fld>
            <a:endParaRPr lang="en-US"/>
          </a:p>
        </p:txBody>
      </p:sp>
    </p:spTree>
    <p:extLst>
      <p:ext uri="{BB962C8B-B14F-4D97-AF65-F5344CB8AC3E}">
        <p14:creationId xmlns:p14="http://schemas.microsoft.com/office/powerpoint/2010/main" val="238110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Workers Comp- A state-sponsored system that pays monetary benefits to workers who become injured or disabled in the course of their employment. Sick pay may qualify as workers' compensation under certain conditions.</a:t>
            </a:r>
            <a:br>
              <a:rPr lang="en-US" dirty="0" smtClean="0"/>
            </a:br>
            <a:r>
              <a:rPr lang="en-US" dirty="0" smtClean="0"/>
              <a:t>Workers' compensation should not be confused with disability insurance or unemployment income; it only pays workers who are injured on the job, while disability insurance pays out regardless of when or where the insured is injured or disabled. Workers' compensation also does not cover unemployment. Unlike unemployment income or disability benefits, workers' compensation is always tax-free.</a:t>
            </a:r>
            <a:br>
              <a:rPr lang="en-US" dirty="0" smtClean="0"/>
            </a:br>
            <a:endParaRPr lang="en-US" dirty="0" smtClean="0"/>
          </a:p>
          <a:p>
            <a:endParaRPr lang="en-US" dirty="0" smtClean="0"/>
          </a:p>
          <a:p>
            <a:endParaRPr lang="en-IN" dirty="0"/>
          </a:p>
        </p:txBody>
      </p:sp>
      <p:sp>
        <p:nvSpPr>
          <p:cNvPr id="4" name="Slide Number Placeholder 3"/>
          <p:cNvSpPr>
            <a:spLocks noGrp="1"/>
          </p:cNvSpPr>
          <p:nvPr>
            <p:ph type="sldNum" sz="quarter" idx="10"/>
          </p:nvPr>
        </p:nvSpPr>
        <p:spPr/>
        <p:txBody>
          <a:bodyPr/>
          <a:lstStyle/>
          <a:p>
            <a:fld id="{B7A57691-B56D-4694-A91B-D15F3ED3C037}" type="slidenum">
              <a:rPr lang="en-US" smtClean="0"/>
              <a:t>8</a:t>
            </a:fld>
            <a:endParaRPr lang="en-US"/>
          </a:p>
        </p:txBody>
      </p:sp>
    </p:spTree>
    <p:extLst>
      <p:ext uri="{BB962C8B-B14F-4D97-AF65-F5344CB8AC3E}">
        <p14:creationId xmlns:p14="http://schemas.microsoft.com/office/powerpoint/2010/main" val="3644615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smtClean="0">
                <a:hlinkClick r:id="rId3"/>
              </a:rPr>
              <a:t>https://youtu.be/TFp7-8x1fno</a:t>
            </a:r>
            <a:endParaRPr lang="en-IN" dirty="0" smtClean="0"/>
          </a:p>
          <a:p>
            <a:endParaRPr lang="en-US" dirty="0"/>
          </a:p>
        </p:txBody>
      </p:sp>
      <p:sp>
        <p:nvSpPr>
          <p:cNvPr id="4" name="Slide Number Placeholder 3"/>
          <p:cNvSpPr>
            <a:spLocks noGrp="1"/>
          </p:cNvSpPr>
          <p:nvPr>
            <p:ph type="sldNum" sz="quarter" idx="10"/>
          </p:nvPr>
        </p:nvSpPr>
        <p:spPr/>
        <p:txBody>
          <a:bodyPr/>
          <a:lstStyle/>
          <a:p>
            <a:fld id="{B7A57691-B56D-4694-A91B-D15F3ED3C037}" type="slidenum">
              <a:rPr lang="en-US" smtClean="0"/>
              <a:t>10</a:t>
            </a:fld>
            <a:endParaRPr lang="en-US"/>
          </a:p>
        </p:txBody>
      </p:sp>
    </p:spTree>
    <p:extLst>
      <p:ext uri="{BB962C8B-B14F-4D97-AF65-F5344CB8AC3E}">
        <p14:creationId xmlns:p14="http://schemas.microsoft.com/office/powerpoint/2010/main" val="4063033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 product for employers that protects them from major financial loss if a worker experiences a job-related injury or illness that workers compensation doesn’t cover</a:t>
            </a:r>
          </a:p>
          <a:p>
            <a:endParaRPr lang="en-IN" dirty="0"/>
          </a:p>
        </p:txBody>
      </p:sp>
      <p:sp>
        <p:nvSpPr>
          <p:cNvPr id="4" name="Slide Number Placeholder 3"/>
          <p:cNvSpPr>
            <a:spLocks noGrp="1"/>
          </p:cNvSpPr>
          <p:nvPr>
            <p:ph type="sldNum" sz="quarter" idx="10"/>
          </p:nvPr>
        </p:nvSpPr>
        <p:spPr/>
        <p:txBody>
          <a:bodyPr/>
          <a:lstStyle/>
          <a:p>
            <a:fld id="{B7A57691-B56D-4694-A91B-D15F3ED3C037}" type="slidenum">
              <a:rPr lang="en-US" smtClean="0"/>
              <a:t>11</a:t>
            </a:fld>
            <a:endParaRPr lang="en-US"/>
          </a:p>
        </p:txBody>
      </p:sp>
    </p:spTree>
    <p:extLst>
      <p:ext uri="{BB962C8B-B14F-4D97-AF65-F5344CB8AC3E}">
        <p14:creationId xmlns:p14="http://schemas.microsoft.com/office/powerpoint/2010/main" val="2835726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529491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1712084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1892865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A57FDC6-F59E-4632-8367-1ACF8DB7596C}"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634795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A57FDC6-F59E-4632-8367-1ACF8DB7596C}" type="datetimeFigureOut">
              <a:rPr lang="en-US" smtClean="0"/>
              <a:t>3/28/2019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48703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A57FDC6-F59E-4632-8367-1ACF8DB7596C}" type="datetimeFigureOut">
              <a:rPr lang="en-US" smtClean="0"/>
              <a:t>3/28/2019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885282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57FDC6-F59E-4632-8367-1ACF8DB7596C}" type="datetimeFigureOut">
              <a:rPr lang="en-US" smtClean="0"/>
              <a:t>3/28/2019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0482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57FDC6-F59E-4632-8367-1ACF8DB7596C}"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858063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57FDC6-F59E-4632-8367-1ACF8DB7596C}"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578773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788709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4165847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305821"/>
      </p:ext>
    </p:extLst>
  </p:cSld>
  <p:clrMapOvr>
    <a:masterClrMapping/>
  </p:clrMapOvr>
  <p:transition>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4439"/>
          </a:xfrm>
          <a:prstGeom prst="rect">
            <a:avLst/>
          </a:prstGeom>
          <a:noFill/>
        </p:spPr>
        <p:txBody>
          <a:bodyPr wrap="square" rtlCol="0">
            <a:spAutoFit/>
          </a:bodyPr>
          <a:lstStyle/>
          <a:p>
            <a:fld id="{65B66DB6-D71E-4B3E-9AE0-4919FDE04E8D}" type="slidenum">
              <a:rPr lang="en-US" sz="1776" smtClean="0">
                <a:solidFill>
                  <a:schemeClr val="tx1"/>
                </a:solidFill>
              </a:rPr>
              <a:t>‹#›</a:t>
            </a:fld>
            <a:endParaRPr lang="en-US" sz="1776" dirty="0">
              <a:solidFill>
                <a:schemeClr val="tx1"/>
              </a:solidFill>
            </a:endParaRP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2468" y="195809"/>
            <a:ext cx="1227358" cy="1083176"/>
          </a:xfrm>
          <a:prstGeom prst="rect">
            <a:avLst/>
          </a:prstGeom>
        </p:spPr>
      </p:pic>
    </p:spTree>
    <p:extLst>
      <p:ext uri="{BB962C8B-B14F-4D97-AF65-F5344CB8AC3E}">
        <p14:creationId xmlns:p14="http://schemas.microsoft.com/office/powerpoint/2010/main" val="2625624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57FDC6-F59E-4632-8367-1ACF8DB7596C}" type="datetimeFigureOut">
              <a:rPr lang="en-US" smtClean="0"/>
              <a:t>3/28/2019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CE6AAB-77F3-4DB9-8673-65DEA91D1CFB}" type="slidenum">
              <a:rPr lang="en-US" smtClean="0"/>
              <a:t>‹#›</a:t>
            </a:fld>
            <a:endParaRPr lang="en-US"/>
          </a:p>
        </p:txBody>
      </p:sp>
    </p:spTree>
    <p:extLst>
      <p:ext uri="{BB962C8B-B14F-4D97-AF65-F5344CB8AC3E}">
        <p14:creationId xmlns:p14="http://schemas.microsoft.com/office/powerpoint/2010/main" val="428602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016" y="729154"/>
            <a:ext cx="4342251" cy="3835655"/>
          </a:xfrm>
          <a:prstGeom prst="rect">
            <a:avLst/>
          </a:prstGeom>
        </p:spPr>
      </p:pic>
      <p:sp>
        <p:nvSpPr>
          <p:cNvPr id="5" name="TextBox 4"/>
          <p:cNvSpPr txBox="1"/>
          <p:nvPr/>
        </p:nvSpPr>
        <p:spPr>
          <a:xfrm>
            <a:off x="1559868" y="4945488"/>
            <a:ext cx="9298546" cy="1169551"/>
          </a:xfrm>
          <a:prstGeom prst="rect">
            <a:avLst/>
          </a:prstGeom>
          <a:noFill/>
        </p:spPr>
        <p:txBody>
          <a:bodyPr wrap="square" rtlCol="0">
            <a:spAutoFit/>
          </a:bodyPr>
          <a:lstStyle/>
          <a:p>
            <a:pPr algn="ctr"/>
            <a:r>
              <a:rPr lang="en-US" sz="3500" dirty="0" smtClean="0">
                <a:latin typeface="Segoe UI Semibold" panose="020B0702040204020203" pitchFamily="34" charset="0"/>
                <a:cs typeface="Segoe UI Semibold" panose="020B0702040204020203" pitchFamily="34" charset="0"/>
              </a:rPr>
              <a:t>Workers Compensation and Employers Liability Insurance </a:t>
            </a:r>
            <a:endParaRPr lang="en-US" sz="3500" dirty="0">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48196187"/>
      </p:ext>
    </p:extLst>
  </p:cSld>
  <p:clrMapOvr>
    <a:masterClrMapping/>
  </p:clrMapOvr>
  <p:transition>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8" name="TextBox 7"/>
          <p:cNvSpPr txBox="1"/>
          <p:nvPr/>
        </p:nvSpPr>
        <p:spPr>
          <a:xfrm>
            <a:off x="5569" y="-794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endParaRPr lang="en-US" altLang="en-US" sz="3454" dirty="0">
              <a:solidFill>
                <a:schemeClr val="tx1"/>
              </a:solidFill>
              <a:latin typeface="Segoe UI Semibold" panose="020B0702040204020203" pitchFamily="34" charset="0"/>
              <a:cs typeface="Segoe UI Semibold" panose="020B0702040204020203" pitchFamily="34" charset="0"/>
            </a:endParaRPr>
          </a:p>
        </p:txBody>
      </p:sp>
      <p:sp>
        <p:nvSpPr>
          <p:cNvPr id="2" name="TextBox 1"/>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13" name="TextBox 12"/>
          <p:cNvSpPr txBox="1"/>
          <p:nvPr/>
        </p:nvSpPr>
        <p:spPr>
          <a:xfrm>
            <a:off x="391059" y="85044"/>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454" dirty="0" smtClean="0">
                <a:solidFill>
                  <a:schemeClr val="tx1"/>
                </a:solidFill>
                <a:latin typeface="Segoe UI Semibold" panose="020B0702040204020203" pitchFamily="34" charset="0"/>
                <a:cs typeface="Segoe UI Semibold" panose="020B0702040204020203" pitchFamily="34" charset="0"/>
              </a:rPr>
              <a:t>Objectives	</a:t>
            </a:r>
            <a:endParaRPr lang="en-US" altLang="en-US" sz="3454" dirty="0">
              <a:solidFill>
                <a:schemeClr val="tx1"/>
              </a:solidFill>
              <a:latin typeface="Segoe UI Semibold" panose="020B0702040204020203" pitchFamily="34" charset="0"/>
              <a:cs typeface="Segoe UI Semibold" panose="020B0702040204020203" pitchFamily="34" charset="0"/>
            </a:endParaRPr>
          </a:p>
        </p:txBody>
      </p:sp>
      <p:sp>
        <p:nvSpPr>
          <p:cNvPr id="14" name="TextBox 13"/>
          <p:cNvSpPr txBox="1"/>
          <p:nvPr/>
        </p:nvSpPr>
        <p:spPr>
          <a:xfrm>
            <a:off x="1222690" y="1935443"/>
            <a:ext cx="9474003" cy="2800767"/>
          </a:xfrm>
          <a:prstGeom prst="rect">
            <a:avLst/>
          </a:prstGeom>
          <a:noFill/>
        </p:spPr>
        <p:txBody>
          <a:bodyPr wrap="square" rtlCol="0">
            <a:spAutoFit/>
          </a:bodyPr>
          <a:lstStyle/>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a:t>
            </a:r>
            <a:r>
              <a:rPr lang="en-US" sz="2200" dirty="0" smtClean="0">
                <a:latin typeface="Segoe UI Light" panose="020B0502040204020203" pitchFamily="34" charset="0"/>
                <a:cs typeface="Arial" pitchFamily="34" charset="0"/>
              </a:rPr>
              <a:t>provide </a:t>
            </a:r>
            <a:r>
              <a:rPr lang="en-US" sz="2200" dirty="0">
                <a:latin typeface="Segoe UI Light" panose="020B0502040204020203" pitchFamily="34" charset="0"/>
                <a:cs typeface="Arial" pitchFamily="34" charset="0"/>
              </a:rPr>
              <a:t>an overview </a:t>
            </a:r>
            <a:r>
              <a:rPr lang="en-US" sz="2200" dirty="0" smtClean="0">
                <a:latin typeface="Segoe UI Light" panose="020B0502040204020203" pitchFamily="34" charset="0"/>
                <a:cs typeface="Arial" pitchFamily="34" charset="0"/>
              </a:rPr>
              <a:t>of loss exposures faced with </a:t>
            </a:r>
            <a:r>
              <a:rPr lang="en-US" sz="2200" dirty="0" smtClean="0">
                <a:latin typeface="Segoe UI Light" panose="020B0502040204020203" pitchFamily="34" charset="0"/>
                <a:cs typeface="Arial" pitchFamily="34" charset="0"/>
              </a:rPr>
              <a:t>employees</a:t>
            </a:r>
          </a:p>
          <a:p>
            <a:pPr marL="285750" indent="-285750" algn="just">
              <a:buFont typeface="Arial" panose="020B0604020202020204" pitchFamily="34" charset="0"/>
              <a:buChar char="•"/>
            </a:pPr>
            <a:endParaRPr lang="en-US" sz="2200" dirty="0" smtClean="0">
              <a:latin typeface="Segoe UI Light" panose="020B0502040204020203" pitchFamily="34" charset="0"/>
              <a:cs typeface="Arial" pitchFamily="34" charset="0"/>
            </a:endParaRPr>
          </a:p>
          <a:p>
            <a:pPr marL="285750" indent="-285750" algn="just">
              <a:buFont typeface="Arial" panose="020B0604020202020204" pitchFamily="34" charset="0"/>
              <a:buChar char="•"/>
            </a:pPr>
            <a:r>
              <a:rPr lang="en-US" sz="2200" dirty="0" smtClean="0">
                <a:latin typeface="Segoe UI Light" panose="020B0502040204020203" pitchFamily="34" charset="0"/>
                <a:cs typeface="Arial" pitchFamily="34" charset="0"/>
              </a:rPr>
              <a:t>To understand the scenarios which can create WC  and EL </a:t>
            </a:r>
            <a:r>
              <a:rPr lang="en-US" sz="2200" dirty="0" smtClean="0">
                <a:latin typeface="Segoe UI Light" panose="020B0502040204020203" pitchFamily="34" charset="0"/>
                <a:cs typeface="Arial" pitchFamily="34" charset="0"/>
              </a:rPr>
              <a:t>claims</a:t>
            </a:r>
          </a:p>
          <a:p>
            <a:pPr marL="285750" indent="-285750" algn="just">
              <a:buFont typeface="Arial" panose="020B0604020202020204" pitchFamily="34" charset="0"/>
              <a:buChar char="•"/>
            </a:pPr>
            <a:endParaRPr lang="en-US" sz="2200" dirty="0" smtClean="0">
              <a:latin typeface="Segoe UI Light" panose="020B0502040204020203" pitchFamily="34" charset="0"/>
              <a:cs typeface="Arial" pitchFamily="34" charset="0"/>
            </a:endParaRP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overview of </a:t>
            </a:r>
            <a:r>
              <a:rPr lang="en-US" sz="2200" dirty="0" smtClean="0">
                <a:latin typeface="Segoe UI Light" panose="020B0502040204020203" pitchFamily="34" charset="0"/>
                <a:cs typeface="Arial" pitchFamily="34" charset="0"/>
              </a:rPr>
              <a:t>coverages and benefits </a:t>
            </a:r>
            <a:r>
              <a:rPr lang="en-US" sz="2200" dirty="0">
                <a:latin typeface="Segoe UI Light" panose="020B0502040204020203" pitchFamily="34" charset="0"/>
                <a:cs typeface="Arial" pitchFamily="34" charset="0"/>
              </a:rPr>
              <a:t>offered as part of workers’ compensation and employers’ liability </a:t>
            </a:r>
            <a:r>
              <a:rPr lang="en-US" sz="2200" dirty="0" smtClean="0">
                <a:latin typeface="Segoe UI Light" panose="020B0502040204020203" pitchFamily="34" charset="0"/>
                <a:cs typeface="Arial" pitchFamily="34" charset="0"/>
              </a:rPr>
              <a:t>insurance</a:t>
            </a:r>
          </a:p>
          <a:p>
            <a:pPr marL="285750" indent="-285750" algn="just">
              <a:buFont typeface="Arial" panose="020B0604020202020204" pitchFamily="34" charset="0"/>
              <a:buChar char="•"/>
            </a:pPr>
            <a:endParaRPr lang="en-US" sz="2200" dirty="0" smtClean="0">
              <a:latin typeface="Segoe UI Light" panose="020B0502040204020203" pitchFamily="34" charset="0"/>
              <a:cs typeface="Arial" pitchFamily="34" charset="0"/>
            </a:endParaRPr>
          </a:p>
          <a:p>
            <a:pPr marL="285750" indent="-285750" algn="just">
              <a:buFont typeface="Arial" panose="020B0604020202020204" pitchFamily="34" charset="0"/>
              <a:buChar char="•"/>
            </a:pPr>
            <a:r>
              <a:rPr lang="en-US" sz="2200" dirty="0" smtClean="0">
                <a:latin typeface="Segoe UI Light" panose="020B0502040204020203" pitchFamily="34" charset="0"/>
                <a:cs typeface="Arial" pitchFamily="34" charset="0"/>
              </a:rPr>
              <a:t>To understand what types of losses are excluded in the WC </a:t>
            </a:r>
            <a:r>
              <a:rPr lang="en-US" sz="2200" dirty="0" smtClean="0">
                <a:latin typeface="Segoe UI Light" panose="020B0502040204020203" pitchFamily="34" charset="0"/>
                <a:cs typeface="Arial" pitchFamily="34" charset="0"/>
              </a:rPr>
              <a:t>policy</a:t>
            </a:r>
            <a:endParaRPr lang="en-US" sz="2200" dirty="0">
              <a:latin typeface="Segoe UI Light" panose="020B0502040204020203" pitchFamily="34" charset="0"/>
              <a:cs typeface="Arial" pitchFamily="34" charset="0"/>
            </a:endParaRPr>
          </a:p>
        </p:txBody>
      </p:sp>
    </p:spTree>
    <p:extLst>
      <p:ext uri="{BB962C8B-B14F-4D97-AF65-F5344CB8AC3E}">
        <p14:creationId xmlns:p14="http://schemas.microsoft.com/office/powerpoint/2010/main" val="4145113748"/>
      </p:ext>
    </p:extLst>
  </p:cSld>
  <p:clrMapOvr>
    <a:masterClrMapping/>
  </p:clrMapOvr>
  <p:transition>
    <p:fade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3" name="TextBox 2"/>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pic>
        <p:nvPicPr>
          <p:cNvPr id="5" name="Picture 2" descr="E:\Documents and Settings\ankurkumar\Desktop\construction-worker.jpg"/>
          <p:cNvPicPr>
            <a:picLocks noChangeAspect="1" noChangeArrowheads="1"/>
          </p:cNvPicPr>
          <p:nvPr/>
        </p:nvPicPr>
        <p:blipFill>
          <a:blip r:embed="rId4" cstate="print"/>
          <a:srcRect/>
          <a:stretch>
            <a:fillRect/>
          </a:stretch>
        </p:blipFill>
        <p:spPr bwMode="auto">
          <a:xfrm>
            <a:off x="7552899" y="3758821"/>
            <a:ext cx="2860343" cy="2624785"/>
          </a:xfrm>
          <a:prstGeom prst="rect">
            <a:avLst/>
          </a:prstGeom>
          <a:noFill/>
        </p:spPr>
      </p:pic>
      <p:sp>
        <p:nvSpPr>
          <p:cNvPr id="6" name="TextBox 5"/>
          <p:cNvSpPr txBox="1"/>
          <p:nvPr/>
        </p:nvSpPr>
        <p:spPr>
          <a:xfrm>
            <a:off x="792480" y="1143001"/>
            <a:ext cx="10088880" cy="2795637"/>
          </a:xfrm>
          <a:prstGeom prst="rect">
            <a:avLst/>
          </a:prstGeom>
          <a:noFill/>
        </p:spPr>
        <p:txBody>
          <a:bodyPr wrap="square" rtlCol="0">
            <a:spAutoFit/>
          </a:bodyPr>
          <a:lstStyle/>
          <a:p>
            <a:pPr>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smtClean="0">
                <a:latin typeface="Arial" pitchFamily="34" charset="0"/>
                <a:cs typeface="Arial" pitchFamily="34" charset="0"/>
              </a:rPr>
              <a:t> </a:t>
            </a:r>
            <a:endParaRPr lang="en-IN" sz="1600" dirty="0">
              <a:latin typeface="Arial" pitchFamily="34" charset="0"/>
              <a:cs typeface="Arial" pitchFamily="34" charset="0"/>
            </a:endParaRPr>
          </a:p>
          <a:p>
            <a:pPr>
              <a:lnSpc>
                <a:spcPct val="80000"/>
              </a:lnSpc>
              <a:spcBef>
                <a:spcPts val="592"/>
              </a:spcBef>
              <a:spcAft>
                <a:spcPts val="592"/>
              </a:spcAft>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2000" dirty="0">
                <a:latin typeface="Segoe UI Light" panose="020B0502040204020203" pitchFamily="34" charset="0"/>
                <a:cs typeface="Arial" pitchFamily="34" charset="0"/>
              </a:rPr>
              <a:t>Workers Compensation and EL Insurance responds to two basic loss exposure faced by employer: </a:t>
            </a:r>
          </a:p>
          <a:p>
            <a:pPr marL="285750" indent="-285750" algn="just">
              <a:lnSpc>
                <a:spcPct val="80000"/>
              </a:lnSpc>
              <a:spcBef>
                <a:spcPts val="450"/>
              </a:spcBef>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2000" dirty="0">
              <a:latin typeface="Arial" pitchFamily="34" charset="0"/>
              <a:cs typeface="Arial" pitchFamily="34" charset="0"/>
            </a:endParaRPr>
          </a:p>
          <a:p>
            <a:pPr marL="794065" lvl="2" indent="-342900">
              <a:lnSpc>
                <a:spcPct val="80000"/>
              </a:lnSpc>
              <a:spcBef>
                <a:spcPts val="592"/>
              </a:spcBef>
              <a:spcAft>
                <a:spcPts val="592"/>
              </a:spcAft>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2000" dirty="0">
                <a:latin typeface="Segoe UI Light" panose="020B0502040204020203" pitchFamily="34" charset="0"/>
                <a:cs typeface="Arial" pitchFamily="34" charset="0"/>
              </a:rPr>
              <a:t> </a:t>
            </a:r>
            <a:r>
              <a:rPr lang="en-IN" sz="2000" dirty="0" smtClean="0">
                <a:latin typeface="Segoe UI Light" panose="020B0502040204020203" pitchFamily="34" charset="0"/>
                <a:cs typeface="Arial" pitchFamily="34" charset="0"/>
              </a:rPr>
              <a:t>The </a:t>
            </a:r>
            <a:r>
              <a:rPr lang="en-IN" sz="2000" dirty="0">
                <a:latin typeface="Segoe UI Light" panose="020B0502040204020203" pitchFamily="34" charset="0"/>
                <a:cs typeface="Arial" pitchFamily="34" charset="0"/>
              </a:rPr>
              <a:t>legal responsibility  to pay benefits to employees as required by state workers compensation statutes</a:t>
            </a:r>
            <a:r>
              <a:rPr lang="en-IN" sz="2000" dirty="0" smtClean="0">
                <a:latin typeface="Segoe UI Light" panose="020B0502040204020203" pitchFamily="34" charset="0"/>
                <a:cs typeface="Arial" pitchFamily="34" charset="0"/>
              </a:rPr>
              <a:t>.</a:t>
            </a:r>
            <a:endParaRPr lang="en-IN" sz="2000" dirty="0">
              <a:latin typeface="Segoe UI Light" panose="020B0502040204020203" pitchFamily="34" charset="0"/>
              <a:cs typeface="Arial" pitchFamily="34" charset="0"/>
            </a:endParaRPr>
          </a:p>
          <a:p>
            <a:pPr marL="794065" lvl="2" indent="-342900">
              <a:lnSpc>
                <a:spcPct val="80000"/>
              </a:lnSpc>
              <a:spcBef>
                <a:spcPts val="592"/>
              </a:spcBef>
              <a:spcAft>
                <a:spcPts val="592"/>
              </a:spcAft>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2000" dirty="0">
                <a:latin typeface="Segoe UI Light" panose="020B0502040204020203" pitchFamily="34" charset="0"/>
                <a:cs typeface="Arial" pitchFamily="34" charset="0"/>
              </a:rPr>
              <a:t> </a:t>
            </a:r>
            <a:r>
              <a:rPr lang="en-IN" sz="2000" dirty="0" smtClean="0">
                <a:latin typeface="Segoe UI Light" panose="020B0502040204020203" pitchFamily="34" charset="0"/>
                <a:cs typeface="Arial" pitchFamily="34" charset="0"/>
              </a:rPr>
              <a:t>The </a:t>
            </a:r>
            <a:r>
              <a:rPr lang="en-IN" sz="2000" dirty="0">
                <a:latin typeface="Segoe UI Light" panose="020B0502040204020203" pitchFamily="34" charset="0"/>
                <a:cs typeface="Arial" pitchFamily="34" charset="0"/>
              </a:rPr>
              <a:t>cost to defend against and possibly pay, liability claims made against the employer on account of bodily injury to an employee.</a:t>
            </a:r>
          </a:p>
          <a:p>
            <a:endParaRPr lang="en-US" dirty="0">
              <a:latin typeface="Arial" pitchFamily="34" charset="0"/>
              <a:cs typeface="Arial" pitchFamily="34" charset="0"/>
            </a:endParaRPr>
          </a:p>
        </p:txBody>
      </p:sp>
      <p:sp>
        <p:nvSpPr>
          <p:cNvPr id="8" name="Rectangle 7"/>
          <p:cNvSpPr/>
          <p:nvPr/>
        </p:nvSpPr>
        <p:spPr>
          <a:xfrm>
            <a:off x="173462" y="161706"/>
            <a:ext cx="5176930" cy="646331"/>
          </a:xfrm>
          <a:prstGeom prst="rect">
            <a:avLst/>
          </a:prstGeom>
        </p:spPr>
        <p:txBody>
          <a:bodyPr wrap="none">
            <a:spAutoFit/>
          </a:bodyPr>
          <a:lstStyle/>
          <a:p>
            <a:pPr>
              <a:spcBef>
                <a:spcPct val="20000"/>
              </a:spcBef>
              <a:buClr>
                <a:srgbClr val="C00000"/>
              </a:buClr>
              <a:defRPr/>
            </a:pPr>
            <a:r>
              <a:rPr lang="en-US" sz="3600" dirty="0">
                <a:latin typeface="Segoe UI" panose="020B0502040204020203" pitchFamily="34" charset="0"/>
                <a:cs typeface="Segoe UI" panose="020B0502040204020203" pitchFamily="34" charset="0"/>
              </a:rPr>
              <a:t>Workers' </a:t>
            </a:r>
            <a:r>
              <a:rPr lang="en-US" sz="3600" dirty="0" smtClean="0">
                <a:latin typeface="Segoe UI" panose="020B0502040204020203" pitchFamily="34" charset="0"/>
                <a:cs typeface="Segoe UI" panose="020B0502040204020203" pitchFamily="34" charset="0"/>
              </a:rPr>
              <a:t>Compensation </a:t>
            </a:r>
            <a:endParaRPr lang="en-US" sz="3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6910790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3" name="TextBox 2"/>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4" name="Rectangle 3"/>
          <p:cNvSpPr/>
          <p:nvPr/>
        </p:nvSpPr>
        <p:spPr>
          <a:xfrm>
            <a:off x="295632" y="1076243"/>
            <a:ext cx="11707478" cy="5965864"/>
          </a:xfrm>
          <a:prstGeom prst="rect">
            <a:avLst/>
          </a:prstGeom>
        </p:spPr>
        <p:txBody>
          <a:bodyPr wrap="square">
            <a:spAutoFit/>
          </a:bodyPr>
          <a:lstStyle/>
          <a:p>
            <a:pPr marL="285750" indent="-285750">
              <a:buFont typeface="Arial" panose="020B0604020202020204" pitchFamily="34" charset="0"/>
              <a:buChar char="•"/>
            </a:pPr>
            <a:r>
              <a:rPr lang="en-US" b="1" dirty="0" smtClean="0">
                <a:latin typeface="Segoe UI" panose="020B0502040204020203" pitchFamily="34" charset="0"/>
                <a:cs typeface="Segoe UI" panose="020B0502040204020203" pitchFamily="34" charset="0"/>
              </a:rPr>
              <a:t>Overexertion</a:t>
            </a:r>
            <a:endParaRPr lang="en-US" dirty="0" smtClean="0">
              <a:latin typeface="Segoe UI" panose="020B0502040204020203" pitchFamily="34" charset="0"/>
              <a:cs typeface="Segoe UI" panose="020B0502040204020203" pitchFamily="34" charset="0"/>
            </a:endParaRP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Muscle is pulled, or a joint is forced to move beyond its typical range of motion. </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Factory jobs, construction jobs, or jobs where physical labor is necessary. </a:t>
            </a:r>
          </a:p>
          <a:p>
            <a:pPr marL="285750" indent="-285750">
              <a:buFont typeface="Arial" panose="020B0604020202020204" pitchFamily="34" charset="0"/>
              <a:buChar char="•"/>
            </a:pPr>
            <a:endParaRPr lang="en-US" dirty="0" smtClean="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b="1" dirty="0" smtClean="0">
                <a:latin typeface="Segoe UI" panose="020B0502040204020203" pitchFamily="34" charset="0"/>
                <a:cs typeface="Segoe UI" panose="020B0502040204020203" pitchFamily="34" charset="0"/>
              </a:rPr>
              <a:t>Slip or Trip and Falls</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Workers slipping on wet floors around the workplace. </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Individuals slipping and falling on snowy walkways. </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Security workers, groundskeepers, and store clerks</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Falls to a lower level </a:t>
            </a:r>
          </a:p>
          <a:p>
            <a:pPr marL="800100" lvl="1" indent="-342900">
              <a:buFont typeface="Arial" panose="020B0604020202020204" pitchFamily="34" charset="0"/>
              <a:buChar char="•"/>
            </a:pPr>
            <a:r>
              <a:rPr lang="en-US" sz="1974" dirty="0">
                <a:latin typeface="Segoe UI Light" panose="020B0502040204020203" pitchFamily="34" charset="0"/>
                <a:cs typeface="Arial" pitchFamily="34" charset="0"/>
              </a:rPr>
              <a:t>typically </a:t>
            </a:r>
            <a:r>
              <a:rPr lang="en-US" sz="1974" dirty="0" smtClean="0">
                <a:latin typeface="Segoe UI Light" panose="020B0502040204020203" pitchFamily="34" charset="0"/>
                <a:cs typeface="Arial" pitchFamily="34" charset="0"/>
              </a:rPr>
              <a:t>happens </a:t>
            </a:r>
            <a:r>
              <a:rPr lang="en-US" sz="1974" dirty="0">
                <a:latin typeface="Segoe UI Light" panose="020B0502040204020203" pitchFamily="34" charset="0"/>
                <a:cs typeface="Arial" pitchFamily="34" charset="0"/>
              </a:rPr>
              <a:t>when a worker falls off a ladder, a roof, or falls down a flight of stairs. Roofers falling from a roof, construction workers slipping off a multi-level workspace, and teachers falling down stairs are all instances of falling to lower levels.</a:t>
            </a:r>
          </a:p>
          <a:p>
            <a:pPr marL="285750" indent="-285750">
              <a:buFont typeface="Arial" panose="020B0604020202020204" pitchFamily="34" charset="0"/>
              <a:buChar char="•"/>
            </a:pPr>
            <a:r>
              <a:rPr lang="en-US" b="1" dirty="0" smtClean="0">
                <a:latin typeface="Segoe UI" panose="020B0502040204020203" pitchFamily="34" charset="0"/>
                <a:cs typeface="Segoe UI" panose="020B0502040204020203" pitchFamily="34" charset="0"/>
              </a:rPr>
              <a:t>Bodily Reaction</a:t>
            </a:r>
          </a:p>
          <a:p>
            <a:pPr marL="800100" lvl="1" indent="-342900">
              <a:buFont typeface="Arial" panose="020B0604020202020204" pitchFamily="34" charset="0"/>
              <a:buChar char="•"/>
            </a:pPr>
            <a:r>
              <a:rPr lang="en-US" sz="1974" dirty="0">
                <a:latin typeface="Segoe UI Light" panose="020B0502040204020203" pitchFamily="34" charset="0"/>
                <a:cs typeface="Arial" pitchFamily="34" charset="0"/>
              </a:rPr>
              <a:t>A bodily reaction injury may occur when one trips or slips, avoids falling, but still sustains an injury such as a twisted or sprained ankle.  Most commonly this is seen in police officers and nurses.</a:t>
            </a:r>
          </a:p>
          <a:p>
            <a:pPr lvl="1"/>
            <a:endParaRPr lang="en-US" dirty="0"/>
          </a:p>
        </p:txBody>
      </p:sp>
      <p:sp>
        <p:nvSpPr>
          <p:cNvPr id="6" name="Rectangle 5"/>
          <p:cNvSpPr/>
          <p:nvPr/>
        </p:nvSpPr>
        <p:spPr>
          <a:xfrm>
            <a:off x="173462" y="161706"/>
            <a:ext cx="5176930" cy="646331"/>
          </a:xfrm>
          <a:prstGeom prst="rect">
            <a:avLst/>
          </a:prstGeom>
        </p:spPr>
        <p:txBody>
          <a:bodyPr wrap="none">
            <a:spAutoFit/>
          </a:bodyPr>
          <a:lstStyle/>
          <a:p>
            <a:pPr>
              <a:spcBef>
                <a:spcPct val="20000"/>
              </a:spcBef>
              <a:buClr>
                <a:srgbClr val="C00000"/>
              </a:buClr>
              <a:defRPr/>
            </a:pPr>
            <a:r>
              <a:rPr lang="en-US" sz="3600" dirty="0">
                <a:latin typeface="Segoe UI" panose="020B0502040204020203" pitchFamily="34" charset="0"/>
                <a:cs typeface="Segoe UI" panose="020B0502040204020203" pitchFamily="34" charset="0"/>
              </a:rPr>
              <a:t>Workers' </a:t>
            </a:r>
            <a:r>
              <a:rPr lang="en-US" sz="3600" dirty="0" smtClean="0">
                <a:latin typeface="Segoe UI" panose="020B0502040204020203" pitchFamily="34" charset="0"/>
                <a:cs typeface="Segoe UI" panose="020B0502040204020203" pitchFamily="34" charset="0"/>
              </a:rPr>
              <a:t>Compensation </a:t>
            </a:r>
            <a:endParaRPr lang="en-US" sz="3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538215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3" name="TextBox 2"/>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4" name="Rectangle 3"/>
          <p:cNvSpPr/>
          <p:nvPr/>
        </p:nvSpPr>
        <p:spPr>
          <a:xfrm>
            <a:off x="522079" y="942140"/>
            <a:ext cx="10972800" cy="5361724"/>
          </a:xfrm>
          <a:prstGeom prst="rect">
            <a:avLst/>
          </a:prstGeom>
        </p:spPr>
        <p:txBody>
          <a:bodyPr wrap="square">
            <a:spAutoFit/>
          </a:bodyPr>
          <a:lstStyle/>
          <a:p>
            <a:endParaRPr lang="en-US" dirty="0" smtClean="0"/>
          </a:p>
          <a:p>
            <a:pPr marL="285750" indent="-285750">
              <a:buFont typeface="Arial" panose="020B0604020202020204" pitchFamily="34" charset="0"/>
              <a:buChar char="•"/>
            </a:pPr>
            <a:r>
              <a:rPr lang="en-US" b="1" dirty="0" smtClean="0">
                <a:latin typeface="Segoe UI" panose="020B0502040204020203" pitchFamily="34" charset="0"/>
                <a:cs typeface="Segoe UI" panose="020B0502040204020203" pitchFamily="34" charset="0"/>
              </a:rPr>
              <a:t>Struck by Object</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While very plain, this injury occurs most commonly when something falls off a shelf, or things are dropped by another worker onto a lower level. </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Office workers, along with restaurant &amp; retail workers are all in danger of being struck by something.</a:t>
            </a:r>
          </a:p>
          <a:p>
            <a:pPr marL="285750" indent="-285750">
              <a:buFont typeface="Arial" panose="020B0604020202020204" pitchFamily="34" charset="0"/>
              <a:buChar char="•"/>
            </a:pPr>
            <a:endParaRPr lang="en-US" dirty="0" smtClean="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b="1" dirty="0" smtClean="0">
                <a:latin typeface="Segoe UI" panose="020B0502040204020203" pitchFamily="34" charset="0"/>
                <a:cs typeface="Segoe UI" panose="020B0502040204020203" pitchFamily="34" charset="0"/>
              </a:rPr>
              <a:t>Struck Against an Object</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This injury occurs when an individual falls into something, or is physically forced into something such as a bookshelf, barricade, or other stationary object. </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Office workers and factory workers can easily become a victim of falling into something.</a:t>
            </a:r>
          </a:p>
          <a:p>
            <a:pPr marL="285750" indent="-285750">
              <a:buFont typeface="Arial" panose="020B0604020202020204" pitchFamily="34" charset="0"/>
              <a:buChar char="•"/>
            </a:pPr>
            <a:r>
              <a:rPr lang="en-US" b="1" dirty="0" smtClean="0">
                <a:latin typeface="Segoe UI" panose="020B0502040204020203" pitchFamily="34" charset="0"/>
                <a:cs typeface="Segoe UI" panose="020B0502040204020203" pitchFamily="34" charset="0"/>
              </a:rPr>
              <a:t>Highway Incident</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Especially in the cases of truck drivers, one of the top causes of injury is an accident while driving (for business purposes) on the roadway. </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Common occurrence for traveling business representatives and police officers.</a:t>
            </a:r>
          </a:p>
        </p:txBody>
      </p:sp>
      <p:sp>
        <p:nvSpPr>
          <p:cNvPr id="5" name="Rectangle 4"/>
          <p:cNvSpPr/>
          <p:nvPr/>
        </p:nvSpPr>
        <p:spPr>
          <a:xfrm>
            <a:off x="173462" y="161706"/>
            <a:ext cx="5176930" cy="646331"/>
          </a:xfrm>
          <a:prstGeom prst="rect">
            <a:avLst/>
          </a:prstGeom>
        </p:spPr>
        <p:txBody>
          <a:bodyPr wrap="none">
            <a:spAutoFit/>
          </a:bodyPr>
          <a:lstStyle/>
          <a:p>
            <a:pPr>
              <a:spcBef>
                <a:spcPct val="20000"/>
              </a:spcBef>
              <a:buClr>
                <a:srgbClr val="C00000"/>
              </a:buClr>
              <a:defRPr/>
            </a:pPr>
            <a:r>
              <a:rPr lang="en-US" sz="3600" dirty="0">
                <a:latin typeface="Segoe UI" panose="020B0502040204020203" pitchFamily="34" charset="0"/>
                <a:cs typeface="Segoe UI" panose="020B0502040204020203" pitchFamily="34" charset="0"/>
              </a:rPr>
              <a:t>Workers' </a:t>
            </a:r>
            <a:r>
              <a:rPr lang="en-US" sz="3600" dirty="0" smtClean="0">
                <a:latin typeface="Segoe UI" panose="020B0502040204020203" pitchFamily="34" charset="0"/>
                <a:cs typeface="Segoe UI" panose="020B0502040204020203" pitchFamily="34" charset="0"/>
              </a:rPr>
              <a:t>Compensation </a:t>
            </a:r>
            <a:endParaRPr lang="en-US" sz="3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8779433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3" name="TextBox 2"/>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4" name="Rectangle 3"/>
          <p:cNvSpPr/>
          <p:nvPr/>
        </p:nvSpPr>
        <p:spPr>
          <a:xfrm>
            <a:off x="558800" y="1612344"/>
            <a:ext cx="11633200" cy="3034549"/>
          </a:xfrm>
          <a:prstGeom prst="rect">
            <a:avLst/>
          </a:prstGeom>
        </p:spPr>
        <p:txBody>
          <a:bodyPr wrap="square">
            <a:spAutoFit/>
          </a:bodyPr>
          <a:lstStyle/>
          <a:p>
            <a:pPr marL="285750" indent="-285750">
              <a:buFont typeface="Arial" panose="020B0604020202020204" pitchFamily="34" charset="0"/>
              <a:buChar char="•"/>
            </a:pPr>
            <a:r>
              <a:rPr lang="en-US" b="1" dirty="0" smtClean="0">
                <a:latin typeface="Segoe UI" panose="020B0502040204020203" pitchFamily="34" charset="0"/>
                <a:cs typeface="Segoe UI" panose="020B0502040204020203" pitchFamily="34" charset="0"/>
              </a:rPr>
              <a:t>Machinery Accidents</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In cases where large, heavy machinery has injured a worker by crushing or mutilating.</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Most commonly seen in factories or construction workers, these accidents can have huge medical cost ramifications.</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Many states have enacted laws that require training for employees before allowing them to operate equipment, along with maintenance requirements for machinery to keep it in a safe working state. </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Keeping employees knowledgeable on equipment, along with keeping that equipment maintained are two important factors in protecting employees from injury</a:t>
            </a:r>
            <a:r>
              <a:rPr lang="en-US" sz="1974" dirty="0" smtClean="0">
                <a:latin typeface="Segoe UI Light" panose="020B0502040204020203" pitchFamily="34" charset="0"/>
                <a:cs typeface="Arial" pitchFamily="34" charset="0"/>
              </a:rPr>
              <a:t>.</a:t>
            </a:r>
            <a:endParaRPr lang="en-US" dirty="0" smtClean="0">
              <a:latin typeface="Segoe UI" panose="020B0502040204020203" pitchFamily="34" charset="0"/>
              <a:cs typeface="Segoe UI" panose="020B0502040204020203" pitchFamily="34" charset="0"/>
            </a:endParaRPr>
          </a:p>
        </p:txBody>
      </p:sp>
      <p:sp>
        <p:nvSpPr>
          <p:cNvPr id="5" name="Rectangle 4"/>
          <p:cNvSpPr/>
          <p:nvPr/>
        </p:nvSpPr>
        <p:spPr>
          <a:xfrm>
            <a:off x="173462" y="161706"/>
            <a:ext cx="5176930" cy="646331"/>
          </a:xfrm>
          <a:prstGeom prst="rect">
            <a:avLst/>
          </a:prstGeom>
        </p:spPr>
        <p:txBody>
          <a:bodyPr wrap="none">
            <a:spAutoFit/>
          </a:bodyPr>
          <a:lstStyle/>
          <a:p>
            <a:pPr>
              <a:spcBef>
                <a:spcPct val="20000"/>
              </a:spcBef>
              <a:buClr>
                <a:srgbClr val="C00000"/>
              </a:buClr>
              <a:defRPr/>
            </a:pPr>
            <a:r>
              <a:rPr lang="en-US" sz="3600" dirty="0">
                <a:latin typeface="Segoe UI" panose="020B0502040204020203" pitchFamily="34" charset="0"/>
                <a:cs typeface="Segoe UI" panose="020B0502040204020203" pitchFamily="34" charset="0"/>
              </a:rPr>
              <a:t>Workers' </a:t>
            </a:r>
            <a:r>
              <a:rPr lang="en-US" sz="3600" dirty="0" smtClean="0">
                <a:latin typeface="Segoe UI" panose="020B0502040204020203" pitchFamily="34" charset="0"/>
                <a:cs typeface="Segoe UI" panose="020B0502040204020203" pitchFamily="34" charset="0"/>
              </a:rPr>
              <a:t>Compensation </a:t>
            </a:r>
            <a:endParaRPr lang="en-US" sz="3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3248236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75360" y="1076243"/>
            <a:ext cx="9787944" cy="5415329"/>
          </a:xfrm>
          <a:prstGeom prst="rect">
            <a:avLst/>
          </a:prstGeom>
        </p:spPr>
        <p:txBody>
          <a:bodyPr wrap="square">
            <a:spAutoFit/>
          </a:bodyPr>
          <a:lstStyle/>
          <a:p>
            <a:pPr marL="285750" indent="-285750">
              <a:buFont typeface="Arial" panose="020B0604020202020204" pitchFamily="34" charset="0"/>
              <a:buChar char="•"/>
            </a:pPr>
            <a:r>
              <a:rPr lang="en-US" b="1" dirty="0" smtClean="0">
                <a:latin typeface="Segoe UI" panose="020B0502040204020203" pitchFamily="34" charset="0"/>
                <a:cs typeface="Segoe UI" panose="020B0502040204020203" pitchFamily="34" charset="0"/>
              </a:rPr>
              <a:t>Repetitive </a:t>
            </a:r>
            <a:r>
              <a:rPr lang="en-US" b="1" dirty="0">
                <a:latin typeface="Segoe UI" panose="020B0502040204020203" pitchFamily="34" charset="0"/>
                <a:cs typeface="Segoe UI" panose="020B0502040204020203" pitchFamily="34" charset="0"/>
              </a:rPr>
              <a:t>Motion</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A repetitive injury is hard to pin-point, but is harder to prove. These injuries stem from workers doing the same motions over and over. </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Some examples of repetitive motion injuries can include using a mouse( Carpel Tunnel Syndrome), sitting, lifting boxes, and working on an assembly line. </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Medically speaking, common injuries from repetitive or cumulative motions are tendonitis, carpal tunnel, and bursitis.</a:t>
            </a:r>
          </a:p>
          <a:p>
            <a:endParaRPr lang="en-US" b="1"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b="1" dirty="0" smtClean="0">
                <a:latin typeface="Segoe UI" panose="020B0502040204020203" pitchFamily="34" charset="0"/>
                <a:cs typeface="Segoe UI" panose="020B0502040204020203" pitchFamily="34" charset="0"/>
              </a:rPr>
              <a:t>Workplace </a:t>
            </a:r>
            <a:r>
              <a:rPr lang="en-US" b="1" dirty="0">
                <a:latin typeface="Segoe UI" panose="020B0502040204020203" pitchFamily="34" charset="0"/>
                <a:cs typeface="Segoe UI" panose="020B0502040204020203" pitchFamily="34" charset="0"/>
              </a:rPr>
              <a:t>violence</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There are four positions that make up 20% of the total number of injuries : </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      Police/Security officers, Nursing Aides/Orderlies/Attendants, Janitors/Cleaners, and Tractor-Trailer/Heavy Truck drivers. </a:t>
            </a:r>
          </a:p>
          <a:p>
            <a:pPr marL="794065" lvl="2" indent="-342900">
              <a:spcBef>
                <a:spcPts val="592"/>
              </a:spcBef>
              <a:spcAft>
                <a:spcPts val="592"/>
              </a:spcAft>
              <a:buFont typeface="Arial" panose="020B0604020202020204" pitchFamily="34" charset="0"/>
              <a:buChar char="•"/>
              <a:defRPr/>
            </a:pPr>
            <a:r>
              <a:rPr lang="en-US" sz="1974" dirty="0">
                <a:latin typeface="Segoe UI Light" panose="020B0502040204020203" pitchFamily="34" charset="0"/>
                <a:cs typeface="Arial" pitchFamily="34" charset="0"/>
              </a:rPr>
              <a:t>Due to the high physical activity required by these positions, along with the exposure to dangerous situations, these jobs are considered some of the highest risk positions for injuries.</a:t>
            </a:r>
          </a:p>
        </p:txBody>
      </p:sp>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8" name="TextBox 7"/>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6" name="Rectangle 5"/>
          <p:cNvSpPr/>
          <p:nvPr/>
        </p:nvSpPr>
        <p:spPr>
          <a:xfrm>
            <a:off x="173462" y="161706"/>
            <a:ext cx="5176930" cy="646331"/>
          </a:xfrm>
          <a:prstGeom prst="rect">
            <a:avLst/>
          </a:prstGeom>
        </p:spPr>
        <p:txBody>
          <a:bodyPr wrap="none">
            <a:spAutoFit/>
          </a:bodyPr>
          <a:lstStyle/>
          <a:p>
            <a:pPr>
              <a:spcBef>
                <a:spcPct val="20000"/>
              </a:spcBef>
              <a:buClr>
                <a:srgbClr val="C00000"/>
              </a:buClr>
              <a:defRPr/>
            </a:pPr>
            <a:r>
              <a:rPr lang="en-US" sz="3600" dirty="0">
                <a:latin typeface="Segoe UI" panose="020B0502040204020203" pitchFamily="34" charset="0"/>
                <a:cs typeface="Segoe UI" panose="020B0502040204020203" pitchFamily="34" charset="0"/>
              </a:rPr>
              <a:t>Workers' </a:t>
            </a:r>
            <a:r>
              <a:rPr lang="en-US" sz="3600" dirty="0" smtClean="0">
                <a:latin typeface="Segoe UI" panose="020B0502040204020203" pitchFamily="34" charset="0"/>
                <a:cs typeface="Segoe UI" panose="020B0502040204020203" pitchFamily="34" charset="0"/>
              </a:rPr>
              <a:t>Compensation </a:t>
            </a:r>
            <a:endParaRPr lang="en-US" sz="3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933578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3" name="TextBox 2"/>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4" name="Rectangle 3"/>
          <p:cNvSpPr/>
          <p:nvPr/>
        </p:nvSpPr>
        <p:spPr>
          <a:xfrm>
            <a:off x="504967" y="933165"/>
            <a:ext cx="11000095" cy="5776581"/>
          </a:xfrm>
          <a:prstGeom prst="rect">
            <a:avLst/>
          </a:prstGeom>
        </p:spPr>
        <p:txBody>
          <a:bodyPr wrap="square">
            <a:spAutoFit/>
          </a:bodyPr>
          <a:lstStyle/>
          <a:p>
            <a:endParaRPr lang="en-US" sz="2800" dirty="0"/>
          </a:p>
          <a:p>
            <a:pPr marL="342900" indent="-342900">
              <a:spcBef>
                <a:spcPts val="592"/>
              </a:spcBef>
              <a:spcAft>
                <a:spcPts val="592"/>
              </a:spcAft>
              <a:buFont typeface="Arial" panose="020B0604020202020204" pitchFamily="34" charset="0"/>
              <a:buChar char="•"/>
              <a:defRPr/>
            </a:pPr>
            <a:r>
              <a:rPr lang="en-US" sz="2171" dirty="0">
                <a:latin typeface="Segoe UI Light" panose="020B0502040204020203" pitchFamily="34" charset="0"/>
                <a:cs typeface="Arial" pitchFamily="34" charset="0"/>
              </a:rPr>
              <a:t>P</a:t>
            </a:r>
            <a:r>
              <a:rPr lang="en-US" sz="2171" dirty="0" smtClean="0">
                <a:latin typeface="Segoe UI Light" panose="020B0502040204020203" pitchFamily="34" charset="0"/>
                <a:cs typeface="Arial" pitchFamily="34" charset="0"/>
              </a:rPr>
              <a:t>rovides </a:t>
            </a:r>
            <a:r>
              <a:rPr lang="en-US" sz="2171" dirty="0">
                <a:latin typeface="Segoe UI Light" panose="020B0502040204020203" pitchFamily="34" charset="0"/>
                <a:cs typeface="Arial" pitchFamily="34" charset="0"/>
              </a:rPr>
              <a:t>insurance to cover medical care and compensation for employees who are injured in the course of employment, in exchange for mandatory relinquishment of the employee's right to sue his or her employer for the tort of negligence</a:t>
            </a:r>
            <a:r>
              <a:rPr lang="en-US" sz="2171" dirty="0" smtClean="0">
                <a:latin typeface="Segoe UI Light" panose="020B0502040204020203" pitchFamily="34" charset="0"/>
                <a:cs typeface="Arial" pitchFamily="34" charset="0"/>
              </a:rPr>
              <a:t>.</a:t>
            </a:r>
          </a:p>
          <a:p>
            <a:pPr marL="342900" indent="-342900">
              <a:spcBef>
                <a:spcPts val="592"/>
              </a:spcBef>
              <a:spcAft>
                <a:spcPts val="592"/>
              </a:spcAft>
              <a:buFont typeface="Arial" panose="020B0604020202020204" pitchFamily="34" charset="0"/>
              <a:buChar char="•"/>
              <a:defRPr/>
            </a:pPr>
            <a:endParaRPr lang="en-US" sz="2171" dirty="0" smtClean="0">
              <a:latin typeface="Segoe UI Light" panose="020B0502040204020203" pitchFamily="34" charset="0"/>
              <a:cs typeface="Arial" pitchFamily="34" charset="0"/>
            </a:endParaRPr>
          </a:p>
          <a:p>
            <a:pPr marL="342900" indent="-342900">
              <a:spcBef>
                <a:spcPts val="592"/>
              </a:spcBef>
              <a:spcAft>
                <a:spcPts val="592"/>
              </a:spcAft>
              <a:buFont typeface="Arial" panose="020B0604020202020204" pitchFamily="34" charset="0"/>
              <a:buChar char="•"/>
              <a:defRPr/>
            </a:pPr>
            <a:r>
              <a:rPr lang="en-US" sz="2171" dirty="0">
                <a:latin typeface="Segoe UI Light" panose="020B0502040204020203" pitchFamily="34" charset="0"/>
                <a:cs typeface="Arial" pitchFamily="34" charset="0"/>
              </a:rPr>
              <a:t>Workers compensation is a form of insurance designed to help employees recover from injuries sustained in the workplace. </a:t>
            </a:r>
          </a:p>
          <a:p>
            <a:pPr marL="342900" indent="-342900">
              <a:spcBef>
                <a:spcPts val="592"/>
              </a:spcBef>
              <a:spcAft>
                <a:spcPts val="592"/>
              </a:spcAft>
              <a:buFont typeface="Arial" panose="020B0604020202020204" pitchFamily="34" charset="0"/>
              <a:buChar char="•"/>
              <a:defRPr/>
            </a:pPr>
            <a:endParaRPr lang="en-US" sz="2171" dirty="0">
              <a:latin typeface="Segoe UI Light" panose="020B0502040204020203" pitchFamily="34" charset="0"/>
              <a:cs typeface="Arial" pitchFamily="34" charset="0"/>
            </a:endParaRPr>
          </a:p>
          <a:p>
            <a:pPr marL="342900" indent="-342900">
              <a:spcBef>
                <a:spcPts val="592"/>
              </a:spcBef>
              <a:spcAft>
                <a:spcPts val="592"/>
              </a:spcAft>
              <a:buFont typeface="Arial" panose="020B0604020202020204" pitchFamily="34" charset="0"/>
              <a:buChar char="•"/>
              <a:defRPr/>
            </a:pPr>
            <a:r>
              <a:rPr lang="en-IN" sz="2400" dirty="0">
                <a:latin typeface="Segoe UI Light" panose="020B0502040204020203" pitchFamily="34" charset="0"/>
                <a:cs typeface="Arial" pitchFamily="34" charset="0"/>
              </a:rPr>
              <a:t>There must be A CAUSE &amp; EFFECT RELATION between the OCCUPATION &amp; DISEASE</a:t>
            </a:r>
          </a:p>
          <a:p>
            <a:pPr marL="342900" indent="-342900">
              <a:spcBef>
                <a:spcPts val="592"/>
              </a:spcBef>
              <a:spcAft>
                <a:spcPts val="592"/>
              </a:spcAft>
              <a:buFont typeface="Arial" panose="020B0604020202020204" pitchFamily="34" charset="0"/>
              <a:buChar char="•"/>
              <a:defRPr/>
            </a:pPr>
            <a:endParaRPr lang="en-US" sz="2171" dirty="0" smtClean="0">
              <a:latin typeface="Segoe UI Light" panose="020B0502040204020203" pitchFamily="34" charset="0"/>
              <a:cs typeface="Arial" pitchFamily="34" charset="0"/>
            </a:endParaRPr>
          </a:p>
          <a:p>
            <a:pPr marL="342900" indent="-342900">
              <a:spcBef>
                <a:spcPts val="592"/>
              </a:spcBef>
              <a:spcAft>
                <a:spcPts val="592"/>
              </a:spcAft>
              <a:buFont typeface="Arial" panose="020B0604020202020204" pitchFamily="34" charset="0"/>
              <a:buChar char="•"/>
              <a:defRPr/>
            </a:pPr>
            <a:r>
              <a:rPr lang="en-US" sz="2171" dirty="0" smtClean="0">
                <a:latin typeface="Segoe UI Light" panose="020B0502040204020203" pitchFamily="34" charset="0"/>
                <a:cs typeface="Arial" pitchFamily="34" charset="0"/>
              </a:rPr>
              <a:t>Every </a:t>
            </a:r>
            <a:r>
              <a:rPr lang="en-US" sz="2171" dirty="0">
                <a:latin typeface="Segoe UI Light" panose="020B0502040204020203" pitchFamily="34" charset="0"/>
                <a:cs typeface="Arial" pitchFamily="34" charset="0"/>
              </a:rPr>
              <a:t>state has different laws pertaining to workers compensation programs.</a:t>
            </a:r>
          </a:p>
          <a:p>
            <a:endParaRPr lang="en-US" sz="2800" dirty="0"/>
          </a:p>
        </p:txBody>
      </p:sp>
      <p:sp>
        <p:nvSpPr>
          <p:cNvPr id="5" name="Rectangle 4"/>
          <p:cNvSpPr/>
          <p:nvPr/>
        </p:nvSpPr>
        <p:spPr>
          <a:xfrm>
            <a:off x="173462" y="161706"/>
            <a:ext cx="5176930" cy="646331"/>
          </a:xfrm>
          <a:prstGeom prst="rect">
            <a:avLst/>
          </a:prstGeom>
        </p:spPr>
        <p:txBody>
          <a:bodyPr wrap="none">
            <a:spAutoFit/>
          </a:bodyPr>
          <a:lstStyle/>
          <a:p>
            <a:pPr>
              <a:spcBef>
                <a:spcPct val="20000"/>
              </a:spcBef>
              <a:buClr>
                <a:srgbClr val="C00000"/>
              </a:buClr>
              <a:defRPr/>
            </a:pPr>
            <a:r>
              <a:rPr lang="en-US" sz="3600" dirty="0">
                <a:latin typeface="Segoe UI" panose="020B0502040204020203" pitchFamily="34" charset="0"/>
                <a:cs typeface="Segoe UI" panose="020B0502040204020203" pitchFamily="34" charset="0"/>
              </a:rPr>
              <a:t>Workers' </a:t>
            </a:r>
            <a:r>
              <a:rPr lang="en-US" sz="3600" dirty="0" smtClean="0">
                <a:latin typeface="Segoe UI" panose="020B0502040204020203" pitchFamily="34" charset="0"/>
                <a:cs typeface="Segoe UI" panose="020B0502040204020203" pitchFamily="34" charset="0"/>
              </a:rPr>
              <a:t>Compensation </a:t>
            </a:r>
            <a:endParaRPr lang="en-US" sz="3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96897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1000"/>
                                        <p:tgtEl>
                                          <p:spTgt spid="4">
                                            <p:txEl>
                                              <p:pRg st="3" end="3"/>
                                            </p:txEl>
                                          </p:spTgt>
                                        </p:tgtEl>
                                      </p:cBhvr>
                                    </p:animEffect>
                                    <p:anim calcmode="lin" valueType="num">
                                      <p:cBhvr>
                                        <p:cTn id="1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1000"/>
                                        <p:tgtEl>
                                          <p:spTgt spid="4">
                                            <p:txEl>
                                              <p:pRg st="5" end="5"/>
                                            </p:txEl>
                                          </p:spTgt>
                                        </p:tgtEl>
                                      </p:cBhvr>
                                    </p:animEffect>
                                    <p:anim calcmode="lin" valueType="num">
                                      <p:cBhvr>
                                        <p:cTn id="1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7" end="7"/>
                                            </p:txEl>
                                          </p:spTgt>
                                        </p:tgtEl>
                                        <p:attrNameLst>
                                          <p:attrName>style.visibility</p:attrName>
                                        </p:attrNameLst>
                                      </p:cBhvr>
                                      <p:to>
                                        <p:strVal val="visible"/>
                                      </p:to>
                                    </p:set>
                                    <p:animEffect transition="in" filter="fade">
                                      <p:cBhvr>
                                        <p:cTn id="22" dur="1000"/>
                                        <p:tgtEl>
                                          <p:spTgt spid="4">
                                            <p:txEl>
                                              <p:pRg st="7" end="7"/>
                                            </p:txEl>
                                          </p:spTgt>
                                        </p:tgtEl>
                                      </p:cBhvr>
                                    </p:animEffect>
                                    <p:anim calcmode="lin" valueType="num">
                                      <p:cBhvr>
                                        <p:cTn id="23"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3" name="TextBox 2"/>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pic>
        <p:nvPicPr>
          <p:cNvPr id="5" name="Picture 4"/>
          <p:cNvPicPr>
            <a:picLocks noChangeAspect="1" noChangeArrowheads="1"/>
          </p:cNvPicPr>
          <p:nvPr/>
        </p:nvPicPr>
        <p:blipFill>
          <a:blip r:embed="rId3" cstate="print"/>
          <a:srcRect/>
          <a:stretch>
            <a:fillRect/>
          </a:stretch>
        </p:blipFill>
        <p:spPr bwMode="auto">
          <a:xfrm>
            <a:off x="1905001" y="990601"/>
            <a:ext cx="8229600" cy="5289550"/>
          </a:xfrm>
          <a:prstGeom prst="rect">
            <a:avLst/>
          </a:prstGeom>
          <a:noFill/>
          <a:ln w="9525">
            <a:noFill/>
            <a:round/>
            <a:headEnd/>
            <a:tailEnd/>
          </a:ln>
        </p:spPr>
      </p:pic>
      <p:sp>
        <p:nvSpPr>
          <p:cNvPr id="7" name="Rectangle 6"/>
          <p:cNvSpPr/>
          <p:nvPr/>
        </p:nvSpPr>
        <p:spPr>
          <a:xfrm>
            <a:off x="173462" y="161706"/>
            <a:ext cx="5176930" cy="646331"/>
          </a:xfrm>
          <a:prstGeom prst="rect">
            <a:avLst/>
          </a:prstGeom>
        </p:spPr>
        <p:txBody>
          <a:bodyPr wrap="none">
            <a:spAutoFit/>
          </a:bodyPr>
          <a:lstStyle/>
          <a:p>
            <a:pPr>
              <a:spcBef>
                <a:spcPct val="20000"/>
              </a:spcBef>
              <a:buClr>
                <a:srgbClr val="C00000"/>
              </a:buClr>
              <a:defRPr/>
            </a:pPr>
            <a:r>
              <a:rPr lang="en-US" sz="3600" dirty="0">
                <a:latin typeface="Segoe UI" panose="020B0502040204020203" pitchFamily="34" charset="0"/>
                <a:cs typeface="Segoe UI" panose="020B0502040204020203" pitchFamily="34" charset="0"/>
              </a:rPr>
              <a:t>Workers' </a:t>
            </a:r>
            <a:r>
              <a:rPr lang="en-US" sz="3600" dirty="0" smtClean="0">
                <a:latin typeface="Segoe UI" panose="020B0502040204020203" pitchFamily="34" charset="0"/>
                <a:cs typeface="Segoe UI" panose="020B0502040204020203" pitchFamily="34" charset="0"/>
              </a:rPr>
              <a:t>Compensation </a:t>
            </a:r>
            <a:endParaRPr lang="en-US" sz="3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8836448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3" name="TextBox 2"/>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4" name="TextBox 3"/>
          <p:cNvSpPr txBox="1"/>
          <p:nvPr/>
        </p:nvSpPr>
        <p:spPr>
          <a:xfrm>
            <a:off x="1128668" y="1804449"/>
            <a:ext cx="10021551" cy="3069686"/>
          </a:xfrm>
          <a:prstGeom prst="rect">
            <a:avLst/>
          </a:prstGeom>
          <a:noFill/>
        </p:spPr>
        <p:txBody>
          <a:bodyPr wrap="square" rtlCol="0">
            <a:spAutoFit/>
          </a:bodyPr>
          <a:lstStyle/>
          <a:p>
            <a:pPr marL="342900" lvl="1" indent="-342900">
              <a:lnSpc>
                <a:spcPct val="80000"/>
              </a:lnSpc>
              <a:spcBef>
                <a:spcPts val="592"/>
              </a:spcBef>
              <a:spcAft>
                <a:spcPts val="592"/>
              </a:spcAft>
              <a:buSzPct val="8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2171" b="1" dirty="0">
                <a:latin typeface="Segoe UI Light" panose="020B0502040204020203" pitchFamily="34" charset="0"/>
                <a:cs typeface="Arial" pitchFamily="34" charset="0"/>
              </a:rPr>
              <a:t>Workers Compensation Exclusions: </a:t>
            </a:r>
          </a:p>
          <a:p>
            <a:pPr lvl="1" indent="-457200">
              <a:lnSpc>
                <a:spcPct val="80000"/>
              </a:lnSpc>
              <a:buSzPct val="8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b="1" dirty="0">
              <a:latin typeface="Arial" pitchFamily="34" charset="0"/>
              <a:cs typeface="Arial" pitchFamily="34" charset="0"/>
            </a:endParaRPr>
          </a:p>
          <a:p>
            <a:pPr marL="794065" lvl="2" indent="-342900">
              <a:spcBef>
                <a:spcPts val="592"/>
              </a:spcBef>
              <a:spcAft>
                <a:spcPts val="592"/>
              </a:spcAft>
              <a:buSzPct val="80000"/>
              <a:buFont typeface="Arial" panose="020B0604020202020204" pitchFamily="34" charset="0"/>
              <a:buChar char="•"/>
              <a:defRPr/>
            </a:pPr>
            <a:r>
              <a:rPr lang="en-IN" sz="1974" dirty="0">
                <a:latin typeface="Segoe UI Light" panose="020B0502040204020203" pitchFamily="34" charset="0"/>
                <a:cs typeface="Arial" pitchFamily="34" charset="0"/>
              </a:rPr>
              <a:t>Damages for injury or death for any illegally employed person</a:t>
            </a:r>
            <a:r>
              <a:rPr lang="en-IN" sz="1974" dirty="0" smtClean="0">
                <a:latin typeface="Segoe UI Light" panose="020B0502040204020203" pitchFamily="34" charset="0"/>
                <a:cs typeface="Arial" pitchFamily="34" charset="0"/>
              </a:rPr>
              <a:t>.</a:t>
            </a:r>
            <a:endParaRPr lang="en-IN" sz="1974" dirty="0">
              <a:latin typeface="Segoe UI Light" panose="020B0502040204020203" pitchFamily="34" charset="0"/>
              <a:cs typeface="Arial" pitchFamily="34" charset="0"/>
            </a:endParaRPr>
          </a:p>
          <a:p>
            <a:pPr marL="794065" lvl="2" indent="-342900">
              <a:spcBef>
                <a:spcPts val="592"/>
              </a:spcBef>
              <a:spcAft>
                <a:spcPts val="592"/>
              </a:spcAft>
              <a:buSzPct val="80000"/>
              <a:buFont typeface="Arial" panose="020B0604020202020204" pitchFamily="34" charset="0"/>
              <a:buChar char="•"/>
              <a:defRPr/>
            </a:pPr>
            <a:r>
              <a:rPr lang="en-IN" sz="1974" dirty="0">
                <a:latin typeface="Segoe UI Light" panose="020B0502040204020203" pitchFamily="34" charset="0"/>
                <a:cs typeface="Arial" pitchFamily="34" charset="0"/>
              </a:rPr>
              <a:t>Bodily injury intentionally caused by the insured</a:t>
            </a:r>
            <a:r>
              <a:rPr lang="en-IN" sz="1974" dirty="0" smtClean="0">
                <a:latin typeface="Segoe UI Light" panose="020B0502040204020203" pitchFamily="34" charset="0"/>
                <a:cs typeface="Arial" pitchFamily="34" charset="0"/>
              </a:rPr>
              <a:t>.</a:t>
            </a:r>
            <a:endParaRPr lang="en-IN" sz="1974" dirty="0">
              <a:latin typeface="Segoe UI Light" panose="020B0502040204020203" pitchFamily="34" charset="0"/>
              <a:cs typeface="Arial" pitchFamily="34" charset="0"/>
            </a:endParaRPr>
          </a:p>
          <a:p>
            <a:pPr marL="794065" lvl="2" indent="-342900">
              <a:spcBef>
                <a:spcPts val="592"/>
              </a:spcBef>
              <a:spcAft>
                <a:spcPts val="592"/>
              </a:spcAft>
              <a:buSzPct val="80000"/>
              <a:buFont typeface="Arial" panose="020B0604020202020204" pitchFamily="34" charset="0"/>
              <a:buChar char="•"/>
              <a:defRPr/>
            </a:pPr>
            <a:r>
              <a:rPr lang="en-IN" sz="1974" dirty="0">
                <a:latin typeface="Segoe UI Light" panose="020B0502040204020203" pitchFamily="34" charset="0"/>
                <a:cs typeface="Arial" pitchFamily="34" charset="0"/>
              </a:rPr>
              <a:t>Damages arising out of employment practices, including  demotion, harassment, discrimination, and termination</a:t>
            </a:r>
            <a:r>
              <a:rPr lang="en-IN" sz="1974" dirty="0" smtClean="0">
                <a:latin typeface="Segoe UI Light" panose="020B0502040204020203" pitchFamily="34" charset="0"/>
                <a:cs typeface="Arial" pitchFamily="34" charset="0"/>
              </a:rPr>
              <a:t>.</a:t>
            </a:r>
            <a:endParaRPr lang="en-IN" sz="1974" dirty="0">
              <a:latin typeface="Segoe UI Light" panose="020B0502040204020203" pitchFamily="34" charset="0"/>
              <a:cs typeface="Arial" pitchFamily="34" charset="0"/>
            </a:endParaRPr>
          </a:p>
          <a:p>
            <a:pPr marL="794065" lvl="2" indent="-342900">
              <a:spcBef>
                <a:spcPts val="592"/>
              </a:spcBef>
              <a:spcAft>
                <a:spcPts val="592"/>
              </a:spcAft>
              <a:buSzPct val="80000"/>
              <a:buFont typeface="Arial" panose="020B0604020202020204" pitchFamily="34" charset="0"/>
              <a:buChar char="•"/>
              <a:defRPr/>
            </a:pPr>
            <a:r>
              <a:rPr lang="en-IN" sz="1974" dirty="0">
                <a:latin typeface="Segoe UI Light" panose="020B0502040204020203" pitchFamily="34" charset="0"/>
                <a:cs typeface="Arial" pitchFamily="34" charset="0"/>
              </a:rPr>
              <a:t>Fines or penalties imposed for violation of federal or state law.</a:t>
            </a:r>
          </a:p>
          <a:p>
            <a:endParaRPr lang="en-US" dirty="0">
              <a:latin typeface="Arial" pitchFamily="34" charset="0"/>
              <a:cs typeface="Arial" pitchFamily="34" charset="0"/>
            </a:endParaRPr>
          </a:p>
        </p:txBody>
      </p:sp>
      <p:sp>
        <p:nvSpPr>
          <p:cNvPr id="8" name="Rectangle 7"/>
          <p:cNvSpPr/>
          <p:nvPr/>
        </p:nvSpPr>
        <p:spPr>
          <a:xfrm>
            <a:off x="173462" y="161706"/>
            <a:ext cx="5176930" cy="646331"/>
          </a:xfrm>
          <a:prstGeom prst="rect">
            <a:avLst/>
          </a:prstGeom>
        </p:spPr>
        <p:txBody>
          <a:bodyPr wrap="none">
            <a:spAutoFit/>
          </a:bodyPr>
          <a:lstStyle/>
          <a:p>
            <a:pPr>
              <a:spcBef>
                <a:spcPct val="20000"/>
              </a:spcBef>
              <a:buClr>
                <a:srgbClr val="C00000"/>
              </a:buClr>
              <a:defRPr/>
            </a:pPr>
            <a:r>
              <a:rPr lang="en-US" sz="3600" dirty="0">
                <a:latin typeface="Segoe UI" panose="020B0502040204020203" pitchFamily="34" charset="0"/>
                <a:cs typeface="Segoe UI" panose="020B0502040204020203" pitchFamily="34" charset="0"/>
              </a:rPr>
              <a:t>Workers' </a:t>
            </a:r>
            <a:r>
              <a:rPr lang="en-US" sz="3600" dirty="0" smtClean="0">
                <a:latin typeface="Segoe UI" panose="020B0502040204020203" pitchFamily="34" charset="0"/>
                <a:cs typeface="Segoe UI" panose="020B0502040204020203" pitchFamily="34" charset="0"/>
              </a:rPr>
              <a:t>Compensation </a:t>
            </a:r>
            <a:endParaRPr lang="en-US" sz="3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673437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3" name="TextBox 2"/>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4" name="Rectangle 3"/>
          <p:cNvSpPr/>
          <p:nvPr/>
        </p:nvSpPr>
        <p:spPr>
          <a:xfrm>
            <a:off x="657305" y="1178893"/>
            <a:ext cx="10881360" cy="5430974"/>
          </a:xfrm>
          <a:prstGeom prst="rect">
            <a:avLst/>
          </a:prstGeom>
        </p:spPr>
        <p:txBody>
          <a:bodyPr wrap="square">
            <a:spAutoFit/>
          </a:bodyPr>
          <a:lstStyle/>
          <a:p>
            <a:pPr marL="342900" indent="-342900">
              <a:spcBef>
                <a:spcPts val="592"/>
              </a:spcBef>
              <a:spcAft>
                <a:spcPts val="592"/>
              </a:spcAft>
              <a:buFont typeface="Arial" panose="020B0604020202020204" pitchFamily="34" charset="0"/>
              <a:buChar char="•"/>
              <a:defRPr/>
            </a:pPr>
            <a:r>
              <a:rPr lang="en-US" sz="2171" dirty="0">
                <a:latin typeface="Segoe UI Light" panose="020B0502040204020203" pitchFamily="34" charset="0"/>
                <a:cs typeface="Arial" pitchFamily="34" charset="0"/>
              </a:rPr>
              <a:t>An insurance policy that provides coverage for an employer's two key exposures arising out of injuries sustained by employees. Part One of the policy covers the employer's statutory liabilities under workers compensation laws, and Part Two of the policy covers liability arising out of employees' work-related injuries that do not fall under the workers compensation statute. In most states, the standard workers compensation and employers liability policy published by the National Council on Compensation Insurance (NCCI) is the required policy form.</a:t>
            </a:r>
          </a:p>
          <a:p>
            <a:pPr marL="342900" indent="-342900">
              <a:spcBef>
                <a:spcPts val="592"/>
              </a:spcBef>
              <a:spcAft>
                <a:spcPts val="592"/>
              </a:spcAft>
              <a:buFont typeface="Arial" panose="020B0604020202020204" pitchFamily="34" charset="0"/>
              <a:buChar char="•"/>
              <a:defRPr/>
            </a:pPr>
            <a:r>
              <a:rPr lang="en-US" sz="2171" dirty="0">
                <a:latin typeface="Segoe UI Light" panose="020B0502040204020203" pitchFamily="34" charset="0"/>
                <a:cs typeface="Arial" pitchFamily="34" charset="0"/>
              </a:rPr>
              <a:t>Employer's liability insurance can be packaged with workers compensation insurance to further protect companies against the costs associated with workplace injuries, illnesses and deaths that aren’t covered under workers compensation. Employer's liability insurance is also called “part 2” of a workers’ compensation policy.</a:t>
            </a:r>
          </a:p>
          <a:p>
            <a:pPr marL="342900" indent="-342900">
              <a:spcBef>
                <a:spcPts val="592"/>
              </a:spcBef>
              <a:spcAft>
                <a:spcPts val="592"/>
              </a:spcAft>
              <a:buFont typeface="Arial" panose="020B0604020202020204" pitchFamily="34" charset="0"/>
              <a:buChar char="•"/>
              <a:defRPr/>
            </a:pPr>
            <a:r>
              <a:rPr lang="en-US" sz="2171" dirty="0">
                <a:latin typeface="Segoe UI Light" panose="020B0502040204020203" pitchFamily="34" charset="0"/>
                <a:cs typeface="Arial" pitchFamily="34" charset="0"/>
              </a:rPr>
              <a:t>This coverage provided by part 2 of the workers compensation policy provides coverage to the insured (employer) for liability to employees for work-related bodily injury or disease, other than liability imposed on the insured by a workers compensation law.</a:t>
            </a:r>
          </a:p>
          <a:p>
            <a:endParaRPr lang="en-US" dirty="0"/>
          </a:p>
        </p:txBody>
      </p:sp>
      <p:sp>
        <p:nvSpPr>
          <p:cNvPr id="6" name="Rectangle 5"/>
          <p:cNvSpPr/>
          <p:nvPr/>
        </p:nvSpPr>
        <p:spPr>
          <a:xfrm>
            <a:off x="173462" y="161706"/>
            <a:ext cx="4075411" cy="646331"/>
          </a:xfrm>
          <a:prstGeom prst="rect">
            <a:avLst/>
          </a:prstGeom>
        </p:spPr>
        <p:txBody>
          <a:bodyPr wrap="none">
            <a:spAutoFit/>
          </a:bodyPr>
          <a:lstStyle/>
          <a:p>
            <a:pPr>
              <a:spcBef>
                <a:spcPct val="20000"/>
              </a:spcBef>
              <a:buClr>
                <a:srgbClr val="C00000"/>
              </a:buClr>
              <a:defRPr/>
            </a:pPr>
            <a:r>
              <a:rPr lang="en-US" sz="3600" dirty="0" smtClean="0">
                <a:latin typeface="Segoe UI" panose="020B0502040204020203" pitchFamily="34" charset="0"/>
                <a:cs typeface="Segoe UI" panose="020B0502040204020203" pitchFamily="34" charset="0"/>
              </a:rPr>
              <a:t>Employer’s Liability</a:t>
            </a:r>
            <a:endParaRPr lang="en-US" sz="3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6231614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3" name="TextBox 2"/>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4" name="TextBox 3"/>
          <p:cNvSpPr txBox="1"/>
          <p:nvPr/>
        </p:nvSpPr>
        <p:spPr>
          <a:xfrm>
            <a:off x="757491" y="1076243"/>
            <a:ext cx="10466043" cy="4770921"/>
          </a:xfrm>
          <a:prstGeom prst="rect">
            <a:avLst/>
          </a:prstGeom>
          <a:noFill/>
        </p:spPr>
        <p:txBody>
          <a:bodyPr wrap="square" rtlCol="0">
            <a:spAutoFit/>
          </a:bodyPr>
          <a:lstStyle/>
          <a:p>
            <a:pPr>
              <a:spcBef>
                <a:spcPts val="592"/>
              </a:spcBef>
              <a:spcAft>
                <a:spcPts val="592"/>
              </a:spcAft>
              <a:buClr>
                <a:srgbClr val="C00000"/>
              </a:buClr>
              <a:defRPr/>
            </a:pPr>
            <a:endParaRPr lang="en-US" sz="2171" dirty="0">
              <a:latin typeface="Segoe UI Light" panose="020B0502040204020203" pitchFamily="34" charset="0"/>
              <a:cs typeface="Arial" pitchFamily="34" charset="0"/>
            </a:endParaRPr>
          </a:p>
          <a:p>
            <a:pPr>
              <a:spcBef>
                <a:spcPts val="592"/>
              </a:spcBef>
              <a:spcAft>
                <a:spcPts val="592"/>
              </a:spcAft>
              <a:defRPr/>
            </a:pPr>
            <a:r>
              <a:rPr lang="en-US" sz="2171" dirty="0">
                <a:latin typeface="Segoe UI Light" panose="020B0502040204020203" pitchFamily="34" charset="0"/>
                <a:cs typeface="Arial" pitchFamily="34" charset="0"/>
              </a:rPr>
              <a:t>The insurer agrees to defend the insured against claims and suits seeking covered damages. There are ways in which the employer can be held liable under the common law as the result of  employee injury:</a:t>
            </a:r>
          </a:p>
          <a:p>
            <a:pPr marL="285750" indent="-285750" algn="just">
              <a:buFont typeface="Arial" panose="020B0604020202020204" pitchFamily="34" charset="0"/>
              <a:buChar char="•"/>
              <a:defRPr/>
            </a:pPr>
            <a:endParaRPr lang="en-US" sz="1600" dirty="0">
              <a:latin typeface="Arial" pitchFamily="34" charset="0"/>
              <a:cs typeface="Arial" pitchFamily="34" charset="0"/>
            </a:endParaRPr>
          </a:p>
          <a:p>
            <a:pPr marL="794065" lvl="2" indent="-342900">
              <a:spcBef>
                <a:spcPts val="592"/>
              </a:spcBef>
              <a:spcAft>
                <a:spcPts val="592"/>
              </a:spcAft>
              <a:buSzPct val="80000"/>
              <a:buFont typeface="Arial" panose="020B0604020202020204" pitchFamily="34" charset="0"/>
              <a:buChar char="•"/>
              <a:defRPr/>
            </a:pPr>
            <a:r>
              <a:rPr lang="en-US" sz="1974" dirty="0">
                <a:latin typeface="Segoe UI Light" panose="020B0502040204020203" pitchFamily="34" charset="0"/>
                <a:cs typeface="Arial" pitchFamily="34" charset="0"/>
              </a:rPr>
              <a:t>An employee of the insured sues a third party (such as machine manufacturer) for an occupational injury, and the third party then sues the employer. The third party’s suit might allege, for example, that the employer was negligent in maintaining the machine.</a:t>
            </a:r>
          </a:p>
          <a:p>
            <a:pPr marL="794065" lvl="2" indent="-342900">
              <a:spcBef>
                <a:spcPts val="592"/>
              </a:spcBef>
              <a:spcAft>
                <a:spcPts val="592"/>
              </a:spcAft>
              <a:buSzPct val="80000"/>
              <a:buFont typeface="Arial" panose="020B0604020202020204" pitchFamily="34" charset="0"/>
              <a:buChar char="•"/>
              <a:defRPr/>
            </a:pPr>
            <a:endParaRPr lang="en-US" sz="1974" dirty="0">
              <a:latin typeface="Segoe UI Light" panose="020B0502040204020203" pitchFamily="34" charset="0"/>
              <a:cs typeface="Arial" pitchFamily="34" charset="0"/>
            </a:endParaRPr>
          </a:p>
          <a:p>
            <a:pPr marL="794065" lvl="2" indent="-342900">
              <a:spcBef>
                <a:spcPts val="592"/>
              </a:spcBef>
              <a:spcAft>
                <a:spcPts val="592"/>
              </a:spcAft>
              <a:buSzPct val="80000"/>
              <a:buFont typeface="Arial" panose="020B0604020202020204" pitchFamily="34" charset="0"/>
              <a:buChar char="•"/>
              <a:defRPr/>
            </a:pPr>
            <a:r>
              <a:rPr lang="en-US" sz="1974" dirty="0">
                <a:latin typeface="Segoe UI Light" panose="020B0502040204020203" pitchFamily="34" charset="0"/>
                <a:cs typeface="Arial" pitchFamily="34" charset="0"/>
              </a:rPr>
              <a:t>The spouse or family member of an injured employee sues the employer for loss of companionship or services (such as housekeeping or yard work that the employee would otherwise have performed) resulting from the injury.</a:t>
            </a:r>
          </a:p>
          <a:p>
            <a:endParaRPr lang="en-US" dirty="0">
              <a:latin typeface="Arial" pitchFamily="34" charset="0"/>
              <a:cs typeface="Arial" pitchFamily="34" charset="0"/>
            </a:endParaRPr>
          </a:p>
        </p:txBody>
      </p:sp>
      <p:sp>
        <p:nvSpPr>
          <p:cNvPr id="6" name="Rectangle 5"/>
          <p:cNvSpPr/>
          <p:nvPr/>
        </p:nvSpPr>
        <p:spPr>
          <a:xfrm>
            <a:off x="173462" y="161706"/>
            <a:ext cx="4075411" cy="646331"/>
          </a:xfrm>
          <a:prstGeom prst="rect">
            <a:avLst/>
          </a:prstGeom>
        </p:spPr>
        <p:txBody>
          <a:bodyPr wrap="none">
            <a:spAutoFit/>
          </a:bodyPr>
          <a:lstStyle/>
          <a:p>
            <a:pPr>
              <a:spcBef>
                <a:spcPct val="20000"/>
              </a:spcBef>
              <a:buClr>
                <a:srgbClr val="C00000"/>
              </a:buClr>
              <a:defRPr/>
            </a:pPr>
            <a:r>
              <a:rPr lang="en-US" sz="3600" dirty="0" smtClean="0">
                <a:latin typeface="Segoe UI" panose="020B0502040204020203" pitchFamily="34" charset="0"/>
                <a:cs typeface="Segoe UI" panose="020B0502040204020203" pitchFamily="34" charset="0"/>
              </a:rPr>
              <a:t>Employer’s Liability</a:t>
            </a:r>
            <a:endParaRPr lang="en-US" sz="3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8875781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31390" y="640860"/>
            <a:ext cx="9804188" cy="264653"/>
          </a:xfrm>
          <a:prstGeom prst="rect">
            <a:avLst/>
          </a:prstGeom>
        </p:spPr>
      </p:pic>
      <p:sp>
        <p:nvSpPr>
          <p:cNvPr id="6" name="TextBox 5"/>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8" name="Rectangle 7"/>
          <p:cNvSpPr/>
          <p:nvPr/>
        </p:nvSpPr>
        <p:spPr>
          <a:xfrm>
            <a:off x="3971189" y="2967335"/>
            <a:ext cx="4249626" cy="1015663"/>
          </a:xfrm>
          <a:prstGeom prst="rect">
            <a:avLst/>
          </a:prstGeom>
          <a:noFill/>
        </p:spPr>
        <p:txBody>
          <a:bodyPr wrap="none" lIns="91440" tIns="45720" rIns="91440" bIns="45720">
            <a:spAutoFit/>
          </a:bodyPr>
          <a:lstStyle/>
          <a:p>
            <a:pPr algn="ctr"/>
            <a:r>
              <a:rPr lang="en-US" sz="60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6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462392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11814</TotalTime>
  <Words>1887</Words>
  <Application>Microsoft Office PowerPoint</Application>
  <PresentationFormat>Widescreen</PresentationFormat>
  <Paragraphs>122</Paragraphs>
  <Slides>13</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Segoe UI</vt:lpstr>
      <vt:lpstr>Segoe UI Light</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Avinash Kumar Singh</cp:lastModifiedBy>
  <cp:revision>44</cp:revision>
  <dcterms:created xsi:type="dcterms:W3CDTF">2016-07-06T01:57:31Z</dcterms:created>
  <dcterms:modified xsi:type="dcterms:W3CDTF">2019-03-28T11:53:32Z</dcterms:modified>
</cp:coreProperties>
</file>
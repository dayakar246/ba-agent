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3" r:id="rId2"/>
    <p:sldId id="265" r:id="rId3"/>
    <p:sldId id="268" r:id="rId4"/>
    <p:sldId id="269" r:id="rId5"/>
    <p:sldId id="270" r:id="rId6"/>
    <p:sldId id="27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/>
  </p:normalViewPr>
  <p:slideViewPr>
    <p:cSldViewPr snapToGrid="0">
      <p:cViewPr varScale="1">
        <p:scale>
          <a:sx n="70" d="100"/>
          <a:sy n="70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6E4FFBC2-6C99-4467-A342-4F646E8105E8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/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/>
        </a:p>
      </dgm:t>
    </dgm:pt>
    <dgm:pt modelId="{FD44662F-72BB-4119-801E-24399F494A56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Three forms of Excess liability Insurance 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/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/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/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/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Umbrella Insurance and its functions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/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</dgm:pt>
    <dgm:pt modelId="{6597B828-368A-4EAC-99FD-85AB3B3FB0C4}" type="pres">
      <dgm:prSet presAssocID="{273FB2FC-BB42-42E4-809F-8792EAAA4D36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</dgm:pt>
    <dgm:pt modelId="{8884328B-B7DF-4FEB-88E1-5749EF4A08C1}" type="pres">
      <dgm:prSet presAssocID="{6E4FFBC2-6C99-4467-A342-4F646E8105E8}" presName="composite" presStyleCnt="0"/>
      <dgm:spPr/>
    </dgm:pt>
    <dgm:pt modelId="{CA3CA37D-96A6-40F5-8283-7F5E5E75CC28}" type="pres">
      <dgm:prSet presAssocID="{6E4FFBC2-6C99-4467-A342-4F646E8105E8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</dgm:pt>
    <dgm:pt modelId="{697118F7-20AA-4D55-BECB-464BCC2F1F89}" type="pres">
      <dgm:prSet presAssocID="{6BB193CD-2BCB-422D-9372-D29AD8AB2E75}" presName="composite" presStyleCnt="0"/>
      <dgm:spPr/>
    </dgm:pt>
    <dgm:pt modelId="{3196A1B1-B062-4292-A00B-1AF4EFB306CF}" type="pres">
      <dgm:prSet presAssocID="{6BB193CD-2BCB-422D-9372-D29AD8AB2E75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 custScaleY="858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F16A8AD6-BF95-4EE3-80BF-0562E314F82E}" type="presOf" srcId="{6BB193CD-2BCB-422D-9372-D29AD8AB2E75}" destId="{3196A1B1-B062-4292-A00B-1AF4EFB306CF}" srcOrd="0" destOrd="0" presId="urn:microsoft.com/office/officeart/2005/8/layout/chevron2"/>
    <dgm:cxn modelId="{EDDECDC8-1167-4FA5-8605-2C3AAE745316}" type="presOf" srcId="{68FAD2B8-B928-4799-8BC6-C42A1A6B3879}" destId="{BA57226D-E733-47AB-9C1E-7F48998AF898}" srcOrd="0" destOrd="0" presId="urn:microsoft.com/office/officeart/2005/8/layout/chevron2"/>
    <dgm:cxn modelId="{E35CF5CC-9849-401F-BF9F-A6B2D0742CE7}" type="presOf" srcId="{FD44662F-72BB-4119-801E-24399F494A56}" destId="{2F79F4EE-99A1-4CEC-8FEE-C636AD274778}" srcOrd="0" destOrd="0" presId="urn:microsoft.com/office/officeart/2005/8/layout/chevron2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8C489AE4-58C8-49CC-BBF4-8D95F519189B}" type="presOf" srcId="{7C839073-D423-4CF0-A279-F3597BB99994}" destId="{AD927985-2E20-4855-8300-EF608B954011}" srcOrd="0" destOrd="0" presId="urn:microsoft.com/office/officeart/2005/8/layout/chevron2"/>
    <dgm:cxn modelId="{A8D5F1EE-2BF3-452B-8EB6-EB361EDF23E3}" type="presOf" srcId="{AEA98A0A-5971-4387-8F87-30E2E87D1BBC}" destId="{5DF62DFD-4FA4-479D-BACA-0B5672D793AE}" srcOrd="0" destOrd="0" presId="urn:microsoft.com/office/officeart/2005/8/layout/chevron2"/>
    <dgm:cxn modelId="{8DDC210A-CD36-4D04-8ED4-5858DABE2B10}" type="presOf" srcId="{273FB2FC-BB42-42E4-809F-8792EAAA4D36}" destId="{6597B828-368A-4EAC-99FD-85AB3B3FB0C4}" srcOrd="0" destOrd="0" presId="urn:microsoft.com/office/officeart/2005/8/layout/chevron2"/>
    <dgm:cxn modelId="{42EFA068-755E-402A-8D5F-D7649E35A639}" type="presOf" srcId="{6E4FFBC2-6C99-4467-A342-4F646E8105E8}" destId="{CA3CA37D-96A6-40F5-8283-7F5E5E75CC28}" srcOrd="0" destOrd="0" presId="urn:microsoft.com/office/officeart/2005/8/layout/chevron2"/>
    <dgm:cxn modelId="{45DA512F-145B-4B25-B523-E0F18864ADFA}" type="presParOf" srcId="{BA57226D-E733-47AB-9C1E-7F48998AF898}" destId="{CC146864-BFF0-4842-89BF-1105AD66F5D5}" srcOrd="0" destOrd="0" presId="urn:microsoft.com/office/officeart/2005/8/layout/chevron2"/>
    <dgm:cxn modelId="{75D7595C-93E6-48E9-A663-F746A0ABDBB5}" type="presParOf" srcId="{CC146864-BFF0-4842-89BF-1105AD66F5D5}" destId="{6597B828-368A-4EAC-99FD-85AB3B3FB0C4}" srcOrd="0" destOrd="0" presId="urn:microsoft.com/office/officeart/2005/8/layout/chevron2"/>
    <dgm:cxn modelId="{6635C3B6-2F2F-483B-BD36-2C35618B127C}" type="presParOf" srcId="{CC146864-BFF0-4842-89BF-1105AD66F5D5}" destId="{5DF62DFD-4FA4-479D-BACA-0B5672D793AE}" srcOrd="1" destOrd="0" presId="urn:microsoft.com/office/officeart/2005/8/layout/chevron2"/>
    <dgm:cxn modelId="{584A7E11-D0E0-46DF-BA68-6E49656B49E0}" type="presParOf" srcId="{BA57226D-E733-47AB-9C1E-7F48998AF898}" destId="{33D84CC3-27D8-4296-A650-E0BD45C89460}" srcOrd="1" destOrd="0" presId="urn:microsoft.com/office/officeart/2005/8/layout/chevron2"/>
    <dgm:cxn modelId="{DDEE6DEF-429F-4FDC-8174-A7AB9B3E3254}" type="presParOf" srcId="{BA57226D-E733-47AB-9C1E-7F48998AF898}" destId="{8884328B-B7DF-4FEB-88E1-5749EF4A08C1}" srcOrd="2" destOrd="0" presId="urn:microsoft.com/office/officeart/2005/8/layout/chevron2"/>
    <dgm:cxn modelId="{54E666A8-BFC8-43E4-B0CD-9E94C21E08BE}" type="presParOf" srcId="{8884328B-B7DF-4FEB-88E1-5749EF4A08C1}" destId="{CA3CA37D-96A6-40F5-8283-7F5E5E75CC28}" srcOrd="0" destOrd="0" presId="urn:microsoft.com/office/officeart/2005/8/layout/chevron2"/>
    <dgm:cxn modelId="{E76CE10B-C478-40FE-B6C1-DDAF870EFF56}" type="presParOf" srcId="{8884328B-B7DF-4FEB-88E1-5749EF4A08C1}" destId="{2F79F4EE-99A1-4CEC-8FEE-C636AD274778}" srcOrd="1" destOrd="0" presId="urn:microsoft.com/office/officeart/2005/8/layout/chevron2"/>
    <dgm:cxn modelId="{A2EE3B38-BD5E-4CEE-95EB-C18092D443D8}" type="presParOf" srcId="{BA57226D-E733-47AB-9C1E-7F48998AF898}" destId="{A446C02B-6598-45A5-94CC-35BC3846B78B}" srcOrd="3" destOrd="0" presId="urn:microsoft.com/office/officeart/2005/8/layout/chevron2"/>
    <dgm:cxn modelId="{8989D186-E76F-4A14-BCB9-B3D9F2A3FF25}" type="presParOf" srcId="{BA57226D-E733-47AB-9C1E-7F48998AF898}" destId="{697118F7-20AA-4D55-BECB-464BCC2F1F89}" srcOrd="4" destOrd="0" presId="urn:microsoft.com/office/officeart/2005/8/layout/chevron2"/>
    <dgm:cxn modelId="{F4CB6873-4DA8-45FA-9237-D0BEB25F75EC}" type="presParOf" srcId="{697118F7-20AA-4D55-BECB-464BCC2F1F89}" destId="{3196A1B1-B062-4292-A00B-1AF4EFB306CF}" srcOrd="0" destOrd="0" presId="urn:microsoft.com/office/officeart/2005/8/layout/chevron2"/>
    <dgm:cxn modelId="{9DE87A36-5BD2-48AB-871B-B1703EB3395C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6E4FFBC2-6C99-4467-A342-4F646E8105E8}">
      <dgm:prSet phldrT="[Text]" phldr="1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/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/>
        </a:p>
      </dgm:t>
    </dgm:pt>
    <dgm:pt modelId="{FD44662F-72BB-4119-801E-24399F494A56}">
      <dgm:prSet phldrT="[Text]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Three forms of Excess liability Insurance 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/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/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/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/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Umbrella Insurance and its functions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/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  <dgm:t>
        <a:bodyPr/>
        <a:lstStyle/>
        <a:p>
          <a:endParaRPr lang="en-US"/>
        </a:p>
      </dgm:t>
    </dgm:pt>
    <dgm:pt modelId="{6597B828-368A-4EAC-99FD-85AB3B3FB0C4}" type="pres">
      <dgm:prSet presAssocID="{273FB2FC-BB42-42E4-809F-8792EAAA4D36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  <dgm:t>
        <a:bodyPr/>
        <a:lstStyle/>
        <a:p>
          <a:endParaRPr lang="en-US"/>
        </a:p>
      </dgm:t>
    </dgm:pt>
    <dgm:pt modelId="{8884328B-B7DF-4FEB-88E1-5749EF4A08C1}" type="pres">
      <dgm:prSet presAssocID="{6E4FFBC2-6C99-4467-A342-4F646E8105E8}" presName="composite" presStyleCnt="0"/>
      <dgm:spPr/>
      <dgm:t>
        <a:bodyPr/>
        <a:lstStyle/>
        <a:p>
          <a:endParaRPr lang="en-US"/>
        </a:p>
      </dgm:t>
    </dgm:pt>
    <dgm:pt modelId="{CA3CA37D-96A6-40F5-8283-7F5E5E75CC28}" type="pres">
      <dgm:prSet presAssocID="{6E4FFBC2-6C99-4467-A342-4F646E8105E8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  <dgm:t>
        <a:bodyPr/>
        <a:lstStyle/>
        <a:p>
          <a:endParaRPr lang="en-US"/>
        </a:p>
      </dgm:t>
    </dgm:pt>
    <dgm:pt modelId="{697118F7-20AA-4D55-BECB-464BCC2F1F89}" type="pres">
      <dgm:prSet presAssocID="{6BB193CD-2BCB-422D-9372-D29AD8AB2E75}" presName="composite" presStyleCnt="0"/>
      <dgm:spPr/>
      <dgm:t>
        <a:bodyPr/>
        <a:lstStyle/>
        <a:p>
          <a:endParaRPr lang="en-US"/>
        </a:p>
      </dgm:t>
    </dgm:pt>
    <dgm:pt modelId="{3196A1B1-B062-4292-A00B-1AF4EFB306CF}" type="pres">
      <dgm:prSet presAssocID="{6BB193CD-2BCB-422D-9372-D29AD8AB2E75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 custScaleY="858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AD57E4F-2EF0-4B31-B848-96C344C79714}" type="presOf" srcId="{68FAD2B8-B928-4799-8BC6-C42A1A6B3879}" destId="{BA57226D-E733-47AB-9C1E-7F48998AF898}" srcOrd="0" destOrd="0" presId="urn:microsoft.com/office/officeart/2005/8/layout/chevron2"/>
    <dgm:cxn modelId="{F1314196-CA62-471E-8EEF-907CF044F2EA}" type="presOf" srcId="{273FB2FC-BB42-42E4-809F-8792EAAA4D36}" destId="{6597B828-368A-4EAC-99FD-85AB3B3FB0C4}" srcOrd="0" destOrd="0" presId="urn:microsoft.com/office/officeart/2005/8/layout/chevron2"/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759A184D-CEC9-4176-B084-7724FD28F7F5}" type="presOf" srcId="{7C839073-D423-4CF0-A279-F3597BB99994}" destId="{AD927985-2E20-4855-8300-EF608B954011}" srcOrd="0" destOrd="0" presId="urn:microsoft.com/office/officeart/2005/8/layout/chevron2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0EE798EB-5773-4247-AE7E-421EE1F25106}" type="presOf" srcId="{6BB193CD-2BCB-422D-9372-D29AD8AB2E75}" destId="{3196A1B1-B062-4292-A00B-1AF4EFB306CF}" srcOrd="0" destOrd="0" presId="urn:microsoft.com/office/officeart/2005/8/layout/chevron2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DC3B1272-CAA7-40C6-BE42-AD92486D9F38}" type="presOf" srcId="{AEA98A0A-5971-4387-8F87-30E2E87D1BBC}" destId="{5DF62DFD-4FA4-479D-BACA-0B5672D793AE}" srcOrd="0" destOrd="0" presId="urn:microsoft.com/office/officeart/2005/8/layout/chevron2"/>
    <dgm:cxn modelId="{19D1421F-A48D-41AC-B329-70EB1F07F5CC}" type="presOf" srcId="{FD44662F-72BB-4119-801E-24399F494A56}" destId="{2F79F4EE-99A1-4CEC-8FEE-C636AD274778}" srcOrd="0" destOrd="0" presId="urn:microsoft.com/office/officeart/2005/8/layout/chevron2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FBF89A71-D75E-4523-AE26-1BBDD92F7409}" type="presOf" srcId="{6E4FFBC2-6C99-4467-A342-4F646E8105E8}" destId="{CA3CA37D-96A6-40F5-8283-7F5E5E75CC28}" srcOrd="0" destOrd="0" presId="urn:microsoft.com/office/officeart/2005/8/layout/chevron2"/>
    <dgm:cxn modelId="{A8B8717B-B379-441A-A5E8-673781AB04A3}" type="presParOf" srcId="{BA57226D-E733-47AB-9C1E-7F48998AF898}" destId="{CC146864-BFF0-4842-89BF-1105AD66F5D5}" srcOrd="0" destOrd="0" presId="urn:microsoft.com/office/officeart/2005/8/layout/chevron2"/>
    <dgm:cxn modelId="{FA2DBE36-26B1-4958-9A80-90B34B7CDBF2}" type="presParOf" srcId="{CC146864-BFF0-4842-89BF-1105AD66F5D5}" destId="{6597B828-368A-4EAC-99FD-85AB3B3FB0C4}" srcOrd="0" destOrd="0" presId="urn:microsoft.com/office/officeart/2005/8/layout/chevron2"/>
    <dgm:cxn modelId="{B3AE68B5-E2B7-46AA-891F-0231D34ACC86}" type="presParOf" srcId="{CC146864-BFF0-4842-89BF-1105AD66F5D5}" destId="{5DF62DFD-4FA4-479D-BACA-0B5672D793AE}" srcOrd="1" destOrd="0" presId="urn:microsoft.com/office/officeart/2005/8/layout/chevron2"/>
    <dgm:cxn modelId="{C40D61DB-DD09-47E0-9AFC-E0838C6209F6}" type="presParOf" srcId="{BA57226D-E733-47AB-9C1E-7F48998AF898}" destId="{33D84CC3-27D8-4296-A650-E0BD45C89460}" srcOrd="1" destOrd="0" presId="urn:microsoft.com/office/officeart/2005/8/layout/chevron2"/>
    <dgm:cxn modelId="{234B20EB-6521-4443-87D0-1D633835763C}" type="presParOf" srcId="{BA57226D-E733-47AB-9C1E-7F48998AF898}" destId="{8884328B-B7DF-4FEB-88E1-5749EF4A08C1}" srcOrd="2" destOrd="0" presId="urn:microsoft.com/office/officeart/2005/8/layout/chevron2"/>
    <dgm:cxn modelId="{FFF8AE7E-9509-42FF-B5F9-FF74BDDEDFDA}" type="presParOf" srcId="{8884328B-B7DF-4FEB-88E1-5749EF4A08C1}" destId="{CA3CA37D-96A6-40F5-8283-7F5E5E75CC28}" srcOrd="0" destOrd="0" presId="urn:microsoft.com/office/officeart/2005/8/layout/chevron2"/>
    <dgm:cxn modelId="{BA71AB03-74EC-4D39-85EB-E946E2E41027}" type="presParOf" srcId="{8884328B-B7DF-4FEB-88E1-5749EF4A08C1}" destId="{2F79F4EE-99A1-4CEC-8FEE-C636AD274778}" srcOrd="1" destOrd="0" presId="urn:microsoft.com/office/officeart/2005/8/layout/chevron2"/>
    <dgm:cxn modelId="{73F14A02-0BEB-4575-9B56-7F78DD5132B0}" type="presParOf" srcId="{BA57226D-E733-47AB-9C1E-7F48998AF898}" destId="{A446C02B-6598-45A5-94CC-35BC3846B78B}" srcOrd="3" destOrd="0" presId="urn:microsoft.com/office/officeart/2005/8/layout/chevron2"/>
    <dgm:cxn modelId="{5BAB1D5E-AF5E-4B12-87BE-5E983BD872B5}" type="presParOf" srcId="{BA57226D-E733-47AB-9C1E-7F48998AF898}" destId="{697118F7-20AA-4D55-BECB-464BCC2F1F89}" srcOrd="4" destOrd="0" presId="urn:microsoft.com/office/officeart/2005/8/layout/chevron2"/>
    <dgm:cxn modelId="{D2FB3239-7919-45F2-8DEF-CE83D4DA2FEF}" type="presParOf" srcId="{697118F7-20AA-4D55-BECB-464BCC2F1F89}" destId="{3196A1B1-B062-4292-A00B-1AF4EFB306CF}" srcOrd="0" destOrd="0" presId="urn:microsoft.com/office/officeart/2005/8/layout/chevron2"/>
    <dgm:cxn modelId="{684C6757-9C8D-483F-AC09-505A0D101B87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6E4FFBC2-6C99-4467-A342-4F646E8105E8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/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/>
        </a:p>
      </dgm:t>
    </dgm:pt>
    <dgm:pt modelId="{FD44662F-72BB-4119-801E-24399F494A56}">
      <dgm:prSet phldrT="[Text]" custT="1"/>
      <dgm:spPr/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Three forms of Excess liability Insurance 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/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/>
        </a:p>
      </dgm:t>
    </dgm:pt>
    <dgm:pt modelId="{6BB193CD-2BCB-422D-9372-D29AD8AB2E75}">
      <dgm:prSet phldrT="[Text]" phldr="1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en-US" sz="16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/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/>
        </a:p>
      </dgm:t>
    </dgm:pt>
    <dgm:pt modelId="{7C839073-D423-4CF0-A279-F3597BB99994}">
      <dgm:prSet phldrT="[Text]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400" dirty="0" smtClean="0">
              <a:latin typeface="Segoe UI" panose="020B0502040204020203" pitchFamily="34" charset="0"/>
              <a:cs typeface="Segoe UI" panose="020B0502040204020203" pitchFamily="34" charset="0"/>
            </a:rPr>
            <a:t>Umbrella Insurance and its functions</a:t>
          </a:r>
          <a:endParaRPr lang="en-US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/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  <dgm:t>
        <a:bodyPr/>
        <a:lstStyle/>
        <a:p>
          <a:endParaRPr lang="en-US"/>
        </a:p>
      </dgm:t>
    </dgm:pt>
    <dgm:pt modelId="{6597B828-368A-4EAC-99FD-85AB3B3FB0C4}" type="pres">
      <dgm:prSet presAssocID="{273FB2FC-BB42-42E4-809F-8792EAAA4D36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  <dgm:t>
        <a:bodyPr/>
        <a:lstStyle/>
        <a:p>
          <a:endParaRPr lang="en-US"/>
        </a:p>
      </dgm:t>
    </dgm:pt>
    <dgm:pt modelId="{8884328B-B7DF-4FEB-88E1-5749EF4A08C1}" type="pres">
      <dgm:prSet presAssocID="{6E4FFBC2-6C99-4467-A342-4F646E8105E8}" presName="composite" presStyleCnt="0"/>
      <dgm:spPr/>
      <dgm:t>
        <a:bodyPr/>
        <a:lstStyle/>
        <a:p>
          <a:endParaRPr lang="en-US"/>
        </a:p>
      </dgm:t>
    </dgm:pt>
    <dgm:pt modelId="{CA3CA37D-96A6-40F5-8283-7F5E5E75CC28}" type="pres">
      <dgm:prSet presAssocID="{6E4FFBC2-6C99-4467-A342-4F646E8105E8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  <dgm:t>
        <a:bodyPr/>
        <a:lstStyle/>
        <a:p>
          <a:endParaRPr lang="en-US"/>
        </a:p>
      </dgm:t>
    </dgm:pt>
    <dgm:pt modelId="{697118F7-20AA-4D55-BECB-464BCC2F1F89}" type="pres">
      <dgm:prSet presAssocID="{6BB193CD-2BCB-422D-9372-D29AD8AB2E75}" presName="composite" presStyleCnt="0"/>
      <dgm:spPr/>
      <dgm:t>
        <a:bodyPr/>
        <a:lstStyle/>
        <a:p>
          <a:endParaRPr lang="en-US"/>
        </a:p>
      </dgm:t>
    </dgm:pt>
    <dgm:pt modelId="{3196A1B1-B062-4292-A00B-1AF4EFB306CF}" type="pres">
      <dgm:prSet presAssocID="{6BB193CD-2BCB-422D-9372-D29AD8AB2E75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 custScaleY="858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7E475C7-B4C2-4B54-8813-86B174EA3109}" type="presOf" srcId="{7C839073-D423-4CF0-A279-F3597BB99994}" destId="{AD927985-2E20-4855-8300-EF608B954011}" srcOrd="0" destOrd="0" presId="urn:microsoft.com/office/officeart/2005/8/layout/chevron2"/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407D39DD-1B53-4F6F-90B5-E4D5D7A015B2}" type="presOf" srcId="{FD44662F-72BB-4119-801E-24399F494A56}" destId="{2F79F4EE-99A1-4CEC-8FEE-C636AD274778}" srcOrd="0" destOrd="0" presId="urn:microsoft.com/office/officeart/2005/8/layout/chevron2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10B5454E-9BEA-4508-B3EA-5246F28EE478}" type="presOf" srcId="{AEA98A0A-5971-4387-8F87-30E2E87D1BBC}" destId="{5DF62DFD-4FA4-479D-BACA-0B5672D793AE}" srcOrd="0" destOrd="0" presId="urn:microsoft.com/office/officeart/2005/8/layout/chevron2"/>
    <dgm:cxn modelId="{787153B5-3FCB-479A-AC0B-38504A9902E8}" type="presOf" srcId="{273FB2FC-BB42-42E4-809F-8792EAAA4D36}" destId="{6597B828-368A-4EAC-99FD-85AB3B3FB0C4}" srcOrd="0" destOrd="0" presId="urn:microsoft.com/office/officeart/2005/8/layout/chevron2"/>
    <dgm:cxn modelId="{586BAFB1-CB87-4E94-91E6-082E514FE7AE}" type="presOf" srcId="{6E4FFBC2-6C99-4467-A342-4F646E8105E8}" destId="{CA3CA37D-96A6-40F5-8283-7F5E5E75CC28}" srcOrd="0" destOrd="0" presId="urn:microsoft.com/office/officeart/2005/8/layout/chevron2"/>
    <dgm:cxn modelId="{0FEB2D46-7C15-49D6-B218-E3F90344DD02}" type="presOf" srcId="{6BB193CD-2BCB-422D-9372-D29AD8AB2E75}" destId="{3196A1B1-B062-4292-A00B-1AF4EFB306CF}" srcOrd="0" destOrd="0" presId="urn:microsoft.com/office/officeart/2005/8/layout/chevron2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9D4F79EA-407E-4721-9E99-69666F82258B}" type="presOf" srcId="{68FAD2B8-B928-4799-8BC6-C42A1A6B3879}" destId="{BA57226D-E733-47AB-9C1E-7F48998AF898}" srcOrd="0" destOrd="0" presId="urn:microsoft.com/office/officeart/2005/8/layout/chevron2"/>
    <dgm:cxn modelId="{3D10C409-AAEB-4EC7-A900-1C7A69CD2EC2}" type="presParOf" srcId="{BA57226D-E733-47AB-9C1E-7F48998AF898}" destId="{CC146864-BFF0-4842-89BF-1105AD66F5D5}" srcOrd="0" destOrd="0" presId="urn:microsoft.com/office/officeart/2005/8/layout/chevron2"/>
    <dgm:cxn modelId="{9B94C656-DD33-4794-A2CF-FB2C98176DA4}" type="presParOf" srcId="{CC146864-BFF0-4842-89BF-1105AD66F5D5}" destId="{6597B828-368A-4EAC-99FD-85AB3B3FB0C4}" srcOrd="0" destOrd="0" presId="urn:microsoft.com/office/officeart/2005/8/layout/chevron2"/>
    <dgm:cxn modelId="{7CBBB858-30C4-4169-B148-B3DC49FB5FED}" type="presParOf" srcId="{CC146864-BFF0-4842-89BF-1105AD66F5D5}" destId="{5DF62DFD-4FA4-479D-BACA-0B5672D793AE}" srcOrd="1" destOrd="0" presId="urn:microsoft.com/office/officeart/2005/8/layout/chevron2"/>
    <dgm:cxn modelId="{D94F9E91-0BE4-405B-B285-4FB2F77B72D6}" type="presParOf" srcId="{BA57226D-E733-47AB-9C1E-7F48998AF898}" destId="{33D84CC3-27D8-4296-A650-E0BD45C89460}" srcOrd="1" destOrd="0" presId="urn:microsoft.com/office/officeart/2005/8/layout/chevron2"/>
    <dgm:cxn modelId="{ED45E431-5002-4939-9611-D0CEC64FB050}" type="presParOf" srcId="{BA57226D-E733-47AB-9C1E-7F48998AF898}" destId="{8884328B-B7DF-4FEB-88E1-5749EF4A08C1}" srcOrd="2" destOrd="0" presId="urn:microsoft.com/office/officeart/2005/8/layout/chevron2"/>
    <dgm:cxn modelId="{D881E100-0016-4D43-B017-E137369E2B80}" type="presParOf" srcId="{8884328B-B7DF-4FEB-88E1-5749EF4A08C1}" destId="{CA3CA37D-96A6-40F5-8283-7F5E5E75CC28}" srcOrd="0" destOrd="0" presId="urn:microsoft.com/office/officeart/2005/8/layout/chevron2"/>
    <dgm:cxn modelId="{6E658025-A8B4-4CD4-8D84-A778DA9A547D}" type="presParOf" srcId="{8884328B-B7DF-4FEB-88E1-5749EF4A08C1}" destId="{2F79F4EE-99A1-4CEC-8FEE-C636AD274778}" srcOrd="1" destOrd="0" presId="urn:microsoft.com/office/officeart/2005/8/layout/chevron2"/>
    <dgm:cxn modelId="{54700087-7A55-4694-9AB1-156EB4FD2D33}" type="presParOf" srcId="{BA57226D-E733-47AB-9C1E-7F48998AF898}" destId="{A446C02B-6598-45A5-94CC-35BC3846B78B}" srcOrd="3" destOrd="0" presId="urn:microsoft.com/office/officeart/2005/8/layout/chevron2"/>
    <dgm:cxn modelId="{CC0DBC24-6DE6-4500-867F-E73C90CCB5B6}" type="presParOf" srcId="{BA57226D-E733-47AB-9C1E-7F48998AF898}" destId="{697118F7-20AA-4D55-BECB-464BCC2F1F89}" srcOrd="4" destOrd="0" presId="urn:microsoft.com/office/officeart/2005/8/layout/chevron2"/>
    <dgm:cxn modelId="{575D97F6-5248-4E9B-8E7E-E14C8553CC19}" type="presParOf" srcId="{697118F7-20AA-4D55-BECB-464BCC2F1F89}" destId="{3196A1B1-B062-4292-A00B-1AF4EFB306CF}" srcOrd="0" destOrd="0" presId="urn:microsoft.com/office/officeart/2005/8/layout/chevron2"/>
    <dgm:cxn modelId="{5D8E2A5B-3579-43C9-AE8E-63D2432DC944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40957" y="142229"/>
          <a:ext cx="939714" cy="657799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330172"/>
        <a:ext cx="657799" cy="281915"/>
      </dsp:txXfrm>
    </dsp:sp>
    <dsp:sp modelId="{5DF62DFD-4FA4-479D-BACA-0B5672D793AE}">
      <dsp:nvSpPr>
        <dsp:cNvPr id="0" name=""/>
        <dsp:cNvSpPr/>
      </dsp:nvSpPr>
      <dsp:spPr>
        <a:xfrm rot="5400000">
          <a:off x="1407242" y="-748170"/>
          <a:ext cx="610814" cy="2109700"/>
        </a:xfrm>
        <a:prstGeom prst="round2SameRect">
          <a:avLst/>
        </a:prstGeom>
        <a:solidFill>
          <a:schemeClr val="accent2">
            <a:lumMod val="60000"/>
            <a:lumOff val="4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800" y="31089"/>
        <a:ext cx="2079883" cy="551180"/>
      </dsp:txXfrm>
    </dsp:sp>
    <dsp:sp modelId="{CA3CA37D-96A6-40F5-8283-7F5E5E75CC28}">
      <dsp:nvSpPr>
        <dsp:cNvPr id="0" name=""/>
        <dsp:cNvSpPr/>
      </dsp:nvSpPr>
      <dsp:spPr>
        <a:xfrm rot="5400000">
          <a:off x="-140957" y="872432"/>
          <a:ext cx="939714" cy="65779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060375"/>
        <a:ext cx="657799" cy="281915"/>
      </dsp:txXfrm>
    </dsp:sp>
    <dsp:sp modelId="{2F79F4EE-99A1-4CEC-8FEE-C636AD274778}">
      <dsp:nvSpPr>
        <dsp:cNvPr id="0" name=""/>
        <dsp:cNvSpPr/>
      </dsp:nvSpPr>
      <dsp:spPr>
        <a:xfrm rot="5400000">
          <a:off x="1407242" y="-17967"/>
          <a:ext cx="610814" cy="210970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Three forms of Excess liability Insurance </a:t>
          </a:r>
          <a:endParaRPr lang="en-US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800" y="761292"/>
        <a:ext cx="2079883" cy="551180"/>
      </dsp:txXfrm>
    </dsp:sp>
    <dsp:sp modelId="{3196A1B1-B062-4292-A00B-1AF4EFB306CF}">
      <dsp:nvSpPr>
        <dsp:cNvPr id="0" name=""/>
        <dsp:cNvSpPr/>
      </dsp:nvSpPr>
      <dsp:spPr>
        <a:xfrm rot="5400000">
          <a:off x="-140957" y="1602635"/>
          <a:ext cx="939714" cy="65779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790578"/>
        <a:ext cx="657799" cy="281915"/>
      </dsp:txXfrm>
    </dsp:sp>
    <dsp:sp modelId="{AD927985-2E20-4855-8300-EF608B954011}">
      <dsp:nvSpPr>
        <dsp:cNvPr id="0" name=""/>
        <dsp:cNvSpPr/>
      </dsp:nvSpPr>
      <dsp:spPr>
        <a:xfrm rot="5400000">
          <a:off x="1450351" y="712235"/>
          <a:ext cx="524597" cy="210970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Umbrella Insurance and its functions</a:t>
          </a:r>
          <a:endParaRPr lang="en-US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800" y="1530396"/>
        <a:ext cx="2084091" cy="4733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40957" y="142229"/>
          <a:ext cx="939714" cy="65779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330172"/>
        <a:ext cx="657799" cy="281915"/>
      </dsp:txXfrm>
    </dsp:sp>
    <dsp:sp modelId="{5DF62DFD-4FA4-479D-BACA-0B5672D793AE}">
      <dsp:nvSpPr>
        <dsp:cNvPr id="0" name=""/>
        <dsp:cNvSpPr/>
      </dsp:nvSpPr>
      <dsp:spPr>
        <a:xfrm rot="5400000">
          <a:off x="1407242" y="-748170"/>
          <a:ext cx="610814" cy="210970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800" y="31089"/>
        <a:ext cx="2079883" cy="551180"/>
      </dsp:txXfrm>
    </dsp:sp>
    <dsp:sp modelId="{CA3CA37D-96A6-40F5-8283-7F5E5E75CC28}">
      <dsp:nvSpPr>
        <dsp:cNvPr id="0" name=""/>
        <dsp:cNvSpPr/>
      </dsp:nvSpPr>
      <dsp:spPr>
        <a:xfrm rot="5400000">
          <a:off x="-140957" y="872432"/>
          <a:ext cx="939714" cy="657799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060375"/>
        <a:ext cx="657799" cy="281915"/>
      </dsp:txXfrm>
    </dsp:sp>
    <dsp:sp modelId="{2F79F4EE-99A1-4CEC-8FEE-C636AD274778}">
      <dsp:nvSpPr>
        <dsp:cNvPr id="0" name=""/>
        <dsp:cNvSpPr/>
      </dsp:nvSpPr>
      <dsp:spPr>
        <a:xfrm rot="5400000">
          <a:off x="1407242" y="-17967"/>
          <a:ext cx="610814" cy="2109700"/>
        </a:xfrm>
        <a:prstGeom prst="round2SameRect">
          <a:avLst/>
        </a:prstGeom>
        <a:solidFill>
          <a:schemeClr val="accent2">
            <a:lumMod val="60000"/>
            <a:lumOff val="4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Three forms of Excess liability Insurance </a:t>
          </a:r>
          <a:endParaRPr lang="en-US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800" y="761292"/>
        <a:ext cx="2079883" cy="551180"/>
      </dsp:txXfrm>
    </dsp:sp>
    <dsp:sp modelId="{3196A1B1-B062-4292-A00B-1AF4EFB306CF}">
      <dsp:nvSpPr>
        <dsp:cNvPr id="0" name=""/>
        <dsp:cNvSpPr/>
      </dsp:nvSpPr>
      <dsp:spPr>
        <a:xfrm rot="5400000">
          <a:off x="-140957" y="1602635"/>
          <a:ext cx="939714" cy="65779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790578"/>
        <a:ext cx="657799" cy="281915"/>
      </dsp:txXfrm>
    </dsp:sp>
    <dsp:sp modelId="{AD927985-2E20-4855-8300-EF608B954011}">
      <dsp:nvSpPr>
        <dsp:cNvPr id="0" name=""/>
        <dsp:cNvSpPr/>
      </dsp:nvSpPr>
      <dsp:spPr>
        <a:xfrm rot="5400000">
          <a:off x="1450351" y="712235"/>
          <a:ext cx="524597" cy="210970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Umbrella Insurance and its functions</a:t>
          </a:r>
          <a:endParaRPr lang="en-US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800" y="1530396"/>
        <a:ext cx="2084091" cy="4733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40957" y="142229"/>
          <a:ext cx="939714" cy="65779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330172"/>
        <a:ext cx="657799" cy="281915"/>
      </dsp:txXfrm>
    </dsp:sp>
    <dsp:sp modelId="{5DF62DFD-4FA4-479D-BACA-0B5672D793AE}">
      <dsp:nvSpPr>
        <dsp:cNvPr id="0" name=""/>
        <dsp:cNvSpPr/>
      </dsp:nvSpPr>
      <dsp:spPr>
        <a:xfrm rot="5400000">
          <a:off x="1407242" y="-748170"/>
          <a:ext cx="610814" cy="210970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800" y="31089"/>
        <a:ext cx="2079883" cy="551180"/>
      </dsp:txXfrm>
    </dsp:sp>
    <dsp:sp modelId="{CA3CA37D-96A6-40F5-8283-7F5E5E75CC28}">
      <dsp:nvSpPr>
        <dsp:cNvPr id="0" name=""/>
        <dsp:cNvSpPr/>
      </dsp:nvSpPr>
      <dsp:spPr>
        <a:xfrm rot="5400000">
          <a:off x="-140957" y="872432"/>
          <a:ext cx="939714" cy="65779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060375"/>
        <a:ext cx="657799" cy="281915"/>
      </dsp:txXfrm>
    </dsp:sp>
    <dsp:sp modelId="{2F79F4EE-99A1-4CEC-8FEE-C636AD274778}">
      <dsp:nvSpPr>
        <dsp:cNvPr id="0" name=""/>
        <dsp:cNvSpPr/>
      </dsp:nvSpPr>
      <dsp:spPr>
        <a:xfrm rot="5400000">
          <a:off x="1407242" y="-17967"/>
          <a:ext cx="610814" cy="210970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Three forms of Excess liability Insurance </a:t>
          </a:r>
          <a:endParaRPr lang="en-US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800" y="761292"/>
        <a:ext cx="2079883" cy="551180"/>
      </dsp:txXfrm>
    </dsp:sp>
    <dsp:sp modelId="{3196A1B1-B062-4292-A00B-1AF4EFB306CF}">
      <dsp:nvSpPr>
        <dsp:cNvPr id="0" name=""/>
        <dsp:cNvSpPr/>
      </dsp:nvSpPr>
      <dsp:spPr>
        <a:xfrm rot="5400000">
          <a:off x="-140957" y="1602635"/>
          <a:ext cx="939714" cy="657799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790578"/>
        <a:ext cx="657799" cy="281915"/>
      </dsp:txXfrm>
    </dsp:sp>
    <dsp:sp modelId="{AD927985-2E20-4855-8300-EF608B954011}">
      <dsp:nvSpPr>
        <dsp:cNvPr id="0" name=""/>
        <dsp:cNvSpPr/>
      </dsp:nvSpPr>
      <dsp:spPr>
        <a:xfrm rot="5400000">
          <a:off x="1450351" y="712235"/>
          <a:ext cx="524597" cy="2109700"/>
        </a:xfrm>
        <a:prstGeom prst="round2SameRect">
          <a:avLst/>
        </a:prstGeom>
        <a:solidFill>
          <a:schemeClr val="accent2">
            <a:lumMod val="60000"/>
            <a:lumOff val="4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Umbrella Insurance and its functions</a:t>
          </a:r>
          <a:endParaRPr lang="en-US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800" y="1530396"/>
        <a:ext cx="2084091" cy="4733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6F6F8-1AC0-4D01-BEA1-308F81A1BEC2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57691-B56D-4694-A91B-D15F3ED3C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51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What is commercial umbrella policy? – </a:t>
            </a:r>
          </a:p>
          <a:p>
            <a:r>
              <a:rPr lang="en-US" dirty="0" smtClean="0"/>
              <a:t>https://www.youtube.com/watch?v=seIk3qRccbM</a:t>
            </a:r>
          </a:p>
          <a:p>
            <a:r>
              <a:rPr lang="en-US" dirty="0" smtClean="0"/>
              <a:t>https://www.youtube.com/watch?v=-4mJICy2FDE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A57691-B56D-4694-A91B-D15F3ED3C03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779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491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084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65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795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3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282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63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73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09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847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305821"/>
      </p:ext>
    </p:extLst>
  </p:cSld>
  <p:clrMapOvr>
    <a:masterClrMapping/>
  </p:clrMapOvr>
  <p:transition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11371554" y="6363129"/>
            <a:ext cx="608274" cy="364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5B66DB6-D71E-4B3E-9AE0-4919FDE04E8D}" type="slidenum">
              <a:rPr lang="en-US" sz="1776" smtClean="0">
                <a:solidFill>
                  <a:schemeClr val="tx1"/>
                </a:solidFill>
              </a:rPr>
              <a:t>‹#›</a:t>
            </a:fld>
            <a:endParaRPr lang="en-US" sz="1776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2468" y="195809"/>
            <a:ext cx="1227358" cy="108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624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02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016" y="729154"/>
            <a:ext cx="4342251" cy="38356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9868" y="4945488"/>
            <a:ext cx="929854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Commercial Umbrella Insurance </a:t>
            </a:r>
            <a:endParaRPr lang="en-US" sz="35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9618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797332"/>
            <a:ext cx="9804188" cy="2646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69" y="-7940"/>
            <a:ext cx="12165823" cy="83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8788" tIns="108788" rIns="108788" bIns="108788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eaLnBrk="0" hangingPunct="0">
              <a:defRPr sz="2800" b="1">
                <a:solidFill>
                  <a:srgbClr val="205595"/>
                </a:solidFill>
                <a:latin typeface="Arial"/>
                <a:ea typeface="+mj-ea"/>
                <a:cs typeface="Arial"/>
              </a:defRPr>
            </a:lvl1pPr>
            <a:lvl2pPr algn="ctr" eaLnBrk="0" hangingPunct="0">
              <a:defRPr sz="4400">
                <a:latin typeface="Calibri" pitchFamily="34" charset="0"/>
              </a:defRPr>
            </a:lvl2pPr>
            <a:lvl3pPr algn="ctr" eaLnBrk="0" hangingPunct="0">
              <a:defRPr sz="4400">
                <a:latin typeface="Calibri" pitchFamily="34" charset="0"/>
              </a:defRPr>
            </a:lvl3pPr>
            <a:lvl4pPr algn="ctr" eaLnBrk="0" hangingPunct="0">
              <a:defRPr sz="4400">
                <a:latin typeface="Calibri" pitchFamily="34" charset="0"/>
              </a:defRPr>
            </a:lvl4pPr>
            <a:lvl5pPr algn="ctr" eaLnBrk="0" hangingPunct="0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pPr>
              <a:buSzPct val="120000"/>
            </a:pPr>
            <a:endParaRPr lang="en-US" altLang="en-US" sz="3454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3462" y="6493359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391059" y="248820"/>
            <a:ext cx="12165823" cy="83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8788" tIns="108788" rIns="108788" bIns="108788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eaLnBrk="0" hangingPunct="0">
              <a:defRPr sz="2800" b="1">
                <a:solidFill>
                  <a:srgbClr val="205595"/>
                </a:solidFill>
                <a:latin typeface="Arial"/>
                <a:ea typeface="+mj-ea"/>
                <a:cs typeface="Arial"/>
              </a:defRPr>
            </a:lvl1pPr>
            <a:lvl2pPr algn="ctr" eaLnBrk="0" hangingPunct="0">
              <a:defRPr sz="4400">
                <a:latin typeface="Calibri" pitchFamily="34" charset="0"/>
              </a:defRPr>
            </a:lvl2pPr>
            <a:lvl3pPr algn="ctr" eaLnBrk="0" hangingPunct="0">
              <a:defRPr sz="4400">
                <a:latin typeface="Calibri" pitchFamily="34" charset="0"/>
              </a:defRPr>
            </a:lvl3pPr>
            <a:lvl4pPr algn="ctr" eaLnBrk="0" hangingPunct="0">
              <a:defRPr sz="4400">
                <a:latin typeface="Calibri" pitchFamily="34" charset="0"/>
              </a:defRPr>
            </a:lvl4pPr>
            <a:lvl5pPr algn="ctr" eaLnBrk="0" hangingPunct="0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pPr>
              <a:buSzPct val="120000"/>
            </a:pPr>
            <a:r>
              <a:rPr lang="en-US" altLang="en-US" sz="3454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Objectives	</a:t>
            </a:r>
            <a:endParaRPr lang="en-US" altLang="en-US" sz="3454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32330" y="1867257"/>
            <a:ext cx="947400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Segoe UI Light" panose="020B0502040204020203" pitchFamily="34" charset="0"/>
                <a:cs typeface="Arial" pitchFamily="34" charset="0"/>
              </a:rPr>
              <a:t>To provides an overview on what is Excess liability and Commercial Umbrella </a:t>
            </a:r>
            <a:r>
              <a:rPr lang="en-US" sz="2200" dirty="0" smtClean="0">
                <a:latin typeface="Segoe UI Light" panose="020B0502040204020203" pitchFamily="34" charset="0"/>
                <a:cs typeface="Arial" pitchFamily="34" charset="0"/>
              </a:rPr>
              <a:t>insurance </a:t>
            </a:r>
            <a:r>
              <a:rPr lang="en-US" sz="2200" dirty="0">
                <a:latin typeface="Segoe UI Light" panose="020B0502040204020203" pitchFamily="34" charset="0"/>
                <a:cs typeface="Arial" pitchFamily="34" charset="0"/>
              </a:rPr>
              <a:t>and why it is required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Segoe UI Light" panose="020B0502040204020203" pitchFamily="34" charset="0"/>
                <a:cs typeface="Arial" pitchFamily="34" charset="0"/>
              </a:rPr>
              <a:t>To provide an understanding on three types of Commercial </a:t>
            </a:r>
            <a:r>
              <a:rPr lang="en-US" sz="2200" dirty="0" smtClean="0">
                <a:latin typeface="Segoe UI Light" panose="020B0502040204020203" pitchFamily="34" charset="0"/>
                <a:cs typeface="Arial" pitchFamily="34" charset="0"/>
              </a:rPr>
              <a:t>excess </a:t>
            </a:r>
            <a:r>
              <a:rPr lang="en-US" sz="2200" dirty="0">
                <a:latin typeface="Segoe UI Light" panose="020B0502040204020203" pitchFamily="34" charset="0"/>
                <a:cs typeface="Arial" pitchFamily="34" charset="0"/>
              </a:rPr>
              <a:t>liability Insurance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Segoe UI Light" panose="020B0502040204020203" pitchFamily="34" charset="0"/>
                <a:cs typeface="Arial" pitchFamily="34" charset="0"/>
              </a:rPr>
              <a:t>To provide an understanding on provisions in Commercial Umbrella and how it is different from other liability policies</a:t>
            </a:r>
          </a:p>
        </p:txBody>
      </p:sp>
    </p:spTree>
    <p:extLst>
      <p:ext uri="{BB962C8B-B14F-4D97-AF65-F5344CB8AC3E}">
        <p14:creationId xmlns:p14="http://schemas.microsoft.com/office/powerpoint/2010/main" val="414511374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390" y="640860"/>
            <a:ext cx="9804188" cy="26465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1390" y="188411"/>
            <a:ext cx="6224012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Commercial Umbrella Insurance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462" y="6493359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  <p:sp>
        <p:nvSpPr>
          <p:cNvPr id="5" name="Rectangle 4"/>
          <p:cNvSpPr/>
          <p:nvPr/>
        </p:nvSpPr>
        <p:spPr>
          <a:xfrm>
            <a:off x="592427" y="1040969"/>
            <a:ext cx="7083381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67" b="1" dirty="0">
                <a:solidFill>
                  <a:srgbClr val="00B0F0"/>
                </a:solidFill>
                <a:latin typeface="Segoe UI Light" panose="020B0502040204020203" pitchFamily="34" charset="0"/>
                <a:cs typeface="Arial" pitchFamily="34" charset="0"/>
              </a:rPr>
              <a:t>What is Excess liability</a:t>
            </a:r>
          </a:p>
          <a:p>
            <a:r>
              <a:rPr lang="en-US" sz="16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An excess liability policy covers liability claims in excess of the limits of an underlying policy or a stated retention amount.</a:t>
            </a:r>
          </a:p>
          <a:p>
            <a:endParaRPr lang="en-U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endParaRPr lang="en-US" sz="1600" dirty="0" smtClean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n-US" sz="2467" b="1" dirty="0">
                <a:solidFill>
                  <a:srgbClr val="00B0F0"/>
                </a:solidFill>
                <a:latin typeface="Segoe UI Light" panose="020B0502040204020203" pitchFamily="34" charset="0"/>
                <a:cs typeface="Arial" pitchFamily="34" charset="0"/>
              </a:rPr>
              <a:t>What is Umbrella liability policy?</a:t>
            </a:r>
          </a:p>
          <a:p>
            <a:r>
              <a:rPr lang="en-US" sz="16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A liability policy that provides excess coverage above underlying policies and may also provide coverage not available in the underlying policies, subject to self-insured retention.</a:t>
            </a:r>
          </a:p>
          <a:p>
            <a:endParaRPr lang="en-U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n-US" sz="24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en-US" sz="2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3215625840"/>
              </p:ext>
            </p:extLst>
          </p:nvPr>
        </p:nvGraphicFramePr>
        <p:xfrm>
          <a:off x="9312943" y="1424685"/>
          <a:ext cx="2767500" cy="2402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8635" y="3269321"/>
            <a:ext cx="4464308" cy="292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8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390" y="640860"/>
            <a:ext cx="9804188" cy="26465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1390" y="188411"/>
            <a:ext cx="6224012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Commercial Umbrella Insurance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462" y="6493359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  <p:sp>
        <p:nvSpPr>
          <p:cNvPr id="5" name="Rectangle 4"/>
          <p:cNvSpPr/>
          <p:nvPr/>
        </p:nvSpPr>
        <p:spPr>
          <a:xfrm>
            <a:off x="390373" y="1125349"/>
            <a:ext cx="8212714" cy="2441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67" b="1" dirty="0">
                <a:solidFill>
                  <a:srgbClr val="00B0F0"/>
                </a:solidFill>
                <a:latin typeface="Segoe UI Light" panose="020B0502040204020203" pitchFamily="34" charset="0"/>
                <a:cs typeface="Arial" pitchFamily="34" charset="0"/>
              </a:rPr>
              <a:t>Three Forms of Commercial excess liability Insurance</a:t>
            </a:r>
          </a:p>
          <a:p>
            <a:pPr algn="just"/>
            <a:endParaRPr lang="en-US" sz="2000" dirty="0" smtClean="0">
              <a:latin typeface="Segoe UI Light" panose="020B0502040204020203" pitchFamily="34" charset="0"/>
              <a:cs typeface="Arial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 smtClean="0">
                <a:latin typeface="Segoe UI Light" panose="020B0502040204020203" pitchFamily="34" charset="0"/>
                <a:cs typeface="Arial" pitchFamily="34" charset="0"/>
              </a:rPr>
              <a:t>“ </a:t>
            </a:r>
            <a:r>
              <a:rPr lang="en-US" dirty="0">
                <a:latin typeface="Segoe UI Light" panose="020B0502040204020203" pitchFamily="34" charset="0"/>
                <a:cs typeface="Arial" pitchFamily="34" charset="0"/>
              </a:rPr>
              <a:t>f</a:t>
            </a:r>
            <a:r>
              <a:rPr lang="en-US" dirty="0" smtClean="0">
                <a:latin typeface="Segoe UI Light" panose="020B0502040204020203" pitchFamily="34" charset="0"/>
                <a:cs typeface="Arial" pitchFamily="34" charset="0"/>
              </a:rPr>
              <a:t>ollowing form” subject to the same term as the underlying policy and covers </a:t>
            </a:r>
          </a:p>
          <a:p>
            <a:pPr algn="just"/>
            <a:r>
              <a:rPr lang="en-US" dirty="0" smtClean="0">
                <a:latin typeface="Segoe UI Light" panose="020B0502040204020203" pitchFamily="34" charset="0"/>
                <a:cs typeface="Arial" pitchFamily="34" charset="0"/>
              </a:rPr>
              <a:t>       liability loss that exceeds the underlying limits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 smtClean="0">
                <a:latin typeface="Segoe UI Light" panose="020B0502040204020203" pitchFamily="34" charset="0"/>
                <a:cs typeface="Arial" pitchFamily="34" charset="0"/>
              </a:rPr>
              <a:t>“ self-contained policy” subject to its own terms only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 smtClean="0">
                <a:latin typeface="Segoe UI Light" panose="020B0502040204020203" pitchFamily="34" charset="0"/>
                <a:cs typeface="Arial" pitchFamily="34" charset="0"/>
              </a:rPr>
              <a:t> “combination“ of the first two types</a:t>
            </a:r>
            <a:endParaRPr lang="en-US" dirty="0">
              <a:latin typeface="Segoe UI Light" panose="020B0502040204020203" pitchFamily="34" charset="0"/>
              <a:cs typeface="Arial" pitchFamily="34" charset="0"/>
            </a:endParaRPr>
          </a:p>
          <a:p>
            <a:pPr algn="just"/>
            <a:endParaRPr lang="en-US" dirty="0" smtClean="0">
              <a:latin typeface="Segoe UI Light" panose="020B0502040204020203" pitchFamily="34" charset="0"/>
              <a:cs typeface="Arial" pitchFamily="34" charset="0"/>
            </a:endParaRPr>
          </a:p>
          <a:p>
            <a:pPr algn="just"/>
            <a:endParaRPr lang="en-US" dirty="0">
              <a:latin typeface="Segoe UI Light" panose="020B0502040204020203" pitchFamily="34" charset="0"/>
              <a:cs typeface="Arial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465" y="2980971"/>
            <a:ext cx="6928833" cy="3102267"/>
          </a:xfrm>
          <a:prstGeom prst="rect">
            <a:avLst/>
          </a:prstGeom>
        </p:spPr>
      </p:pic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413939573"/>
              </p:ext>
            </p:extLst>
          </p:nvPr>
        </p:nvGraphicFramePr>
        <p:xfrm>
          <a:off x="9312943" y="1424685"/>
          <a:ext cx="2767500" cy="2402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38027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390" y="640860"/>
            <a:ext cx="9804188" cy="26465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1390" y="188411"/>
            <a:ext cx="6224012" cy="58477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Commercial Umbrella Insurance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462" y="6493359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  <p:sp>
        <p:nvSpPr>
          <p:cNvPr id="5" name="Rectangle 4"/>
          <p:cNvSpPr/>
          <p:nvPr/>
        </p:nvSpPr>
        <p:spPr>
          <a:xfrm>
            <a:off x="395395" y="1058712"/>
            <a:ext cx="8439511" cy="52599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sz="2467" b="1" dirty="0">
                <a:solidFill>
                  <a:srgbClr val="00B0F0"/>
                </a:solidFill>
                <a:latin typeface="Segoe UI Light" panose="020B0502040204020203" pitchFamily="34" charset="0"/>
                <a:cs typeface="Arial" pitchFamily="34" charset="0"/>
              </a:rPr>
              <a:t>Umbrella Liability:</a:t>
            </a:r>
          </a:p>
          <a:p>
            <a:pPr marL="34290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sz="1600" dirty="0" smtClean="0">
                <a:latin typeface="Segoe UI Light" panose="020B0502040204020203" pitchFamily="34" charset="0"/>
              </a:rPr>
              <a:t>Umbrella Liability is generally used to describe a type of excess insurance that is broader than ordinary excess liability policies </a:t>
            </a:r>
          </a:p>
          <a:p>
            <a:pPr marL="34290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sz="1600" dirty="0" smtClean="0">
                <a:latin typeface="Segoe UI Light" panose="020B0502040204020203" pitchFamily="34" charset="0"/>
              </a:rPr>
              <a:t>The major functions of Umbrella</a:t>
            </a: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v"/>
              <a:defRPr/>
            </a:pPr>
            <a:r>
              <a:rPr lang="en-US" sz="1600" dirty="0">
                <a:latin typeface="Segoe UI Light" panose="020B0502040204020203" pitchFamily="34" charset="0"/>
              </a:rPr>
              <a:t>Excess Coverage :</a:t>
            </a:r>
            <a:r>
              <a:rPr lang="en-US" altLang="en-US" sz="1600" dirty="0">
                <a:latin typeface="Segoe UI Light" panose="020B0502040204020203" pitchFamily="34" charset="0"/>
              </a:rPr>
              <a:t> for losses which are covered by primary or underlying liability policies</a:t>
            </a: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v"/>
              <a:defRPr/>
            </a:pPr>
            <a:r>
              <a:rPr lang="en-US" sz="1600" dirty="0" smtClean="0">
                <a:latin typeface="Segoe UI Light" panose="020B0502040204020203" pitchFamily="34" charset="0"/>
              </a:rPr>
              <a:t>Self </a:t>
            </a:r>
            <a:r>
              <a:rPr lang="en-US" sz="1600" dirty="0">
                <a:latin typeface="Segoe UI Light" panose="020B0502040204020203" pitchFamily="34" charset="0"/>
              </a:rPr>
              <a:t>Insured Retention Limit : </a:t>
            </a:r>
            <a:r>
              <a:rPr lang="en-US" altLang="en-US" sz="1600" dirty="0">
                <a:latin typeface="Segoe UI Light" panose="020B0502040204020203" pitchFamily="34" charset="0"/>
              </a:rPr>
              <a:t>for losses that are not typically covered by the underlying liability policies</a:t>
            </a:r>
            <a:endParaRPr lang="en-US" sz="1600" dirty="0">
              <a:latin typeface="Segoe UI Light" panose="020B0502040204020203" pitchFamily="34" charset="0"/>
            </a:endParaRPr>
          </a:p>
          <a:p>
            <a:pPr marL="34290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sz="1600" dirty="0" smtClean="0">
                <a:latin typeface="Segoe UI Light" panose="020B0502040204020203" pitchFamily="34" charset="0"/>
              </a:rPr>
              <a:t>	</a:t>
            </a:r>
            <a:r>
              <a:rPr lang="en-US" sz="1600" b="1" i="1" dirty="0" smtClean="0">
                <a:latin typeface="Segoe UI Light" panose="020B0502040204020203" pitchFamily="34" charset="0"/>
              </a:rPr>
              <a:t>Self insured retention is an amount that is deducted from claims that are payable under an umbrella policy and that are not covered at all by any primary policy</a:t>
            </a:r>
          </a:p>
          <a:p>
            <a:pPr marL="628650" indent="-28575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v"/>
              <a:defRPr/>
            </a:pPr>
            <a:endParaRPr lang="en-US" dirty="0">
              <a:latin typeface="Segoe UI Light" panose="020B0502040204020203" pitchFamily="34" charset="0"/>
            </a:endParaRPr>
          </a:p>
          <a:p>
            <a:pPr marL="34290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defRPr/>
            </a:pPr>
            <a:endParaRPr lang="en-US" dirty="0" smtClean="0">
              <a:latin typeface="Segoe UI Light" panose="020B0502040204020203" pitchFamily="34" charset="0"/>
            </a:endParaRPr>
          </a:p>
          <a:p>
            <a:pPr marL="34290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dirty="0" smtClean="0">
                <a:latin typeface="Segoe UI Light" panose="020B0502040204020203" pitchFamily="34" charset="0"/>
              </a:rPr>
              <a:t>  </a:t>
            </a:r>
            <a:endParaRPr lang="en-US" dirty="0">
              <a:latin typeface="Segoe UI Light" panose="020B0502040204020203" pitchFamily="34" charset="0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796767257"/>
              </p:ext>
            </p:extLst>
          </p:nvPr>
        </p:nvGraphicFramePr>
        <p:xfrm>
          <a:off x="9312943" y="1424685"/>
          <a:ext cx="2767500" cy="2402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34976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390" y="640860"/>
            <a:ext cx="9804188" cy="2646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462" y="6493359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  <p:sp>
        <p:nvSpPr>
          <p:cNvPr id="8" name="Rectangle 7"/>
          <p:cNvSpPr/>
          <p:nvPr/>
        </p:nvSpPr>
        <p:spPr>
          <a:xfrm>
            <a:off x="3971189" y="2967335"/>
            <a:ext cx="4249626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you!!!</a:t>
            </a:r>
            <a:endParaRPr lang="en-US" sz="60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62392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11796</TotalTime>
  <Words>384</Words>
  <Application>Microsoft Office PowerPoint</Application>
  <PresentationFormat>Widescreen</PresentationFormat>
  <Paragraphs>50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Segoe UI</vt:lpstr>
      <vt:lpstr>Segoe UI Light</vt:lpstr>
      <vt:lpstr>Segoe UI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Alok Bharati</dc:creator>
  <cp:lastModifiedBy>Avinash Kumar Singh</cp:lastModifiedBy>
  <cp:revision>32</cp:revision>
  <dcterms:created xsi:type="dcterms:W3CDTF">2016-07-06T01:57:31Z</dcterms:created>
  <dcterms:modified xsi:type="dcterms:W3CDTF">2019-03-28T11:52:52Z</dcterms:modified>
</cp:coreProperties>
</file>
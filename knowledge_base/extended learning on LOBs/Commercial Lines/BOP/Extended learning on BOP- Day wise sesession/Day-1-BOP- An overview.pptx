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diagrams/quickStyle1.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1164" r:id="rId2"/>
    <p:sldId id="1179" r:id="rId3"/>
    <p:sldId id="1177" r:id="rId4"/>
    <p:sldId id="1190" r:id="rId5"/>
    <p:sldId id="1181" r:id="rId6"/>
    <p:sldId id="1193" r:id="rId7"/>
    <p:sldId id="1194" r:id="rId8"/>
    <p:sldId id="1185" r:id="rId9"/>
    <p:sldId id="1192" r:id="rId10"/>
    <p:sldId id="1169" r:id="rId11"/>
    <p:sldId id="1182" r:id="rId12"/>
    <p:sldId id="1199" r:id="rId13"/>
    <p:sldId id="1191" r:id="rId14"/>
    <p:sldId id="1200" r:id="rId15"/>
    <p:sldId id="1201" r:id="rId16"/>
    <p:sldId id="1202" r:id="rId17"/>
    <p:sldId id="1186" r:id="rId18"/>
    <p:sldId id="1196" r:id="rId19"/>
    <p:sldId id="1187" r:id="rId20"/>
    <p:sldId id="1195" r:id="rId21"/>
    <p:sldId id="1188" r:id="rId22"/>
    <p:sldId id="1183" r:id="rId23"/>
    <p:sldId id="1197" r:id="rId24"/>
    <p:sldId id="1184" r:id="rId25"/>
    <p:sldId id="119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45758E-6CAD-46DA-9B8D-0EAFD97D3FEE}" v="19" dt="2022-01-15T07:42:15.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370" autoAdjust="0"/>
  </p:normalViewPr>
  <p:slideViewPr>
    <p:cSldViewPr snapToGrid="0">
      <p:cViewPr varScale="1">
        <p:scale>
          <a:sx n="57" d="100"/>
          <a:sy n="57" d="100"/>
        </p:scale>
        <p:origin x="10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36" Type="http://schemas.openxmlformats.org/officeDocument/2006/relationships/customXml" Target="../customXml/item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35" Type="http://schemas.openxmlformats.org/officeDocument/2006/relationships/customXml" Target="../customXml/item3.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EF5AAE-5AA9-42D2-AB2A-24C8231365AF}"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IN"/>
        </a:p>
      </dgm:t>
    </dgm:pt>
    <dgm:pt modelId="{CB8D40C7-D082-49CD-A979-4996ECE4ACBF}">
      <dgm:prSet phldrT="[Text]" custT="1"/>
      <dgm:spPr/>
      <dgm:t>
        <a:bodyPr/>
        <a:lstStyle/>
        <a:p>
          <a:r>
            <a:rPr lang="en-US" sz="1600" dirty="0"/>
            <a:t>Commercial </a:t>
          </a:r>
          <a:r>
            <a:rPr lang="en-US" sz="2400" b="0" dirty="0">
              <a:solidFill>
                <a:schemeClr val="bg1"/>
              </a:solidFill>
            </a:rPr>
            <a:t>Property</a:t>
          </a:r>
          <a:r>
            <a:rPr lang="en-US" sz="1600" dirty="0"/>
            <a:t> Insurance</a:t>
          </a:r>
          <a:endParaRPr lang="en-IN" sz="1600" dirty="0"/>
        </a:p>
      </dgm:t>
    </dgm:pt>
    <dgm:pt modelId="{DF13AEB1-DA0E-4E2A-A6A3-BF1C96435440}" type="parTrans" cxnId="{8FF1BC0E-CB88-4DA1-9299-9ECAB24D9906}">
      <dgm:prSet/>
      <dgm:spPr/>
      <dgm:t>
        <a:bodyPr/>
        <a:lstStyle/>
        <a:p>
          <a:endParaRPr lang="en-IN"/>
        </a:p>
      </dgm:t>
    </dgm:pt>
    <dgm:pt modelId="{B9D8B875-9DC4-4F76-A3FD-A5D9CCC42368}" type="sibTrans" cxnId="{8FF1BC0E-CB88-4DA1-9299-9ECAB24D9906}">
      <dgm:prSet/>
      <dgm:spPr/>
      <dgm:t>
        <a:bodyPr/>
        <a:lstStyle/>
        <a:p>
          <a:endParaRPr lang="en-IN"/>
        </a:p>
      </dgm:t>
    </dgm:pt>
    <dgm:pt modelId="{D2D8AD38-6112-4C61-B77A-B1CD8222F46C}">
      <dgm:prSet phldrT="[Text]" phldr="1"/>
      <dgm:spPr/>
      <dgm:t>
        <a:bodyPr/>
        <a:lstStyle/>
        <a:p>
          <a:endParaRPr lang="en-IN"/>
        </a:p>
      </dgm:t>
    </dgm:pt>
    <dgm:pt modelId="{4EB9C865-6663-4669-9B83-FD422CDC22EE}" type="parTrans" cxnId="{1FF31E7F-979D-4EE5-B577-B1622032CA28}">
      <dgm:prSet/>
      <dgm:spPr/>
      <dgm:t>
        <a:bodyPr/>
        <a:lstStyle/>
        <a:p>
          <a:endParaRPr lang="en-IN"/>
        </a:p>
      </dgm:t>
    </dgm:pt>
    <dgm:pt modelId="{71B09B31-2819-44A1-888E-994DD85FC814}" type="sibTrans" cxnId="{1FF31E7F-979D-4EE5-B577-B1622032CA28}">
      <dgm:prSet/>
      <dgm:spPr/>
      <dgm:t>
        <a:bodyPr/>
        <a:lstStyle/>
        <a:p>
          <a:endParaRPr lang="en-IN"/>
        </a:p>
      </dgm:t>
    </dgm:pt>
    <dgm:pt modelId="{11B69C2E-AECA-4A0D-A889-0C6C65BC94A7}">
      <dgm:prSet phldrT="[Text]" phldr="1"/>
      <dgm:spPr/>
      <dgm:t>
        <a:bodyPr/>
        <a:lstStyle/>
        <a:p>
          <a:endParaRPr lang="en-IN"/>
        </a:p>
      </dgm:t>
    </dgm:pt>
    <dgm:pt modelId="{DA0BEE2E-A877-447D-B1F4-464A38D7EBE0}" type="parTrans" cxnId="{9F15D80A-B414-4022-87D3-2E722D4719DB}">
      <dgm:prSet/>
      <dgm:spPr/>
      <dgm:t>
        <a:bodyPr/>
        <a:lstStyle/>
        <a:p>
          <a:endParaRPr lang="en-IN"/>
        </a:p>
      </dgm:t>
    </dgm:pt>
    <dgm:pt modelId="{D5D115A7-8135-4B42-A5E9-64E719DD5D58}" type="sibTrans" cxnId="{9F15D80A-B414-4022-87D3-2E722D4719DB}">
      <dgm:prSet/>
      <dgm:spPr/>
      <dgm:t>
        <a:bodyPr/>
        <a:lstStyle/>
        <a:p>
          <a:endParaRPr lang="en-IN"/>
        </a:p>
      </dgm:t>
    </dgm:pt>
    <dgm:pt modelId="{A13545A2-7C14-49B1-BCEB-7ABC8EC886C6}">
      <dgm:prSet/>
      <dgm:spPr/>
      <dgm:t>
        <a:bodyPr/>
        <a:lstStyle/>
        <a:p>
          <a:r>
            <a:rPr lang="en-IN" dirty="0">
              <a:solidFill>
                <a:srgbClr val="0000FF"/>
              </a:solidFill>
            </a:rPr>
            <a:t>Business Owners Program</a:t>
          </a:r>
        </a:p>
      </dgm:t>
    </dgm:pt>
    <dgm:pt modelId="{F17473E6-C8C1-4F33-8E4E-154D2C1F2C7E}" type="parTrans" cxnId="{B0CE20D3-0795-4CD9-9CBA-F3BC3CD62B5A}">
      <dgm:prSet/>
      <dgm:spPr/>
      <dgm:t>
        <a:bodyPr/>
        <a:lstStyle/>
        <a:p>
          <a:endParaRPr lang="en-IN"/>
        </a:p>
      </dgm:t>
    </dgm:pt>
    <dgm:pt modelId="{FD77B709-E9D8-4317-9271-4E6124D6B2F9}" type="sibTrans" cxnId="{B0CE20D3-0795-4CD9-9CBA-F3BC3CD62B5A}">
      <dgm:prSet/>
      <dgm:spPr/>
      <dgm:t>
        <a:bodyPr/>
        <a:lstStyle/>
        <a:p>
          <a:endParaRPr lang="en-IN"/>
        </a:p>
      </dgm:t>
    </dgm:pt>
    <dgm:pt modelId="{C1804958-FC1C-4595-A08E-D30BF281A444}">
      <dgm:prSet/>
      <dgm:spPr/>
    </dgm:pt>
    <dgm:pt modelId="{42ED8EC3-7D8E-49BA-B922-919A26D1A334}" type="parTrans" cxnId="{6F01A9E2-ED82-4677-9B68-3E80F9ADB73A}">
      <dgm:prSet/>
      <dgm:spPr/>
      <dgm:t>
        <a:bodyPr/>
        <a:lstStyle/>
        <a:p>
          <a:endParaRPr lang="en-IN"/>
        </a:p>
      </dgm:t>
    </dgm:pt>
    <dgm:pt modelId="{28D445F2-B847-498A-9925-1E21FB8615C3}" type="sibTrans" cxnId="{6F01A9E2-ED82-4677-9B68-3E80F9ADB73A}">
      <dgm:prSet/>
      <dgm:spPr/>
      <dgm:t>
        <a:bodyPr/>
        <a:lstStyle/>
        <a:p>
          <a:endParaRPr lang="en-IN"/>
        </a:p>
      </dgm:t>
    </dgm:pt>
    <dgm:pt modelId="{D5F4F0F2-69E5-4CE7-9EBD-22AD73ABEB51}">
      <dgm:prSet/>
      <dgm:spPr/>
    </dgm:pt>
    <dgm:pt modelId="{C07CAF26-7B45-4399-A57C-8F092A1CF43A}" type="parTrans" cxnId="{B10E4EFB-978D-4006-BD2C-0A085A28604C}">
      <dgm:prSet/>
      <dgm:spPr/>
      <dgm:t>
        <a:bodyPr/>
        <a:lstStyle/>
        <a:p>
          <a:endParaRPr lang="en-IN"/>
        </a:p>
      </dgm:t>
    </dgm:pt>
    <dgm:pt modelId="{4C41C0D1-E311-4FC5-A2E9-0B7AF163FB4E}" type="sibTrans" cxnId="{B10E4EFB-978D-4006-BD2C-0A085A28604C}">
      <dgm:prSet/>
      <dgm:spPr/>
      <dgm:t>
        <a:bodyPr/>
        <a:lstStyle/>
        <a:p>
          <a:endParaRPr lang="en-IN"/>
        </a:p>
      </dgm:t>
    </dgm:pt>
    <dgm:pt modelId="{1D423455-705F-43AF-9335-9DB463EEB925}">
      <dgm:prSet/>
      <dgm:spPr/>
      <dgm:t>
        <a:bodyPr/>
        <a:lstStyle/>
        <a:p>
          <a:endParaRPr lang="en-IN"/>
        </a:p>
      </dgm:t>
    </dgm:pt>
    <dgm:pt modelId="{6BFB6F0A-3EC8-4A16-9A6C-78715E5F8B05}" type="parTrans" cxnId="{75F1341E-4034-40C1-899D-932EEF617165}">
      <dgm:prSet/>
      <dgm:spPr/>
      <dgm:t>
        <a:bodyPr/>
        <a:lstStyle/>
        <a:p>
          <a:endParaRPr lang="en-IN"/>
        </a:p>
      </dgm:t>
    </dgm:pt>
    <dgm:pt modelId="{16B8A3FE-D3A0-4EDE-8519-16981A28EEA5}" type="sibTrans" cxnId="{75F1341E-4034-40C1-899D-932EEF617165}">
      <dgm:prSet/>
      <dgm:spPr/>
      <dgm:t>
        <a:bodyPr/>
        <a:lstStyle/>
        <a:p>
          <a:endParaRPr lang="en-IN"/>
        </a:p>
      </dgm:t>
    </dgm:pt>
    <dgm:pt modelId="{70236258-4971-4816-901A-0E946EE4851C}">
      <dgm:prSet custT="1"/>
      <dgm:spPr/>
      <dgm:t>
        <a:bodyPr/>
        <a:lstStyle/>
        <a:p>
          <a:r>
            <a:rPr lang="en-IN" sz="1800" dirty="0"/>
            <a:t>Business</a:t>
          </a:r>
          <a:r>
            <a:rPr lang="en-IN" sz="2000" dirty="0"/>
            <a:t> </a:t>
          </a:r>
          <a:r>
            <a:rPr lang="en-IN" sz="2400" dirty="0"/>
            <a:t>Interruptio</a:t>
          </a:r>
          <a:r>
            <a:rPr lang="en-IN" sz="2000" dirty="0"/>
            <a:t>n </a:t>
          </a:r>
          <a:r>
            <a:rPr lang="en-IN" sz="1600" dirty="0"/>
            <a:t>Insurance</a:t>
          </a:r>
        </a:p>
      </dgm:t>
    </dgm:pt>
    <dgm:pt modelId="{EF1A482E-293C-4D2F-A959-5183C46AE8B5}" type="parTrans" cxnId="{D376579F-1751-4609-B7C8-B03D3C4A2A00}">
      <dgm:prSet/>
      <dgm:spPr/>
      <dgm:t>
        <a:bodyPr/>
        <a:lstStyle/>
        <a:p>
          <a:endParaRPr lang="en-IN"/>
        </a:p>
      </dgm:t>
    </dgm:pt>
    <dgm:pt modelId="{5BFAEE98-BD4B-485C-B9AB-D72DE3E857AC}" type="sibTrans" cxnId="{D376579F-1751-4609-B7C8-B03D3C4A2A00}">
      <dgm:prSet/>
      <dgm:spPr/>
      <dgm:t>
        <a:bodyPr/>
        <a:lstStyle/>
        <a:p>
          <a:endParaRPr lang="en-IN"/>
        </a:p>
      </dgm:t>
    </dgm:pt>
    <dgm:pt modelId="{8FF29A93-250B-461E-8AE5-E4A3E5A66B6C}">
      <dgm:prSet phldrT="[Text]" custT="1"/>
      <dgm:spPr/>
      <dgm:t>
        <a:bodyPr/>
        <a:lstStyle/>
        <a:p>
          <a:r>
            <a:rPr lang="en-US" sz="1600" dirty="0"/>
            <a:t>General </a:t>
          </a:r>
          <a:r>
            <a:rPr lang="en-US" sz="2400" dirty="0"/>
            <a:t>Liability</a:t>
          </a:r>
          <a:r>
            <a:rPr lang="en-US" sz="1600" dirty="0"/>
            <a:t> Insurance</a:t>
          </a:r>
          <a:endParaRPr lang="en-IN" sz="1600" dirty="0"/>
        </a:p>
      </dgm:t>
    </dgm:pt>
    <dgm:pt modelId="{AB2932BA-AB8B-4C4A-AF76-08DAEE4E9A63}" type="sibTrans" cxnId="{22D3D729-AC10-4BF6-A8D3-D8A50527F1D3}">
      <dgm:prSet/>
      <dgm:spPr/>
      <dgm:t>
        <a:bodyPr/>
        <a:lstStyle/>
        <a:p>
          <a:endParaRPr lang="en-IN"/>
        </a:p>
      </dgm:t>
    </dgm:pt>
    <dgm:pt modelId="{7A51CF4D-9D9E-4E61-8F7B-31E92A711442}" type="parTrans" cxnId="{22D3D729-AC10-4BF6-A8D3-D8A50527F1D3}">
      <dgm:prSet/>
      <dgm:spPr/>
      <dgm:t>
        <a:bodyPr/>
        <a:lstStyle/>
        <a:p>
          <a:endParaRPr lang="en-IN"/>
        </a:p>
      </dgm:t>
    </dgm:pt>
    <dgm:pt modelId="{C8851295-9D2D-47FE-9D97-0B5D4904DC53}" type="pres">
      <dgm:prSet presAssocID="{C6EF5AAE-5AA9-42D2-AB2A-24C8231365AF}" presName="Name0" presStyleCnt="0">
        <dgm:presLayoutVars>
          <dgm:chMax val="4"/>
          <dgm:resizeHandles val="exact"/>
        </dgm:presLayoutVars>
      </dgm:prSet>
      <dgm:spPr/>
    </dgm:pt>
    <dgm:pt modelId="{DE15BC57-58B1-4D25-B11E-066F56BAA2BE}" type="pres">
      <dgm:prSet presAssocID="{C6EF5AAE-5AA9-42D2-AB2A-24C8231365AF}" presName="ellipse" presStyleLbl="trBgShp" presStyleIdx="0" presStyleCnt="1" custScaleX="107421" custLinFactNeighborX="528" custLinFactNeighborY="-227"/>
      <dgm:spPr/>
    </dgm:pt>
    <dgm:pt modelId="{F59BF5BB-FCB2-4828-9978-36C6871586EB}" type="pres">
      <dgm:prSet presAssocID="{C6EF5AAE-5AA9-42D2-AB2A-24C8231365AF}" presName="arrow1" presStyleLbl="fgShp" presStyleIdx="0" presStyleCnt="1"/>
      <dgm:spPr>
        <a:ln>
          <a:solidFill>
            <a:srgbClr val="0000FF"/>
          </a:solidFill>
        </a:ln>
      </dgm:spPr>
    </dgm:pt>
    <dgm:pt modelId="{7A697DB4-7397-4726-81C1-A6685ED4B40A}" type="pres">
      <dgm:prSet presAssocID="{C6EF5AAE-5AA9-42D2-AB2A-24C8231365AF}" presName="rectangle" presStyleLbl="revTx" presStyleIdx="0" presStyleCnt="1">
        <dgm:presLayoutVars>
          <dgm:bulletEnabled val="1"/>
        </dgm:presLayoutVars>
      </dgm:prSet>
      <dgm:spPr/>
    </dgm:pt>
    <dgm:pt modelId="{A4C6A392-2155-491E-984A-90CA6803B10A}" type="pres">
      <dgm:prSet presAssocID="{8FF29A93-250B-461E-8AE5-E4A3E5A66B6C}" presName="item1" presStyleLbl="node1" presStyleIdx="0" presStyleCnt="3" custScaleX="148947" custLinFactNeighborX="-1956" custLinFactNeighborY="16957">
        <dgm:presLayoutVars>
          <dgm:bulletEnabled val="1"/>
        </dgm:presLayoutVars>
      </dgm:prSet>
      <dgm:spPr/>
    </dgm:pt>
    <dgm:pt modelId="{CFCC1DCD-2FCC-4333-84EF-B029350AA43D}" type="pres">
      <dgm:prSet presAssocID="{70236258-4971-4816-901A-0E946EE4851C}" presName="item2" presStyleLbl="node1" presStyleIdx="1" presStyleCnt="3" custLinFactNeighborX="-9783" custLinFactNeighborY="-10327">
        <dgm:presLayoutVars>
          <dgm:bulletEnabled val="1"/>
        </dgm:presLayoutVars>
      </dgm:prSet>
      <dgm:spPr/>
    </dgm:pt>
    <dgm:pt modelId="{88271827-F3C3-4A63-82F5-4F9829A0106D}" type="pres">
      <dgm:prSet presAssocID="{A13545A2-7C14-49B1-BCEB-7ABC8EC886C6}" presName="item3" presStyleLbl="node1" presStyleIdx="2" presStyleCnt="3" custScaleX="120223" custLinFactNeighborX="31304" custLinFactNeighborY="13851">
        <dgm:presLayoutVars>
          <dgm:bulletEnabled val="1"/>
        </dgm:presLayoutVars>
      </dgm:prSet>
      <dgm:spPr/>
    </dgm:pt>
    <dgm:pt modelId="{D1A8E38B-939F-4047-8387-8C4FC2962542}" type="pres">
      <dgm:prSet presAssocID="{C6EF5AAE-5AA9-42D2-AB2A-24C8231365AF}" presName="funnel" presStyleLbl="trAlignAcc1" presStyleIdx="0" presStyleCnt="1" custScaleX="119436" custScaleY="111525" custLinFactNeighborX="838" custLinFactNeighborY="1196"/>
      <dgm:spPr>
        <a:ln>
          <a:solidFill>
            <a:srgbClr val="0000FF"/>
          </a:solidFill>
        </a:ln>
      </dgm:spPr>
    </dgm:pt>
  </dgm:ptLst>
  <dgm:cxnLst>
    <dgm:cxn modelId="{9F15D80A-B414-4022-87D3-2E722D4719DB}" srcId="{C6EF5AAE-5AA9-42D2-AB2A-24C8231365AF}" destId="{11B69C2E-AECA-4A0D-A889-0C6C65BC94A7}" srcOrd="8" destOrd="0" parTransId="{DA0BEE2E-A877-447D-B1F4-464A38D7EBE0}" sibTransId="{D5D115A7-8135-4B42-A5E9-64E719DD5D58}"/>
    <dgm:cxn modelId="{8FF1BC0E-CB88-4DA1-9299-9ECAB24D9906}" srcId="{C6EF5AAE-5AA9-42D2-AB2A-24C8231365AF}" destId="{CB8D40C7-D082-49CD-A979-4996ECE4ACBF}" srcOrd="0" destOrd="0" parTransId="{DF13AEB1-DA0E-4E2A-A6A3-BF1C96435440}" sibTransId="{B9D8B875-9DC4-4F76-A3FD-A5D9CCC42368}"/>
    <dgm:cxn modelId="{75F1341E-4034-40C1-899D-932EEF617165}" srcId="{C6EF5AAE-5AA9-42D2-AB2A-24C8231365AF}" destId="{1D423455-705F-43AF-9335-9DB463EEB925}" srcOrd="6" destOrd="0" parTransId="{6BFB6F0A-3EC8-4A16-9A6C-78715E5F8B05}" sibTransId="{16B8A3FE-D3A0-4EDE-8519-16981A28EEA5}"/>
    <dgm:cxn modelId="{A0838425-93DE-439B-A089-1D3D0AAD54C6}" type="presOf" srcId="{C6EF5AAE-5AA9-42D2-AB2A-24C8231365AF}" destId="{C8851295-9D2D-47FE-9D97-0B5D4904DC53}" srcOrd="0" destOrd="0" presId="urn:microsoft.com/office/officeart/2005/8/layout/funnel1"/>
    <dgm:cxn modelId="{22D3D729-AC10-4BF6-A8D3-D8A50527F1D3}" srcId="{C6EF5AAE-5AA9-42D2-AB2A-24C8231365AF}" destId="{8FF29A93-250B-461E-8AE5-E4A3E5A66B6C}" srcOrd="1" destOrd="0" parTransId="{7A51CF4D-9D9E-4E61-8F7B-31E92A711442}" sibTransId="{AB2932BA-AB8B-4C4A-AF76-08DAEE4E9A63}"/>
    <dgm:cxn modelId="{9434982F-221E-4953-81F2-4CF2877F07F4}" type="presOf" srcId="{CB8D40C7-D082-49CD-A979-4996ECE4ACBF}" destId="{88271827-F3C3-4A63-82F5-4F9829A0106D}" srcOrd="0" destOrd="0" presId="urn:microsoft.com/office/officeart/2005/8/layout/funnel1"/>
    <dgm:cxn modelId="{85A3F766-2C1C-4DAE-8D5B-A86DCF913F4A}" type="presOf" srcId="{70236258-4971-4816-901A-0E946EE4851C}" destId="{A4C6A392-2155-491E-984A-90CA6803B10A}" srcOrd="0" destOrd="0" presId="urn:microsoft.com/office/officeart/2005/8/layout/funnel1"/>
    <dgm:cxn modelId="{D3519756-EDDB-4E56-B678-D5EAE7DD2ED8}" type="presOf" srcId="{8FF29A93-250B-461E-8AE5-E4A3E5A66B6C}" destId="{CFCC1DCD-2FCC-4333-84EF-B029350AA43D}" srcOrd="0" destOrd="0" presId="urn:microsoft.com/office/officeart/2005/8/layout/funnel1"/>
    <dgm:cxn modelId="{1FF31E7F-979D-4EE5-B577-B1622032CA28}" srcId="{C6EF5AAE-5AA9-42D2-AB2A-24C8231365AF}" destId="{D2D8AD38-6112-4C61-B77A-B1CD8222F46C}" srcOrd="7" destOrd="0" parTransId="{4EB9C865-6663-4669-9B83-FD422CDC22EE}" sibTransId="{71B09B31-2819-44A1-888E-994DD85FC814}"/>
    <dgm:cxn modelId="{D376579F-1751-4609-B7C8-B03D3C4A2A00}" srcId="{C6EF5AAE-5AA9-42D2-AB2A-24C8231365AF}" destId="{70236258-4971-4816-901A-0E946EE4851C}" srcOrd="2" destOrd="0" parTransId="{EF1A482E-293C-4D2F-A959-5183C46AE8B5}" sibTransId="{5BFAEE98-BD4B-485C-B9AB-D72DE3E857AC}"/>
    <dgm:cxn modelId="{B0CE20D3-0795-4CD9-9CBA-F3BC3CD62B5A}" srcId="{C6EF5AAE-5AA9-42D2-AB2A-24C8231365AF}" destId="{A13545A2-7C14-49B1-BCEB-7ABC8EC886C6}" srcOrd="3" destOrd="0" parTransId="{F17473E6-C8C1-4F33-8E4E-154D2C1F2C7E}" sibTransId="{FD77B709-E9D8-4317-9271-4E6124D6B2F9}"/>
    <dgm:cxn modelId="{6F01A9E2-ED82-4677-9B68-3E80F9ADB73A}" srcId="{C6EF5AAE-5AA9-42D2-AB2A-24C8231365AF}" destId="{C1804958-FC1C-4595-A08E-D30BF281A444}" srcOrd="4" destOrd="0" parTransId="{42ED8EC3-7D8E-49BA-B922-919A26D1A334}" sibTransId="{28D445F2-B847-498A-9925-1E21FB8615C3}"/>
    <dgm:cxn modelId="{2FC180E7-F26E-4186-92BA-005B10D64CA4}" type="presOf" srcId="{A13545A2-7C14-49B1-BCEB-7ABC8EC886C6}" destId="{7A697DB4-7397-4726-81C1-A6685ED4B40A}" srcOrd="0" destOrd="0" presId="urn:microsoft.com/office/officeart/2005/8/layout/funnel1"/>
    <dgm:cxn modelId="{B10E4EFB-978D-4006-BD2C-0A085A28604C}" srcId="{C6EF5AAE-5AA9-42D2-AB2A-24C8231365AF}" destId="{D5F4F0F2-69E5-4CE7-9EBD-22AD73ABEB51}" srcOrd="5" destOrd="0" parTransId="{C07CAF26-7B45-4399-A57C-8F092A1CF43A}" sibTransId="{4C41C0D1-E311-4FC5-A2E9-0B7AF163FB4E}"/>
    <dgm:cxn modelId="{A05A92C5-AD88-41B7-8A72-0C7142126FDE}" type="presParOf" srcId="{C8851295-9D2D-47FE-9D97-0B5D4904DC53}" destId="{DE15BC57-58B1-4D25-B11E-066F56BAA2BE}" srcOrd="0" destOrd="0" presId="urn:microsoft.com/office/officeart/2005/8/layout/funnel1"/>
    <dgm:cxn modelId="{4A63D396-FB46-4316-8E3D-37A3CF2D644C}" type="presParOf" srcId="{C8851295-9D2D-47FE-9D97-0B5D4904DC53}" destId="{F59BF5BB-FCB2-4828-9978-36C6871586EB}" srcOrd="1" destOrd="0" presId="urn:microsoft.com/office/officeart/2005/8/layout/funnel1"/>
    <dgm:cxn modelId="{98E59035-2E75-4621-A526-8F612E1155FD}" type="presParOf" srcId="{C8851295-9D2D-47FE-9D97-0B5D4904DC53}" destId="{7A697DB4-7397-4726-81C1-A6685ED4B40A}" srcOrd="2" destOrd="0" presId="urn:microsoft.com/office/officeart/2005/8/layout/funnel1"/>
    <dgm:cxn modelId="{4E1AB20E-FA11-4DE0-A11B-A852AF327E95}" type="presParOf" srcId="{C8851295-9D2D-47FE-9D97-0B5D4904DC53}" destId="{A4C6A392-2155-491E-984A-90CA6803B10A}" srcOrd="3" destOrd="0" presId="urn:microsoft.com/office/officeart/2005/8/layout/funnel1"/>
    <dgm:cxn modelId="{17C255A3-DDD0-4E06-94BB-C8FA3FDACCF1}" type="presParOf" srcId="{C8851295-9D2D-47FE-9D97-0B5D4904DC53}" destId="{CFCC1DCD-2FCC-4333-84EF-B029350AA43D}" srcOrd="4" destOrd="0" presId="urn:microsoft.com/office/officeart/2005/8/layout/funnel1"/>
    <dgm:cxn modelId="{667F7AFC-BD61-4AC0-B7BF-5724B7DF28A9}" type="presParOf" srcId="{C8851295-9D2D-47FE-9D97-0B5D4904DC53}" destId="{88271827-F3C3-4A63-82F5-4F9829A0106D}" srcOrd="5" destOrd="0" presId="urn:microsoft.com/office/officeart/2005/8/layout/funnel1"/>
    <dgm:cxn modelId="{8BF28B70-5BAA-4C54-9FAF-1C11E94CC3E3}" type="presParOf" srcId="{C8851295-9D2D-47FE-9D97-0B5D4904DC53}" destId="{D1A8E38B-939F-4047-8387-8C4FC2962542}" srcOrd="6" destOrd="0" presId="urn:microsoft.com/office/officeart/2005/8/layout/funne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15BC57-58B1-4D25-B11E-066F56BAA2BE}">
      <dsp:nvSpPr>
        <dsp:cNvPr id="0" name=""/>
        <dsp:cNvSpPr/>
      </dsp:nvSpPr>
      <dsp:spPr>
        <a:xfrm>
          <a:off x="1635139" y="318447"/>
          <a:ext cx="4584613" cy="1482183"/>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9BF5BB-FCB2-4828-9978-36C6871586EB}">
      <dsp:nvSpPr>
        <dsp:cNvPr id="0" name=""/>
        <dsp:cNvSpPr/>
      </dsp:nvSpPr>
      <dsp:spPr>
        <a:xfrm>
          <a:off x="3497972" y="3951175"/>
          <a:ext cx="827111" cy="529351"/>
        </a:xfrm>
        <a:prstGeom prst="downArrow">
          <a:avLst/>
        </a:prstGeom>
        <a:solidFill>
          <a:schemeClr val="accent1">
            <a:tint val="60000"/>
            <a:hueOff val="0"/>
            <a:satOff val="0"/>
            <a:lumOff val="0"/>
            <a:alphaOff val="0"/>
          </a:schemeClr>
        </a:solidFill>
        <a:ln w="12700" cap="flat" cmpd="sng" algn="ctr">
          <a:solidFill>
            <a:srgbClr val="0000FF"/>
          </a:solidFill>
          <a:prstDash val="solid"/>
          <a:miter lim="800000"/>
        </a:ln>
        <a:effectLst/>
      </dsp:spPr>
      <dsp:style>
        <a:lnRef idx="2">
          <a:scrgbClr r="0" g="0" b="0"/>
        </a:lnRef>
        <a:fillRef idx="1">
          <a:scrgbClr r="0" g="0" b="0"/>
        </a:fillRef>
        <a:effectRef idx="0">
          <a:scrgbClr r="0" g="0" b="0"/>
        </a:effectRef>
        <a:fontRef idx="minor"/>
      </dsp:style>
    </dsp:sp>
    <dsp:sp modelId="{7A697DB4-7397-4726-81C1-A6685ED4B40A}">
      <dsp:nvSpPr>
        <dsp:cNvPr id="0" name=""/>
        <dsp:cNvSpPr/>
      </dsp:nvSpPr>
      <dsp:spPr>
        <a:xfrm>
          <a:off x="1926461" y="4374656"/>
          <a:ext cx="3970133" cy="9925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IN" sz="2600" kern="1200" dirty="0">
              <a:solidFill>
                <a:srgbClr val="0000FF"/>
              </a:solidFill>
            </a:rPr>
            <a:t>Business Owners Program</a:t>
          </a:r>
        </a:p>
      </dsp:txBody>
      <dsp:txXfrm>
        <a:off x="1926461" y="4374656"/>
        <a:ext cx="3970133" cy="992533"/>
      </dsp:txXfrm>
    </dsp:sp>
    <dsp:sp modelId="{A4C6A392-2155-491E-984A-90CA6803B10A}">
      <dsp:nvSpPr>
        <dsp:cNvPr id="0" name=""/>
        <dsp:cNvSpPr/>
      </dsp:nvSpPr>
      <dsp:spPr>
        <a:xfrm>
          <a:off x="2929143" y="2170923"/>
          <a:ext cx="2217522" cy="14887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kern="1200" dirty="0"/>
            <a:t>Business</a:t>
          </a:r>
          <a:r>
            <a:rPr lang="en-IN" sz="2000" kern="1200" dirty="0"/>
            <a:t> </a:t>
          </a:r>
          <a:r>
            <a:rPr lang="en-IN" sz="2400" kern="1200" dirty="0"/>
            <a:t>Interruptio</a:t>
          </a:r>
          <a:r>
            <a:rPr lang="en-IN" sz="2000" kern="1200" dirty="0"/>
            <a:t>n </a:t>
          </a:r>
          <a:r>
            <a:rPr lang="en-IN" sz="1600" kern="1200" dirty="0"/>
            <a:t>Insurance</a:t>
          </a:r>
        </a:p>
      </dsp:txBody>
      <dsp:txXfrm>
        <a:off x="3253892" y="2388953"/>
        <a:ext cx="1568024" cy="1052739"/>
      </dsp:txXfrm>
    </dsp:sp>
    <dsp:sp modelId="{CFCC1DCD-2FCC-4333-84EF-B029350AA43D}">
      <dsp:nvSpPr>
        <dsp:cNvPr id="0" name=""/>
        <dsp:cNvSpPr/>
      </dsp:nvSpPr>
      <dsp:spPr>
        <a:xfrm>
          <a:off x="2111657" y="647788"/>
          <a:ext cx="1488799" cy="14887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General </a:t>
          </a:r>
          <a:r>
            <a:rPr lang="en-US" sz="2400" kern="1200" dirty="0"/>
            <a:t>Liability</a:t>
          </a:r>
          <a:r>
            <a:rPr lang="en-US" sz="1600" kern="1200" dirty="0"/>
            <a:t> Insurance</a:t>
          </a:r>
          <a:endParaRPr lang="en-IN" sz="1600" kern="1200" dirty="0"/>
        </a:p>
      </dsp:txBody>
      <dsp:txXfrm>
        <a:off x="2329687" y="865818"/>
        <a:ext cx="1052739" cy="1052739"/>
      </dsp:txXfrm>
    </dsp:sp>
    <dsp:sp modelId="{88271827-F3C3-4A63-82F5-4F9829A0106D}">
      <dsp:nvSpPr>
        <dsp:cNvPr id="0" name=""/>
        <dsp:cNvSpPr/>
      </dsp:nvSpPr>
      <dsp:spPr>
        <a:xfrm>
          <a:off x="4094704" y="647791"/>
          <a:ext cx="1789879" cy="1488799"/>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Commercial </a:t>
          </a:r>
          <a:r>
            <a:rPr lang="en-US" sz="2400" b="0" kern="1200" dirty="0">
              <a:solidFill>
                <a:schemeClr val="bg1"/>
              </a:solidFill>
            </a:rPr>
            <a:t>Property</a:t>
          </a:r>
          <a:r>
            <a:rPr lang="en-US" sz="1600" kern="1200" dirty="0"/>
            <a:t> Insurance</a:t>
          </a:r>
          <a:endParaRPr lang="en-IN" sz="1600" kern="1200" dirty="0"/>
        </a:p>
      </dsp:txBody>
      <dsp:txXfrm>
        <a:off x="4356826" y="865821"/>
        <a:ext cx="1265635" cy="1052739"/>
      </dsp:txXfrm>
    </dsp:sp>
    <dsp:sp modelId="{D1A8E38B-939F-4047-8387-8C4FC2962542}">
      <dsp:nvSpPr>
        <dsp:cNvPr id="0" name=""/>
        <dsp:cNvSpPr/>
      </dsp:nvSpPr>
      <dsp:spPr>
        <a:xfrm>
          <a:off x="1184311" y="-29361"/>
          <a:ext cx="5532063" cy="4132511"/>
        </a:xfrm>
        <a:prstGeom prst="funnel">
          <a:avLst/>
        </a:prstGeom>
        <a:solidFill>
          <a:schemeClr val="lt1">
            <a:alpha val="40000"/>
            <a:hueOff val="0"/>
            <a:satOff val="0"/>
            <a:lumOff val="0"/>
            <a:alphaOff val="0"/>
          </a:schemeClr>
        </a:solidFill>
        <a:ln w="6350" cap="flat" cmpd="sng" algn="ctr">
          <a:solidFill>
            <a:srgbClr val="0000FF"/>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528128-6941-40CE-9EFE-3821E86BA2DC}" type="datetimeFigureOut">
              <a:rPr lang="en-IN" smtClean="0"/>
              <a:t>19-01-2022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ACCB3F-8C75-401D-A7DF-AFCFCA6FD969}" type="slidenum">
              <a:rPr lang="en-IN" smtClean="0"/>
              <a:t>‹#›</a:t>
            </a:fld>
            <a:endParaRPr lang="en-IN"/>
          </a:p>
        </p:txBody>
      </p:sp>
    </p:spTree>
    <p:extLst>
      <p:ext uri="{BB962C8B-B14F-4D97-AF65-F5344CB8AC3E}">
        <p14:creationId xmlns:p14="http://schemas.microsoft.com/office/powerpoint/2010/main" val="2517993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4</a:t>
            </a:fld>
            <a:endParaRPr lang="en-IN"/>
          </a:p>
        </p:txBody>
      </p:sp>
    </p:spTree>
    <p:extLst>
      <p:ext uri="{BB962C8B-B14F-4D97-AF65-F5344CB8AC3E}">
        <p14:creationId xmlns:p14="http://schemas.microsoft.com/office/powerpoint/2010/main" val="17415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business owners policy (BOP) typically combines general liability insurance, property insurance and business interruption insurance into one package. A BOP is usually purchased by small and mid-sized businesses. And business owners insurance can be customized with additional coverage to fit the specific needs of a business.</a:t>
            </a:r>
          </a:p>
          <a:p>
            <a:endParaRPr lang="en-US" dirty="0"/>
          </a:p>
          <a:p>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5</a:t>
            </a:fld>
            <a:endParaRPr lang="en-IN"/>
          </a:p>
        </p:txBody>
      </p:sp>
    </p:spTree>
    <p:extLst>
      <p:ext uri="{BB962C8B-B14F-4D97-AF65-F5344CB8AC3E}">
        <p14:creationId xmlns:p14="http://schemas.microsoft.com/office/powerpoint/2010/main" val="995258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Do you need a business owners policy?</a:t>
            </a:r>
          </a:p>
          <a:p>
            <a:r>
              <a:rPr lang="en-US" dirty="0"/>
              <a:t>It's a good idea to get a BOP if your business has:</a:t>
            </a:r>
          </a:p>
          <a:p>
            <a:endParaRPr lang="en-US" dirty="0"/>
          </a:p>
          <a:p>
            <a:r>
              <a:rPr lang="en-US" b="1" dirty="0"/>
              <a:t>A physical location. </a:t>
            </a:r>
            <a:r>
              <a:rPr lang="en-US" dirty="0"/>
              <a:t>This could be out of your home, an owned or rented space, a store or any other work place.</a:t>
            </a:r>
          </a:p>
          <a:p>
            <a:r>
              <a:rPr lang="en-US" b="1" dirty="0"/>
              <a:t>The possibility of being sued. </a:t>
            </a:r>
            <a:r>
              <a:rPr lang="en-US" dirty="0"/>
              <a:t>A BOP can cover lawsuits related to injured customers, reputational damage the business caused to others, or equipment that damages someone else's property.</a:t>
            </a:r>
          </a:p>
          <a:p>
            <a:r>
              <a:rPr lang="en-US" b="1" dirty="0"/>
              <a:t>Property that could be stolen or damaged. </a:t>
            </a:r>
            <a:r>
              <a:rPr lang="en-US" dirty="0"/>
              <a:t>This could be anything from cash to data, equipment, furniture and inventory.</a:t>
            </a:r>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8</a:t>
            </a:fld>
            <a:endParaRPr lang="en-IN"/>
          </a:p>
        </p:txBody>
      </p:sp>
    </p:spTree>
    <p:extLst>
      <p:ext uri="{BB962C8B-B14F-4D97-AF65-F5344CB8AC3E}">
        <p14:creationId xmlns:p14="http://schemas.microsoft.com/office/powerpoint/2010/main" val="2054018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dirty="0">
                <a:latin typeface="Segoe UI Light" panose="020B0502040204020203" pitchFamily="34" charset="0"/>
              </a:rPr>
              <a:t>Commercial package policy consisting of individual coverage forms e.g. BPP, Auto, CGL etc. are also available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latin typeface="Segoe UI Light" panose="020B0502040204020203" pitchFamily="34" charset="0"/>
            </a:endParaRPr>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n-US" sz="1600" dirty="0">
                <a:latin typeface="Segoe UI Light" panose="020B0502040204020203" pitchFamily="34" charset="0"/>
              </a:rPr>
              <a:t>Shorter list of property not covered – </a:t>
            </a:r>
            <a:r>
              <a:rPr lang="en-US" sz="1400" dirty="0">
                <a:latin typeface="Segoe UI Light" panose="020B0502040204020203" pitchFamily="34" charset="0"/>
              </a:rPr>
              <a:t>insureds are lower risks, homogenous businesses</a:t>
            </a:r>
          </a:p>
          <a:p>
            <a:pPr marL="0" indent="0">
              <a:buFont typeface="Wingdings" panose="05000000000000000000" pitchFamily="2" charset="2"/>
              <a:buNone/>
            </a:pPr>
            <a:r>
              <a:rPr lang="en-US" sz="1600" dirty="0">
                <a:latin typeface="Segoe UI Light" panose="020B0502040204020203" pitchFamily="34" charset="0"/>
              </a:rPr>
              <a:t>Replacement cost as standard valuation provision – </a:t>
            </a:r>
            <a:r>
              <a:rPr lang="en-US" sz="1400" dirty="0">
                <a:latin typeface="Segoe UI Light" panose="020B0502040204020203" pitchFamily="34" charset="0"/>
              </a:rPr>
              <a:t>ACV is also available as an option</a:t>
            </a:r>
            <a:endParaRPr lang="en-US" sz="1600" dirty="0">
              <a:latin typeface="Segoe UI Light" panose="020B0502040204020203" pitchFamily="34" charset="0"/>
            </a:endParaRPr>
          </a:p>
          <a:p>
            <a:pPr marL="0" indent="0">
              <a:buFont typeface="Wingdings" panose="05000000000000000000" pitchFamily="2" charset="2"/>
              <a:buNone/>
            </a:pPr>
            <a:r>
              <a:rPr lang="en-US" sz="1600" dirty="0">
                <a:latin typeface="Segoe UI Light" panose="020B0502040204020203" pitchFamily="34" charset="0"/>
              </a:rPr>
              <a:t>No coinsurance provision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400" dirty="0">
              <a:latin typeface="Segoe UI Light" panose="020B0502040204020203" pitchFamily="34" charset="0"/>
            </a:endParaRPr>
          </a:p>
        </p:txBody>
      </p:sp>
      <p:sp>
        <p:nvSpPr>
          <p:cNvPr id="4" name="Slide Number Placeholder 3"/>
          <p:cNvSpPr>
            <a:spLocks noGrp="1"/>
          </p:cNvSpPr>
          <p:nvPr>
            <p:ph type="sldNum" sz="quarter" idx="10"/>
          </p:nvPr>
        </p:nvSpPr>
        <p:spPr/>
        <p:txBody>
          <a:bodyPr/>
          <a:lstStyle/>
          <a:p>
            <a:pPr>
              <a:defRPr/>
            </a:pPr>
            <a:fld id="{DA158527-55D2-4491-A481-82DAFC91458B}" type="slidenum">
              <a:rPr lang="en-US" smtClean="0"/>
              <a:pPr>
                <a:defRPr/>
              </a:pPr>
              <a:t>10</a:t>
            </a:fld>
            <a:endParaRPr lang="en-US"/>
          </a:p>
        </p:txBody>
      </p:sp>
    </p:spTree>
    <p:extLst>
      <p:ext uri="{BB962C8B-B14F-4D97-AF65-F5344CB8AC3E}">
        <p14:creationId xmlns:p14="http://schemas.microsoft.com/office/powerpoint/2010/main" val="191953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companies selling business insurance offer policies that combine protection from all major property and liability risks in one package. (They also sell coverages separately.) One package purchased by small and mid-sized businesses is the businessowners policy (BOP). Package policies are created for businesses that generally face the same kind and degree of risk. Larger companies might purchase a commercial package policy or customize their policies to meet the special risks they face.</a:t>
            </a:r>
          </a:p>
          <a:p>
            <a:endParaRPr lang="en-US" dirty="0"/>
          </a:p>
          <a:p>
            <a:r>
              <a:rPr lang="en-US" dirty="0"/>
              <a:t>BOPs include</a:t>
            </a:r>
          </a:p>
          <a:p>
            <a:r>
              <a:rPr lang="en-US" b="1" dirty="0"/>
              <a:t>Property insurance for buildings and contents </a:t>
            </a:r>
            <a:r>
              <a:rPr lang="en-US" dirty="0"/>
              <a:t>owned by the company -- there are two different forms, </a:t>
            </a:r>
            <a:r>
              <a:rPr lang="en-US" b="1" dirty="0"/>
              <a:t>standard and special</a:t>
            </a:r>
            <a:r>
              <a:rPr lang="en-US" dirty="0"/>
              <a:t>, which provides more comprehensive coverage.</a:t>
            </a:r>
          </a:p>
          <a:p>
            <a:r>
              <a:rPr lang="en-US" b="1" dirty="0"/>
              <a:t>Business interruption insurance, </a:t>
            </a:r>
            <a:r>
              <a:rPr lang="en-US" dirty="0"/>
              <a:t>which covers the loss of income resulting from a fire or other catastrophe that disrupts the operation of the business. It can also include the extra expense of operating out of a temporary location.</a:t>
            </a:r>
          </a:p>
          <a:p>
            <a:r>
              <a:rPr lang="en-US" b="1" dirty="0"/>
              <a:t>Liability protection</a:t>
            </a:r>
            <a:r>
              <a:rPr lang="en-US" dirty="0"/>
              <a:t>, which covers your company's legal responsibility for the harm it may cause to others. This harm is a result of things that you and your employees do or fail to do in your business operations that may cause bodily injury or property damage due to defective products, faulty installations and errors in services provided.</a:t>
            </a:r>
          </a:p>
          <a:p>
            <a:endParaRPr lang="en-US" dirty="0"/>
          </a:p>
          <a:p>
            <a:r>
              <a:rPr lang="en-US" b="1" dirty="0"/>
              <a:t>BOPs do NOT cover </a:t>
            </a:r>
            <a:r>
              <a:rPr lang="en-US" dirty="0"/>
              <a:t>professional liability, auto insurance, worker’s compensation or health and disability insurance. You'll need separate insurance policies to cover professional services, vehicles and your employees.</a:t>
            </a:r>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11</a:t>
            </a:fld>
            <a:endParaRPr lang="en-IN"/>
          </a:p>
        </p:txBody>
      </p:sp>
    </p:spTree>
    <p:extLst>
      <p:ext uri="{BB962C8B-B14F-4D97-AF65-F5344CB8AC3E}">
        <p14:creationId xmlns:p14="http://schemas.microsoft.com/office/powerpoint/2010/main" val="1559518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19</a:t>
            </a:fld>
            <a:endParaRPr lang="en-IN"/>
          </a:p>
        </p:txBody>
      </p:sp>
    </p:spTree>
    <p:extLst>
      <p:ext uri="{BB962C8B-B14F-4D97-AF65-F5344CB8AC3E}">
        <p14:creationId xmlns:p14="http://schemas.microsoft.com/office/powerpoint/2010/main" val="3870953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ACCB3F-8C75-401D-A7DF-AFCFCA6FD969}" type="slidenum">
              <a:rPr lang="en-IN" smtClean="0"/>
              <a:t>25</a:t>
            </a:fld>
            <a:endParaRPr lang="en-IN"/>
          </a:p>
        </p:txBody>
      </p:sp>
    </p:spTree>
    <p:extLst>
      <p:ext uri="{BB962C8B-B14F-4D97-AF65-F5344CB8AC3E}">
        <p14:creationId xmlns:p14="http://schemas.microsoft.com/office/powerpoint/2010/main" val="488993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9C0C1-07CD-469B-B140-5C7F4A1DCB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96D853-E363-4EE4-9941-F9CF2D2735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EFE4C6-452D-4C2D-AB1C-64FEE060D2EA}"/>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E38C56CF-41B8-454B-8543-6B28AC591F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646F17-7131-4979-8931-79E9DB6844A1}"/>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4126386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BD9B4-8599-4AC5-AAFB-ADED18974D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A13A83-025D-4929-B869-B84F53D78A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4897F9-42D1-4F3C-A5C8-97F94C8F4DED}"/>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B633CF48-4111-49AC-9AF6-D7355216D1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DCFCFA-F5AB-4A0D-A232-A8E4D31B99FE}"/>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1248686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BF0C-8FB2-4C54-91B9-A0AB3B24B1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6DD247-828E-488C-8772-9D9F7676E3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7EC16-674C-42E4-A902-306B2C03E47E}"/>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DC5EC135-1485-4878-934C-91A28C958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95B80D-5AE5-4415-A9C3-003C75698A3B}"/>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348691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548E4-421C-4717-A1DA-0784293355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FAFFAC-B0AD-4F1A-963A-3EDFDF22E9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E9D1EE-8558-421D-A7DF-63EFFC74D4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2CBF3B-74BD-4949-AB01-124E482F1709}"/>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6" name="Footer Placeholder 5">
            <a:extLst>
              <a:ext uri="{FF2B5EF4-FFF2-40B4-BE49-F238E27FC236}">
                <a16:creationId xmlns:a16="http://schemas.microsoft.com/office/drawing/2014/main" id="{4E66C918-C708-4426-9B37-A5A612D613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9262F2-6322-4A7D-9ADC-A2A232AFAF51}"/>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3079936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35F1-4F25-48BF-B932-5FCAE57083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35B7A4-2C8B-4DF7-A751-B1B8F85CA4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80084D-C576-4835-B912-A610D14D6C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8C70C6-035B-40E5-9A93-C16A3E6E41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578BE0-40EA-4DE0-BCBD-68E45F6D50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084524-1B88-4F3A-9E57-34118167D681}"/>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8" name="Footer Placeholder 7">
            <a:extLst>
              <a:ext uri="{FF2B5EF4-FFF2-40B4-BE49-F238E27FC236}">
                <a16:creationId xmlns:a16="http://schemas.microsoft.com/office/drawing/2014/main" id="{09EF78CF-18B1-4F86-ACD1-C8F8DDD34B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8A21AF-D205-4080-8BAF-8A89BAB0D9CC}"/>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2811436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14D20-4C8B-457F-9938-4BA8CA1C0DE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01981A-4DD5-469E-8251-EB51985AAE1D}"/>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4" name="Footer Placeholder 3">
            <a:extLst>
              <a:ext uri="{FF2B5EF4-FFF2-40B4-BE49-F238E27FC236}">
                <a16:creationId xmlns:a16="http://schemas.microsoft.com/office/drawing/2014/main" id="{DB3AAAB7-EE41-4F0D-BBEC-58456436726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46A79B3-F9DC-4F4D-84BD-CC31805E13BC}"/>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38984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45930-2386-466A-BF28-98305C3F43C0}"/>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3" name="Footer Placeholder 2">
            <a:extLst>
              <a:ext uri="{FF2B5EF4-FFF2-40B4-BE49-F238E27FC236}">
                <a16:creationId xmlns:a16="http://schemas.microsoft.com/office/drawing/2014/main" id="{AA5DC1E1-0E18-43CE-B381-10D0C373DC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151009-479A-404D-AA16-B6C622219937}"/>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1364180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744E0-BBA3-48BD-BEC2-470F1818D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2E0586-0038-4A71-9C0D-60C35234B5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9C0ACA3-5F50-4B31-A163-691836753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EA84BB-A85E-4D47-BC34-37FFD39B9C19}"/>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6" name="Footer Placeholder 5">
            <a:extLst>
              <a:ext uri="{FF2B5EF4-FFF2-40B4-BE49-F238E27FC236}">
                <a16:creationId xmlns:a16="http://schemas.microsoft.com/office/drawing/2014/main" id="{62D43C8D-B3B3-446A-A7C2-8773E61697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5D6D0D-63A0-48AE-BCFB-14D662C6A41F}"/>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3673317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5E93-69B5-4B07-B7C8-792F70BEE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0C613F-169A-4685-9EF2-66A02AB3FD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03299F-B5C9-4D6F-9F5D-5277CAEA0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1897ED-AB89-403D-838F-30435B2DB86B}"/>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6" name="Footer Placeholder 5">
            <a:extLst>
              <a:ext uri="{FF2B5EF4-FFF2-40B4-BE49-F238E27FC236}">
                <a16:creationId xmlns:a16="http://schemas.microsoft.com/office/drawing/2014/main" id="{A70CEE52-047B-4F96-B464-978AACA6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E9553C-65F1-42DB-B7E1-CC20B4BC037E}"/>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2728452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76D29-03BC-45E4-913A-FC3BDE5BF2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0EC659-ECBB-485D-B794-89123435A3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B8963C-1929-44ED-B8FB-13EAA16D94C0}"/>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55C374C3-538F-4C03-AF7C-6F2C4B5444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FC515F-CBF9-4C7C-BDCD-6F52316B9E75}"/>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44312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9E1D25-FE37-4DB8-A923-0A3FD23647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F8C245-99C5-4EF6-854D-01AB004075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C54297-1ECD-46C3-B27C-21CA5E3A191E}"/>
              </a:ext>
            </a:extLst>
          </p:cNvPr>
          <p:cNvSpPr>
            <a:spLocks noGrp="1"/>
          </p:cNvSpPr>
          <p:nvPr>
            <p:ph type="dt" sz="half" idx="10"/>
          </p:nvPr>
        </p:nvSpPr>
        <p:spPr/>
        <p:txBody>
          <a:body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44D70C38-30BD-478A-B2D3-508E547AD0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F8783-C88F-45C0-B162-BAF646906A7C}"/>
              </a:ext>
            </a:extLst>
          </p:cNvPr>
          <p:cNvSpPr>
            <a:spLocks noGrp="1"/>
          </p:cNvSpPr>
          <p:nvPr>
            <p:ph type="sldNum" sz="quarter" idx="12"/>
          </p:nvPr>
        </p:nvSpPr>
        <p:spPr/>
        <p:txBody>
          <a:bodyPr/>
          <a:lstStyle/>
          <a:p>
            <a:fld id="{808AEEB3-202B-44CE-9F2C-0DF339D5D320}" type="slidenum">
              <a:rPr lang="en-IN" smtClean="0"/>
              <a:t>‹#›</a:t>
            </a:fld>
            <a:endParaRPr lang="en-IN"/>
          </a:p>
        </p:txBody>
      </p:sp>
    </p:spTree>
    <p:extLst>
      <p:ext uri="{BB962C8B-B14F-4D97-AF65-F5344CB8AC3E}">
        <p14:creationId xmlns:p14="http://schemas.microsoft.com/office/powerpoint/2010/main" val="2077833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2780433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6D7362-134F-4268-ADC8-BAD9309B3D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AF3DE6-6845-4B46-90BD-C35C5449E6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C84B5-9E80-49EC-B901-7D6E8CD01C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E26519-3421-4699-882D-4554810FA41C}" type="datetimeFigureOut">
              <a:rPr lang="en-IN" smtClean="0"/>
              <a:t>19-01-2022</a:t>
            </a:fld>
            <a:endParaRPr lang="en-IN"/>
          </a:p>
        </p:txBody>
      </p:sp>
      <p:sp>
        <p:nvSpPr>
          <p:cNvPr id="5" name="Footer Placeholder 4">
            <a:extLst>
              <a:ext uri="{FF2B5EF4-FFF2-40B4-BE49-F238E27FC236}">
                <a16:creationId xmlns:a16="http://schemas.microsoft.com/office/drawing/2014/main" id="{74A7B6C1-F52B-42CC-902C-6871005850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620E5A-7748-4CA2-8305-B482388814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8AEEB3-202B-44CE-9F2C-0DF339D5D320}" type="slidenum">
              <a:rPr lang="en-IN" smtClean="0"/>
              <a:t>‹#›</a:t>
            </a:fld>
            <a:endParaRPr lang="en-IN"/>
          </a:p>
        </p:txBody>
      </p:sp>
    </p:spTree>
    <p:extLst>
      <p:ext uri="{BB962C8B-B14F-4D97-AF65-F5344CB8AC3E}">
        <p14:creationId xmlns:p14="http://schemas.microsoft.com/office/powerpoint/2010/main" val="3689389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ideo" Target="https://www.youtube.com/embed/Qzy2LR_pXJ0?feature=oembed" TargetMode="External"/><Relationship Id="rId5" Type="http://schemas.openxmlformats.org/officeDocument/2006/relationships/image" Target="../media/image7.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youtu.be/WJmq0RF7t5E" TargetMode="External"/><Relationship Id="rId2" Type="http://schemas.openxmlformats.org/officeDocument/2006/relationships/slideLayout" Target="../slideLayouts/slideLayout12.xml"/><Relationship Id="rId1" Type="http://schemas.openxmlformats.org/officeDocument/2006/relationships/video" Target="https://www.youtube.com/embed/WJmq0RF7t5E?feature=oembed" TargetMode="External"/><Relationship Id="rId4" Type="http://schemas.openxmlformats.org/officeDocument/2006/relationships/image" Target="../media/image10.jpe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2.xml"/><Relationship Id="rId1" Type="http://schemas.openxmlformats.org/officeDocument/2006/relationships/video" Target="https://www.youtube.com/embed/W-eI74tIYd8?feature=oembed" TargetMode="Externa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12.xml"/><Relationship Id="rId1" Type="http://schemas.openxmlformats.org/officeDocument/2006/relationships/video" Target="https://www.youtube.com/embed/fIEDC5Ybcps?feature=oembed" TargetMode="External"/><Relationship Id="rId4" Type="http://schemas.openxmlformats.org/officeDocument/2006/relationships/hyperlink" Target="https://youtu.be/fIEDC5Ybcps"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embroker.com/coverage/commercial-auto-insurance/" TargetMode="Externa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hyperlink" Target="https://youtu.be/dGMFqu8hrkM" TargetMode="External"/><Relationship Id="rId3" Type="http://schemas.openxmlformats.org/officeDocument/2006/relationships/slideLayout" Target="../slideLayouts/slideLayout12.xml"/><Relationship Id="rId7" Type="http://schemas.openxmlformats.org/officeDocument/2006/relationships/image" Target="../media/image13.jpeg"/><Relationship Id="rId2" Type="http://schemas.openxmlformats.org/officeDocument/2006/relationships/video" Target="https://www.youtube.com/embed/dGMFqu8hrkM?feature=oembed" TargetMode="External"/><Relationship Id="rId1" Type="http://schemas.openxmlformats.org/officeDocument/2006/relationships/video" Target="https://www.youtube.com/embed/VTxi4crWVD8?feature=oembed" TargetMode="External"/><Relationship Id="rId6" Type="http://schemas.openxmlformats.org/officeDocument/2006/relationships/hyperlink" Target="https://youtu.be/VTxi4crWVD8" TargetMode="External"/><Relationship Id="rId5" Type="http://schemas.openxmlformats.org/officeDocument/2006/relationships/image" Target="../media/image5.png"/><Relationship Id="rId4" Type="http://schemas.openxmlformats.org/officeDocument/2006/relationships/notesSlide" Target="../notesSlides/notesSlide7.xml"/><Relationship Id="rId9"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2762" b="12526"/>
          <a:stretch/>
        </p:blipFill>
        <p:spPr>
          <a:xfrm>
            <a:off x="0" y="0"/>
            <a:ext cx="12249003" cy="6917527"/>
          </a:xfrm>
          <a:prstGeom prst="rect">
            <a:avLst/>
          </a:prstGeom>
        </p:spPr>
      </p:pic>
      <p:pic>
        <p:nvPicPr>
          <p:cNvPr id="11" name="Picture 10"/>
          <p:cNvPicPr>
            <a:picLocks noChangeAspect="1"/>
          </p:cNvPicPr>
          <p:nvPr/>
        </p:nvPicPr>
        <p:blipFill>
          <a:blip r:embed="rId3"/>
          <a:stretch>
            <a:fillRect/>
          </a:stretch>
        </p:blipFill>
        <p:spPr>
          <a:xfrm>
            <a:off x="767124" y="6211049"/>
            <a:ext cx="3183064" cy="125317"/>
          </a:xfrm>
          <a:prstGeom prst="rect">
            <a:avLst/>
          </a:prstGeom>
        </p:spPr>
      </p:pic>
      <p:pic>
        <p:nvPicPr>
          <p:cNvPr id="12" name="Picture 11"/>
          <p:cNvPicPr>
            <a:picLocks noChangeAspect="1"/>
          </p:cNvPicPr>
          <p:nvPr/>
        </p:nvPicPr>
        <p:blipFill>
          <a:blip r:embed="rId3">
            <a:alphaModFix amt="43000"/>
          </a:blip>
          <a:stretch>
            <a:fillRect/>
          </a:stretch>
        </p:blipFill>
        <p:spPr>
          <a:xfrm>
            <a:off x="2516288" y="6361430"/>
            <a:ext cx="3183064" cy="125317"/>
          </a:xfrm>
          <a:prstGeom prst="rect">
            <a:avLst/>
          </a:prstGeom>
        </p:spPr>
      </p:pic>
      <p:sp>
        <p:nvSpPr>
          <p:cNvPr id="13" name="Parallelogram 12"/>
          <p:cNvSpPr/>
          <p:nvPr/>
        </p:nvSpPr>
        <p:spPr>
          <a:xfrm>
            <a:off x="4727493" y="-42294"/>
            <a:ext cx="7521509" cy="6956463"/>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76"/>
          </a:p>
        </p:txBody>
      </p:sp>
      <p:sp>
        <p:nvSpPr>
          <p:cNvPr id="16" name="Title 1"/>
          <p:cNvSpPr txBox="1">
            <a:spLocks/>
          </p:cNvSpPr>
          <p:nvPr/>
        </p:nvSpPr>
        <p:spPr>
          <a:xfrm>
            <a:off x="4514850" y="4893022"/>
            <a:ext cx="8286750" cy="1380685"/>
          </a:xfrm>
          <a:prstGeom prst="rect">
            <a:avLst/>
          </a:prstGeom>
          <a:ln>
            <a:noFill/>
          </a:ln>
          <a:effectLst>
            <a:glow rad="228600">
              <a:schemeClr val="accent4">
                <a:satMod val="175000"/>
                <a:alpha val="40000"/>
              </a:schemeClr>
            </a:glow>
          </a:effectLst>
        </p:spPr>
        <p:txBody>
          <a:bodyPr lIns="0" tIns="0" rIns="0" bIns="5439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US" sz="4342" b="1" dirty="0">
                <a:ln w="1905"/>
                <a:solidFill>
                  <a:schemeClr val="bg1"/>
                </a:solidFill>
                <a:latin typeface="Arial"/>
                <a:ea typeface="Segoe UI" panose="020B0502040204020203" pitchFamily="34" charset="0"/>
                <a:cs typeface="Arial"/>
              </a:rPr>
              <a:t>Business Owners Program </a:t>
            </a:r>
            <a:r>
              <a:rPr lang="en-US" sz="2800" b="1" dirty="0">
                <a:ln w="1905"/>
                <a:solidFill>
                  <a:schemeClr val="bg1"/>
                </a:solidFill>
                <a:latin typeface="Arial"/>
                <a:ea typeface="Segoe UI" panose="020B0502040204020203" pitchFamily="34" charset="0"/>
                <a:cs typeface="Arial"/>
              </a:rPr>
              <a:t>Domain KT for Progressive Team</a:t>
            </a:r>
          </a:p>
          <a:p>
            <a:pPr>
              <a:lnSpc>
                <a:spcPct val="100000"/>
              </a:lnSpc>
              <a:spcBef>
                <a:spcPts val="0"/>
              </a:spcBef>
              <a:spcAft>
                <a:spcPts val="0"/>
              </a:spcAft>
              <a:defRPr/>
            </a:pPr>
            <a:r>
              <a:rPr lang="en-US" sz="2800" b="1" dirty="0">
                <a:ln w="1905"/>
                <a:solidFill>
                  <a:schemeClr val="bg1"/>
                </a:solidFill>
                <a:latin typeface="Arial"/>
                <a:ea typeface="Segoe UI" panose="020B0502040204020203" pitchFamily="34" charset="0"/>
                <a:cs typeface="Arial"/>
              </a:rPr>
              <a:t>Day -1</a:t>
            </a:r>
            <a:endParaRPr lang="en-US" sz="4342" b="1" dirty="0">
              <a:ln w="1905"/>
              <a:solidFill>
                <a:schemeClr val="bg1"/>
              </a:solidFill>
              <a:latin typeface="Arial"/>
              <a:ea typeface="Segoe UI" panose="020B0502040204020203" pitchFamily="34" charset="0"/>
              <a:cs typeface="Arial"/>
            </a:endParaRP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89345" y="1888100"/>
            <a:ext cx="2656731" cy="1728144"/>
          </a:xfrm>
          <a:prstGeom prst="rect">
            <a:avLst/>
          </a:prstGeom>
        </p:spPr>
      </p:pic>
    </p:spTree>
    <p:extLst>
      <p:ext uri="{BB962C8B-B14F-4D97-AF65-F5344CB8AC3E}">
        <p14:creationId xmlns:p14="http://schemas.microsoft.com/office/powerpoint/2010/main" val="4184502898"/>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71737A-C36E-440F-8D5C-4CEB3780229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74406" y="458423"/>
            <a:ext cx="9804188" cy="264653"/>
          </a:xfrm>
          <a:prstGeom prst="rect">
            <a:avLst/>
          </a:prstGeom>
        </p:spPr>
      </p:pic>
      <p:graphicFrame>
        <p:nvGraphicFramePr>
          <p:cNvPr id="3" name="Table 2">
            <a:extLst>
              <a:ext uri="{FF2B5EF4-FFF2-40B4-BE49-F238E27FC236}">
                <a16:creationId xmlns:a16="http://schemas.microsoft.com/office/drawing/2014/main" id="{8D7A8D65-34FC-4D91-A01B-9CB22D586BD9}"/>
              </a:ext>
            </a:extLst>
          </p:cNvPr>
          <p:cNvGraphicFramePr>
            <a:graphicFrameLocks noGrp="1"/>
          </p:cNvGraphicFramePr>
          <p:nvPr>
            <p:extLst>
              <p:ext uri="{D42A27DB-BD31-4B8C-83A1-F6EECF244321}">
                <p14:modId xmlns:p14="http://schemas.microsoft.com/office/powerpoint/2010/main" val="2900688344"/>
              </p:ext>
            </p:extLst>
          </p:nvPr>
        </p:nvGraphicFramePr>
        <p:xfrm>
          <a:off x="1248936" y="752383"/>
          <a:ext cx="9701562" cy="5982806"/>
        </p:xfrm>
        <a:graphic>
          <a:graphicData uri="http://schemas.openxmlformats.org/drawingml/2006/table">
            <a:tbl>
              <a:tblPr/>
              <a:tblGrid>
                <a:gridCol w="666850">
                  <a:extLst>
                    <a:ext uri="{9D8B030D-6E8A-4147-A177-3AD203B41FA5}">
                      <a16:colId xmlns:a16="http://schemas.microsoft.com/office/drawing/2014/main" val="200615716"/>
                    </a:ext>
                  </a:extLst>
                </a:gridCol>
                <a:gridCol w="3699929">
                  <a:extLst>
                    <a:ext uri="{9D8B030D-6E8A-4147-A177-3AD203B41FA5}">
                      <a16:colId xmlns:a16="http://schemas.microsoft.com/office/drawing/2014/main" val="4252074913"/>
                    </a:ext>
                  </a:extLst>
                </a:gridCol>
                <a:gridCol w="5334783">
                  <a:extLst>
                    <a:ext uri="{9D8B030D-6E8A-4147-A177-3AD203B41FA5}">
                      <a16:colId xmlns:a16="http://schemas.microsoft.com/office/drawing/2014/main" val="2620752890"/>
                    </a:ext>
                  </a:extLst>
                </a:gridCol>
              </a:tblGrid>
              <a:tr h="174010">
                <a:tc>
                  <a:txBody>
                    <a:bodyPr/>
                    <a:lstStyle/>
                    <a:p>
                      <a:pPr algn="ctr" fontAlgn="b"/>
                      <a:r>
                        <a:rPr lang="en-IN" sz="1100" b="1" i="0" u="none" strike="noStrike">
                          <a:solidFill>
                            <a:srgbClr val="0000FF"/>
                          </a:solidFill>
                          <a:effectLst/>
                          <a:latin typeface="Calibri" panose="020F0502020204030204" pitchFamily="34" charset="0"/>
                        </a:rPr>
                        <a:t>Day </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Topics</a:t>
                      </a:r>
                    </a:p>
                  </a:txBody>
                  <a:tcPr marL="3908" marR="3908" marT="3908"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Subtopics</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175265924"/>
                  </a:ext>
                </a:extLst>
              </a:tr>
              <a:tr h="152714">
                <a:tc>
                  <a:txBody>
                    <a:bodyPr/>
                    <a:lstStyle/>
                    <a:p>
                      <a:pPr algn="r" fontAlgn="b"/>
                      <a:r>
                        <a:rPr lang="en-IN" sz="1000" b="0" i="0" u="none" strike="noStrike">
                          <a:solidFill>
                            <a:srgbClr val="000000"/>
                          </a:solidFill>
                          <a:effectLst/>
                          <a:latin typeface="Calibri" panose="020F0502020204030204" pitchFamily="34" charset="0"/>
                        </a:rPr>
                        <a:t>1</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Concept</a:t>
                      </a:r>
                    </a:p>
                  </a:txBody>
                  <a:tcPr marL="3908" marR="3908" marT="390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IN" sz="1000" b="0" i="0" u="none" strike="noStrike">
                          <a:solidFill>
                            <a:srgbClr val="000000"/>
                          </a:solidFill>
                          <a:effectLst/>
                          <a:latin typeface="Calibri" panose="020F0502020204030204" pitchFamily="34" charset="0"/>
                        </a:rPr>
                        <a:t>Meaning</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6497961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Advantages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623665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Eligibility Rules and its need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921189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54544059"/>
                  </a:ext>
                </a:extLst>
              </a:tr>
              <a:tr h="152714">
                <a:tc>
                  <a:txBody>
                    <a:bodyPr/>
                    <a:lstStyle/>
                    <a:p>
                      <a:pPr algn="l" fontAlgn="b"/>
                      <a:endParaRPr lang="en-IN" sz="1000" b="0" i="0" u="none" strike="noStrike" dirty="0">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388006872"/>
                  </a:ext>
                </a:extLst>
              </a:tr>
              <a:tr h="152714">
                <a:tc>
                  <a:txBody>
                    <a:bodyPr/>
                    <a:lstStyle/>
                    <a:p>
                      <a:pPr algn="r" fontAlgn="b"/>
                      <a:r>
                        <a:rPr lang="en-IN" sz="1000" b="0" i="0" u="none" strike="noStrike">
                          <a:solidFill>
                            <a:srgbClr val="000000"/>
                          </a:solidFill>
                          <a:effectLst/>
                          <a:latin typeface="Calibri" panose="020F0502020204030204" pitchFamily="34" charset="0"/>
                        </a:rPr>
                        <a:t>2</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3">
                  <a:txBody>
                    <a:bodyPr/>
                    <a:lstStyle/>
                    <a:p>
                      <a:pPr algn="ctr" fontAlgn="ctr"/>
                      <a:r>
                        <a:rPr lang="en-IN" sz="1000" b="0" i="0" u="none" strike="noStrike">
                          <a:solidFill>
                            <a:srgbClr val="0000FF"/>
                          </a:solidFill>
                          <a:effectLst/>
                          <a:latin typeface="Calibri" panose="020F0502020204030204" pitchFamily="34" charset="0"/>
                        </a:rPr>
                        <a:t>Coverages </a:t>
                      </a:r>
                      <a:br>
                        <a:rPr lang="en-IN" sz="1000" b="0" i="0" u="none" strike="noStrike">
                          <a:solidFill>
                            <a:srgbClr val="0000FF"/>
                          </a:solidFill>
                          <a:effectLst/>
                          <a:latin typeface="Calibri" panose="020F0502020204030204" pitchFamily="34" charset="0"/>
                        </a:rPr>
                      </a:br>
                      <a:endParaRPr lang="en-IN" sz="1000" b="0" i="0" u="none" strike="noStrike">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Commercial Property Insurance (BOP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95720329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General Liability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75855449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0672233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49782267"/>
                  </a:ext>
                </a:extLst>
              </a:tr>
              <a:tr h="152714">
                <a:tc>
                  <a:txBody>
                    <a:bodyPr/>
                    <a:lstStyle/>
                    <a:p>
                      <a:pPr algn="r" fontAlgn="b"/>
                      <a:r>
                        <a:rPr lang="en-IN" sz="1000" b="0" i="0" u="none" strike="noStrike">
                          <a:solidFill>
                            <a:srgbClr val="000000"/>
                          </a:solidFill>
                          <a:effectLst/>
                          <a:latin typeface="Calibri" panose="020F0502020204030204" pitchFamily="34" charset="0"/>
                        </a:rPr>
                        <a:t>3</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7">
                  <a:txBody>
                    <a:bodyPr/>
                    <a:lstStyle/>
                    <a:p>
                      <a:pPr algn="ctr" fontAlgn="ctr"/>
                      <a:r>
                        <a:rPr lang="en-IN" sz="1000" b="0" i="0" u="none" strike="noStrike">
                          <a:solidFill>
                            <a:srgbClr val="0000FF"/>
                          </a:solidFill>
                          <a:effectLst/>
                          <a:latin typeface="Calibri" panose="020F0502020204030204" pitchFamily="34" charset="0"/>
                        </a:rPr>
                        <a:t>Exclusions</a:t>
                      </a:r>
                      <a:br>
                        <a:rPr lang="en-IN" sz="1000" b="0" i="0" u="none" strike="noStrike">
                          <a:solidFill>
                            <a:srgbClr val="0000FF"/>
                          </a:solidFill>
                          <a:effectLst/>
                          <a:latin typeface="Calibri" panose="020F0502020204030204" pitchFamily="34" charset="0"/>
                        </a:rPr>
                      </a:br>
                      <a:r>
                        <a:rPr lang="en-IN" sz="1000" b="0" i="0" u="none" strike="noStrike">
                          <a:solidFill>
                            <a:srgbClr val="0000FF"/>
                          </a:solidFill>
                          <a:effectLst/>
                          <a:latin typeface="Calibri" panose="020F0502020204030204" pitchFamily="34" charset="0"/>
                        </a:rPr>
                        <a:t>Endorsements </a:t>
                      </a:r>
                      <a:br>
                        <a:rPr lang="en-IN" sz="1000" b="0" i="0" u="none" strike="noStrike">
                          <a:solidFill>
                            <a:srgbClr val="0000FF"/>
                          </a:solidFill>
                          <a:effectLst/>
                          <a:latin typeface="Calibri" panose="020F0502020204030204" pitchFamily="34" charset="0"/>
                        </a:rPr>
                      </a:br>
                      <a:r>
                        <a:rPr lang="en-IN" sz="1000" b="0" i="0" u="none" strike="noStrike">
                          <a:solidFill>
                            <a:srgbClr val="0000FF"/>
                          </a:solidFill>
                          <a:effectLst/>
                          <a:latin typeface="Calibri" panose="020F0502020204030204" pitchFamily="34" charset="0"/>
                        </a:rPr>
                        <a:t>Additional Coverages</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What’s Not Covered?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195133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Extra Expenses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56938457"/>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Inland Marine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7353120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Equipment Breakdown</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171852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Spoilage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3604645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Employee Theft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55764217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Etc.</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50909877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072430414"/>
                  </a:ext>
                </a:extLst>
              </a:tr>
              <a:tr h="152714">
                <a:tc>
                  <a:txBody>
                    <a:bodyPr/>
                    <a:lstStyle/>
                    <a:p>
                      <a:pPr algn="r" fontAlgn="b"/>
                      <a:r>
                        <a:rPr lang="en-IN" sz="1000" b="0" i="0" u="none" strike="noStrike">
                          <a:solidFill>
                            <a:srgbClr val="000000"/>
                          </a:solidFill>
                          <a:effectLst/>
                          <a:latin typeface="Calibri" panose="020F0502020204030204" pitchFamily="34" charset="0"/>
                        </a:rPr>
                        <a:t>4</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4">
                  <a:txBody>
                    <a:bodyPr/>
                    <a:lstStyle/>
                    <a:p>
                      <a:pPr algn="ctr" fontAlgn="ctr"/>
                      <a:r>
                        <a:rPr lang="en-IN" sz="1000" b="0" i="0" u="none" strike="noStrike">
                          <a:solidFill>
                            <a:srgbClr val="0000FF"/>
                          </a:solidFill>
                          <a:effectLst/>
                          <a:latin typeface="Calibri" panose="020F0502020204030204" pitchFamily="34" charset="0"/>
                        </a:rPr>
                        <a:t>BOP Rating &amp; Premium Guidelines</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Rating factors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70214521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Premium Guidelines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193288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What Does a BOP Cost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333506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Average Cost of a BOP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318156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652744597"/>
                  </a:ext>
                </a:extLst>
              </a:tr>
              <a:tr h="152714">
                <a:tc>
                  <a:txBody>
                    <a:bodyPr/>
                    <a:lstStyle/>
                    <a:p>
                      <a:pPr algn="r" fontAlgn="b"/>
                      <a:r>
                        <a:rPr lang="en-IN" sz="1000" b="0" i="0" u="none" strike="noStrike">
                          <a:solidFill>
                            <a:srgbClr val="000000"/>
                          </a:solidFill>
                          <a:effectLst/>
                          <a:latin typeface="Calibri" panose="020F0502020204030204" pitchFamily="34" charset="0"/>
                        </a:rPr>
                        <a:t>5</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8">
                  <a:txBody>
                    <a:bodyPr/>
                    <a:lstStyle/>
                    <a:p>
                      <a:pPr algn="ctr" fontAlgn="ctr"/>
                      <a:r>
                        <a:rPr lang="en-IN" sz="1000" b="0" i="0" u="none" strike="noStrike" dirty="0">
                          <a:solidFill>
                            <a:srgbClr val="0000FF"/>
                          </a:solidFill>
                          <a:effectLst/>
                          <a:latin typeface="Calibri" panose="020F0502020204030204" pitchFamily="34" charset="0"/>
                        </a:rPr>
                        <a:t>BOP Policy issuance</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BOP Policy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5322095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Input Forms Output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485905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Valuation Methods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3221103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Policy Issuance Flow</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24880253"/>
                  </a:ext>
                </a:extLst>
              </a:tr>
              <a:tr h="301787">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Case study &amp; Discussion-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A snapshot at a Restaurant looking for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7721287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rowSpan="2">
                  <a:txBody>
                    <a:bodyPr/>
                    <a:lstStyle/>
                    <a:p>
                      <a:pPr algn="l" fontAlgn="b"/>
                      <a:r>
                        <a:rPr lang="en-IN" sz="1000" b="0" i="0" u="none" strike="noStrike">
                          <a:solidFill>
                            <a:srgbClr val="000000"/>
                          </a:solidFill>
                          <a:effectLst/>
                          <a:latin typeface="Calibri" panose="020F0502020204030204" pitchFamily="34" charset="0"/>
                        </a:rPr>
                        <a:t>Sample Policy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85456104"/>
                  </a:ext>
                </a:extLst>
              </a:tr>
              <a:tr h="0">
                <a:tc rowSpan="2">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vMerge="1">
                  <a:txBody>
                    <a:bodyPr/>
                    <a:lstStyle/>
                    <a:p>
                      <a:pPr algn="l" fontAlgn="b"/>
                      <a:r>
                        <a:rPr lang="en-IN" sz="700" b="0" i="0" u="none" strike="noStrike">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52971011"/>
                  </a:ext>
                </a:extLst>
              </a:tr>
              <a:tr h="152714">
                <a:tc vMerge="1">
                  <a:txBody>
                    <a:bodyPr/>
                    <a:lstStyle/>
                    <a:p>
                      <a:pPr algn="l" fontAlgn="b"/>
                      <a:endParaRPr lang="en-IN" sz="7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700" b="0" i="0" u="none" strike="noStrike">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98417780"/>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28015319"/>
                  </a:ext>
                </a:extLst>
              </a:tr>
              <a:tr h="152714">
                <a:tc>
                  <a:txBody>
                    <a:bodyPr/>
                    <a:lstStyle/>
                    <a:p>
                      <a:pPr algn="r" fontAlgn="b"/>
                      <a:r>
                        <a:rPr lang="en-IN" sz="1000" b="0" i="0" u="none" strike="noStrike">
                          <a:solidFill>
                            <a:srgbClr val="000000"/>
                          </a:solidFill>
                          <a:effectLst/>
                          <a:latin typeface="Calibri" panose="020F0502020204030204" pitchFamily="34" charset="0"/>
                        </a:rPr>
                        <a:t>6</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5">
                  <a:txBody>
                    <a:bodyPr/>
                    <a:lstStyle/>
                    <a:p>
                      <a:pPr algn="ctr" fontAlgn="ctr"/>
                      <a:r>
                        <a:rPr lang="en-IN" sz="1000" b="0" i="0" u="none" strike="noStrike">
                          <a:solidFill>
                            <a:srgbClr val="0000FF"/>
                          </a:solidFill>
                          <a:effectLst/>
                          <a:latin typeface="Calibri" panose="020F0502020204030204" pitchFamily="34" charset="0"/>
                        </a:rPr>
                        <a:t>Claims Handling</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Property Damage Assessment and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6252535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Recovery for Business Owners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109430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Filing a claim</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020966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Documents Required for Claim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111280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Claims Flow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68266022"/>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774789813"/>
                  </a:ext>
                </a:extLst>
              </a:tr>
            </a:tbl>
          </a:graphicData>
        </a:graphic>
      </p:graphicFrame>
    </p:spTree>
    <p:extLst>
      <p:ext uri="{BB962C8B-B14F-4D97-AF65-F5344CB8AC3E}">
        <p14:creationId xmlns:p14="http://schemas.microsoft.com/office/powerpoint/2010/main" val="2081522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D9ADC4A-E899-4AFC-A6B2-A4DC7BCC51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graphicFrame>
        <p:nvGraphicFramePr>
          <p:cNvPr id="10" name="Table 9">
            <a:extLst>
              <a:ext uri="{FF2B5EF4-FFF2-40B4-BE49-F238E27FC236}">
                <a16:creationId xmlns:a16="http://schemas.microsoft.com/office/drawing/2014/main" id="{E0BB4B2F-14C5-4163-99FD-53A220DE43C1}"/>
              </a:ext>
            </a:extLst>
          </p:cNvPr>
          <p:cNvGraphicFramePr>
            <a:graphicFrameLocks noGrp="1"/>
          </p:cNvGraphicFramePr>
          <p:nvPr>
            <p:extLst>
              <p:ext uri="{D42A27DB-BD31-4B8C-83A1-F6EECF244321}">
                <p14:modId xmlns:p14="http://schemas.microsoft.com/office/powerpoint/2010/main" val="2768845911"/>
              </p:ext>
            </p:extLst>
          </p:nvPr>
        </p:nvGraphicFramePr>
        <p:xfrm>
          <a:off x="838200" y="1825624"/>
          <a:ext cx="10039350" cy="4602823"/>
        </p:xfrm>
        <a:graphic>
          <a:graphicData uri="http://schemas.openxmlformats.org/drawingml/2006/table">
            <a:tbl>
              <a:tblPr>
                <a:effectLst>
                  <a:innerShdw blurRad="114300">
                    <a:prstClr val="black"/>
                  </a:innerShdw>
                </a:effectLst>
              </a:tblPr>
              <a:tblGrid>
                <a:gridCol w="4111351">
                  <a:extLst>
                    <a:ext uri="{9D8B030D-6E8A-4147-A177-3AD203B41FA5}">
                      <a16:colId xmlns:a16="http://schemas.microsoft.com/office/drawing/2014/main" val="3643053645"/>
                    </a:ext>
                  </a:extLst>
                </a:gridCol>
                <a:gridCol w="5927999">
                  <a:extLst>
                    <a:ext uri="{9D8B030D-6E8A-4147-A177-3AD203B41FA5}">
                      <a16:colId xmlns:a16="http://schemas.microsoft.com/office/drawing/2014/main" val="1154037708"/>
                    </a:ext>
                  </a:extLst>
                </a:gridCol>
              </a:tblGrid>
              <a:tr h="1299259">
                <a:tc rowSpan="4">
                  <a:txBody>
                    <a:bodyPr/>
                    <a:lstStyle/>
                    <a:p>
                      <a:pPr algn="ctr" fontAlgn="ctr"/>
                      <a:r>
                        <a:rPr lang="en-IN" sz="6600" b="0" i="0" u="none" strike="noStrike" dirty="0">
                          <a:solidFill>
                            <a:srgbClr val="0000FF"/>
                          </a:solidFill>
                          <a:effectLst/>
                          <a:latin typeface="Calibri" panose="020F0502020204030204" pitchFamily="34" charset="0"/>
                        </a:rPr>
                        <a:t>Concept</a:t>
                      </a:r>
                    </a:p>
                  </a:txBody>
                  <a:tcPr marL="3908" marR="3908" marT="3908" marB="0" anchor="ctr">
                    <a:lnL>
                      <a:noFill/>
                    </a:lnL>
                    <a:lnR>
                      <a:noFill/>
                    </a:lnR>
                    <a:lnT w="12700" cap="flat" cmpd="sng" algn="ctr">
                      <a:solidFill>
                        <a:srgbClr val="000000"/>
                      </a:solidFill>
                      <a:prstDash val="solid"/>
                      <a:round/>
                      <a:headEnd type="none" w="med" len="med"/>
                      <a:tailEnd type="none" w="med" len="med"/>
                    </a:lnT>
                    <a:lnB>
                      <a:noFill/>
                    </a:lnB>
                    <a:solidFill>
                      <a:schemeClr val="accent5">
                        <a:lumMod val="20000"/>
                        <a:lumOff val="80000"/>
                      </a:schemeClr>
                    </a:solidFill>
                  </a:tcPr>
                </a:tc>
                <a:tc>
                  <a:txBody>
                    <a:bodyPr/>
                    <a:lstStyle/>
                    <a:p>
                      <a:pPr marL="571500" indent="-571500" algn="l" defTabSz="914400" rtl="0" eaLnBrk="1" fontAlgn="b" latinLnBrk="0" hangingPunct="1">
                        <a:buFont typeface="Arial" panose="020B0604020202020204" pitchFamily="34" charset="0"/>
                        <a:buChar char="•"/>
                      </a:pPr>
                      <a:r>
                        <a:rPr lang="en-US" sz="3600" b="0" i="0" u="none" strike="noStrike" kern="1200" dirty="0">
                          <a:solidFill>
                            <a:srgbClr val="000000"/>
                          </a:solidFill>
                          <a:effectLst/>
                          <a:latin typeface="Calibri" panose="020F0502020204030204" pitchFamily="34" charset="0"/>
                          <a:ea typeface="+mn-ea"/>
                          <a:cs typeface="+mn-cs"/>
                        </a:rPr>
                        <a:t>Meaning</a:t>
                      </a:r>
                    </a:p>
                    <a:p>
                      <a:pPr marL="0" indent="0" algn="l" defTabSz="914400" rtl="0" eaLnBrk="1" fontAlgn="b" latinLnBrk="0" hangingPunct="1">
                        <a:buFont typeface="Arial" panose="020B0604020202020204" pitchFamily="34" charset="0"/>
                        <a:buNone/>
                      </a:pPr>
                      <a:endParaRPr lang="en-IN" sz="3600" b="0" i="0" u="none" strike="noStrike" kern="1200" dirty="0">
                        <a:solidFill>
                          <a:srgbClr val="000000"/>
                        </a:solidFill>
                        <a:effectLst/>
                        <a:latin typeface="Calibri" panose="020F0502020204030204" pitchFamily="34" charset="0"/>
                        <a:ea typeface="+mn-ea"/>
                        <a:cs typeface="+mn-cs"/>
                      </a:endParaRP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accent5">
                        <a:lumMod val="20000"/>
                        <a:lumOff val="80000"/>
                      </a:schemeClr>
                    </a:solidFill>
                  </a:tcPr>
                </a:tc>
                <a:extLst>
                  <a:ext uri="{0D108BD9-81ED-4DB2-BD59-A6C34878D82A}">
                    <a16:rowId xmlns:a16="http://schemas.microsoft.com/office/drawing/2014/main" val="3092608963"/>
                  </a:ext>
                </a:extLst>
              </a:tr>
              <a:tr h="710972">
                <a:tc vMerge="1">
                  <a:txBody>
                    <a:bodyPr/>
                    <a:lstStyle/>
                    <a:p>
                      <a:endParaRPr lang="en-IN"/>
                    </a:p>
                  </a:txBody>
                  <a:tcPr/>
                </a:tc>
                <a:tc>
                  <a:txBody>
                    <a:bodyPr/>
                    <a:lstStyle/>
                    <a:p>
                      <a:pPr marL="571500" indent="-571500" algn="l" fontAlgn="b">
                        <a:buFont typeface="Arial" panose="020B0604020202020204" pitchFamily="34" charset="0"/>
                        <a:buChar char="•"/>
                      </a:pPr>
                      <a:r>
                        <a:rPr lang="en-IN" sz="3600" b="0" i="0" u="none" strike="noStrike" dirty="0">
                          <a:solidFill>
                            <a:srgbClr val="000000"/>
                          </a:solidFill>
                          <a:effectLst/>
                          <a:latin typeface="Calibri" panose="020F0502020204030204" pitchFamily="34" charset="0"/>
                        </a:rPr>
                        <a:t>Advantages</a:t>
                      </a:r>
                    </a:p>
                    <a:p>
                      <a:pPr marL="0" indent="0" algn="l" fontAlgn="b">
                        <a:buFont typeface="Arial" panose="020B0604020202020204" pitchFamily="34" charset="0"/>
                        <a:buNone/>
                      </a:pPr>
                      <a:endParaRPr lang="en-IN" sz="3600" b="0" i="0" u="none" strike="noStrike" dirty="0">
                        <a:solidFill>
                          <a:srgbClr val="000000"/>
                        </a:solidFill>
                        <a:effectLst/>
                        <a:latin typeface="Calibri" panose="020F0502020204030204" pitchFamily="34" charset="0"/>
                      </a:endParaRP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1644704969"/>
                  </a:ext>
                </a:extLst>
              </a:tr>
              <a:tr h="710972">
                <a:tc vMerge="1">
                  <a:txBody>
                    <a:bodyPr/>
                    <a:lstStyle/>
                    <a:p>
                      <a:endParaRPr lang="en-IN"/>
                    </a:p>
                  </a:txBody>
                  <a:tcPr/>
                </a:tc>
                <a:tc>
                  <a:txBody>
                    <a:bodyPr/>
                    <a:lstStyle/>
                    <a:p>
                      <a:pPr marL="571500" indent="-571500" algn="l" fontAlgn="b">
                        <a:buFont typeface="Arial" panose="020B0604020202020204" pitchFamily="34" charset="0"/>
                        <a:buChar char="•"/>
                      </a:pPr>
                      <a:r>
                        <a:rPr lang="en-US" sz="3600" b="0" i="0" u="none" strike="noStrike" dirty="0">
                          <a:solidFill>
                            <a:srgbClr val="000000"/>
                          </a:solidFill>
                          <a:effectLst/>
                          <a:latin typeface="Calibri" panose="020F0502020204030204" pitchFamily="34" charset="0"/>
                        </a:rPr>
                        <a:t>Eligibility Rules and its need</a:t>
                      </a:r>
                    </a:p>
                    <a:p>
                      <a:pPr marL="0" indent="0" algn="l" fontAlgn="b">
                        <a:buFont typeface="Arial" panose="020B0604020202020204" pitchFamily="34" charset="0"/>
                        <a:buNone/>
                      </a:pPr>
                      <a:endParaRPr lang="en-US" sz="3600" b="0" i="0" u="none" strike="noStrike" dirty="0">
                        <a:solidFill>
                          <a:srgbClr val="000000"/>
                        </a:solidFill>
                        <a:effectLst/>
                        <a:latin typeface="Calibri" panose="020F0502020204030204" pitchFamily="34" charset="0"/>
                      </a:endParaRP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4056524891"/>
                  </a:ext>
                </a:extLst>
              </a:tr>
              <a:tr h="710972">
                <a:tc vMerge="1">
                  <a:txBody>
                    <a:bodyPr/>
                    <a:lstStyle/>
                    <a:p>
                      <a:endParaRPr lang="en-IN"/>
                    </a:p>
                  </a:txBody>
                  <a:tcPr/>
                </a:tc>
                <a:tc>
                  <a:txBody>
                    <a:bodyPr/>
                    <a:lstStyle/>
                    <a:p>
                      <a:pPr marL="571500" indent="-571500" algn="l" fontAlgn="b">
                        <a:buFont typeface="Arial" panose="020B0604020202020204" pitchFamily="34" charset="0"/>
                        <a:buChar char="•"/>
                      </a:pPr>
                      <a:r>
                        <a:rPr lang="en-IN" sz="3600" b="0" i="0" u="none" strike="noStrike" dirty="0">
                          <a:solidFill>
                            <a:srgbClr val="000000"/>
                          </a:solidFill>
                          <a:effectLst/>
                          <a:latin typeface="Calibri" panose="020F0502020204030204" pitchFamily="34" charset="0"/>
                        </a:rPr>
                        <a:t>BOP Vs CPP</a:t>
                      </a:r>
                    </a:p>
                    <a:p>
                      <a:pPr marL="571500" indent="-571500" algn="l" fontAlgn="b">
                        <a:buFont typeface="Arial" panose="020B0604020202020204" pitchFamily="34" charset="0"/>
                        <a:buChar char="•"/>
                      </a:pPr>
                      <a:endParaRPr lang="en-IN" sz="3600" b="0" i="0" u="none" strike="noStrike" dirty="0">
                        <a:solidFill>
                          <a:srgbClr val="000000"/>
                        </a:solidFill>
                        <a:effectLst/>
                        <a:latin typeface="Calibri" panose="020F0502020204030204" pitchFamily="34" charset="0"/>
                      </a:endParaRP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5">
                        <a:lumMod val="20000"/>
                        <a:lumOff val="80000"/>
                      </a:schemeClr>
                    </a:solidFill>
                  </a:tcPr>
                </a:tc>
                <a:extLst>
                  <a:ext uri="{0D108BD9-81ED-4DB2-BD59-A6C34878D82A}">
                    <a16:rowId xmlns:a16="http://schemas.microsoft.com/office/drawing/2014/main" val="700282516"/>
                  </a:ext>
                </a:extLst>
              </a:tr>
            </a:tbl>
          </a:graphicData>
        </a:graphic>
      </p:graphicFrame>
    </p:spTree>
    <p:extLst>
      <p:ext uri="{BB962C8B-B14F-4D97-AF65-F5344CB8AC3E}">
        <p14:creationId xmlns:p14="http://schemas.microsoft.com/office/powerpoint/2010/main" val="330138679"/>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0F3C9-738A-4C7D-995C-4F79B95330F0}"/>
              </a:ext>
            </a:extLst>
          </p:cNvPr>
          <p:cNvSpPr txBox="1"/>
          <p:nvPr/>
        </p:nvSpPr>
        <p:spPr>
          <a:xfrm>
            <a:off x="259354" y="1286906"/>
            <a:ext cx="6881704" cy="3139321"/>
          </a:xfrm>
          <a:prstGeom prst="rect">
            <a:avLst/>
          </a:prstGeom>
          <a:noFill/>
        </p:spPr>
        <p:txBody>
          <a:bodyPr wrap="square">
            <a:spAutoFit/>
          </a:bodyPr>
          <a:lstStyle/>
          <a:p>
            <a:pPr marL="285750" indent="-285750">
              <a:buFont typeface="Arial" panose="020B0604020202020204" pitchFamily="34" charset="0"/>
              <a:buChar char="•"/>
            </a:pPr>
            <a:r>
              <a:rPr lang="en-US" dirty="0"/>
              <a:t>A Business Owners Policy is a policy package that was created with </a:t>
            </a:r>
            <a:r>
              <a:rPr lang="en-US" dirty="0">
                <a:solidFill>
                  <a:srgbClr val="0000FF"/>
                </a:solidFill>
              </a:rPr>
              <a:t>small businesses in mind</a:t>
            </a:r>
            <a:r>
              <a:rPr lang="en-US" dirty="0"/>
              <a:t>. It was designed to cover many of the business risks that a majority of small businesses share, regardless of industry.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0000FF"/>
                </a:solidFill>
              </a:rPr>
              <a:t>Large companies with more complex insurance needs </a:t>
            </a:r>
            <a:r>
              <a:rPr lang="en-US" dirty="0"/>
              <a:t>usually don’t qualify for a BOP, meaning that the coverage they need can’t be provided by a Business Owners Policy. These large businesses would most likely be better off purchasing a variety of individual insurance policies that are all tailored to cover their specific needs based on their </a:t>
            </a:r>
            <a:r>
              <a:rPr lang="en-US" dirty="0">
                <a:solidFill>
                  <a:srgbClr val="0000FF"/>
                </a:solidFill>
              </a:rPr>
              <a:t>more complex risk </a:t>
            </a:r>
            <a:r>
              <a:rPr lang="en-US" dirty="0"/>
              <a:t>profile.</a:t>
            </a:r>
            <a:endParaRPr lang="en-IN" dirty="0"/>
          </a:p>
        </p:txBody>
      </p:sp>
      <p:sp>
        <p:nvSpPr>
          <p:cNvPr id="5" name="TextBox 4">
            <a:extLst>
              <a:ext uri="{FF2B5EF4-FFF2-40B4-BE49-F238E27FC236}">
                <a16:creationId xmlns:a16="http://schemas.microsoft.com/office/drawing/2014/main" id="{7664B399-8DD6-47A2-AE2F-D31F4D8832AE}"/>
              </a:ext>
            </a:extLst>
          </p:cNvPr>
          <p:cNvSpPr txBox="1"/>
          <p:nvPr/>
        </p:nvSpPr>
        <p:spPr>
          <a:xfrm>
            <a:off x="259353" y="4416932"/>
            <a:ext cx="6559458" cy="2308324"/>
          </a:xfrm>
          <a:prstGeom prst="rect">
            <a:avLst/>
          </a:prstGeom>
          <a:noFill/>
        </p:spPr>
        <p:txBody>
          <a:bodyPr wrap="square">
            <a:spAutoFit/>
          </a:bodyPr>
          <a:lstStyle/>
          <a:p>
            <a:pPr marL="285750" indent="-285750">
              <a:buFont typeface="Arial" panose="020B0604020202020204" pitchFamily="34" charset="0"/>
              <a:buChar char="•"/>
            </a:pPr>
            <a:r>
              <a:rPr lang="en-US" dirty="0"/>
              <a:t>If you fit into the following profile, a Business Owners Policy could probably be the right solution for covering your basic business insurance needs:</a:t>
            </a:r>
          </a:p>
          <a:p>
            <a:pPr marL="285750" indent="-285750">
              <a:buFont typeface="Arial" panose="020B0604020202020204" pitchFamily="34" charset="0"/>
              <a:buChar char="•"/>
            </a:pPr>
            <a:endParaRPr lang="en-US" dirty="0"/>
          </a:p>
          <a:p>
            <a:pPr marL="1200150" lvl="2" indent="-285750">
              <a:buFont typeface="Courier New" panose="02070309020205020404" pitchFamily="49" charset="0"/>
              <a:buChar char="o"/>
            </a:pPr>
            <a:r>
              <a:rPr lang="en-US" dirty="0"/>
              <a:t>You have less than 100 employees</a:t>
            </a:r>
          </a:p>
          <a:p>
            <a:pPr marL="1200150" lvl="2" indent="-285750">
              <a:buFont typeface="Courier New" panose="02070309020205020404" pitchFamily="49" charset="0"/>
              <a:buChar char="o"/>
            </a:pPr>
            <a:r>
              <a:rPr lang="en-US" dirty="0"/>
              <a:t>You make less than $10 million in annual sales</a:t>
            </a:r>
          </a:p>
          <a:p>
            <a:pPr marL="1200150" lvl="2" indent="-285750">
              <a:buFont typeface="Courier New" panose="02070309020205020404" pitchFamily="49" charset="0"/>
              <a:buChar char="o"/>
            </a:pPr>
            <a:r>
              <a:rPr lang="en-US" dirty="0"/>
              <a:t>You have a physical location (could be your home) where most of your business is conducted</a:t>
            </a:r>
            <a:endParaRPr lang="en-IN" dirty="0"/>
          </a:p>
        </p:txBody>
      </p:sp>
      <p:sp>
        <p:nvSpPr>
          <p:cNvPr id="9" name="TextBox 8">
            <a:extLst>
              <a:ext uri="{FF2B5EF4-FFF2-40B4-BE49-F238E27FC236}">
                <a16:creationId xmlns:a16="http://schemas.microsoft.com/office/drawing/2014/main" id="{6C8FADE7-AAE3-4047-B257-979ECC2C6DD0}"/>
              </a:ext>
            </a:extLst>
          </p:cNvPr>
          <p:cNvSpPr txBox="1"/>
          <p:nvPr/>
        </p:nvSpPr>
        <p:spPr>
          <a:xfrm>
            <a:off x="353060" y="407412"/>
            <a:ext cx="6096000" cy="523220"/>
          </a:xfrm>
          <a:prstGeom prst="rect">
            <a:avLst/>
          </a:prstGeom>
          <a:noFill/>
        </p:spPr>
        <p:txBody>
          <a:bodyPr wrap="square">
            <a:spAutoFit/>
          </a:bodyPr>
          <a:lstStyle/>
          <a:p>
            <a:r>
              <a:rPr lang="en-IN" sz="2800" b="1" dirty="0"/>
              <a:t>Who Is BOP Insurance for?</a:t>
            </a:r>
          </a:p>
        </p:txBody>
      </p:sp>
      <p:pic>
        <p:nvPicPr>
          <p:cNvPr id="10" name="Picture 9">
            <a:extLst>
              <a:ext uri="{FF2B5EF4-FFF2-40B4-BE49-F238E27FC236}">
                <a16:creationId xmlns:a16="http://schemas.microsoft.com/office/drawing/2014/main" id="{5F489B7C-4936-41ED-912A-CD8FFD3DE90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3662" y="825973"/>
            <a:ext cx="9804188" cy="264653"/>
          </a:xfrm>
          <a:prstGeom prst="rect">
            <a:avLst/>
          </a:prstGeom>
        </p:spPr>
      </p:pic>
      <p:pic>
        <p:nvPicPr>
          <p:cNvPr id="13" name="Picture 12">
            <a:extLst>
              <a:ext uri="{FF2B5EF4-FFF2-40B4-BE49-F238E27FC236}">
                <a16:creationId xmlns:a16="http://schemas.microsoft.com/office/drawing/2014/main" id="{E23AC803-AF5E-48CF-9B59-4032A93511A9}"/>
              </a:ext>
            </a:extLst>
          </p:cNvPr>
          <p:cNvPicPr>
            <a:picLocks noChangeAspect="1"/>
          </p:cNvPicPr>
          <p:nvPr/>
        </p:nvPicPr>
        <p:blipFill>
          <a:blip r:embed="rId4"/>
          <a:stretch>
            <a:fillRect/>
          </a:stretch>
        </p:blipFill>
        <p:spPr>
          <a:xfrm>
            <a:off x="7141057" y="990746"/>
            <a:ext cx="4791590" cy="5466806"/>
          </a:xfrm>
          <a:prstGeom prst="rect">
            <a:avLst/>
          </a:prstGeom>
        </p:spPr>
      </p:pic>
    </p:spTree>
    <p:extLst>
      <p:ext uri="{BB962C8B-B14F-4D97-AF65-F5344CB8AC3E}">
        <p14:creationId xmlns:p14="http://schemas.microsoft.com/office/powerpoint/2010/main" val="318419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219DA5-9C74-4091-999B-7A76EBA0D2D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pic>
        <p:nvPicPr>
          <p:cNvPr id="3" name="Online Media 2" title="Insurance 101: Business Owners Policy">
            <a:hlinkClick r:id="" action="ppaction://media"/>
            <a:extLst>
              <a:ext uri="{FF2B5EF4-FFF2-40B4-BE49-F238E27FC236}">
                <a16:creationId xmlns:a16="http://schemas.microsoft.com/office/drawing/2014/main" id="{2C6A6A2E-1CC1-4C1E-BCB3-0DAD0FF64B8D}"/>
              </a:ext>
            </a:extLst>
          </p:cNvPr>
          <p:cNvPicPr>
            <a:picLocks noRot="1" noChangeAspect="1"/>
          </p:cNvPicPr>
          <p:nvPr>
            <a:videoFile r:link="rId1"/>
          </p:nvPr>
        </p:nvPicPr>
        <p:blipFill>
          <a:blip r:embed="rId5"/>
          <a:stretch>
            <a:fillRect/>
          </a:stretch>
        </p:blipFill>
        <p:spPr>
          <a:xfrm>
            <a:off x="178699" y="1065976"/>
            <a:ext cx="11870426" cy="5706299"/>
          </a:xfrm>
          <a:prstGeom prst="rect">
            <a:avLst/>
          </a:prstGeom>
        </p:spPr>
      </p:pic>
    </p:spTree>
    <p:extLst>
      <p:ext uri="{BB962C8B-B14F-4D97-AF65-F5344CB8AC3E}">
        <p14:creationId xmlns:p14="http://schemas.microsoft.com/office/powerpoint/2010/main" val="10039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C44708-D6D5-4608-A37C-CE0EDF9EC118}"/>
              </a:ext>
            </a:extLst>
          </p:cNvPr>
          <p:cNvPicPr>
            <a:picLocks noChangeAspect="1"/>
          </p:cNvPicPr>
          <p:nvPr/>
        </p:nvPicPr>
        <p:blipFill>
          <a:blip r:embed="rId2"/>
          <a:stretch>
            <a:fillRect/>
          </a:stretch>
        </p:blipFill>
        <p:spPr>
          <a:xfrm>
            <a:off x="0" y="1179968"/>
            <a:ext cx="12192000" cy="2780778"/>
          </a:xfrm>
          <a:prstGeom prst="rect">
            <a:avLst/>
          </a:prstGeom>
        </p:spPr>
      </p:pic>
      <p:pic>
        <p:nvPicPr>
          <p:cNvPr id="5" name="Picture 4">
            <a:extLst>
              <a:ext uri="{FF2B5EF4-FFF2-40B4-BE49-F238E27FC236}">
                <a16:creationId xmlns:a16="http://schemas.microsoft.com/office/drawing/2014/main" id="{F9D9C784-7A84-462F-81B8-7506EB0D1C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2567656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88C160-041C-4A51-84B2-DF62FA967AC5}"/>
              </a:ext>
            </a:extLst>
          </p:cNvPr>
          <p:cNvPicPr>
            <a:picLocks noChangeAspect="1"/>
          </p:cNvPicPr>
          <p:nvPr/>
        </p:nvPicPr>
        <p:blipFill>
          <a:blip r:embed="rId2"/>
          <a:stretch>
            <a:fillRect/>
          </a:stretch>
        </p:blipFill>
        <p:spPr>
          <a:xfrm>
            <a:off x="0" y="2079440"/>
            <a:ext cx="12192000" cy="2699120"/>
          </a:xfrm>
          <a:prstGeom prst="rect">
            <a:avLst/>
          </a:prstGeom>
        </p:spPr>
      </p:pic>
      <p:pic>
        <p:nvPicPr>
          <p:cNvPr id="4" name="Picture 3">
            <a:extLst>
              <a:ext uri="{FF2B5EF4-FFF2-40B4-BE49-F238E27FC236}">
                <a16:creationId xmlns:a16="http://schemas.microsoft.com/office/drawing/2014/main" id="{25E33585-1247-401D-BF5B-F36D16773B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2038537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6CFFF3-DADF-4434-834A-9A40849547D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C1452642-21F6-4BA1-9120-239840896CA6}"/>
              </a:ext>
            </a:extLst>
          </p:cNvPr>
          <p:cNvSpPr txBox="1"/>
          <p:nvPr/>
        </p:nvSpPr>
        <p:spPr>
          <a:xfrm>
            <a:off x="390525" y="320159"/>
            <a:ext cx="6096000" cy="461665"/>
          </a:xfrm>
          <a:prstGeom prst="rect">
            <a:avLst/>
          </a:prstGeom>
          <a:noFill/>
        </p:spPr>
        <p:txBody>
          <a:bodyPr wrap="square">
            <a:spAutoFit/>
          </a:bodyPr>
          <a:lstStyle/>
          <a:p>
            <a:r>
              <a:rPr lang="en-US" sz="2400" dirty="0">
                <a:solidFill>
                  <a:srgbClr val="0000FF"/>
                </a:solidFill>
              </a:rPr>
              <a:t>Why Do You Need a Business Owners Policy?</a:t>
            </a:r>
            <a:endParaRPr lang="en-IN" sz="2400" dirty="0">
              <a:solidFill>
                <a:srgbClr val="0000FF"/>
              </a:solidFill>
            </a:endParaRPr>
          </a:p>
        </p:txBody>
      </p:sp>
      <p:sp>
        <p:nvSpPr>
          <p:cNvPr id="8" name="TextBox 7">
            <a:extLst>
              <a:ext uri="{FF2B5EF4-FFF2-40B4-BE49-F238E27FC236}">
                <a16:creationId xmlns:a16="http://schemas.microsoft.com/office/drawing/2014/main" id="{25B41ABD-7DE8-4158-8B8C-64DB543F21AC}"/>
              </a:ext>
            </a:extLst>
          </p:cNvPr>
          <p:cNvSpPr txBox="1"/>
          <p:nvPr/>
        </p:nvSpPr>
        <p:spPr>
          <a:xfrm>
            <a:off x="540834" y="3925203"/>
            <a:ext cx="6099716" cy="2308324"/>
          </a:xfrm>
          <a:prstGeom prst="rect">
            <a:avLst/>
          </a:prstGeom>
          <a:noFill/>
          <a:ln>
            <a:solidFill>
              <a:srgbClr val="0000FF"/>
            </a:solidFill>
          </a:ln>
        </p:spPr>
        <p:txBody>
          <a:bodyPr wrap="square">
            <a:spAutoFit/>
          </a:bodyPr>
          <a:lstStyle/>
          <a:p>
            <a:endParaRPr lang="en-US" dirty="0"/>
          </a:p>
          <a:p>
            <a:r>
              <a:rPr lang="en-US" dirty="0"/>
              <a:t>A large business will probably have the money to pay for a lawsuit without insurance or repair their office if a hurricane destroys it. But with less cash flow, a small business most likely wouldn’t have the funds to cover the additional costs from such events. Insurance is there to provide financial support and relief for such unexpected circumstances.</a:t>
            </a:r>
          </a:p>
          <a:p>
            <a:endParaRPr lang="en-US" dirty="0"/>
          </a:p>
        </p:txBody>
      </p:sp>
      <p:sp>
        <p:nvSpPr>
          <p:cNvPr id="6" name="TextBox 5">
            <a:extLst>
              <a:ext uri="{FF2B5EF4-FFF2-40B4-BE49-F238E27FC236}">
                <a16:creationId xmlns:a16="http://schemas.microsoft.com/office/drawing/2014/main" id="{C047607D-830A-4C42-ACC4-B9A0DC2F1DD7}"/>
              </a:ext>
            </a:extLst>
          </p:cNvPr>
          <p:cNvSpPr txBox="1"/>
          <p:nvPr/>
        </p:nvSpPr>
        <p:spPr>
          <a:xfrm>
            <a:off x="540834" y="1287065"/>
            <a:ext cx="6099716" cy="2031325"/>
          </a:xfrm>
          <a:prstGeom prst="rect">
            <a:avLst/>
          </a:prstGeom>
          <a:noFill/>
          <a:ln>
            <a:solidFill>
              <a:srgbClr val="0000FF"/>
            </a:solidFill>
          </a:ln>
        </p:spPr>
        <p:txBody>
          <a:bodyPr wrap="square">
            <a:spAutoFit/>
          </a:bodyPr>
          <a:lstStyle/>
          <a:p>
            <a:r>
              <a:rPr lang="en-US" dirty="0"/>
              <a:t>A Business Owners Policy can offer business owners peace of mind. This policy package makes it easy for business owners to maintain all of the most common insurance policies they need without having to manage several policies or sign contracts with different insurers. When you buy a BOP you have </a:t>
            </a:r>
            <a:r>
              <a:rPr lang="en-US" u="sng" dirty="0"/>
              <a:t>one policy that you’ve purchased from one insurer,</a:t>
            </a:r>
            <a:r>
              <a:rPr lang="en-US" dirty="0"/>
              <a:t> making any eventual claims much simpler to handle.</a:t>
            </a:r>
          </a:p>
        </p:txBody>
      </p:sp>
      <p:sp>
        <p:nvSpPr>
          <p:cNvPr id="9" name="TextBox 8">
            <a:extLst>
              <a:ext uri="{FF2B5EF4-FFF2-40B4-BE49-F238E27FC236}">
                <a16:creationId xmlns:a16="http://schemas.microsoft.com/office/drawing/2014/main" id="{B2AEC2E7-A0F6-478E-BA82-469FCA2B4893}"/>
              </a:ext>
            </a:extLst>
          </p:cNvPr>
          <p:cNvSpPr txBox="1"/>
          <p:nvPr/>
        </p:nvSpPr>
        <p:spPr>
          <a:xfrm>
            <a:off x="7072662" y="1287065"/>
            <a:ext cx="4825689" cy="1754326"/>
          </a:xfrm>
          <a:prstGeom prst="rect">
            <a:avLst/>
          </a:prstGeom>
          <a:noFill/>
          <a:ln>
            <a:solidFill>
              <a:srgbClr val="0000FF"/>
            </a:solidFill>
          </a:ln>
        </p:spPr>
        <p:txBody>
          <a:bodyPr wrap="square">
            <a:spAutoFit/>
          </a:bodyPr>
          <a:lstStyle/>
          <a:p>
            <a:r>
              <a:rPr lang="en-US" dirty="0"/>
              <a:t>A common misconception is that big companies need insurance more than small businesses. That simply isn’t true. While large companies might have more complex risks, one unforeseen event or misstep can be financially crippling to a small business if it is not insured.</a:t>
            </a:r>
          </a:p>
        </p:txBody>
      </p:sp>
      <p:sp>
        <p:nvSpPr>
          <p:cNvPr id="10" name="TextBox 9">
            <a:extLst>
              <a:ext uri="{FF2B5EF4-FFF2-40B4-BE49-F238E27FC236}">
                <a16:creationId xmlns:a16="http://schemas.microsoft.com/office/drawing/2014/main" id="{51FEE859-5B65-4E9D-A705-57BCA44E3ACD}"/>
              </a:ext>
            </a:extLst>
          </p:cNvPr>
          <p:cNvSpPr txBox="1"/>
          <p:nvPr/>
        </p:nvSpPr>
        <p:spPr>
          <a:xfrm rot="20804499">
            <a:off x="7373745" y="3555871"/>
            <a:ext cx="2026734" cy="369332"/>
          </a:xfrm>
          <a:prstGeom prst="rect">
            <a:avLst/>
          </a:prstGeom>
          <a:noFill/>
          <a:ln>
            <a:solidFill>
              <a:srgbClr val="0000FF"/>
            </a:solidFill>
          </a:ln>
        </p:spPr>
        <p:txBody>
          <a:bodyPr wrap="square">
            <a:spAutoFit/>
          </a:bodyPr>
          <a:lstStyle/>
          <a:p>
            <a:r>
              <a:rPr lang="en-IN" dirty="0"/>
              <a:t>A physical location</a:t>
            </a:r>
          </a:p>
        </p:txBody>
      </p:sp>
      <p:sp>
        <p:nvSpPr>
          <p:cNvPr id="12" name="TextBox 11">
            <a:extLst>
              <a:ext uri="{FF2B5EF4-FFF2-40B4-BE49-F238E27FC236}">
                <a16:creationId xmlns:a16="http://schemas.microsoft.com/office/drawing/2014/main" id="{91312D27-CFB0-4F92-A861-B8AFF4C18A90}"/>
              </a:ext>
            </a:extLst>
          </p:cNvPr>
          <p:cNvSpPr txBox="1"/>
          <p:nvPr/>
        </p:nvSpPr>
        <p:spPr>
          <a:xfrm rot="472519">
            <a:off x="8725829" y="4255017"/>
            <a:ext cx="3242217" cy="369332"/>
          </a:xfrm>
          <a:prstGeom prst="rect">
            <a:avLst/>
          </a:prstGeom>
          <a:noFill/>
          <a:ln>
            <a:solidFill>
              <a:srgbClr val="0000FF"/>
            </a:solidFill>
          </a:ln>
        </p:spPr>
        <p:txBody>
          <a:bodyPr wrap="square">
            <a:spAutoFit/>
          </a:bodyPr>
          <a:lstStyle/>
          <a:p>
            <a:r>
              <a:rPr lang="en-US" dirty="0"/>
              <a:t>The possibility of being sued </a:t>
            </a:r>
            <a:endParaRPr lang="en-IN" dirty="0"/>
          </a:p>
        </p:txBody>
      </p:sp>
      <p:sp>
        <p:nvSpPr>
          <p:cNvPr id="14" name="TextBox 13">
            <a:extLst>
              <a:ext uri="{FF2B5EF4-FFF2-40B4-BE49-F238E27FC236}">
                <a16:creationId xmlns:a16="http://schemas.microsoft.com/office/drawing/2014/main" id="{A0A941BC-5D34-40E1-A7C5-85DBAFA287C1}"/>
              </a:ext>
            </a:extLst>
          </p:cNvPr>
          <p:cNvSpPr txBox="1"/>
          <p:nvPr/>
        </p:nvSpPr>
        <p:spPr>
          <a:xfrm rot="20852735">
            <a:off x="7124933" y="5468643"/>
            <a:ext cx="4245827" cy="369332"/>
          </a:xfrm>
          <a:prstGeom prst="rect">
            <a:avLst/>
          </a:prstGeom>
          <a:noFill/>
          <a:ln>
            <a:solidFill>
              <a:srgbClr val="0000FF"/>
            </a:solidFill>
          </a:ln>
        </p:spPr>
        <p:txBody>
          <a:bodyPr wrap="square">
            <a:spAutoFit/>
          </a:bodyPr>
          <a:lstStyle/>
          <a:p>
            <a:r>
              <a:rPr lang="en-US" dirty="0"/>
              <a:t>Property that could be stolen or damaged. </a:t>
            </a:r>
            <a:endParaRPr lang="en-IN" dirty="0"/>
          </a:p>
        </p:txBody>
      </p:sp>
      <p:sp>
        <p:nvSpPr>
          <p:cNvPr id="16" name="TextBox 15">
            <a:extLst>
              <a:ext uri="{FF2B5EF4-FFF2-40B4-BE49-F238E27FC236}">
                <a16:creationId xmlns:a16="http://schemas.microsoft.com/office/drawing/2014/main" id="{01E00B91-6DE3-4E9D-8F99-B12D93319115}"/>
              </a:ext>
            </a:extLst>
          </p:cNvPr>
          <p:cNvSpPr txBox="1"/>
          <p:nvPr/>
        </p:nvSpPr>
        <p:spPr>
          <a:xfrm>
            <a:off x="7135064" y="4711125"/>
            <a:ext cx="2405875" cy="379812"/>
          </a:xfrm>
          <a:prstGeom prst="rect">
            <a:avLst/>
          </a:prstGeom>
          <a:noFill/>
          <a:ln>
            <a:solidFill>
              <a:srgbClr val="0000FF"/>
            </a:solidFill>
          </a:ln>
        </p:spPr>
        <p:txBody>
          <a:bodyPr wrap="square">
            <a:spAutoFit/>
          </a:bodyPr>
          <a:lstStyle/>
          <a:p>
            <a:r>
              <a:rPr lang="en-IN" dirty="0"/>
              <a:t>Employee dishonesty</a:t>
            </a:r>
          </a:p>
        </p:txBody>
      </p:sp>
      <p:sp>
        <p:nvSpPr>
          <p:cNvPr id="18" name="TextBox 17">
            <a:extLst>
              <a:ext uri="{FF2B5EF4-FFF2-40B4-BE49-F238E27FC236}">
                <a16:creationId xmlns:a16="http://schemas.microsoft.com/office/drawing/2014/main" id="{FF17029D-65AB-4F84-900C-5D112FE89B0B}"/>
              </a:ext>
            </a:extLst>
          </p:cNvPr>
          <p:cNvSpPr txBox="1"/>
          <p:nvPr/>
        </p:nvSpPr>
        <p:spPr>
          <a:xfrm>
            <a:off x="9485506" y="6027766"/>
            <a:ext cx="1402266" cy="369332"/>
          </a:xfrm>
          <a:prstGeom prst="rect">
            <a:avLst/>
          </a:prstGeom>
          <a:noFill/>
          <a:ln>
            <a:solidFill>
              <a:srgbClr val="0000FF"/>
            </a:solidFill>
          </a:ln>
        </p:spPr>
        <p:txBody>
          <a:bodyPr wrap="square">
            <a:spAutoFit/>
          </a:bodyPr>
          <a:lstStyle/>
          <a:p>
            <a:r>
              <a:rPr lang="en-IN" dirty="0"/>
              <a:t>Signs &amp; seals</a:t>
            </a:r>
          </a:p>
        </p:txBody>
      </p:sp>
      <p:sp>
        <p:nvSpPr>
          <p:cNvPr id="20" name="TextBox 19">
            <a:extLst>
              <a:ext uri="{FF2B5EF4-FFF2-40B4-BE49-F238E27FC236}">
                <a16:creationId xmlns:a16="http://schemas.microsoft.com/office/drawing/2014/main" id="{C6F147D6-6141-4D3A-A38E-994CA15FB8A0}"/>
              </a:ext>
            </a:extLst>
          </p:cNvPr>
          <p:cNvSpPr txBox="1"/>
          <p:nvPr/>
        </p:nvSpPr>
        <p:spPr>
          <a:xfrm>
            <a:off x="9582633" y="3447278"/>
            <a:ext cx="2539690" cy="369332"/>
          </a:xfrm>
          <a:prstGeom prst="rect">
            <a:avLst/>
          </a:prstGeom>
          <a:noFill/>
          <a:ln>
            <a:solidFill>
              <a:srgbClr val="0000FF"/>
            </a:solidFill>
          </a:ln>
        </p:spPr>
        <p:txBody>
          <a:bodyPr wrap="square">
            <a:spAutoFit/>
          </a:bodyPr>
          <a:lstStyle/>
          <a:p>
            <a:r>
              <a:rPr lang="en-IN" dirty="0"/>
              <a:t>mechanical breakdown</a:t>
            </a:r>
          </a:p>
        </p:txBody>
      </p:sp>
    </p:spTree>
    <p:extLst>
      <p:ext uri="{BB962C8B-B14F-4D97-AF65-F5344CB8AC3E}">
        <p14:creationId xmlns:p14="http://schemas.microsoft.com/office/powerpoint/2010/main" val="2296722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7B9AAC-3C59-4DBE-908B-7F704C05D70A}"/>
              </a:ext>
            </a:extLst>
          </p:cNvPr>
          <p:cNvSpPr txBox="1"/>
          <p:nvPr/>
        </p:nvSpPr>
        <p:spPr>
          <a:xfrm>
            <a:off x="247650" y="1692771"/>
            <a:ext cx="11001375" cy="3970318"/>
          </a:xfrm>
          <a:prstGeom prst="rect">
            <a:avLst/>
          </a:prstGeom>
          <a:noFill/>
          <a:ln>
            <a:solidFill>
              <a:srgbClr val="0000FF"/>
            </a:solidFill>
          </a:ln>
        </p:spPr>
        <p:txBody>
          <a:bodyPr wrap="square">
            <a:spAutoFit/>
          </a:bodyPr>
          <a:lstStyle/>
          <a:p>
            <a:r>
              <a:rPr lang="en-US" dirty="0"/>
              <a:t>The most obvious advantage of having a BOP is that it casts a wide net of protection and </a:t>
            </a:r>
            <a:r>
              <a:rPr lang="en-US" u="sng" dirty="0">
                <a:solidFill>
                  <a:srgbClr val="0000FF"/>
                </a:solidFill>
              </a:rPr>
              <a:t>provides you with a broad range of coverage</a:t>
            </a:r>
            <a:r>
              <a:rPr lang="en-US" dirty="0">
                <a:solidFill>
                  <a:srgbClr val="0000FF"/>
                </a:solidFill>
              </a:rPr>
              <a:t> </a:t>
            </a:r>
            <a:r>
              <a:rPr lang="en-US" dirty="0"/>
              <a:t>while having to only purchase one bundled policy.</a:t>
            </a:r>
          </a:p>
          <a:p>
            <a:endParaRPr lang="en-US" dirty="0"/>
          </a:p>
          <a:p>
            <a:r>
              <a:rPr lang="en-US" dirty="0"/>
              <a:t>The other most obvious benefit is the fact that you end up </a:t>
            </a:r>
            <a:r>
              <a:rPr lang="en-US" u="sng" dirty="0">
                <a:solidFill>
                  <a:srgbClr val="0000FF"/>
                </a:solidFill>
              </a:rPr>
              <a:t>saving money</a:t>
            </a:r>
            <a:r>
              <a:rPr lang="en-US" dirty="0">
                <a:solidFill>
                  <a:srgbClr val="0000FF"/>
                </a:solidFill>
              </a:rPr>
              <a:t>. </a:t>
            </a:r>
            <a:r>
              <a:rPr lang="en-US" dirty="0"/>
              <a:t>Every cent counts when you’re running a small business, which is why BOPs are an attractive option for smaller companies that needs basic insurance coverage and would like to spend as little as possible on it.</a:t>
            </a:r>
          </a:p>
          <a:p>
            <a:endParaRPr lang="en-US" dirty="0"/>
          </a:p>
          <a:p>
            <a:r>
              <a:rPr lang="en-US" dirty="0"/>
              <a:t>Another great thing about a BOP is that it </a:t>
            </a:r>
            <a:r>
              <a:rPr lang="en-US" u="sng" dirty="0">
                <a:solidFill>
                  <a:srgbClr val="0000FF"/>
                </a:solidFill>
              </a:rPr>
              <a:t>can be modified and customized </a:t>
            </a:r>
            <a:r>
              <a:rPr lang="en-US" dirty="0"/>
              <a:t>to fit your business’s specific needs. You buy what you need and you don’t buy what you don’t need. It’s very easy to add various endorsements to your BOP that will cover common risks such as equipment breakdown or personal and advertising injury.</a:t>
            </a:r>
          </a:p>
          <a:p>
            <a:endParaRPr lang="en-US" dirty="0"/>
          </a:p>
          <a:p>
            <a:r>
              <a:rPr lang="en-US" dirty="0">
                <a:solidFill>
                  <a:srgbClr val="0000FF"/>
                </a:solidFill>
              </a:rPr>
              <a:t>Can be Easily hunted. </a:t>
            </a:r>
            <a:r>
              <a:rPr lang="en-US" dirty="0"/>
              <a:t>It’s an incredibly popular insurance option that is offered by all the top insurers and even smaller insurance carriers, meaning that you can really shop around to find the best BOP for your business in terms of coverage and cost.</a:t>
            </a:r>
            <a:endParaRPr lang="en-IN" dirty="0"/>
          </a:p>
        </p:txBody>
      </p:sp>
      <p:sp>
        <p:nvSpPr>
          <p:cNvPr id="5" name="TextBox 4">
            <a:extLst>
              <a:ext uri="{FF2B5EF4-FFF2-40B4-BE49-F238E27FC236}">
                <a16:creationId xmlns:a16="http://schemas.microsoft.com/office/drawing/2014/main" id="{5813A95D-5EEA-498C-8186-290395F116D9}"/>
              </a:ext>
            </a:extLst>
          </p:cNvPr>
          <p:cNvSpPr txBox="1"/>
          <p:nvPr/>
        </p:nvSpPr>
        <p:spPr>
          <a:xfrm>
            <a:off x="247650" y="310634"/>
            <a:ext cx="6096000" cy="461665"/>
          </a:xfrm>
          <a:prstGeom prst="rect">
            <a:avLst/>
          </a:prstGeom>
          <a:noFill/>
        </p:spPr>
        <p:txBody>
          <a:bodyPr wrap="square">
            <a:spAutoFit/>
          </a:bodyPr>
          <a:lstStyle/>
          <a:p>
            <a:r>
              <a:rPr lang="en-US" sz="2400" dirty="0">
                <a:solidFill>
                  <a:srgbClr val="0000FF"/>
                </a:solidFill>
              </a:rPr>
              <a:t>The Advantages of Having a BOP</a:t>
            </a:r>
          </a:p>
        </p:txBody>
      </p:sp>
      <p:pic>
        <p:nvPicPr>
          <p:cNvPr id="6" name="Picture 5">
            <a:extLst>
              <a:ext uri="{FF2B5EF4-FFF2-40B4-BE49-F238E27FC236}">
                <a16:creationId xmlns:a16="http://schemas.microsoft.com/office/drawing/2014/main" id="{064006F6-82DF-40D3-B704-29E43DDCE80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850728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3" name="TextBox 2"/>
          <p:cNvSpPr txBox="1"/>
          <p:nvPr/>
        </p:nvSpPr>
        <p:spPr>
          <a:xfrm>
            <a:off x="5569" y="30697"/>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200" dirty="0">
                <a:solidFill>
                  <a:srgbClr val="0000FF"/>
                </a:solidFill>
                <a:latin typeface="Segoe UI Semibold" panose="020B0702040204020203" pitchFamily="34" charset="0"/>
              </a:rPr>
              <a:t>Advantages of BOP</a:t>
            </a:r>
          </a:p>
        </p:txBody>
      </p:sp>
      <p:sp>
        <p:nvSpPr>
          <p:cNvPr id="5" name="TextBox 4"/>
          <p:cNvSpPr txBox="1"/>
          <p:nvPr/>
        </p:nvSpPr>
        <p:spPr>
          <a:xfrm>
            <a:off x="178874" y="6490560"/>
            <a:ext cx="11181516" cy="261371"/>
          </a:xfrm>
          <a:prstGeom prst="rect">
            <a:avLst/>
          </a:prstGeom>
          <a:noFill/>
        </p:spPr>
        <p:txBody>
          <a:bodyPr wrap="square" rtlCol="0">
            <a:spAutoFit/>
          </a:bodyPr>
          <a:lstStyle/>
          <a:p>
            <a:r>
              <a:rPr lang="en-IN" sz="1099" dirty="0"/>
              <a:t>Note: All Information contained herein is proprietary &amp; confidential material of ValueMomentum Inc. All rights are reserved.  </a:t>
            </a:r>
          </a:p>
        </p:txBody>
      </p:sp>
      <p:sp>
        <p:nvSpPr>
          <p:cNvPr id="7" name="TextBox 6">
            <a:extLst>
              <a:ext uri="{FF2B5EF4-FFF2-40B4-BE49-F238E27FC236}">
                <a16:creationId xmlns:a16="http://schemas.microsoft.com/office/drawing/2014/main" id="{A3D46716-9DAD-42DC-B23D-7005FEE3C636}"/>
              </a:ext>
            </a:extLst>
          </p:cNvPr>
          <p:cNvSpPr txBox="1"/>
          <p:nvPr/>
        </p:nvSpPr>
        <p:spPr>
          <a:xfrm>
            <a:off x="2166123" y="2008562"/>
            <a:ext cx="7535437" cy="3139321"/>
          </a:xfrm>
          <a:prstGeom prst="rect">
            <a:avLst/>
          </a:prstGeom>
          <a:noFill/>
          <a:ln>
            <a:solidFill>
              <a:srgbClr val="0000FF"/>
            </a:solidFill>
          </a:ln>
        </p:spPr>
        <p:txBody>
          <a:bodyPr wrap="square">
            <a:spAutoFit/>
          </a:bodyPr>
          <a:lstStyle/>
          <a:p>
            <a:pPr marL="285750" indent="-285750">
              <a:buFont typeface="Arial" panose="020B0604020202020204" pitchFamily="34" charset="0"/>
              <a:buChar char="•"/>
            </a:pPr>
            <a:r>
              <a:rPr lang="en-US" dirty="0"/>
              <a:t>Advantageous to insured, insurers, producers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Insured gains convenience of one policy that meets most of their needs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Reduced premium cost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Often with coverages included that might be overlook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Simplified rating used to determine premium as in HO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Lower handling cost for insurer and producer</a:t>
            </a:r>
          </a:p>
        </p:txBody>
      </p:sp>
    </p:spTree>
    <p:extLst>
      <p:ext uri="{BB962C8B-B14F-4D97-AF65-F5344CB8AC3E}">
        <p14:creationId xmlns:p14="http://schemas.microsoft.com/office/powerpoint/2010/main" val="323275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1192AC-6C44-4AA5-A87F-9F1A91DCFAC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3662" y="770217"/>
            <a:ext cx="9804188" cy="264653"/>
          </a:xfrm>
          <a:prstGeom prst="rect">
            <a:avLst/>
          </a:prstGeom>
        </p:spPr>
      </p:pic>
      <p:sp>
        <p:nvSpPr>
          <p:cNvPr id="4" name="TextBox 3">
            <a:extLst>
              <a:ext uri="{FF2B5EF4-FFF2-40B4-BE49-F238E27FC236}">
                <a16:creationId xmlns:a16="http://schemas.microsoft.com/office/drawing/2014/main" id="{2995850B-2501-438A-94BA-41AB12247E69}"/>
              </a:ext>
            </a:extLst>
          </p:cNvPr>
          <p:cNvSpPr txBox="1"/>
          <p:nvPr/>
        </p:nvSpPr>
        <p:spPr>
          <a:xfrm>
            <a:off x="447677" y="1262501"/>
            <a:ext cx="6543675" cy="1200329"/>
          </a:xfrm>
          <a:prstGeom prst="rect">
            <a:avLst/>
          </a:prstGeom>
          <a:noFill/>
        </p:spPr>
        <p:txBody>
          <a:bodyPr wrap="square">
            <a:spAutoFit/>
          </a:bodyPr>
          <a:lstStyle/>
          <a:p>
            <a:pPr marL="285750" indent="-285750">
              <a:buFont typeface="Courier New" panose="02070309020205020404" pitchFamily="49" charset="0"/>
              <a:buChar char="o"/>
            </a:pPr>
            <a:r>
              <a:rPr lang="en-US" dirty="0"/>
              <a:t>A Business Owners Policy (BOP) is a package of insurance policies that the majority of business owners need to have—which is why insurance carriers bundle these coverages and sell them as one product.</a:t>
            </a:r>
            <a:endParaRPr lang="en-IN" dirty="0"/>
          </a:p>
        </p:txBody>
      </p:sp>
      <p:sp>
        <p:nvSpPr>
          <p:cNvPr id="6" name="TextBox 5">
            <a:extLst>
              <a:ext uri="{FF2B5EF4-FFF2-40B4-BE49-F238E27FC236}">
                <a16:creationId xmlns:a16="http://schemas.microsoft.com/office/drawing/2014/main" id="{793B365C-0999-49D9-A25C-69C257114544}"/>
              </a:ext>
            </a:extLst>
          </p:cNvPr>
          <p:cNvSpPr txBox="1"/>
          <p:nvPr/>
        </p:nvSpPr>
        <p:spPr>
          <a:xfrm>
            <a:off x="527189" y="2822787"/>
            <a:ext cx="6543676" cy="1477328"/>
          </a:xfrm>
          <a:prstGeom prst="rect">
            <a:avLst/>
          </a:prstGeom>
          <a:noFill/>
        </p:spPr>
        <p:txBody>
          <a:bodyPr wrap="square">
            <a:spAutoFit/>
          </a:bodyPr>
          <a:lstStyle/>
          <a:p>
            <a:pPr marL="285750" indent="-285750">
              <a:buFont typeface="Courier New" panose="02070309020205020404" pitchFamily="49" charset="0"/>
              <a:buChar char="o"/>
            </a:pPr>
            <a:r>
              <a:rPr lang="en-US" dirty="0"/>
              <a:t>More often than not, a BOP is sold to small and medium-sized businesses, since large corporations tend to have more complex risks that require customized policies.</a:t>
            </a:r>
          </a:p>
          <a:p>
            <a:endParaRPr lang="en-US" dirty="0"/>
          </a:p>
          <a:p>
            <a:endParaRPr lang="en-US" dirty="0"/>
          </a:p>
        </p:txBody>
      </p:sp>
      <p:graphicFrame>
        <p:nvGraphicFramePr>
          <p:cNvPr id="7" name="Diagram 6">
            <a:extLst>
              <a:ext uri="{FF2B5EF4-FFF2-40B4-BE49-F238E27FC236}">
                <a16:creationId xmlns:a16="http://schemas.microsoft.com/office/drawing/2014/main" id="{B9D2D92D-6D32-48EB-8112-77F6D306EE8B}"/>
              </a:ext>
            </a:extLst>
          </p:cNvPr>
          <p:cNvGraphicFramePr/>
          <p:nvPr>
            <p:extLst>
              <p:ext uri="{D42A27DB-BD31-4B8C-83A1-F6EECF244321}">
                <p14:modId xmlns:p14="http://schemas.microsoft.com/office/powerpoint/2010/main" val="2293045882"/>
              </p:ext>
            </p:extLst>
          </p:nvPr>
        </p:nvGraphicFramePr>
        <p:xfrm>
          <a:off x="5356230" y="1191693"/>
          <a:ext cx="7823057" cy="52935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xtBox 8">
            <a:extLst>
              <a:ext uri="{FF2B5EF4-FFF2-40B4-BE49-F238E27FC236}">
                <a16:creationId xmlns:a16="http://schemas.microsoft.com/office/drawing/2014/main" id="{D241E92A-C7A5-4BDB-8E3C-89094B591BEF}"/>
              </a:ext>
            </a:extLst>
          </p:cNvPr>
          <p:cNvSpPr txBox="1"/>
          <p:nvPr/>
        </p:nvSpPr>
        <p:spPr>
          <a:xfrm>
            <a:off x="285750" y="191168"/>
            <a:ext cx="6591300" cy="523220"/>
          </a:xfrm>
          <a:prstGeom prst="rect">
            <a:avLst/>
          </a:prstGeom>
          <a:noFill/>
        </p:spPr>
        <p:txBody>
          <a:bodyPr wrap="square">
            <a:spAutoFit/>
          </a:bodyPr>
          <a:lstStyle/>
          <a:p>
            <a:r>
              <a:rPr lang="en-IN" sz="2800" dirty="0"/>
              <a:t>Business Owners Program- What is it?</a:t>
            </a:r>
          </a:p>
        </p:txBody>
      </p:sp>
      <p:sp>
        <p:nvSpPr>
          <p:cNvPr id="8" name="TextBox 7">
            <a:extLst>
              <a:ext uri="{FF2B5EF4-FFF2-40B4-BE49-F238E27FC236}">
                <a16:creationId xmlns:a16="http://schemas.microsoft.com/office/drawing/2014/main" id="{D1DDD6FF-99AF-41E8-83B9-D5BEC528963E}"/>
              </a:ext>
            </a:extLst>
          </p:cNvPr>
          <p:cNvSpPr txBox="1"/>
          <p:nvPr/>
        </p:nvSpPr>
        <p:spPr>
          <a:xfrm>
            <a:off x="527189" y="4220957"/>
            <a:ext cx="6590370" cy="646331"/>
          </a:xfrm>
          <a:prstGeom prst="rect">
            <a:avLst/>
          </a:prstGeom>
          <a:noFill/>
        </p:spPr>
        <p:txBody>
          <a:bodyPr wrap="square">
            <a:spAutoFit/>
          </a:bodyPr>
          <a:lstStyle/>
          <a:p>
            <a:pPr marL="285750" indent="-285750">
              <a:buFont typeface="Courier New" panose="02070309020205020404" pitchFamily="49" charset="0"/>
              <a:buChar char="o"/>
            </a:pPr>
            <a:r>
              <a:rPr lang="en-US" dirty="0"/>
              <a:t>In a typical BOP, businesses buy 3 major policies as one bundle or insurance package</a:t>
            </a:r>
          </a:p>
        </p:txBody>
      </p:sp>
    </p:spTree>
    <p:extLst>
      <p:ext uri="{BB962C8B-B14F-4D97-AF65-F5344CB8AC3E}">
        <p14:creationId xmlns:p14="http://schemas.microsoft.com/office/powerpoint/2010/main" val="630285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E81047-6459-4349-8733-677462F12DE2}"/>
              </a:ext>
            </a:extLst>
          </p:cNvPr>
          <p:cNvSpPr txBox="1"/>
          <p:nvPr/>
        </p:nvSpPr>
        <p:spPr>
          <a:xfrm>
            <a:off x="939489" y="1307267"/>
            <a:ext cx="10045391" cy="5078313"/>
          </a:xfrm>
          <a:prstGeom prst="rect">
            <a:avLst/>
          </a:prstGeom>
          <a:noFill/>
          <a:ln>
            <a:solidFill>
              <a:srgbClr val="0000FF"/>
            </a:solidFill>
          </a:ln>
        </p:spPr>
        <p:txBody>
          <a:bodyPr wrap="square">
            <a:spAutoFit/>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You Own a home and need various coverages to protect various risks on home. Similarly when you own a Business you need to purchase various coverages to protect various business-related risks.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BOPs are to commercial lines insurance what homeowners' policies are to personal lines insurance.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Although a homeowners policy covers many individual and family property and liability insurance needs, additional insurance is usually necessary, such as auto insurance and personal umbrella insurance.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Suppose a company falls within the eligibility rules for a BOP, and the BOP coverage meets most of the basic coverage needs. In that case, a BOP should at least be a consideration when building the risk management program. The exposures not covered by the BOP can then be addressed separately.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Both Insurance Services Office, Inc. (ISO), and the American Association of Insurance Services (AAIS) have BOP programs. Many insurers have their own independently filed BOP forms—either company-specific endorsements used with the standard ISO or AAIS BOP forms or separate company-specific BOP forms used in place of the standard forms</a:t>
            </a:r>
          </a:p>
        </p:txBody>
      </p:sp>
      <p:pic>
        <p:nvPicPr>
          <p:cNvPr id="3" name="Picture 2">
            <a:extLst>
              <a:ext uri="{FF2B5EF4-FFF2-40B4-BE49-F238E27FC236}">
                <a16:creationId xmlns:a16="http://schemas.microsoft.com/office/drawing/2014/main" id="{4096FBB2-2A97-4591-A814-937D790258A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7311453A-AD7D-42E8-8B01-8965F5CBD274}"/>
              </a:ext>
            </a:extLst>
          </p:cNvPr>
          <p:cNvSpPr txBox="1"/>
          <p:nvPr/>
        </p:nvSpPr>
        <p:spPr>
          <a:xfrm>
            <a:off x="123662" y="282059"/>
            <a:ext cx="10823011" cy="523220"/>
          </a:xfrm>
          <a:prstGeom prst="rect">
            <a:avLst/>
          </a:prstGeom>
          <a:noFill/>
        </p:spPr>
        <p:txBody>
          <a:bodyPr wrap="square">
            <a:spAutoFit/>
          </a:bodyPr>
          <a:lstStyle/>
          <a:p>
            <a:r>
              <a:rPr lang="en-US" sz="2800" b="1" dirty="0">
                <a:solidFill>
                  <a:srgbClr val="0000FF"/>
                </a:solidFill>
              </a:rPr>
              <a:t>Are there Requirements for Purchasing a BOP? Its Eligibility &amp; Need</a:t>
            </a:r>
          </a:p>
        </p:txBody>
      </p:sp>
    </p:spTree>
    <p:extLst>
      <p:ext uri="{BB962C8B-B14F-4D97-AF65-F5344CB8AC3E}">
        <p14:creationId xmlns:p14="http://schemas.microsoft.com/office/powerpoint/2010/main" val="3147061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A39094-4B8B-4C91-89D3-F2B40F8803A2}"/>
              </a:ext>
            </a:extLst>
          </p:cNvPr>
          <p:cNvSpPr txBox="1"/>
          <p:nvPr/>
        </p:nvSpPr>
        <p:spPr>
          <a:xfrm>
            <a:off x="328612" y="1753172"/>
            <a:ext cx="11534775" cy="4524315"/>
          </a:xfrm>
          <a:prstGeom prst="rect">
            <a:avLst/>
          </a:prstGeom>
          <a:noFill/>
          <a:ln>
            <a:solidFill>
              <a:srgbClr val="0000FF"/>
            </a:solidFill>
          </a:ln>
        </p:spPr>
        <p:txBody>
          <a:bodyPr wrap="square">
            <a:spAutoFit/>
          </a:bodyPr>
          <a:lstStyle/>
          <a:p>
            <a:pPr marL="285750" indent="-285750">
              <a:buFont typeface="Arial" panose="020B0604020202020204" pitchFamily="34" charset="0"/>
              <a:buChar char="•"/>
            </a:pPr>
            <a:r>
              <a:rPr lang="en-US" dirty="0">
                <a:solidFill>
                  <a:srgbClr val="0000FF"/>
                </a:solidFill>
              </a:rPr>
              <a:t>Every insurer has its own requirements </a:t>
            </a:r>
            <a:r>
              <a:rPr lang="en-US" dirty="0"/>
              <a:t>that they look from an Insured, when it comes to selling a BOP. </a:t>
            </a:r>
          </a:p>
          <a:p>
            <a:pPr marL="1200150" lvl="2" indent="-285750">
              <a:buFont typeface="Courier New" panose="02070309020205020404" pitchFamily="49" charset="0"/>
              <a:buChar char="o"/>
            </a:pPr>
            <a:r>
              <a:rPr lang="en-US" dirty="0"/>
              <a:t>the location of your business, </a:t>
            </a:r>
          </a:p>
          <a:p>
            <a:pPr marL="1200150" lvl="2" indent="-285750">
              <a:buFont typeface="Courier New" panose="02070309020205020404" pitchFamily="49" charset="0"/>
              <a:buChar char="o"/>
            </a:pPr>
            <a:r>
              <a:rPr lang="en-US" dirty="0"/>
              <a:t>its size, </a:t>
            </a:r>
          </a:p>
          <a:p>
            <a:pPr marL="1200150" lvl="2" indent="-285750">
              <a:buFont typeface="Courier New" panose="02070309020205020404" pitchFamily="49" charset="0"/>
              <a:buChar char="o"/>
            </a:pPr>
            <a:r>
              <a:rPr lang="en-US" dirty="0"/>
              <a:t>its revenue, and </a:t>
            </a:r>
          </a:p>
          <a:p>
            <a:pPr marL="1200150" lvl="2" indent="-285750">
              <a:buFont typeface="Courier New" panose="02070309020205020404" pitchFamily="49" charset="0"/>
              <a:buChar char="o"/>
            </a:pPr>
            <a:r>
              <a:rPr lang="en-US" dirty="0"/>
              <a:t>class of business </a:t>
            </a:r>
          </a:p>
          <a:p>
            <a:r>
              <a:rPr lang="en-US" dirty="0"/>
              <a:t>This simply means that </a:t>
            </a:r>
            <a:r>
              <a:rPr lang="en-US" dirty="0">
                <a:solidFill>
                  <a:srgbClr val="0000FF"/>
                </a:solidFill>
              </a:rPr>
              <a:t>not all businesses qualify for a BOP </a:t>
            </a:r>
            <a:r>
              <a:rPr lang="en-US" dirty="0"/>
              <a:t>and might have to purchase either a CPP or all of their policies separately.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Usually, </a:t>
            </a:r>
            <a:r>
              <a:rPr lang="en-US" u="sng" dirty="0"/>
              <a:t>insurers won’t offer a BOP</a:t>
            </a:r>
            <a:r>
              <a:rPr lang="en-US" dirty="0"/>
              <a:t> to companies that handle their </a:t>
            </a:r>
            <a:r>
              <a:rPr lang="en-US" u="sng" dirty="0"/>
              <a:t>business off-premises. </a:t>
            </a:r>
          </a:p>
          <a:p>
            <a:pPr marL="285750" indent="-285750">
              <a:buFont typeface="Arial" panose="020B0604020202020204" pitchFamily="34" charset="0"/>
              <a:buChar char="•"/>
            </a:pPr>
            <a:r>
              <a:rPr lang="en-US" dirty="0"/>
              <a:t>Insurers usually have</a:t>
            </a:r>
            <a:r>
              <a:rPr lang="en-US" u="sng" dirty="0"/>
              <a:t> property parameters that go into their profile </a:t>
            </a:r>
            <a:r>
              <a:rPr lang="en-US" dirty="0"/>
              <a:t>for a BOP and will not offer the policy package to businesses that have more or less property than they are willing to cover.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of the types of businesses </a:t>
            </a:r>
            <a:r>
              <a:rPr lang="en-US" u="sng" dirty="0"/>
              <a:t>that typically do qualify for a BOP</a:t>
            </a:r>
            <a:r>
              <a:rPr lang="en-US" dirty="0"/>
              <a:t>. </a:t>
            </a:r>
          </a:p>
          <a:p>
            <a:pPr marL="1200150" lvl="2" indent="-285750">
              <a:buFont typeface="Courier New" panose="02070309020205020404" pitchFamily="49" charset="0"/>
              <a:buChar char="o"/>
            </a:pPr>
            <a:r>
              <a:rPr lang="en-US" dirty="0"/>
              <a:t>Smaller, office-based businesses (lawyers, real estate agencies, and other professional service providers), </a:t>
            </a:r>
          </a:p>
          <a:p>
            <a:pPr marL="1200150" lvl="2" indent="-285750">
              <a:buFont typeface="Courier New" panose="02070309020205020404" pitchFamily="49" charset="0"/>
              <a:buChar char="o"/>
            </a:pPr>
            <a:r>
              <a:rPr lang="en-US" dirty="0"/>
              <a:t>smaller restaurants and cafes, and </a:t>
            </a:r>
          </a:p>
          <a:p>
            <a:pPr marL="1200150" lvl="2" indent="-285750">
              <a:buFont typeface="Courier New" panose="02070309020205020404" pitchFamily="49" charset="0"/>
              <a:buChar char="o"/>
            </a:pPr>
            <a:r>
              <a:rPr lang="en-US" dirty="0"/>
              <a:t>retail stores </a:t>
            </a:r>
            <a:endParaRPr lang="en-IN" dirty="0"/>
          </a:p>
        </p:txBody>
      </p:sp>
      <p:sp>
        <p:nvSpPr>
          <p:cNvPr id="5" name="TextBox 4">
            <a:extLst>
              <a:ext uri="{FF2B5EF4-FFF2-40B4-BE49-F238E27FC236}">
                <a16:creationId xmlns:a16="http://schemas.microsoft.com/office/drawing/2014/main" id="{CC668BB6-0349-447C-8B6B-369C9956CAC3}"/>
              </a:ext>
            </a:extLst>
          </p:cNvPr>
          <p:cNvSpPr txBox="1"/>
          <p:nvPr/>
        </p:nvSpPr>
        <p:spPr>
          <a:xfrm>
            <a:off x="123662" y="282059"/>
            <a:ext cx="10823011" cy="523220"/>
          </a:xfrm>
          <a:prstGeom prst="rect">
            <a:avLst/>
          </a:prstGeom>
          <a:noFill/>
        </p:spPr>
        <p:txBody>
          <a:bodyPr wrap="square">
            <a:spAutoFit/>
          </a:bodyPr>
          <a:lstStyle/>
          <a:p>
            <a:r>
              <a:rPr lang="en-US" sz="2800" b="1" dirty="0">
                <a:solidFill>
                  <a:srgbClr val="0000FF"/>
                </a:solidFill>
              </a:rPr>
              <a:t>Are there Requirements for Purchasing a BOP? Its Eligibility &amp; Need</a:t>
            </a:r>
          </a:p>
        </p:txBody>
      </p:sp>
      <p:pic>
        <p:nvPicPr>
          <p:cNvPr id="6" name="Picture 5">
            <a:extLst>
              <a:ext uri="{FF2B5EF4-FFF2-40B4-BE49-F238E27FC236}">
                <a16:creationId xmlns:a16="http://schemas.microsoft.com/office/drawing/2014/main" id="{0D62BE95-5CC5-467D-8AF4-C446EC29FD0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23662" y="770217"/>
            <a:ext cx="9804188" cy="264653"/>
          </a:xfrm>
          <a:prstGeom prst="rect">
            <a:avLst/>
          </a:prstGeom>
        </p:spPr>
      </p:pic>
    </p:spTree>
    <p:extLst>
      <p:ext uri="{BB962C8B-B14F-4D97-AF65-F5344CB8AC3E}">
        <p14:creationId xmlns:p14="http://schemas.microsoft.com/office/powerpoint/2010/main" val="370393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2504C5-BC56-4A9C-903D-DF63891B4E9D}"/>
              </a:ext>
            </a:extLst>
          </p:cNvPr>
          <p:cNvSpPr txBox="1"/>
          <p:nvPr/>
        </p:nvSpPr>
        <p:spPr>
          <a:xfrm>
            <a:off x="512955" y="1820740"/>
            <a:ext cx="11508059" cy="3970318"/>
          </a:xfrm>
          <a:prstGeom prst="rect">
            <a:avLst/>
          </a:prstGeom>
          <a:noFill/>
          <a:ln>
            <a:solidFill>
              <a:srgbClr val="0000FF"/>
            </a:solidFill>
          </a:ln>
        </p:spPr>
        <p:txBody>
          <a:bodyPr wrap="square">
            <a:spAutoFit/>
          </a:bodyPr>
          <a:lstStyle/>
          <a:p>
            <a:r>
              <a:rPr lang="en-US" dirty="0">
                <a:solidFill>
                  <a:srgbClr val="0000FF"/>
                </a:solidFill>
              </a:rPr>
              <a:t>It is important to note that a package policy and a BOP are not the same thing. </a:t>
            </a:r>
          </a:p>
          <a:p>
            <a:r>
              <a:rPr lang="en-US" dirty="0"/>
              <a:t>A package policy is a single policy that includes two or more coverages that are otherwise typically written as separate policies. Usually, the term package refers to policies that provide both property coverage and general liability coverage. </a:t>
            </a:r>
          </a:p>
          <a:p>
            <a:r>
              <a:rPr lang="en-US" dirty="0"/>
              <a:t>A BOP is a particular type of package policy that is written on BOP policy forms instead of using the monoline CGL and commercial property forms.</a:t>
            </a:r>
          </a:p>
          <a:p>
            <a:r>
              <a:rPr lang="en-US" dirty="0"/>
              <a:t>ISO and AAIS offer these two types of commercial package policies.</a:t>
            </a:r>
          </a:p>
          <a:p>
            <a:r>
              <a:rPr lang="en-US" dirty="0"/>
              <a:t>•	</a:t>
            </a:r>
            <a:r>
              <a:rPr lang="en-US" dirty="0">
                <a:solidFill>
                  <a:srgbClr val="0000FF"/>
                </a:solidFill>
              </a:rPr>
              <a:t>BOPs for small businesses </a:t>
            </a:r>
            <a:r>
              <a:rPr lang="en-US" dirty="0"/>
              <a:t>that qualify in terms of </a:t>
            </a:r>
            <a:r>
              <a:rPr lang="en-US" u="sng" dirty="0"/>
              <a:t>size and type of operations</a:t>
            </a:r>
            <a:r>
              <a:rPr lang="en-US" dirty="0"/>
              <a:t>. BOPs are written on special BOP forms and are rated following special businessowners rules and rates.</a:t>
            </a:r>
          </a:p>
          <a:p>
            <a:r>
              <a:rPr lang="en-US" dirty="0"/>
              <a:t>•	</a:t>
            </a:r>
            <a:r>
              <a:rPr lang="en-US" dirty="0">
                <a:solidFill>
                  <a:srgbClr val="0000FF"/>
                </a:solidFill>
              </a:rPr>
              <a:t>Commercial package or combination policies for businesses that are not eligible for the BOP program </a:t>
            </a:r>
            <a:r>
              <a:rPr lang="en-US" dirty="0"/>
              <a:t>due to size or type of operations. These policies are written on monoline coverage forms, and each component is rated in accordance with monoline rules and rates, but a package policy discount is applied to eligible policies.</a:t>
            </a:r>
          </a:p>
          <a:p>
            <a:endParaRPr lang="en-US" dirty="0"/>
          </a:p>
          <a:p>
            <a:pPr marL="285750" indent="-285750">
              <a:buFont typeface="Arial" panose="020B0604020202020204" pitchFamily="34" charset="0"/>
              <a:buChar char="•"/>
            </a:pPr>
            <a:r>
              <a:rPr lang="en-US" dirty="0"/>
              <a:t>ISO also offers a third type of commercial package policy: a micro-businessowners policy </a:t>
            </a:r>
            <a:r>
              <a:rPr lang="en-US" dirty="0">
                <a:solidFill>
                  <a:srgbClr val="0000FF"/>
                </a:solidFill>
              </a:rPr>
              <a:t>(micro-BOP). </a:t>
            </a:r>
            <a:r>
              <a:rPr lang="en-US" dirty="0"/>
              <a:t>The micro-BOP is designed for very small businesses with no more than four employees and very limited property loss exposures.</a:t>
            </a:r>
          </a:p>
        </p:txBody>
      </p:sp>
      <p:pic>
        <p:nvPicPr>
          <p:cNvPr id="4" name="Picture 3">
            <a:extLst>
              <a:ext uri="{FF2B5EF4-FFF2-40B4-BE49-F238E27FC236}">
                <a16:creationId xmlns:a16="http://schemas.microsoft.com/office/drawing/2014/main" id="{D31C54B8-D497-4DFE-85D3-D6C873BF414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5" name="TextBox 4">
            <a:extLst>
              <a:ext uri="{FF2B5EF4-FFF2-40B4-BE49-F238E27FC236}">
                <a16:creationId xmlns:a16="http://schemas.microsoft.com/office/drawing/2014/main" id="{AA536D94-2599-483C-8C89-AF491F095B5B}"/>
              </a:ext>
            </a:extLst>
          </p:cNvPr>
          <p:cNvSpPr txBox="1"/>
          <p:nvPr/>
        </p:nvSpPr>
        <p:spPr>
          <a:xfrm>
            <a:off x="390525" y="320159"/>
            <a:ext cx="6096000" cy="461665"/>
          </a:xfrm>
          <a:prstGeom prst="rect">
            <a:avLst/>
          </a:prstGeom>
          <a:noFill/>
        </p:spPr>
        <p:txBody>
          <a:bodyPr wrap="square">
            <a:spAutoFit/>
          </a:bodyPr>
          <a:lstStyle/>
          <a:p>
            <a:r>
              <a:rPr lang="en-US" sz="2400" dirty="0">
                <a:solidFill>
                  <a:srgbClr val="0000FF"/>
                </a:solidFill>
              </a:rPr>
              <a:t>BOP, Non-BOP, Micro BOP</a:t>
            </a:r>
            <a:endParaRPr lang="en-IN" sz="2400" dirty="0">
              <a:solidFill>
                <a:srgbClr val="0000FF"/>
              </a:solidFill>
            </a:endParaRPr>
          </a:p>
        </p:txBody>
      </p:sp>
    </p:spTree>
    <p:extLst>
      <p:ext uri="{BB962C8B-B14F-4D97-AF65-F5344CB8AC3E}">
        <p14:creationId xmlns:p14="http://schemas.microsoft.com/office/powerpoint/2010/main" val="3656094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A4D141-BB80-434E-9BDF-BC2B42C6BC33}"/>
              </a:ext>
            </a:extLst>
          </p:cNvPr>
          <p:cNvSpPr txBox="1"/>
          <p:nvPr/>
        </p:nvSpPr>
        <p:spPr>
          <a:xfrm>
            <a:off x="526895" y="2113775"/>
            <a:ext cx="3554451" cy="3416320"/>
          </a:xfrm>
          <a:prstGeom prst="rect">
            <a:avLst/>
          </a:prstGeom>
          <a:noFill/>
          <a:ln>
            <a:solidFill>
              <a:srgbClr val="0000FF"/>
            </a:solidFill>
          </a:ln>
        </p:spPr>
        <p:txBody>
          <a:bodyPr wrap="square">
            <a:spAutoFit/>
          </a:bodyPr>
          <a:lstStyle/>
          <a:p>
            <a:r>
              <a:rPr lang="en-US" dirty="0"/>
              <a:t>Eligibility for a BOP generally is based on both the </a:t>
            </a:r>
            <a:r>
              <a:rPr lang="en-US" dirty="0">
                <a:solidFill>
                  <a:srgbClr val="0000FF"/>
                </a:solidFill>
              </a:rPr>
              <a:t>type and the size</a:t>
            </a:r>
            <a:r>
              <a:rPr lang="en-US" dirty="0"/>
              <a:t> of the insured's business. </a:t>
            </a:r>
          </a:p>
          <a:p>
            <a:r>
              <a:rPr lang="en-US" dirty="0"/>
              <a:t>For example, ISO businessowners rules limit eligibility to firms with </a:t>
            </a:r>
          </a:p>
          <a:p>
            <a:pPr marL="742950" lvl="1" indent="-285750">
              <a:buFont typeface="Courier New" panose="02070309020205020404" pitchFamily="49" charset="0"/>
              <a:buChar char="o"/>
            </a:pPr>
            <a:r>
              <a:rPr lang="en-US" dirty="0"/>
              <a:t>no more than $6 million in annual gross sales and </a:t>
            </a:r>
          </a:p>
          <a:p>
            <a:pPr marL="742950" lvl="1" indent="-285750">
              <a:buFont typeface="Courier New" panose="02070309020205020404" pitchFamily="49" charset="0"/>
              <a:buChar char="o"/>
            </a:pPr>
            <a:r>
              <a:rPr lang="en-US" dirty="0"/>
              <a:t>no locations that exceed 35,000 in square footage (excluding basements that are not open to the public).</a:t>
            </a:r>
          </a:p>
          <a:p>
            <a:pPr lvl="1"/>
            <a:r>
              <a:rPr lang="en-US" dirty="0"/>
              <a:t> </a:t>
            </a:r>
          </a:p>
        </p:txBody>
      </p:sp>
      <p:sp>
        <p:nvSpPr>
          <p:cNvPr id="5" name="TextBox 4">
            <a:extLst>
              <a:ext uri="{FF2B5EF4-FFF2-40B4-BE49-F238E27FC236}">
                <a16:creationId xmlns:a16="http://schemas.microsoft.com/office/drawing/2014/main" id="{BEA30FDB-B8DA-41AB-9FDA-91503A6EDF86}"/>
              </a:ext>
            </a:extLst>
          </p:cNvPr>
          <p:cNvSpPr txBox="1"/>
          <p:nvPr/>
        </p:nvSpPr>
        <p:spPr>
          <a:xfrm>
            <a:off x="248115" y="442490"/>
            <a:ext cx="6094140" cy="400110"/>
          </a:xfrm>
          <a:prstGeom prst="rect">
            <a:avLst/>
          </a:prstGeom>
          <a:noFill/>
        </p:spPr>
        <p:txBody>
          <a:bodyPr wrap="square">
            <a:spAutoFit/>
          </a:bodyPr>
          <a:lstStyle/>
          <a:p>
            <a:r>
              <a:rPr lang="en-IN" sz="2000" dirty="0">
                <a:solidFill>
                  <a:srgbClr val="0000FF"/>
                </a:solidFill>
              </a:rPr>
              <a:t>BOP Eligibility</a:t>
            </a:r>
          </a:p>
        </p:txBody>
      </p:sp>
      <p:pic>
        <p:nvPicPr>
          <p:cNvPr id="4" name="Picture 3">
            <a:extLst>
              <a:ext uri="{FF2B5EF4-FFF2-40B4-BE49-F238E27FC236}">
                <a16:creationId xmlns:a16="http://schemas.microsoft.com/office/drawing/2014/main" id="{D904A6C3-B5E9-4AA7-9D67-E900A598513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6" name="TextBox 5">
            <a:extLst>
              <a:ext uri="{FF2B5EF4-FFF2-40B4-BE49-F238E27FC236}">
                <a16:creationId xmlns:a16="http://schemas.microsoft.com/office/drawing/2014/main" id="{6D9ED9D8-B19E-416C-9D08-DC5B887FA742}"/>
              </a:ext>
            </a:extLst>
          </p:cNvPr>
          <p:cNvSpPr txBox="1"/>
          <p:nvPr/>
        </p:nvSpPr>
        <p:spPr>
          <a:xfrm>
            <a:off x="4652845" y="1421278"/>
            <a:ext cx="7223203" cy="5078313"/>
          </a:xfrm>
          <a:prstGeom prst="rect">
            <a:avLst/>
          </a:prstGeom>
          <a:noFill/>
          <a:ln>
            <a:solidFill>
              <a:srgbClr val="0000FF"/>
            </a:solidFill>
          </a:ln>
        </p:spPr>
        <p:txBody>
          <a:bodyPr wrap="square">
            <a:spAutoFit/>
          </a:bodyPr>
          <a:lstStyle/>
          <a:p>
            <a:r>
              <a:rPr lang="en-US" dirty="0"/>
              <a:t>The types of risks eligible for this program are summarized below.</a:t>
            </a:r>
          </a:p>
          <a:p>
            <a:pPr marL="742950" lvl="1" indent="-285750">
              <a:buFont typeface="Courier New" panose="02070309020205020404" pitchFamily="49" charset="0"/>
              <a:buChar char="o"/>
            </a:pPr>
            <a:r>
              <a:rPr lang="en-US" dirty="0"/>
              <a:t>Apartment buildings of any size, including residential condominium associations</a:t>
            </a:r>
          </a:p>
          <a:p>
            <a:pPr marL="742950" lvl="1" indent="-285750">
              <a:buFont typeface="Courier New" panose="02070309020205020404" pitchFamily="49" charset="0"/>
              <a:buChar char="o"/>
            </a:pPr>
            <a:r>
              <a:rPr lang="en-US" dirty="0"/>
              <a:t>Contractors subject to several restrictions, such as an annual payroll of $300,000 or less and doing no work at heights of more than three stories</a:t>
            </a:r>
          </a:p>
          <a:p>
            <a:pPr marL="742950" lvl="1" indent="-285750">
              <a:buFont typeface="Courier New" panose="02070309020205020404" pitchFamily="49" charset="0"/>
              <a:buChar char="o"/>
            </a:pPr>
            <a:r>
              <a:rPr lang="en-US" dirty="0"/>
              <a:t>Mercantile risks</a:t>
            </a:r>
          </a:p>
          <a:p>
            <a:pPr marL="742950" lvl="1" indent="-285750">
              <a:buFont typeface="Courier New" panose="02070309020205020404" pitchFamily="49" charset="0"/>
              <a:buChar char="o"/>
            </a:pPr>
            <a:r>
              <a:rPr lang="en-US" dirty="0"/>
              <a:t>Processing and service risks</a:t>
            </a:r>
          </a:p>
          <a:p>
            <a:pPr marL="742950" lvl="1" indent="-285750">
              <a:buFont typeface="Courier New" panose="02070309020205020404" pitchFamily="49" charset="0"/>
              <a:buChar char="o"/>
            </a:pPr>
            <a:r>
              <a:rPr lang="en-US" dirty="0"/>
              <a:t>Wholesale risks</a:t>
            </a:r>
          </a:p>
          <a:p>
            <a:pPr marL="742950" lvl="1" indent="-285750">
              <a:buFont typeface="Courier New" panose="02070309020205020404" pitchFamily="49" charset="0"/>
              <a:buChar char="o"/>
            </a:pPr>
            <a:r>
              <a:rPr lang="en-US" dirty="0"/>
              <a:t>Office buildings not over six stories tall or exceeding 100,000 total square feet</a:t>
            </a:r>
          </a:p>
          <a:p>
            <a:pPr marL="742950" lvl="1" indent="-285750">
              <a:buFont typeface="Courier New" panose="02070309020205020404" pitchFamily="49" charset="0"/>
              <a:buChar char="o"/>
            </a:pPr>
            <a:r>
              <a:rPr lang="en-US" dirty="0"/>
              <a:t>Motels not more than three stories tall, subject to no square foot restriction</a:t>
            </a:r>
          </a:p>
          <a:p>
            <a:pPr marL="742950" lvl="1" indent="-285750">
              <a:buFont typeface="Courier New" panose="02070309020205020404" pitchFamily="49" charset="0"/>
              <a:buChar char="o"/>
            </a:pPr>
            <a:r>
              <a:rPr lang="en-US" dirty="0"/>
              <a:t>Restaurants</a:t>
            </a:r>
          </a:p>
          <a:p>
            <a:pPr marL="742950" lvl="1" indent="-285750">
              <a:buFont typeface="Courier New" panose="02070309020205020404" pitchFamily="49" charset="0"/>
              <a:buChar char="o"/>
            </a:pPr>
            <a:r>
              <a:rPr lang="en-US" dirty="0"/>
              <a:t>Self-storage facilities</a:t>
            </a:r>
          </a:p>
          <a:p>
            <a:pPr marL="742950" lvl="1" indent="-285750">
              <a:buFont typeface="Courier New" panose="02070309020205020404" pitchFamily="49" charset="0"/>
              <a:buChar char="o"/>
            </a:pPr>
            <a:r>
              <a:rPr lang="en-US" dirty="0"/>
              <a:t>Convenience food/gasoline store/restaurants with limited cooking and fast food</a:t>
            </a:r>
          </a:p>
          <a:p>
            <a:pPr marL="742950" lvl="1" indent="-285750">
              <a:buFont typeface="Courier New" panose="02070309020205020404" pitchFamily="49" charset="0"/>
              <a:buChar char="o"/>
            </a:pPr>
            <a:r>
              <a:rPr lang="en-US" dirty="0"/>
              <a:t>Grocery stores and supermarkets that sell gasoline</a:t>
            </a:r>
          </a:p>
        </p:txBody>
      </p:sp>
    </p:spTree>
    <p:extLst>
      <p:ext uri="{BB962C8B-B14F-4D97-AF65-F5344CB8AC3E}">
        <p14:creationId xmlns:p14="http://schemas.microsoft.com/office/powerpoint/2010/main" val="168707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B879FC-AC85-4981-89DA-8B2E987DC8EB}"/>
              </a:ext>
            </a:extLst>
          </p:cNvPr>
          <p:cNvSpPr txBox="1"/>
          <p:nvPr/>
        </p:nvSpPr>
        <p:spPr>
          <a:xfrm>
            <a:off x="470210" y="1775475"/>
            <a:ext cx="11474604" cy="3693319"/>
          </a:xfrm>
          <a:prstGeom prst="rect">
            <a:avLst/>
          </a:prstGeom>
          <a:noFill/>
          <a:ln>
            <a:solidFill>
              <a:srgbClr val="0000FF"/>
            </a:solidFill>
          </a:ln>
        </p:spPr>
        <p:txBody>
          <a:bodyPr wrap="square">
            <a:spAutoFit/>
          </a:bodyPr>
          <a:lstStyle/>
          <a:p>
            <a:r>
              <a:rPr lang="en-US" dirty="0"/>
              <a:t>Business personal property in eligible apartment buildings, offices, and mercantile, wholesale, service, or processing operations is also eligible for BOP coverage. </a:t>
            </a:r>
            <a:r>
              <a:rPr lang="en-US" u="sng" dirty="0"/>
              <a:t>An owner-occupant's building and personal property must be insured in the same policy.</a:t>
            </a:r>
          </a:p>
          <a:p>
            <a:r>
              <a:rPr lang="en-US" dirty="0"/>
              <a:t>The following types of businesses currently are ineligible under ISO businessowners program rules, regardless of their size.</a:t>
            </a:r>
          </a:p>
          <a:p>
            <a:pPr marL="1200150" lvl="2" indent="-285750">
              <a:buFont typeface="Courier New" panose="02070309020205020404" pitchFamily="49" charset="0"/>
              <a:buChar char="o"/>
            </a:pPr>
            <a:r>
              <a:rPr lang="en-US" dirty="0"/>
              <a:t>Manufacturers</a:t>
            </a:r>
          </a:p>
          <a:p>
            <a:pPr marL="1200150" lvl="2" indent="-285750">
              <a:buFont typeface="Courier New" panose="02070309020205020404" pitchFamily="49" charset="0"/>
              <a:buChar char="o"/>
            </a:pPr>
            <a:r>
              <a:rPr lang="en-US" dirty="0"/>
              <a:t>Auto repair or service stations; auto, motor home, mobile home, and motorcycle dealers; parking lots or garages</a:t>
            </a:r>
          </a:p>
          <a:p>
            <a:pPr marL="1200150" lvl="2" indent="-285750">
              <a:buFont typeface="Courier New" panose="02070309020205020404" pitchFamily="49" charset="0"/>
              <a:buChar char="o"/>
            </a:pPr>
            <a:r>
              <a:rPr lang="en-US" dirty="0"/>
              <a:t>Bars and pubs</a:t>
            </a:r>
          </a:p>
          <a:p>
            <a:pPr marL="1200150" lvl="2" indent="-285750">
              <a:buFont typeface="Courier New" panose="02070309020205020404" pitchFamily="49" charset="0"/>
              <a:buChar char="o"/>
            </a:pPr>
            <a:r>
              <a:rPr lang="en-US" dirty="0"/>
              <a:t>Places of amusement</a:t>
            </a:r>
          </a:p>
          <a:p>
            <a:pPr marL="1200150" lvl="2" indent="-285750">
              <a:buFont typeface="Courier New" panose="02070309020205020404" pitchFamily="49" charset="0"/>
              <a:buChar char="o"/>
            </a:pPr>
            <a:r>
              <a:rPr lang="en-US" dirty="0"/>
              <a:t>Banks and other financial institutions</a:t>
            </a:r>
          </a:p>
          <a:p>
            <a:pPr marL="1200150" lvl="2" indent="-285750">
              <a:buFont typeface="Courier New" panose="02070309020205020404" pitchFamily="49" charset="0"/>
              <a:buChar char="o"/>
            </a:pPr>
            <a:r>
              <a:rPr lang="en-US" dirty="0"/>
              <a:t>Self-storage facilities that provide outdoor storage of motorized vehicles of any type</a:t>
            </a:r>
          </a:p>
          <a:p>
            <a:r>
              <a:rPr lang="en-US" u="sng" dirty="0"/>
              <a:t>Naturally, the eligibility rules for independently filed BOP programs may vary from insurer to insurer.</a:t>
            </a:r>
          </a:p>
        </p:txBody>
      </p:sp>
      <p:pic>
        <p:nvPicPr>
          <p:cNvPr id="4" name="Picture 3">
            <a:extLst>
              <a:ext uri="{FF2B5EF4-FFF2-40B4-BE49-F238E27FC236}">
                <a16:creationId xmlns:a16="http://schemas.microsoft.com/office/drawing/2014/main" id="{F59EA376-3CA2-4E69-BD5D-0D6B2225BBF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5" name="TextBox 4">
            <a:extLst>
              <a:ext uri="{FF2B5EF4-FFF2-40B4-BE49-F238E27FC236}">
                <a16:creationId xmlns:a16="http://schemas.microsoft.com/office/drawing/2014/main" id="{3A4423B6-0F4C-4FD6-8EEF-84BAF8024471}"/>
              </a:ext>
            </a:extLst>
          </p:cNvPr>
          <p:cNvSpPr txBox="1"/>
          <p:nvPr/>
        </p:nvSpPr>
        <p:spPr>
          <a:xfrm>
            <a:off x="248115" y="442490"/>
            <a:ext cx="6094140" cy="400110"/>
          </a:xfrm>
          <a:prstGeom prst="rect">
            <a:avLst/>
          </a:prstGeom>
          <a:noFill/>
        </p:spPr>
        <p:txBody>
          <a:bodyPr wrap="square">
            <a:spAutoFit/>
          </a:bodyPr>
          <a:lstStyle/>
          <a:p>
            <a:r>
              <a:rPr lang="en-IN" sz="2000" dirty="0">
                <a:solidFill>
                  <a:srgbClr val="0000FF"/>
                </a:solidFill>
              </a:rPr>
              <a:t>BOP Eligibility….Contd.</a:t>
            </a:r>
          </a:p>
        </p:txBody>
      </p:sp>
    </p:spTree>
    <p:extLst>
      <p:ext uri="{BB962C8B-B14F-4D97-AF65-F5344CB8AC3E}">
        <p14:creationId xmlns:p14="http://schemas.microsoft.com/office/powerpoint/2010/main" val="2826674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7C93B5-9242-449B-B3D9-24BF64AA66F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A28D8116-0582-4132-B441-9CA8B4607CEA}"/>
              </a:ext>
            </a:extLst>
          </p:cNvPr>
          <p:cNvSpPr txBox="1"/>
          <p:nvPr/>
        </p:nvSpPr>
        <p:spPr>
          <a:xfrm>
            <a:off x="457199" y="1443841"/>
            <a:ext cx="11364687" cy="3785652"/>
          </a:xfrm>
          <a:prstGeom prst="rect">
            <a:avLst/>
          </a:prstGeom>
          <a:noFill/>
          <a:ln>
            <a:solidFill>
              <a:srgbClr val="0000FF"/>
            </a:solidFill>
          </a:ln>
        </p:spPr>
        <p:txBody>
          <a:bodyPr wrap="square">
            <a:spAutoFit/>
          </a:bodyPr>
          <a:lstStyle/>
          <a:p>
            <a:r>
              <a:rPr lang="en-US" sz="2400" dirty="0"/>
              <a:t>Some problems require insurance that's not included in a BOP, such as:</a:t>
            </a:r>
          </a:p>
          <a:p>
            <a:endParaRPr lang="en-US" sz="2400" dirty="0"/>
          </a:p>
          <a:p>
            <a:r>
              <a:rPr lang="en-US" sz="2400" b="1" dirty="0"/>
              <a:t>Workers compensation insurance: </a:t>
            </a:r>
            <a:r>
              <a:rPr lang="en-US" sz="2400" dirty="0"/>
              <a:t>Covers employees' work-related injuries and illness, plus some lost wages.</a:t>
            </a:r>
          </a:p>
          <a:p>
            <a:r>
              <a:rPr lang="en-US" sz="2400" b="1" dirty="0"/>
              <a:t>Health insurance: </a:t>
            </a:r>
            <a:r>
              <a:rPr lang="en-US" sz="2400" dirty="0"/>
              <a:t>Businesses typically purchase group medical coverage for employee health insurance. Depending on the size of the business, you may qualify for a Small Business Health Options Program (SHOP).</a:t>
            </a:r>
          </a:p>
          <a:p>
            <a:r>
              <a:rPr lang="en-US" sz="2400" b="1" dirty="0"/>
              <a:t>Disability insurance: </a:t>
            </a:r>
            <a:r>
              <a:rPr lang="en-US" sz="2400" dirty="0"/>
              <a:t>Pays part of an employee's salary while they're recovering from a non-work related illness, injury or pregnancy. You can typically buy both short-term and long-term disability insurance.</a:t>
            </a:r>
            <a:endParaRPr lang="en-IN" sz="2400" dirty="0"/>
          </a:p>
        </p:txBody>
      </p:sp>
      <p:sp>
        <p:nvSpPr>
          <p:cNvPr id="6" name="TextBox 5">
            <a:extLst>
              <a:ext uri="{FF2B5EF4-FFF2-40B4-BE49-F238E27FC236}">
                <a16:creationId xmlns:a16="http://schemas.microsoft.com/office/drawing/2014/main" id="{E79B0BF6-E727-40C0-9400-17789A9F0838}"/>
              </a:ext>
            </a:extLst>
          </p:cNvPr>
          <p:cNvSpPr txBox="1"/>
          <p:nvPr/>
        </p:nvSpPr>
        <p:spPr>
          <a:xfrm>
            <a:off x="318082" y="278103"/>
            <a:ext cx="9937568" cy="523220"/>
          </a:xfrm>
          <a:prstGeom prst="rect">
            <a:avLst/>
          </a:prstGeom>
          <a:noFill/>
        </p:spPr>
        <p:txBody>
          <a:bodyPr wrap="square">
            <a:spAutoFit/>
          </a:bodyPr>
          <a:lstStyle/>
          <a:p>
            <a:r>
              <a:rPr lang="en-US" sz="2800" dirty="0">
                <a:solidFill>
                  <a:srgbClr val="0000FF"/>
                </a:solidFill>
              </a:rPr>
              <a:t>What's not covered by a business owners policy?</a:t>
            </a:r>
          </a:p>
        </p:txBody>
      </p:sp>
    </p:spTree>
    <p:extLst>
      <p:ext uri="{BB962C8B-B14F-4D97-AF65-F5344CB8AC3E}">
        <p14:creationId xmlns:p14="http://schemas.microsoft.com/office/powerpoint/2010/main" val="2590503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446F8E-29A1-43F3-8995-1FD942824A42}"/>
              </a:ext>
            </a:extLst>
          </p:cNvPr>
          <p:cNvSpPr txBox="1"/>
          <p:nvPr/>
        </p:nvSpPr>
        <p:spPr>
          <a:xfrm>
            <a:off x="4128739" y="233505"/>
            <a:ext cx="6094140" cy="923330"/>
          </a:xfrm>
          <a:prstGeom prst="rect">
            <a:avLst/>
          </a:prstGeom>
          <a:noFill/>
        </p:spPr>
        <p:txBody>
          <a:bodyPr wrap="square">
            <a:spAutoFit/>
          </a:bodyPr>
          <a:lstStyle/>
          <a:p>
            <a:endParaRPr lang="en-IN" dirty="0"/>
          </a:p>
          <a:p>
            <a:r>
              <a:rPr lang="en-IN" dirty="0">
                <a:hlinkClick r:id="rId3"/>
              </a:rPr>
              <a:t>https://youtu.be/WJmq0RF7t5E</a:t>
            </a:r>
            <a:endParaRPr lang="en-IN" dirty="0"/>
          </a:p>
          <a:p>
            <a:endParaRPr lang="en-IN" dirty="0"/>
          </a:p>
        </p:txBody>
      </p:sp>
      <p:pic>
        <p:nvPicPr>
          <p:cNvPr id="4" name="Online Media 3" title="Insurance for the Small Business Owner">
            <a:hlinkClick r:id="" action="ppaction://media"/>
            <a:extLst>
              <a:ext uri="{FF2B5EF4-FFF2-40B4-BE49-F238E27FC236}">
                <a16:creationId xmlns:a16="http://schemas.microsoft.com/office/drawing/2014/main" id="{3EBB0E4F-FDE4-4602-B3FC-2E86F34F0072}"/>
              </a:ext>
            </a:extLst>
          </p:cNvPr>
          <p:cNvPicPr>
            <a:picLocks noRot="1" noChangeAspect="1"/>
          </p:cNvPicPr>
          <p:nvPr>
            <a:videoFile r:link="rId1"/>
          </p:nvPr>
        </p:nvPicPr>
        <p:blipFill>
          <a:blip r:embed="rId4"/>
          <a:stretch>
            <a:fillRect/>
          </a:stretch>
        </p:blipFill>
        <p:spPr>
          <a:xfrm>
            <a:off x="301083" y="1070517"/>
            <a:ext cx="11619571" cy="5632611"/>
          </a:xfrm>
          <a:prstGeom prst="rect">
            <a:avLst/>
          </a:prstGeom>
        </p:spPr>
      </p:pic>
    </p:spTree>
    <p:extLst>
      <p:ext uri="{BB962C8B-B14F-4D97-AF65-F5344CB8AC3E}">
        <p14:creationId xmlns:p14="http://schemas.microsoft.com/office/powerpoint/2010/main" val="226120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5BA7E8-9CA3-4C2F-8D09-DBB37B492B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21" name="TextBox 20">
            <a:extLst>
              <a:ext uri="{FF2B5EF4-FFF2-40B4-BE49-F238E27FC236}">
                <a16:creationId xmlns:a16="http://schemas.microsoft.com/office/drawing/2014/main" id="{2387D4D4-CA03-40EA-AEBC-DD874ED081EA}"/>
              </a:ext>
            </a:extLst>
          </p:cNvPr>
          <p:cNvSpPr txBox="1"/>
          <p:nvPr/>
        </p:nvSpPr>
        <p:spPr>
          <a:xfrm>
            <a:off x="283030" y="2056686"/>
            <a:ext cx="6093822" cy="4524315"/>
          </a:xfrm>
          <a:prstGeom prst="rect">
            <a:avLst/>
          </a:prstGeom>
          <a:noFill/>
          <a:ln>
            <a:solidFill>
              <a:srgbClr val="0000FF"/>
            </a:solidFill>
          </a:ln>
        </p:spPr>
        <p:txBody>
          <a:bodyPr wrap="square">
            <a:spAutoFit/>
          </a:bodyPr>
          <a:lstStyle/>
          <a:p>
            <a:r>
              <a:rPr lang="en-US" dirty="0">
                <a:solidFill>
                  <a:srgbClr val="0000FF"/>
                </a:solidFill>
              </a:rPr>
              <a:t>Commercial auto insurance: </a:t>
            </a:r>
            <a:r>
              <a:rPr lang="en-US" dirty="0"/>
              <a:t>For vehicles used for business purposes.</a:t>
            </a:r>
          </a:p>
          <a:p>
            <a:endParaRPr lang="en-US" dirty="0"/>
          </a:p>
          <a:p>
            <a:r>
              <a:rPr lang="en-US" dirty="0">
                <a:solidFill>
                  <a:srgbClr val="0000FF"/>
                </a:solidFill>
              </a:rPr>
              <a:t>Business income and extra expense: </a:t>
            </a:r>
            <a:r>
              <a:rPr lang="en-US" dirty="0"/>
              <a:t>An addition to the business interruption part of a BOP, business income and extra expense insurance covers above-normal operating costs to avoid shutting down during the restoration of a business after a problem covered by the policy.</a:t>
            </a:r>
          </a:p>
          <a:p>
            <a:endParaRPr lang="en-US" dirty="0"/>
          </a:p>
          <a:p>
            <a:r>
              <a:rPr lang="en-US" dirty="0">
                <a:solidFill>
                  <a:srgbClr val="0000FF"/>
                </a:solidFill>
              </a:rPr>
              <a:t>Crime insurance: </a:t>
            </a:r>
            <a:r>
              <a:rPr lang="en-US" dirty="0"/>
              <a:t>For forgery, fraud and theft.</a:t>
            </a:r>
          </a:p>
          <a:p>
            <a:endParaRPr lang="en-US" dirty="0"/>
          </a:p>
          <a:p>
            <a:r>
              <a:rPr lang="en-US" dirty="0">
                <a:solidFill>
                  <a:srgbClr val="0000FF"/>
                </a:solidFill>
              </a:rPr>
              <a:t>Cyber insurance: </a:t>
            </a:r>
            <a:r>
              <a:rPr lang="en-US" dirty="0"/>
              <a:t>Covers a cyberattack, such as a data breach that compromises customers' personal information.</a:t>
            </a:r>
          </a:p>
          <a:p>
            <a:endParaRPr lang="en-US" dirty="0"/>
          </a:p>
          <a:p>
            <a:r>
              <a:rPr lang="en-US" dirty="0">
                <a:solidFill>
                  <a:srgbClr val="0000FF"/>
                </a:solidFill>
              </a:rPr>
              <a:t>Errors and omissions insurance: </a:t>
            </a:r>
            <a:r>
              <a:rPr lang="en-US" dirty="0"/>
              <a:t>For claims that you did not provide services that were expected or promised.</a:t>
            </a:r>
          </a:p>
        </p:txBody>
      </p:sp>
      <p:sp>
        <p:nvSpPr>
          <p:cNvPr id="23" name="TextBox 22">
            <a:extLst>
              <a:ext uri="{FF2B5EF4-FFF2-40B4-BE49-F238E27FC236}">
                <a16:creationId xmlns:a16="http://schemas.microsoft.com/office/drawing/2014/main" id="{F5637AAC-4785-43C3-B529-CF6BADFFDCF2}"/>
              </a:ext>
            </a:extLst>
          </p:cNvPr>
          <p:cNvSpPr txBox="1"/>
          <p:nvPr/>
        </p:nvSpPr>
        <p:spPr>
          <a:xfrm>
            <a:off x="6494417" y="2056685"/>
            <a:ext cx="5532118" cy="4524315"/>
          </a:xfrm>
          <a:prstGeom prst="rect">
            <a:avLst/>
          </a:prstGeom>
          <a:noFill/>
          <a:ln>
            <a:solidFill>
              <a:srgbClr val="0000FF"/>
            </a:solidFill>
          </a:ln>
        </p:spPr>
        <p:txBody>
          <a:bodyPr wrap="square">
            <a:spAutoFit/>
          </a:bodyPr>
          <a:lstStyle/>
          <a:p>
            <a:r>
              <a:rPr lang="en-US" dirty="0">
                <a:solidFill>
                  <a:srgbClr val="0000FF"/>
                </a:solidFill>
              </a:rPr>
              <a:t>Employment practices liability insurance (EPLI): </a:t>
            </a:r>
            <a:r>
              <a:rPr lang="en-US" dirty="0"/>
              <a:t>For claims by employees that their legal rights were violated, such as breach of contract, discrimination and harassment.</a:t>
            </a:r>
          </a:p>
          <a:p>
            <a:endParaRPr lang="en-US" dirty="0"/>
          </a:p>
          <a:p>
            <a:r>
              <a:rPr lang="en-US" dirty="0">
                <a:solidFill>
                  <a:srgbClr val="0000FF"/>
                </a:solidFill>
              </a:rPr>
              <a:t>Equipment breakdown insurance Also known as boiler and machinery insurance or mechanical insurance</a:t>
            </a:r>
            <a:r>
              <a:rPr lang="en-US" dirty="0"/>
              <a:t>, this covers lost income due to electrical or mechanical breakdown of equipment, such as computers, engines, generators, refrigerators and phone systems.</a:t>
            </a:r>
          </a:p>
          <a:p>
            <a:endParaRPr lang="en-US" dirty="0"/>
          </a:p>
          <a:p>
            <a:endParaRPr lang="en-US" dirty="0"/>
          </a:p>
          <a:p>
            <a:r>
              <a:rPr lang="en-US" dirty="0">
                <a:solidFill>
                  <a:srgbClr val="0000FF"/>
                </a:solidFill>
              </a:rPr>
              <a:t>Product liability insurance: </a:t>
            </a:r>
            <a:r>
              <a:rPr lang="en-US" dirty="0"/>
              <a:t>For legal expenses, settlements and judgments if a product causes injury, illness or property damage.</a:t>
            </a:r>
          </a:p>
          <a:p>
            <a:endParaRPr lang="en-US" dirty="0"/>
          </a:p>
        </p:txBody>
      </p:sp>
      <p:sp>
        <p:nvSpPr>
          <p:cNvPr id="25" name="TextBox 24">
            <a:extLst>
              <a:ext uri="{FF2B5EF4-FFF2-40B4-BE49-F238E27FC236}">
                <a16:creationId xmlns:a16="http://schemas.microsoft.com/office/drawing/2014/main" id="{CFDF39F7-DE5A-4C33-8A96-E154B1D0889D}"/>
              </a:ext>
            </a:extLst>
          </p:cNvPr>
          <p:cNvSpPr txBox="1"/>
          <p:nvPr/>
        </p:nvSpPr>
        <p:spPr>
          <a:xfrm>
            <a:off x="283029" y="1238165"/>
            <a:ext cx="11743505" cy="369332"/>
          </a:xfrm>
          <a:prstGeom prst="rect">
            <a:avLst/>
          </a:prstGeom>
          <a:noFill/>
          <a:ln>
            <a:solidFill>
              <a:srgbClr val="0000FF"/>
            </a:solidFill>
          </a:ln>
        </p:spPr>
        <p:txBody>
          <a:bodyPr wrap="square">
            <a:spAutoFit/>
          </a:bodyPr>
          <a:lstStyle/>
          <a:p>
            <a:r>
              <a:rPr lang="en-US" dirty="0"/>
              <a:t>Additional business owners insurance choices that can help fill any gaps in a business owners policy. </a:t>
            </a:r>
            <a:endParaRPr lang="en-IN" dirty="0"/>
          </a:p>
        </p:txBody>
      </p:sp>
      <p:sp>
        <p:nvSpPr>
          <p:cNvPr id="29" name="TextBox 28">
            <a:extLst>
              <a:ext uri="{FF2B5EF4-FFF2-40B4-BE49-F238E27FC236}">
                <a16:creationId xmlns:a16="http://schemas.microsoft.com/office/drawing/2014/main" id="{31FFAE98-8ED1-4FFC-AA7F-E8B7E840D362}"/>
              </a:ext>
            </a:extLst>
          </p:cNvPr>
          <p:cNvSpPr txBox="1"/>
          <p:nvPr/>
        </p:nvSpPr>
        <p:spPr>
          <a:xfrm>
            <a:off x="283030" y="345896"/>
            <a:ext cx="7972696" cy="646331"/>
          </a:xfrm>
          <a:prstGeom prst="rect">
            <a:avLst/>
          </a:prstGeom>
          <a:noFill/>
        </p:spPr>
        <p:txBody>
          <a:bodyPr wrap="square">
            <a:spAutoFit/>
          </a:bodyPr>
          <a:lstStyle/>
          <a:p>
            <a:r>
              <a:rPr lang="en-IN" sz="3600" dirty="0">
                <a:solidFill>
                  <a:srgbClr val="0000FF"/>
                </a:solidFill>
              </a:rPr>
              <a:t>Endorsements and extra policies </a:t>
            </a:r>
          </a:p>
        </p:txBody>
      </p:sp>
    </p:spTree>
    <p:extLst>
      <p:ext uri="{BB962C8B-B14F-4D97-AF65-F5344CB8AC3E}">
        <p14:creationId xmlns:p14="http://schemas.microsoft.com/office/powerpoint/2010/main" val="3074568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Insurance 101 - Business Income Coverage">
            <a:hlinkClick r:id="" action="ppaction://media"/>
            <a:extLst>
              <a:ext uri="{FF2B5EF4-FFF2-40B4-BE49-F238E27FC236}">
                <a16:creationId xmlns:a16="http://schemas.microsoft.com/office/drawing/2014/main" id="{F330DBF0-39C6-4DC0-BFE6-12CB9CDC2A21}"/>
              </a:ext>
            </a:extLst>
          </p:cNvPr>
          <p:cNvPicPr>
            <a:picLocks noRot="1" noChangeAspect="1"/>
          </p:cNvPicPr>
          <p:nvPr>
            <a:videoFile r:link="rId1"/>
          </p:nvPr>
        </p:nvPicPr>
        <p:blipFill>
          <a:blip r:embed="rId3"/>
          <a:stretch>
            <a:fillRect/>
          </a:stretch>
        </p:blipFill>
        <p:spPr>
          <a:xfrm>
            <a:off x="198120" y="1183095"/>
            <a:ext cx="11795760" cy="5518788"/>
          </a:xfrm>
          <a:prstGeom prst="rect">
            <a:avLst/>
          </a:prstGeom>
        </p:spPr>
      </p:pic>
      <p:pic>
        <p:nvPicPr>
          <p:cNvPr id="3" name="Picture 2">
            <a:extLst>
              <a:ext uri="{FF2B5EF4-FFF2-40B4-BE49-F238E27FC236}">
                <a16:creationId xmlns:a16="http://schemas.microsoft.com/office/drawing/2014/main" id="{71043CBE-F84E-4969-A2BA-972EDD8ECA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3662" y="770217"/>
            <a:ext cx="9804188" cy="264653"/>
          </a:xfrm>
          <a:prstGeom prst="rect">
            <a:avLst/>
          </a:prstGeom>
        </p:spPr>
      </p:pic>
      <p:sp>
        <p:nvSpPr>
          <p:cNvPr id="4" name="TextBox 3">
            <a:extLst>
              <a:ext uri="{FF2B5EF4-FFF2-40B4-BE49-F238E27FC236}">
                <a16:creationId xmlns:a16="http://schemas.microsoft.com/office/drawing/2014/main" id="{6FB8CC2C-541F-487D-8FA0-19ACBEF5363E}"/>
              </a:ext>
            </a:extLst>
          </p:cNvPr>
          <p:cNvSpPr txBox="1"/>
          <p:nvPr/>
        </p:nvSpPr>
        <p:spPr>
          <a:xfrm>
            <a:off x="353060" y="407412"/>
            <a:ext cx="6096000" cy="523220"/>
          </a:xfrm>
          <a:prstGeom prst="rect">
            <a:avLst/>
          </a:prstGeom>
          <a:noFill/>
        </p:spPr>
        <p:txBody>
          <a:bodyPr wrap="square">
            <a:spAutoFit/>
          </a:bodyPr>
          <a:lstStyle/>
          <a:p>
            <a:r>
              <a:rPr lang="en-IN" sz="2800" b="1" dirty="0">
                <a:solidFill>
                  <a:srgbClr val="0000FF"/>
                </a:solidFill>
              </a:rPr>
              <a:t>Briefing it - BOP Insurance for?</a:t>
            </a:r>
          </a:p>
        </p:txBody>
      </p:sp>
    </p:spTree>
    <p:extLst>
      <p:ext uri="{BB962C8B-B14F-4D97-AF65-F5344CB8AC3E}">
        <p14:creationId xmlns:p14="http://schemas.microsoft.com/office/powerpoint/2010/main" val="159510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D70DBDE-FFB3-4FC2-8066-40E7FEFED6F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4B30A0E0-5A2C-4757-8F1D-627543165171}"/>
              </a:ext>
            </a:extLst>
          </p:cNvPr>
          <p:cNvSpPr txBox="1"/>
          <p:nvPr/>
        </p:nvSpPr>
        <p:spPr>
          <a:xfrm>
            <a:off x="498566" y="1477673"/>
            <a:ext cx="11194868" cy="3139321"/>
          </a:xfrm>
          <a:prstGeom prst="rect">
            <a:avLst/>
          </a:prstGeom>
          <a:noFill/>
          <a:ln>
            <a:solidFill>
              <a:srgbClr val="0000FF"/>
            </a:solidFill>
          </a:ln>
        </p:spPr>
        <p:txBody>
          <a:bodyPr wrap="square">
            <a:spAutoFit/>
          </a:bodyPr>
          <a:lstStyle/>
          <a:p>
            <a:r>
              <a:rPr lang="en-US" dirty="0"/>
              <a:t>The cost of a business owners policy depends on factors that will be unique to the business, including:</a:t>
            </a:r>
          </a:p>
          <a:p>
            <a:endParaRPr lang="en-US" dirty="0"/>
          </a:p>
          <a:p>
            <a:pPr marL="285750" indent="-285750">
              <a:buFont typeface="Courier New" panose="02070309020205020404" pitchFamily="49" charset="0"/>
              <a:buChar char="o"/>
            </a:pPr>
            <a:r>
              <a:rPr lang="en-US" dirty="0">
                <a:solidFill>
                  <a:srgbClr val="0000FF"/>
                </a:solidFill>
              </a:rPr>
              <a:t>Type of business. </a:t>
            </a:r>
            <a:r>
              <a:rPr lang="en-US" dirty="0"/>
              <a:t>For example, if you work with heavy machinery or dangerous chemicals, the business has a higher risk than a barber shop.</a:t>
            </a:r>
          </a:p>
          <a:p>
            <a:pPr marL="285750" indent="-285750">
              <a:buFont typeface="Courier New" panose="02070309020205020404" pitchFamily="49" charset="0"/>
              <a:buChar char="o"/>
            </a:pPr>
            <a:r>
              <a:rPr lang="en-US" dirty="0">
                <a:solidFill>
                  <a:srgbClr val="0000FF"/>
                </a:solidFill>
              </a:rPr>
              <a:t>Size of business. </a:t>
            </a:r>
            <a:r>
              <a:rPr lang="en-US" dirty="0"/>
              <a:t>Generally, the more employees the more potential risk. Also, the more property you've got, the higher the insurance cost.</a:t>
            </a:r>
          </a:p>
          <a:p>
            <a:pPr marL="285750" indent="-285750">
              <a:buFont typeface="Courier New" panose="02070309020205020404" pitchFamily="49" charset="0"/>
              <a:buChar char="o"/>
            </a:pPr>
            <a:r>
              <a:rPr lang="en-US" dirty="0">
                <a:solidFill>
                  <a:srgbClr val="0000FF"/>
                </a:solidFill>
              </a:rPr>
              <a:t>Location and type of property. </a:t>
            </a:r>
            <a:r>
              <a:rPr lang="en-US" dirty="0"/>
              <a:t>If your property has higher risks, such as theft or fire, expect to pay more.</a:t>
            </a:r>
          </a:p>
          <a:p>
            <a:pPr marL="285750" indent="-285750">
              <a:buFont typeface="Courier New" panose="02070309020205020404" pitchFamily="49" charset="0"/>
              <a:buChar char="o"/>
            </a:pPr>
            <a:r>
              <a:rPr lang="en-US" dirty="0">
                <a:solidFill>
                  <a:srgbClr val="0000FF"/>
                </a:solidFill>
              </a:rPr>
              <a:t>A history of claims. </a:t>
            </a:r>
            <a:r>
              <a:rPr lang="en-US" dirty="0"/>
              <a:t>If the business has made claims in the past, it could be seen as a higher risk.</a:t>
            </a:r>
          </a:p>
          <a:p>
            <a:endParaRPr lang="en-US" dirty="0"/>
          </a:p>
          <a:p>
            <a:r>
              <a:rPr lang="en-US" dirty="0"/>
              <a:t>A BOP not only offers the convenience of combining several coverages types under one policy, but it can also save you money. Bundling several coverage types from the same insurance company often leads to a discount.</a:t>
            </a:r>
            <a:endParaRPr lang="en-IN" dirty="0"/>
          </a:p>
        </p:txBody>
      </p:sp>
      <p:sp>
        <p:nvSpPr>
          <p:cNvPr id="6" name="TextBox 5">
            <a:extLst>
              <a:ext uri="{FF2B5EF4-FFF2-40B4-BE49-F238E27FC236}">
                <a16:creationId xmlns:a16="http://schemas.microsoft.com/office/drawing/2014/main" id="{7EBA95A0-1615-4325-95E1-28D2B87BED75}"/>
              </a:ext>
            </a:extLst>
          </p:cNvPr>
          <p:cNvSpPr txBox="1"/>
          <p:nvPr/>
        </p:nvSpPr>
        <p:spPr>
          <a:xfrm>
            <a:off x="382089" y="240992"/>
            <a:ext cx="6093822" cy="584775"/>
          </a:xfrm>
          <a:prstGeom prst="rect">
            <a:avLst/>
          </a:prstGeom>
          <a:noFill/>
        </p:spPr>
        <p:txBody>
          <a:bodyPr wrap="square">
            <a:spAutoFit/>
          </a:bodyPr>
          <a:lstStyle/>
          <a:p>
            <a:r>
              <a:rPr lang="en-IN" sz="3200" dirty="0">
                <a:solidFill>
                  <a:srgbClr val="0000FF"/>
                </a:solidFill>
              </a:rPr>
              <a:t>BOP insurance cost</a:t>
            </a:r>
          </a:p>
        </p:txBody>
      </p:sp>
    </p:spTree>
    <p:extLst>
      <p:ext uri="{BB962C8B-B14F-4D97-AF65-F5344CB8AC3E}">
        <p14:creationId xmlns:p14="http://schemas.microsoft.com/office/powerpoint/2010/main" val="1223470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751708-6BC4-4473-B69E-CC05E39BCE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976545AB-4446-4A74-92CB-42CC3B5177A7}"/>
              </a:ext>
            </a:extLst>
          </p:cNvPr>
          <p:cNvSpPr txBox="1"/>
          <p:nvPr/>
        </p:nvSpPr>
        <p:spPr>
          <a:xfrm>
            <a:off x="552450" y="1159226"/>
            <a:ext cx="11153775" cy="2031325"/>
          </a:xfrm>
          <a:prstGeom prst="rect">
            <a:avLst/>
          </a:prstGeom>
          <a:noFill/>
        </p:spPr>
        <p:txBody>
          <a:bodyPr wrap="square">
            <a:spAutoFit/>
          </a:bodyPr>
          <a:lstStyle/>
          <a:p>
            <a:pPr algn="l"/>
            <a:r>
              <a:rPr lang="en-US" b="1" i="0" dirty="0">
                <a:solidFill>
                  <a:srgbClr val="02024E"/>
                </a:solidFill>
                <a:effectLst/>
                <a:latin typeface="Inter"/>
              </a:rPr>
              <a:t>What’s The Difference Between a Business Owners Policy and a Commercial Package Policy (CPP)?</a:t>
            </a:r>
          </a:p>
          <a:p>
            <a:r>
              <a:rPr lang="en-US" dirty="0"/>
              <a:t>The main difference between a BOP and a CPP is that the CPP is :</a:t>
            </a:r>
          </a:p>
          <a:p>
            <a:pPr marL="742950" lvl="1" indent="-285750">
              <a:buFont typeface="Courier New" panose="02070309020205020404" pitchFamily="49" charset="0"/>
              <a:buChar char="o"/>
            </a:pPr>
            <a:r>
              <a:rPr lang="en-US" dirty="0"/>
              <a:t>BOP is much more flexible, </a:t>
            </a:r>
          </a:p>
          <a:p>
            <a:r>
              <a:rPr lang="en-US" dirty="0"/>
              <a:t>which means that your business has greater options when it comes to putting together a coverage package that works best for your company’s specific needs.</a:t>
            </a:r>
          </a:p>
          <a:p>
            <a:endParaRPr lang="en-US" dirty="0"/>
          </a:p>
          <a:p>
            <a:endParaRPr lang="en-US" dirty="0"/>
          </a:p>
        </p:txBody>
      </p:sp>
      <p:sp>
        <p:nvSpPr>
          <p:cNvPr id="6" name="TextBox 5">
            <a:extLst>
              <a:ext uri="{FF2B5EF4-FFF2-40B4-BE49-F238E27FC236}">
                <a16:creationId xmlns:a16="http://schemas.microsoft.com/office/drawing/2014/main" id="{A4484735-4EB4-42ED-B80A-85502FF90C77}"/>
              </a:ext>
            </a:extLst>
          </p:cNvPr>
          <p:cNvSpPr txBox="1"/>
          <p:nvPr/>
        </p:nvSpPr>
        <p:spPr>
          <a:xfrm>
            <a:off x="619125" y="2822136"/>
            <a:ext cx="11087100" cy="923330"/>
          </a:xfrm>
          <a:prstGeom prst="rect">
            <a:avLst/>
          </a:prstGeom>
          <a:noFill/>
        </p:spPr>
        <p:txBody>
          <a:bodyPr wrap="square">
            <a:spAutoFit/>
          </a:bodyPr>
          <a:lstStyle/>
          <a:p>
            <a:r>
              <a:rPr lang="en-US" dirty="0"/>
              <a:t>In any case, whether or not you purchase a BOP or CPP is going to depend on two things; </a:t>
            </a:r>
          </a:p>
          <a:p>
            <a:pPr marL="742950" lvl="1" indent="-285750">
              <a:buFont typeface="Courier New" panose="02070309020205020404" pitchFamily="49" charset="0"/>
              <a:buChar char="o"/>
            </a:pPr>
            <a:r>
              <a:rPr lang="en-US" dirty="0"/>
              <a:t>your coverage needs and </a:t>
            </a:r>
          </a:p>
          <a:p>
            <a:pPr marL="742950" lvl="1" indent="-285750">
              <a:buFont typeface="Courier New" panose="02070309020205020404" pitchFamily="49" charset="0"/>
              <a:buChar char="o"/>
            </a:pPr>
            <a:r>
              <a:rPr lang="en-US" dirty="0"/>
              <a:t>your eligibility.</a:t>
            </a:r>
            <a:endParaRPr lang="en-IN" dirty="0"/>
          </a:p>
        </p:txBody>
      </p:sp>
      <p:sp>
        <p:nvSpPr>
          <p:cNvPr id="10" name="TextBox 9">
            <a:extLst>
              <a:ext uri="{FF2B5EF4-FFF2-40B4-BE49-F238E27FC236}">
                <a16:creationId xmlns:a16="http://schemas.microsoft.com/office/drawing/2014/main" id="{5D41F1A3-B98B-4800-9D18-327B1F20DDC5}"/>
              </a:ext>
            </a:extLst>
          </p:cNvPr>
          <p:cNvSpPr txBox="1"/>
          <p:nvPr/>
        </p:nvSpPr>
        <p:spPr>
          <a:xfrm>
            <a:off x="428625" y="431991"/>
            <a:ext cx="6096000" cy="461665"/>
          </a:xfrm>
          <a:prstGeom prst="rect">
            <a:avLst/>
          </a:prstGeom>
          <a:noFill/>
        </p:spPr>
        <p:txBody>
          <a:bodyPr wrap="square">
            <a:spAutoFit/>
          </a:bodyPr>
          <a:lstStyle/>
          <a:p>
            <a:pPr algn="l" fontAlgn="b"/>
            <a:r>
              <a:rPr lang="en-IN" sz="2400" b="1" i="0" u="none" strike="noStrike" dirty="0">
                <a:solidFill>
                  <a:srgbClr val="0000FF"/>
                </a:solidFill>
                <a:effectLst/>
                <a:latin typeface="Calibri" panose="020F0502020204030204" pitchFamily="34" charset="0"/>
              </a:rPr>
              <a:t>BOP Vs CPP &amp; CGL</a:t>
            </a:r>
          </a:p>
        </p:txBody>
      </p:sp>
    </p:spTree>
    <p:extLst>
      <p:ext uri="{BB962C8B-B14F-4D97-AF65-F5344CB8AC3E}">
        <p14:creationId xmlns:p14="http://schemas.microsoft.com/office/powerpoint/2010/main" val="3784826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How is a business owners policy (BOP) different from general liability?">
            <a:hlinkClick r:id="" action="ppaction://media"/>
            <a:extLst>
              <a:ext uri="{FF2B5EF4-FFF2-40B4-BE49-F238E27FC236}">
                <a16:creationId xmlns:a16="http://schemas.microsoft.com/office/drawing/2014/main" id="{FD125C6C-8FC3-4F90-B080-B04DA0C587BA}"/>
              </a:ext>
            </a:extLst>
          </p:cNvPr>
          <p:cNvPicPr>
            <a:picLocks noRot="1" noChangeAspect="1"/>
          </p:cNvPicPr>
          <p:nvPr>
            <a:videoFile r:link="rId1"/>
          </p:nvPr>
        </p:nvPicPr>
        <p:blipFill>
          <a:blip r:embed="rId3"/>
          <a:stretch>
            <a:fillRect/>
          </a:stretch>
        </p:blipFill>
        <p:spPr>
          <a:xfrm>
            <a:off x="212184" y="1192070"/>
            <a:ext cx="11708470" cy="5465208"/>
          </a:xfrm>
          <a:prstGeom prst="rect">
            <a:avLst/>
          </a:prstGeom>
        </p:spPr>
      </p:pic>
      <p:sp>
        <p:nvSpPr>
          <p:cNvPr id="6" name="TextBox 5">
            <a:extLst>
              <a:ext uri="{FF2B5EF4-FFF2-40B4-BE49-F238E27FC236}">
                <a16:creationId xmlns:a16="http://schemas.microsoft.com/office/drawing/2014/main" id="{D2ADE221-D6AF-4BDD-A429-DD2DC74DE579}"/>
              </a:ext>
            </a:extLst>
          </p:cNvPr>
          <p:cNvSpPr txBox="1"/>
          <p:nvPr/>
        </p:nvSpPr>
        <p:spPr>
          <a:xfrm>
            <a:off x="4251403" y="545739"/>
            <a:ext cx="3153007" cy="646331"/>
          </a:xfrm>
          <a:prstGeom prst="rect">
            <a:avLst/>
          </a:prstGeom>
          <a:noFill/>
        </p:spPr>
        <p:txBody>
          <a:bodyPr wrap="square">
            <a:spAutoFit/>
          </a:bodyPr>
          <a:lstStyle/>
          <a:p>
            <a:r>
              <a:rPr lang="en-IN" dirty="0">
                <a:hlinkClick r:id="rId4"/>
              </a:rPr>
              <a:t>https://youtu.be/fIEDC5Ybcps</a:t>
            </a:r>
            <a:endParaRPr lang="en-IN" dirty="0"/>
          </a:p>
          <a:p>
            <a:endParaRPr lang="en-IN" dirty="0"/>
          </a:p>
        </p:txBody>
      </p:sp>
    </p:spTree>
    <p:extLst>
      <p:ext uri="{BB962C8B-B14F-4D97-AF65-F5344CB8AC3E}">
        <p14:creationId xmlns:p14="http://schemas.microsoft.com/office/powerpoint/2010/main" val="222644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AE88A0-FC0E-41E8-978F-E688490585D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TextBox 2">
            <a:extLst>
              <a:ext uri="{FF2B5EF4-FFF2-40B4-BE49-F238E27FC236}">
                <a16:creationId xmlns:a16="http://schemas.microsoft.com/office/drawing/2014/main" id="{B6D5E16D-32D5-4CA3-99FF-2E16403B621F}"/>
              </a:ext>
            </a:extLst>
          </p:cNvPr>
          <p:cNvSpPr txBox="1"/>
          <p:nvPr/>
        </p:nvSpPr>
        <p:spPr>
          <a:xfrm>
            <a:off x="454818" y="933649"/>
            <a:ext cx="11282363" cy="5355312"/>
          </a:xfrm>
          <a:prstGeom prst="rect">
            <a:avLst/>
          </a:prstGeom>
          <a:noFill/>
          <a:ln>
            <a:solidFill>
              <a:srgbClr val="0000FF"/>
            </a:solidFill>
          </a:ln>
        </p:spPr>
        <p:txBody>
          <a:bodyPr wrap="square">
            <a:spAutoFit/>
          </a:bodyPr>
          <a:lstStyle/>
          <a:p>
            <a:pPr algn="l"/>
            <a:r>
              <a:rPr lang="en-US" dirty="0"/>
              <a:t>While this might seem like a concept that’s easy to understand, it’s still one of the most commonly asked questions by business owners who want to buy their first insurance policies.</a:t>
            </a:r>
          </a:p>
          <a:p>
            <a:pPr algn="l"/>
            <a:endParaRPr lang="en-US" dirty="0"/>
          </a:p>
          <a:p>
            <a:pPr marL="285750" indent="-285750" algn="l">
              <a:buFont typeface="Courier New" panose="02070309020205020404" pitchFamily="49" charset="0"/>
              <a:buChar char="o"/>
            </a:pPr>
            <a:r>
              <a:rPr lang="en-US" dirty="0"/>
              <a:t>The difference between a BOP and general liability is that a </a:t>
            </a:r>
            <a:r>
              <a:rPr lang="en-US" dirty="0">
                <a:solidFill>
                  <a:srgbClr val="0000FF"/>
                </a:solidFill>
              </a:rPr>
              <a:t>BOP provides more coverage</a:t>
            </a:r>
            <a:r>
              <a:rPr lang="en-US" dirty="0"/>
              <a:t>. A BOP will cover the liability losses that a general liability policy will cover, but it will </a:t>
            </a:r>
            <a:r>
              <a:rPr lang="en-US" dirty="0">
                <a:solidFill>
                  <a:srgbClr val="0000FF"/>
                </a:solidFill>
              </a:rPr>
              <a:t>also cover property losses and business interruption costs.</a:t>
            </a:r>
          </a:p>
          <a:p>
            <a:pPr marL="285750" indent="-285750" algn="l">
              <a:buFont typeface="Courier New" panose="02070309020205020404" pitchFamily="49" charset="0"/>
              <a:buChar char="o"/>
            </a:pPr>
            <a:endParaRPr lang="en-US" dirty="0"/>
          </a:p>
          <a:p>
            <a:pPr marL="285750" indent="-285750" algn="l">
              <a:buFont typeface="Courier New" panose="02070309020205020404" pitchFamily="49" charset="0"/>
              <a:buChar char="o"/>
            </a:pPr>
            <a:r>
              <a:rPr lang="en-US" dirty="0"/>
              <a:t>A commercial general liability policy typically covers third-party property damage, bodily injury, and advertising injury, along with defense costs if you are being sued for a covered loss.</a:t>
            </a:r>
          </a:p>
          <a:p>
            <a:pPr algn="l"/>
            <a:endParaRPr lang="en-US" dirty="0"/>
          </a:p>
          <a:p>
            <a:pPr marL="285750" indent="-285750" algn="l">
              <a:buFont typeface="Courier New" panose="02070309020205020404" pitchFamily="49" charset="0"/>
              <a:buChar char="o"/>
            </a:pPr>
            <a:r>
              <a:rPr lang="en-US" dirty="0"/>
              <a:t>A BOP covers all this as well since commercial general liability is an integral part of the policy package, but it also covers your business property. That means that </a:t>
            </a:r>
            <a:r>
              <a:rPr lang="en-US" dirty="0">
                <a:solidFill>
                  <a:srgbClr val="0000FF"/>
                </a:solidFill>
              </a:rPr>
              <a:t>it can cover everything a commercial property policy covers, including property damage, loss and restoration of paperwork and records, equipment breakdown, and more.</a:t>
            </a:r>
          </a:p>
          <a:p>
            <a:pPr marL="285750" indent="-285750" algn="l">
              <a:buFont typeface="Courier New" panose="02070309020205020404" pitchFamily="49" charset="0"/>
              <a:buChar char="o"/>
            </a:pPr>
            <a:endParaRPr lang="en-US" dirty="0"/>
          </a:p>
          <a:p>
            <a:pPr marL="285750" indent="-285750" algn="l">
              <a:buFont typeface="Courier New" panose="02070309020205020404" pitchFamily="49" charset="0"/>
              <a:buChar char="o"/>
            </a:pPr>
            <a:r>
              <a:rPr lang="en-US" dirty="0"/>
              <a:t>A BOP can be customized to fit your business needs, which means that additional coverages can be added to it, even</a:t>
            </a:r>
            <a:r>
              <a:rPr lang="en-US" dirty="0">
                <a:solidFill>
                  <a:srgbClr val="0000FF"/>
                </a:solidFill>
              </a:rPr>
              <a:t> </a:t>
            </a:r>
            <a:r>
              <a:rPr lang="en-US" dirty="0">
                <a:solidFill>
                  <a:srgbClr val="0000FF"/>
                </a:solidFill>
                <a:hlinkClick r:id="rId3">
                  <a:extLst>
                    <a:ext uri="{A12FA001-AC4F-418D-AE19-62706E023703}">
                      <ahyp:hlinkClr xmlns:ahyp="http://schemas.microsoft.com/office/drawing/2018/hyperlinkcolor" val="tx"/>
                    </a:ext>
                  </a:extLst>
                </a:hlinkClick>
              </a:rPr>
              <a:t>commercial auto insurance</a:t>
            </a:r>
            <a:r>
              <a:rPr lang="en-US" dirty="0">
                <a:solidFill>
                  <a:srgbClr val="0000FF"/>
                </a:solidFill>
              </a:rPr>
              <a:t>. </a:t>
            </a:r>
            <a:r>
              <a:rPr lang="en-US" dirty="0"/>
              <a:t>General liability covers what it covers and you can’t add different types of coverages to this policy like you can to a BOP.</a:t>
            </a:r>
          </a:p>
          <a:p>
            <a:pPr marL="285750" indent="-285750" algn="l">
              <a:buFont typeface="Courier New" panose="02070309020205020404" pitchFamily="49" charset="0"/>
              <a:buChar char="o"/>
            </a:pPr>
            <a:endParaRPr lang="en-US" dirty="0"/>
          </a:p>
          <a:p>
            <a:pPr marL="285750" indent="-285750" algn="l">
              <a:buFont typeface="Courier New" panose="02070309020205020404" pitchFamily="49" charset="0"/>
              <a:buChar char="o"/>
            </a:pPr>
            <a:r>
              <a:rPr lang="en-US" dirty="0"/>
              <a:t>A BOP is a perfect solution for a small business with a low-risk profile and basic coverage needs.</a:t>
            </a:r>
          </a:p>
        </p:txBody>
      </p:sp>
      <p:sp>
        <p:nvSpPr>
          <p:cNvPr id="5" name="TextBox 4">
            <a:extLst>
              <a:ext uri="{FF2B5EF4-FFF2-40B4-BE49-F238E27FC236}">
                <a16:creationId xmlns:a16="http://schemas.microsoft.com/office/drawing/2014/main" id="{768C1C8C-E342-4C5D-9010-D36DD93563B0}"/>
              </a:ext>
            </a:extLst>
          </p:cNvPr>
          <p:cNvSpPr txBox="1"/>
          <p:nvPr/>
        </p:nvSpPr>
        <p:spPr>
          <a:xfrm>
            <a:off x="326173" y="313488"/>
            <a:ext cx="6094140" cy="369332"/>
          </a:xfrm>
          <a:prstGeom prst="rect">
            <a:avLst/>
          </a:prstGeom>
          <a:noFill/>
        </p:spPr>
        <p:txBody>
          <a:bodyPr wrap="square">
            <a:spAutoFit/>
          </a:bodyPr>
          <a:lstStyle/>
          <a:p>
            <a:r>
              <a:rPr lang="en-US" dirty="0">
                <a:solidFill>
                  <a:srgbClr val="0000FF"/>
                </a:solidFill>
              </a:rPr>
              <a:t>What’s the Difference Between a BOP and General Liability?</a:t>
            </a:r>
          </a:p>
        </p:txBody>
      </p:sp>
    </p:spTree>
    <p:extLst>
      <p:ext uri="{BB962C8B-B14F-4D97-AF65-F5344CB8AC3E}">
        <p14:creationId xmlns:p14="http://schemas.microsoft.com/office/powerpoint/2010/main" val="2827069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D6048D-D2B7-4F51-B816-44AF3009520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TextBox 2">
            <a:extLst>
              <a:ext uri="{FF2B5EF4-FFF2-40B4-BE49-F238E27FC236}">
                <a16:creationId xmlns:a16="http://schemas.microsoft.com/office/drawing/2014/main" id="{EBF4638B-3738-407A-AF1D-FB22FDB660F5}"/>
              </a:ext>
            </a:extLst>
          </p:cNvPr>
          <p:cNvSpPr txBox="1"/>
          <p:nvPr/>
        </p:nvSpPr>
        <p:spPr>
          <a:xfrm>
            <a:off x="428625" y="431991"/>
            <a:ext cx="6096000" cy="461665"/>
          </a:xfrm>
          <a:prstGeom prst="rect">
            <a:avLst/>
          </a:prstGeom>
          <a:noFill/>
        </p:spPr>
        <p:txBody>
          <a:bodyPr wrap="square">
            <a:spAutoFit/>
          </a:bodyPr>
          <a:lstStyle/>
          <a:p>
            <a:pPr algn="l" fontAlgn="b"/>
            <a:r>
              <a:rPr lang="en-IN" sz="2400" b="1" i="0" u="none" strike="noStrike" dirty="0">
                <a:solidFill>
                  <a:srgbClr val="000000"/>
                </a:solidFill>
                <a:effectLst/>
                <a:latin typeface="Calibri" panose="020F0502020204030204" pitchFamily="34" charset="0"/>
              </a:rPr>
              <a:t>Conclusion</a:t>
            </a:r>
          </a:p>
        </p:txBody>
      </p:sp>
      <p:sp>
        <p:nvSpPr>
          <p:cNvPr id="5" name="TextBox 4">
            <a:extLst>
              <a:ext uri="{FF2B5EF4-FFF2-40B4-BE49-F238E27FC236}">
                <a16:creationId xmlns:a16="http://schemas.microsoft.com/office/drawing/2014/main" id="{38F9A8AE-B30C-4173-99A0-E5C72388C703}"/>
              </a:ext>
            </a:extLst>
          </p:cNvPr>
          <p:cNvSpPr txBox="1"/>
          <p:nvPr/>
        </p:nvSpPr>
        <p:spPr>
          <a:xfrm>
            <a:off x="1665364" y="5969249"/>
            <a:ext cx="3320275" cy="646331"/>
          </a:xfrm>
          <a:prstGeom prst="rect">
            <a:avLst/>
          </a:prstGeom>
          <a:noFill/>
        </p:spPr>
        <p:txBody>
          <a:bodyPr wrap="square">
            <a:spAutoFit/>
          </a:bodyPr>
          <a:lstStyle/>
          <a:p>
            <a:r>
              <a:rPr lang="en-IN" dirty="0">
                <a:hlinkClick r:id="rId6"/>
              </a:rPr>
              <a:t>https://youtu.be/VTxi4crWVD8</a:t>
            </a:r>
            <a:endParaRPr lang="en-IN" dirty="0"/>
          </a:p>
          <a:p>
            <a:endParaRPr lang="en-IN" dirty="0"/>
          </a:p>
        </p:txBody>
      </p:sp>
      <p:pic>
        <p:nvPicPr>
          <p:cNvPr id="6" name="Online Media 5" title="What is a BOP?">
            <a:hlinkClick r:id="" action="ppaction://media"/>
            <a:extLst>
              <a:ext uri="{FF2B5EF4-FFF2-40B4-BE49-F238E27FC236}">
                <a16:creationId xmlns:a16="http://schemas.microsoft.com/office/drawing/2014/main" id="{9DDDF2D6-8D40-454E-835D-9AF55FAC24FD}"/>
              </a:ext>
            </a:extLst>
          </p:cNvPr>
          <p:cNvPicPr>
            <a:picLocks noRot="1" noChangeAspect="1"/>
          </p:cNvPicPr>
          <p:nvPr>
            <a:videoFile r:link="rId1"/>
          </p:nvPr>
        </p:nvPicPr>
        <p:blipFill>
          <a:blip r:embed="rId7"/>
          <a:stretch>
            <a:fillRect/>
          </a:stretch>
        </p:blipFill>
        <p:spPr>
          <a:xfrm>
            <a:off x="428625" y="1435308"/>
            <a:ext cx="5793755" cy="4344370"/>
          </a:xfrm>
          <a:prstGeom prst="rect">
            <a:avLst/>
          </a:prstGeom>
        </p:spPr>
      </p:pic>
      <p:sp>
        <p:nvSpPr>
          <p:cNvPr id="8" name="TextBox 7">
            <a:extLst>
              <a:ext uri="{FF2B5EF4-FFF2-40B4-BE49-F238E27FC236}">
                <a16:creationId xmlns:a16="http://schemas.microsoft.com/office/drawing/2014/main" id="{67176056-5221-4609-B8EC-228011C8E3D9}"/>
              </a:ext>
            </a:extLst>
          </p:cNvPr>
          <p:cNvSpPr txBox="1"/>
          <p:nvPr/>
        </p:nvSpPr>
        <p:spPr>
          <a:xfrm>
            <a:off x="7953607" y="5912602"/>
            <a:ext cx="3477554" cy="646331"/>
          </a:xfrm>
          <a:prstGeom prst="rect">
            <a:avLst/>
          </a:prstGeom>
          <a:noFill/>
        </p:spPr>
        <p:txBody>
          <a:bodyPr wrap="square">
            <a:spAutoFit/>
          </a:bodyPr>
          <a:lstStyle/>
          <a:p>
            <a:r>
              <a:rPr lang="en-IN" dirty="0">
                <a:hlinkClick r:id="rId8"/>
              </a:rPr>
              <a:t>https://youtu.be/dGMFqu8hrkM</a:t>
            </a:r>
            <a:endParaRPr lang="en-IN" dirty="0"/>
          </a:p>
          <a:p>
            <a:endParaRPr lang="en-IN" dirty="0"/>
          </a:p>
        </p:txBody>
      </p:sp>
      <p:pic>
        <p:nvPicPr>
          <p:cNvPr id="9" name="Online Media 8" title="Business Owners Policy Preview">
            <a:hlinkClick r:id="" action="ppaction://media"/>
            <a:extLst>
              <a:ext uri="{FF2B5EF4-FFF2-40B4-BE49-F238E27FC236}">
                <a16:creationId xmlns:a16="http://schemas.microsoft.com/office/drawing/2014/main" id="{45D9941E-17B4-4B78-B964-B9EC560EAEB4}"/>
              </a:ext>
            </a:extLst>
          </p:cNvPr>
          <p:cNvPicPr>
            <a:picLocks noRot="1" noChangeAspect="1"/>
          </p:cNvPicPr>
          <p:nvPr>
            <a:videoFile r:link="rId2"/>
          </p:nvPr>
        </p:nvPicPr>
        <p:blipFill>
          <a:blip r:embed="rId9"/>
          <a:stretch>
            <a:fillRect/>
          </a:stretch>
        </p:blipFill>
        <p:spPr>
          <a:xfrm>
            <a:off x="6524625" y="1435308"/>
            <a:ext cx="5238750" cy="4344370"/>
          </a:xfrm>
          <a:prstGeom prst="rect">
            <a:avLst/>
          </a:prstGeom>
        </p:spPr>
      </p:pic>
    </p:spTree>
    <p:extLst>
      <p:ext uri="{BB962C8B-B14F-4D97-AF65-F5344CB8AC3E}">
        <p14:creationId xmlns:p14="http://schemas.microsoft.com/office/powerpoint/2010/main" val="419883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6"/>
                </p:tgtEl>
              </p:cMediaNode>
            </p:video>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6"/>
                                        </p:tgtEl>
                                      </p:cBhvr>
                                    </p:cmd>
                                  </p:childTnLst>
                                </p:cTn>
                              </p:par>
                            </p:childTnLst>
                          </p:cTn>
                        </p:par>
                      </p:childTnLst>
                    </p:cTn>
                  </p:par>
                </p:childTnLst>
              </p:cTn>
              <p:nextCondLst>
                <p:cond evt="onClick" delay="0">
                  <p:tgtEl>
                    <p:spTgt spid="6"/>
                  </p:tgtEl>
                </p:cond>
              </p:nextCondLst>
            </p:seq>
            <p:video>
              <p:cMediaNode vol="80000">
                <p:cTn id="17" fill="hold" display="0">
                  <p:stCondLst>
                    <p:cond delay="indefinite"/>
                  </p:stCondLst>
                </p:cTn>
                <p:tgtEl>
                  <p:spTgt spid="9"/>
                </p:tgtEl>
              </p:cMediaNode>
            </p:video>
            <p:seq concurrent="1" nextAc="seek">
              <p:cTn id="18" restart="whenNotActive" fill="hold" evtFilter="cancelBubble" nodeType="interactiveSeq">
                <p:stCondLst>
                  <p:cond evt="onClick" delay="0">
                    <p:tgtEl>
                      <p:spTgt spid="9"/>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A9C68CA7C7CB9747850736716ABD16DF" PreviousValue="false"/>
</file>

<file path=customXml/item2.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Learning</SubCategory>
    <Tags xmlns="09339d3a-aaa0-497d-ae73-d8a5832d420d">BOP</Tags>
  </documentManagement>
</p:properties>
</file>

<file path=customXml/itemProps1.xml><?xml version="1.0" encoding="utf-8"?>
<ds:datastoreItem xmlns:ds="http://schemas.openxmlformats.org/officeDocument/2006/customXml" ds:itemID="{BD9373AB-7567-4B00-9DB5-6932B2F27657}"/>
</file>

<file path=customXml/itemProps2.xml><?xml version="1.0" encoding="utf-8"?>
<ds:datastoreItem xmlns:ds="http://schemas.openxmlformats.org/officeDocument/2006/customXml" ds:itemID="{6D9CEFA3-BDB7-4784-9ECB-DE312FDCB32A}"/>
</file>

<file path=customXml/itemProps3.xml><?xml version="1.0" encoding="utf-8"?>
<ds:datastoreItem xmlns:ds="http://schemas.openxmlformats.org/officeDocument/2006/customXml" ds:itemID="{B7D75D47-636A-458F-8183-0A4EC3A62464}"/>
</file>

<file path=customXml/itemProps4.xml><?xml version="1.0" encoding="utf-8"?>
<ds:datastoreItem xmlns:ds="http://schemas.openxmlformats.org/officeDocument/2006/customXml" ds:itemID="{87455C98-4E5F-425B-AF0F-E9C8E274E52F}"/>
</file>

<file path=docProps/app.xml><?xml version="1.0" encoding="utf-8"?>
<Properties xmlns="http://schemas.openxmlformats.org/officeDocument/2006/extended-properties" xmlns:vt="http://schemas.openxmlformats.org/officeDocument/2006/docPropsVTypes">
  <TotalTime>2152</TotalTime>
  <Words>3171</Words>
  <Application>Microsoft Office PowerPoint</Application>
  <PresentationFormat>Widescreen</PresentationFormat>
  <Paragraphs>291</Paragraphs>
  <Slides>25</Slides>
  <Notes>7</Notes>
  <HiddenSlides>0</HiddenSlides>
  <MMClips>6</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Calibri Light</vt:lpstr>
      <vt:lpstr>Courier New</vt:lpstr>
      <vt:lpstr>Inter</vt:lpstr>
      <vt:lpstr>Segoe UI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13</cp:revision>
  <dcterms:created xsi:type="dcterms:W3CDTF">2022-01-12T11:51:49Z</dcterms:created>
  <dcterms:modified xsi:type="dcterms:W3CDTF">2022-01-19T13:59:21Z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
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5.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1164" r:id="rId3"/>
    <p:sldId id="1179" r:id="rId4"/>
    <p:sldId id="1177" r:id="rId5"/>
    <p:sldId id="1200" r:id="rId6"/>
    <p:sldId id="1199" r:id="rId7"/>
    <p:sldId id="1198" r:id="rId8"/>
    <p:sldId id="1183" r:id="rId9"/>
    <p:sldId id="1184" r:id="rId10"/>
    <p:sldId id="1185" r:id="rId11"/>
    <p:sldId id="1181" r:id="rId12"/>
    <p:sldId id="1182" r:id="rId13"/>
    <p:sldId id="1180" r:id="rId14"/>
    <p:sldId id="119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05164-4169-43B9-9A79-508DCB7E53D7}" type="datetimeFigureOut">
              <a:rPr lang="en-IN" smtClean="0"/>
              <a:t>24-01-2022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27428E-6AF1-4888-A364-E29D082022BD}" type="slidenum">
              <a:rPr lang="en-IN" smtClean="0"/>
              <a:t>‹#›</a:t>
            </a:fld>
            <a:endParaRPr lang="en-IN"/>
          </a:p>
        </p:txBody>
      </p:sp>
    </p:spTree>
    <p:extLst>
      <p:ext uri="{BB962C8B-B14F-4D97-AF65-F5344CB8AC3E}">
        <p14:creationId xmlns:p14="http://schemas.microsoft.com/office/powerpoint/2010/main" val="617701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303262-A4D2-4C6B-919F-B6D128F9480B}" type="slidenum">
              <a:rPr lang="en-IN" smtClean="0"/>
              <a:t>2</a:t>
            </a:fld>
            <a:endParaRPr lang="en-IN"/>
          </a:p>
        </p:txBody>
      </p:sp>
    </p:spTree>
    <p:extLst>
      <p:ext uri="{BB962C8B-B14F-4D97-AF65-F5344CB8AC3E}">
        <p14:creationId xmlns:p14="http://schemas.microsoft.com/office/powerpoint/2010/main" val="2013465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527428E-6AF1-4888-A364-E29D082022BD}" type="slidenum">
              <a:rPr lang="en-IN" smtClean="0"/>
              <a:t>3</a:t>
            </a:fld>
            <a:endParaRPr lang="en-IN"/>
          </a:p>
        </p:txBody>
      </p:sp>
    </p:spTree>
    <p:extLst>
      <p:ext uri="{BB962C8B-B14F-4D97-AF65-F5344CB8AC3E}">
        <p14:creationId xmlns:p14="http://schemas.microsoft.com/office/powerpoint/2010/main" val="2954297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Difference between 1st party and liability coverage</a:t>
            </a:r>
          </a:p>
          <a:p>
            <a:r>
              <a:rPr lang="en-US" dirty="0"/>
              <a:t>Buildings (Structure mentioned at the location), completed additions, fixtures (including outdoor fixtures, permanently installed – machinery and equipment, personal property in apartments, personal property owned to maintain/service the building, construction equipment and supplies – within 100 feet of the described premise (if not covered by any other insurance))</a:t>
            </a:r>
          </a:p>
          <a:p>
            <a:endParaRPr lang="en-IN" dirty="0"/>
          </a:p>
        </p:txBody>
      </p:sp>
      <p:sp>
        <p:nvSpPr>
          <p:cNvPr id="4" name="Slide Number Placeholder 3"/>
          <p:cNvSpPr>
            <a:spLocks noGrp="1"/>
          </p:cNvSpPr>
          <p:nvPr>
            <p:ph type="sldNum" sz="quarter" idx="5"/>
          </p:nvPr>
        </p:nvSpPr>
        <p:spPr/>
        <p:txBody>
          <a:bodyPr/>
          <a:lstStyle/>
          <a:p>
            <a:fld id="{3527428E-6AF1-4888-A364-E29D082022BD}" type="slidenum">
              <a:rPr lang="en-IN" smtClean="0"/>
              <a:t>6</a:t>
            </a:fld>
            <a:endParaRPr lang="en-IN"/>
          </a:p>
        </p:txBody>
      </p:sp>
    </p:spTree>
    <p:extLst>
      <p:ext uri="{BB962C8B-B14F-4D97-AF65-F5344CB8AC3E}">
        <p14:creationId xmlns:p14="http://schemas.microsoft.com/office/powerpoint/2010/main" val="1338863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Personal Property (inside the premise or within 100 feet of the premise) – property owned and used for business, other’s property used for your business, property within your contractual liability</a:t>
            </a:r>
          </a:p>
          <a:p>
            <a:endParaRPr lang="en-IN" dirty="0"/>
          </a:p>
        </p:txBody>
      </p:sp>
      <p:sp>
        <p:nvSpPr>
          <p:cNvPr id="4" name="Slide Number Placeholder 3"/>
          <p:cNvSpPr>
            <a:spLocks noGrp="1"/>
          </p:cNvSpPr>
          <p:nvPr>
            <p:ph type="sldNum" sz="quarter" idx="5"/>
          </p:nvPr>
        </p:nvSpPr>
        <p:spPr/>
        <p:txBody>
          <a:bodyPr/>
          <a:lstStyle/>
          <a:p>
            <a:fld id="{3527428E-6AF1-4888-A364-E29D082022BD}" type="slidenum">
              <a:rPr lang="en-IN" smtClean="0"/>
              <a:t>7</a:t>
            </a:fld>
            <a:endParaRPr lang="en-IN"/>
          </a:p>
        </p:txBody>
      </p:sp>
    </p:spTree>
    <p:extLst>
      <p:ext uri="{BB962C8B-B14F-4D97-AF65-F5344CB8AC3E}">
        <p14:creationId xmlns:p14="http://schemas.microsoft.com/office/powerpoint/2010/main" val="3360652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Wingdings" panose="05000000000000000000" pitchFamily="2" charset="2"/>
              <a:buNone/>
            </a:pPr>
            <a:r>
              <a:rPr lang="en-US" sz="1200" b="1" dirty="0">
                <a:latin typeface="Segoe UI Light" panose="020B0502040204020203" pitchFamily="34" charset="0"/>
              </a:rPr>
              <a:t>Additional property coverages </a:t>
            </a:r>
            <a:r>
              <a:rPr lang="en-US" sz="1200" dirty="0">
                <a:latin typeface="Segoe UI Light" panose="020B0502040204020203" pitchFamily="34" charset="0"/>
              </a:rPr>
              <a:t>– Debris removal, preservation of property, fire department service charge, collapse, water damage and other liquids, business income, extended business income, extra expense, pollution cleanup and removal, civil authority, increased cost of construction, glass expenses, electronic data, interruption of computer operations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latin typeface="Segoe UI Light" panose="020B0502040204020203"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Segoe UI Light" panose="020B0502040204020203" pitchFamily="34" charset="0"/>
              </a:rPr>
              <a:t>Automatic seasonal increase in amount of insurance – </a:t>
            </a:r>
            <a:r>
              <a:rPr lang="en-US" sz="1100" dirty="0">
                <a:latin typeface="Segoe UI Light" panose="020B0502040204020203" pitchFamily="34" charset="0"/>
              </a:rPr>
              <a:t>the business personal property limit automatically increases by 25 percent provided the insured carries insurance equal to 100 percent of its average monthly property (for 12 months preceding the loss)</a:t>
            </a:r>
          </a:p>
          <a:p>
            <a:endParaRPr lang="en-US" dirty="0"/>
          </a:p>
          <a:p>
            <a:r>
              <a:rPr lang="en-US" dirty="0"/>
              <a:t>Business income and extra expense included – Coverage is automatically included with a dollar (100% of the personal property insurance limit) or time limit (business income and extra expense for 12 consecutive months after the occurrence)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Segoe UI Light" panose="020B0502040204020203" pitchFamily="34" charset="0"/>
              </a:rPr>
              <a:t>Other property type coverages included or available as options – </a:t>
            </a:r>
            <a:r>
              <a:rPr lang="en-US" sz="1200" dirty="0">
                <a:latin typeface="Segoe UI Light" panose="020B0502040204020203" pitchFamily="34" charset="0"/>
              </a:rPr>
              <a:t>Employee dishonesty, money and securities, forgery, interior/exterior glass, outdoor signs, mechanical breakdown, computer coverage, accounts receivable, valuable papers and records</a:t>
            </a:r>
          </a:p>
          <a:p>
            <a:endParaRPr lang="en-US" dirty="0"/>
          </a:p>
          <a:p>
            <a:endParaRPr lang="en-IN" dirty="0"/>
          </a:p>
        </p:txBody>
      </p:sp>
      <p:sp>
        <p:nvSpPr>
          <p:cNvPr id="4" name="Slide Number Placeholder 3"/>
          <p:cNvSpPr>
            <a:spLocks noGrp="1"/>
          </p:cNvSpPr>
          <p:nvPr>
            <p:ph type="sldNum" sz="quarter" idx="5"/>
          </p:nvPr>
        </p:nvSpPr>
        <p:spPr/>
        <p:txBody>
          <a:bodyPr/>
          <a:lstStyle/>
          <a:p>
            <a:fld id="{3527428E-6AF1-4888-A364-E29D082022BD}" type="slidenum">
              <a:rPr lang="en-IN" smtClean="0"/>
              <a:t>8</a:t>
            </a:fld>
            <a:endParaRPr lang="en-IN"/>
          </a:p>
        </p:txBody>
      </p:sp>
    </p:spTree>
    <p:extLst>
      <p:ext uri="{BB962C8B-B14F-4D97-AF65-F5344CB8AC3E}">
        <p14:creationId xmlns:p14="http://schemas.microsoft.com/office/powerpoint/2010/main" val="3909208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E8C9-B489-4E19-9A3E-1698B5F4F6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53BDACF-29B6-4918-B171-944D866235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8B1309E-6CC5-4DEF-A1DF-5822081CFAFC}"/>
              </a:ext>
            </a:extLst>
          </p:cNvPr>
          <p:cNvSpPr>
            <a:spLocks noGrp="1"/>
          </p:cNvSpPr>
          <p:nvPr>
            <p:ph type="dt" sz="half" idx="10"/>
          </p:nvPr>
        </p:nvSpPr>
        <p:spPr/>
        <p:txBody>
          <a:bodyPr/>
          <a:lstStyle/>
          <a:p>
            <a:fld id="{21169A4E-9042-4079-8947-8EFC2F9CDEF9}" type="datetimeFigureOut">
              <a:rPr lang="en-IN" smtClean="0"/>
              <a:t>24-01-2022</a:t>
            </a:fld>
            <a:endParaRPr lang="en-IN"/>
          </a:p>
        </p:txBody>
      </p:sp>
      <p:sp>
        <p:nvSpPr>
          <p:cNvPr id="5" name="Footer Placeholder 4">
            <a:extLst>
              <a:ext uri="{FF2B5EF4-FFF2-40B4-BE49-F238E27FC236}">
                <a16:creationId xmlns:a16="http://schemas.microsoft.com/office/drawing/2014/main" id="{CFFD30D1-7FE8-4A42-87F4-C84B7F969B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BEBF63-E242-4D57-A896-7AF2AB476265}"/>
              </a:ext>
            </a:extLst>
          </p:cNvPr>
          <p:cNvSpPr>
            <a:spLocks noGrp="1"/>
          </p:cNvSpPr>
          <p:nvPr>
            <p:ph type="sldNum" sz="quarter" idx="12"/>
          </p:nvPr>
        </p:nvSpPr>
        <p:spPr/>
        <p:txBody>
          <a:bodyPr/>
          <a:lstStyle/>
          <a:p>
            <a:fld id="{7971149F-0E32-42BC-9830-67353D222FB8}" type="slidenum">
              <a:rPr lang="en-IN" smtClean="0"/>
              <a:t>‹#›</a:t>
            </a:fld>
            <a:endParaRPr lang="en-IN"/>
          </a:p>
        </p:txBody>
      </p:sp>
    </p:spTree>
    <p:extLst>
      <p:ext uri="{BB962C8B-B14F-4D97-AF65-F5344CB8AC3E}">
        <p14:creationId xmlns:p14="http://schemas.microsoft.com/office/powerpoint/2010/main" val="2111383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9EAAE-7D61-4B9F-8498-63BBB80909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D9A08D-8F52-4ACA-AFD9-7B1AB236F0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DBB05D-049F-4597-8A68-3E3D113D83DC}"/>
              </a:ext>
            </a:extLst>
          </p:cNvPr>
          <p:cNvSpPr>
            <a:spLocks noGrp="1"/>
          </p:cNvSpPr>
          <p:nvPr>
            <p:ph type="dt" sz="half" idx="10"/>
          </p:nvPr>
        </p:nvSpPr>
        <p:spPr/>
        <p:txBody>
          <a:bodyPr/>
          <a:lstStyle/>
          <a:p>
            <a:fld id="{21169A4E-9042-4079-8947-8EFC2F9CDEF9}" type="datetimeFigureOut">
              <a:rPr lang="en-IN" smtClean="0"/>
              <a:t>24-01-2022</a:t>
            </a:fld>
            <a:endParaRPr lang="en-IN"/>
          </a:p>
        </p:txBody>
      </p:sp>
      <p:sp>
        <p:nvSpPr>
          <p:cNvPr id="5" name="Footer Placeholder 4">
            <a:extLst>
              <a:ext uri="{FF2B5EF4-FFF2-40B4-BE49-F238E27FC236}">
                <a16:creationId xmlns:a16="http://schemas.microsoft.com/office/drawing/2014/main" id="{FE84C804-F4CB-4081-B619-130EC19F49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599660-C835-455B-B3E3-6C3E9C81DDE8}"/>
              </a:ext>
            </a:extLst>
          </p:cNvPr>
          <p:cNvSpPr>
            <a:spLocks noGrp="1"/>
          </p:cNvSpPr>
          <p:nvPr>
            <p:ph type="sldNum" sz="quarter" idx="12"/>
          </p:nvPr>
        </p:nvSpPr>
        <p:spPr/>
        <p:txBody>
          <a:bodyPr/>
          <a:lstStyle/>
          <a:p>
            <a:fld id="{7971149F-0E32-42BC-9830-67353D222FB8}" type="slidenum">
              <a:rPr lang="en-IN" smtClean="0"/>
              <a:t>‹#›</a:t>
            </a:fld>
            <a:endParaRPr lang="en-IN"/>
          </a:p>
        </p:txBody>
      </p:sp>
    </p:spTree>
    <p:extLst>
      <p:ext uri="{BB962C8B-B14F-4D97-AF65-F5344CB8AC3E}">
        <p14:creationId xmlns:p14="http://schemas.microsoft.com/office/powerpoint/2010/main" val="1805760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34E2-3D96-4595-8375-CA668FEC18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6F30A58-17DF-4891-9B7D-6BEE2A4103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4DEB1A-7437-468F-A549-AD1653EA4B68}"/>
              </a:ext>
            </a:extLst>
          </p:cNvPr>
          <p:cNvSpPr>
            <a:spLocks noGrp="1"/>
          </p:cNvSpPr>
          <p:nvPr>
            <p:ph type="dt" sz="half" idx="10"/>
          </p:nvPr>
        </p:nvSpPr>
        <p:spPr/>
        <p:txBody>
          <a:bodyPr/>
          <a:lstStyle/>
          <a:p>
            <a:fld id="{21169A4E-9042-4079-8947-8EFC2F9CDEF9}" type="datetimeFigureOut">
              <a:rPr lang="en-IN" smtClean="0"/>
              <a:t>24-01-2022</a:t>
            </a:fld>
            <a:endParaRPr lang="en-IN"/>
          </a:p>
        </p:txBody>
      </p:sp>
      <p:sp>
        <p:nvSpPr>
          <p:cNvPr id="5" name="Footer Placeholder 4">
            <a:extLst>
              <a:ext uri="{FF2B5EF4-FFF2-40B4-BE49-F238E27FC236}">
                <a16:creationId xmlns:a16="http://schemas.microsoft.com/office/drawing/2014/main" id="{CBCA519D-F7E8-489A-9B1B-A80044CC6C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598678-43E3-479A-B7C9-488E03A55293}"/>
              </a:ext>
            </a:extLst>
          </p:cNvPr>
          <p:cNvSpPr>
            <a:spLocks noGrp="1"/>
          </p:cNvSpPr>
          <p:nvPr>
            <p:ph type="sldNum" sz="quarter" idx="12"/>
          </p:nvPr>
        </p:nvSpPr>
        <p:spPr/>
        <p:txBody>
          <a:bodyPr/>
          <a:lstStyle/>
          <a:p>
            <a:fld id="{7971149F-0E32-42BC-9830-67353D222FB8}" type="slidenum">
              <a:rPr lang="en-IN" smtClean="0"/>
              <a:t>‹#›</a:t>
            </a:fld>
            <a:endParaRPr lang="en-IN"/>
          </a:p>
        </p:txBody>
      </p:sp>
    </p:spTree>
    <p:extLst>
      <p:ext uri="{BB962C8B-B14F-4D97-AF65-F5344CB8AC3E}">
        <p14:creationId xmlns:p14="http://schemas.microsoft.com/office/powerpoint/2010/main" val="502796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6821B-169C-4E0B-A5D6-C4DB23F480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70C2D92-06E2-4101-B9F1-DC3390BE5E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11962C8-51DB-4652-8053-1D79610C49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60A4E42-A42C-4174-8225-82906FA8FCAD}"/>
              </a:ext>
            </a:extLst>
          </p:cNvPr>
          <p:cNvSpPr>
            <a:spLocks noGrp="1"/>
          </p:cNvSpPr>
          <p:nvPr>
            <p:ph type="dt" sz="half" idx="10"/>
          </p:nvPr>
        </p:nvSpPr>
        <p:spPr/>
        <p:txBody>
          <a:bodyPr/>
          <a:lstStyle/>
          <a:p>
            <a:fld id="{21169A4E-9042-4079-8947-8EFC2F9CDEF9}" type="datetimeFigureOut">
              <a:rPr lang="en-IN" smtClean="0"/>
              <a:t>24-01-2022</a:t>
            </a:fld>
            <a:endParaRPr lang="en-IN"/>
          </a:p>
        </p:txBody>
      </p:sp>
      <p:sp>
        <p:nvSpPr>
          <p:cNvPr id="6" name="Footer Placeholder 5">
            <a:extLst>
              <a:ext uri="{FF2B5EF4-FFF2-40B4-BE49-F238E27FC236}">
                <a16:creationId xmlns:a16="http://schemas.microsoft.com/office/drawing/2014/main" id="{0D3698BB-96F1-4851-A163-A59995E68C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ED0F83-06D6-4834-9622-7991E9F31A6E}"/>
              </a:ext>
            </a:extLst>
          </p:cNvPr>
          <p:cNvSpPr>
            <a:spLocks noGrp="1"/>
          </p:cNvSpPr>
          <p:nvPr>
            <p:ph type="sldNum" sz="quarter" idx="12"/>
          </p:nvPr>
        </p:nvSpPr>
        <p:spPr/>
        <p:txBody>
          <a:bodyPr/>
          <a:lstStyle/>
          <a:p>
            <a:fld id="{7971149F-0E32-42BC-9830-67353D222FB8}" type="slidenum">
              <a:rPr lang="en-IN" smtClean="0"/>
              <a:t>‹#›</a:t>
            </a:fld>
            <a:endParaRPr lang="en-IN"/>
          </a:p>
        </p:txBody>
      </p:sp>
    </p:spTree>
    <p:extLst>
      <p:ext uri="{BB962C8B-B14F-4D97-AF65-F5344CB8AC3E}">
        <p14:creationId xmlns:p14="http://schemas.microsoft.com/office/powerpoint/2010/main" val="3622976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39899-8AA4-4B6A-8C48-B17EE21A35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1F7C5C-9407-447A-8DC1-0971DF3A7D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EF33E-4C7B-439E-A37F-612A8F4367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E870DF7-147E-4295-ABDF-BCB14A0406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58517E-83F8-4D3C-AC8B-E6B06E5522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72E23BD-E92A-4E02-A964-24B26FE5410F}"/>
              </a:ext>
            </a:extLst>
          </p:cNvPr>
          <p:cNvSpPr>
            <a:spLocks noGrp="1"/>
          </p:cNvSpPr>
          <p:nvPr>
            <p:ph type="dt" sz="half" idx="10"/>
          </p:nvPr>
        </p:nvSpPr>
        <p:spPr/>
        <p:txBody>
          <a:bodyPr/>
          <a:lstStyle/>
          <a:p>
            <a:fld id="{21169A4E-9042-4079-8947-8EFC2F9CDEF9}" type="datetimeFigureOut">
              <a:rPr lang="en-IN" smtClean="0"/>
              <a:t>24-01-2022</a:t>
            </a:fld>
            <a:endParaRPr lang="en-IN"/>
          </a:p>
        </p:txBody>
      </p:sp>
      <p:sp>
        <p:nvSpPr>
          <p:cNvPr id="8" name="Footer Placeholder 7">
            <a:extLst>
              <a:ext uri="{FF2B5EF4-FFF2-40B4-BE49-F238E27FC236}">
                <a16:creationId xmlns:a16="http://schemas.microsoft.com/office/drawing/2014/main" id="{147610F7-30E9-43A0-80F5-4E8774636AD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699D5B2-3A5C-47E5-9319-A2C2C800FC89}"/>
              </a:ext>
            </a:extLst>
          </p:cNvPr>
          <p:cNvSpPr>
            <a:spLocks noGrp="1"/>
          </p:cNvSpPr>
          <p:nvPr>
            <p:ph type="sldNum" sz="quarter" idx="12"/>
          </p:nvPr>
        </p:nvSpPr>
        <p:spPr/>
        <p:txBody>
          <a:bodyPr/>
          <a:lstStyle/>
          <a:p>
            <a:fld id="{7971149F-0E32-42BC-9830-67353D222FB8}" type="slidenum">
              <a:rPr lang="en-IN" smtClean="0"/>
              <a:t>‹#›</a:t>
            </a:fld>
            <a:endParaRPr lang="en-IN"/>
          </a:p>
        </p:txBody>
      </p:sp>
    </p:spTree>
    <p:extLst>
      <p:ext uri="{BB962C8B-B14F-4D97-AF65-F5344CB8AC3E}">
        <p14:creationId xmlns:p14="http://schemas.microsoft.com/office/powerpoint/2010/main" val="2643135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82B61-7904-4230-9562-2A40ED16CF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39DC894-7EC5-4404-8E5F-17C8B7160F2F}"/>
              </a:ext>
            </a:extLst>
          </p:cNvPr>
          <p:cNvSpPr>
            <a:spLocks noGrp="1"/>
          </p:cNvSpPr>
          <p:nvPr>
            <p:ph type="dt" sz="half" idx="10"/>
          </p:nvPr>
        </p:nvSpPr>
        <p:spPr/>
        <p:txBody>
          <a:bodyPr/>
          <a:lstStyle/>
          <a:p>
            <a:fld id="{21169A4E-9042-4079-8947-8EFC2F9CDEF9}" type="datetimeFigureOut">
              <a:rPr lang="en-IN" smtClean="0"/>
              <a:t>24-01-2022</a:t>
            </a:fld>
            <a:endParaRPr lang="en-IN"/>
          </a:p>
        </p:txBody>
      </p:sp>
      <p:sp>
        <p:nvSpPr>
          <p:cNvPr id="4" name="Footer Placeholder 3">
            <a:extLst>
              <a:ext uri="{FF2B5EF4-FFF2-40B4-BE49-F238E27FC236}">
                <a16:creationId xmlns:a16="http://schemas.microsoft.com/office/drawing/2014/main" id="{A9B0561C-062A-4DFB-9BC4-1B0DA303B90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079CC2E-5CBF-40A7-A30A-738963790FA8}"/>
              </a:ext>
            </a:extLst>
          </p:cNvPr>
          <p:cNvSpPr>
            <a:spLocks noGrp="1"/>
          </p:cNvSpPr>
          <p:nvPr>
            <p:ph type="sldNum" sz="quarter" idx="12"/>
          </p:nvPr>
        </p:nvSpPr>
        <p:spPr/>
        <p:txBody>
          <a:bodyPr/>
          <a:lstStyle/>
          <a:p>
            <a:fld id="{7971149F-0E32-42BC-9830-67353D222FB8}" type="slidenum">
              <a:rPr lang="en-IN" smtClean="0"/>
              <a:t>‹#›</a:t>
            </a:fld>
            <a:endParaRPr lang="en-IN"/>
          </a:p>
        </p:txBody>
      </p:sp>
    </p:spTree>
    <p:extLst>
      <p:ext uri="{BB962C8B-B14F-4D97-AF65-F5344CB8AC3E}">
        <p14:creationId xmlns:p14="http://schemas.microsoft.com/office/powerpoint/2010/main" val="3368305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3B3A33-E7B6-4EDE-B7F6-D91AF2BF19B0}"/>
              </a:ext>
            </a:extLst>
          </p:cNvPr>
          <p:cNvSpPr>
            <a:spLocks noGrp="1"/>
          </p:cNvSpPr>
          <p:nvPr>
            <p:ph type="dt" sz="half" idx="10"/>
          </p:nvPr>
        </p:nvSpPr>
        <p:spPr/>
        <p:txBody>
          <a:bodyPr/>
          <a:lstStyle/>
          <a:p>
            <a:fld id="{21169A4E-9042-4079-8947-8EFC2F9CDEF9}" type="datetimeFigureOut">
              <a:rPr lang="en-IN" smtClean="0"/>
              <a:t>24-01-2022</a:t>
            </a:fld>
            <a:endParaRPr lang="en-IN"/>
          </a:p>
        </p:txBody>
      </p:sp>
      <p:sp>
        <p:nvSpPr>
          <p:cNvPr id="3" name="Footer Placeholder 2">
            <a:extLst>
              <a:ext uri="{FF2B5EF4-FFF2-40B4-BE49-F238E27FC236}">
                <a16:creationId xmlns:a16="http://schemas.microsoft.com/office/drawing/2014/main" id="{EA18B24D-908A-44BE-B3DC-4AD28F8CE7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9C97248-D47C-47D0-AA22-BB8F60558800}"/>
              </a:ext>
            </a:extLst>
          </p:cNvPr>
          <p:cNvSpPr>
            <a:spLocks noGrp="1"/>
          </p:cNvSpPr>
          <p:nvPr>
            <p:ph type="sldNum" sz="quarter" idx="12"/>
          </p:nvPr>
        </p:nvSpPr>
        <p:spPr/>
        <p:txBody>
          <a:bodyPr/>
          <a:lstStyle/>
          <a:p>
            <a:fld id="{7971149F-0E32-42BC-9830-67353D222FB8}" type="slidenum">
              <a:rPr lang="en-IN" smtClean="0"/>
              <a:t>‹#›</a:t>
            </a:fld>
            <a:endParaRPr lang="en-IN"/>
          </a:p>
        </p:txBody>
      </p:sp>
    </p:spTree>
    <p:extLst>
      <p:ext uri="{BB962C8B-B14F-4D97-AF65-F5344CB8AC3E}">
        <p14:creationId xmlns:p14="http://schemas.microsoft.com/office/powerpoint/2010/main" val="4048481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0C8C0-8654-4FC5-8132-50ABB57AA8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4EC82C0-F899-443F-B325-A688E1D473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636029-EAE6-4A3A-B7E9-399173B5C7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63CC2C-3827-4EF8-8F6B-956FE815F633}"/>
              </a:ext>
            </a:extLst>
          </p:cNvPr>
          <p:cNvSpPr>
            <a:spLocks noGrp="1"/>
          </p:cNvSpPr>
          <p:nvPr>
            <p:ph type="dt" sz="half" idx="10"/>
          </p:nvPr>
        </p:nvSpPr>
        <p:spPr/>
        <p:txBody>
          <a:bodyPr/>
          <a:lstStyle/>
          <a:p>
            <a:fld id="{21169A4E-9042-4079-8947-8EFC2F9CDEF9}" type="datetimeFigureOut">
              <a:rPr lang="en-IN" smtClean="0"/>
              <a:t>24-01-2022</a:t>
            </a:fld>
            <a:endParaRPr lang="en-IN"/>
          </a:p>
        </p:txBody>
      </p:sp>
      <p:sp>
        <p:nvSpPr>
          <p:cNvPr id="6" name="Footer Placeholder 5">
            <a:extLst>
              <a:ext uri="{FF2B5EF4-FFF2-40B4-BE49-F238E27FC236}">
                <a16:creationId xmlns:a16="http://schemas.microsoft.com/office/drawing/2014/main" id="{D8E362D1-9CA8-42D8-8FFE-87F14CD213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76E46D-CF8B-4637-85CD-291FFE321C36}"/>
              </a:ext>
            </a:extLst>
          </p:cNvPr>
          <p:cNvSpPr>
            <a:spLocks noGrp="1"/>
          </p:cNvSpPr>
          <p:nvPr>
            <p:ph type="sldNum" sz="quarter" idx="12"/>
          </p:nvPr>
        </p:nvSpPr>
        <p:spPr/>
        <p:txBody>
          <a:bodyPr/>
          <a:lstStyle/>
          <a:p>
            <a:fld id="{7971149F-0E32-42BC-9830-67353D222FB8}" type="slidenum">
              <a:rPr lang="en-IN" smtClean="0"/>
              <a:t>‹#›</a:t>
            </a:fld>
            <a:endParaRPr lang="en-IN"/>
          </a:p>
        </p:txBody>
      </p:sp>
    </p:spTree>
    <p:extLst>
      <p:ext uri="{BB962C8B-B14F-4D97-AF65-F5344CB8AC3E}">
        <p14:creationId xmlns:p14="http://schemas.microsoft.com/office/powerpoint/2010/main" val="3637491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42C76-84E4-4FE6-B7B6-0DF0F4DC1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01ED587-23C3-49BC-8A81-59B3239A73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9184DA2-04AB-4603-9154-F9B822BD84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C68339-0C0C-4BA0-A41D-EED4C93359B8}"/>
              </a:ext>
            </a:extLst>
          </p:cNvPr>
          <p:cNvSpPr>
            <a:spLocks noGrp="1"/>
          </p:cNvSpPr>
          <p:nvPr>
            <p:ph type="dt" sz="half" idx="10"/>
          </p:nvPr>
        </p:nvSpPr>
        <p:spPr/>
        <p:txBody>
          <a:bodyPr/>
          <a:lstStyle/>
          <a:p>
            <a:fld id="{21169A4E-9042-4079-8947-8EFC2F9CDEF9}" type="datetimeFigureOut">
              <a:rPr lang="en-IN" smtClean="0"/>
              <a:t>24-01-2022</a:t>
            </a:fld>
            <a:endParaRPr lang="en-IN"/>
          </a:p>
        </p:txBody>
      </p:sp>
      <p:sp>
        <p:nvSpPr>
          <p:cNvPr id="6" name="Footer Placeholder 5">
            <a:extLst>
              <a:ext uri="{FF2B5EF4-FFF2-40B4-BE49-F238E27FC236}">
                <a16:creationId xmlns:a16="http://schemas.microsoft.com/office/drawing/2014/main" id="{F47D99C8-EC2A-4CB8-A0CD-E9C6132B05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7709B4-87B0-40A0-BA9B-74C40C785F4F}"/>
              </a:ext>
            </a:extLst>
          </p:cNvPr>
          <p:cNvSpPr>
            <a:spLocks noGrp="1"/>
          </p:cNvSpPr>
          <p:nvPr>
            <p:ph type="sldNum" sz="quarter" idx="12"/>
          </p:nvPr>
        </p:nvSpPr>
        <p:spPr/>
        <p:txBody>
          <a:bodyPr/>
          <a:lstStyle/>
          <a:p>
            <a:fld id="{7971149F-0E32-42BC-9830-67353D222FB8}" type="slidenum">
              <a:rPr lang="en-IN" smtClean="0"/>
              <a:t>‹#›</a:t>
            </a:fld>
            <a:endParaRPr lang="en-IN"/>
          </a:p>
        </p:txBody>
      </p:sp>
    </p:spTree>
    <p:extLst>
      <p:ext uri="{BB962C8B-B14F-4D97-AF65-F5344CB8AC3E}">
        <p14:creationId xmlns:p14="http://schemas.microsoft.com/office/powerpoint/2010/main" val="3857030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E51CE-C138-4E10-9E8B-F35B330AF7D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674170-F205-4C52-8BE0-790A963E4D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D42371-D8CC-4C83-A896-43D8CD1800B7}"/>
              </a:ext>
            </a:extLst>
          </p:cNvPr>
          <p:cNvSpPr>
            <a:spLocks noGrp="1"/>
          </p:cNvSpPr>
          <p:nvPr>
            <p:ph type="dt" sz="half" idx="10"/>
          </p:nvPr>
        </p:nvSpPr>
        <p:spPr/>
        <p:txBody>
          <a:bodyPr/>
          <a:lstStyle/>
          <a:p>
            <a:fld id="{21169A4E-9042-4079-8947-8EFC2F9CDEF9}" type="datetimeFigureOut">
              <a:rPr lang="en-IN" smtClean="0"/>
              <a:t>24-01-2022</a:t>
            </a:fld>
            <a:endParaRPr lang="en-IN"/>
          </a:p>
        </p:txBody>
      </p:sp>
      <p:sp>
        <p:nvSpPr>
          <p:cNvPr id="5" name="Footer Placeholder 4">
            <a:extLst>
              <a:ext uri="{FF2B5EF4-FFF2-40B4-BE49-F238E27FC236}">
                <a16:creationId xmlns:a16="http://schemas.microsoft.com/office/drawing/2014/main" id="{77389E51-73EC-48B3-B107-016B3C4FC5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07F239-E259-41E9-BB7D-AFAD38D195C3}"/>
              </a:ext>
            </a:extLst>
          </p:cNvPr>
          <p:cNvSpPr>
            <a:spLocks noGrp="1"/>
          </p:cNvSpPr>
          <p:nvPr>
            <p:ph type="sldNum" sz="quarter" idx="12"/>
          </p:nvPr>
        </p:nvSpPr>
        <p:spPr/>
        <p:txBody>
          <a:bodyPr/>
          <a:lstStyle/>
          <a:p>
            <a:fld id="{7971149F-0E32-42BC-9830-67353D222FB8}" type="slidenum">
              <a:rPr lang="en-IN" smtClean="0"/>
              <a:t>‹#›</a:t>
            </a:fld>
            <a:endParaRPr lang="en-IN"/>
          </a:p>
        </p:txBody>
      </p:sp>
    </p:spTree>
    <p:extLst>
      <p:ext uri="{BB962C8B-B14F-4D97-AF65-F5344CB8AC3E}">
        <p14:creationId xmlns:p14="http://schemas.microsoft.com/office/powerpoint/2010/main" val="3308867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B204C4-F1E1-4885-AA15-BBF07F8BB26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65AD93-A37D-4516-8214-230CBADA62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2714D0-0163-4669-9C71-FDB074F3BEB3}"/>
              </a:ext>
            </a:extLst>
          </p:cNvPr>
          <p:cNvSpPr>
            <a:spLocks noGrp="1"/>
          </p:cNvSpPr>
          <p:nvPr>
            <p:ph type="dt" sz="half" idx="10"/>
          </p:nvPr>
        </p:nvSpPr>
        <p:spPr/>
        <p:txBody>
          <a:bodyPr/>
          <a:lstStyle/>
          <a:p>
            <a:fld id="{21169A4E-9042-4079-8947-8EFC2F9CDEF9}" type="datetimeFigureOut">
              <a:rPr lang="en-IN" smtClean="0"/>
              <a:t>24-01-2022</a:t>
            </a:fld>
            <a:endParaRPr lang="en-IN"/>
          </a:p>
        </p:txBody>
      </p:sp>
      <p:sp>
        <p:nvSpPr>
          <p:cNvPr id="5" name="Footer Placeholder 4">
            <a:extLst>
              <a:ext uri="{FF2B5EF4-FFF2-40B4-BE49-F238E27FC236}">
                <a16:creationId xmlns:a16="http://schemas.microsoft.com/office/drawing/2014/main" id="{177BE1CD-A537-4564-83DC-674B6E582A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F9E541-1CD8-43C3-B46F-E9979E43D057}"/>
              </a:ext>
            </a:extLst>
          </p:cNvPr>
          <p:cNvSpPr>
            <a:spLocks noGrp="1"/>
          </p:cNvSpPr>
          <p:nvPr>
            <p:ph type="sldNum" sz="quarter" idx="12"/>
          </p:nvPr>
        </p:nvSpPr>
        <p:spPr/>
        <p:txBody>
          <a:bodyPr/>
          <a:lstStyle/>
          <a:p>
            <a:fld id="{7971149F-0E32-42BC-9830-67353D222FB8}" type="slidenum">
              <a:rPr lang="en-IN" smtClean="0"/>
              <a:t>‹#›</a:t>
            </a:fld>
            <a:endParaRPr lang="en-IN"/>
          </a:p>
        </p:txBody>
      </p:sp>
    </p:spTree>
    <p:extLst>
      <p:ext uri="{BB962C8B-B14F-4D97-AF65-F5344CB8AC3E}">
        <p14:creationId xmlns:p14="http://schemas.microsoft.com/office/powerpoint/2010/main" val="3118078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9332"/>
          </a:xfrm>
          <a:prstGeom prst="rect">
            <a:avLst/>
          </a:prstGeom>
          <a:noFill/>
        </p:spPr>
        <p:txBody>
          <a:bodyPr wrap="square" rtlCol="0">
            <a:spAutoFit/>
          </a:bodyPr>
          <a:lstStyle/>
          <a:p>
            <a:fld id="{65B66DB6-D71E-4B3E-9AE0-4919FDE04E8D}" type="slidenum">
              <a:rPr lang="en-US" smtClean="0">
                <a:solidFill>
                  <a:schemeClr val="tx1"/>
                </a:solidFill>
              </a:rPr>
              <a:t>‹#›</a:t>
            </a:fld>
            <a:endParaRPr lang="en-US" dirty="0">
              <a:solidFill>
                <a:schemeClr val="tx1"/>
              </a:solidFill>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36297" y="195809"/>
            <a:ext cx="1297157" cy="843001"/>
          </a:xfrm>
          <a:prstGeom prst="rect">
            <a:avLst/>
          </a:prstGeom>
        </p:spPr>
      </p:pic>
    </p:spTree>
    <p:extLst>
      <p:ext uri="{BB962C8B-B14F-4D97-AF65-F5344CB8AC3E}">
        <p14:creationId xmlns:p14="http://schemas.microsoft.com/office/powerpoint/2010/main" val="117377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E16A40-B613-4637-B29D-7D2CACCB3B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4C6BDA-A148-4290-9035-DB3B0CB2F6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EC3FAD-EAE5-40E8-9FB4-8AB8AA0FE6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169A4E-9042-4079-8947-8EFC2F9CDEF9}" type="datetimeFigureOut">
              <a:rPr lang="en-IN" smtClean="0"/>
              <a:t>24-01-2022</a:t>
            </a:fld>
            <a:endParaRPr lang="en-IN"/>
          </a:p>
        </p:txBody>
      </p:sp>
      <p:sp>
        <p:nvSpPr>
          <p:cNvPr id="5" name="Footer Placeholder 4">
            <a:extLst>
              <a:ext uri="{FF2B5EF4-FFF2-40B4-BE49-F238E27FC236}">
                <a16:creationId xmlns:a16="http://schemas.microsoft.com/office/drawing/2014/main" id="{C7E8CA70-1B1D-451B-BEFD-EBE80068F3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64ADF8C-5DD5-4263-9C62-036F0BA33D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71149F-0E32-42BC-9830-67353D222FB8}" type="slidenum">
              <a:rPr lang="en-IN" smtClean="0"/>
              <a:t>‹#›</a:t>
            </a:fld>
            <a:endParaRPr lang="en-IN"/>
          </a:p>
        </p:txBody>
      </p:sp>
    </p:spTree>
    <p:extLst>
      <p:ext uri="{BB962C8B-B14F-4D97-AF65-F5344CB8AC3E}">
        <p14:creationId xmlns:p14="http://schemas.microsoft.com/office/powerpoint/2010/main" val="2438535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1DB6C-1263-48DC-91EA-785257F9F01B}"/>
              </a:ext>
            </a:extLst>
          </p:cNvPr>
          <p:cNvSpPr>
            <a:spLocks noGrp="1"/>
          </p:cNvSpPr>
          <p:nvPr>
            <p:ph type="ctrTitle"/>
          </p:nvPr>
        </p:nvSpPr>
        <p:spPr/>
        <p:txBody>
          <a:bodyPr/>
          <a:lstStyle/>
          <a:p>
            <a:r>
              <a:rPr lang="en-US" dirty="0">
                <a:solidFill>
                  <a:srgbClr val="0000FF"/>
                </a:solidFill>
              </a:rPr>
              <a:t>BOP-Day 3</a:t>
            </a:r>
            <a:endParaRPr lang="en-IN" dirty="0">
              <a:solidFill>
                <a:srgbClr val="0000FF"/>
              </a:solidFill>
            </a:endParaRPr>
          </a:p>
        </p:txBody>
      </p:sp>
    </p:spTree>
    <p:extLst>
      <p:ext uri="{BB962C8B-B14F-4D97-AF65-F5344CB8AC3E}">
        <p14:creationId xmlns:p14="http://schemas.microsoft.com/office/powerpoint/2010/main" val="4172540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t="2762" b="12526"/>
          <a:stretch/>
        </p:blipFill>
        <p:spPr>
          <a:xfrm>
            <a:off x="0" y="0"/>
            <a:ext cx="12249003" cy="6917527"/>
          </a:xfrm>
          <a:prstGeom prst="rect">
            <a:avLst/>
          </a:prstGeom>
        </p:spPr>
      </p:pic>
      <p:pic>
        <p:nvPicPr>
          <p:cNvPr id="11" name="Picture 10"/>
          <p:cNvPicPr>
            <a:picLocks noChangeAspect="1"/>
          </p:cNvPicPr>
          <p:nvPr/>
        </p:nvPicPr>
        <p:blipFill>
          <a:blip r:embed="rId4"/>
          <a:stretch>
            <a:fillRect/>
          </a:stretch>
        </p:blipFill>
        <p:spPr>
          <a:xfrm>
            <a:off x="767124" y="6211049"/>
            <a:ext cx="3183064" cy="125317"/>
          </a:xfrm>
          <a:prstGeom prst="rect">
            <a:avLst/>
          </a:prstGeom>
        </p:spPr>
      </p:pic>
      <p:pic>
        <p:nvPicPr>
          <p:cNvPr id="12" name="Picture 11"/>
          <p:cNvPicPr>
            <a:picLocks noChangeAspect="1"/>
          </p:cNvPicPr>
          <p:nvPr/>
        </p:nvPicPr>
        <p:blipFill>
          <a:blip r:embed="rId4">
            <a:alphaModFix amt="43000"/>
          </a:blip>
          <a:stretch>
            <a:fillRect/>
          </a:stretch>
        </p:blipFill>
        <p:spPr>
          <a:xfrm>
            <a:off x="2516288" y="6361430"/>
            <a:ext cx="3183064" cy="125317"/>
          </a:xfrm>
          <a:prstGeom prst="rect">
            <a:avLst/>
          </a:prstGeom>
        </p:spPr>
      </p:pic>
      <p:sp>
        <p:nvSpPr>
          <p:cNvPr id="13" name="Parallelogram 12"/>
          <p:cNvSpPr/>
          <p:nvPr/>
        </p:nvSpPr>
        <p:spPr>
          <a:xfrm>
            <a:off x="4727493" y="-42294"/>
            <a:ext cx="7521509" cy="6956463"/>
          </a:xfrm>
          <a:custGeom>
            <a:avLst/>
            <a:gdLst>
              <a:gd name="connsiteX0" fmla="*/ 0 w 6383423"/>
              <a:gd name="connsiteY0" fmla="*/ 6950074 h 6950074"/>
              <a:gd name="connsiteX1" fmla="*/ 1595856 w 6383423"/>
              <a:gd name="connsiteY1" fmla="*/ 0 h 6950074"/>
              <a:gd name="connsiteX2" fmla="*/ 6383423 w 6383423"/>
              <a:gd name="connsiteY2" fmla="*/ 0 h 6950074"/>
              <a:gd name="connsiteX3" fmla="*/ 4787567 w 6383423"/>
              <a:gd name="connsiteY3" fmla="*/ 6950074 h 6950074"/>
              <a:gd name="connsiteX4" fmla="*/ 0 w 6383423"/>
              <a:gd name="connsiteY4" fmla="*/ 6950074 h 6950074"/>
              <a:gd name="connsiteX0" fmla="*/ 0 w 6383423"/>
              <a:gd name="connsiteY0" fmla="*/ 6975474 h 6975474"/>
              <a:gd name="connsiteX1" fmla="*/ 3665956 w 6383423"/>
              <a:gd name="connsiteY1" fmla="*/ 0 h 6975474"/>
              <a:gd name="connsiteX2" fmla="*/ 6383423 w 6383423"/>
              <a:gd name="connsiteY2" fmla="*/ 25400 h 6975474"/>
              <a:gd name="connsiteX3" fmla="*/ 4787567 w 6383423"/>
              <a:gd name="connsiteY3" fmla="*/ 6975474 h 6975474"/>
              <a:gd name="connsiteX4" fmla="*/ 0 w 6383423"/>
              <a:gd name="connsiteY4" fmla="*/ 6975474 h 6975474"/>
              <a:gd name="connsiteX0" fmla="*/ 0 w 6383423"/>
              <a:gd name="connsiteY0" fmla="*/ 6950074 h 6950074"/>
              <a:gd name="connsiteX1" fmla="*/ 4351756 w 6383423"/>
              <a:gd name="connsiteY1" fmla="*/ 12700 h 6950074"/>
              <a:gd name="connsiteX2" fmla="*/ 6383423 w 6383423"/>
              <a:gd name="connsiteY2" fmla="*/ 0 h 6950074"/>
              <a:gd name="connsiteX3" fmla="*/ 4787567 w 6383423"/>
              <a:gd name="connsiteY3" fmla="*/ 6950074 h 6950074"/>
              <a:gd name="connsiteX4" fmla="*/ 0 w 6383423"/>
              <a:gd name="connsiteY4" fmla="*/ 6950074 h 6950074"/>
              <a:gd name="connsiteX0" fmla="*/ 0 w 6383423"/>
              <a:gd name="connsiteY0" fmla="*/ 6950074 h 6962774"/>
              <a:gd name="connsiteX1" fmla="*/ 4351756 w 6383423"/>
              <a:gd name="connsiteY1" fmla="*/ 12700 h 6962774"/>
              <a:gd name="connsiteX2" fmla="*/ 6383423 w 6383423"/>
              <a:gd name="connsiteY2" fmla="*/ 0 h 6962774"/>
              <a:gd name="connsiteX3" fmla="*/ 5587667 w 6383423"/>
              <a:gd name="connsiteY3" fmla="*/ 6962774 h 6962774"/>
              <a:gd name="connsiteX4" fmla="*/ 0 w 6383423"/>
              <a:gd name="connsiteY4" fmla="*/ 6950074 h 6962774"/>
              <a:gd name="connsiteX0" fmla="*/ 0 w 6383423"/>
              <a:gd name="connsiteY0" fmla="*/ 6950074 h 6962774"/>
              <a:gd name="connsiteX1" fmla="*/ 4351756 w 6383423"/>
              <a:gd name="connsiteY1" fmla="*/ 12700 h 6962774"/>
              <a:gd name="connsiteX2" fmla="*/ 6383423 w 6383423"/>
              <a:gd name="connsiteY2" fmla="*/ 0 h 6962774"/>
              <a:gd name="connsiteX3" fmla="*/ 5799223 w 6383423"/>
              <a:gd name="connsiteY3" fmla="*/ 4902201 h 6962774"/>
              <a:gd name="connsiteX4" fmla="*/ 5587667 w 6383423"/>
              <a:gd name="connsiteY4" fmla="*/ 6962774 h 6962774"/>
              <a:gd name="connsiteX5" fmla="*/ 0 w 6383423"/>
              <a:gd name="connsiteY5" fmla="*/ 6950074 h 6962774"/>
              <a:gd name="connsiteX0" fmla="*/ 0 w 7564523"/>
              <a:gd name="connsiteY0" fmla="*/ 6950074 h 6962774"/>
              <a:gd name="connsiteX1" fmla="*/ 4351756 w 7564523"/>
              <a:gd name="connsiteY1" fmla="*/ 12700 h 6962774"/>
              <a:gd name="connsiteX2" fmla="*/ 6383423 w 7564523"/>
              <a:gd name="connsiteY2" fmla="*/ 0 h 6962774"/>
              <a:gd name="connsiteX3" fmla="*/ 7564523 w 7564523"/>
              <a:gd name="connsiteY3" fmla="*/ 4660901 h 6962774"/>
              <a:gd name="connsiteX4" fmla="*/ 5587667 w 7564523"/>
              <a:gd name="connsiteY4" fmla="*/ 6962774 h 6962774"/>
              <a:gd name="connsiteX5" fmla="*/ 0 w 7564523"/>
              <a:gd name="connsiteY5" fmla="*/ 6950074 h 6962774"/>
              <a:gd name="connsiteX0" fmla="*/ 0 w 7602623"/>
              <a:gd name="connsiteY0" fmla="*/ 6962774 h 6975474"/>
              <a:gd name="connsiteX1" fmla="*/ 4351756 w 7602623"/>
              <a:gd name="connsiteY1" fmla="*/ 25400 h 6975474"/>
              <a:gd name="connsiteX2" fmla="*/ 7602623 w 7602623"/>
              <a:gd name="connsiteY2" fmla="*/ 0 h 6975474"/>
              <a:gd name="connsiteX3" fmla="*/ 7564523 w 7602623"/>
              <a:gd name="connsiteY3" fmla="*/ 4673601 h 6975474"/>
              <a:gd name="connsiteX4" fmla="*/ 5587667 w 7602623"/>
              <a:gd name="connsiteY4" fmla="*/ 6975474 h 6975474"/>
              <a:gd name="connsiteX5" fmla="*/ 0 w 7602623"/>
              <a:gd name="connsiteY5" fmla="*/ 6962774 h 6975474"/>
              <a:gd name="connsiteX0" fmla="*/ 0 w 7602623"/>
              <a:gd name="connsiteY0" fmla="*/ 7026274 h 7038974"/>
              <a:gd name="connsiteX1" fmla="*/ 4415256 w 7602623"/>
              <a:gd name="connsiteY1" fmla="*/ 0 h 7038974"/>
              <a:gd name="connsiteX2" fmla="*/ 7602623 w 7602623"/>
              <a:gd name="connsiteY2" fmla="*/ 63500 h 7038974"/>
              <a:gd name="connsiteX3" fmla="*/ 7564523 w 7602623"/>
              <a:gd name="connsiteY3" fmla="*/ 4737101 h 7038974"/>
              <a:gd name="connsiteX4" fmla="*/ 5587667 w 7602623"/>
              <a:gd name="connsiteY4" fmla="*/ 7038974 h 7038974"/>
              <a:gd name="connsiteX5" fmla="*/ 0 w 7602623"/>
              <a:gd name="connsiteY5" fmla="*/ 7026274 h 7038974"/>
              <a:gd name="connsiteX0" fmla="*/ 0 w 7716923"/>
              <a:gd name="connsiteY0" fmla="*/ 7178674 h 7178674"/>
              <a:gd name="connsiteX1" fmla="*/ 4529556 w 7716923"/>
              <a:gd name="connsiteY1" fmla="*/ 0 h 7178674"/>
              <a:gd name="connsiteX2" fmla="*/ 7716923 w 7716923"/>
              <a:gd name="connsiteY2" fmla="*/ 63500 h 7178674"/>
              <a:gd name="connsiteX3" fmla="*/ 7678823 w 7716923"/>
              <a:gd name="connsiteY3" fmla="*/ 4737101 h 7178674"/>
              <a:gd name="connsiteX4" fmla="*/ 5701967 w 7716923"/>
              <a:gd name="connsiteY4" fmla="*/ 7038974 h 7178674"/>
              <a:gd name="connsiteX5" fmla="*/ 0 w 7716923"/>
              <a:gd name="connsiteY5" fmla="*/ 7178674 h 7178674"/>
              <a:gd name="connsiteX0" fmla="*/ 0 w 7716923"/>
              <a:gd name="connsiteY0" fmla="*/ 7178674 h 7292974"/>
              <a:gd name="connsiteX1" fmla="*/ 4529556 w 7716923"/>
              <a:gd name="connsiteY1" fmla="*/ 0 h 7292974"/>
              <a:gd name="connsiteX2" fmla="*/ 7716923 w 7716923"/>
              <a:gd name="connsiteY2" fmla="*/ 63500 h 7292974"/>
              <a:gd name="connsiteX3" fmla="*/ 7678823 w 7716923"/>
              <a:gd name="connsiteY3" fmla="*/ 4737101 h 7292974"/>
              <a:gd name="connsiteX4" fmla="*/ 5473367 w 7716923"/>
              <a:gd name="connsiteY4" fmla="*/ 7292974 h 7292974"/>
              <a:gd name="connsiteX5" fmla="*/ 0 w 7716923"/>
              <a:gd name="connsiteY5" fmla="*/ 7178674 h 7292974"/>
              <a:gd name="connsiteX0" fmla="*/ 0 w 7716923"/>
              <a:gd name="connsiteY0" fmla="*/ 7115174 h 7229474"/>
              <a:gd name="connsiteX1" fmla="*/ 6377406 w 7716923"/>
              <a:gd name="connsiteY1" fmla="*/ 107950 h 7229474"/>
              <a:gd name="connsiteX2" fmla="*/ 7716923 w 7716923"/>
              <a:gd name="connsiteY2" fmla="*/ 0 h 7229474"/>
              <a:gd name="connsiteX3" fmla="*/ 7678823 w 7716923"/>
              <a:gd name="connsiteY3" fmla="*/ 4673601 h 7229474"/>
              <a:gd name="connsiteX4" fmla="*/ 5473367 w 7716923"/>
              <a:gd name="connsiteY4" fmla="*/ 7229474 h 7229474"/>
              <a:gd name="connsiteX5" fmla="*/ 0 w 7716923"/>
              <a:gd name="connsiteY5" fmla="*/ 7115174 h 7229474"/>
              <a:gd name="connsiteX0" fmla="*/ 0 w 7659773"/>
              <a:gd name="connsiteY0" fmla="*/ 7191374 h 7229474"/>
              <a:gd name="connsiteX1" fmla="*/ 6320256 w 7659773"/>
              <a:gd name="connsiteY1" fmla="*/ 107950 h 7229474"/>
              <a:gd name="connsiteX2" fmla="*/ 7659773 w 7659773"/>
              <a:gd name="connsiteY2" fmla="*/ 0 h 7229474"/>
              <a:gd name="connsiteX3" fmla="*/ 7621673 w 7659773"/>
              <a:gd name="connsiteY3" fmla="*/ 4673601 h 7229474"/>
              <a:gd name="connsiteX4" fmla="*/ 5416217 w 7659773"/>
              <a:gd name="connsiteY4" fmla="*/ 7229474 h 7229474"/>
              <a:gd name="connsiteX5" fmla="*/ 0 w 7659773"/>
              <a:gd name="connsiteY5" fmla="*/ 7191374 h 7229474"/>
              <a:gd name="connsiteX0" fmla="*/ 0 w 7659773"/>
              <a:gd name="connsiteY0" fmla="*/ 7191374 h 7400924"/>
              <a:gd name="connsiteX1" fmla="*/ 6320256 w 7659773"/>
              <a:gd name="connsiteY1" fmla="*/ 107950 h 7400924"/>
              <a:gd name="connsiteX2" fmla="*/ 7659773 w 7659773"/>
              <a:gd name="connsiteY2" fmla="*/ 0 h 7400924"/>
              <a:gd name="connsiteX3" fmla="*/ 7621673 w 7659773"/>
              <a:gd name="connsiteY3" fmla="*/ 4673601 h 7400924"/>
              <a:gd name="connsiteX4" fmla="*/ 5378117 w 7659773"/>
              <a:gd name="connsiteY4" fmla="*/ 7400924 h 7400924"/>
              <a:gd name="connsiteX5" fmla="*/ 0 w 7659773"/>
              <a:gd name="connsiteY5" fmla="*/ 7191374 h 7400924"/>
              <a:gd name="connsiteX0" fmla="*/ 0 w 7659773"/>
              <a:gd name="connsiteY0" fmla="*/ 7191374 h 7419974"/>
              <a:gd name="connsiteX1" fmla="*/ 6320256 w 7659773"/>
              <a:gd name="connsiteY1" fmla="*/ 107950 h 7419974"/>
              <a:gd name="connsiteX2" fmla="*/ 7659773 w 7659773"/>
              <a:gd name="connsiteY2" fmla="*/ 0 h 7419974"/>
              <a:gd name="connsiteX3" fmla="*/ 7621673 w 7659773"/>
              <a:gd name="connsiteY3" fmla="*/ 4673601 h 7419974"/>
              <a:gd name="connsiteX4" fmla="*/ 5263817 w 7659773"/>
              <a:gd name="connsiteY4" fmla="*/ 7419974 h 7419974"/>
              <a:gd name="connsiteX5" fmla="*/ 0 w 7659773"/>
              <a:gd name="connsiteY5" fmla="*/ 7191374 h 7419974"/>
              <a:gd name="connsiteX0" fmla="*/ 0 w 7983623"/>
              <a:gd name="connsiteY0" fmla="*/ 7534274 h 7534274"/>
              <a:gd name="connsiteX1" fmla="*/ 6644106 w 7983623"/>
              <a:gd name="connsiteY1" fmla="*/ 107950 h 7534274"/>
              <a:gd name="connsiteX2" fmla="*/ 7983623 w 7983623"/>
              <a:gd name="connsiteY2" fmla="*/ 0 h 7534274"/>
              <a:gd name="connsiteX3" fmla="*/ 7945523 w 7983623"/>
              <a:gd name="connsiteY3" fmla="*/ 4673601 h 7534274"/>
              <a:gd name="connsiteX4" fmla="*/ 5587667 w 7983623"/>
              <a:gd name="connsiteY4" fmla="*/ 7419974 h 7534274"/>
              <a:gd name="connsiteX5" fmla="*/ 0 w 7983623"/>
              <a:gd name="connsiteY5" fmla="*/ 7534274 h 7534274"/>
              <a:gd name="connsiteX0" fmla="*/ 0 w 7983623"/>
              <a:gd name="connsiteY0" fmla="*/ 7534274 h 7534274"/>
              <a:gd name="connsiteX1" fmla="*/ 6644106 w 7983623"/>
              <a:gd name="connsiteY1" fmla="*/ 107950 h 7534274"/>
              <a:gd name="connsiteX2" fmla="*/ 7983623 w 7983623"/>
              <a:gd name="connsiteY2" fmla="*/ 0 h 7534274"/>
              <a:gd name="connsiteX3" fmla="*/ 7831223 w 7983623"/>
              <a:gd name="connsiteY3" fmla="*/ 4864101 h 7534274"/>
              <a:gd name="connsiteX4" fmla="*/ 5587667 w 7983623"/>
              <a:gd name="connsiteY4" fmla="*/ 7419974 h 7534274"/>
              <a:gd name="connsiteX5" fmla="*/ 0 w 7983623"/>
              <a:gd name="connsiteY5" fmla="*/ 7534274 h 7534274"/>
              <a:gd name="connsiteX0" fmla="*/ 0 w 7831223"/>
              <a:gd name="connsiteY0" fmla="*/ 7426324 h 7426324"/>
              <a:gd name="connsiteX1" fmla="*/ 6644106 w 7831223"/>
              <a:gd name="connsiteY1" fmla="*/ 0 h 7426324"/>
              <a:gd name="connsiteX2" fmla="*/ 7793123 w 7831223"/>
              <a:gd name="connsiteY2" fmla="*/ 82550 h 7426324"/>
              <a:gd name="connsiteX3" fmla="*/ 7831223 w 7831223"/>
              <a:gd name="connsiteY3" fmla="*/ 4756151 h 7426324"/>
              <a:gd name="connsiteX4" fmla="*/ 5587667 w 7831223"/>
              <a:gd name="connsiteY4" fmla="*/ 7312024 h 7426324"/>
              <a:gd name="connsiteX5" fmla="*/ 0 w 7831223"/>
              <a:gd name="connsiteY5" fmla="*/ 7426324 h 7426324"/>
              <a:gd name="connsiteX0" fmla="*/ 0 w 7831223"/>
              <a:gd name="connsiteY0" fmla="*/ 7343774 h 7343774"/>
              <a:gd name="connsiteX1" fmla="*/ 6548856 w 7831223"/>
              <a:gd name="connsiteY1" fmla="*/ 12700 h 7343774"/>
              <a:gd name="connsiteX2" fmla="*/ 7793123 w 7831223"/>
              <a:gd name="connsiteY2" fmla="*/ 0 h 7343774"/>
              <a:gd name="connsiteX3" fmla="*/ 7831223 w 7831223"/>
              <a:gd name="connsiteY3" fmla="*/ 4673601 h 7343774"/>
              <a:gd name="connsiteX4" fmla="*/ 5587667 w 7831223"/>
              <a:gd name="connsiteY4" fmla="*/ 7229474 h 7343774"/>
              <a:gd name="connsiteX5" fmla="*/ 0 w 7831223"/>
              <a:gd name="connsiteY5" fmla="*/ 7343774 h 7343774"/>
              <a:gd name="connsiteX0" fmla="*/ 0 w 7831223"/>
              <a:gd name="connsiteY0" fmla="*/ 7343774 h 7343774"/>
              <a:gd name="connsiteX1" fmla="*/ 6574256 w 7831223"/>
              <a:gd name="connsiteY1" fmla="*/ 0 h 7343774"/>
              <a:gd name="connsiteX2" fmla="*/ 7793123 w 7831223"/>
              <a:gd name="connsiteY2" fmla="*/ 0 h 7343774"/>
              <a:gd name="connsiteX3" fmla="*/ 7831223 w 7831223"/>
              <a:gd name="connsiteY3" fmla="*/ 4673601 h 7343774"/>
              <a:gd name="connsiteX4" fmla="*/ 5587667 w 7831223"/>
              <a:gd name="connsiteY4" fmla="*/ 7229474 h 7343774"/>
              <a:gd name="connsiteX5" fmla="*/ 0 w 7831223"/>
              <a:gd name="connsiteY5" fmla="*/ 7343774 h 7343774"/>
              <a:gd name="connsiteX0" fmla="*/ 0 w 7831223"/>
              <a:gd name="connsiteY0" fmla="*/ 7343774 h 7343774"/>
              <a:gd name="connsiteX1" fmla="*/ 6574256 w 7831223"/>
              <a:gd name="connsiteY1" fmla="*/ 0 h 7343774"/>
              <a:gd name="connsiteX2" fmla="*/ 7793123 w 7831223"/>
              <a:gd name="connsiteY2" fmla="*/ 0 h 7343774"/>
              <a:gd name="connsiteX3" fmla="*/ 7831223 w 7831223"/>
              <a:gd name="connsiteY3" fmla="*/ 4673601 h 7343774"/>
              <a:gd name="connsiteX4" fmla="*/ 5778167 w 7831223"/>
              <a:gd name="connsiteY4" fmla="*/ 6962774 h 7343774"/>
              <a:gd name="connsiteX5" fmla="*/ 0 w 7831223"/>
              <a:gd name="connsiteY5" fmla="*/ 7343774 h 7343774"/>
              <a:gd name="connsiteX0" fmla="*/ 0 w 7501023"/>
              <a:gd name="connsiteY0" fmla="*/ 6988174 h 6988174"/>
              <a:gd name="connsiteX1" fmla="*/ 6244056 w 7501023"/>
              <a:gd name="connsiteY1" fmla="*/ 0 h 6988174"/>
              <a:gd name="connsiteX2" fmla="*/ 7462923 w 7501023"/>
              <a:gd name="connsiteY2" fmla="*/ 0 h 6988174"/>
              <a:gd name="connsiteX3" fmla="*/ 7501023 w 7501023"/>
              <a:gd name="connsiteY3" fmla="*/ 4673601 h 6988174"/>
              <a:gd name="connsiteX4" fmla="*/ 5447967 w 7501023"/>
              <a:gd name="connsiteY4" fmla="*/ 6962774 h 6988174"/>
              <a:gd name="connsiteX5" fmla="*/ 0 w 7501023"/>
              <a:gd name="connsiteY5" fmla="*/ 6988174 h 6988174"/>
              <a:gd name="connsiteX0" fmla="*/ 0 w 7506466"/>
              <a:gd name="connsiteY0" fmla="*/ 6988174 h 6988174"/>
              <a:gd name="connsiteX1" fmla="*/ 6244056 w 7506466"/>
              <a:gd name="connsiteY1" fmla="*/ 0 h 6988174"/>
              <a:gd name="connsiteX2" fmla="*/ 7506466 w 7506466"/>
              <a:gd name="connsiteY2" fmla="*/ 0 h 6988174"/>
              <a:gd name="connsiteX3" fmla="*/ 7501023 w 7506466"/>
              <a:gd name="connsiteY3" fmla="*/ 4673601 h 6988174"/>
              <a:gd name="connsiteX4" fmla="*/ 5447967 w 7506466"/>
              <a:gd name="connsiteY4" fmla="*/ 6962774 h 6988174"/>
              <a:gd name="connsiteX5" fmla="*/ 0 w 7506466"/>
              <a:gd name="connsiteY5" fmla="*/ 6988174 h 6988174"/>
              <a:gd name="connsiteX0" fmla="*/ 0 w 7506466"/>
              <a:gd name="connsiteY0" fmla="*/ 6988174 h 7006317"/>
              <a:gd name="connsiteX1" fmla="*/ 6244056 w 7506466"/>
              <a:gd name="connsiteY1" fmla="*/ 0 h 7006317"/>
              <a:gd name="connsiteX2" fmla="*/ 7506466 w 7506466"/>
              <a:gd name="connsiteY2" fmla="*/ 0 h 7006317"/>
              <a:gd name="connsiteX3" fmla="*/ 7501023 w 7506466"/>
              <a:gd name="connsiteY3" fmla="*/ 4673601 h 7006317"/>
              <a:gd name="connsiteX4" fmla="*/ 5360881 w 7506466"/>
              <a:gd name="connsiteY4" fmla="*/ 7006317 h 7006317"/>
              <a:gd name="connsiteX5" fmla="*/ 0 w 7506466"/>
              <a:gd name="connsiteY5" fmla="*/ 6988174 h 7006317"/>
              <a:gd name="connsiteX0" fmla="*/ 0 w 7564523"/>
              <a:gd name="connsiteY0" fmla="*/ 7046231 h 7046231"/>
              <a:gd name="connsiteX1" fmla="*/ 6302113 w 7564523"/>
              <a:gd name="connsiteY1" fmla="*/ 0 h 7046231"/>
              <a:gd name="connsiteX2" fmla="*/ 7564523 w 7564523"/>
              <a:gd name="connsiteY2" fmla="*/ 0 h 7046231"/>
              <a:gd name="connsiteX3" fmla="*/ 7559080 w 7564523"/>
              <a:gd name="connsiteY3" fmla="*/ 4673601 h 7046231"/>
              <a:gd name="connsiteX4" fmla="*/ 5418938 w 7564523"/>
              <a:gd name="connsiteY4" fmla="*/ 7006317 h 7046231"/>
              <a:gd name="connsiteX5" fmla="*/ 0 w 7564523"/>
              <a:gd name="connsiteY5" fmla="*/ 7046231 h 7046231"/>
              <a:gd name="connsiteX0" fmla="*/ 0 w 7564523"/>
              <a:gd name="connsiteY0" fmla="*/ 7046231 h 7049860"/>
              <a:gd name="connsiteX1" fmla="*/ 6302113 w 7564523"/>
              <a:gd name="connsiteY1" fmla="*/ 0 h 7049860"/>
              <a:gd name="connsiteX2" fmla="*/ 7564523 w 7564523"/>
              <a:gd name="connsiteY2" fmla="*/ 0 h 7049860"/>
              <a:gd name="connsiteX3" fmla="*/ 7559080 w 7564523"/>
              <a:gd name="connsiteY3" fmla="*/ 4673601 h 7049860"/>
              <a:gd name="connsiteX4" fmla="*/ 5389909 w 7564523"/>
              <a:gd name="connsiteY4" fmla="*/ 7049860 h 7049860"/>
              <a:gd name="connsiteX5" fmla="*/ 0 w 7564523"/>
              <a:gd name="connsiteY5" fmla="*/ 7046231 h 70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64523" h="7049860">
                <a:moveTo>
                  <a:pt x="0" y="7046231"/>
                </a:moveTo>
                <a:lnTo>
                  <a:pt x="6302113" y="0"/>
                </a:lnTo>
                <a:lnTo>
                  <a:pt x="7564523" y="0"/>
                </a:lnTo>
                <a:cubicBezTo>
                  <a:pt x="7562709" y="1557867"/>
                  <a:pt x="7560894" y="3115734"/>
                  <a:pt x="7559080" y="4673601"/>
                </a:cubicBezTo>
                <a:lnTo>
                  <a:pt x="5389909" y="7049860"/>
                </a:lnTo>
                <a:lnTo>
                  <a:pt x="0" y="7046231"/>
                </a:lnTo>
                <a:close/>
              </a:path>
            </a:pathLst>
          </a:custGeom>
          <a:solidFill>
            <a:srgbClr val="D5581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76"/>
          </a:p>
        </p:txBody>
      </p:sp>
      <p:sp>
        <p:nvSpPr>
          <p:cNvPr id="16" name="Title 1"/>
          <p:cNvSpPr txBox="1">
            <a:spLocks/>
          </p:cNvSpPr>
          <p:nvPr/>
        </p:nvSpPr>
        <p:spPr>
          <a:xfrm>
            <a:off x="4514850" y="4893022"/>
            <a:ext cx="8286750" cy="1380685"/>
          </a:xfrm>
          <a:prstGeom prst="rect">
            <a:avLst/>
          </a:prstGeom>
          <a:ln>
            <a:noFill/>
          </a:ln>
          <a:effectLst>
            <a:glow rad="228600">
              <a:schemeClr val="accent4">
                <a:satMod val="175000"/>
                <a:alpha val="40000"/>
              </a:schemeClr>
            </a:glow>
          </a:effectLst>
        </p:spPr>
        <p:txBody>
          <a:bodyPr lIns="0" tIns="0" rIns="0" bIns="54395" anchor="t"/>
          <a:lstStyle>
            <a:lvl1pPr algn="ctr" rtl="0" eaLnBrk="0" fontAlgn="base" hangingPunct="0">
              <a:lnSpc>
                <a:spcPct val="90000"/>
              </a:lnSpc>
              <a:spcBef>
                <a:spcPct val="0"/>
              </a:spcBef>
              <a:spcAft>
                <a:spcPct val="0"/>
              </a:spcAft>
              <a:defRPr sz="4000" kern="1200">
                <a:solidFill>
                  <a:schemeClr val="accent4"/>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nSpc>
                <a:spcPct val="100000"/>
              </a:lnSpc>
              <a:spcBef>
                <a:spcPts val="0"/>
              </a:spcBef>
              <a:spcAft>
                <a:spcPts val="0"/>
              </a:spcAft>
              <a:defRPr/>
            </a:pPr>
            <a:r>
              <a:rPr lang="en-US" sz="4342" b="1" dirty="0">
                <a:ln w="1905"/>
                <a:solidFill>
                  <a:schemeClr val="bg1"/>
                </a:solidFill>
                <a:latin typeface="Arial"/>
                <a:ea typeface="Segoe UI" panose="020B0502040204020203" pitchFamily="34" charset="0"/>
                <a:cs typeface="Arial"/>
              </a:rPr>
              <a:t>Business Owners Program </a:t>
            </a:r>
            <a:r>
              <a:rPr lang="en-US" sz="2800" b="1" dirty="0">
                <a:ln w="1905"/>
                <a:solidFill>
                  <a:schemeClr val="bg1"/>
                </a:solidFill>
                <a:latin typeface="Arial"/>
                <a:ea typeface="Segoe UI" panose="020B0502040204020203" pitchFamily="34" charset="0"/>
                <a:cs typeface="Arial"/>
              </a:rPr>
              <a:t>Domain KT for Progressive Team</a:t>
            </a:r>
          </a:p>
          <a:p>
            <a:pPr>
              <a:lnSpc>
                <a:spcPct val="100000"/>
              </a:lnSpc>
              <a:spcBef>
                <a:spcPts val="0"/>
              </a:spcBef>
              <a:spcAft>
                <a:spcPts val="0"/>
              </a:spcAft>
              <a:defRPr/>
            </a:pPr>
            <a:r>
              <a:rPr lang="en-US" sz="2800" b="1" dirty="0">
                <a:ln w="1905"/>
                <a:solidFill>
                  <a:schemeClr val="bg1"/>
                </a:solidFill>
                <a:latin typeface="Arial"/>
                <a:ea typeface="Segoe UI" panose="020B0502040204020203" pitchFamily="34" charset="0"/>
                <a:cs typeface="Arial"/>
              </a:rPr>
              <a:t>Day 3</a:t>
            </a:r>
            <a:endParaRPr lang="en-US" sz="4342" b="1" dirty="0">
              <a:ln w="1905"/>
              <a:solidFill>
                <a:schemeClr val="bg1"/>
              </a:solidFill>
              <a:latin typeface="Arial"/>
              <a:ea typeface="Segoe UI" panose="020B0502040204020203" pitchFamily="34" charset="0"/>
              <a:cs typeface="Arial"/>
            </a:endParaRPr>
          </a:p>
        </p:txBody>
      </p:sp>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89345" y="1888100"/>
            <a:ext cx="2656731" cy="1728144"/>
          </a:xfrm>
          <a:prstGeom prst="rect">
            <a:avLst/>
          </a:prstGeom>
        </p:spPr>
      </p:pic>
    </p:spTree>
    <p:extLst>
      <p:ext uri="{BB962C8B-B14F-4D97-AF65-F5344CB8AC3E}">
        <p14:creationId xmlns:p14="http://schemas.microsoft.com/office/powerpoint/2010/main" val="4184502898"/>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71737A-C36E-440F-8D5C-4CEB3780229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74406" y="458423"/>
            <a:ext cx="9804188" cy="264653"/>
          </a:xfrm>
          <a:prstGeom prst="rect">
            <a:avLst/>
          </a:prstGeom>
        </p:spPr>
      </p:pic>
      <p:graphicFrame>
        <p:nvGraphicFramePr>
          <p:cNvPr id="3" name="Table 2">
            <a:extLst>
              <a:ext uri="{FF2B5EF4-FFF2-40B4-BE49-F238E27FC236}">
                <a16:creationId xmlns:a16="http://schemas.microsoft.com/office/drawing/2014/main" id="{8D7A8D65-34FC-4D91-A01B-9CB22D586BD9}"/>
              </a:ext>
            </a:extLst>
          </p:cNvPr>
          <p:cNvGraphicFramePr>
            <a:graphicFrameLocks noGrp="1"/>
          </p:cNvGraphicFramePr>
          <p:nvPr>
            <p:extLst>
              <p:ext uri="{D42A27DB-BD31-4B8C-83A1-F6EECF244321}">
                <p14:modId xmlns:p14="http://schemas.microsoft.com/office/powerpoint/2010/main" val="780816459"/>
              </p:ext>
            </p:extLst>
          </p:nvPr>
        </p:nvGraphicFramePr>
        <p:xfrm>
          <a:off x="1771651" y="752383"/>
          <a:ext cx="8306943" cy="6066703"/>
        </p:xfrm>
        <a:graphic>
          <a:graphicData uri="http://schemas.openxmlformats.org/drawingml/2006/table">
            <a:tbl>
              <a:tblPr/>
              <a:tblGrid>
                <a:gridCol w="570988">
                  <a:extLst>
                    <a:ext uri="{9D8B030D-6E8A-4147-A177-3AD203B41FA5}">
                      <a16:colId xmlns:a16="http://schemas.microsoft.com/office/drawing/2014/main" val="200615716"/>
                    </a:ext>
                  </a:extLst>
                </a:gridCol>
                <a:gridCol w="3168057">
                  <a:extLst>
                    <a:ext uri="{9D8B030D-6E8A-4147-A177-3AD203B41FA5}">
                      <a16:colId xmlns:a16="http://schemas.microsoft.com/office/drawing/2014/main" val="4252074913"/>
                    </a:ext>
                  </a:extLst>
                </a:gridCol>
                <a:gridCol w="4567898">
                  <a:extLst>
                    <a:ext uri="{9D8B030D-6E8A-4147-A177-3AD203B41FA5}">
                      <a16:colId xmlns:a16="http://schemas.microsoft.com/office/drawing/2014/main" val="2620752890"/>
                    </a:ext>
                  </a:extLst>
                </a:gridCol>
              </a:tblGrid>
              <a:tr h="174010">
                <a:tc>
                  <a:txBody>
                    <a:bodyPr/>
                    <a:lstStyle/>
                    <a:p>
                      <a:pPr algn="ctr" fontAlgn="b"/>
                      <a:r>
                        <a:rPr lang="en-IN" sz="1100" b="1" i="0" u="none" strike="noStrike">
                          <a:solidFill>
                            <a:srgbClr val="0000FF"/>
                          </a:solidFill>
                          <a:effectLst/>
                          <a:latin typeface="Calibri" panose="020F0502020204030204" pitchFamily="34" charset="0"/>
                        </a:rPr>
                        <a:t>Day </a:t>
                      </a:r>
                    </a:p>
                  </a:txBody>
                  <a:tcPr marL="3908" marR="3908" marT="3908"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algn="ctr" fontAlgn="b"/>
                      <a:r>
                        <a:rPr lang="en-IN" sz="1100" b="1" i="0" u="none" strike="noStrike">
                          <a:solidFill>
                            <a:srgbClr val="0000FF"/>
                          </a:solidFill>
                          <a:effectLst/>
                          <a:latin typeface="Calibri" panose="020F0502020204030204" pitchFamily="34" charset="0"/>
                        </a:rPr>
                        <a:t>Topics</a:t>
                      </a:r>
                    </a:p>
                  </a:txBody>
                  <a:tcPr marL="3908" marR="3908" marT="3908"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algn="ctr" fontAlgn="b"/>
                      <a:r>
                        <a:rPr lang="en-IN" sz="1100" b="1" i="0" u="none" strike="noStrike">
                          <a:solidFill>
                            <a:srgbClr val="0000FF"/>
                          </a:solidFill>
                          <a:effectLst/>
                          <a:latin typeface="Calibri" panose="020F0502020204030204" pitchFamily="34" charset="0"/>
                        </a:rPr>
                        <a:t>Subtopics</a:t>
                      </a:r>
                    </a:p>
                  </a:txBody>
                  <a:tcPr marL="3908" marR="3908" marT="3908"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175265924"/>
                  </a:ext>
                </a:extLst>
              </a:tr>
              <a:tr h="152714">
                <a:tc>
                  <a:txBody>
                    <a:bodyPr/>
                    <a:lstStyle/>
                    <a:p>
                      <a:pPr algn="r" fontAlgn="b"/>
                      <a:r>
                        <a:rPr lang="en-IN" sz="1000" b="0" i="0" u="none" strike="noStrike">
                          <a:solidFill>
                            <a:srgbClr val="000000"/>
                          </a:solidFill>
                          <a:effectLst/>
                          <a:latin typeface="Calibri" panose="020F0502020204030204" pitchFamily="34" charset="0"/>
                        </a:rPr>
                        <a:t>1</a:t>
                      </a:r>
                    </a:p>
                  </a:txBody>
                  <a:tcPr marL="3908" marR="3908" marT="3908"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rowSpan="4">
                  <a:txBody>
                    <a:bodyPr/>
                    <a:lstStyle/>
                    <a:p>
                      <a:pPr algn="ctr" fontAlgn="ctr"/>
                      <a:r>
                        <a:rPr lang="en-IN" sz="1000" b="0" i="0" u="none" strike="noStrike" dirty="0">
                          <a:solidFill>
                            <a:srgbClr val="0000FF"/>
                          </a:solidFill>
                          <a:effectLst/>
                          <a:latin typeface="Calibri" panose="020F0502020204030204" pitchFamily="34" charset="0"/>
                        </a:rPr>
                        <a:t>Concept</a:t>
                      </a:r>
                    </a:p>
                  </a:txBody>
                  <a:tcPr marL="3908" marR="3908" marT="3908"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r>
                        <a:rPr lang="en-IN" sz="1000" b="0" i="0" u="none" strike="noStrike">
                          <a:solidFill>
                            <a:srgbClr val="000000"/>
                          </a:solidFill>
                          <a:effectLst/>
                          <a:latin typeface="Calibri" panose="020F0502020204030204" pitchFamily="34" charset="0"/>
                        </a:rPr>
                        <a:t>Meaning</a:t>
                      </a:r>
                    </a:p>
                  </a:txBody>
                  <a:tcPr marL="3908" marR="3908" marT="3908"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064979618"/>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Advantages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86236655"/>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dirty="0">
                          <a:solidFill>
                            <a:srgbClr val="000000"/>
                          </a:solidFill>
                          <a:effectLst/>
                          <a:latin typeface="Calibri" panose="020F0502020204030204" pitchFamily="34" charset="0"/>
                        </a:rPr>
                        <a:t>Eligibility Rules and its need</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892118989"/>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BOP Vs CPP</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54544059"/>
                  </a:ext>
                </a:extLst>
              </a:tr>
              <a:tr h="152714">
                <a:tc>
                  <a:txBody>
                    <a:bodyPr/>
                    <a:lstStyle/>
                    <a:p>
                      <a:pPr algn="l" fontAlgn="b"/>
                      <a:endParaRPr lang="en-IN" sz="1000" b="0" i="0" u="none" strike="noStrike" dirty="0">
                        <a:solidFill>
                          <a:srgbClr val="000000"/>
                        </a:solidFill>
                        <a:effectLst/>
                        <a:latin typeface="Calibri" panose="020F0502020204030204" pitchFamily="34" charset="0"/>
                      </a:endParaRP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dirty="0">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1388006872"/>
                  </a:ext>
                </a:extLst>
              </a:tr>
              <a:tr h="152714">
                <a:tc>
                  <a:txBody>
                    <a:bodyPr/>
                    <a:lstStyle/>
                    <a:p>
                      <a:pPr algn="r" fontAlgn="b"/>
                      <a:r>
                        <a:rPr lang="en-IN" sz="1000" b="0" i="0" u="none" strike="noStrike" dirty="0">
                          <a:solidFill>
                            <a:srgbClr val="000000"/>
                          </a:solidFill>
                          <a:effectLst/>
                          <a:latin typeface="Calibri" panose="020F0502020204030204" pitchFamily="34" charset="0"/>
                        </a:rPr>
                        <a:t>2</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chemeClr val="bg1"/>
                    </a:solidFill>
                  </a:tcPr>
                </a:tc>
                <a:tc rowSpan="4">
                  <a:txBody>
                    <a:bodyPr/>
                    <a:lstStyle/>
                    <a:p>
                      <a:pPr algn="ctr" fontAlgn="ctr"/>
                      <a:r>
                        <a:rPr lang="en-IN" sz="1000" b="0" i="0" u="none" strike="noStrike" dirty="0">
                          <a:solidFill>
                            <a:srgbClr val="0000FF"/>
                          </a:solidFill>
                          <a:effectLst/>
                          <a:latin typeface="Calibri" panose="020F0502020204030204" pitchFamily="34" charset="0"/>
                        </a:rPr>
                        <a:t>Coverages </a:t>
                      </a:r>
                      <a:br>
                        <a:rPr lang="en-IN" sz="1000" b="0" i="0" u="none" strike="noStrike" dirty="0">
                          <a:solidFill>
                            <a:srgbClr val="0000FF"/>
                          </a:solidFill>
                          <a:effectLst/>
                          <a:latin typeface="Calibri" panose="020F0502020204030204" pitchFamily="34" charset="0"/>
                        </a:rPr>
                      </a:br>
                      <a:endParaRPr lang="en-IN" sz="1000" b="0" i="0" u="none" strike="noStrike" dirty="0">
                        <a:solidFill>
                          <a:srgbClr val="0000FF"/>
                        </a:solidFill>
                        <a:effectLst/>
                        <a:latin typeface="Calibri" panose="020F0502020204030204" pitchFamily="34" charset="0"/>
                      </a:endParaRPr>
                    </a:p>
                  </a:txBody>
                  <a:tcPr marL="3908" marR="3908" marT="3908" marB="0" anchor="ctr">
                    <a:lnL>
                      <a:noFill/>
                    </a:lnL>
                    <a:lnR>
                      <a:noFill/>
                    </a:lnR>
                    <a:lnT>
                      <a:noFill/>
                    </a:lnT>
                    <a:lnB>
                      <a:noFill/>
                    </a:lnB>
                    <a:solidFill>
                      <a:schemeClr val="bg1"/>
                    </a:solidFill>
                  </a:tcPr>
                </a:tc>
                <a:tc>
                  <a:txBody>
                    <a:bodyPr/>
                    <a:lstStyle/>
                    <a:p>
                      <a:pPr algn="l" fontAlgn="b"/>
                      <a:r>
                        <a:rPr lang="en-IN" sz="1000" b="0" i="0" u="none" strike="noStrike" dirty="0">
                          <a:solidFill>
                            <a:srgbClr val="000000"/>
                          </a:solidFill>
                          <a:effectLst/>
                          <a:latin typeface="Calibri" panose="020F0502020204030204" pitchFamily="34" charset="0"/>
                        </a:rPr>
                        <a:t>Commercial Property Insurance (BOP Vs CPP)</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1957203298"/>
                  </a:ext>
                </a:extLst>
              </a:tr>
              <a:tr h="152714">
                <a:tc>
                  <a:txBody>
                    <a:bodyPr/>
                    <a:lstStyle/>
                    <a:p>
                      <a:pPr algn="l" fontAlgn="b"/>
                      <a:r>
                        <a:rPr lang="en-IN" sz="1000" b="0" i="0" u="none" strike="noStrike" dirty="0">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chemeClr val="bg1"/>
                    </a:solidFill>
                  </a:tcPr>
                </a:tc>
                <a:tc vMerge="1">
                  <a:txBody>
                    <a:bodyPr/>
                    <a:lstStyle/>
                    <a:p>
                      <a:endParaRPr lang="en-IN"/>
                    </a:p>
                  </a:txBody>
                  <a:tcPr/>
                </a:tc>
                <a:tc rowSpan="2">
                  <a:txBody>
                    <a:bodyPr/>
                    <a:lstStyle/>
                    <a:p>
                      <a:pPr algn="l" fontAlgn="b"/>
                      <a:r>
                        <a:rPr lang="en-IN" sz="1000" b="0" i="0" u="none" strike="noStrike" dirty="0">
                          <a:solidFill>
                            <a:srgbClr val="000000"/>
                          </a:solidFill>
                          <a:effectLst/>
                          <a:latin typeface="Calibri" panose="020F0502020204030204" pitchFamily="34" charset="0"/>
                        </a:rPr>
                        <a:t>General Liability Insurance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758554496"/>
                  </a:ext>
                </a:extLst>
              </a:tr>
              <a:tr h="0">
                <a:tc rowSpan="2">
                  <a:txBody>
                    <a:bodyPr/>
                    <a:lstStyle/>
                    <a:p>
                      <a:pPr algn="l" fontAlgn="b"/>
                      <a:r>
                        <a:rPr lang="en-IN" sz="1000" b="0" i="0" u="none" strike="noStrike" dirty="0">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chemeClr val="bg1"/>
                    </a:solidFill>
                  </a:tcPr>
                </a:tc>
                <a:tc vMerge="1">
                  <a:txBody>
                    <a:bodyPr/>
                    <a:lstStyle/>
                    <a:p>
                      <a:endParaRPr lang="en-IN"/>
                    </a:p>
                  </a:txBody>
                  <a:tcPr/>
                </a:tc>
                <a:tc vMerge="1">
                  <a:txBody>
                    <a:bodyPr/>
                    <a:lstStyle/>
                    <a:p>
                      <a:pPr algn="l" fontAlgn="b"/>
                      <a:r>
                        <a:rPr lang="en-IN" sz="1000" b="0" i="0" u="none" strike="noStrike" dirty="0">
                          <a:solidFill>
                            <a:srgbClr val="000000"/>
                          </a:solidFill>
                          <a:effectLst/>
                          <a:latin typeface="Calibri" panose="020F0502020204030204" pitchFamily="34" charset="0"/>
                        </a:rPr>
                        <a:t>Business Interruption Insurance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606722333"/>
                  </a:ext>
                </a:extLst>
              </a:tr>
              <a:tr h="210897">
                <a:tc vMerge="1">
                  <a:txBody>
                    <a:bodyPr/>
                    <a:lstStyle/>
                    <a:p>
                      <a:pPr algn="l" fontAlgn="b"/>
                      <a:endParaRPr lang="en-IN" sz="1000" b="0" i="0" u="none" strike="noStrike">
                        <a:solidFill>
                          <a:srgbClr val="000000"/>
                        </a:solidFill>
                        <a:effectLst/>
                        <a:latin typeface="Calibri" panose="020F0502020204030204" pitchFamily="34" charset="0"/>
                      </a:endParaRP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pPr algn="ctr" fontAlgn="ctr"/>
                      <a:endParaRPr lang="en-IN" sz="1000" b="0" i="0" u="none" strike="noStrike" dirty="0">
                        <a:solidFill>
                          <a:srgbClr val="0000FF"/>
                        </a:solidFill>
                        <a:effectLst/>
                        <a:latin typeface="Calibri" panose="020F0502020204030204" pitchFamily="34" charset="0"/>
                      </a:endParaRPr>
                    </a:p>
                  </a:txBody>
                  <a:tcPr marL="3908" marR="3908" marT="3908" marB="0" anchor="ctr">
                    <a:lnL>
                      <a:noFill/>
                    </a:lnL>
                    <a:lnR>
                      <a:noFill/>
                    </a:lnR>
                    <a:lnT>
                      <a:noFill/>
                    </a:lnT>
                    <a:lnB>
                      <a:noFill/>
                    </a:lnB>
                  </a:tcPr>
                </a:tc>
                <a:tc>
                  <a:txBody>
                    <a:bodyPr/>
                    <a:lstStyle/>
                    <a:p>
                      <a:pPr algn="l" fontAlgn="b"/>
                      <a:r>
                        <a:rPr lang="en-IN" sz="1000" b="0" i="0" u="none" strike="noStrike" dirty="0">
                          <a:solidFill>
                            <a:srgbClr val="000000"/>
                          </a:solidFill>
                          <a:effectLst/>
                          <a:latin typeface="Calibri" panose="020F0502020204030204" pitchFamily="34" charset="0"/>
                        </a:rPr>
                        <a:t>Business Interruption Insurance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bg1"/>
                    </a:solidFill>
                  </a:tcPr>
                </a:tc>
                <a:extLst>
                  <a:ext uri="{0D108BD9-81ED-4DB2-BD59-A6C34878D82A}">
                    <a16:rowId xmlns:a16="http://schemas.microsoft.com/office/drawing/2014/main" val="2910579089"/>
                  </a:ext>
                </a:extLst>
              </a:tr>
              <a:tr h="149071">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dirty="0">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3549782267"/>
                  </a:ext>
                </a:extLst>
              </a:tr>
              <a:tr h="152714">
                <a:tc>
                  <a:txBody>
                    <a:bodyPr/>
                    <a:lstStyle/>
                    <a:p>
                      <a:pPr algn="r" fontAlgn="b"/>
                      <a:r>
                        <a:rPr lang="en-IN" sz="1000" b="0" i="0" u="none" strike="noStrike">
                          <a:solidFill>
                            <a:srgbClr val="000000"/>
                          </a:solidFill>
                          <a:effectLst/>
                          <a:latin typeface="Calibri" panose="020F0502020204030204" pitchFamily="34" charset="0"/>
                        </a:rPr>
                        <a:t>3</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rowSpan="7">
                  <a:txBody>
                    <a:bodyPr/>
                    <a:lstStyle/>
                    <a:p>
                      <a:pPr algn="ctr" fontAlgn="ctr"/>
                      <a:r>
                        <a:rPr lang="en-IN" sz="1000" b="0" i="0" u="none" strike="noStrike" dirty="0">
                          <a:solidFill>
                            <a:srgbClr val="0000FF"/>
                          </a:solidFill>
                          <a:effectLst/>
                          <a:latin typeface="Calibri" panose="020F0502020204030204" pitchFamily="34" charset="0"/>
                        </a:rPr>
                        <a:t>Exclusions</a:t>
                      </a:r>
                      <a:br>
                        <a:rPr lang="en-IN" sz="1000" b="0" i="0" u="none" strike="noStrike" dirty="0">
                          <a:solidFill>
                            <a:srgbClr val="0000FF"/>
                          </a:solidFill>
                          <a:effectLst/>
                          <a:latin typeface="Calibri" panose="020F0502020204030204" pitchFamily="34" charset="0"/>
                        </a:rPr>
                      </a:br>
                      <a:r>
                        <a:rPr lang="en-IN" sz="1000" b="0" i="0" u="none" strike="noStrike" dirty="0">
                          <a:solidFill>
                            <a:srgbClr val="0000FF"/>
                          </a:solidFill>
                          <a:effectLst/>
                          <a:latin typeface="Calibri" panose="020F0502020204030204" pitchFamily="34" charset="0"/>
                        </a:rPr>
                        <a:t>Endorsements </a:t>
                      </a:r>
                      <a:br>
                        <a:rPr lang="en-IN" sz="1000" b="0" i="0" u="none" strike="noStrike" dirty="0">
                          <a:solidFill>
                            <a:srgbClr val="0000FF"/>
                          </a:solidFill>
                          <a:effectLst/>
                          <a:latin typeface="Calibri" panose="020F0502020204030204" pitchFamily="34" charset="0"/>
                        </a:rPr>
                      </a:br>
                      <a:r>
                        <a:rPr lang="en-IN" sz="1000" b="0" i="0" u="none" strike="noStrike" dirty="0">
                          <a:solidFill>
                            <a:srgbClr val="0000FF"/>
                          </a:solidFill>
                          <a:effectLst/>
                          <a:latin typeface="Calibri" panose="020F0502020204030204" pitchFamily="34" charset="0"/>
                        </a:rPr>
                        <a:t>Additional Coverages</a:t>
                      </a:r>
                    </a:p>
                  </a:txBody>
                  <a:tcPr marL="3908" marR="3908" marT="3908" marB="0" anchor="ctr">
                    <a:lnL>
                      <a:noFill/>
                    </a:lnL>
                    <a:lnR>
                      <a:noFill/>
                    </a:lnR>
                    <a:lnT>
                      <a:noFill/>
                    </a:lnT>
                    <a:lnB>
                      <a:noFill/>
                    </a:lnB>
                    <a:solidFill>
                      <a:schemeClr val="accent4">
                        <a:lumMod val="20000"/>
                        <a:lumOff val="80000"/>
                      </a:schemeClr>
                    </a:solidFill>
                  </a:tcPr>
                </a:tc>
                <a:tc>
                  <a:txBody>
                    <a:bodyPr/>
                    <a:lstStyle/>
                    <a:p>
                      <a:pPr algn="l" fontAlgn="b"/>
                      <a:r>
                        <a:rPr lang="en-IN" sz="1000" b="0" i="0" u="none" strike="noStrike" dirty="0">
                          <a:solidFill>
                            <a:srgbClr val="000000"/>
                          </a:solidFill>
                          <a:effectLst/>
                          <a:latin typeface="Calibri" panose="020F0502020204030204" pitchFamily="34" charset="0"/>
                        </a:rPr>
                        <a:t>What’s Not Covered?</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4">
                        <a:lumMod val="20000"/>
                        <a:lumOff val="80000"/>
                      </a:schemeClr>
                    </a:solidFill>
                  </a:tcPr>
                </a:tc>
                <a:extLst>
                  <a:ext uri="{0D108BD9-81ED-4DB2-BD59-A6C34878D82A}">
                    <a16:rowId xmlns:a16="http://schemas.microsoft.com/office/drawing/2014/main" val="251951333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Extra Expenses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4">
                        <a:lumMod val="20000"/>
                        <a:lumOff val="80000"/>
                      </a:schemeClr>
                    </a:solidFill>
                  </a:tcPr>
                </a:tc>
                <a:extLst>
                  <a:ext uri="{0D108BD9-81ED-4DB2-BD59-A6C34878D82A}">
                    <a16:rowId xmlns:a16="http://schemas.microsoft.com/office/drawing/2014/main" val="2056938457"/>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Inland Marine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4">
                        <a:lumMod val="20000"/>
                        <a:lumOff val="80000"/>
                      </a:schemeClr>
                    </a:solidFill>
                  </a:tcPr>
                </a:tc>
                <a:extLst>
                  <a:ext uri="{0D108BD9-81ED-4DB2-BD59-A6C34878D82A}">
                    <a16:rowId xmlns:a16="http://schemas.microsoft.com/office/drawing/2014/main" val="1273531203"/>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Equipment Breakdown</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4">
                        <a:lumMod val="20000"/>
                        <a:lumOff val="80000"/>
                      </a:schemeClr>
                    </a:solidFill>
                  </a:tcPr>
                </a:tc>
                <a:extLst>
                  <a:ext uri="{0D108BD9-81ED-4DB2-BD59-A6C34878D82A}">
                    <a16:rowId xmlns:a16="http://schemas.microsoft.com/office/drawing/2014/main" val="931718525"/>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Spoilage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4">
                        <a:lumMod val="20000"/>
                        <a:lumOff val="80000"/>
                      </a:schemeClr>
                    </a:solidFill>
                  </a:tcPr>
                </a:tc>
                <a:extLst>
                  <a:ext uri="{0D108BD9-81ED-4DB2-BD59-A6C34878D82A}">
                    <a16:rowId xmlns:a16="http://schemas.microsoft.com/office/drawing/2014/main" val="103604645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Employee Theft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4">
                        <a:lumMod val="20000"/>
                        <a:lumOff val="80000"/>
                      </a:schemeClr>
                    </a:solidFill>
                  </a:tcPr>
                </a:tc>
                <a:extLst>
                  <a:ext uri="{0D108BD9-81ED-4DB2-BD59-A6C34878D82A}">
                    <a16:rowId xmlns:a16="http://schemas.microsoft.com/office/drawing/2014/main" val="1557642174"/>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dirty="0">
                          <a:solidFill>
                            <a:srgbClr val="000000"/>
                          </a:solidFill>
                          <a:effectLst/>
                          <a:latin typeface="Calibri" panose="020F0502020204030204" pitchFamily="34" charset="0"/>
                        </a:rPr>
                        <a:t>Etc.</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4">
                        <a:lumMod val="20000"/>
                        <a:lumOff val="80000"/>
                      </a:schemeClr>
                    </a:solidFill>
                  </a:tcPr>
                </a:tc>
                <a:extLst>
                  <a:ext uri="{0D108BD9-81ED-4DB2-BD59-A6C34878D82A}">
                    <a16:rowId xmlns:a16="http://schemas.microsoft.com/office/drawing/2014/main" val="1509098778"/>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3072430414"/>
                  </a:ext>
                </a:extLst>
              </a:tr>
              <a:tr h="152714">
                <a:tc>
                  <a:txBody>
                    <a:bodyPr/>
                    <a:lstStyle/>
                    <a:p>
                      <a:pPr algn="r" fontAlgn="b"/>
                      <a:r>
                        <a:rPr lang="en-IN" sz="1000" b="0" i="0" u="none" strike="noStrike">
                          <a:solidFill>
                            <a:srgbClr val="000000"/>
                          </a:solidFill>
                          <a:effectLst/>
                          <a:latin typeface="Calibri" panose="020F0502020204030204" pitchFamily="34" charset="0"/>
                        </a:rPr>
                        <a:t>4</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rowSpan="4">
                  <a:txBody>
                    <a:bodyPr/>
                    <a:lstStyle/>
                    <a:p>
                      <a:pPr algn="ctr" fontAlgn="ctr"/>
                      <a:r>
                        <a:rPr lang="en-IN" sz="1000" b="0" i="0" u="none" strike="noStrike">
                          <a:solidFill>
                            <a:srgbClr val="0000FF"/>
                          </a:solidFill>
                          <a:effectLst/>
                          <a:latin typeface="Calibri" panose="020F0502020204030204" pitchFamily="34" charset="0"/>
                        </a:rPr>
                        <a:t>BOP Rating &amp; Premium Guidelines</a:t>
                      </a:r>
                    </a:p>
                  </a:txBody>
                  <a:tcPr marL="3908" marR="3908" marT="3908" marB="0" anchor="ctr">
                    <a:lnL>
                      <a:noFill/>
                    </a:lnL>
                    <a:lnR>
                      <a:noFill/>
                    </a:lnR>
                    <a:lnT>
                      <a:noFill/>
                    </a:lnT>
                    <a:lnB>
                      <a:noFill/>
                    </a:lnB>
                  </a:tcPr>
                </a:tc>
                <a:tc>
                  <a:txBody>
                    <a:bodyPr/>
                    <a:lstStyle/>
                    <a:p>
                      <a:pPr algn="l" fontAlgn="b"/>
                      <a:r>
                        <a:rPr lang="en-IN" sz="1000" b="0" i="0" u="none" strike="noStrike">
                          <a:solidFill>
                            <a:srgbClr val="000000"/>
                          </a:solidFill>
                          <a:effectLst/>
                          <a:latin typeface="Calibri" panose="020F0502020204030204" pitchFamily="34" charset="0"/>
                        </a:rPr>
                        <a:t>Rating factors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702145215"/>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Premium Guidelines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819328889"/>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a:solidFill>
                            <a:srgbClr val="000000"/>
                          </a:solidFill>
                          <a:effectLst/>
                          <a:latin typeface="Calibri" panose="020F0502020204030204" pitchFamily="34" charset="0"/>
                        </a:rPr>
                        <a:t>What Does a BOP Cost</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83335062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a:solidFill>
                            <a:srgbClr val="000000"/>
                          </a:solidFill>
                          <a:effectLst/>
                          <a:latin typeface="Calibri" panose="020F0502020204030204" pitchFamily="34" charset="0"/>
                        </a:rPr>
                        <a:t>Average Cost of a BOP</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33181563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dirty="0">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1652744597"/>
                  </a:ext>
                </a:extLst>
              </a:tr>
              <a:tr h="152714">
                <a:tc>
                  <a:txBody>
                    <a:bodyPr/>
                    <a:lstStyle/>
                    <a:p>
                      <a:pPr algn="r" fontAlgn="b"/>
                      <a:r>
                        <a:rPr lang="en-IN" sz="1000" b="0" i="0" u="none" strike="noStrike">
                          <a:solidFill>
                            <a:srgbClr val="000000"/>
                          </a:solidFill>
                          <a:effectLst/>
                          <a:latin typeface="Calibri" panose="020F0502020204030204" pitchFamily="34" charset="0"/>
                        </a:rPr>
                        <a:t>5</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rowSpan="8">
                  <a:txBody>
                    <a:bodyPr/>
                    <a:lstStyle/>
                    <a:p>
                      <a:pPr algn="ctr" fontAlgn="ctr"/>
                      <a:r>
                        <a:rPr lang="en-IN" sz="1000" b="0" i="0" u="none" strike="noStrike" dirty="0">
                          <a:solidFill>
                            <a:srgbClr val="0000FF"/>
                          </a:solidFill>
                          <a:effectLst/>
                          <a:latin typeface="Calibri" panose="020F0502020204030204" pitchFamily="34" charset="0"/>
                        </a:rPr>
                        <a:t>BOP Policy issuance</a:t>
                      </a:r>
                    </a:p>
                  </a:txBody>
                  <a:tcPr marL="3908" marR="3908" marT="3908" marB="0" anchor="ctr">
                    <a:lnL>
                      <a:noFill/>
                    </a:lnL>
                    <a:lnR>
                      <a:noFill/>
                    </a:lnR>
                    <a:lnT>
                      <a:noFill/>
                    </a:lnT>
                    <a:lnB>
                      <a:noFill/>
                    </a:lnB>
                  </a:tcPr>
                </a:tc>
                <a:tc>
                  <a:txBody>
                    <a:bodyPr/>
                    <a:lstStyle/>
                    <a:p>
                      <a:pPr algn="l" fontAlgn="b"/>
                      <a:r>
                        <a:rPr lang="en-IN" sz="1000" b="0" i="0" u="none" strike="noStrike">
                          <a:solidFill>
                            <a:srgbClr val="000000"/>
                          </a:solidFill>
                          <a:effectLst/>
                          <a:latin typeface="Calibri" panose="020F0502020204030204" pitchFamily="34" charset="0"/>
                        </a:rPr>
                        <a:t>BOP Policy Forms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553220954"/>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Input Forms Output Forms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84859053"/>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Valuation Methods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132211034"/>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Policy Issuance Flow</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324880253"/>
                  </a:ext>
                </a:extLst>
              </a:tr>
              <a:tr h="301787">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dirty="0">
                          <a:solidFill>
                            <a:srgbClr val="000000"/>
                          </a:solidFill>
                          <a:effectLst/>
                          <a:latin typeface="Calibri" panose="020F0502020204030204" pitchFamily="34" charset="0"/>
                        </a:rPr>
                        <a:t>Case study &amp; Discussion-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A snapshot at a Restaurant looking for insurance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077212871"/>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rowSpan="2">
                  <a:txBody>
                    <a:bodyPr/>
                    <a:lstStyle/>
                    <a:p>
                      <a:pPr algn="l" fontAlgn="b"/>
                      <a:r>
                        <a:rPr lang="en-IN" sz="1000" b="0" i="0" u="none" strike="noStrike">
                          <a:solidFill>
                            <a:srgbClr val="000000"/>
                          </a:solidFill>
                          <a:effectLst/>
                          <a:latin typeface="Calibri" panose="020F0502020204030204" pitchFamily="34" charset="0"/>
                        </a:rPr>
                        <a:t>Sample Policy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85456104"/>
                  </a:ext>
                </a:extLst>
              </a:tr>
              <a:tr h="0">
                <a:tc rowSpan="2">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vMerge="1">
                  <a:txBody>
                    <a:bodyPr/>
                    <a:lstStyle/>
                    <a:p>
                      <a:pPr algn="l" fontAlgn="b"/>
                      <a:r>
                        <a:rPr lang="en-IN" sz="700" b="0" i="0" u="none" strike="noStrike">
                          <a:solidFill>
                            <a:srgbClr val="000000"/>
                          </a:solidFill>
                          <a:effectLst/>
                          <a:latin typeface="Calibri" panose="020F0502020204030204" pitchFamily="34" charset="0"/>
                        </a:rPr>
                        <a:t>Declaration Page- A snap shot</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152971011"/>
                  </a:ext>
                </a:extLst>
              </a:tr>
              <a:tr h="152714">
                <a:tc vMerge="1">
                  <a:txBody>
                    <a:bodyPr/>
                    <a:lstStyle/>
                    <a:p>
                      <a:pPr algn="l" fontAlgn="b"/>
                      <a:endParaRPr lang="en-IN" sz="700" b="0" i="0" u="none" strike="noStrike">
                        <a:solidFill>
                          <a:srgbClr val="000000"/>
                        </a:solidFill>
                        <a:effectLst/>
                        <a:latin typeface="Calibri" panose="020F0502020204030204" pitchFamily="34" charset="0"/>
                      </a:endParaRP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pPr algn="ctr" fontAlgn="ctr"/>
                      <a:endParaRPr lang="en-IN" sz="700" b="0" i="0" u="none" strike="noStrike">
                        <a:solidFill>
                          <a:srgbClr val="0000FF"/>
                        </a:solidFill>
                        <a:effectLst/>
                        <a:latin typeface="Calibri" panose="020F0502020204030204" pitchFamily="34" charset="0"/>
                      </a:endParaRPr>
                    </a:p>
                  </a:txBody>
                  <a:tcPr marL="3908" marR="3908" marT="3908" marB="0" anchor="ctr">
                    <a:lnL>
                      <a:noFill/>
                    </a:lnL>
                    <a:lnR>
                      <a:noFill/>
                    </a:lnR>
                    <a:lnT>
                      <a:noFill/>
                    </a:lnT>
                    <a:lnB>
                      <a:noFill/>
                    </a:lnB>
                  </a:tcPr>
                </a:tc>
                <a:tc>
                  <a:txBody>
                    <a:bodyPr/>
                    <a:lstStyle/>
                    <a:p>
                      <a:pPr algn="l" fontAlgn="b"/>
                      <a:r>
                        <a:rPr lang="en-IN" sz="1000" b="0" i="0" u="none" strike="noStrike" dirty="0">
                          <a:solidFill>
                            <a:srgbClr val="000000"/>
                          </a:solidFill>
                          <a:effectLst/>
                          <a:latin typeface="Calibri" panose="020F0502020204030204" pitchFamily="34" charset="0"/>
                        </a:rPr>
                        <a:t>Declaration Page- A snap shot</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298417780"/>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solidFill>
                      <a:srgbClr val="DDEBF7"/>
                    </a:solidFill>
                  </a:tcPr>
                </a:tc>
                <a:tc>
                  <a:txBody>
                    <a:bodyPr/>
                    <a:lstStyle/>
                    <a:p>
                      <a:pPr algn="ctr" fontAlgn="ctr"/>
                      <a:r>
                        <a:rPr lang="en-IN" sz="1000" b="0" i="0" u="none" strike="noStrike">
                          <a:solidFill>
                            <a:srgbClr val="0000FF"/>
                          </a:solidFill>
                          <a:effectLst/>
                          <a:latin typeface="Calibri" panose="020F0502020204030204" pitchFamily="34" charset="0"/>
                        </a:rPr>
                        <a:t> </a:t>
                      </a:r>
                    </a:p>
                  </a:txBody>
                  <a:tcPr marL="3908" marR="3908" marT="3908" marB="0" anchor="ctr">
                    <a:lnL>
                      <a:noFill/>
                    </a:lnL>
                    <a:lnR>
                      <a:noFill/>
                    </a:lnR>
                    <a:lnT>
                      <a:noFill/>
                    </a:lnT>
                    <a:lnB>
                      <a:noFill/>
                    </a:lnB>
                    <a:solidFill>
                      <a:srgbClr val="DDEBF7"/>
                    </a:solid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3528015319"/>
                  </a:ext>
                </a:extLst>
              </a:tr>
              <a:tr h="152714">
                <a:tc>
                  <a:txBody>
                    <a:bodyPr/>
                    <a:lstStyle/>
                    <a:p>
                      <a:pPr algn="r" fontAlgn="b"/>
                      <a:r>
                        <a:rPr lang="en-IN" sz="1000" b="0" i="0" u="none" strike="noStrike">
                          <a:solidFill>
                            <a:srgbClr val="000000"/>
                          </a:solidFill>
                          <a:effectLst/>
                          <a:latin typeface="Calibri" panose="020F0502020204030204" pitchFamily="34" charset="0"/>
                        </a:rPr>
                        <a:t>6</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rowSpan="5">
                  <a:txBody>
                    <a:bodyPr/>
                    <a:lstStyle/>
                    <a:p>
                      <a:pPr algn="ctr" fontAlgn="ctr"/>
                      <a:r>
                        <a:rPr lang="en-IN" sz="1000" b="0" i="0" u="none" strike="noStrike">
                          <a:solidFill>
                            <a:srgbClr val="0000FF"/>
                          </a:solidFill>
                          <a:effectLst/>
                          <a:latin typeface="Calibri" panose="020F0502020204030204" pitchFamily="34" charset="0"/>
                        </a:rPr>
                        <a:t>Claims Handling</a:t>
                      </a:r>
                    </a:p>
                  </a:txBody>
                  <a:tcPr marL="3908" marR="3908" marT="3908" marB="0" anchor="ctr">
                    <a:lnL>
                      <a:noFill/>
                    </a:lnL>
                    <a:lnR>
                      <a:noFill/>
                    </a:lnR>
                    <a:lnT>
                      <a:noFill/>
                    </a:lnT>
                    <a:lnB>
                      <a:noFill/>
                    </a:lnB>
                  </a:tcPr>
                </a:tc>
                <a:tc>
                  <a:txBody>
                    <a:bodyPr/>
                    <a:lstStyle/>
                    <a:p>
                      <a:pPr algn="l" fontAlgn="b"/>
                      <a:r>
                        <a:rPr lang="en-IN" sz="1000" b="0" i="0" u="none" strike="noStrike">
                          <a:solidFill>
                            <a:srgbClr val="000000"/>
                          </a:solidFill>
                          <a:effectLst/>
                          <a:latin typeface="Calibri" panose="020F0502020204030204" pitchFamily="34" charset="0"/>
                        </a:rPr>
                        <a:t>Property Damage Assessment and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662525351"/>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Recovery for Business Owners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1094302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Filing a claim</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30209666"/>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US" sz="1000" b="0" i="0" u="none" strike="noStrike">
                          <a:solidFill>
                            <a:srgbClr val="000000"/>
                          </a:solidFill>
                          <a:effectLst/>
                          <a:latin typeface="Calibri" panose="020F0502020204030204" pitchFamily="34" charset="0"/>
                        </a:rPr>
                        <a:t>Documents Required for Claim Process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41112809"/>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a:noFill/>
                    </a:lnB>
                  </a:tcPr>
                </a:tc>
                <a:tc vMerge="1">
                  <a:txBody>
                    <a:bodyPr/>
                    <a:lstStyle/>
                    <a:p>
                      <a:endParaRPr lang="en-IN"/>
                    </a:p>
                  </a:txBody>
                  <a:tcPr/>
                </a:tc>
                <a:tc>
                  <a:txBody>
                    <a:bodyPr/>
                    <a:lstStyle/>
                    <a:p>
                      <a:pPr algn="l" fontAlgn="b"/>
                      <a:r>
                        <a:rPr lang="en-IN" sz="1000" b="0" i="0" u="none" strike="noStrike">
                          <a:solidFill>
                            <a:srgbClr val="000000"/>
                          </a:solidFill>
                          <a:effectLst/>
                          <a:latin typeface="Calibri" panose="020F0502020204030204" pitchFamily="34" charset="0"/>
                        </a:rPr>
                        <a:t>Claims Flow Process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068266022"/>
                  </a:ext>
                </a:extLst>
              </a:tr>
              <a:tr h="152714">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DDEBF7"/>
                    </a:solidFill>
                  </a:tcPr>
                </a:tc>
                <a:tc>
                  <a:txBody>
                    <a:bodyPr/>
                    <a:lstStyle/>
                    <a:p>
                      <a:pPr algn="l" fontAlgn="b"/>
                      <a:r>
                        <a:rPr lang="en-IN" sz="1000" b="0" i="0" u="none" strike="noStrike">
                          <a:solidFill>
                            <a:srgbClr val="000000"/>
                          </a:solidFill>
                          <a:effectLst/>
                          <a:latin typeface="Calibri" panose="020F0502020204030204" pitchFamily="34" charset="0"/>
                        </a:rPr>
                        <a:t> </a:t>
                      </a:r>
                    </a:p>
                  </a:txBody>
                  <a:tcPr marL="3908" marR="3908" marT="3908" marB="0" anchor="b">
                    <a:lnL>
                      <a:noFill/>
                    </a:lnL>
                    <a:lnR>
                      <a:noFill/>
                    </a:lnR>
                    <a:lnT>
                      <a:noFill/>
                    </a:lnT>
                    <a:lnB w="12700" cap="flat" cmpd="sng" algn="ctr">
                      <a:solidFill>
                        <a:srgbClr val="000000"/>
                      </a:solidFill>
                      <a:prstDash val="solid"/>
                      <a:round/>
                      <a:headEnd type="none" w="med" len="med"/>
                      <a:tailEnd type="none" w="med" len="med"/>
                    </a:lnB>
                    <a:solidFill>
                      <a:srgbClr val="DDEBF7"/>
                    </a:solidFill>
                  </a:tcPr>
                </a:tc>
                <a:tc>
                  <a:txBody>
                    <a:bodyPr/>
                    <a:lstStyle/>
                    <a:p>
                      <a:pPr algn="l" fontAlgn="b"/>
                      <a:r>
                        <a:rPr lang="en-IN" sz="1000" b="0" i="0" u="none" strike="noStrike" dirty="0">
                          <a:solidFill>
                            <a:srgbClr val="000000"/>
                          </a:solidFill>
                          <a:effectLst/>
                          <a:latin typeface="Calibri" panose="020F0502020204030204" pitchFamily="34" charset="0"/>
                        </a:rPr>
                        <a:t> </a:t>
                      </a:r>
                    </a:p>
                  </a:txBody>
                  <a:tcPr marL="3908" marR="3908" marT="3908"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774789813"/>
                  </a:ext>
                </a:extLst>
              </a:tr>
            </a:tbl>
          </a:graphicData>
        </a:graphic>
      </p:graphicFrame>
    </p:spTree>
    <p:extLst>
      <p:ext uri="{BB962C8B-B14F-4D97-AF65-F5344CB8AC3E}">
        <p14:creationId xmlns:p14="http://schemas.microsoft.com/office/powerpoint/2010/main" val="2081522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D9ADC4A-E899-4AFC-A6B2-A4DC7BCC519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graphicFrame>
        <p:nvGraphicFramePr>
          <p:cNvPr id="3" name="Table 2">
            <a:extLst>
              <a:ext uri="{FF2B5EF4-FFF2-40B4-BE49-F238E27FC236}">
                <a16:creationId xmlns:a16="http://schemas.microsoft.com/office/drawing/2014/main" id="{C6E71670-2280-4A21-8FFF-C7D1E1A34064}"/>
              </a:ext>
            </a:extLst>
          </p:cNvPr>
          <p:cNvGraphicFramePr>
            <a:graphicFrameLocks noGrp="1"/>
          </p:cNvGraphicFramePr>
          <p:nvPr>
            <p:extLst>
              <p:ext uri="{D42A27DB-BD31-4B8C-83A1-F6EECF244321}">
                <p14:modId xmlns:p14="http://schemas.microsoft.com/office/powerpoint/2010/main" val="3215408097"/>
              </p:ext>
            </p:extLst>
          </p:nvPr>
        </p:nvGraphicFramePr>
        <p:xfrm>
          <a:off x="838199" y="1825625"/>
          <a:ext cx="10601325" cy="3441116"/>
        </p:xfrm>
        <a:graphic>
          <a:graphicData uri="http://schemas.openxmlformats.org/drawingml/2006/table">
            <a:tbl>
              <a:tblPr>
                <a:effectLst>
                  <a:innerShdw blurRad="114300">
                    <a:prstClr val="black"/>
                  </a:innerShdw>
                </a:effectLst>
              </a:tblPr>
              <a:tblGrid>
                <a:gridCol w="4341494">
                  <a:extLst>
                    <a:ext uri="{9D8B030D-6E8A-4147-A177-3AD203B41FA5}">
                      <a16:colId xmlns:a16="http://schemas.microsoft.com/office/drawing/2014/main" val="3298083829"/>
                    </a:ext>
                  </a:extLst>
                </a:gridCol>
                <a:gridCol w="6259831">
                  <a:extLst>
                    <a:ext uri="{9D8B030D-6E8A-4147-A177-3AD203B41FA5}">
                      <a16:colId xmlns:a16="http://schemas.microsoft.com/office/drawing/2014/main" val="1785378745"/>
                    </a:ext>
                  </a:extLst>
                </a:gridCol>
              </a:tblGrid>
              <a:tr h="152714">
                <a:tc rowSpan="7">
                  <a:txBody>
                    <a:bodyPr/>
                    <a:lstStyle/>
                    <a:p>
                      <a:pPr algn="ctr" fontAlgn="ctr"/>
                      <a:r>
                        <a:rPr lang="en-IN" sz="3200" b="0" i="0" u="none" strike="noStrike" dirty="0">
                          <a:solidFill>
                            <a:srgbClr val="0000FF"/>
                          </a:solidFill>
                          <a:effectLst/>
                          <a:latin typeface="Calibri" panose="020F0502020204030204" pitchFamily="34" charset="0"/>
                        </a:rPr>
                        <a:t>Exclusions</a:t>
                      </a:r>
                      <a:br>
                        <a:rPr lang="en-IN" sz="3200" b="0" i="0" u="none" strike="noStrike" dirty="0">
                          <a:solidFill>
                            <a:srgbClr val="0000FF"/>
                          </a:solidFill>
                          <a:effectLst/>
                          <a:latin typeface="Calibri" panose="020F0502020204030204" pitchFamily="34" charset="0"/>
                        </a:rPr>
                      </a:br>
                      <a:r>
                        <a:rPr lang="en-IN" sz="3200" b="0" i="0" u="none" strike="noStrike" dirty="0">
                          <a:solidFill>
                            <a:srgbClr val="0000FF"/>
                          </a:solidFill>
                          <a:effectLst/>
                          <a:latin typeface="Calibri" panose="020F0502020204030204" pitchFamily="34" charset="0"/>
                        </a:rPr>
                        <a:t>Endorsements </a:t>
                      </a:r>
                      <a:br>
                        <a:rPr lang="en-IN" sz="3200" b="0" i="0" u="none" strike="noStrike" dirty="0">
                          <a:solidFill>
                            <a:srgbClr val="0000FF"/>
                          </a:solidFill>
                          <a:effectLst/>
                          <a:latin typeface="Calibri" panose="020F0502020204030204" pitchFamily="34" charset="0"/>
                        </a:rPr>
                      </a:br>
                      <a:r>
                        <a:rPr lang="en-IN" sz="3200" b="0" i="0" u="none" strike="noStrike" dirty="0">
                          <a:solidFill>
                            <a:srgbClr val="0000FF"/>
                          </a:solidFill>
                          <a:effectLst/>
                          <a:latin typeface="Calibri" panose="020F0502020204030204" pitchFamily="34" charset="0"/>
                        </a:rPr>
                        <a:t>Additional Coverages</a:t>
                      </a:r>
                    </a:p>
                  </a:txBody>
                  <a:tcPr marL="3908" marR="3908" marT="3908" marB="0" anchor="ctr">
                    <a:lnL>
                      <a:noFill/>
                    </a:lnL>
                    <a:lnR>
                      <a:noFill/>
                    </a:lnR>
                    <a:lnT>
                      <a:noFill/>
                    </a:lnT>
                    <a:lnB>
                      <a:noFill/>
                    </a:lnB>
                    <a:solidFill>
                      <a:schemeClr val="accent4">
                        <a:lumMod val="20000"/>
                        <a:lumOff val="80000"/>
                      </a:schemeClr>
                    </a:solidFill>
                  </a:tcPr>
                </a:tc>
                <a:tc>
                  <a:txBody>
                    <a:bodyPr/>
                    <a:lstStyle/>
                    <a:p>
                      <a:pPr marL="457200" indent="-457200" algn="l" fontAlgn="b">
                        <a:buFont typeface="Arial" panose="020B0604020202020204" pitchFamily="34" charset="0"/>
                        <a:buChar char="•"/>
                      </a:pPr>
                      <a:r>
                        <a:rPr lang="en-IN" sz="3200" b="0" i="0" u="none" strike="noStrike" dirty="0">
                          <a:solidFill>
                            <a:srgbClr val="000000"/>
                          </a:solidFill>
                          <a:effectLst/>
                          <a:latin typeface="Calibri" panose="020F0502020204030204" pitchFamily="34" charset="0"/>
                        </a:rPr>
                        <a:t>What’s Not Covered?</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4">
                        <a:lumMod val="20000"/>
                        <a:lumOff val="80000"/>
                      </a:schemeClr>
                    </a:solidFill>
                  </a:tcPr>
                </a:tc>
                <a:extLst>
                  <a:ext uri="{0D108BD9-81ED-4DB2-BD59-A6C34878D82A}">
                    <a16:rowId xmlns:a16="http://schemas.microsoft.com/office/drawing/2014/main" val="1107626453"/>
                  </a:ext>
                </a:extLst>
              </a:tr>
              <a:tr h="152714">
                <a:tc vMerge="1">
                  <a:txBody>
                    <a:bodyPr/>
                    <a:lstStyle/>
                    <a:p>
                      <a:endParaRPr lang="en-IN"/>
                    </a:p>
                  </a:txBody>
                  <a:tcPr/>
                </a:tc>
                <a:tc>
                  <a:txBody>
                    <a:bodyPr/>
                    <a:lstStyle/>
                    <a:p>
                      <a:pPr marL="457200" indent="-457200" algn="l" fontAlgn="b">
                        <a:buFont typeface="Arial" panose="020B0604020202020204" pitchFamily="34" charset="0"/>
                        <a:buChar char="•"/>
                      </a:pPr>
                      <a:r>
                        <a:rPr lang="en-IN" sz="3200" b="0" i="0" u="none" strike="noStrike" dirty="0">
                          <a:solidFill>
                            <a:srgbClr val="000000"/>
                          </a:solidFill>
                          <a:effectLst/>
                          <a:latin typeface="Calibri" panose="020F0502020204030204" pitchFamily="34" charset="0"/>
                        </a:rPr>
                        <a:t>Extra Expenses</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4">
                        <a:lumMod val="20000"/>
                        <a:lumOff val="80000"/>
                      </a:schemeClr>
                    </a:solidFill>
                  </a:tcPr>
                </a:tc>
                <a:extLst>
                  <a:ext uri="{0D108BD9-81ED-4DB2-BD59-A6C34878D82A}">
                    <a16:rowId xmlns:a16="http://schemas.microsoft.com/office/drawing/2014/main" val="2391359610"/>
                  </a:ext>
                </a:extLst>
              </a:tr>
              <a:tr h="152714">
                <a:tc vMerge="1">
                  <a:txBody>
                    <a:bodyPr/>
                    <a:lstStyle/>
                    <a:p>
                      <a:endParaRPr lang="en-IN"/>
                    </a:p>
                  </a:txBody>
                  <a:tcPr/>
                </a:tc>
                <a:tc>
                  <a:txBody>
                    <a:bodyPr/>
                    <a:lstStyle/>
                    <a:p>
                      <a:pPr marL="457200" indent="-457200" algn="l" fontAlgn="b">
                        <a:buFont typeface="Arial" panose="020B0604020202020204" pitchFamily="34" charset="0"/>
                        <a:buChar char="•"/>
                      </a:pPr>
                      <a:r>
                        <a:rPr lang="en-IN" sz="3200" b="0" i="0" u="none" strike="noStrike" dirty="0">
                          <a:solidFill>
                            <a:srgbClr val="000000"/>
                          </a:solidFill>
                          <a:effectLst/>
                          <a:latin typeface="Calibri" panose="020F0502020204030204" pitchFamily="34" charset="0"/>
                        </a:rPr>
                        <a:t>Inland Marine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4">
                        <a:lumMod val="20000"/>
                        <a:lumOff val="80000"/>
                      </a:schemeClr>
                    </a:solidFill>
                  </a:tcPr>
                </a:tc>
                <a:extLst>
                  <a:ext uri="{0D108BD9-81ED-4DB2-BD59-A6C34878D82A}">
                    <a16:rowId xmlns:a16="http://schemas.microsoft.com/office/drawing/2014/main" val="61100018"/>
                  </a:ext>
                </a:extLst>
              </a:tr>
              <a:tr h="152714">
                <a:tc vMerge="1">
                  <a:txBody>
                    <a:bodyPr/>
                    <a:lstStyle/>
                    <a:p>
                      <a:endParaRPr lang="en-IN"/>
                    </a:p>
                  </a:txBody>
                  <a:tcPr/>
                </a:tc>
                <a:tc>
                  <a:txBody>
                    <a:bodyPr/>
                    <a:lstStyle/>
                    <a:p>
                      <a:pPr marL="457200" indent="-457200" algn="l" fontAlgn="b">
                        <a:buFont typeface="Arial" panose="020B0604020202020204" pitchFamily="34" charset="0"/>
                        <a:buChar char="•"/>
                      </a:pPr>
                      <a:r>
                        <a:rPr lang="en-IN" sz="3200" b="0" i="0" u="none" strike="noStrike" dirty="0">
                          <a:solidFill>
                            <a:srgbClr val="000000"/>
                          </a:solidFill>
                          <a:effectLst/>
                          <a:latin typeface="Calibri" panose="020F0502020204030204" pitchFamily="34" charset="0"/>
                        </a:rPr>
                        <a:t>Equipment Breakdown</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4">
                        <a:lumMod val="20000"/>
                        <a:lumOff val="80000"/>
                      </a:schemeClr>
                    </a:solidFill>
                  </a:tcPr>
                </a:tc>
                <a:extLst>
                  <a:ext uri="{0D108BD9-81ED-4DB2-BD59-A6C34878D82A}">
                    <a16:rowId xmlns:a16="http://schemas.microsoft.com/office/drawing/2014/main" val="2860874251"/>
                  </a:ext>
                </a:extLst>
              </a:tr>
              <a:tr h="152714">
                <a:tc vMerge="1">
                  <a:txBody>
                    <a:bodyPr/>
                    <a:lstStyle/>
                    <a:p>
                      <a:endParaRPr lang="en-IN"/>
                    </a:p>
                  </a:txBody>
                  <a:tcPr/>
                </a:tc>
                <a:tc>
                  <a:txBody>
                    <a:bodyPr/>
                    <a:lstStyle/>
                    <a:p>
                      <a:pPr marL="457200" indent="-457200" algn="l" fontAlgn="b">
                        <a:buFont typeface="Arial" panose="020B0604020202020204" pitchFamily="34" charset="0"/>
                        <a:buChar char="•"/>
                      </a:pPr>
                      <a:r>
                        <a:rPr lang="en-IN" sz="3200" b="0" i="0" u="none" strike="noStrike" dirty="0">
                          <a:solidFill>
                            <a:srgbClr val="000000"/>
                          </a:solidFill>
                          <a:effectLst/>
                          <a:latin typeface="Calibri" panose="020F0502020204030204" pitchFamily="34" charset="0"/>
                        </a:rPr>
                        <a:t>Spoilage</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4">
                        <a:lumMod val="20000"/>
                        <a:lumOff val="80000"/>
                      </a:schemeClr>
                    </a:solidFill>
                  </a:tcPr>
                </a:tc>
                <a:extLst>
                  <a:ext uri="{0D108BD9-81ED-4DB2-BD59-A6C34878D82A}">
                    <a16:rowId xmlns:a16="http://schemas.microsoft.com/office/drawing/2014/main" val="1673938151"/>
                  </a:ext>
                </a:extLst>
              </a:tr>
              <a:tr h="152714">
                <a:tc vMerge="1">
                  <a:txBody>
                    <a:bodyPr/>
                    <a:lstStyle/>
                    <a:p>
                      <a:endParaRPr lang="en-IN"/>
                    </a:p>
                  </a:txBody>
                  <a:tcPr/>
                </a:tc>
                <a:tc>
                  <a:txBody>
                    <a:bodyPr/>
                    <a:lstStyle/>
                    <a:p>
                      <a:pPr marL="457200" indent="-457200" algn="l" fontAlgn="b">
                        <a:buFont typeface="Arial" panose="020B0604020202020204" pitchFamily="34" charset="0"/>
                        <a:buChar char="•"/>
                      </a:pPr>
                      <a:r>
                        <a:rPr lang="en-IN" sz="3200" b="0" i="0" u="none" strike="noStrike" dirty="0">
                          <a:solidFill>
                            <a:srgbClr val="000000"/>
                          </a:solidFill>
                          <a:effectLst/>
                          <a:latin typeface="Calibri" panose="020F0502020204030204" pitchFamily="34" charset="0"/>
                        </a:rPr>
                        <a:t>Employee Theft </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4">
                        <a:lumMod val="20000"/>
                        <a:lumOff val="80000"/>
                      </a:schemeClr>
                    </a:solidFill>
                  </a:tcPr>
                </a:tc>
                <a:extLst>
                  <a:ext uri="{0D108BD9-81ED-4DB2-BD59-A6C34878D82A}">
                    <a16:rowId xmlns:a16="http://schemas.microsoft.com/office/drawing/2014/main" val="1365701997"/>
                  </a:ext>
                </a:extLst>
              </a:tr>
              <a:tr h="152714">
                <a:tc vMerge="1">
                  <a:txBody>
                    <a:bodyPr/>
                    <a:lstStyle/>
                    <a:p>
                      <a:endParaRPr lang="en-IN"/>
                    </a:p>
                  </a:txBody>
                  <a:tcPr/>
                </a:tc>
                <a:tc>
                  <a:txBody>
                    <a:bodyPr/>
                    <a:lstStyle/>
                    <a:p>
                      <a:pPr marL="457200" indent="-457200" algn="l" fontAlgn="b">
                        <a:buFont typeface="Arial" panose="020B0604020202020204" pitchFamily="34" charset="0"/>
                        <a:buChar char="•"/>
                      </a:pPr>
                      <a:r>
                        <a:rPr lang="en-IN" sz="3200" b="0" i="0" u="none" strike="noStrike" dirty="0">
                          <a:solidFill>
                            <a:srgbClr val="000000"/>
                          </a:solidFill>
                          <a:effectLst/>
                          <a:latin typeface="Calibri" panose="020F0502020204030204" pitchFamily="34" charset="0"/>
                        </a:rPr>
                        <a:t>Etc.</a:t>
                      </a:r>
                    </a:p>
                  </a:txBody>
                  <a:tcPr marL="3908" marR="3908" marT="3908" marB="0" anchor="b">
                    <a:lnL>
                      <a:noFill/>
                    </a:lnL>
                    <a:lnR w="12700" cap="flat" cmpd="sng" algn="ctr">
                      <a:solidFill>
                        <a:srgbClr val="000000"/>
                      </a:solidFill>
                      <a:prstDash val="solid"/>
                      <a:round/>
                      <a:headEnd type="none" w="med" len="med"/>
                      <a:tailEnd type="none" w="med" len="med"/>
                    </a:lnR>
                    <a:lnT>
                      <a:noFill/>
                    </a:lnT>
                    <a:lnB>
                      <a:noFill/>
                    </a:lnB>
                    <a:solidFill>
                      <a:schemeClr val="accent4">
                        <a:lumMod val="20000"/>
                        <a:lumOff val="80000"/>
                      </a:schemeClr>
                    </a:solidFill>
                  </a:tcPr>
                </a:tc>
                <a:extLst>
                  <a:ext uri="{0D108BD9-81ED-4DB2-BD59-A6C34878D82A}">
                    <a16:rowId xmlns:a16="http://schemas.microsoft.com/office/drawing/2014/main" val="2391590441"/>
                  </a:ext>
                </a:extLst>
              </a:tr>
            </a:tbl>
          </a:graphicData>
        </a:graphic>
      </p:graphicFrame>
    </p:spTree>
    <p:extLst>
      <p:ext uri="{BB962C8B-B14F-4D97-AF65-F5344CB8AC3E}">
        <p14:creationId xmlns:p14="http://schemas.microsoft.com/office/powerpoint/2010/main" val="330138679"/>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F4C4F3-C39C-49FC-8503-910E66E1B001}"/>
              </a:ext>
            </a:extLst>
          </p:cNvPr>
          <p:cNvSpPr txBox="1"/>
          <p:nvPr/>
        </p:nvSpPr>
        <p:spPr>
          <a:xfrm>
            <a:off x="1119883" y="2782669"/>
            <a:ext cx="9780998" cy="646331"/>
          </a:xfrm>
          <a:prstGeom prst="rect">
            <a:avLst/>
          </a:prstGeom>
          <a:noFill/>
          <a:ln>
            <a:solidFill>
              <a:srgbClr val="0000FF"/>
            </a:solidFill>
          </a:ln>
        </p:spPr>
        <p:txBody>
          <a:bodyPr wrap="square" rtlCol="0">
            <a:spAutoFit/>
          </a:bodyPr>
          <a:lstStyle/>
          <a:p>
            <a:r>
              <a:rPr lang="en-US" dirty="0"/>
              <a:t>Let’s quickly look the specific items that are covered/ protected in Property and Liability coverages and then move to the items that are not covered or excluded.</a:t>
            </a:r>
            <a:endParaRPr lang="en-IN" dirty="0"/>
          </a:p>
        </p:txBody>
      </p:sp>
    </p:spTree>
    <p:extLst>
      <p:ext uri="{BB962C8B-B14F-4D97-AF65-F5344CB8AC3E}">
        <p14:creationId xmlns:p14="http://schemas.microsoft.com/office/powerpoint/2010/main" val="1591345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32D679-B4E9-4AB3-B3E5-4409C95FDDFB}"/>
              </a:ext>
            </a:extLst>
          </p:cNvPr>
          <p:cNvSpPr txBox="1"/>
          <p:nvPr/>
        </p:nvSpPr>
        <p:spPr>
          <a:xfrm>
            <a:off x="233736" y="123558"/>
            <a:ext cx="6097712" cy="369332"/>
          </a:xfrm>
          <a:prstGeom prst="rect">
            <a:avLst/>
          </a:prstGeom>
          <a:noFill/>
        </p:spPr>
        <p:txBody>
          <a:bodyPr wrap="square">
            <a:spAutoFit/>
          </a:bodyPr>
          <a:lstStyle/>
          <a:p>
            <a:r>
              <a:rPr lang="en-IN" dirty="0">
                <a:solidFill>
                  <a:srgbClr val="0000FF"/>
                </a:solidFill>
              </a:rPr>
              <a:t>Coverages - Property</a:t>
            </a:r>
          </a:p>
        </p:txBody>
      </p:sp>
      <p:pic>
        <p:nvPicPr>
          <p:cNvPr id="4" name="Picture 3">
            <a:extLst>
              <a:ext uri="{FF2B5EF4-FFF2-40B4-BE49-F238E27FC236}">
                <a16:creationId xmlns:a16="http://schemas.microsoft.com/office/drawing/2014/main" id="{1728F48C-47DA-4BA3-B0D3-972B501989D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6" name="TextBox 5">
            <a:extLst>
              <a:ext uri="{FF2B5EF4-FFF2-40B4-BE49-F238E27FC236}">
                <a16:creationId xmlns:a16="http://schemas.microsoft.com/office/drawing/2014/main" id="{6E447C6F-ABE9-4C3E-A5D4-939BADB18D51}"/>
              </a:ext>
            </a:extLst>
          </p:cNvPr>
          <p:cNvSpPr txBox="1"/>
          <p:nvPr/>
        </p:nvSpPr>
        <p:spPr>
          <a:xfrm>
            <a:off x="1096766" y="1374409"/>
            <a:ext cx="7369140" cy="2862322"/>
          </a:xfrm>
          <a:prstGeom prst="rect">
            <a:avLst/>
          </a:prstGeom>
          <a:noFill/>
        </p:spPr>
        <p:txBody>
          <a:bodyPr wrap="square">
            <a:spAutoFit/>
          </a:bodyPr>
          <a:lstStyle/>
          <a:p>
            <a:r>
              <a:rPr lang="en-US" dirty="0">
                <a:solidFill>
                  <a:srgbClr val="0000FF"/>
                </a:solidFill>
              </a:rPr>
              <a:t>Buildings </a:t>
            </a:r>
          </a:p>
          <a:p>
            <a:endParaRPr lang="en-US" dirty="0"/>
          </a:p>
          <a:p>
            <a:pPr marL="742950" lvl="1" indent="-285750">
              <a:buFont typeface="Courier New" panose="02070309020205020404" pitchFamily="49" charset="0"/>
              <a:buChar char="o"/>
            </a:pPr>
            <a:r>
              <a:rPr lang="en-US" dirty="0"/>
              <a:t>Structure mentioned at the location </a:t>
            </a:r>
          </a:p>
          <a:p>
            <a:pPr marL="742950" lvl="1" indent="-285750">
              <a:buFont typeface="Courier New" panose="02070309020205020404" pitchFamily="49" charset="0"/>
              <a:buChar char="o"/>
            </a:pPr>
            <a:r>
              <a:rPr lang="en-US" dirty="0"/>
              <a:t>Completed additions</a:t>
            </a:r>
          </a:p>
          <a:p>
            <a:pPr marL="742950" lvl="1" indent="-285750">
              <a:buFont typeface="Courier New" panose="02070309020205020404" pitchFamily="49" charset="0"/>
              <a:buChar char="o"/>
            </a:pPr>
            <a:r>
              <a:rPr lang="en-US" dirty="0"/>
              <a:t>Fixtures (including outdoor fixtures)</a:t>
            </a:r>
          </a:p>
          <a:p>
            <a:pPr marL="742950" lvl="1" indent="-285750">
              <a:buFont typeface="Courier New" panose="02070309020205020404" pitchFamily="49" charset="0"/>
              <a:buChar char="o"/>
            </a:pPr>
            <a:r>
              <a:rPr lang="en-US" dirty="0"/>
              <a:t>Permanently installed – machinery and equipment</a:t>
            </a:r>
          </a:p>
          <a:p>
            <a:pPr marL="742950" lvl="1" indent="-285750">
              <a:buFont typeface="Courier New" panose="02070309020205020404" pitchFamily="49" charset="0"/>
              <a:buChar char="o"/>
            </a:pPr>
            <a:r>
              <a:rPr lang="en-US" dirty="0"/>
              <a:t>Personal property in apartments</a:t>
            </a:r>
          </a:p>
          <a:p>
            <a:pPr marL="742950" lvl="1" indent="-285750">
              <a:buFont typeface="Courier New" panose="02070309020205020404" pitchFamily="49" charset="0"/>
              <a:buChar char="o"/>
            </a:pPr>
            <a:r>
              <a:rPr lang="en-US" dirty="0"/>
              <a:t>Personal property owned to maintain/service the building</a:t>
            </a:r>
          </a:p>
          <a:p>
            <a:pPr marL="742950" lvl="1" indent="-285750">
              <a:buFont typeface="Courier New" panose="02070309020205020404" pitchFamily="49" charset="0"/>
              <a:buChar char="o"/>
            </a:pPr>
            <a:r>
              <a:rPr lang="en-US" dirty="0"/>
              <a:t>Construction equipment and supplies – within 100 feet of the described premise (if not covered by any other insurance)</a:t>
            </a:r>
          </a:p>
        </p:txBody>
      </p:sp>
    </p:spTree>
    <p:extLst>
      <p:ext uri="{BB962C8B-B14F-4D97-AF65-F5344CB8AC3E}">
        <p14:creationId xmlns:p14="http://schemas.microsoft.com/office/powerpoint/2010/main" val="4165968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B5E0E3-1900-486D-B24D-682179244256}"/>
              </a:ext>
            </a:extLst>
          </p:cNvPr>
          <p:cNvSpPr txBox="1"/>
          <p:nvPr/>
        </p:nvSpPr>
        <p:spPr>
          <a:xfrm>
            <a:off x="1820312" y="1881245"/>
            <a:ext cx="8067782" cy="923330"/>
          </a:xfrm>
          <a:prstGeom prst="rect">
            <a:avLst/>
          </a:prstGeom>
          <a:noFill/>
        </p:spPr>
        <p:txBody>
          <a:bodyPr wrap="square">
            <a:spAutoFit/>
          </a:bodyPr>
          <a:lstStyle/>
          <a:p>
            <a:pPr marL="285750" indent="-285750">
              <a:buFont typeface="Arial" panose="020B0604020202020204" pitchFamily="34" charset="0"/>
              <a:buChar char="•"/>
            </a:pPr>
            <a:r>
              <a:rPr lang="en-US" dirty="0"/>
              <a:t>Property owned and used for business</a:t>
            </a:r>
          </a:p>
          <a:p>
            <a:pPr marL="285750" indent="-285750">
              <a:buFont typeface="Arial" panose="020B0604020202020204" pitchFamily="34" charset="0"/>
              <a:buChar char="•"/>
            </a:pPr>
            <a:r>
              <a:rPr lang="en-US" dirty="0"/>
              <a:t>Other’s property used for your business </a:t>
            </a:r>
          </a:p>
          <a:p>
            <a:pPr marL="285750" indent="-285750">
              <a:buFont typeface="Arial" panose="020B0604020202020204" pitchFamily="34" charset="0"/>
              <a:buChar char="•"/>
            </a:pPr>
            <a:r>
              <a:rPr lang="en-US" dirty="0"/>
              <a:t>Property within your contractual liability</a:t>
            </a:r>
          </a:p>
        </p:txBody>
      </p:sp>
      <p:sp>
        <p:nvSpPr>
          <p:cNvPr id="5" name="TextBox 4">
            <a:extLst>
              <a:ext uri="{FF2B5EF4-FFF2-40B4-BE49-F238E27FC236}">
                <a16:creationId xmlns:a16="http://schemas.microsoft.com/office/drawing/2014/main" id="{D8A722A8-31E4-4529-9A0C-3D7C35D68A60}"/>
              </a:ext>
            </a:extLst>
          </p:cNvPr>
          <p:cNvSpPr txBox="1"/>
          <p:nvPr/>
        </p:nvSpPr>
        <p:spPr>
          <a:xfrm>
            <a:off x="161817" y="431991"/>
            <a:ext cx="9300682" cy="400110"/>
          </a:xfrm>
          <a:prstGeom prst="rect">
            <a:avLst/>
          </a:prstGeom>
          <a:noFill/>
        </p:spPr>
        <p:txBody>
          <a:bodyPr wrap="square">
            <a:spAutoFit/>
          </a:bodyPr>
          <a:lstStyle/>
          <a:p>
            <a:r>
              <a:rPr lang="en-US" sz="2000" dirty="0">
                <a:solidFill>
                  <a:srgbClr val="0000FF"/>
                </a:solidFill>
              </a:rPr>
              <a:t>Business Personal Property (inside the premise or within 100 feet of the premise)</a:t>
            </a:r>
          </a:p>
        </p:txBody>
      </p:sp>
      <p:pic>
        <p:nvPicPr>
          <p:cNvPr id="6" name="Picture 5">
            <a:extLst>
              <a:ext uri="{FF2B5EF4-FFF2-40B4-BE49-F238E27FC236}">
                <a16:creationId xmlns:a16="http://schemas.microsoft.com/office/drawing/2014/main" id="{203B9600-5FB4-4458-952D-F39FAE99536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Tree>
    <p:extLst>
      <p:ext uri="{BB962C8B-B14F-4D97-AF65-F5344CB8AC3E}">
        <p14:creationId xmlns:p14="http://schemas.microsoft.com/office/powerpoint/2010/main" val="806689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AB10EA-4A12-44C0-AD03-984C1CC2629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4" name="TextBox 3">
            <a:extLst>
              <a:ext uri="{FF2B5EF4-FFF2-40B4-BE49-F238E27FC236}">
                <a16:creationId xmlns:a16="http://schemas.microsoft.com/office/drawing/2014/main" id="{BF427FE0-D8F0-4F74-B236-B3BDAFA36E34}"/>
              </a:ext>
            </a:extLst>
          </p:cNvPr>
          <p:cNvSpPr txBox="1"/>
          <p:nvPr/>
        </p:nvSpPr>
        <p:spPr>
          <a:xfrm>
            <a:off x="788327" y="1569995"/>
            <a:ext cx="6096000" cy="4247317"/>
          </a:xfrm>
          <a:prstGeom prst="rect">
            <a:avLst/>
          </a:prstGeom>
          <a:noFill/>
        </p:spPr>
        <p:txBody>
          <a:bodyPr wrap="square">
            <a:spAutoFit/>
          </a:bodyPr>
          <a:lstStyle/>
          <a:p>
            <a:pPr marL="379796" indent="-285750">
              <a:buFont typeface="Arial" panose="020B0604020202020204" pitchFamily="34" charset="0"/>
              <a:buChar char="•"/>
            </a:pPr>
            <a:r>
              <a:rPr lang="en-US" dirty="0">
                <a:latin typeface="Segoe UI Light" panose="020B0502040204020203" pitchFamily="34" charset="0"/>
              </a:rPr>
              <a:t>Debris removal</a:t>
            </a:r>
          </a:p>
          <a:p>
            <a:pPr marL="379796" indent="-285750">
              <a:buFont typeface="Arial" panose="020B0604020202020204" pitchFamily="34" charset="0"/>
              <a:buChar char="•"/>
            </a:pPr>
            <a:r>
              <a:rPr lang="en-US" dirty="0">
                <a:latin typeface="Segoe UI Light" panose="020B0502040204020203" pitchFamily="34" charset="0"/>
              </a:rPr>
              <a:t>Preservation of property</a:t>
            </a:r>
          </a:p>
          <a:p>
            <a:pPr marL="379796" indent="-285750">
              <a:buFont typeface="Arial" panose="020B0604020202020204" pitchFamily="34" charset="0"/>
              <a:buChar char="•"/>
            </a:pPr>
            <a:r>
              <a:rPr lang="en-US" dirty="0">
                <a:latin typeface="Segoe UI Light" panose="020B0502040204020203" pitchFamily="34" charset="0"/>
              </a:rPr>
              <a:t>Fire department service charge</a:t>
            </a:r>
          </a:p>
          <a:p>
            <a:pPr marL="379796" indent="-285750">
              <a:buFont typeface="Arial" panose="020B0604020202020204" pitchFamily="34" charset="0"/>
              <a:buChar char="•"/>
            </a:pPr>
            <a:r>
              <a:rPr lang="en-US" dirty="0">
                <a:latin typeface="Segoe UI Light" panose="020B0502040204020203" pitchFamily="34" charset="0"/>
              </a:rPr>
              <a:t>Collapse</a:t>
            </a:r>
          </a:p>
          <a:p>
            <a:pPr marL="379796" indent="-285750">
              <a:buFont typeface="Arial" panose="020B0604020202020204" pitchFamily="34" charset="0"/>
              <a:buChar char="•"/>
            </a:pPr>
            <a:r>
              <a:rPr lang="en-US" dirty="0">
                <a:latin typeface="Segoe UI Light" panose="020B0502040204020203" pitchFamily="34" charset="0"/>
              </a:rPr>
              <a:t>Water damage and other liquids</a:t>
            </a:r>
          </a:p>
          <a:p>
            <a:pPr marL="379796" indent="-285750">
              <a:buFont typeface="Arial" panose="020B0604020202020204" pitchFamily="34" charset="0"/>
              <a:buChar char="•"/>
            </a:pPr>
            <a:r>
              <a:rPr lang="en-US" dirty="0">
                <a:latin typeface="Segoe UI Light" panose="020B0502040204020203" pitchFamily="34" charset="0"/>
              </a:rPr>
              <a:t>Business income</a:t>
            </a:r>
          </a:p>
          <a:p>
            <a:pPr marL="379796" indent="-285750">
              <a:buFont typeface="Arial" panose="020B0604020202020204" pitchFamily="34" charset="0"/>
              <a:buChar char="•"/>
            </a:pPr>
            <a:r>
              <a:rPr lang="en-US" dirty="0">
                <a:latin typeface="Segoe UI Light" panose="020B0502040204020203" pitchFamily="34" charset="0"/>
              </a:rPr>
              <a:t>Extended business income</a:t>
            </a:r>
          </a:p>
          <a:p>
            <a:pPr marL="379796" indent="-285750">
              <a:buFont typeface="Arial" panose="020B0604020202020204" pitchFamily="34" charset="0"/>
              <a:buChar char="•"/>
            </a:pPr>
            <a:r>
              <a:rPr lang="en-US" dirty="0">
                <a:latin typeface="Segoe UI Light" panose="020B0502040204020203" pitchFamily="34" charset="0"/>
              </a:rPr>
              <a:t>Extra expense</a:t>
            </a:r>
          </a:p>
          <a:p>
            <a:pPr marL="379796" indent="-285750">
              <a:buFont typeface="Arial" panose="020B0604020202020204" pitchFamily="34" charset="0"/>
              <a:buChar char="•"/>
            </a:pPr>
            <a:r>
              <a:rPr lang="en-US" dirty="0">
                <a:latin typeface="Segoe UI Light" panose="020B0502040204020203" pitchFamily="34" charset="0"/>
              </a:rPr>
              <a:t>Pollution cleanup and removal</a:t>
            </a:r>
          </a:p>
          <a:p>
            <a:pPr marL="379796" indent="-285750">
              <a:buFont typeface="Arial" panose="020B0604020202020204" pitchFamily="34" charset="0"/>
              <a:buChar char="•"/>
            </a:pPr>
            <a:r>
              <a:rPr lang="en-US" dirty="0">
                <a:latin typeface="Segoe UI Light" panose="020B0502040204020203" pitchFamily="34" charset="0"/>
              </a:rPr>
              <a:t>Civil authority</a:t>
            </a:r>
          </a:p>
          <a:p>
            <a:pPr marL="379796" indent="-285750">
              <a:buFont typeface="Arial" panose="020B0604020202020204" pitchFamily="34" charset="0"/>
              <a:buChar char="•"/>
            </a:pPr>
            <a:r>
              <a:rPr lang="en-US" dirty="0">
                <a:latin typeface="Segoe UI Light" panose="020B0502040204020203" pitchFamily="34" charset="0"/>
              </a:rPr>
              <a:t>Increased cost of construction</a:t>
            </a:r>
          </a:p>
          <a:p>
            <a:pPr marL="379796" indent="-285750">
              <a:buFont typeface="Arial" panose="020B0604020202020204" pitchFamily="34" charset="0"/>
              <a:buChar char="•"/>
            </a:pPr>
            <a:r>
              <a:rPr lang="en-US" dirty="0">
                <a:latin typeface="Segoe UI Light" panose="020B0502040204020203" pitchFamily="34" charset="0"/>
              </a:rPr>
              <a:t>Glass expenses</a:t>
            </a:r>
          </a:p>
          <a:p>
            <a:pPr marL="379796" indent="-285750">
              <a:buFont typeface="Arial" panose="020B0604020202020204" pitchFamily="34" charset="0"/>
              <a:buChar char="•"/>
            </a:pPr>
            <a:r>
              <a:rPr lang="en-US" dirty="0">
                <a:latin typeface="Segoe UI Light" panose="020B0502040204020203" pitchFamily="34" charset="0"/>
              </a:rPr>
              <a:t>Electronic data</a:t>
            </a:r>
          </a:p>
          <a:p>
            <a:pPr marL="379796" indent="-285750">
              <a:buFont typeface="Arial" panose="020B0604020202020204" pitchFamily="34" charset="0"/>
              <a:buChar char="•"/>
            </a:pPr>
            <a:r>
              <a:rPr lang="en-US" dirty="0">
                <a:latin typeface="Segoe UI Light" panose="020B0502040204020203" pitchFamily="34" charset="0"/>
              </a:rPr>
              <a:t>Interruption of computer operations</a:t>
            </a:r>
          </a:p>
          <a:p>
            <a:pPr marL="285750" indent="-285750">
              <a:buFont typeface="Arial" panose="020B0604020202020204" pitchFamily="34" charset="0"/>
              <a:buChar char="•"/>
            </a:pPr>
            <a:endParaRPr lang="en-US" dirty="0"/>
          </a:p>
        </p:txBody>
      </p:sp>
      <p:sp>
        <p:nvSpPr>
          <p:cNvPr id="6" name="TextBox 5">
            <a:extLst>
              <a:ext uri="{FF2B5EF4-FFF2-40B4-BE49-F238E27FC236}">
                <a16:creationId xmlns:a16="http://schemas.microsoft.com/office/drawing/2014/main" id="{D0424408-E2E9-42EC-A06E-7FB43E300252}"/>
              </a:ext>
            </a:extLst>
          </p:cNvPr>
          <p:cNvSpPr txBox="1"/>
          <p:nvPr/>
        </p:nvSpPr>
        <p:spPr>
          <a:xfrm>
            <a:off x="155826" y="1169885"/>
            <a:ext cx="6096000" cy="400110"/>
          </a:xfrm>
          <a:prstGeom prst="rect">
            <a:avLst/>
          </a:prstGeom>
          <a:noFill/>
        </p:spPr>
        <p:txBody>
          <a:bodyPr wrap="square">
            <a:spAutoFit/>
          </a:bodyPr>
          <a:lstStyle/>
          <a:p>
            <a:r>
              <a:rPr lang="en-IN" sz="2000" dirty="0">
                <a:solidFill>
                  <a:srgbClr val="0000FF"/>
                </a:solidFill>
              </a:rPr>
              <a:t>Additional property coverages</a:t>
            </a:r>
          </a:p>
        </p:txBody>
      </p:sp>
      <p:sp>
        <p:nvSpPr>
          <p:cNvPr id="8" name="TextBox 7">
            <a:extLst>
              <a:ext uri="{FF2B5EF4-FFF2-40B4-BE49-F238E27FC236}">
                <a16:creationId xmlns:a16="http://schemas.microsoft.com/office/drawing/2014/main" id="{C50D572A-D91F-4329-A0EE-2F23CA93A793}"/>
              </a:ext>
            </a:extLst>
          </p:cNvPr>
          <p:cNvSpPr txBox="1"/>
          <p:nvPr/>
        </p:nvSpPr>
        <p:spPr>
          <a:xfrm>
            <a:off x="6251826" y="1219887"/>
            <a:ext cx="6097712" cy="400110"/>
          </a:xfrm>
          <a:prstGeom prst="rect">
            <a:avLst/>
          </a:prstGeom>
          <a:noFill/>
        </p:spPr>
        <p:txBody>
          <a:bodyPr wrap="square">
            <a:spAutoFit/>
          </a:bodyPr>
          <a:lstStyle/>
          <a:p>
            <a:r>
              <a:rPr lang="en-IN" sz="2000" dirty="0">
                <a:solidFill>
                  <a:srgbClr val="0000FF"/>
                </a:solidFill>
              </a:rPr>
              <a:t>Optional coverages</a:t>
            </a:r>
          </a:p>
        </p:txBody>
      </p:sp>
      <p:sp>
        <p:nvSpPr>
          <p:cNvPr id="10" name="TextBox 9">
            <a:extLst>
              <a:ext uri="{FF2B5EF4-FFF2-40B4-BE49-F238E27FC236}">
                <a16:creationId xmlns:a16="http://schemas.microsoft.com/office/drawing/2014/main" id="{5E51BA67-C2F7-43F4-9272-59631912687A}"/>
              </a:ext>
            </a:extLst>
          </p:cNvPr>
          <p:cNvSpPr txBox="1"/>
          <p:nvPr/>
        </p:nvSpPr>
        <p:spPr>
          <a:xfrm>
            <a:off x="6783513" y="1673904"/>
            <a:ext cx="5257800" cy="3139321"/>
          </a:xfrm>
          <a:prstGeom prst="rect">
            <a:avLst/>
          </a:prstGeom>
          <a:noFill/>
        </p:spPr>
        <p:txBody>
          <a:bodyPr wrap="square">
            <a:spAutoFit/>
          </a:bodyPr>
          <a:lstStyle/>
          <a:p>
            <a:pPr marL="285750" indent="-285750">
              <a:buFont typeface="Arial" panose="020B0604020202020204" pitchFamily="34" charset="0"/>
              <a:buChar char="•"/>
            </a:pPr>
            <a:r>
              <a:rPr lang="en-US" dirty="0"/>
              <a:t>Employee dishonesty</a:t>
            </a:r>
          </a:p>
          <a:p>
            <a:pPr marL="285750" indent="-285750">
              <a:buFont typeface="Arial" panose="020B0604020202020204" pitchFamily="34" charset="0"/>
              <a:buChar char="•"/>
            </a:pPr>
            <a:r>
              <a:rPr lang="en-US" dirty="0"/>
              <a:t>Money and securities(special form) or burglary and robbery (named peril form)</a:t>
            </a:r>
          </a:p>
          <a:p>
            <a:pPr marL="285750" indent="-285750">
              <a:buFont typeface="Arial" panose="020B0604020202020204" pitchFamily="34" charset="0"/>
              <a:buChar char="•"/>
            </a:pPr>
            <a:r>
              <a:rPr lang="en-US" dirty="0"/>
              <a:t>Forgery</a:t>
            </a:r>
          </a:p>
          <a:p>
            <a:pPr marL="285750" indent="-285750">
              <a:buFont typeface="Arial" panose="020B0604020202020204" pitchFamily="34" charset="0"/>
              <a:buChar char="•"/>
            </a:pPr>
            <a:r>
              <a:rPr lang="en-US" dirty="0"/>
              <a:t>Interior/exterior glass</a:t>
            </a:r>
          </a:p>
          <a:p>
            <a:pPr marL="285750" indent="-285750">
              <a:buFont typeface="Arial" panose="020B0604020202020204" pitchFamily="34" charset="0"/>
              <a:buChar char="•"/>
            </a:pPr>
            <a:r>
              <a:rPr lang="en-US" dirty="0"/>
              <a:t>Outdoor signs</a:t>
            </a:r>
          </a:p>
          <a:p>
            <a:pPr marL="285750" indent="-285750">
              <a:buFont typeface="Arial" panose="020B0604020202020204" pitchFamily="34" charset="0"/>
              <a:buChar char="•"/>
            </a:pPr>
            <a:r>
              <a:rPr lang="en-US" dirty="0"/>
              <a:t>Mechanical breakdown</a:t>
            </a:r>
          </a:p>
          <a:p>
            <a:pPr marL="285750" indent="-285750">
              <a:buFont typeface="Arial" panose="020B0604020202020204" pitchFamily="34" charset="0"/>
              <a:buChar char="•"/>
            </a:pPr>
            <a:r>
              <a:rPr lang="en-US" dirty="0"/>
              <a:t>Money orders and counterfeit paper currency</a:t>
            </a:r>
          </a:p>
          <a:p>
            <a:pPr marL="285750" indent="-285750">
              <a:buFont typeface="Arial" panose="020B0604020202020204" pitchFamily="34" charset="0"/>
              <a:buChar char="•"/>
            </a:pPr>
            <a:r>
              <a:rPr lang="en-US" dirty="0"/>
              <a:t>Computer coverage </a:t>
            </a:r>
          </a:p>
          <a:p>
            <a:pPr marL="285750" indent="-285750">
              <a:buFont typeface="Arial" panose="020B0604020202020204" pitchFamily="34" charset="0"/>
              <a:buChar char="•"/>
            </a:pPr>
            <a:r>
              <a:rPr lang="en-US" dirty="0"/>
              <a:t>Accounts receivable</a:t>
            </a:r>
          </a:p>
          <a:p>
            <a:pPr marL="285750" indent="-285750">
              <a:buFont typeface="Arial" panose="020B0604020202020204" pitchFamily="34" charset="0"/>
              <a:buChar char="•"/>
            </a:pPr>
            <a:r>
              <a:rPr lang="en-US" dirty="0"/>
              <a:t>Valuable papers and records</a:t>
            </a:r>
          </a:p>
        </p:txBody>
      </p:sp>
    </p:spTree>
    <p:extLst>
      <p:ext uri="{BB962C8B-B14F-4D97-AF65-F5344CB8AC3E}">
        <p14:creationId xmlns:p14="http://schemas.microsoft.com/office/powerpoint/2010/main" val="1003676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153854-37E6-4538-9387-AC464B64F0A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4" name="TextBox 3">
            <a:extLst>
              <a:ext uri="{FF2B5EF4-FFF2-40B4-BE49-F238E27FC236}">
                <a16:creationId xmlns:a16="http://schemas.microsoft.com/office/drawing/2014/main" id="{95A806DA-CFD5-46FF-A7A2-5B7C1E088B1B}"/>
              </a:ext>
            </a:extLst>
          </p:cNvPr>
          <p:cNvSpPr txBox="1"/>
          <p:nvPr/>
        </p:nvSpPr>
        <p:spPr>
          <a:xfrm>
            <a:off x="1647825" y="1581061"/>
            <a:ext cx="6096000" cy="923330"/>
          </a:xfrm>
          <a:prstGeom prst="rect">
            <a:avLst/>
          </a:prstGeom>
          <a:noFill/>
        </p:spPr>
        <p:txBody>
          <a:bodyPr wrap="square">
            <a:spAutoFit/>
          </a:bodyPr>
          <a:lstStyle/>
          <a:p>
            <a:pPr marL="285750" indent="-285750">
              <a:buFont typeface="Arial" panose="020B0604020202020204" pitchFamily="34" charset="0"/>
              <a:buChar char="•"/>
            </a:pPr>
            <a:r>
              <a:rPr lang="en-US" dirty="0"/>
              <a:t>Newly acquired or constructed property</a:t>
            </a:r>
          </a:p>
          <a:p>
            <a:pPr marL="285750" indent="-285750">
              <a:buFont typeface="Arial" panose="020B0604020202020204" pitchFamily="34" charset="0"/>
              <a:buChar char="•"/>
            </a:pPr>
            <a:r>
              <a:rPr lang="en-US" dirty="0"/>
              <a:t>Personal property off premises</a:t>
            </a:r>
          </a:p>
          <a:p>
            <a:pPr marL="285750" indent="-285750">
              <a:buFont typeface="Arial" panose="020B0604020202020204" pitchFamily="34" charset="0"/>
              <a:buChar char="•"/>
            </a:pPr>
            <a:r>
              <a:rPr lang="en-US" dirty="0"/>
              <a:t>Outdoor property</a:t>
            </a:r>
          </a:p>
        </p:txBody>
      </p:sp>
      <p:sp>
        <p:nvSpPr>
          <p:cNvPr id="6" name="TextBox 5">
            <a:extLst>
              <a:ext uri="{FF2B5EF4-FFF2-40B4-BE49-F238E27FC236}">
                <a16:creationId xmlns:a16="http://schemas.microsoft.com/office/drawing/2014/main" id="{C25EF1A5-F504-4266-8366-63719C688E2B}"/>
              </a:ext>
            </a:extLst>
          </p:cNvPr>
          <p:cNvSpPr txBox="1"/>
          <p:nvPr/>
        </p:nvSpPr>
        <p:spPr>
          <a:xfrm>
            <a:off x="83906" y="431991"/>
            <a:ext cx="6096000" cy="400110"/>
          </a:xfrm>
          <a:prstGeom prst="rect">
            <a:avLst/>
          </a:prstGeom>
          <a:noFill/>
        </p:spPr>
        <p:txBody>
          <a:bodyPr wrap="square">
            <a:spAutoFit/>
          </a:bodyPr>
          <a:lstStyle/>
          <a:p>
            <a:r>
              <a:rPr lang="en-IN" sz="2000" dirty="0">
                <a:solidFill>
                  <a:srgbClr val="0000FF"/>
                </a:solidFill>
              </a:rPr>
              <a:t>Coverage extensions</a:t>
            </a:r>
          </a:p>
        </p:txBody>
      </p:sp>
    </p:spTree>
    <p:extLst>
      <p:ext uri="{BB962C8B-B14F-4D97-AF65-F5344CB8AC3E}">
        <p14:creationId xmlns:p14="http://schemas.microsoft.com/office/powerpoint/2010/main" val="3148886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B928738-5ED7-4965-991E-BD260EA428C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4" name="TextBox 3">
            <a:extLst>
              <a:ext uri="{FF2B5EF4-FFF2-40B4-BE49-F238E27FC236}">
                <a16:creationId xmlns:a16="http://schemas.microsoft.com/office/drawing/2014/main" id="{7E99D8F4-AD3D-48BC-8B0B-2ADBAE22D1EF}"/>
              </a:ext>
            </a:extLst>
          </p:cNvPr>
          <p:cNvSpPr txBox="1"/>
          <p:nvPr/>
        </p:nvSpPr>
        <p:spPr>
          <a:xfrm>
            <a:off x="470042" y="1635876"/>
            <a:ext cx="5414482" cy="3416320"/>
          </a:xfrm>
          <a:prstGeom prst="rect">
            <a:avLst/>
          </a:prstGeom>
          <a:noFill/>
        </p:spPr>
        <p:txBody>
          <a:bodyPr wrap="square">
            <a:spAutoFit/>
          </a:bodyPr>
          <a:lstStyle/>
          <a:p>
            <a:pPr marL="285750" indent="-285750">
              <a:buFont typeface="Arial" panose="020B0604020202020204" pitchFamily="34" charset="0"/>
              <a:buChar char="•"/>
            </a:pPr>
            <a:r>
              <a:rPr lang="en-US" dirty="0"/>
              <a:t>Bodily injury and property damage liability</a:t>
            </a:r>
          </a:p>
          <a:p>
            <a:pPr marL="742950" lvl="1" indent="-285750">
              <a:buFont typeface="Courier New" panose="02070309020205020404" pitchFamily="49" charset="0"/>
              <a:buChar char="o"/>
            </a:pPr>
            <a:r>
              <a:rPr lang="en-US" dirty="0"/>
              <a:t>Premises and operations</a:t>
            </a:r>
          </a:p>
          <a:p>
            <a:pPr marL="742950" lvl="1" indent="-285750">
              <a:buFont typeface="Courier New" panose="02070309020205020404" pitchFamily="49" charset="0"/>
              <a:buChar char="o"/>
            </a:pPr>
            <a:r>
              <a:rPr lang="en-US" dirty="0"/>
              <a:t>Products and completed operations</a:t>
            </a:r>
          </a:p>
          <a:p>
            <a:pPr marL="742950" lvl="1" indent="-285750">
              <a:buFont typeface="Courier New" panose="02070309020205020404" pitchFamily="49" charset="0"/>
              <a:buChar char="o"/>
            </a:pPr>
            <a:r>
              <a:rPr lang="en-US" dirty="0"/>
              <a:t>Liability assumed under a contract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Personal and advertising injury liability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Medical payments coverage (paid regardless of fault)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Some BOPs automatically provide Professional liability coverage for some professions e.g. retail drugstores</a:t>
            </a:r>
          </a:p>
        </p:txBody>
      </p:sp>
      <p:sp>
        <p:nvSpPr>
          <p:cNvPr id="5" name="TextBox 4">
            <a:extLst>
              <a:ext uri="{FF2B5EF4-FFF2-40B4-BE49-F238E27FC236}">
                <a16:creationId xmlns:a16="http://schemas.microsoft.com/office/drawing/2014/main" id="{CB23EB6A-E2F0-4320-8F7E-74A0243D5015}"/>
              </a:ext>
            </a:extLst>
          </p:cNvPr>
          <p:cNvSpPr txBox="1"/>
          <p:nvPr/>
        </p:nvSpPr>
        <p:spPr>
          <a:xfrm>
            <a:off x="0" y="329059"/>
            <a:ext cx="12329160" cy="400110"/>
          </a:xfrm>
          <a:prstGeom prst="rect">
            <a:avLst/>
          </a:prstGeom>
          <a:noFill/>
        </p:spPr>
        <p:txBody>
          <a:bodyPr wrap="square">
            <a:spAutoFit/>
          </a:bodyPr>
          <a:lstStyle>
            <a:defPPr>
              <a:defRPr lang="en-US"/>
            </a:defPPr>
            <a:lvl1pPr>
              <a:defRPr sz="2000">
                <a:solidFill>
                  <a:srgbClr val="0000FF"/>
                </a:solidFil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r>
              <a:rPr lang="en-US" altLang="en-US" dirty="0"/>
              <a:t>Coverages - Liability</a:t>
            </a:r>
          </a:p>
        </p:txBody>
      </p:sp>
      <p:sp>
        <p:nvSpPr>
          <p:cNvPr id="7" name="TextBox 6">
            <a:extLst>
              <a:ext uri="{FF2B5EF4-FFF2-40B4-BE49-F238E27FC236}">
                <a16:creationId xmlns:a16="http://schemas.microsoft.com/office/drawing/2014/main" id="{C3078B72-32AA-4014-BA38-48AC5E68E739}"/>
              </a:ext>
            </a:extLst>
          </p:cNvPr>
          <p:cNvSpPr txBox="1"/>
          <p:nvPr/>
        </p:nvSpPr>
        <p:spPr>
          <a:xfrm>
            <a:off x="6380252" y="1537666"/>
            <a:ext cx="5414482" cy="3139321"/>
          </a:xfrm>
          <a:prstGeom prst="rect">
            <a:avLst/>
          </a:prstGeom>
          <a:noFill/>
        </p:spPr>
        <p:txBody>
          <a:bodyPr wrap="square">
            <a:spAutoFit/>
          </a:bodyPr>
          <a:lstStyle/>
          <a:p>
            <a:pPr marL="285750" indent="-285750">
              <a:buFont typeface="Arial" panose="020B0604020202020204" pitchFamily="34" charset="0"/>
              <a:buChar char="•"/>
            </a:pPr>
            <a:r>
              <a:rPr lang="en-US" dirty="0"/>
              <a:t>Hired and non-owned auto liability coverage can be added without having to purchase a separate business auto policy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Limit of liability is defined for - each occurrence, general aggregate and products/completed aggregate limit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Supplementary payment is provided for cost of bail bonds (up to $250), loss of earnings ( $250 per day), prejudgment interest etc.</a:t>
            </a:r>
          </a:p>
        </p:txBody>
      </p:sp>
    </p:spTree>
    <p:extLst>
      <p:ext uri="{BB962C8B-B14F-4D97-AF65-F5344CB8AC3E}">
        <p14:creationId xmlns:p14="http://schemas.microsoft.com/office/powerpoint/2010/main" val="3901883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26C2056-7555-44DB-B8EE-49D4A4D7CCF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4" name="TextBox 3">
            <a:extLst>
              <a:ext uri="{FF2B5EF4-FFF2-40B4-BE49-F238E27FC236}">
                <a16:creationId xmlns:a16="http://schemas.microsoft.com/office/drawing/2014/main" id="{B480644E-47E5-4641-A5DB-711E20DB0B37}"/>
              </a:ext>
            </a:extLst>
          </p:cNvPr>
          <p:cNvSpPr txBox="1"/>
          <p:nvPr/>
        </p:nvSpPr>
        <p:spPr>
          <a:xfrm>
            <a:off x="161925" y="431991"/>
            <a:ext cx="6096000" cy="400110"/>
          </a:xfrm>
          <a:prstGeom prst="rect">
            <a:avLst/>
          </a:prstGeom>
          <a:noFill/>
        </p:spPr>
        <p:txBody>
          <a:bodyPr wrap="square">
            <a:spAutoFit/>
          </a:bodyPr>
          <a:lstStyle/>
          <a:p>
            <a:r>
              <a:rPr lang="en-IN" sz="2000" dirty="0">
                <a:solidFill>
                  <a:srgbClr val="0000FF"/>
                </a:solidFill>
              </a:rPr>
              <a:t>BOP Endorsements</a:t>
            </a:r>
          </a:p>
        </p:txBody>
      </p:sp>
      <p:pic>
        <p:nvPicPr>
          <p:cNvPr id="6" name="Picture 5">
            <a:extLst>
              <a:ext uri="{FF2B5EF4-FFF2-40B4-BE49-F238E27FC236}">
                <a16:creationId xmlns:a16="http://schemas.microsoft.com/office/drawing/2014/main" id="{2EC34D96-69A1-453B-A6C8-9C51D89CC24C}"/>
              </a:ext>
            </a:extLst>
          </p:cNvPr>
          <p:cNvPicPr>
            <a:picLocks noChangeAspect="1"/>
          </p:cNvPicPr>
          <p:nvPr/>
        </p:nvPicPr>
        <p:blipFill>
          <a:blip r:embed="rId3"/>
          <a:stretch>
            <a:fillRect/>
          </a:stretch>
        </p:blipFill>
        <p:spPr>
          <a:xfrm>
            <a:off x="3688397" y="1181100"/>
            <a:ext cx="7477125" cy="5676900"/>
          </a:xfrm>
          <a:prstGeom prst="rect">
            <a:avLst/>
          </a:prstGeom>
        </p:spPr>
      </p:pic>
      <p:sp>
        <p:nvSpPr>
          <p:cNvPr id="9" name="TextBox 8">
            <a:extLst>
              <a:ext uri="{FF2B5EF4-FFF2-40B4-BE49-F238E27FC236}">
                <a16:creationId xmlns:a16="http://schemas.microsoft.com/office/drawing/2014/main" id="{693FCA7B-02E6-44A5-87CD-A2DA7BC07509}"/>
              </a:ext>
            </a:extLst>
          </p:cNvPr>
          <p:cNvSpPr txBox="1"/>
          <p:nvPr/>
        </p:nvSpPr>
        <p:spPr>
          <a:xfrm rot="20147751">
            <a:off x="455930" y="3105835"/>
            <a:ext cx="2600960" cy="646331"/>
          </a:xfrm>
          <a:prstGeom prst="rect">
            <a:avLst/>
          </a:prstGeom>
          <a:noFill/>
          <a:ln>
            <a:solidFill>
              <a:srgbClr val="0000FF"/>
            </a:solidFill>
          </a:ln>
        </p:spPr>
        <p:txBody>
          <a:bodyPr wrap="square" rtlCol="0">
            <a:spAutoFit/>
          </a:bodyPr>
          <a:lstStyle/>
          <a:p>
            <a:r>
              <a:rPr lang="en-US" dirty="0">
                <a:solidFill>
                  <a:srgbClr val="0000FF"/>
                </a:solidFill>
              </a:rPr>
              <a:t>All State BOP as an Example</a:t>
            </a:r>
            <a:endParaRPr lang="en-IN" dirty="0">
              <a:solidFill>
                <a:srgbClr val="0000FF"/>
              </a:solidFill>
            </a:endParaRPr>
          </a:p>
        </p:txBody>
      </p:sp>
      <p:sp>
        <p:nvSpPr>
          <p:cNvPr id="10" name="TextBox 9">
            <a:extLst>
              <a:ext uri="{FF2B5EF4-FFF2-40B4-BE49-F238E27FC236}">
                <a16:creationId xmlns:a16="http://schemas.microsoft.com/office/drawing/2014/main" id="{16003D0C-401F-495F-903E-10507FDB149B}"/>
              </a:ext>
            </a:extLst>
          </p:cNvPr>
          <p:cNvSpPr txBox="1"/>
          <p:nvPr/>
        </p:nvSpPr>
        <p:spPr>
          <a:xfrm>
            <a:off x="336562" y="5277051"/>
            <a:ext cx="2839696" cy="1200329"/>
          </a:xfrm>
          <a:prstGeom prst="rect">
            <a:avLst/>
          </a:prstGeom>
          <a:noFill/>
        </p:spPr>
        <p:txBody>
          <a:bodyPr wrap="square" rtlCol="0">
            <a:spAutoFit/>
          </a:bodyPr>
          <a:lstStyle/>
          <a:p>
            <a:r>
              <a:rPr lang="en-US" dirty="0">
                <a:solidFill>
                  <a:srgbClr val="0000FF"/>
                </a:solidFill>
              </a:rPr>
              <a:t>Endorsements are added to the main policy for extra premium as an extra protection bought.</a:t>
            </a:r>
            <a:endParaRPr lang="en-IN" dirty="0">
              <a:solidFill>
                <a:srgbClr val="0000FF"/>
              </a:solidFill>
            </a:endParaRPr>
          </a:p>
        </p:txBody>
      </p:sp>
    </p:spTree>
    <p:extLst>
      <p:ext uri="{BB962C8B-B14F-4D97-AF65-F5344CB8AC3E}">
        <p14:creationId xmlns:p14="http://schemas.microsoft.com/office/powerpoint/2010/main" val="494777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86BCFD-5E37-4F21-B6E1-9735DF08822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3" name="TextBox 2">
            <a:extLst>
              <a:ext uri="{FF2B5EF4-FFF2-40B4-BE49-F238E27FC236}">
                <a16:creationId xmlns:a16="http://schemas.microsoft.com/office/drawing/2014/main" id="{06BF3807-BB9B-4F0A-B5CC-17693C7C70A9}"/>
              </a:ext>
            </a:extLst>
          </p:cNvPr>
          <p:cNvSpPr txBox="1"/>
          <p:nvPr/>
        </p:nvSpPr>
        <p:spPr>
          <a:xfrm>
            <a:off x="161925" y="431991"/>
            <a:ext cx="6096000" cy="369332"/>
          </a:xfrm>
          <a:prstGeom prst="rect">
            <a:avLst/>
          </a:prstGeom>
          <a:noFill/>
        </p:spPr>
        <p:txBody>
          <a:bodyPr wrap="square">
            <a:spAutoFit/>
          </a:bodyPr>
          <a:lstStyle/>
          <a:p>
            <a:r>
              <a:rPr lang="en-IN" dirty="0">
                <a:solidFill>
                  <a:srgbClr val="0000FF"/>
                </a:solidFill>
              </a:rPr>
              <a:t>BOP Additional Coverages</a:t>
            </a:r>
          </a:p>
        </p:txBody>
      </p:sp>
      <p:pic>
        <p:nvPicPr>
          <p:cNvPr id="7" name="Picture 6">
            <a:extLst>
              <a:ext uri="{FF2B5EF4-FFF2-40B4-BE49-F238E27FC236}">
                <a16:creationId xmlns:a16="http://schemas.microsoft.com/office/drawing/2014/main" id="{D51FA0CB-4337-4BCD-BE94-E7DFE2322AEC}"/>
              </a:ext>
            </a:extLst>
          </p:cNvPr>
          <p:cNvPicPr>
            <a:picLocks noChangeAspect="1"/>
          </p:cNvPicPr>
          <p:nvPr/>
        </p:nvPicPr>
        <p:blipFill>
          <a:blip r:embed="rId3"/>
          <a:stretch>
            <a:fillRect/>
          </a:stretch>
        </p:blipFill>
        <p:spPr>
          <a:xfrm>
            <a:off x="2919412" y="1962150"/>
            <a:ext cx="7610475" cy="2933700"/>
          </a:xfrm>
          <a:prstGeom prst="rect">
            <a:avLst/>
          </a:prstGeom>
        </p:spPr>
      </p:pic>
      <p:pic>
        <p:nvPicPr>
          <p:cNvPr id="8" name="Picture 7">
            <a:extLst>
              <a:ext uri="{FF2B5EF4-FFF2-40B4-BE49-F238E27FC236}">
                <a16:creationId xmlns:a16="http://schemas.microsoft.com/office/drawing/2014/main" id="{B8E3F759-2129-4F51-8D9E-297C86EA94A6}"/>
              </a:ext>
            </a:extLst>
          </p:cNvPr>
          <p:cNvPicPr>
            <a:picLocks noChangeAspect="1"/>
          </p:cNvPicPr>
          <p:nvPr/>
        </p:nvPicPr>
        <p:blipFill>
          <a:blip r:embed="rId4"/>
          <a:stretch>
            <a:fillRect/>
          </a:stretch>
        </p:blipFill>
        <p:spPr>
          <a:xfrm>
            <a:off x="161925" y="2408776"/>
            <a:ext cx="2706859" cy="1767993"/>
          </a:xfrm>
          <a:prstGeom prst="rect">
            <a:avLst/>
          </a:prstGeom>
        </p:spPr>
      </p:pic>
      <p:sp>
        <p:nvSpPr>
          <p:cNvPr id="9" name="TextBox 8">
            <a:extLst>
              <a:ext uri="{FF2B5EF4-FFF2-40B4-BE49-F238E27FC236}">
                <a16:creationId xmlns:a16="http://schemas.microsoft.com/office/drawing/2014/main" id="{76C00CA8-4A2D-4E4C-92E3-DAF558F63A8C}"/>
              </a:ext>
            </a:extLst>
          </p:cNvPr>
          <p:cNvSpPr txBox="1"/>
          <p:nvPr/>
        </p:nvSpPr>
        <p:spPr>
          <a:xfrm>
            <a:off x="312612" y="5225680"/>
            <a:ext cx="3725131" cy="1477328"/>
          </a:xfrm>
          <a:prstGeom prst="rect">
            <a:avLst/>
          </a:prstGeom>
          <a:noFill/>
        </p:spPr>
        <p:txBody>
          <a:bodyPr wrap="square" rtlCol="0">
            <a:spAutoFit/>
          </a:bodyPr>
          <a:lstStyle/>
          <a:p>
            <a:r>
              <a:rPr lang="en-US" dirty="0">
                <a:solidFill>
                  <a:srgbClr val="0000FF"/>
                </a:solidFill>
              </a:rPr>
              <a:t>Additional coverages are stand alone coverages. These coverages are attached on top of the existing policy to fill the gap and make it comprehensive</a:t>
            </a:r>
            <a:endParaRPr lang="en-IN" dirty="0">
              <a:solidFill>
                <a:srgbClr val="0000FF"/>
              </a:solidFill>
            </a:endParaRPr>
          </a:p>
        </p:txBody>
      </p:sp>
    </p:spTree>
    <p:extLst>
      <p:ext uri="{BB962C8B-B14F-4D97-AF65-F5344CB8AC3E}">
        <p14:creationId xmlns:p14="http://schemas.microsoft.com/office/powerpoint/2010/main" val="4229264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87FD68-23E2-4A65-BEFC-3710C4FF7F9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4" name="TextBox 3">
            <a:extLst>
              <a:ext uri="{FF2B5EF4-FFF2-40B4-BE49-F238E27FC236}">
                <a16:creationId xmlns:a16="http://schemas.microsoft.com/office/drawing/2014/main" id="{B236DCE4-53A3-4582-AA80-C9241E473A8D}"/>
              </a:ext>
            </a:extLst>
          </p:cNvPr>
          <p:cNvSpPr txBox="1"/>
          <p:nvPr/>
        </p:nvSpPr>
        <p:spPr>
          <a:xfrm>
            <a:off x="1028699" y="1997839"/>
            <a:ext cx="10048876" cy="2585323"/>
          </a:xfrm>
          <a:prstGeom prst="rect">
            <a:avLst/>
          </a:prstGeom>
          <a:noFill/>
          <a:ln>
            <a:solidFill>
              <a:schemeClr val="accent1"/>
            </a:solidFill>
          </a:ln>
        </p:spPr>
        <p:txBody>
          <a:bodyPr wrap="square">
            <a:spAutoFit/>
          </a:bodyPr>
          <a:lstStyle/>
          <a:p>
            <a:r>
              <a:rPr lang="en-US" dirty="0"/>
              <a:t>Common exclusions depend on the coverage form chosen</a:t>
            </a:r>
          </a:p>
          <a:p>
            <a:endParaRPr lang="en-US" dirty="0"/>
          </a:p>
          <a:p>
            <a:r>
              <a:rPr lang="en-US" dirty="0">
                <a:solidFill>
                  <a:srgbClr val="0000FF"/>
                </a:solidFill>
              </a:rPr>
              <a:t>Basic and broad forms generally exclude</a:t>
            </a:r>
          </a:p>
          <a:p>
            <a:r>
              <a:rPr lang="en-US" dirty="0"/>
              <a:t>Ordinance or law, earth movement, government action, nuclear hazard, war, mechanical or electrical breakdown and steam boiler explosions, nuclear damage, war etc. </a:t>
            </a:r>
          </a:p>
          <a:p>
            <a:endParaRPr lang="en-US" dirty="0"/>
          </a:p>
          <a:p>
            <a:r>
              <a:rPr lang="en-US" dirty="0">
                <a:solidFill>
                  <a:srgbClr val="0000FF"/>
                </a:solidFill>
              </a:rPr>
              <a:t>Special form generally excludes</a:t>
            </a:r>
          </a:p>
          <a:p>
            <a:r>
              <a:rPr lang="en-US" dirty="0"/>
              <a:t>Common exclusions include wear and tear, rust, corrosion, decay, mechanical breakdown, loss or damage to products etc.</a:t>
            </a:r>
          </a:p>
        </p:txBody>
      </p:sp>
      <p:sp>
        <p:nvSpPr>
          <p:cNvPr id="6" name="TextBox 5">
            <a:extLst>
              <a:ext uri="{FF2B5EF4-FFF2-40B4-BE49-F238E27FC236}">
                <a16:creationId xmlns:a16="http://schemas.microsoft.com/office/drawing/2014/main" id="{BF7E62D1-E092-4B84-999B-9E1950C38922}"/>
              </a:ext>
            </a:extLst>
          </p:cNvPr>
          <p:cNvSpPr txBox="1"/>
          <p:nvPr/>
        </p:nvSpPr>
        <p:spPr>
          <a:xfrm>
            <a:off x="209550" y="348734"/>
            <a:ext cx="6096000" cy="400110"/>
          </a:xfrm>
          <a:prstGeom prst="rect">
            <a:avLst/>
          </a:prstGeom>
          <a:noFill/>
        </p:spPr>
        <p:txBody>
          <a:bodyPr wrap="square">
            <a:spAutoFit/>
          </a:bodyPr>
          <a:lstStyle/>
          <a:p>
            <a:r>
              <a:rPr lang="en-IN" sz="2000" dirty="0">
                <a:solidFill>
                  <a:srgbClr val="0000FF"/>
                </a:solidFill>
              </a:rPr>
              <a:t>Common exclusions </a:t>
            </a:r>
          </a:p>
        </p:txBody>
      </p:sp>
    </p:spTree>
    <p:extLst>
      <p:ext uri="{BB962C8B-B14F-4D97-AF65-F5344CB8AC3E}">
        <p14:creationId xmlns:p14="http://schemas.microsoft.com/office/powerpoint/2010/main" val="2938313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1AED6E-4880-4DBA-B2E6-0B5342E418A2}"/>
              </a:ext>
            </a:extLst>
          </p:cNvPr>
          <p:cNvSpPr txBox="1"/>
          <p:nvPr/>
        </p:nvSpPr>
        <p:spPr>
          <a:xfrm>
            <a:off x="357187" y="1254008"/>
            <a:ext cx="5824538" cy="1200329"/>
          </a:xfrm>
          <a:prstGeom prst="rect">
            <a:avLst/>
          </a:prstGeom>
          <a:noFill/>
          <a:ln>
            <a:solidFill>
              <a:srgbClr val="0000FF"/>
            </a:solidFill>
          </a:ln>
        </p:spPr>
        <p:txBody>
          <a:bodyPr wrap="square">
            <a:spAutoFit/>
          </a:bodyPr>
          <a:lstStyle/>
          <a:p>
            <a:r>
              <a:rPr lang="en-US" dirty="0"/>
              <a:t>Generally, BOPs do NOT cover :</a:t>
            </a:r>
          </a:p>
          <a:p>
            <a:r>
              <a:rPr lang="en-US" dirty="0"/>
              <a:t>1. Professional liability (Errors &amp; Omissions), </a:t>
            </a:r>
          </a:p>
          <a:p>
            <a:r>
              <a:rPr lang="en-US" dirty="0"/>
              <a:t>2. Auto insurance, </a:t>
            </a:r>
          </a:p>
          <a:p>
            <a:r>
              <a:rPr lang="en-US" dirty="0"/>
              <a:t>3. Worker's compensation or health and disability insurance.</a:t>
            </a:r>
            <a:endParaRPr lang="en-IN" dirty="0"/>
          </a:p>
        </p:txBody>
      </p:sp>
      <p:sp>
        <p:nvSpPr>
          <p:cNvPr id="5" name="TextBox 4">
            <a:extLst>
              <a:ext uri="{FF2B5EF4-FFF2-40B4-BE49-F238E27FC236}">
                <a16:creationId xmlns:a16="http://schemas.microsoft.com/office/drawing/2014/main" id="{E45F7991-A40E-4CAA-B657-9D507C5C465E}"/>
              </a:ext>
            </a:extLst>
          </p:cNvPr>
          <p:cNvSpPr txBox="1"/>
          <p:nvPr/>
        </p:nvSpPr>
        <p:spPr>
          <a:xfrm>
            <a:off x="85725" y="509099"/>
            <a:ext cx="6096000" cy="369332"/>
          </a:xfrm>
          <a:prstGeom prst="rect">
            <a:avLst/>
          </a:prstGeom>
          <a:noFill/>
        </p:spPr>
        <p:txBody>
          <a:bodyPr wrap="square">
            <a:spAutoFit/>
          </a:bodyPr>
          <a:lstStyle/>
          <a:p>
            <a:r>
              <a:rPr lang="en-IN" dirty="0">
                <a:solidFill>
                  <a:srgbClr val="0000FF"/>
                </a:solidFill>
              </a:rPr>
              <a:t>What’s Not Covered?</a:t>
            </a:r>
          </a:p>
        </p:txBody>
      </p:sp>
      <p:pic>
        <p:nvPicPr>
          <p:cNvPr id="6" name="Picture 5">
            <a:extLst>
              <a:ext uri="{FF2B5EF4-FFF2-40B4-BE49-F238E27FC236}">
                <a16:creationId xmlns:a16="http://schemas.microsoft.com/office/drawing/2014/main" id="{C32166B5-33AA-44D8-9EF0-8C3A6B66932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906" y="801323"/>
            <a:ext cx="9804188" cy="264653"/>
          </a:xfrm>
          <a:prstGeom prst="rect">
            <a:avLst/>
          </a:prstGeom>
        </p:spPr>
      </p:pic>
      <p:sp>
        <p:nvSpPr>
          <p:cNvPr id="10" name="TextBox 9">
            <a:extLst>
              <a:ext uri="{FF2B5EF4-FFF2-40B4-BE49-F238E27FC236}">
                <a16:creationId xmlns:a16="http://schemas.microsoft.com/office/drawing/2014/main" id="{03782F56-0009-438E-8DCF-62BE96CB9884}"/>
              </a:ext>
            </a:extLst>
          </p:cNvPr>
          <p:cNvSpPr txBox="1"/>
          <p:nvPr/>
        </p:nvSpPr>
        <p:spPr>
          <a:xfrm>
            <a:off x="357188" y="2529691"/>
            <a:ext cx="5824538" cy="3970318"/>
          </a:xfrm>
          <a:prstGeom prst="rect">
            <a:avLst/>
          </a:prstGeom>
          <a:noFill/>
          <a:ln>
            <a:solidFill>
              <a:schemeClr val="accent1"/>
            </a:solidFill>
          </a:ln>
        </p:spPr>
        <p:txBody>
          <a:bodyPr wrap="square">
            <a:spAutoFit/>
          </a:bodyPr>
          <a:lstStyle/>
          <a:p>
            <a:r>
              <a:rPr lang="en-US" dirty="0"/>
              <a:t>Business owners' insurance protects your business from accidental and sudden losses. However, some losses aren’t covered.</a:t>
            </a:r>
          </a:p>
          <a:p>
            <a:pPr marL="285750" indent="-285750">
              <a:buFont typeface="Arial" panose="020B0604020202020204" pitchFamily="34" charset="0"/>
              <a:buChar char="•"/>
            </a:pPr>
            <a:r>
              <a:rPr lang="en-US" dirty="0">
                <a:solidFill>
                  <a:srgbClr val="0000FF"/>
                </a:solidFill>
              </a:rPr>
              <a:t>Equipment breakdowns in the business.</a:t>
            </a:r>
          </a:p>
          <a:p>
            <a:pPr lvl="1"/>
            <a:r>
              <a:rPr lang="en-US" dirty="0"/>
              <a:t>Basic equipment maintenance and repairs are not covered. However, if equipment is damaged due to a covered loss, </a:t>
            </a:r>
            <a:r>
              <a:rPr lang="en-US" dirty="0" err="1"/>
              <a:t>yourpolicy</a:t>
            </a:r>
            <a:r>
              <a:rPr lang="en-US" dirty="0"/>
              <a:t> would pay to fix it. For example, if your copier breakdown due to an artificially generated current, its repair would be covered.</a:t>
            </a:r>
          </a:p>
          <a:p>
            <a:pPr marL="285750" indent="-285750">
              <a:buFont typeface="Arial" panose="020B0604020202020204" pitchFamily="34" charset="0"/>
              <a:buChar char="•"/>
            </a:pPr>
            <a:r>
              <a:rPr lang="en-US" dirty="0">
                <a:solidFill>
                  <a:srgbClr val="0000FF"/>
                </a:solidFill>
              </a:rPr>
              <a:t>Floods, earthquakes and water backup.</a:t>
            </a:r>
          </a:p>
          <a:p>
            <a:pPr lvl="1"/>
            <a:r>
              <a:rPr lang="en-US" dirty="0"/>
              <a:t>Floods, earthquakes and water (sewer) backups are typically excluded from business owners insurance. If you want to purchase additional insurance to cover these events, talk to your local Agent</a:t>
            </a:r>
            <a:endParaRPr lang="en-IN" dirty="0"/>
          </a:p>
        </p:txBody>
      </p:sp>
      <p:pic>
        <p:nvPicPr>
          <p:cNvPr id="12" name="Picture 11">
            <a:extLst>
              <a:ext uri="{FF2B5EF4-FFF2-40B4-BE49-F238E27FC236}">
                <a16:creationId xmlns:a16="http://schemas.microsoft.com/office/drawing/2014/main" id="{E0378BA5-EC1F-4B6C-87A9-8B14BB2077B2}"/>
              </a:ext>
            </a:extLst>
          </p:cNvPr>
          <p:cNvPicPr>
            <a:picLocks noChangeAspect="1"/>
          </p:cNvPicPr>
          <p:nvPr/>
        </p:nvPicPr>
        <p:blipFill>
          <a:blip r:embed="rId3"/>
          <a:stretch>
            <a:fillRect/>
          </a:stretch>
        </p:blipFill>
        <p:spPr>
          <a:xfrm>
            <a:off x="6291262" y="1447799"/>
            <a:ext cx="5824538" cy="4981575"/>
          </a:xfrm>
          <a:prstGeom prst="rect">
            <a:avLst/>
          </a:prstGeom>
        </p:spPr>
      </p:pic>
    </p:spTree>
    <p:extLst>
      <p:ext uri="{BB962C8B-B14F-4D97-AF65-F5344CB8AC3E}">
        <p14:creationId xmlns:p14="http://schemas.microsoft.com/office/powerpoint/2010/main" val="3025851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VIKI Document" ma:contentTypeID="0x010100A9C68CA7C7CB9747850736716ABD16DF00BE1DFF25D8869449A28818D1AF9444E1" ma:contentTypeVersion="20" ma:contentTypeDescription="" ma:contentTypeScope="" ma:versionID="92b093353b9940d7edd8e21a01084bae">
  <xsd:schema xmlns:xsd="http://www.w3.org/2001/XMLSchema" xmlns:xs="http://www.w3.org/2001/XMLSchema" xmlns:p="http://schemas.microsoft.com/office/2006/metadata/properties" xmlns:ns2="09339d3a-aaa0-497d-ae73-d8a5832d420d" xmlns:ns3="1b0447fd-b4de-47d5-99cd-696b41a805aa" xmlns:ns4="54644d9b-790a-4fc8-9e5d-73cde5ed7352" targetNamespace="http://schemas.microsoft.com/office/2006/metadata/properties" ma:root="true" ma:fieldsID="7b049ac841faef01dc341f5e9116bb68" ns2:_="" ns3:_="" ns4:_="">
    <xsd:import namespace="09339d3a-aaa0-497d-ae73-d8a5832d420d"/>
    <xsd:import namespace="1b0447fd-b4de-47d5-99cd-696b41a805aa"/>
    <xsd:import namespace="54644d9b-790a-4fc8-9e5d-73cde5ed7352"/>
    <xsd:element name="properties">
      <xsd:complexType>
        <xsd:sequence>
          <xsd:element name="documentManagement">
            <xsd:complexType>
              <xsd:all>
                <xsd:element ref="ns2:Classification"/>
                <xsd:element ref="ns2:Departments"/>
                <xsd:element ref="ns2:SubCategory"/>
                <xsd:element ref="ns2:Tags"/>
                <xsd:element ref="ns2:Contributors"/>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Departments" ma:index="9"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0" ma:displayName="SubCategory" ma:format="Dropdown" ma:internalName="SubCategory">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1" ma:displayName="Tags" ma:internalName="Tags">
      <xsd:simpleType>
        <xsd:restriction base="dms:Text">
          <xsd:maxLength value="255"/>
        </xsd:restriction>
      </xsd:simpleType>
    </xsd:element>
    <xsd:element name="Contributors" ma:index="12"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b0447fd-b4de-47d5-99cd-696b41a805aa" elementFormDefault="qualified">
    <xsd:import namespace="http://schemas.microsoft.com/office/2006/documentManagement/types"/>
    <xsd:import namespace="http://schemas.microsoft.com/office/infopath/2007/PartnerControls"/>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644d9b-790a-4fc8-9e5d-73cde5ed735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haredContentType xmlns="Microsoft.SharePoint.Taxonomy.ContentTypeSync" SourceId="41087d73-5bfe-4c6e-a130-3d602495565a" ContentTypeId="0x010100A9C68CA7C7CB9747850736716ABD16DF"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Contributors xmlns="09339d3a-aaa0-497d-ae73-d8a5832d420d">
      <UserInfo>
        <DisplayName>Alok Bharati</DisplayName>
        <AccountId>26</AccountId>
        <AccountType/>
      </UserInfo>
    </Contributors>
    <SubCategory xmlns="09339d3a-aaa0-497d-ae73-d8a5832d420d">Learning</SubCategory>
    <Tags xmlns="09339d3a-aaa0-497d-ae73-d8a5832d420d">BOP</Tags>
  </documentManagement>
</p:properties>
</file>

<file path=customXml/itemProps1.xml><?xml version="1.0" encoding="utf-8"?>
<ds:datastoreItem xmlns:ds="http://schemas.openxmlformats.org/officeDocument/2006/customXml" ds:itemID="{B1840216-BCA0-496C-B147-0AF014D831EE}"/>
</file>

<file path=customXml/itemProps2.xml><?xml version="1.0" encoding="utf-8"?>
<ds:datastoreItem xmlns:ds="http://schemas.openxmlformats.org/officeDocument/2006/customXml" ds:itemID="{FF6AD96E-895C-4D26-9712-F5C6BC427188}"/>
</file>

<file path=customXml/itemProps3.xml><?xml version="1.0" encoding="utf-8"?>
<ds:datastoreItem xmlns:ds="http://schemas.openxmlformats.org/officeDocument/2006/customXml" ds:itemID="{83D2AF77-83C5-4BCE-B22B-F7190AB389E0}"/>
</file>

<file path=customXml/itemProps4.xml><?xml version="1.0" encoding="utf-8"?>
<ds:datastoreItem xmlns:ds="http://schemas.openxmlformats.org/officeDocument/2006/customXml" ds:itemID="{A4378D53-F2C5-4EE5-9E5D-CF3654AFA7D3}"/>
</file>

<file path=docProps/app.xml><?xml version="1.0" encoding="utf-8"?>
<Properties xmlns="http://schemas.openxmlformats.org/officeDocument/2006/extended-properties" xmlns:vt="http://schemas.openxmlformats.org/officeDocument/2006/docPropsVTypes">
  <TotalTime>187</TotalTime>
  <Words>1098</Words>
  <Application>Microsoft Office PowerPoint</Application>
  <PresentationFormat>Widescreen</PresentationFormat>
  <Paragraphs>196</Paragraphs>
  <Slides>14</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Courier New</vt:lpstr>
      <vt:lpstr>Segoe UI Light</vt:lpstr>
      <vt:lpstr>Wingdings</vt:lpstr>
      <vt:lpstr>Office Theme</vt:lpstr>
      <vt:lpstr>BOP-Day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BOP-Day 3</dc:title>
  <dc:creator>Alok Bharati</dc:creator>
  <cp:lastModifiedBy>Alok Bharati</cp:lastModifiedBy>
  <cp:revision>3</cp:revision>
  <dcterms:created xsi:type="dcterms:W3CDTF">2022-01-18T13:19:38Z</dcterms:created>
  <dcterms:modified xsi:type="dcterms:W3CDTF">2022-01-24T08:15:38Z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0x010100A9C68CA7C7CB9747850736716ABD16DF00BE1DFF25D8869449A28818D1AF9444E1</vt:lpwstr>
  </property>
</Properties>
</file>
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1186" r:id="rId2"/>
    <p:sldId id="1187" r:id="rId3"/>
    <p:sldId id="1191" r:id="rId4"/>
    <p:sldId id="1189" r:id="rId5"/>
    <p:sldId id="1174" r:id="rId6"/>
    <p:sldId id="1211" r:id="rId7"/>
    <p:sldId id="321" r:id="rId8"/>
    <p:sldId id="1213" r:id="rId9"/>
    <p:sldId id="1212" r:id="rId10"/>
    <p:sldId id="1193" r:id="rId11"/>
    <p:sldId id="119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536" autoAdjust="0"/>
  </p:normalViewPr>
  <p:slideViewPr>
    <p:cSldViewPr snapToGrid="0">
      <p:cViewPr varScale="1">
        <p:scale>
          <a:sx n="56" d="100"/>
          <a:sy n="56" d="100"/>
        </p:scale>
        <p:origin x="106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customXml" Target="../customXml/item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FC304-E82B-41F1-B7B5-C8BA8485DF77}" type="datetimeFigureOut">
              <a:rPr lang="en-IN" smtClean="0"/>
              <a:t>25-01-2022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779684-50EB-46F8-8133-AB32C3DD54AC}" type="slidenum">
              <a:rPr lang="en-IN" smtClean="0"/>
              <a:t>‹#›</a:t>
            </a:fld>
            <a:endParaRPr lang="en-IN"/>
          </a:p>
        </p:txBody>
      </p:sp>
    </p:spTree>
    <p:extLst>
      <p:ext uri="{BB962C8B-B14F-4D97-AF65-F5344CB8AC3E}">
        <p14:creationId xmlns:p14="http://schemas.microsoft.com/office/powerpoint/2010/main" val="1634132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02124"/>
                </a:solidFill>
                <a:effectLst/>
                <a:latin typeface="arial" panose="020B0604020202020204" pitchFamily="34" charset="0"/>
              </a:rPr>
              <a:t>What are forms in insurance?</a:t>
            </a:r>
          </a:p>
          <a:p>
            <a:pPr algn="l"/>
            <a:r>
              <a:rPr lang="en-US" b="1" i="0" dirty="0">
                <a:solidFill>
                  <a:srgbClr val="202124"/>
                </a:solidFill>
                <a:effectLst/>
                <a:latin typeface="arial" panose="020B0604020202020204" pitchFamily="34" charset="0"/>
              </a:rPr>
              <a:t>Policy form</a:t>
            </a:r>
            <a:r>
              <a:rPr lang="en-US" b="0" i="0" dirty="0">
                <a:solidFill>
                  <a:srgbClr val="202124"/>
                </a:solidFill>
                <a:effectLst/>
                <a:latin typeface="arial" panose="020B0604020202020204" pitchFamily="34" charset="0"/>
              </a:rPr>
              <a:t> - The definitions, insuring agreement, exclusions, and conditions are typically combined into a single integrated document called a policy form. Some insurers call it a coverage form or coverage part.</a:t>
            </a:r>
          </a:p>
          <a:p>
            <a:endParaRPr lang="en-IN" dirty="0"/>
          </a:p>
          <a:p>
            <a:pPr algn="l"/>
            <a:r>
              <a:rPr lang="en-US" b="0" i="0" dirty="0">
                <a:solidFill>
                  <a:srgbClr val="202124"/>
                </a:solidFill>
                <a:effectLst/>
                <a:latin typeface="arial" panose="020B0604020202020204" pitchFamily="34" charset="0"/>
              </a:rPr>
              <a:t>What are ISO forms in insurance?</a:t>
            </a:r>
          </a:p>
          <a:p>
            <a:pPr algn="l"/>
            <a:r>
              <a:rPr lang="en-US" b="0" i="0" dirty="0">
                <a:solidFill>
                  <a:srgbClr val="202124"/>
                </a:solidFill>
                <a:effectLst/>
                <a:latin typeface="arial" panose="020B0604020202020204" pitchFamily="34" charset="0"/>
              </a:rPr>
              <a:t>Causes of Loss Forms</a:t>
            </a:r>
            <a:br>
              <a:rPr lang="en-US" b="0" i="0" dirty="0">
                <a:solidFill>
                  <a:srgbClr val="202124"/>
                </a:solidFill>
                <a:effectLst/>
                <a:latin typeface="arial" panose="020B0604020202020204" pitchFamily="34" charset="0"/>
              </a:rPr>
            </a:br>
            <a:br>
              <a:rPr lang="en-US" b="0" i="0" dirty="0">
                <a:solidFill>
                  <a:srgbClr val="202124"/>
                </a:solidFill>
                <a:effectLst/>
                <a:latin typeface="arial" panose="020B0604020202020204" pitchFamily="34" charset="0"/>
              </a:rPr>
            </a:br>
            <a:r>
              <a:rPr lang="en-US" b="0" i="0" dirty="0">
                <a:solidFill>
                  <a:srgbClr val="202124"/>
                </a:solidFill>
                <a:effectLst/>
                <a:latin typeface="arial" panose="020B0604020202020204" pitchFamily="34" charset="0"/>
              </a:rPr>
              <a:t>(ISO), </a:t>
            </a:r>
            <a:r>
              <a:rPr lang="en-US" b="1" i="0" dirty="0">
                <a:solidFill>
                  <a:srgbClr val="202124"/>
                </a:solidFill>
                <a:effectLst/>
                <a:latin typeface="arial" panose="020B0604020202020204" pitchFamily="34" charset="0"/>
              </a:rPr>
              <a:t>commercial property insurance forms that establish and define the causes of loss (or perils) for which coverage is provided</a:t>
            </a:r>
            <a:r>
              <a:rPr lang="en-US" b="0" i="0" dirty="0">
                <a:solidFill>
                  <a:srgbClr val="202124"/>
                </a:solidFill>
                <a:effectLst/>
                <a:latin typeface="arial" panose="020B0604020202020204" pitchFamily="34" charset="0"/>
              </a:rPr>
              <a:t>.</a:t>
            </a:r>
          </a:p>
          <a:p>
            <a:endParaRPr lang="en-IN" dirty="0"/>
          </a:p>
          <a:p>
            <a:pPr algn="l"/>
            <a:r>
              <a:rPr lang="en-US" b="0" i="0" dirty="0">
                <a:solidFill>
                  <a:srgbClr val="202124"/>
                </a:solidFill>
                <a:effectLst/>
                <a:latin typeface="arial" panose="020B0604020202020204" pitchFamily="34" charset="0"/>
              </a:rPr>
              <a:t>Where can I find ISO forms?</a:t>
            </a:r>
          </a:p>
          <a:p>
            <a:pPr algn="l"/>
            <a:r>
              <a:rPr lang="en-US" b="1" i="0" dirty="0">
                <a:solidFill>
                  <a:srgbClr val="202124"/>
                </a:solidFill>
                <a:effectLst/>
                <a:latin typeface="arial" panose="020B0604020202020204" pitchFamily="34" charset="0"/>
              </a:rPr>
              <a:t>www.documents.dgs.ca.gov</a:t>
            </a:r>
            <a:r>
              <a:rPr lang="en-US" b="0" i="0" dirty="0">
                <a:solidFill>
                  <a:srgbClr val="202124"/>
                </a:solidFill>
                <a:effectLst/>
                <a:latin typeface="arial" panose="020B0604020202020204" pitchFamily="34" charset="0"/>
              </a:rPr>
              <a:t> - /iso/Forms/</a:t>
            </a:r>
          </a:p>
          <a:p>
            <a:endParaRPr lang="en-IN" dirty="0"/>
          </a:p>
          <a:p>
            <a:endParaRPr lang="en-IN" dirty="0"/>
          </a:p>
        </p:txBody>
      </p:sp>
      <p:sp>
        <p:nvSpPr>
          <p:cNvPr id="4" name="Slide Number Placeholder 3"/>
          <p:cNvSpPr>
            <a:spLocks noGrp="1"/>
          </p:cNvSpPr>
          <p:nvPr>
            <p:ph type="sldNum" sz="quarter" idx="5"/>
          </p:nvPr>
        </p:nvSpPr>
        <p:spPr/>
        <p:txBody>
          <a:bodyPr/>
          <a:lstStyle/>
          <a:p>
            <a:fld id="{F7D7E84E-8FF7-4E10-B2F0-59BCF5376287}" type="slidenum">
              <a:rPr lang="en-IN" smtClean="0"/>
              <a:t>3</a:t>
            </a:fld>
            <a:endParaRPr lang="en-IN"/>
          </a:p>
        </p:txBody>
      </p:sp>
    </p:spTree>
    <p:extLst>
      <p:ext uri="{BB962C8B-B14F-4D97-AF65-F5344CB8AC3E}">
        <p14:creationId xmlns:p14="http://schemas.microsoft.com/office/powerpoint/2010/main" val="1909761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dirty="0">
                <a:solidFill>
                  <a:srgbClr val="000000"/>
                </a:solidFill>
                <a:latin typeface="Times New Roman"/>
                <a:cs typeface="Times New Roman"/>
              </a:rPr>
              <a:t>Covered Causes of Loss and Valuation Provisions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1" dirty="0">
              <a:solidFill>
                <a:srgbClr val="000000"/>
              </a:solidFill>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solidFill>
                  <a:srgbClr val="000000"/>
                </a:solidFill>
                <a:latin typeface="Times New Roman"/>
                <a:cs typeface="Times New Roman"/>
              </a:rPr>
              <a:t>The ISO commercial property program offers three causes of loss forms—</a:t>
            </a:r>
            <a:br>
              <a:rPr lang="en-CA" sz="1200" dirty="0">
                <a:solidFill>
                  <a:srgbClr val="000000"/>
                </a:solidFill>
                <a:latin typeface="Times New Roman"/>
              </a:rPr>
            </a:br>
            <a:r>
              <a:rPr lang="en-CA" sz="1200" dirty="0">
                <a:solidFill>
                  <a:srgbClr val="000000"/>
                </a:solidFill>
                <a:latin typeface="Times New Roman"/>
                <a:cs typeface="Times New Roman"/>
              </a:rPr>
              <a:t>basic, broad, and special. Most insurers offer only two versions of the BOP</a:t>
            </a:r>
            <a:br>
              <a:rPr lang="en-CA" sz="1200" dirty="0">
                <a:solidFill>
                  <a:srgbClr val="000000"/>
                </a:solidFill>
                <a:latin typeface="Times New Roman"/>
              </a:rPr>
            </a:br>
            <a:r>
              <a:rPr lang="en-CA" sz="1200" dirty="0">
                <a:solidFill>
                  <a:srgbClr val="000000"/>
                </a:solidFill>
                <a:latin typeface="Times New Roman"/>
                <a:cs typeface="Times New Roman"/>
              </a:rPr>
              <a:t>property coverage—a named perils form, similar to the commercial property</a:t>
            </a:r>
            <a:br>
              <a:rPr lang="en-CA" sz="1200" dirty="0">
                <a:solidFill>
                  <a:srgbClr val="000000"/>
                </a:solidFill>
                <a:latin typeface="Times New Roman"/>
              </a:rPr>
            </a:br>
            <a:r>
              <a:rPr lang="en-CA" sz="1200" dirty="0">
                <a:solidFill>
                  <a:srgbClr val="000000"/>
                </a:solidFill>
                <a:latin typeface="Times New Roman"/>
                <a:cs typeface="Times New Roman"/>
              </a:rPr>
              <a:t>broad form, and a special form. The special form predominates; in fact, some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solidFill>
                  <a:srgbClr val="000000"/>
                </a:solidFill>
                <a:latin typeface="Times New Roman"/>
                <a:cs typeface="Times New Roman"/>
              </a:rPr>
              <a:t>The standard valuation provision in BOPs is replacement cost, whereas the</a:t>
            </a:r>
            <a:br>
              <a:rPr lang="en-CA" sz="1200" dirty="0">
                <a:solidFill>
                  <a:srgbClr val="000000"/>
                </a:solidFill>
                <a:latin typeface="Times New Roman"/>
              </a:rPr>
            </a:br>
            <a:r>
              <a:rPr lang="en-CA" sz="1200" dirty="0">
                <a:solidFill>
                  <a:srgbClr val="000000"/>
                </a:solidFill>
                <a:latin typeface="Times New Roman"/>
                <a:cs typeface="Times New Roman"/>
              </a:rPr>
              <a:t>standard valuation provision in commercial property policies is actual cash</a:t>
            </a:r>
            <a:br>
              <a:rPr lang="en-CA" sz="1200" dirty="0">
                <a:solidFill>
                  <a:srgbClr val="000000"/>
                </a:solidFill>
                <a:latin typeface="Times New Roman"/>
              </a:rPr>
            </a:br>
            <a:r>
              <a:rPr lang="en-CA" sz="1200" dirty="0">
                <a:solidFill>
                  <a:srgbClr val="000000"/>
                </a:solidFill>
                <a:latin typeface="Times New Roman"/>
                <a:cs typeface="Times New Roman"/>
              </a:rPr>
              <a:t>value. Most insurers offer actual cash value as an option for BOPs, just as</a:t>
            </a:r>
            <a:br>
              <a:rPr lang="en-CA" sz="1200" dirty="0">
                <a:solidFill>
                  <a:srgbClr val="000000"/>
                </a:solidFill>
                <a:latin typeface="Times New Roman"/>
              </a:rPr>
            </a:br>
            <a:r>
              <a:rPr lang="en-CA" sz="1200" dirty="0">
                <a:solidFill>
                  <a:srgbClr val="000000"/>
                </a:solidFill>
                <a:latin typeface="Times New Roman"/>
                <a:cs typeface="Times New Roman"/>
              </a:rPr>
              <a:t>replacement cost is an option in commercial property policies.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solidFill>
                <a:srgbClr val="000000"/>
              </a:solidFill>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Subsequently, ISO introduced an option to remove the insurance-to-value</a:t>
            </a:r>
            <a:br>
              <a:rPr lang="en-CA" dirty="0"/>
            </a:br>
            <a:r>
              <a:rPr lang="en-CA" dirty="0"/>
              <a:t>requirement by endorsement. Although many insurers currently do not</a:t>
            </a:r>
            <a:br>
              <a:rPr lang="en-CA" dirty="0"/>
            </a:br>
            <a:r>
              <a:rPr lang="en-CA" dirty="0"/>
              <a:t>include an insurance-to-value provision in their BOPs, its use is becoming</a:t>
            </a:r>
            <a:br>
              <a:rPr lang="en-CA" dirty="0"/>
            </a:br>
            <a:r>
              <a:rPr lang="en-CA" dirty="0"/>
              <a:t>more widespread. The American Association of Insurance Services (AAIS)</a:t>
            </a:r>
            <a:br>
              <a:rPr lang="en-CA" dirty="0"/>
            </a:br>
            <a:r>
              <a:rPr lang="en-CA" dirty="0"/>
              <a:t>has included an insurance-to-value requirement similar to the ISO provision</a:t>
            </a:r>
            <a:br>
              <a:rPr lang="en-CA" dirty="0"/>
            </a:br>
            <a:r>
              <a:rPr lang="en-CA" dirty="0"/>
              <a:t>in its most recent BOP 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solidFill>
                <a:srgbClr val="000000"/>
              </a:solidFill>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solidFill>
                <a:srgbClr val="000000"/>
              </a:solidFill>
              <a:latin typeface="Times New Roman"/>
              <a:cs typeface="Times New Roman"/>
            </a:endParaRPr>
          </a:p>
          <a:p>
            <a:endParaRPr lang="en-US" dirty="0"/>
          </a:p>
          <a:p>
            <a:endParaRPr lang="en-US" dirty="0"/>
          </a:p>
          <a:p>
            <a:endParaRPr lang="en-IN" dirty="0"/>
          </a:p>
        </p:txBody>
      </p:sp>
      <p:sp>
        <p:nvSpPr>
          <p:cNvPr id="4" name="Slide Number Placeholder 3"/>
          <p:cNvSpPr>
            <a:spLocks noGrp="1"/>
          </p:cNvSpPr>
          <p:nvPr>
            <p:ph type="sldNum" sz="quarter" idx="5"/>
          </p:nvPr>
        </p:nvSpPr>
        <p:spPr/>
        <p:txBody>
          <a:bodyPr/>
          <a:lstStyle/>
          <a:p>
            <a:fld id="{F7D7E84E-8FF7-4E10-B2F0-59BCF5376287}" type="slidenum">
              <a:rPr lang="en-IN" smtClean="0"/>
              <a:t>4</a:t>
            </a:fld>
            <a:endParaRPr lang="en-IN"/>
          </a:p>
        </p:txBody>
      </p:sp>
    </p:spTree>
    <p:extLst>
      <p:ext uri="{BB962C8B-B14F-4D97-AF65-F5344CB8AC3E}">
        <p14:creationId xmlns:p14="http://schemas.microsoft.com/office/powerpoint/2010/main" val="18057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defRPr/>
            </a:pPr>
            <a:r>
              <a:rPr lang="en-US" sz="1000" b="1" dirty="0"/>
              <a:t>Replacement cost" </a:t>
            </a:r>
            <a:r>
              <a:rPr lang="en-US" sz="1000" dirty="0"/>
              <a:t>is defined or explained in the policy. Simply stated, it means the cost to replace the property on the same premises with other property of comparable material and quality used for the same purpose. This applies unless the limit of insurance or the cost actually spent to repair or replace the damaged property is less. </a:t>
            </a:r>
          </a:p>
          <a:p>
            <a:pPr>
              <a:defRPr/>
            </a:pPr>
            <a:endParaRPr lang="en-US" sz="1000" dirty="0"/>
          </a:p>
          <a:p>
            <a:pPr>
              <a:defRPr/>
            </a:pPr>
            <a:r>
              <a:rPr lang="en-US" sz="1000" dirty="0"/>
              <a:t>The only difference between replacement cost and actual cash value is a deduction for depreciation. However, both are based on the cost today to replace the damaged property with new property.</a:t>
            </a:r>
          </a:p>
          <a:p>
            <a:pPr>
              <a:defRPr/>
            </a:pPr>
            <a:endParaRPr lang="en-US" sz="1000" dirty="0"/>
          </a:p>
          <a:p>
            <a:pPr>
              <a:defRPr/>
            </a:pPr>
            <a:r>
              <a:rPr lang="en-US" sz="1000" b="1" dirty="0"/>
              <a:t>Functional value - </a:t>
            </a:r>
            <a:r>
              <a:rPr lang="en-US" sz="1000" dirty="0"/>
              <a:t>A property insurance provision changing the valuation basis otherwise applicable (actual cash value or replacement cost value) to valuation at the cost to replace the damaged or destroyed property with property that serves the same function. Used when replacement of damaged property with substantially identical property is either impossible (perhaps due to technological change) or unnecessary.</a:t>
            </a:r>
            <a:br>
              <a:rPr lang="en-US" sz="1000" dirty="0"/>
            </a:br>
            <a:endParaRPr lang="en-US" sz="1000" dirty="0"/>
          </a:p>
          <a:p>
            <a:pPr>
              <a:defRPr/>
            </a:pPr>
            <a:r>
              <a:rPr lang="en-US" sz="1000" b="1" dirty="0"/>
              <a:t>“Actual cash value" </a:t>
            </a:r>
            <a:r>
              <a:rPr lang="en-US" sz="1000" dirty="0"/>
              <a:t>is not as easily defined. Some courts have interpreted the term to mean "fair market value," which is the amount a buyer would pay a seller if neither were under undue time constraints. Most courts, however, have upheld the insurance industry's traditional definition: the cost to replace with new property of like kind and quality, less depreciation</a:t>
            </a:r>
          </a:p>
          <a:p>
            <a:pPr>
              <a:defRPr/>
            </a:pPr>
            <a:endParaRPr lang="en-US" sz="1000" dirty="0"/>
          </a:p>
          <a:p>
            <a:pPr>
              <a:defRPr/>
            </a:pPr>
            <a:r>
              <a:rPr lang="en-US" sz="1000" b="1" dirty="0"/>
              <a:t>Extended Value Replacement Cost</a:t>
            </a:r>
          </a:p>
          <a:p>
            <a:pPr>
              <a:defRPr/>
            </a:pPr>
            <a:endParaRPr lang="en-US" sz="1000" dirty="0"/>
          </a:p>
          <a:p>
            <a:pPr>
              <a:defRPr/>
            </a:pPr>
            <a:r>
              <a:rPr lang="en-US" sz="1000" dirty="0"/>
              <a:t>Pays a certain amount above the policy limit to replace a damaged home, generally 120 percent or 125 percent. Similar to a guaranteed replacement cost policy, which has no percentage limits. Most homeowner policy limits track inflation in building costs. Guaranteed and extended replacement cost policies are designed to protect the policyholder after a major disaster when the high demand for building contractors and materials can push up the normal cost of reconstruction. </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7</a:t>
            </a:fld>
            <a:endParaRPr lang="en-US"/>
          </a:p>
        </p:txBody>
      </p:sp>
    </p:spTree>
    <p:extLst>
      <p:ext uri="{BB962C8B-B14F-4D97-AF65-F5344CB8AC3E}">
        <p14:creationId xmlns:p14="http://schemas.microsoft.com/office/powerpoint/2010/main" val="1467589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385A-D386-47C3-A474-0DEC81AE32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DBF657-920F-4D4B-B275-ECCF67ACE6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6AFD79-041D-4580-A101-88A7FA16E944}"/>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5" name="Footer Placeholder 4">
            <a:extLst>
              <a:ext uri="{FF2B5EF4-FFF2-40B4-BE49-F238E27FC236}">
                <a16:creationId xmlns:a16="http://schemas.microsoft.com/office/drawing/2014/main" id="{3AA1D6C3-894C-4286-9395-BACC9FB7F8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66FCFC-DF1E-4880-9D3E-18AF11452EF1}"/>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3496814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129B6-AEF9-44CB-B2A0-6485DA4F13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872082-77F9-4639-AA2A-00C0ADF876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EEE068-DCA0-458F-8AEC-44D2BDE14E4C}"/>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5" name="Footer Placeholder 4">
            <a:extLst>
              <a:ext uri="{FF2B5EF4-FFF2-40B4-BE49-F238E27FC236}">
                <a16:creationId xmlns:a16="http://schemas.microsoft.com/office/drawing/2014/main" id="{627A2D2E-0356-4461-A8FE-12EEACBD92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EC6E9A-E806-4889-A2E6-A996A09704E8}"/>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3263273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ADCF-B93A-4C7B-A248-E6383A17F6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E84BC1-9CF5-4A2E-975E-B43F42520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484B72-C312-4045-9DAE-0910315DAE21}"/>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5" name="Footer Placeholder 4">
            <a:extLst>
              <a:ext uri="{FF2B5EF4-FFF2-40B4-BE49-F238E27FC236}">
                <a16:creationId xmlns:a16="http://schemas.microsoft.com/office/drawing/2014/main" id="{2B80A5ED-7C2C-42F6-A806-C4E73D1B98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E44243-55A5-4F93-90E6-820E4352E3A9}"/>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365268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4419A-DBD0-4899-BAD9-23CA797B4D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188796-E8AD-418B-939F-8E311FD697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1379C6-3F8D-4FB5-918D-DAEC30A903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1518CA-EA32-4D93-BB62-3F901F505628}"/>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6" name="Footer Placeholder 5">
            <a:extLst>
              <a:ext uri="{FF2B5EF4-FFF2-40B4-BE49-F238E27FC236}">
                <a16:creationId xmlns:a16="http://schemas.microsoft.com/office/drawing/2014/main" id="{BC5ACE66-88FC-4DD7-906E-AB5311BBC0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14872E-1521-40BA-BD82-DA563567EEAF}"/>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2598074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7FA5-9B57-4094-B8F4-991BA30AE1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8DD5F6-6F62-44F9-A073-8BD187BD4C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75C3D4-8919-45A2-8791-9E64187BF7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A735AE-F824-4CF9-A5AA-C254212CD2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C5EAA0-AEA1-4AF8-A8C7-062C7D575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C2604E-C538-42DE-9AFA-35281A0A0EA8}"/>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8" name="Footer Placeholder 7">
            <a:extLst>
              <a:ext uri="{FF2B5EF4-FFF2-40B4-BE49-F238E27FC236}">
                <a16:creationId xmlns:a16="http://schemas.microsoft.com/office/drawing/2014/main" id="{092311D8-5BAD-4340-BE8F-8B517C1670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AF5BE0-7CEF-457F-B503-8092344693CB}"/>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1297690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9E44-4D29-4F76-8261-B97BD76379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33F893-7A60-4102-A83C-DFAED63A2FB5}"/>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4" name="Footer Placeholder 3">
            <a:extLst>
              <a:ext uri="{FF2B5EF4-FFF2-40B4-BE49-F238E27FC236}">
                <a16:creationId xmlns:a16="http://schemas.microsoft.com/office/drawing/2014/main" id="{12472DD3-574D-45F5-A8D7-887EBE56D2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351A06-D4CD-4C05-A8CE-79335DD24A67}"/>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1095833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3BAAFE-99F0-4EC7-91EA-1233D7691C8E}"/>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3" name="Footer Placeholder 2">
            <a:extLst>
              <a:ext uri="{FF2B5EF4-FFF2-40B4-BE49-F238E27FC236}">
                <a16:creationId xmlns:a16="http://schemas.microsoft.com/office/drawing/2014/main" id="{10B432FF-0CA4-4766-81C8-DB3CBD5B60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CD92EA-05A6-45D3-9590-10C2AC00406B}"/>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1560712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114B-7063-4C71-8C07-3924690483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92D8C3-FEC1-4964-B31F-E690EC72C2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4D2FEC-0CE9-4978-9296-65988B438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2703D-79B9-4A9A-8A9B-1D17C2D9DB19}"/>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6" name="Footer Placeholder 5">
            <a:extLst>
              <a:ext uri="{FF2B5EF4-FFF2-40B4-BE49-F238E27FC236}">
                <a16:creationId xmlns:a16="http://schemas.microsoft.com/office/drawing/2014/main" id="{E9CD547C-E0E5-41B4-BEF3-A9D7054CBF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0B7616-1F8C-4325-960D-D160F97BF7C3}"/>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4264848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9B244-8E4E-4F17-B039-96B158207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BAC26E-2684-4E48-87C3-E5A45B3D7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ED18F1-3259-4D93-A209-857D518DB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1C182-633B-423E-87F8-FE8FEEA00794}"/>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6" name="Footer Placeholder 5">
            <a:extLst>
              <a:ext uri="{FF2B5EF4-FFF2-40B4-BE49-F238E27FC236}">
                <a16:creationId xmlns:a16="http://schemas.microsoft.com/office/drawing/2014/main" id="{FDF876D9-43FE-4795-AB4A-4FC013BEFE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3473ED-6780-4F2C-B63C-2FAE0DF112D0}"/>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4264447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87C33-3CF0-4C4E-A707-96826D0ED2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C25099-1BDE-43EB-8979-6D077F2571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3F0D88-C03F-4365-A72D-FC3CBF8A5DCA}"/>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5" name="Footer Placeholder 4">
            <a:extLst>
              <a:ext uri="{FF2B5EF4-FFF2-40B4-BE49-F238E27FC236}">
                <a16:creationId xmlns:a16="http://schemas.microsoft.com/office/drawing/2014/main" id="{12F756DA-62FA-4D7A-8E8B-F83C38C065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E4F42A-38AE-4B59-91EB-A4343F9C6D41}"/>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2808442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A471EE-0203-442A-A37C-134116B008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7CCEFE-3CA2-4B94-8A22-A54A5AB67C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FFE325-42A7-4688-BFF2-852744D1DF71}"/>
              </a:ext>
            </a:extLst>
          </p:cNvPr>
          <p:cNvSpPr>
            <a:spLocks noGrp="1"/>
          </p:cNvSpPr>
          <p:nvPr>
            <p:ph type="dt" sz="half" idx="10"/>
          </p:nvPr>
        </p:nvSpPr>
        <p:spPr/>
        <p:txBody>
          <a:bodyPr/>
          <a:lstStyle/>
          <a:p>
            <a:fld id="{62F452B9-AF4A-48E7-9A11-BEDDC1CE3337}" type="datetimeFigureOut">
              <a:rPr lang="en-IN" smtClean="0"/>
              <a:t>25-01-2022</a:t>
            </a:fld>
            <a:endParaRPr lang="en-IN"/>
          </a:p>
        </p:txBody>
      </p:sp>
      <p:sp>
        <p:nvSpPr>
          <p:cNvPr id="5" name="Footer Placeholder 4">
            <a:extLst>
              <a:ext uri="{FF2B5EF4-FFF2-40B4-BE49-F238E27FC236}">
                <a16:creationId xmlns:a16="http://schemas.microsoft.com/office/drawing/2014/main" id="{339F41C1-7CC7-425C-A1AC-7E897910F2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CA3D0-21EC-4619-9F80-E5234C71AB66}"/>
              </a:ext>
            </a:extLst>
          </p:cNvPr>
          <p:cNvSpPr>
            <a:spLocks noGrp="1"/>
          </p:cNvSpPr>
          <p:nvPr>
            <p:ph type="sldNum" sz="quarter" idx="12"/>
          </p:nvPr>
        </p:nvSpPr>
        <p:spPr/>
        <p:txBody>
          <a:bodyPr/>
          <a:lstStyle/>
          <a:p>
            <a:fld id="{23ABDAA9-38B4-4A37-9477-FDC722FD2B77}" type="slidenum">
              <a:rPr lang="en-IN" smtClean="0"/>
              <a:t>‹#›</a:t>
            </a:fld>
            <a:endParaRPr lang="en-IN"/>
          </a:p>
        </p:txBody>
      </p:sp>
    </p:spTree>
    <p:extLst>
      <p:ext uri="{BB962C8B-B14F-4D97-AF65-F5344CB8AC3E}">
        <p14:creationId xmlns:p14="http://schemas.microsoft.com/office/powerpoint/2010/main" val="2304856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298490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D229B8-1033-4FF8-B16A-58C498BEDD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C4FF7B-ED91-4F40-B73C-CC7204F629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9C72C-151E-4E35-8656-91F1FD9552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F452B9-AF4A-48E7-9A11-BEDDC1CE3337}" type="datetimeFigureOut">
              <a:rPr lang="en-IN" smtClean="0"/>
              <a:t>25-01-2022</a:t>
            </a:fld>
            <a:endParaRPr lang="en-IN"/>
          </a:p>
        </p:txBody>
      </p:sp>
      <p:sp>
        <p:nvSpPr>
          <p:cNvPr id="5" name="Footer Placeholder 4">
            <a:extLst>
              <a:ext uri="{FF2B5EF4-FFF2-40B4-BE49-F238E27FC236}">
                <a16:creationId xmlns:a16="http://schemas.microsoft.com/office/drawing/2014/main" id="{ACF197C6-1F94-48E2-A950-6AC61B15D1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2B1DDD9-0EB5-42E8-9697-3D181A4C0C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ABDAA9-38B4-4A37-9477-FDC722FD2B77}" type="slidenum">
              <a:rPr lang="en-IN" smtClean="0"/>
              <a:t>‹#›</a:t>
            </a:fld>
            <a:endParaRPr lang="en-IN"/>
          </a:p>
        </p:txBody>
      </p:sp>
    </p:spTree>
    <p:extLst>
      <p:ext uri="{BB962C8B-B14F-4D97-AF65-F5344CB8AC3E}">
        <p14:creationId xmlns:p14="http://schemas.microsoft.com/office/powerpoint/2010/main" val="3176106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461660-315C-458A-8089-FA6C55BA24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Title 1">
            <a:extLst>
              <a:ext uri="{FF2B5EF4-FFF2-40B4-BE49-F238E27FC236}">
                <a16:creationId xmlns:a16="http://schemas.microsoft.com/office/drawing/2014/main" id="{9DC84E1C-CE4C-4005-8BB7-970D9C648CCF}"/>
              </a:ext>
            </a:extLst>
          </p:cNvPr>
          <p:cNvSpPr txBox="1">
            <a:spLocks/>
          </p:cNvSpPr>
          <p:nvPr/>
        </p:nvSpPr>
        <p:spPr>
          <a:xfrm>
            <a:off x="4277475" y="3106604"/>
            <a:ext cx="2750049" cy="6447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0000FF"/>
                </a:solidFill>
              </a:rPr>
              <a:t>BOP-Day 6</a:t>
            </a:r>
            <a:endParaRPr lang="en-IN" dirty="0">
              <a:solidFill>
                <a:srgbClr val="0000FF"/>
              </a:solidFill>
            </a:endParaRPr>
          </a:p>
        </p:txBody>
      </p:sp>
    </p:spTree>
    <p:extLst>
      <p:ext uri="{BB962C8B-B14F-4D97-AF65-F5344CB8AC3E}">
        <p14:creationId xmlns:p14="http://schemas.microsoft.com/office/powerpoint/2010/main" val="2960475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A8F9BF-9C74-451E-B772-867A7C314CA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9599" y="487730"/>
            <a:ext cx="9804188" cy="264653"/>
          </a:xfrm>
          <a:prstGeom prst="rect">
            <a:avLst/>
          </a:prstGeom>
        </p:spPr>
      </p:pic>
      <p:graphicFrame>
        <p:nvGraphicFramePr>
          <p:cNvPr id="5" name="Table 4">
            <a:extLst>
              <a:ext uri="{FF2B5EF4-FFF2-40B4-BE49-F238E27FC236}">
                <a16:creationId xmlns:a16="http://schemas.microsoft.com/office/drawing/2014/main" id="{BFF0BADD-B2EC-4FEF-A06A-9490F36F813C}"/>
              </a:ext>
            </a:extLst>
          </p:cNvPr>
          <p:cNvGraphicFramePr>
            <a:graphicFrameLocks noGrp="1"/>
          </p:cNvGraphicFramePr>
          <p:nvPr/>
        </p:nvGraphicFramePr>
        <p:xfrm>
          <a:off x="899422" y="752383"/>
          <a:ext cx="10051402" cy="6066703"/>
        </p:xfrm>
        <a:graphic>
          <a:graphicData uri="http://schemas.openxmlformats.org/drawingml/2006/table">
            <a:tbl>
              <a:tblPr/>
              <a:tblGrid>
                <a:gridCol w="690896">
                  <a:extLst>
                    <a:ext uri="{9D8B030D-6E8A-4147-A177-3AD203B41FA5}">
                      <a16:colId xmlns:a16="http://schemas.microsoft.com/office/drawing/2014/main" val="200615716"/>
                    </a:ext>
                  </a:extLst>
                </a:gridCol>
                <a:gridCol w="3791085">
                  <a:extLst>
                    <a:ext uri="{9D8B030D-6E8A-4147-A177-3AD203B41FA5}">
                      <a16:colId xmlns:a16="http://schemas.microsoft.com/office/drawing/2014/main" val="4252074913"/>
                    </a:ext>
                  </a:extLst>
                </a:gridCol>
                <a:gridCol w="5569421">
                  <a:extLst>
                    <a:ext uri="{9D8B030D-6E8A-4147-A177-3AD203B41FA5}">
                      <a16:colId xmlns:a16="http://schemas.microsoft.com/office/drawing/2014/main" val="2620752890"/>
                    </a:ext>
                  </a:extLst>
                </a:gridCol>
              </a:tblGrid>
              <a:tr h="174010">
                <a:tc>
                  <a:txBody>
                    <a:bodyPr/>
                    <a:lstStyle/>
                    <a:p>
                      <a:pPr algn="ctr" fontAlgn="b"/>
                      <a:r>
                        <a:rPr lang="en-IN" sz="1100" b="1" i="0" u="none" strike="noStrike" dirty="0">
                          <a:solidFill>
                            <a:srgbClr val="0000FF"/>
                          </a:solidFill>
                          <a:effectLst/>
                          <a:latin typeface="Calibri" panose="020F0502020204030204" pitchFamily="34" charset="0"/>
                        </a:rPr>
                        <a:t>Day </a:t>
                      </a:r>
                    </a:p>
                  </a:txBody>
                  <a:tcPr marL="4729" marR="4729"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Topics</a:t>
                      </a:r>
                    </a:p>
                  </a:txBody>
                  <a:tcPr marL="4729" marR="4729" marT="3908"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Subtopics</a:t>
                      </a:r>
                    </a:p>
                  </a:txBody>
                  <a:tcPr marL="4729" marR="4729"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175265924"/>
                  </a:ext>
                </a:extLst>
              </a:tr>
              <a:tr h="152714">
                <a:tc>
                  <a:txBody>
                    <a:bodyPr/>
                    <a:lstStyle/>
                    <a:p>
                      <a:pPr algn="r" fontAlgn="b"/>
                      <a:r>
                        <a:rPr lang="en-IN" sz="1000" b="0" i="0" u="none" strike="noStrike">
                          <a:solidFill>
                            <a:srgbClr val="000000"/>
                          </a:solidFill>
                          <a:effectLst/>
                          <a:latin typeface="Calibri" panose="020F0502020204030204" pitchFamily="34" charset="0"/>
                        </a:rPr>
                        <a:t>1</a:t>
                      </a:r>
                    </a:p>
                  </a:txBody>
                  <a:tcPr marL="4729" marR="4729"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rowSpan="4">
                  <a:txBody>
                    <a:bodyPr/>
                    <a:lstStyle/>
                    <a:p>
                      <a:pPr algn="ctr" fontAlgn="ctr"/>
                      <a:r>
                        <a:rPr lang="en-IN" sz="1000" b="0" i="0" u="none" strike="noStrike" dirty="0">
                          <a:solidFill>
                            <a:srgbClr val="0000FF"/>
                          </a:solidFill>
                          <a:effectLst/>
                          <a:latin typeface="Calibri" panose="020F0502020204030204" pitchFamily="34" charset="0"/>
                        </a:rPr>
                        <a:t>Concept</a:t>
                      </a:r>
                    </a:p>
                  </a:txBody>
                  <a:tcPr marL="100584" marR="100584" marT="390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IN" sz="1000" b="0" i="0" u="none" strike="noStrike">
                          <a:solidFill>
                            <a:srgbClr val="000000"/>
                          </a:solidFill>
                          <a:effectLst/>
                          <a:latin typeface="Calibri" panose="020F0502020204030204" pitchFamily="34" charset="0"/>
                        </a:rPr>
                        <a:t>Meaning</a:t>
                      </a:r>
                    </a:p>
                  </a:txBody>
                  <a:tcPr marL="4729" marR="4729"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6497961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Advantages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623665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Eligibility Rules and its need</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921189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BOP Vs CPP</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54544059"/>
                  </a:ext>
                </a:extLst>
              </a:tr>
              <a:tr h="152714">
                <a:tc>
                  <a:txBody>
                    <a:bodyPr/>
                    <a:lstStyle/>
                    <a:p>
                      <a:pPr algn="l" fontAlgn="b"/>
                      <a:endParaRPr lang="en-IN" sz="1000" b="0" i="0" u="none" strike="noStrike" dirty="0">
                        <a:solidFill>
                          <a:srgbClr val="000000"/>
                        </a:solidFill>
                        <a:effectLst/>
                        <a:latin typeface="Calibri" panose="020F0502020204030204" pitchFamily="34" charset="0"/>
                      </a:endParaRP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4729" marR="4729"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388006872"/>
                  </a:ext>
                </a:extLst>
              </a:tr>
              <a:tr h="152714">
                <a:tc>
                  <a:txBody>
                    <a:bodyPr/>
                    <a:lstStyle/>
                    <a:p>
                      <a:pPr algn="r" fontAlgn="b"/>
                      <a:r>
                        <a:rPr lang="en-IN" sz="1000" b="0" i="0" u="none" strike="noStrike" dirty="0">
                          <a:solidFill>
                            <a:srgbClr val="000000"/>
                          </a:solidFill>
                          <a:effectLst/>
                          <a:latin typeface="Calibri" panose="020F0502020204030204" pitchFamily="34" charset="0"/>
                        </a:rPr>
                        <a:t>2</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rowSpan="4">
                  <a:txBody>
                    <a:bodyPr/>
                    <a:lstStyle/>
                    <a:p>
                      <a:pPr algn="ctr" fontAlgn="ctr"/>
                      <a:r>
                        <a:rPr lang="en-IN" sz="1000" b="0" i="0" u="none" strike="noStrike" dirty="0">
                          <a:solidFill>
                            <a:srgbClr val="0000FF"/>
                          </a:solidFill>
                          <a:effectLst/>
                          <a:latin typeface="Calibri" panose="020F0502020204030204" pitchFamily="34" charset="0"/>
                        </a:rPr>
                        <a:t>Coverages </a:t>
                      </a:r>
                      <a:br>
                        <a:rPr lang="en-IN" sz="1000" b="0" i="0" u="none" strike="noStrike" dirty="0">
                          <a:solidFill>
                            <a:srgbClr val="0000FF"/>
                          </a:solidFill>
                          <a:effectLst/>
                          <a:latin typeface="Calibri" panose="020F0502020204030204" pitchFamily="34" charset="0"/>
                        </a:rPr>
                      </a:br>
                      <a:endParaRPr lang="en-IN" sz="1000" b="0" i="0" u="none" strike="noStrike" dirty="0">
                        <a:solidFill>
                          <a:srgbClr val="0000FF"/>
                        </a:solidFill>
                        <a:effectLst/>
                        <a:latin typeface="Calibri" panose="020F0502020204030204" pitchFamily="34" charset="0"/>
                      </a:endParaRPr>
                    </a:p>
                  </a:txBody>
                  <a:tcPr marL="4299" marR="4299" marT="3908" marB="0" anchor="ctr">
                    <a:lnL>
                      <a:noFill/>
                    </a:lnL>
                    <a:lnR>
                      <a:noFill/>
                    </a:lnR>
                    <a:lnT>
                      <a:noFill/>
                    </a:lnT>
                    <a:lnB>
                      <a:noFill/>
                    </a:lnB>
                    <a:solidFill>
                      <a:schemeClr val="bg1"/>
                    </a:solidFill>
                  </a:tcPr>
                </a:tc>
                <a:tc>
                  <a:txBody>
                    <a:bodyPr/>
                    <a:lstStyle/>
                    <a:p>
                      <a:pPr algn="l" fontAlgn="b"/>
                      <a:r>
                        <a:rPr lang="en-IN" sz="1000" b="0" i="0" u="none" strike="noStrike" dirty="0">
                          <a:solidFill>
                            <a:srgbClr val="000000"/>
                          </a:solidFill>
                          <a:effectLst/>
                          <a:latin typeface="Calibri" panose="020F0502020204030204" pitchFamily="34" charset="0"/>
                        </a:rPr>
                        <a:t>Commercial Property Insurance (BOP Vs CPP)</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957203298"/>
                  </a:ext>
                </a:extLst>
              </a:tr>
              <a:tr h="152714">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vMerge="1">
                  <a:txBody>
                    <a:bodyPr/>
                    <a:lstStyle/>
                    <a:p>
                      <a:endParaRPr lang="en-IN"/>
                    </a:p>
                  </a:txBody>
                  <a:tcPr/>
                </a:tc>
                <a:tc rowSpan="2">
                  <a:txBody>
                    <a:bodyPr/>
                    <a:lstStyle/>
                    <a:p>
                      <a:pPr algn="l" fontAlgn="b"/>
                      <a:r>
                        <a:rPr lang="en-IN" sz="1000" b="0" i="0" u="none" strike="noStrike" dirty="0">
                          <a:solidFill>
                            <a:srgbClr val="000000"/>
                          </a:solidFill>
                          <a:effectLst/>
                          <a:latin typeface="Calibri" panose="020F0502020204030204" pitchFamily="34" charset="0"/>
                        </a:rPr>
                        <a:t>General Liability Insurance</a:t>
                      </a:r>
                    </a:p>
                  </a:txBody>
                  <a:tcPr marL="4299" marR="429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58554496"/>
                  </a:ext>
                </a:extLst>
              </a:tr>
              <a:tr h="0">
                <a:tc rowSpan="2">
                  <a:txBody>
                    <a:bodyPr/>
                    <a:lstStyle/>
                    <a:p>
                      <a:pPr algn="l" fontAlgn="b"/>
                      <a:r>
                        <a:rPr lang="en-IN" sz="1000" b="0" i="0" u="none" strike="noStrike" dirty="0">
                          <a:solidFill>
                            <a:srgbClr val="000000"/>
                          </a:solidFill>
                          <a:effectLst/>
                          <a:latin typeface="Calibri" panose="020F0502020204030204" pitchFamily="34" charset="0"/>
                        </a:rPr>
                        <a:t> </a:t>
                      </a:r>
                    </a:p>
                  </a:txBody>
                  <a:tcPr marL="4299" marR="4299"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vMerge="1">
                  <a:txBody>
                    <a:bodyPr/>
                    <a:lstStyle/>
                    <a:p>
                      <a:endParaRPr lang="en-IN"/>
                    </a:p>
                  </a:txBody>
                  <a:tcPr/>
                </a:tc>
                <a:tc vMerge="1">
                  <a:txBody>
                    <a:bodyPr/>
                    <a:lstStyle/>
                    <a:p>
                      <a:pPr algn="l" fontAlgn="b"/>
                      <a:r>
                        <a:rPr lang="en-IN" sz="1000" b="0" i="0" u="none" strike="noStrike" dirty="0">
                          <a:solidFill>
                            <a:srgbClr val="000000"/>
                          </a:solidFill>
                          <a:effectLst/>
                          <a:latin typeface="Calibri" panose="020F0502020204030204" pitchFamily="34" charset="0"/>
                        </a:rPr>
                        <a:t>Business Interruption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06722333"/>
                  </a:ext>
                </a:extLst>
              </a:tr>
              <a:tr h="210897">
                <a:tc vMerge="1">
                  <a:txBody>
                    <a:bodyPr/>
                    <a:lstStyle/>
                    <a:p>
                      <a:pPr algn="l" fontAlgn="b"/>
                      <a:endParaRPr lang="en-IN" sz="10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1000" b="0" i="0" u="none" strike="noStrike" dirty="0">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Business Interruption Insurance</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910579089"/>
                  </a:ext>
                </a:extLst>
              </a:tr>
              <a:tr h="149071">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4729" marR="4729"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49782267"/>
                  </a:ext>
                </a:extLst>
              </a:tr>
              <a:tr h="152714">
                <a:tc>
                  <a:txBody>
                    <a:bodyPr/>
                    <a:lstStyle/>
                    <a:p>
                      <a:pPr algn="r" fontAlgn="b"/>
                      <a:r>
                        <a:rPr lang="en-IN" sz="1000" b="0" i="0" u="none" strike="noStrike">
                          <a:solidFill>
                            <a:srgbClr val="000000"/>
                          </a:solidFill>
                          <a:effectLst/>
                          <a:latin typeface="Calibri" panose="020F0502020204030204" pitchFamily="34" charset="0"/>
                        </a:rPr>
                        <a:t>3</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rowSpan="7">
                  <a:txBody>
                    <a:bodyPr/>
                    <a:lstStyle/>
                    <a:p>
                      <a:pPr algn="ctr" fontAlgn="ctr"/>
                      <a:r>
                        <a:rPr lang="en-IN" sz="1000" b="0" i="0" u="none" strike="noStrike" dirty="0">
                          <a:solidFill>
                            <a:srgbClr val="0000FF"/>
                          </a:solidFill>
                          <a:effectLst/>
                          <a:latin typeface="Calibri" panose="020F0502020204030204" pitchFamily="34" charset="0"/>
                        </a:rPr>
                        <a:t>Exclusions</a:t>
                      </a:r>
                      <a:br>
                        <a:rPr lang="en-IN" sz="1000" b="0" i="0" u="none" strike="noStrike" dirty="0">
                          <a:solidFill>
                            <a:srgbClr val="0000FF"/>
                          </a:solidFill>
                          <a:effectLst/>
                          <a:latin typeface="Calibri" panose="020F0502020204030204" pitchFamily="34" charset="0"/>
                        </a:rPr>
                      </a:br>
                      <a:r>
                        <a:rPr lang="en-IN" sz="1000" b="0" i="0" u="none" strike="noStrike" dirty="0">
                          <a:solidFill>
                            <a:srgbClr val="0000FF"/>
                          </a:solidFill>
                          <a:effectLst/>
                          <a:latin typeface="Calibri" panose="020F0502020204030204" pitchFamily="34" charset="0"/>
                        </a:rPr>
                        <a:t>Endorsements </a:t>
                      </a:r>
                      <a:br>
                        <a:rPr lang="en-IN" sz="1000" b="0" i="0" u="none" strike="noStrike" dirty="0">
                          <a:solidFill>
                            <a:srgbClr val="0000FF"/>
                          </a:solidFill>
                          <a:effectLst/>
                          <a:latin typeface="Calibri" panose="020F0502020204030204" pitchFamily="34" charset="0"/>
                        </a:rPr>
                      </a:br>
                      <a:r>
                        <a:rPr lang="en-IN" sz="1000" b="0" i="0" u="none" strike="noStrike" dirty="0">
                          <a:solidFill>
                            <a:srgbClr val="0000FF"/>
                          </a:solidFill>
                          <a:effectLst/>
                          <a:latin typeface="Calibri" panose="020F0502020204030204" pitchFamily="34" charset="0"/>
                        </a:rPr>
                        <a:t>Additional Coverages</a:t>
                      </a:r>
                    </a:p>
                  </a:txBody>
                  <a:tcPr marL="100584" marR="100584" marT="3908" marB="0" anchor="ctr">
                    <a:lnL>
                      <a:noFill/>
                    </a:lnL>
                    <a:lnR>
                      <a:noFill/>
                    </a:lnR>
                    <a:lnT>
                      <a:noFill/>
                    </a:lnT>
                    <a:lnB>
                      <a:noFill/>
                    </a:lnB>
                    <a:solidFill>
                      <a:schemeClr val="bg1"/>
                    </a:solidFill>
                  </a:tcPr>
                </a:tc>
                <a:tc>
                  <a:txBody>
                    <a:bodyPr/>
                    <a:lstStyle/>
                    <a:p>
                      <a:pPr algn="l" fontAlgn="b"/>
                      <a:r>
                        <a:rPr lang="en-IN" sz="1000" b="0" i="0" u="none" strike="noStrike" dirty="0">
                          <a:solidFill>
                            <a:srgbClr val="000000"/>
                          </a:solidFill>
                          <a:effectLst/>
                          <a:latin typeface="Calibri" panose="020F0502020204030204" pitchFamily="34" charset="0"/>
                        </a:rPr>
                        <a:t>What’s Not Covered?</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5195133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Extra Expenses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056938457"/>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Inland Marine</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27353120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Equipment Breakdown</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93171852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Spoilage</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3604645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Employee Theft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5764217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Etc.</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0909877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4729" marR="4729"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072430414"/>
                  </a:ext>
                </a:extLst>
              </a:tr>
              <a:tr h="152714">
                <a:tc>
                  <a:txBody>
                    <a:bodyPr/>
                    <a:lstStyle/>
                    <a:p>
                      <a:pPr algn="r" fontAlgn="b"/>
                      <a:r>
                        <a:rPr lang="en-IN" sz="1000" b="0" i="0" u="none" strike="noStrike">
                          <a:solidFill>
                            <a:srgbClr val="000000"/>
                          </a:solidFill>
                          <a:effectLst/>
                          <a:latin typeface="Calibri" panose="020F0502020204030204" pitchFamily="34" charset="0"/>
                        </a:rPr>
                        <a:t>4</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rowSpan="4">
                  <a:txBody>
                    <a:bodyPr/>
                    <a:lstStyle/>
                    <a:p>
                      <a:pPr algn="ctr" fontAlgn="ctr"/>
                      <a:r>
                        <a:rPr lang="en-IN" sz="1000" b="0" i="0" u="none" strike="noStrike" dirty="0">
                          <a:solidFill>
                            <a:srgbClr val="0000FF"/>
                          </a:solidFill>
                          <a:effectLst/>
                          <a:latin typeface="Calibri" panose="020F0502020204030204" pitchFamily="34" charset="0"/>
                        </a:rPr>
                        <a:t>BOP Rating &amp; Premium Guidelines</a:t>
                      </a:r>
                    </a:p>
                  </a:txBody>
                  <a:tcPr marL="100584" marR="100584" marT="3908" marB="0" anchor="ctr">
                    <a:lnL>
                      <a:noFill/>
                    </a:lnL>
                    <a:lnR>
                      <a:noFill/>
                    </a:lnR>
                    <a:lnT>
                      <a:noFill/>
                    </a:lnT>
                    <a:lnB>
                      <a:noFill/>
                    </a:lnB>
                    <a:solidFill>
                      <a:schemeClr val="bg1"/>
                    </a:solidFill>
                  </a:tcPr>
                </a:tc>
                <a:tc>
                  <a:txBody>
                    <a:bodyPr/>
                    <a:lstStyle/>
                    <a:p>
                      <a:pPr algn="l" fontAlgn="b"/>
                      <a:r>
                        <a:rPr lang="en-IN" sz="1000" b="0" i="0" u="none" strike="noStrike">
                          <a:solidFill>
                            <a:srgbClr val="000000"/>
                          </a:solidFill>
                          <a:effectLst/>
                          <a:latin typeface="Calibri" panose="020F0502020204030204" pitchFamily="34" charset="0"/>
                        </a:rPr>
                        <a:t>Rating factors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70214521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Premium Guidelines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8193288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What Does a BOP Cost</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8333506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Average Cost of a BOP</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331815636"/>
                  </a:ext>
                </a:extLst>
              </a:tr>
              <a:tr h="126842">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4729" marR="4729"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652744597"/>
                  </a:ext>
                </a:extLst>
              </a:tr>
              <a:tr h="152714">
                <a:tc>
                  <a:txBody>
                    <a:bodyPr/>
                    <a:lstStyle/>
                    <a:p>
                      <a:pPr algn="r" fontAlgn="b"/>
                      <a:r>
                        <a:rPr lang="en-IN" sz="1000" b="0" i="0" u="none" strike="noStrike">
                          <a:solidFill>
                            <a:srgbClr val="000000"/>
                          </a:solidFill>
                          <a:effectLst/>
                          <a:latin typeface="Calibri" panose="020F0502020204030204" pitchFamily="34" charset="0"/>
                        </a:rPr>
                        <a:t>5</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rowSpan="8">
                  <a:txBody>
                    <a:bodyPr/>
                    <a:lstStyle/>
                    <a:p>
                      <a:pPr algn="ctr" fontAlgn="ctr"/>
                      <a:r>
                        <a:rPr lang="en-IN" sz="1000" b="0" i="0" u="none" strike="noStrike" dirty="0">
                          <a:solidFill>
                            <a:srgbClr val="0000FF"/>
                          </a:solidFill>
                          <a:effectLst/>
                          <a:latin typeface="Calibri" panose="020F0502020204030204" pitchFamily="34" charset="0"/>
                        </a:rPr>
                        <a:t>BOP Policy issuance</a:t>
                      </a:r>
                    </a:p>
                  </a:txBody>
                  <a:tcPr marL="4299" marR="4299"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BOP Policy Forms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55322095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Input Forms Output Forms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485905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lnL w="12700" cmpd="sng">
                      <a:noFill/>
                      <a:prstDash val="solid"/>
                    </a:lnL>
                    <a:lnT w="12700" cmpd="sng">
                      <a:noFill/>
                      <a:prstDash val="solid"/>
                    </a:lnT>
                  </a:tcPr>
                </a:tc>
                <a:tc>
                  <a:txBody>
                    <a:bodyPr/>
                    <a:lstStyle/>
                    <a:p>
                      <a:pPr algn="l" fontAlgn="b"/>
                      <a:endParaRPr lang="en-IN" sz="1000" b="0" i="0" u="none" strike="noStrike" dirty="0">
                        <a:solidFill>
                          <a:srgbClr val="000000"/>
                        </a:solidFill>
                        <a:effectLst/>
                        <a:latin typeface="Calibri" panose="020F0502020204030204" pitchFamily="34" charset="0"/>
                      </a:endParaRPr>
                    </a:p>
                  </a:txBody>
                  <a:tcPr marL="4729" marR="4729" marT="3908" marB="0" anchor="b">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132211034"/>
                  </a:ext>
                </a:extLst>
              </a:tr>
              <a:tr h="152714">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Policy Issuance Flow</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24880253"/>
                  </a:ext>
                </a:extLst>
              </a:tr>
              <a:tr h="301787">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Case study &amp; Discussion-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A snapshot at a Restaurant looking for insurance- shared as BOP Made Easy PDF</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7721287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rowSpan="2">
                  <a:txBody>
                    <a:bodyPr/>
                    <a:lstStyle/>
                    <a:p>
                      <a:pPr algn="l" fontAlgn="b"/>
                      <a:r>
                        <a:rPr lang="en-IN" sz="1000" b="0" i="0" u="none" strike="noStrike" dirty="0">
                          <a:solidFill>
                            <a:srgbClr val="000000"/>
                          </a:solidFill>
                          <a:effectLst/>
                          <a:latin typeface="Calibri" panose="020F0502020204030204" pitchFamily="34" charset="0"/>
                        </a:rPr>
                        <a:t>Sample Policy </a:t>
                      </a:r>
                    </a:p>
                  </a:txBody>
                  <a:tcPr marL="4299" marR="429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85456104"/>
                  </a:ext>
                </a:extLst>
              </a:tr>
              <a:tr h="0">
                <a:tc rowSpan="2">
                  <a:txBody>
                    <a:bodyPr/>
                    <a:lstStyle/>
                    <a:p>
                      <a:pPr algn="l" fontAlgn="b"/>
                      <a:r>
                        <a:rPr lang="en-IN" sz="1000" b="0" i="0" u="none" strike="noStrike">
                          <a:solidFill>
                            <a:srgbClr val="000000"/>
                          </a:solidFill>
                          <a:effectLst/>
                          <a:latin typeface="Calibri" panose="020F0502020204030204" pitchFamily="34" charset="0"/>
                        </a:rPr>
                        <a:t> </a:t>
                      </a:r>
                    </a:p>
                  </a:txBody>
                  <a:tcPr marL="4299" marR="429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vMerge="1">
                  <a:txBody>
                    <a:bodyPr/>
                    <a:lstStyle/>
                    <a:p>
                      <a:pPr algn="l" fontAlgn="b"/>
                      <a:r>
                        <a:rPr lang="en-IN" sz="700" b="0" i="0" u="none" strike="noStrike">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52971011"/>
                  </a:ext>
                </a:extLst>
              </a:tr>
              <a:tr h="152714">
                <a:tc vMerge="1">
                  <a:txBody>
                    <a:bodyPr/>
                    <a:lstStyle/>
                    <a:p>
                      <a:pPr algn="l" fontAlgn="b"/>
                      <a:endParaRPr lang="en-IN" sz="7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700" b="0" i="0" u="none" strike="noStrike">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Declaration Page- A snap shot</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98417780"/>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4729" marR="4729"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28015319"/>
                  </a:ext>
                </a:extLst>
              </a:tr>
              <a:tr h="152714">
                <a:tc>
                  <a:txBody>
                    <a:bodyPr/>
                    <a:lstStyle/>
                    <a:p>
                      <a:pPr algn="r" fontAlgn="b"/>
                      <a:r>
                        <a:rPr lang="en-IN" sz="1000" b="0" i="0" u="none" strike="noStrike">
                          <a:solidFill>
                            <a:srgbClr val="000000"/>
                          </a:solidFill>
                          <a:effectLst/>
                          <a:latin typeface="Calibri" panose="020F0502020204030204" pitchFamily="34" charset="0"/>
                        </a:rPr>
                        <a:t>6</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rowSpan="5">
                  <a:txBody>
                    <a:bodyPr/>
                    <a:lstStyle/>
                    <a:p>
                      <a:pPr algn="ctr" fontAlgn="ctr"/>
                      <a:r>
                        <a:rPr lang="en-IN" sz="1000" b="0" i="0" u="none" strike="noStrike" dirty="0">
                          <a:solidFill>
                            <a:srgbClr val="0000FF"/>
                          </a:solidFill>
                          <a:effectLst/>
                          <a:latin typeface="Calibri" panose="020F0502020204030204" pitchFamily="34" charset="0"/>
                        </a:rPr>
                        <a:t>Claims Handling</a:t>
                      </a:r>
                    </a:p>
                  </a:txBody>
                  <a:tcPr marL="100584" marR="100584"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Valuation Methods, Property Damage Assessment and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66252535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Recovery for Business Owners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109430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Filing a claim</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020966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Documents Required for Claim Process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111280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Claims Flow Process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68266022"/>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4729" marR="4729" marT="3908" marB="0" anchor="b">
                    <a:lnL>
                      <a:noFill/>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4729" marR="4729" marT="3908"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774789813"/>
                  </a:ext>
                </a:extLst>
              </a:tr>
            </a:tbl>
          </a:graphicData>
        </a:graphic>
      </p:graphicFrame>
    </p:spTree>
    <p:extLst>
      <p:ext uri="{BB962C8B-B14F-4D97-AF65-F5344CB8AC3E}">
        <p14:creationId xmlns:p14="http://schemas.microsoft.com/office/powerpoint/2010/main" val="114310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9A3C10F-D3D4-42FF-8542-FD176212993B}"/>
              </a:ext>
            </a:extLst>
          </p:cNvPr>
          <p:cNvGraphicFramePr>
            <a:graphicFrameLocks noGrp="1"/>
          </p:cNvGraphicFramePr>
          <p:nvPr>
            <p:extLst>
              <p:ext uri="{D42A27DB-BD31-4B8C-83A1-F6EECF244321}">
                <p14:modId xmlns:p14="http://schemas.microsoft.com/office/powerpoint/2010/main" val="1805844598"/>
              </p:ext>
            </p:extLst>
          </p:nvPr>
        </p:nvGraphicFramePr>
        <p:xfrm>
          <a:off x="838200" y="1825625"/>
          <a:ext cx="9360506" cy="3006580"/>
        </p:xfrm>
        <a:graphic>
          <a:graphicData uri="http://schemas.openxmlformats.org/drawingml/2006/table">
            <a:tbl>
              <a:tblPr>
                <a:effectLst>
                  <a:innerShdw blurRad="114300">
                    <a:prstClr val="black"/>
                  </a:innerShdw>
                </a:effectLst>
              </a:tblPr>
              <a:tblGrid>
                <a:gridCol w="3791085">
                  <a:extLst>
                    <a:ext uri="{9D8B030D-6E8A-4147-A177-3AD203B41FA5}">
                      <a16:colId xmlns:a16="http://schemas.microsoft.com/office/drawing/2014/main" val="3119637539"/>
                    </a:ext>
                  </a:extLst>
                </a:gridCol>
                <a:gridCol w="5569421">
                  <a:extLst>
                    <a:ext uri="{9D8B030D-6E8A-4147-A177-3AD203B41FA5}">
                      <a16:colId xmlns:a16="http://schemas.microsoft.com/office/drawing/2014/main" val="3729810184"/>
                    </a:ext>
                  </a:extLst>
                </a:gridCol>
              </a:tblGrid>
              <a:tr h="152714">
                <a:tc rowSpan="5">
                  <a:txBody>
                    <a:bodyPr/>
                    <a:lstStyle/>
                    <a:p>
                      <a:pPr algn="ctr" fontAlgn="ctr"/>
                      <a:r>
                        <a:rPr lang="en-IN" sz="2800" b="0" i="0" u="none" strike="noStrike" dirty="0">
                          <a:solidFill>
                            <a:srgbClr val="0000FF"/>
                          </a:solidFill>
                          <a:effectLst/>
                          <a:latin typeface="Calibri" panose="020F0502020204030204" pitchFamily="34" charset="0"/>
                        </a:rPr>
                        <a:t>Claims Handling</a:t>
                      </a:r>
                    </a:p>
                  </a:txBody>
                  <a:tcPr marL="100584" marR="100584" marT="3908" marB="0" anchor="ctr">
                    <a:lnL>
                      <a:noFill/>
                    </a:lnL>
                    <a:lnR>
                      <a:noFill/>
                    </a:lnR>
                    <a:lnT>
                      <a:noFill/>
                    </a:lnT>
                    <a:lnB>
                      <a:noFill/>
                    </a:lnB>
                    <a:solidFill>
                      <a:schemeClr val="accent5">
                        <a:lumMod val="20000"/>
                        <a:lumOff val="80000"/>
                      </a:schemeClr>
                    </a:solidFill>
                  </a:tcPr>
                </a:tc>
                <a:tc>
                  <a:txBody>
                    <a:bodyPr/>
                    <a:lstStyle/>
                    <a:p>
                      <a:pPr algn="l" fontAlgn="b"/>
                      <a:r>
                        <a:rPr lang="en-IN" sz="2800" b="0" i="0" u="none" strike="noStrike" dirty="0">
                          <a:solidFill>
                            <a:srgbClr val="000000"/>
                          </a:solidFill>
                          <a:effectLst/>
                          <a:latin typeface="Calibri" panose="020F0502020204030204" pitchFamily="34" charset="0"/>
                        </a:rPr>
                        <a:t>Valuation Methods, Property Damage Assessment and </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1279024212"/>
                  </a:ext>
                </a:extLst>
              </a:tr>
              <a:tr h="152714">
                <a:tc vMerge="1">
                  <a:txBody>
                    <a:bodyPr/>
                    <a:lstStyle/>
                    <a:p>
                      <a:endParaRPr lang="en-IN"/>
                    </a:p>
                  </a:txBody>
                  <a:tcPr/>
                </a:tc>
                <a:tc>
                  <a:txBody>
                    <a:bodyPr/>
                    <a:lstStyle/>
                    <a:p>
                      <a:pPr algn="l" fontAlgn="b"/>
                      <a:r>
                        <a:rPr lang="en-IN" sz="2800" b="0" i="0" u="none" strike="noStrike" dirty="0">
                          <a:solidFill>
                            <a:srgbClr val="000000"/>
                          </a:solidFill>
                          <a:effectLst/>
                          <a:latin typeface="Calibri" panose="020F0502020204030204" pitchFamily="34" charset="0"/>
                        </a:rPr>
                        <a:t>Recovery for Business Owners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2740784771"/>
                  </a:ext>
                </a:extLst>
              </a:tr>
              <a:tr h="152714">
                <a:tc vMerge="1">
                  <a:txBody>
                    <a:bodyPr/>
                    <a:lstStyle/>
                    <a:p>
                      <a:endParaRPr lang="en-IN"/>
                    </a:p>
                  </a:txBody>
                  <a:tcPr/>
                </a:tc>
                <a:tc>
                  <a:txBody>
                    <a:bodyPr/>
                    <a:lstStyle/>
                    <a:p>
                      <a:pPr algn="l" fontAlgn="b"/>
                      <a:r>
                        <a:rPr lang="en-IN" sz="2800" b="0" i="0" u="none" strike="noStrike" dirty="0">
                          <a:solidFill>
                            <a:srgbClr val="000000"/>
                          </a:solidFill>
                          <a:effectLst/>
                          <a:latin typeface="Calibri" panose="020F0502020204030204" pitchFamily="34" charset="0"/>
                        </a:rPr>
                        <a:t>Filing a claim</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4159266648"/>
                  </a:ext>
                </a:extLst>
              </a:tr>
              <a:tr h="152714">
                <a:tc vMerge="1">
                  <a:txBody>
                    <a:bodyPr/>
                    <a:lstStyle/>
                    <a:p>
                      <a:endParaRPr lang="en-IN"/>
                    </a:p>
                  </a:txBody>
                  <a:tcPr/>
                </a:tc>
                <a:tc>
                  <a:txBody>
                    <a:bodyPr/>
                    <a:lstStyle/>
                    <a:p>
                      <a:pPr algn="l" fontAlgn="b"/>
                      <a:r>
                        <a:rPr lang="en-US" sz="2800" b="0" i="0" u="none" strike="noStrike" dirty="0">
                          <a:solidFill>
                            <a:srgbClr val="000000"/>
                          </a:solidFill>
                          <a:effectLst/>
                          <a:latin typeface="Calibri" panose="020F0502020204030204" pitchFamily="34" charset="0"/>
                        </a:rPr>
                        <a:t>Documents Required for Claim Process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3949508997"/>
                  </a:ext>
                </a:extLst>
              </a:tr>
              <a:tr h="152714">
                <a:tc vMerge="1">
                  <a:txBody>
                    <a:bodyPr/>
                    <a:lstStyle/>
                    <a:p>
                      <a:endParaRPr lang="en-IN"/>
                    </a:p>
                  </a:txBody>
                  <a:tcPr/>
                </a:tc>
                <a:tc>
                  <a:txBody>
                    <a:bodyPr/>
                    <a:lstStyle/>
                    <a:p>
                      <a:pPr algn="l" fontAlgn="b"/>
                      <a:r>
                        <a:rPr lang="en-IN" sz="2800" b="0" i="0" u="none" strike="noStrike" dirty="0">
                          <a:solidFill>
                            <a:srgbClr val="000000"/>
                          </a:solidFill>
                          <a:effectLst/>
                          <a:latin typeface="Calibri" panose="020F0502020204030204" pitchFamily="34" charset="0"/>
                        </a:rPr>
                        <a:t>Claims Flow Process</a:t>
                      </a:r>
                    </a:p>
                  </a:txBody>
                  <a:tcPr marL="4729" marR="4729"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2013699751"/>
                  </a:ext>
                </a:extLst>
              </a:tr>
            </a:tbl>
          </a:graphicData>
        </a:graphic>
      </p:graphicFrame>
    </p:spTree>
    <p:extLst>
      <p:ext uri="{BB962C8B-B14F-4D97-AF65-F5344CB8AC3E}">
        <p14:creationId xmlns:p14="http://schemas.microsoft.com/office/powerpoint/2010/main" val="2782547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068AEC-04C3-4237-813C-8A4A50BABD9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10848"/>
            <a:ext cx="9804188" cy="264653"/>
          </a:xfrm>
          <a:prstGeom prst="rect">
            <a:avLst/>
          </a:prstGeom>
        </p:spPr>
      </p:pic>
      <p:sp>
        <p:nvSpPr>
          <p:cNvPr id="6" name="TextBox 5">
            <a:extLst>
              <a:ext uri="{FF2B5EF4-FFF2-40B4-BE49-F238E27FC236}">
                <a16:creationId xmlns:a16="http://schemas.microsoft.com/office/drawing/2014/main" id="{AF52C80E-20ED-4248-87C0-FB71EAD00598}"/>
              </a:ext>
            </a:extLst>
          </p:cNvPr>
          <p:cNvSpPr txBox="1"/>
          <p:nvPr/>
        </p:nvSpPr>
        <p:spPr>
          <a:xfrm>
            <a:off x="457200" y="441516"/>
            <a:ext cx="6096000" cy="369332"/>
          </a:xfrm>
          <a:prstGeom prst="rect">
            <a:avLst/>
          </a:prstGeom>
          <a:noFill/>
        </p:spPr>
        <p:txBody>
          <a:bodyPr wrap="square">
            <a:spAutoFit/>
          </a:bodyPr>
          <a:lstStyle/>
          <a:p>
            <a:r>
              <a:rPr lang="en-IN" sz="1800" b="0" i="0" u="none" strike="noStrike" dirty="0">
                <a:solidFill>
                  <a:srgbClr val="0000FF"/>
                </a:solidFill>
                <a:effectLst/>
                <a:latin typeface="Calibri" panose="020F0502020204030204" pitchFamily="34" charset="0"/>
              </a:rPr>
              <a:t>Valuation Methods</a:t>
            </a:r>
            <a:endParaRPr lang="en-IN" dirty="0">
              <a:solidFill>
                <a:srgbClr val="0000FF"/>
              </a:solidFill>
            </a:endParaRPr>
          </a:p>
        </p:txBody>
      </p:sp>
      <p:sp>
        <p:nvSpPr>
          <p:cNvPr id="8" name="TextBox 15">
            <a:extLst>
              <a:ext uri="{FF2B5EF4-FFF2-40B4-BE49-F238E27FC236}">
                <a16:creationId xmlns:a16="http://schemas.microsoft.com/office/drawing/2014/main" id="{8003595F-3990-484C-ABFB-5F871CEC994B}"/>
              </a:ext>
            </a:extLst>
          </p:cNvPr>
          <p:cNvSpPr txBox="1"/>
          <p:nvPr/>
        </p:nvSpPr>
        <p:spPr>
          <a:xfrm>
            <a:off x="457200" y="1468774"/>
            <a:ext cx="1565813" cy="471668"/>
          </a:xfrm>
          <a:prstGeom prst="rect">
            <a:avLst/>
          </a:prstGeom>
          <a:noFill/>
        </p:spPr>
        <p:txBody>
          <a:bodyPr vert="horz" wrap="none" lIns="0" tIns="0" rIns="0" bIns="0" rtlCol="0">
            <a:spAutoFit/>
          </a:bodyPr>
          <a:lstStyle/>
          <a:p>
            <a:pPr>
              <a:lnSpc>
                <a:spcPts val="1800"/>
              </a:lnSpc>
            </a:pPr>
            <a:r>
              <a:rPr lang="en-CA" b="1" spc="-10" dirty="0">
                <a:solidFill>
                  <a:srgbClr val="000000"/>
                </a:solidFill>
                <a:latin typeface="Times New Roman"/>
                <a:cs typeface="Times New Roman"/>
              </a:rPr>
              <a:t>No Coinsurance</a:t>
            </a:r>
          </a:p>
          <a:p>
            <a:pPr>
              <a:lnSpc>
                <a:spcPts val="1840"/>
              </a:lnSpc>
            </a:pPr>
            <a:endParaRPr lang="en-CA" sz="2000" dirty="0">
              <a:solidFill>
                <a:srgbClr val="000000"/>
              </a:solidFill>
            </a:endParaRPr>
          </a:p>
        </p:txBody>
      </p:sp>
      <p:sp>
        <p:nvSpPr>
          <p:cNvPr id="11" name="TextBox 10">
            <a:extLst>
              <a:ext uri="{FF2B5EF4-FFF2-40B4-BE49-F238E27FC236}">
                <a16:creationId xmlns:a16="http://schemas.microsoft.com/office/drawing/2014/main" id="{2263A7E4-4A87-4A77-A45C-E3670531477B}"/>
              </a:ext>
            </a:extLst>
          </p:cNvPr>
          <p:cNvSpPr txBox="1"/>
          <p:nvPr/>
        </p:nvSpPr>
        <p:spPr>
          <a:xfrm>
            <a:off x="1849037" y="2011031"/>
            <a:ext cx="7523563" cy="2031325"/>
          </a:xfrm>
          <a:prstGeom prst="rect">
            <a:avLst/>
          </a:prstGeom>
          <a:noFill/>
          <a:ln>
            <a:solidFill>
              <a:srgbClr val="0000FF"/>
            </a:solidFill>
          </a:ln>
        </p:spPr>
        <p:txBody>
          <a:bodyPr wrap="square">
            <a:spAutoFit/>
          </a:bodyPr>
          <a:lstStyle/>
          <a:p>
            <a:r>
              <a:rPr lang="en-US" dirty="0"/>
              <a:t>BOPs were originally written without a coinsurance or another insurance-to-</a:t>
            </a:r>
            <a:br>
              <a:rPr lang="en-US" dirty="0"/>
            </a:br>
            <a:r>
              <a:rPr lang="en-US" dirty="0"/>
              <a:t>value requirement in the policy. Insurers relied on producers and underwriters</a:t>
            </a:r>
            <a:br>
              <a:rPr lang="en-US" dirty="0"/>
            </a:br>
            <a:r>
              <a:rPr lang="en-US" dirty="0"/>
              <a:t>to be certain that the insured carried insurance equal to full insurable values.</a:t>
            </a:r>
            <a:br>
              <a:rPr lang="en-US" dirty="0"/>
            </a:br>
            <a:r>
              <a:rPr lang="en-US" dirty="0"/>
              <a:t>Although coinsurance requirements can be suspended in commercial property</a:t>
            </a:r>
            <a:br>
              <a:rPr lang="en-US" dirty="0"/>
            </a:br>
            <a:r>
              <a:rPr lang="en-US" dirty="0"/>
              <a:t>policies by the agreed value option, underwriters are careful in granting that</a:t>
            </a:r>
            <a:br>
              <a:rPr lang="en-US" dirty="0"/>
            </a:br>
            <a:r>
              <a:rPr lang="en-US" dirty="0"/>
              <a:t>option. As a result, most commercial property forms (other than BOPs) written for smaller insureds are subject to coinsurance.</a:t>
            </a:r>
          </a:p>
        </p:txBody>
      </p:sp>
      <p:sp>
        <p:nvSpPr>
          <p:cNvPr id="12" name="TextBox 17">
            <a:extLst>
              <a:ext uri="{FF2B5EF4-FFF2-40B4-BE49-F238E27FC236}">
                <a16:creationId xmlns:a16="http://schemas.microsoft.com/office/drawing/2014/main" id="{D5B52AF4-A523-45B5-B814-AB3B6FA9D002}"/>
              </a:ext>
            </a:extLst>
          </p:cNvPr>
          <p:cNvSpPr txBox="1"/>
          <p:nvPr/>
        </p:nvSpPr>
        <p:spPr>
          <a:xfrm>
            <a:off x="1902419" y="4639599"/>
            <a:ext cx="7523563" cy="1754326"/>
          </a:xfrm>
          <a:prstGeom prst="rect">
            <a:avLst/>
          </a:prstGeom>
          <a:noFill/>
          <a:ln>
            <a:solidFill>
              <a:srgbClr val="0000FF"/>
            </a:solidFill>
          </a:ln>
        </p:spPr>
        <p:txBody>
          <a:bodyPr wrap="square">
            <a:spAutoFit/>
          </a:bodyPr>
          <a:lstStyle>
            <a:defPPr>
              <a:defRPr lang="en-US"/>
            </a:defPPr>
          </a:lstStyle>
          <a:p>
            <a:r>
              <a:rPr lang="en-CA" dirty="0"/>
              <a:t>Because many insurers felt that BOP insureds were not carrying adequate</a:t>
            </a:r>
            <a:br>
              <a:rPr lang="en-CA" dirty="0"/>
            </a:br>
            <a:r>
              <a:rPr lang="en-CA" dirty="0"/>
              <a:t>amounts of insurance, ISO introduced an insurance-to-value provision in</a:t>
            </a:r>
            <a:br>
              <a:rPr lang="en-CA" dirty="0"/>
            </a:br>
            <a:r>
              <a:rPr lang="en-CA" dirty="0"/>
              <a:t>its BOP forms similar to the insurance-to-value provision in homeowners</a:t>
            </a:r>
            <a:br>
              <a:rPr lang="en-CA" dirty="0"/>
            </a:br>
            <a:r>
              <a:rPr lang="en-CA" dirty="0"/>
              <a:t>policies. To collect full replacement cost, the insured must carry insurance</a:t>
            </a:r>
            <a:br>
              <a:rPr lang="en-CA" dirty="0"/>
            </a:br>
            <a:r>
              <a:rPr lang="en-CA" dirty="0"/>
              <a:t>equal to at least 80 percent of the insurable value of the covered property.</a:t>
            </a:r>
          </a:p>
          <a:p>
            <a:endParaRPr lang="en-CA" dirty="0"/>
          </a:p>
        </p:txBody>
      </p:sp>
    </p:spTree>
    <p:extLst>
      <p:ext uri="{BB962C8B-B14F-4D97-AF65-F5344CB8AC3E}">
        <p14:creationId xmlns:p14="http://schemas.microsoft.com/office/powerpoint/2010/main" val="3778796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3" name="TextBox 2"/>
          <p:cNvSpPr txBox="1"/>
          <p:nvPr/>
        </p:nvSpPr>
        <p:spPr>
          <a:xfrm>
            <a:off x="5569" y="30697"/>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a:solidFill>
                  <a:schemeClr val="tx1"/>
                </a:solidFill>
                <a:latin typeface="Segoe UI Semibold" panose="020B0702040204020203" pitchFamily="34" charset="0"/>
              </a:rPr>
              <a:t>Insurance to Value Provision</a:t>
            </a:r>
          </a:p>
        </p:txBody>
      </p:sp>
      <p:sp>
        <p:nvSpPr>
          <p:cNvPr id="5" name="TextBox 4"/>
          <p:cNvSpPr txBox="1"/>
          <p:nvPr/>
        </p:nvSpPr>
        <p:spPr>
          <a:xfrm>
            <a:off x="178874" y="6490560"/>
            <a:ext cx="11181516" cy="261371"/>
          </a:xfrm>
          <a:prstGeom prst="rect">
            <a:avLst/>
          </a:prstGeom>
          <a:noFill/>
        </p:spPr>
        <p:txBody>
          <a:bodyPr wrap="square" rtlCol="0">
            <a:spAutoFit/>
          </a:bodyPr>
          <a:lstStyle/>
          <a:p>
            <a:r>
              <a:rPr lang="en-IN" sz="1099" dirty="0"/>
              <a:t>Note: All Information contained herein is proprietary &amp; confidential material of ValueMomentum Inc. All rights are reserved.  </a:t>
            </a:r>
          </a:p>
        </p:txBody>
      </p:sp>
      <p:sp>
        <p:nvSpPr>
          <p:cNvPr id="9" name="TextBox 8"/>
          <p:cNvSpPr txBox="1"/>
          <p:nvPr/>
        </p:nvSpPr>
        <p:spPr>
          <a:xfrm>
            <a:off x="155951" y="1098094"/>
            <a:ext cx="11128194" cy="4950296"/>
          </a:xfrm>
          <a:prstGeom prst="rect">
            <a:avLst/>
          </a:prstGeom>
          <a:noFill/>
        </p:spPr>
        <p:txBody>
          <a:bodyPr wrap="square" rtlCol="0">
            <a:spAutoFit/>
          </a:bodyPr>
          <a:lstStyle/>
          <a:p>
            <a:pPr marL="338374" indent="-338374" fontAlgn="base">
              <a:spcBef>
                <a:spcPct val="0"/>
              </a:spcBef>
              <a:spcAft>
                <a:spcPct val="0"/>
              </a:spcAft>
              <a:buFont typeface="Wingdings" panose="05000000000000000000" pitchFamily="2" charset="2"/>
              <a:buChar char="v"/>
            </a:pPr>
            <a:r>
              <a:rPr lang="en-US" sz="1974" b="1" dirty="0">
                <a:solidFill>
                  <a:prstClr val="black"/>
                </a:solidFill>
                <a:latin typeface="Segoe UI Light" panose="020B0502040204020203" pitchFamily="34" charset="0"/>
              </a:rPr>
              <a:t>Insurance to value provision (Coinsurance)</a:t>
            </a:r>
            <a:r>
              <a:rPr lang="en-US" sz="1974" dirty="0">
                <a:solidFill>
                  <a:prstClr val="black"/>
                </a:solidFill>
                <a:latin typeface="Segoe UI Light" panose="020B0502040204020203" pitchFamily="34" charset="0"/>
              </a:rPr>
              <a:t> clause requires the insured to carry insurance equal to at least a specified percentage of the property’s ACV or replacement cost value. If the amount of insurance carried does not meet the coinsurance requirement the payment will be calculated as per the below formula:</a:t>
            </a:r>
          </a:p>
          <a:p>
            <a:pPr fontAlgn="base">
              <a:spcBef>
                <a:spcPct val="0"/>
              </a:spcBef>
              <a:spcAft>
                <a:spcPct val="0"/>
              </a:spcAft>
            </a:pPr>
            <a:endParaRPr lang="en-US" sz="1974" dirty="0">
              <a:solidFill>
                <a:prstClr val="black"/>
              </a:solidFill>
              <a:latin typeface="Segoe UI Light" panose="020B0502040204020203" pitchFamily="34" charset="0"/>
            </a:endParaRPr>
          </a:p>
          <a:p>
            <a:pPr fontAlgn="base">
              <a:spcBef>
                <a:spcPct val="0"/>
              </a:spcBef>
              <a:spcAft>
                <a:spcPct val="0"/>
              </a:spcAft>
            </a:pPr>
            <a:r>
              <a:rPr lang="en-US" sz="1974" dirty="0">
                <a:solidFill>
                  <a:prstClr val="black"/>
                </a:solidFill>
                <a:latin typeface="Segoe UI Light" panose="020B0502040204020203" pitchFamily="34" charset="0"/>
              </a:rPr>
              <a:t>     </a:t>
            </a:r>
            <a:r>
              <a:rPr lang="en-US" sz="1974" b="1" dirty="0">
                <a:solidFill>
                  <a:prstClr val="black"/>
                </a:solidFill>
                <a:latin typeface="Segoe UI Light" panose="020B0502040204020203" pitchFamily="34" charset="0"/>
              </a:rPr>
              <a:t>Loss payment  less deductible =                      Amount of insurance carried</a:t>
            </a:r>
          </a:p>
          <a:p>
            <a:pPr fontAlgn="base">
              <a:spcBef>
                <a:spcPct val="0"/>
              </a:spcBef>
              <a:spcAft>
                <a:spcPct val="0"/>
              </a:spcAft>
            </a:pPr>
            <a:r>
              <a:rPr lang="en-US" sz="1974" b="1" dirty="0">
                <a:solidFill>
                  <a:prstClr val="black"/>
                </a:solidFill>
                <a:latin typeface="Segoe UI Light" panose="020B0502040204020203" pitchFamily="34" charset="0"/>
              </a:rPr>
              <a:t>                                                                       -------------------------------------     X   Loss </a:t>
            </a:r>
          </a:p>
          <a:p>
            <a:pPr fontAlgn="base">
              <a:spcBef>
                <a:spcPct val="0"/>
              </a:spcBef>
              <a:spcAft>
                <a:spcPct val="0"/>
              </a:spcAft>
            </a:pPr>
            <a:r>
              <a:rPr lang="en-US" sz="1974" b="1" dirty="0">
                <a:solidFill>
                  <a:prstClr val="black"/>
                </a:solidFill>
                <a:latin typeface="Segoe UI Light" panose="020B0502040204020203" pitchFamily="34" charset="0"/>
              </a:rPr>
              <a:t>                                                                            Amount of insurance required </a:t>
            </a:r>
          </a:p>
          <a:p>
            <a:pPr fontAlgn="base">
              <a:spcBef>
                <a:spcPct val="0"/>
              </a:spcBef>
              <a:spcAft>
                <a:spcPct val="0"/>
              </a:spcAft>
            </a:pPr>
            <a:endParaRPr lang="en-US" sz="1974" dirty="0">
              <a:solidFill>
                <a:prstClr val="black"/>
              </a:solidFill>
              <a:latin typeface="Segoe UI Light" panose="020B0502040204020203" pitchFamily="34" charset="0"/>
            </a:endParaRPr>
          </a:p>
          <a:p>
            <a:pPr fontAlgn="base">
              <a:spcBef>
                <a:spcPct val="0"/>
              </a:spcBef>
              <a:spcAft>
                <a:spcPct val="0"/>
              </a:spcAft>
            </a:pPr>
            <a:r>
              <a:rPr lang="en-US" sz="1974" dirty="0">
                <a:solidFill>
                  <a:prstClr val="black"/>
                </a:solidFill>
                <a:latin typeface="Segoe UI Light" panose="020B0502040204020203" pitchFamily="34" charset="0"/>
              </a:rPr>
              <a:t>      E.g. The value of the property is $250,000 </a:t>
            </a:r>
          </a:p>
          <a:p>
            <a:pPr fontAlgn="base">
              <a:spcBef>
                <a:spcPct val="0"/>
              </a:spcBef>
              <a:spcAft>
                <a:spcPct val="0"/>
              </a:spcAft>
            </a:pPr>
            <a:r>
              <a:rPr lang="en-US" sz="1974" dirty="0">
                <a:solidFill>
                  <a:prstClr val="black"/>
                </a:solidFill>
                <a:latin typeface="Segoe UI Light" panose="020B0502040204020203" pitchFamily="34" charset="0"/>
              </a:rPr>
              <a:t>             The Coinsurance percentage for it is 80% </a:t>
            </a:r>
          </a:p>
          <a:p>
            <a:pPr fontAlgn="base">
              <a:spcBef>
                <a:spcPct val="0"/>
              </a:spcBef>
              <a:spcAft>
                <a:spcPct val="0"/>
              </a:spcAft>
            </a:pPr>
            <a:r>
              <a:rPr lang="en-US" sz="1974" dirty="0">
                <a:solidFill>
                  <a:prstClr val="black"/>
                </a:solidFill>
                <a:latin typeface="Segoe UI Light" panose="020B0502040204020203" pitchFamily="34" charset="0"/>
              </a:rPr>
              <a:t>             The Limit of Insurance for it is $100,000 </a:t>
            </a:r>
          </a:p>
          <a:p>
            <a:pPr fontAlgn="base">
              <a:spcBef>
                <a:spcPct val="0"/>
              </a:spcBef>
              <a:spcAft>
                <a:spcPct val="0"/>
              </a:spcAft>
            </a:pPr>
            <a:r>
              <a:rPr lang="en-US" sz="1974" dirty="0">
                <a:solidFill>
                  <a:prstClr val="black"/>
                </a:solidFill>
                <a:latin typeface="Segoe UI Light" panose="020B0502040204020203" pitchFamily="34" charset="0"/>
              </a:rPr>
              <a:t>             The Deductible is $250</a:t>
            </a:r>
          </a:p>
          <a:p>
            <a:pPr fontAlgn="base">
              <a:spcBef>
                <a:spcPct val="0"/>
              </a:spcBef>
              <a:spcAft>
                <a:spcPct val="0"/>
              </a:spcAft>
            </a:pPr>
            <a:r>
              <a:rPr lang="en-US" sz="1974" dirty="0">
                <a:solidFill>
                  <a:prstClr val="black"/>
                </a:solidFill>
                <a:latin typeface="Segoe UI Light" panose="020B0502040204020203" pitchFamily="34" charset="0"/>
              </a:rPr>
              <a:t>             The amount of loss is $ 40,000 </a:t>
            </a:r>
          </a:p>
          <a:p>
            <a:pPr fontAlgn="base">
              <a:spcBef>
                <a:spcPct val="0"/>
              </a:spcBef>
              <a:spcAft>
                <a:spcPct val="0"/>
              </a:spcAft>
            </a:pPr>
            <a:endParaRPr lang="en-US" sz="1974" dirty="0">
              <a:solidFill>
                <a:prstClr val="black"/>
              </a:solidFill>
              <a:latin typeface="Segoe UI Light" panose="020B0502040204020203" pitchFamily="34" charset="0"/>
            </a:endParaRPr>
          </a:p>
          <a:p>
            <a:pPr fontAlgn="base">
              <a:spcBef>
                <a:spcPct val="0"/>
              </a:spcBef>
              <a:spcAft>
                <a:spcPct val="0"/>
              </a:spcAft>
            </a:pPr>
            <a:endParaRPr lang="en-US" sz="1974" dirty="0">
              <a:solidFill>
                <a:prstClr val="black"/>
              </a:solidFill>
              <a:latin typeface="Segoe UI Light" panose="020B0502040204020203" pitchFamily="34" charset="0"/>
            </a:endParaRPr>
          </a:p>
        </p:txBody>
      </p:sp>
      <p:sp>
        <p:nvSpPr>
          <p:cNvPr id="10" name="TextBox 9"/>
          <p:cNvSpPr txBox="1"/>
          <p:nvPr/>
        </p:nvSpPr>
        <p:spPr>
          <a:xfrm>
            <a:off x="529851" y="5221824"/>
            <a:ext cx="11043628" cy="1214796"/>
          </a:xfrm>
          <a:prstGeom prst="rect">
            <a:avLst/>
          </a:prstGeom>
          <a:noFill/>
        </p:spPr>
        <p:txBody>
          <a:bodyPr wrap="square" rtlCol="0">
            <a:spAutoFit/>
          </a:bodyPr>
          <a:lstStyle/>
          <a:p>
            <a:pPr fontAlgn="base">
              <a:spcBef>
                <a:spcPct val="0"/>
              </a:spcBef>
              <a:spcAft>
                <a:spcPct val="0"/>
              </a:spcAft>
            </a:pPr>
            <a:endParaRPr lang="en-US" sz="1382" dirty="0">
              <a:solidFill>
                <a:prstClr val="black"/>
              </a:solidFill>
              <a:latin typeface="Arial" charset="0"/>
              <a:cs typeface="Arial" charset="0"/>
            </a:endParaRPr>
          </a:p>
          <a:p>
            <a:pPr fontAlgn="base">
              <a:spcBef>
                <a:spcPct val="0"/>
              </a:spcBef>
              <a:spcAft>
                <a:spcPct val="0"/>
              </a:spcAft>
            </a:pPr>
            <a:r>
              <a:rPr lang="en-US" sz="1974" dirty="0">
                <a:solidFill>
                  <a:prstClr val="black"/>
                </a:solidFill>
                <a:latin typeface="Segoe UI Light" panose="020B0502040204020203" pitchFamily="34" charset="0"/>
              </a:rPr>
              <a:t>        Loss payment  less deductible =           $100,000</a:t>
            </a:r>
          </a:p>
          <a:p>
            <a:pPr fontAlgn="base">
              <a:spcBef>
                <a:spcPct val="0"/>
              </a:spcBef>
              <a:spcAft>
                <a:spcPct val="0"/>
              </a:spcAft>
            </a:pPr>
            <a:r>
              <a:rPr lang="en-US" sz="1974" dirty="0">
                <a:solidFill>
                  <a:prstClr val="black"/>
                </a:solidFill>
                <a:latin typeface="Segoe UI Light" panose="020B0502040204020203" pitchFamily="34" charset="0"/>
              </a:rPr>
              <a:t>                                                            ---------------------     X   $40,000    -  $250 =  $19,750</a:t>
            </a:r>
          </a:p>
          <a:p>
            <a:pPr fontAlgn="base">
              <a:spcBef>
                <a:spcPct val="0"/>
              </a:spcBef>
              <a:spcAft>
                <a:spcPct val="0"/>
              </a:spcAft>
            </a:pPr>
            <a:r>
              <a:rPr lang="en-US" sz="1974" dirty="0">
                <a:solidFill>
                  <a:prstClr val="black"/>
                </a:solidFill>
                <a:latin typeface="Segoe UI Light" panose="020B0502040204020203" pitchFamily="34" charset="0"/>
              </a:rPr>
              <a:t>                                                              (80% of $250,000) </a:t>
            </a:r>
            <a:endParaRPr lang="en-US" sz="1974" dirty="0">
              <a:latin typeface="Segoe UI Light" panose="020B0502040204020203" pitchFamily="34" charset="0"/>
            </a:endParaRPr>
          </a:p>
        </p:txBody>
      </p:sp>
      <p:sp>
        <p:nvSpPr>
          <p:cNvPr id="6" name="Double Bracket 5"/>
          <p:cNvSpPr/>
          <p:nvPr/>
        </p:nvSpPr>
        <p:spPr>
          <a:xfrm>
            <a:off x="4592190" y="5459144"/>
            <a:ext cx="3909906" cy="1031416"/>
          </a:xfrm>
          <a:prstGeom prst="bracketPair">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776"/>
          </a:p>
        </p:txBody>
      </p:sp>
    </p:spTree>
    <p:extLst>
      <p:ext uri="{BB962C8B-B14F-4D97-AF65-F5344CB8AC3E}">
        <p14:creationId xmlns:p14="http://schemas.microsoft.com/office/powerpoint/2010/main" val="3500423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p:nvPr/>
        </p:nvSpPr>
        <p:spPr>
          <a:xfrm>
            <a:off x="775789" y="1097643"/>
            <a:ext cx="6375400" cy="304800"/>
          </a:xfrm>
          <a:prstGeom prst="rect">
            <a:avLst/>
          </a:prstGeom>
          <a:noFill/>
        </p:spPr>
        <p:txBody>
          <a:bodyPr vert="horz" wrap="none" lIns="0" tIns="0" rIns="0" bIns="0" rtlCol="0">
            <a:spAutoFit/>
          </a:bodyPr>
          <a:lstStyle/>
          <a:p>
            <a:pPr>
              <a:lnSpc>
                <a:spcPts val="1840"/>
              </a:lnSpc>
            </a:pPr>
            <a:r>
              <a:rPr lang="en-CA" sz="1530" b="1" spc="-10" dirty="0">
                <a:solidFill>
                  <a:srgbClr val="000000"/>
                </a:solidFill>
                <a:latin typeface="Times New Roman"/>
                <a:cs typeface="Times New Roman"/>
              </a:rPr>
              <a:t>Shorter List of Property Not Covered</a:t>
            </a:r>
          </a:p>
          <a:p>
            <a:pPr>
              <a:lnSpc>
                <a:spcPts val="1840"/>
              </a:lnSpc>
            </a:pPr>
            <a:endParaRPr lang="en-CA" sz="1600" dirty="0">
              <a:solidFill>
                <a:srgbClr val="000000"/>
              </a:solidFill>
            </a:endParaRPr>
          </a:p>
        </p:txBody>
      </p:sp>
      <p:sp>
        <p:nvSpPr>
          <p:cNvPr id="3" name="TextBox 7"/>
          <p:cNvSpPr txBox="1"/>
          <p:nvPr/>
        </p:nvSpPr>
        <p:spPr>
          <a:xfrm>
            <a:off x="763089" y="1364343"/>
            <a:ext cx="4597581" cy="666849"/>
          </a:xfrm>
          <a:prstGeom prst="rect">
            <a:avLst/>
          </a:prstGeom>
          <a:noFill/>
          <a:ln>
            <a:solidFill>
              <a:schemeClr val="bg1"/>
            </a:solidFill>
          </a:ln>
        </p:spPr>
        <p:txBody>
          <a:bodyPr vert="horz" wrap="square" lIns="0" tIns="0" rIns="0" bIns="0" rtlCol="0">
            <a:spAutoFit/>
          </a:bodyPr>
          <a:lstStyle/>
          <a:p>
            <a:pPr indent="3048">
              <a:lnSpc>
                <a:spcPts val="1300"/>
              </a:lnSpc>
            </a:pPr>
            <a:r>
              <a:rPr lang="en-CA" sz="1100" dirty="0">
                <a:solidFill>
                  <a:srgbClr val="000000"/>
                </a:solidFill>
                <a:latin typeface="Times New Roman"/>
                <a:cs typeface="Times New Roman"/>
              </a:rPr>
              <a:t>In most BOPs, the list of property not covered is considerably shorter than the</a:t>
            </a:r>
            <a:br>
              <a:rPr lang="en-CA" sz="1100" dirty="0">
                <a:solidFill>
                  <a:srgbClr val="000000"/>
                </a:solidFill>
                <a:latin typeface="Times New Roman"/>
              </a:rPr>
            </a:br>
            <a:r>
              <a:rPr lang="en-CA" sz="1100" dirty="0">
                <a:solidFill>
                  <a:srgbClr val="000000"/>
                </a:solidFill>
                <a:latin typeface="Times New Roman"/>
                <a:cs typeface="Times New Roman"/>
              </a:rPr>
              <a:t>comparable list of property not covered in the Building and Personal Property</a:t>
            </a:r>
            <a:br>
              <a:rPr lang="en-CA" sz="1100" dirty="0">
                <a:solidFill>
                  <a:srgbClr val="000000"/>
                </a:solidFill>
                <a:latin typeface="Times New Roman"/>
              </a:rPr>
            </a:br>
            <a:r>
              <a:rPr lang="en-CA" sz="1100" dirty="0">
                <a:solidFill>
                  <a:srgbClr val="000000"/>
                </a:solidFill>
                <a:latin typeface="Times New Roman"/>
                <a:cs typeface="Times New Roman"/>
              </a:rPr>
              <a:t>Coverage Form (BPP). There are two principal reasons for this difference:</a:t>
            </a:r>
          </a:p>
          <a:p>
            <a:pPr>
              <a:lnSpc>
                <a:spcPts val="1300"/>
              </a:lnSpc>
            </a:pPr>
            <a:endParaRPr lang="en-CA" sz="1100" dirty="0">
              <a:solidFill>
                <a:srgbClr val="000000"/>
              </a:solidFill>
            </a:endParaRPr>
          </a:p>
        </p:txBody>
      </p:sp>
      <p:sp>
        <p:nvSpPr>
          <p:cNvPr id="4" name="TextBox 8"/>
          <p:cNvSpPr txBox="1"/>
          <p:nvPr/>
        </p:nvSpPr>
        <p:spPr>
          <a:xfrm>
            <a:off x="775789" y="2208183"/>
            <a:ext cx="4597581" cy="1000274"/>
          </a:xfrm>
          <a:prstGeom prst="rect">
            <a:avLst/>
          </a:prstGeom>
          <a:noFill/>
        </p:spPr>
        <p:txBody>
          <a:bodyPr vert="horz" wrap="square" lIns="0" tIns="0" rIns="0" bIns="0" rtlCol="0">
            <a:spAutoFit/>
          </a:bodyPr>
          <a:lstStyle/>
          <a:p>
            <a:pPr>
              <a:lnSpc>
                <a:spcPts val="1300"/>
              </a:lnSpc>
              <a:tabLst>
                <a:tab pos="228600" algn="l"/>
                <a:tab pos="215900" algn="l"/>
                <a:tab pos="228600" algn="l"/>
                <a:tab pos="215900" algn="l"/>
              </a:tabLst>
            </a:pPr>
            <a:r>
              <a:rPr lang="en-CA" sz="1100" dirty="0">
                <a:solidFill>
                  <a:srgbClr val="000000"/>
                </a:solidFill>
                <a:latin typeface="Times New Roman"/>
                <a:cs typeface="Times New Roman"/>
              </a:rPr>
              <a:t>•   Some of the "property not covered" exclusions in the BPP are not needed</a:t>
            </a:r>
            <a:br>
              <a:rPr lang="en-CA" sz="1100" dirty="0">
                <a:solidFill>
                  <a:srgbClr val="000000"/>
                </a:solidFill>
                <a:latin typeface="Times New Roman"/>
              </a:rPr>
            </a:br>
            <a:r>
              <a:rPr lang="en-CA" sz="1100" dirty="0">
                <a:solidFill>
                  <a:srgbClr val="000000"/>
                </a:solidFill>
                <a:latin typeface="Times New Roman"/>
                <a:cs typeface="Times New Roman"/>
              </a:rPr>
              <a:t>	in a BOP because they apply to types of businesses that are not eligible</a:t>
            </a:r>
            <a:br>
              <a:rPr lang="en-CA" sz="1100" dirty="0">
                <a:solidFill>
                  <a:srgbClr val="000000"/>
                </a:solidFill>
                <a:latin typeface="Times New Roman"/>
              </a:rPr>
            </a:br>
            <a:r>
              <a:rPr lang="en-CA" sz="1100" dirty="0">
                <a:solidFill>
                  <a:srgbClr val="000000"/>
                </a:solidFill>
                <a:latin typeface="Times New Roman"/>
                <a:cs typeface="Times New Roman"/>
              </a:rPr>
              <a:t>	for BOP coverage. For example, wharves or docks are often not excluded</a:t>
            </a:r>
            <a:br>
              <a:rPr lang="en-CA" sz="1100" dirty="0">
                <a:solidFill>
                  <a:srgbClr val="000000"/>
                </a:solidFill>
                <a:latin typeface="Times New Roman"/>
              </a:rPr>
            </a:br>
            <a:r>
              <a:rPr lang="en-CA" sz="1100" dirty="0">
                <a:solidFill>
                  <a:srgbClr val="000000"/>
                </a:solidFill>
                <a:latin typeface="Times New Roman"/>
                <a:cs typeface="Times New Roman"/>
              </a:rPr>
              <a:t>	in BOPs because the types of insureds eligible for BOP coverage rarely</a:t>
            </a:r>
            <a:br>
              <a:rPr lang="en-CA" sz="1100" dirty="0">
                <a:solidFill>
                  <a:srgbClr val="000000"/>
                </a:solidFill>
                <a:latin typeface="Times New Roman"/>
              </a:rPr>
            </a:br>
            <a:r>
              <a:rPr lang="en-CA" sz="1100" dirty="0">
                <a:solidFill>
                  <a:srgbClr val="000000"/>
                </a:solidFill>
                <a:latin typeface="Times New Roman"/>
                <a:cs typeface="Times New Roman"/>
              </a:rPr>
              <a:t>	have them.</a:t>
            </a:r>
          </a:p>
          <a:p>
            <a:pPr>
              <a:lnSpc>
                <a:spcPts val="1300"/>
              </a:lnSpc>
            </a:pPr>
            <a:endParaRPr lang="en-CA" sz="1100" dirty="0">
              <a:solidFill>
                <a:srgbClr val="000000"/>
              </a:solidFill>
            </a:endParaRPr>
          </a:p>
        </p:txBody>
      </p:sp>
      <p:sp>
        <p:nvSpPr>
          <p:cNvPr id="5" name="TextBox 9"/>
          <p:cNvSpPr txBox="1"/>
          <p:nvPr/>
        </p:nvSpPr>
        <p:spPr>
          <a:xfrm>
            <a:off x="775789" y="3204936"/>
            <a:ext cx="4584881" cy="1000274"/>
          </a:xfrm>
          <a:prstGeom prst="rect">
            <a:avLst/>
          </a:prstGeom>
          <a:noFill/>
        </p:spPr>
        <p:txBody>
          <a:bodyPr vert="horz" wrap="square" lIns="0" tIns="0" rIns="0" bIns="0" rtlCol="0">
            <a:spAutoFit/>
          </a:bodyPr>
          <a:lstStyle/>
          <a:p>
            <a:pPr>
              <a:lnSpc>
                <a:spcPts val="1300"/>
              </a:lnSpc>
              <a:tabLst>
                <a:tab pos="215900" algn="l"/>
                <a:tab pos="215900" algn="l"/>
                <a:tab pos="215900" algn="l"/>
                <a:tab pos="215900" algn="l"/>
              </a:tabLst>
            </a:pPr>
            <a:r>
              <a:rPr lang="en-CA" sz="1100" dirty="0">
                <a:solidFill>
                  <a:srgbClr val="000000"/>
                </a:solidFill>
                <a:latin typeface="Times New Roman"/>
                <a:cs typeface="Times New Roman"/>
              </a:rPr>
              <a:t>•   Insurers fire willing to offer broader coverage because the insureds eligible</a:t>
            </a:r>
            <a:br>
              <a:rPr lang="en-CA" sz="1100" dirty="0">
                <a:solidFill>
                  <a:srgbClr val="000000"/>
                </a:solidFill>
                <a:latin typeface="Times New Roman"/>
              </a:rPr>
            </a:br>
            <a:r>
              <a:rPr lang="en-CA" sz="1100" dirty="0">
                <a:solidFill>
                  <a:srgbClr val="000000"/>
                </a:solidFill>
                <a:latin typeface="Times New Roman"/>
                <a:cs typeface="Times New Roman"/>
              </a:rPr>
              <a:t>	for a BOP are generally lower-risk, more homogeneous types of businesses.</a:t>
            </a:r>
            <a:br>
              <a:rPr lang="en-CA" sz="1100" dirty="0">
                <a:solidFill>
                  <a:srgbClr val="000000"/>
                </a:solidFill>
                <a:latin typeface="Times New Roman"/>
              </a:rPr>
            </a:br>
            <a:r>
              <a:rPr lang="en-CA" sz="1100" dirty="0">
                <a:solidFill>
                  <a:srgbClr val="000000"/>
                </a:solidFill>
                <a:latin typeface="Times New Roman"/>
                <a:cs typeface="Times New Roman"/>
              </a:rPr>
              <a:t>	For example, cost of excavations, underground pipes, foundations below</a:t>
            </a:r>
            <a:br>
              <a:rPr lang="en-CA" sz="1100" dirty="0">
                <a:solidFill>
                  <a:srgbClr val="000000"/>
                </a:solidFill>
                <a:latin typeface="Times New Roman"/>
              </a:rPr>
            </a:br>
            <a:r>
              <a:rPr lang="en-CA" sz="1100" dirty="0">
                <a:solidFill>
                  <a:srgbClr val="000000"/>
                </a:solidFill>
                <a:latin typeface="Times New Roman"/>
                <a:cs typeface="Times New Roman"/>
              </a:rPr>
              <a:t>	the lowest floor, and retaining walls, all of which the BPP excludes, are</a:t>
            </a:r>
            <a:br>
              <a:rPr lang="en-CA" sz="1100" dirty="0">
                <a:solidFill>
                  <a:srgbClr val="000000"/>
                </a:solidFill>
                <a:latin typeface="Times New Roman"/>
              </a:rPr>
            </a:br>
            <a:r>
              <a:rPr lang="en-CA" sz="1100" dirty="0">
                <a:solidFill>
                  <a:srgbClr val="000000"/>
                </a:solidFill>
                <a:latin typeface="Times New Roman"/>
                <a:cs typeface="Times New Roman"/>
              </a:rPr>
              <a:t>	often not excluded in BOPs.</a:t>
            </a:r>
          </a:p>
          <a:p>
            <a:pPr>
              <a:lnSpc>
                <a:spcPts val="1300"/>
              </a:lnSpc>
            </a:pPr>
            <a:endParaRPr lang="en-CA" sz="1100" dirty="0">
              <a:solidFill>
                <a:srgbClr val="000000"/>
              </a:solidFill>
            </a:endParaRPr>
          </a:p>
        </p:txBody>
      </p:sp>
      <p:sp>
        <p:nvSpPr>
          <p:cNvPr id="6" name="TextBox 10"/>
          <p:cNvSpPr txBox="1"/>
          <p:nvPr/>
        </p:nvSpPr>
        <p:spPr>
          <a:xfrm>
            <a:off x="7021830" y="1288143"/>
            <a:ext cx="6388100" cy="304800"/>
          </a:xfrm>
          <a:prstGeom prst="rect">
            <a:avLst/>
          </a:prstGeom>
          <a:noFill/>
        </p:spPr>
        <p:txBody>
          <a:bodyPr vert="horz" wrap="none" lIns="0" tIns="0" rIns="0" bIns="0" rtlCol="0">
            <a:spAutoFit/>
          </a:bodyPr>
          <a:lstStyle/>
          <a:p>
            <a:pPr>
              <a:lnSpc>
                <a:spcPts val="1840"/>
              </a:lnSpc>
            </a:pPr>
            <a:r>
              <a:rPr lang="en-CA" sz="1610" b="1" dirty="0">
                <a:solidFill>
                  <a:srgbClr val="000000"/>
                </a:solidFill>
                <a:latin typeface="Times New Roman"/>
                <a:cs typeface="Times New Roman"/>
              </a:rPr>
              <a:t>Automatic Seasonal Increase Provision</a:t>
            </a:r>
          </a:p>
          <a:p>
            <a:pPr>
              <a:lnSpc>
                <a:spcPts val="1840"/>
              </a:lnSpc>
            </a:pPr>
            <a:endParaRPr lang="en-CA" sz="1600" dirty="0">
              <a:solidFill>
                <a:srgbClr val="000000"/>
              </a:solidFill>
            </a:endParaRPr>
          </a:p>
        </p:txBody>
      </p:sp>
      <p:sp>
        <p:nvSpPr>
          <p:cNvPr id="7" name="TextBox 11"/>
          <p:cNvSpPr txBox="1"/>
          <p:nvPr/>
        </p:nvSpPr>
        <p:spPr>
          <a:xfrm>
            <a:off x="7021830" y="1783443"/>
            <a:ext cx="6388100" cy="1041400"/>
          </a:xfrm>
          <a:prstGeom prst="rect">
            <a:avLst/>
          </a:prstGeom>
          <a:noFill/>
        </p:spPr>
        <p:txBody>
          <a:bodyPr vert="horz" wrap="none" lIns="0" tIns="0" rIns="0" bIns="0" rtlCol="0">
            <a:spAutoFit/>
          </a:bodyPr>
          <a:lstStyle/>
          <a:p>
            <a:pPr indent="6095">
              <a:lnSpc>
                <a:spcPts val="1300"/>
              </a:lnSpc>
            </a:pPr>
            <a:r>
              <a:rPr lang="en-CA" sz="1100" dirty="0">
                <a:solidFill>
                  <a:srgbClr val="000000"/>
                </a:solidFill>
                <a:latin typeface="Times New Roman"/>
                <a:cs typeface="Times New Roman"/>
              </a:rPr>
              <a:t>Some BOPs provide a novel solution to the problem of fluctuating values. A</a:t>
            </a:r>
            <a:br>
              <a:rPr lang="en-CA" sz="1100" dirty="0">
                <a:solidFill>
                  <a:srgbClr val="000000"/>
                </a:solidFill>
                <a:latin typeface="Times New Roman"/>
              </a:rPr>
            </a:br>
            <a:r>
              <a:rPr lang="en-CA" sz="1100" dirty="0">
                <a:solidFill>
                  <a:srgbClr val="000000"/>
                </a:solidFill>
                <a:latin typeface="Times New Roman"/>
                <a:cs typeface="Times New Roman"/>
              </a:rPr>
              <a:t>seasonal increase provision is a provision commonly included in BOPs that</a:t>
            </a:r>
            <a:br>
              <a:rPr lang="en-CA" sz="1100" dirty="0">
                <a:solidFill>
                  <a:srgbClr val="000000"/>
                </a:solidFill>
                <a:latin typeface="Times New Roman"/>
              </a:rPr>
            </a:br>
            <a:r>
              <a:rPr lang="en-CA" sz="1100" dirty="0">
                <a:solidFill>
                  <a:srgbClr val="000000"/>
                </a:solidFill>
                <a:latin typeface="Times New Roman"/>
                <a:cs typeface="Times New Roman"/>
              </a:rPr>
              <a:t>addresses fluctuating personal property values by automatically increasing the</a:t>
            </a:r>
            <a:br>
              <a:rPr lang="en-CA" sz="1100" dirty="0">
                <a:solidFill>
                  <a:srgbClr val="000000"/>
                </a:solidFill>
                <a:latin typeface="Times New Roman"/>
              </a:rPr>
            </a:br>
            <a:r>
              <a:rPr lang="en-CA" sz="1100" dirty="0">
                <a:solidFill>
                  <a:srgbClr val="000000"/>
                </a:solidFill>
                <a:latin typeface="Times New Roman"/>
                <a:cs typeface="Times New Roman"/>
              </a:rPr>
              <a:t>amount of insurance for certain time periods. A seasonal increase provision</a:t>
            </a:r>
            <a:br>
              <a:rPr lang="en-CA" sz="1100" dirty="0">
                <a:solidFill>
                  <a:srgbClr val="000000"/>
                </a:solidFill>
                <a:latin typeface="Times New Roman"/>
              </a:rPr>
            </a:br>
            <a:r>
              <a:rPr lang="en-CA" sz="1100" dirty="0">
                <a:solidFill>
                  <a:srgbClr val="000000"/>
                </a:solidFill>
                <a:latin typeface="Times New Roman"/>
                <a:cs typeface="Times New Roman"/>
              </a:rPr>
              <a:t>functions somewhat like the peak season endorsement, which also provides</a:t>
            </a:r>
            <a:br>
              <a:rPr lang="en-CA" sz="1100" dirty="0">
                <a:solidFill>
                  <a:srgbClr val="000000"/>
                </a:solidFill>
                <a:latin typeface="Times New Roman"/>
              </a:rPr>
            </a:br>
            <a:r>
              <a:rPr lang="en-CA" sz="1100" dirty="0">
                <a:solidFill>
                  <a:srgbClr val="000000"/>
                </a:solidFill>
                <a:latin typeface="Times New Roman"/>
                <a:cs typeface="Times New Roman"/>
              </a:rPr>
              <a:t>differing amounts of insurance for certain time periods. However, the sea-</a:t>
            </a:r>
          </a:p>
          <a:p>
            <a:pPr>
              <a:lnSpc>
                <a:spcPts val="1300"/>
              </a:lnSpc>
            </a:pPr>
            <a:endParaRPr lang="en-CA" sz="1100" dirty="0">
              <a:solidFill>
                <a:srgbClr val="000000"/>
              </a:solidFill>
            </a:endParaRPr>
          </a:p>
        </p:txBody>
      </p:sp>
      <p:sp>
        <p:nvSpPr>
          <p:cNvPr id="8" name="TextBox 12"/>
          <p:cNvSpPr txBox="1"/>
          <p:nvPr/>
        </p:nvSpPr>
        <p:spPr>
          <a:xfrm>
            <a:off x="7021830" y="3073400"/>
            <a:ext cx="4395434" cy="833562"/>
          </a:xfrm>
          <a:prstGeom prst="rect">
            <a:avLst/>
          </a:prstGeom>
          <a:noFill/>
        </p:spPr>
        <p:txBody>
          <a:bodyPr vert="horz" wrap="none" lIns="0" tIns="0" rIns="0" bIns="0" rtlCol="0">
            <a:spAutoFit/>
          </a:bodyPr>
          <a:lstStyle/>
          <a:p>
            <a:pPr indent="3048">
              <a:lnSpc>
                <a:spcPts val="1300"/>
              </a:lnSpc>
            </a:pPr>
            <a:r>
              <a:rPr lang="en-CA" sz="1100" dirty="0">
                <a:solidFill>
                  <a:srgbClr val="000000"/>
                </a:solidFill>
                <a:latin typeface="Times New Roman"/>
                <a:cs typeface="Times New Roman"/>
              </a:rPr>
              <a:t>seasonal increase provision applies automatically. Provided the insured carries</a:t>
            </a:r>
            <a:br>
              <a:rPr lang="en-CA" sz="1100" dirty="0">
                <a:solidFill>
                  <a:srgbClr val="000000"/>
                </a:solidFill>
                <a:latin typeface="Times New Roman"/>
              </a:rPr>
            </a:br>
            <a:r>
              <a:rPr lang="en-CA" sz="1100" dirty="0">
                <a:solidFill>
                  <a:srgbClr val="000000"/>
                </a:solidFill>
                <a:latin typeface="Times New Roman"/>
                <a:cs typeface="Times New Roman"/>
              </a:rPr>
              <a:t>an amount of insurance equal to at least 100 percent of its average monthly</a:t>
            </a:r>
            <a:br>
              <a:rPr lang="en-CA" sz="1100" dirty="0">
                <a:solidFill>
                  <a:srgbClr val="000000"/>
                </a:solidFill>
                <a:latin typeface="Times New Roman"/>
              </a:rPr>
            </a:br>
            <a:r>
              <a:rPr lang="en-CA" sz="1100" dirty="0">
                <a:solidFill>
                  <a:srgbClr val="000000"/>
                </a:solidFill>
                <a:latin typeface="Times New Roman"/>
                <a:cs typeface="Times New Roman"/>
              </a:rPr>
              <a:t>personal property value for the twelve months preceding the loss, the business</a:t>
            </a:r>
            <a:br>
              <a:rPr lang="en-CA" sz="1100" dirty="0">
                <a:solidFill>
                  <a:srgbClr val="000000"/>
                </a:solidFill>
                <a:latin typeface="Times New Roman"/>
              </a:rPr>
            </a:br>
            <a:r>
              <a:rPr lang="en-CA" sz="1100" dirty="0">
                <a:solidFill>
                  <a:srgbClr val="000000"/>
                </a:solidFill>
                <a:latin typeface="Times New Roman"/>
                <a:cs typeface="Times New Roman"/>
              </a:rPr>
              <a:t>personal property limit will automatically increase by 25 percent.</a:t>
            </a:r>
          </a:p>
          <a:p>
            <a:pPr>
              <a:lnSpc>
                <a:spcPts val="1300"/>
              </a:lnSpc>
            </a:pPr>
            <a:endParaRPr lang="en-CA" sz="1100" dirty="0">
              <a:solidFill>
                <a:srgbClr val="000000"/>
              </a:solidFill>
            </a:endParaRPr>
          </a:p>
        </p:txBody>
      </p:sp>
      <p:pic>
        <p:nvPicPr>
          <p:cNvPr id="10" name="Picture 9">
            <a:extLst>
              <a:ext uri="{FF2B5EF4-FFF2-40B4-BE49-F238E27FC236}">
                <a16:creationId xmlns:a16="http://schemas.microsoft.com/office/drawing/2014/main" id="{2B3BE0EE-33E9-4C04-938F-E410368295F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Tree>
    <p:extLst>
      <p:ext uri="{BB962C8B-B14F-4D97-AF65-F5344CB8AC3E}">
        <p14:creationId xmlns:p14="http://schemas.microsoft.com/office/powerpoint/2010/main" val="195984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8458200" y="6553200"/>
            <a:ext cx="2209800" cy="228600"/>
          </a:xfrm>
          <a:prstGeom prst="rect">
            <a:avLst/>
          </a:prstGeom>
        </p:spPr>
        <p:txBody>
          <a:bodyPr/>
          <a:lstStyle/>
          <a:p>
            <a:pPr algn="r">
              <a:defRPr/>
            </a:pPr>
            <a:fld id="{0F56061C-0A42-4038-98B8-AEE9439494E5}" type="slidenum">
              <a:rPr lang="en-US" sz="1400"/>
              <a:pPr algn="r">
                <a:defRPr/>
              </a:pPr>
              <a:t>7</a:t>
            </a:fld>
            <a:endParaRPr lang="en-US" sz="1400" dirty="0"/>
          </a:p>
        </p:txBody>
      </p:sp>
      <p:sp>
        <p:nvSpPr>
          <p:cNvPr id="10" name="Rectangle 66"/>
          <p:cNvSpPr>
            <a:spLocks noChangeArrowheads="1"/>
          </p:cNvSpPr>
          <p:nvPr/>
        </p:nvSpPr>
        <p:spPr bwMode="auto">
          <a:xfrm>
            <a:off x="1600200" y="152400"/>
            <a:ext cx="5867400" cy="400110"/>
          </a:xfrm>
          <a:prstGeom prst="rect">
            <a:avLst/>
          </a:prstGeom>
          <a:noFill/>
          <a:ln w="12700">
            <a:noFill/>
            <a:miter lim="800000"/>
            <a:headEnd/>
            <a:tailEnd/>
          </a:ln>
        </p:spPr>
        <p:txBody>
          <a:bodyPr wrap="square" anchor="ctr">
            <a:spAutoFit/>
          </a:bodyPr>
          <a:lstStyle/>
          <a:p>
            <a:pPr eaLnBrk="0" hangingPunct="0"/>
            <a:r>
              <a:rPr lang="en-US" sz="2000" dirty="0">
                <a:solidFill>
                  <a:schemeClr val="bg1"/>
                </a:solidFill>
              </a:rPr>
              <a:t>Valuation Methods</a:t>
            </a:r>
          </a:p>
        </p:txBody>
      </p:sp>
      <p:sp>
        <p:nvSpPr>
          <p:cNvPr id="4" name="Rectangle 3"/>
          <p:cNvSpPr txBox="1">
            <a:spLocks noChangeArrowheads="1"/>
          </p:cNvSpPr>
          <p:nvPr/>
        </p:nvSpPr>
        <p:spPr bwMode="auto">
          <a:xfrm>
            <a:off x="2133600" y="2231318"/>
            <a:ext cx="4800600" cy="2133599"/>
          </a:xfrm>
          <a:prstGeom prst="rect">
            <a:avLst/>
          </a:prstGeom>
          <a:noFill/>
          <a:ln>
            <a:miter lim="800000"/>
            <a:headEnd/>
            <a:tailEnd/>
          </a:ln>
        </p:spPr>
        <p:txBody>
          <a:bodyPr vert="horz" lIns="91440" tIns="45720" rIns="91440" bIns="45720" rtlCol="0">
            <a:normAutofit/>
          </a:bodyPr>
          <a:lstStyle/>
          <a:p>
            <a:pPr marL="342900" indent="-342900">
              <a:spcBef>
                <a:spcPct val="20000"/>
              </a:spcBef>
              <a:buClr>
                <a:srgbClr val="C00000"/>
              </a:buClr>
              <a:buFont typeface="Arial" panose="020B0604020202020204" pitchFamily="34" charset="0"/>
              <a:buChar char="•"/>
              <a:defRPr/>
            </a:pPr>
            <a:r>
              <a:rPr lang="en-US" sz="1600" dirty="0">
                <a:solidFill>
                  <a:schemeClr val="tx1">
                    <a:lumMod val="75000"/>
                    <a:lumOff val="25000"/>
                  </a:schemeClr>
                </a:solidFill>
              </a:rPr>
              <a:t>ACV</a:t>
            </a:r>
          </a:p>
          <a:p>
            <a:pPr marL="342900" indent="-342900">
              <a:spcBef>
                <a:spcPct val="20000"/>
              </a:spcBef>
              <a:buClr>
                <a:srgbClr val="C00000"/>
              </a:buClr>
              <a:buFont typeface="Arial" panose="020B0604020202020204" pitchFamily="34" charset="0"/>
              <a:buChar char="•"/>
              <a:defRPr/>
            </a:pPr>
            <a:endParaRPr lang="en-US" sz="1600" dirty="0">
              <a:solidFill>
                <a:schemeClr val="tx1">
                  <a:lumMod val="75000"/>
                  <a:lumOff val="25000"/>
                </a:schemeClr>
              </a:solidFill>
            </a:endParaRPr>
          </a:p>
          <a:p>
            <a:pPr marL="342900" indent="-342900">
              <a:spcBef>
                <a:spcPct val="20000"/>
              </a:spcBef>
              <a:buClr>
                <a:srgbClr val="C00000"/>
              </a:buClr>
              <a:buFont typeface="Arial" panose="020B0604020202020204" pitchFamily="34" charset="0"/>
              <a:buChar char="•"/>
              <a:defRPr/>
            </a:pPr>
            <a:r>
              <a:rPr lang="en-US" sz="1600" dirty="0">
                <a:solidFill>
                  <a:schemeClr val="tx1">
                    <a:lumMod val="75000"/>
                    <a:lumOff val="25000"/>
                  </a:schemeClr>
                </a:solidFill>
              </a:rPr>
              <a:t>Replacement Cost</a:t>
            </a:r>
          </a:p>
          <a:p>
            <a:pPr marL="342900" indent="-342900">
              <a:spcBef>
                <a:spcPct val="20000"/>
              </a:spcBef>
              <a:buClr>
                <a:srgbClr val="C00000"/>
              </a:buClr>
              <a:buFont typeface="Arial" panose="020B0604020202020204" pitchFamily="34" charset="0"/>
              <a:buChar char="•"/>
              <a:defRPr/>
            </a:pPr>
            <a:endParaRPr lang="en-US" sz="1600" dirty="0">
              <a:solidFill>
                <a:schemeClr val="tx1">
                  <a:lumMod val="75000"/>
                  <a:lumOff val="25000"/>
                </a:schemeClr>
              </a:solidFill>
            </a:endParaRPr>
          </a:p>
          <a:p>
            <a:pPr marL="342900" indent="-342900">
              <a:spcBef>
                <a:spcPct val="20000"/>
              </a:spcBef>
              <a:buClr>
                <a:srgbClr val="C00000"/>
              </a:buClr>
              <a:buFont typeface="Arial" panose="020B0604020202020204" pitchFamily="34" charset="0"/>
              <a:buChar char="•"/>
              <a:defRPr/>
            </a:pPr>
            <a:r>
              <a:rPr lang="en-US" sz="1600" dirty="0">
                <a:solidFill>
                  <a:schemeClr val="tx1">
                    <a:lumMod val="75000"/>
                    <a:lumOff val="25000"/>
                  </a:schemeClr>
                </a:solidFill>
              </a:rPr>
              <a:t>Extended Value Replacement Cost</a:t>
            </a:r>
          </a:p>
          <a:p>
            <a:pPr marL="342900" indent="-342900">
              <a:spcBef>
                <a:spcPct val="20000"/>
              </a:spcBef>
              <a:buClr>
                <a:srgbClr val="C00000"/>
              </a:buClr>
              <a:buFont typeface="Arial" panose="020B0604020202020204" pitchFamily="34" charset="0"/>
              <a:buChar char="•"/>
              <a:defRPr/>
            </a:pPr>
            <a:endParaRPr lang="en-US" sz="1600" dirty="0">
              <a:solidFill>
                <a:schemeClr val="tx1">
                  <a:lumMod val="75000"/>
                  <a:lumOff val="25000"/>
                </a:schemeClr>
              </a:solidFill>
            </a:endParaRPr>
          </a:p>
          <a:p>
            <a:pPr marL="342900" indent="-342900">
              <a:spcBef>
                <a:spcPct val="20000"/>
              </a:spcBef>
              <a:buClr>
                <a:srgbClr val="C00000"/>
              </a:buClr>
              <a:buFont typeface="Arial" panose="020B0604020202020204" pitchFamily="34" charset="0"/>
              <a:buChar char="•"/>
              <a:defRPr/>
            </a:pPr>
            <a:r>
              <a:rPr lang="en-US" sz="1600" dirty="0">
                <a:solidFill>
                  <a:schemeClr val="tx1">
                    <a:lumMod val="75000"/>
                    <a:lumOff val="25000"/>
                  </a:schemeClr>
                </a:solidFill>
              </a:rPr>
              <a:t>Functional Value</a:t>
            </a:r>
          </a:p>
        </p:txBody>
      </p:sp>
      <p:pic>
        <p:nvPicPr>
          <p:cNvPr id="6" name="Picture 5">
            <a:extLst>
              <a:ext uri="{FF2B5EF4-FFF2-40B4-BE49-F238E27FC236}">
                <a16:creationId xmlns:a16="http://schemas.microsoft.com/office/drawing/2014/main" id="{792CE872-9C51-43DC-B038-CA25052182E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245523"/>
            <a:ext cx="9935818" cy="268206"/>
          </a:xfrm>
          <a:prstGeom prst="rect">
            <a:avLst/>
          </a:prstGeom>
        </p:spPr>
      </p:pic>
      <p:graphicFrame>
        <p:nvGraphicFramePr>
          <p:cNvPr id="3" name="Table 2"/>
          <p:cNvGraphicFramePr>
            <a:graphicFrameLocks noGrp="1"/>
          </p:cNvGraphicFramePr>
          <p:nvPr/>
        </p:nvGraphicFramePr>
        <p:xfrm>
          <a:off x="2031997" y="1157409"/>
          <a:ext cx="8128006" cy="5204316"/>
        </p:xfrm>
        <a:graphic>
          <a:graphicData uri="http://schemas.openxmlformats.org/drawingml/2006/table">
            <a:tbl>
              <a:tblPr/>
              <a:tblGrid>
                <a:gridCol w="478118">
                  <a:extLst>
                    <a:ext uri="{9D8B030D-6E8A-4147-A177-3AD203B41FA5}">
                      <a16:colId xmlns:a16="http://schemas.microsoft.com/office/drawing/2014/main" val="20000"/>
                    </a:ext>
                  </a:extLst>
                </a:gridCol>
                <a:gridCol w="478118">
                  <a:extLst>
                    <a:ext uri="{9D8B030D-6E8A-4147-A177-3AD203B41FA5}">
                      <a16:colId xmlns:a16="http://schemas.microsoft.com/office/drawing/2014/main" val="20001"/>
                    </a:ext>
                  </a:extLst>
                </a:gridCol>
                <a:gridCol w="478118">
                  <a:extLst>
                    <a:ext uri="{9D8B030D-6E8A-4147-A177-3AD203B41FA5}">
                      <a16:colId xmlns:a16="http://schemas.microsoft.com/office/drawing/2014/main" val="20002"/>
                    </a:ext>
                  </a:extLst>
                </a:gridCol>
                <a:gridCol w="478118">
                  <a:extLst>
                    <a:ext uri="{9D8B030D-6E8A-4147-A177-3AD203B41FA5}">
                      <a16:colId xmlns:a16="http://schemas.microsoft.com/office/drawing/2014/main" val="20003"/>
                    </a:ext>
                  </a:extLst>
                </a:gridCol>
                <a:gridCol w="478118">
                  <a:extLst>
                    <a:ext uri="{9D8B030D-6E8A-4147-A177-3AD203B41FA5}">
                      <a16:colId xmlns:a16="http://schemas.microsoft.com/office/drawing/2014/main" val="20004"/>
                    </a:ext>
                  </a:extLst>
                </a:gridCol>
                <a:gridCol w="478118">
                  <a:extLst>
                    <a:ext uri="{9D8B030D-6E8A-4147-A177-3AD203B41FA5}">
                      <a16:colId xmlns:a16="http://schemas.microsoft.com/office/drawing/2014/main" val="20005"/>
                    </a:ext>
                  </a:extLst>
                </a:gridCol>
                <a:gridCol w="478118">
                  <a:extLst>
                    <a:ext uri="{9D8B030D-6E8A-4147-A177-3AD203B41FA5}">
                      <a16:colId xmlns:a16="http://schemas.microsoft.com/office/drawing/2014/main" val="20006"/>
                    </a:ext>
                  </a:extLst>
                </a:gridCol>
                <a:gridCol w="478118">
                  <a:extLst>
                    <a:ext uri="{9D8B030D-6E8A-4147-A177-3AD203B41FA5}">
                      <a16:colId xmlns:a16="http://schemas.microsoft.com/office/drawing/2014/main" val="20007"/>
                    </a:ext>
                  </a:extLst>
                </a:gridCol>
                <a:gridCol w="478118">
                  <a:extLst>
                    <a:ext uri="{9D8B030D-6E8A-4147-A177-3AD203B41FA5}">
                      <a16:colId xmlns:a16="http://schemas.microsoft.com/office/drawing/2014/main" val="20008"/>
                    </a:ext>
                  </a:extLst>
                </a:gridCol>
                <a:gridCol w="478118">
                  <a:extLst>
                    <a:ext uri="{9D8B030D-6E8A-4147-A177-3AD203B41FA5}">
                      <a16:colId xmlns:a16="http://schemas.microsoft.com/office/drawing/2014/main" val="20009"/>
                    </a:ext>
                  </a:extLst>
                </a:gridCol>
                <a:gridCol w="478118">
                  <a:extLst>
                    <a:ext uri="{9D8B030D-6E8A-4147-A177-3AD203B41FA5}">
                      <a16:colId xmlns:a16="http://schemas.microsoft.com/office/drawing/2014/main" val="20010"/>
                    </a:ext>
                  </a:extLst>
                </a:gridCol>
                <a:gridCol w="478118">
                  <a:extLst>
                    <a:ext uri="{9D8B030D-6E8A-4147-A177-3AD203B41FA5}">
                      <a16:colId xmlns:a16="http://schemas.microsoft.com/office/drawing/2014/main" val="20011"/>
                    </a:ext>
                  </a:extLst>
                </a:gridCol>
                <a:gridCol w="478118">
                  <a:extLst>
                    <a:ext uri="{9D8B030D-6E8A-4147-A177-3AD203B41FA5}">
                      <a16:colId xmlns:a16="http://schemas.microsoft.com/office/drawing/2014/main" val="20012"/>
                    </a:ext>
                  </a:extLst>
                </a:gridCol>
                <a:gridCol w="478118">
                  <a:extLst>
                    <a:ext uri="{9D8B030D-6E8A-4147-A177-3AD203B41FA5}">
                      <a16:colId xmlns:a16="http://schemas.microsoft.com/office/drawing/2014/main" val="20013"/>
                    </a:ext>
                  </a:extLst>
                </a:gridCol>
                <a:gridCol w="478118">
                  <a:extLst>
                    <a:ext uri="{9D8B030D-6E8A-4147-A177-3AD203B41FA5}">
                      <a16:colId xmlns:a16="http://schemas.microsoft.com/office/drawing/2014/main" val="20014"/>
                    </a:ext>
                  </a:extLst>
                </a:gridCol>
                <a:gridCol w="478118">
                  <a:extLst>
                    <a:ext uri="{9D8B030D-6E8A-4147-A177-3AD203B41FA5}">
                      <a16:colId xmlns:a16="http://schemas.microsoft.com/office/drawing/2014/main" val="20015"/>
                    </a:ext>
                  </a:extLst>
                </a:gridCol>
                <a:gridCol w="478118">
                  <a:extLst>
                    <a:ext uri="{9D8B030D-6E8A-4147-A177-3AD203B41FA5}">
                      <a16:colId xmlns:a16="http://schemas.microsoft.com/office/drawing/2014/main" val="20016"/>
                    </a:ext>
                  </a:extLst>
                </a:gridCol>
              </a:tblGrid>
              <a:tr h="149412">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0"/>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1"/>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2"/>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5"/>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6"/>
                  </a:ext>
                </a:extLst>
              </a:tr>
              <a:tr h="82707">
                <a:tc gridSpan="4">
                  <a:txBody>
                    <a:bodyPr/>
                    <a:lstStyle/>
                    <a:p>
                      <a:pPr algn="l" fontAlgn="b"/>
                      <a:endParaRPr lang="en-US" sz="900" b="1" i="1" u="none" strike="noStrike" dirty="0">
                        <a:solidFill>
                          <a:srgbClr val="FF0000"/>
                        </a:solidFill>
                        <a:latin typeface="+mj-lt"/>
                      </a:endParaRPr>
                    </a:p>
                    <a:p>
                      <a:pPr algn="l" fontAlgn="b"/>
                      <a:r>
                        <a:rPr lang="en-US" sz="1200" b="1" i="0" u="none" strike="noStrike" dirty="0">
                          <a:solidFill>
                            <a:srgbClr val="FF0000"/>
                          </a:solidFill>
                          <a:latin typeface="+mj-lt"/>
                        </a:rPr>
                        <a:t>Responsibility of the insured</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09"/>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0"/>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1"/>
                  </a:ext>
                </a:extLst>
              </a:tr>
              <a:tr h="0">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2"/>
                  </a:ext>
                </a:extLst>
              </a:tr>
              <a:tr h="164353">
                <a:tc gridSpan="4">
                  <a:txBody>
                    <a:bodyPr/>
                    <a:lstStyle/>
                    <a:p>
                      <a:pPr algn="l" fontAlgn="b"/>
                      <a:r>
                        <a:rPr lang="en-US" sz="1200" b="1" i="0" u="none" strike="noStrike" dirty="0">
                          <a:solidFill>
                            <a:srgbClr val="FF0000"/>
                          </a:solidFill>
                          <a:latin typeface="+mj-lt"/>
                        </a:rPr>
                        <a:t>Responsibility of the insured</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5"/>
                  </a:ext>
                </a:extLst>
              </a:tr>
              <a:tr h="4520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6"/>
                  </a:ext>
                </a:extLst>
              </a:tr>
              <a:tr h="16435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gridSpan="4">
                  <a:txBody>
                    <a:bodyPr/>
                    <a:lstStyle/>
                    <a:p>
                      <a:pPr algn="l" fontAlgn="b"/>
                      <a:r>
                        <a:rPr lang="en-US" sz="1400" b="1" i="0" u="none" strike="noStrike" dirty="0">
                          <a:solidFill>
                            <a:srgbClr val="FF0000"/>
                          </a:solidFill>
                          <a:latin typeface="+mj-lt"/>
                        </a:rPr>
                        <a:t>Responsibility of the insurer</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19"/>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0"/>
                  </a:ext>
                </a:extLst>
              </a:tr>
              <a:tr h="32054">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1"/>
                  </a:ext>
                </a:extLst>
              </a:tr>
              <a:tr h="164353">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gridSpan="4">
                  <a:txBody>
                    <a:bodyPr/>
                    <a:lstStyle/>
                    <a:p>
                      <a:pPr algn="l" fontAlgn="b"/>
                      <a:r>
                        <a:rPr lang="en-US" sz="1400" b="1" i="0" u="none" strike="noStrike" dirty="0">
                          <a:solidFill>
                            <a:srgbClr val="FF0000"/>
                          </a:solidFill>
                          <a:latin typeface="+mj-lt"/>
                        </a:rPr>
                        <a:t>Responsibility of the insurer</a:t>
                      </a: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2"/>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3"/>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4"/>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5"/>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6"/>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7"/>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8"/>
                  </a:ext>
                </a:extLst>
              </a:tr>
              <a:tr h="149412">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a:solidFill>
                          <a:srgbClr val="000000"/>
                        </a:solidFill>
                        <a:latin typeface="+mj-lt"/>
                      </a:endParaRPr>
                    </a:p>
                  </a:txBody>
                  <a:tcPr marL="0" marR="0" marT="0" marB="0" anchor="b">
                    <a:lnL>
                      <a:noFill/>
                    </a:lnL>
                    <a:lnR>
                      <a:noFill/>
                    </a:lnR>
                    <a:lnT>
                      <a:noFill/>
                    </a:lnT>
                    <a:lnB>
                      <a:noFill/>
                    </a:lnB>
                  </a:tcPr>
                </a:tc>
                <a:tc>
                  <a:txBody>
                    <a:bodyPr/>
                    <a:lstStyle/>
                    <a:p>
                      <a:pPr algn="l" fontAlgn="b"/>
                      <a:endParaRPr lang="en-US" sz="900" b="1" i="0" u="none" strike="noStrike" dirty="0">
                        <a:solidFill>
                          <a:srgbClr val="000000"/>
                        </a:solidFill>
                        <a:latin typeface="+mj-lt"/>
                      </a:endParaRPr>
                    </a:p>
                  </a:txBody>
                  <a:tcPr marL="0" marR="0" marT="0" marB="0" anchor="b">
                    <a:lnL>
                      <a:noFill/>
                    </a:lnL>
                    <a:lnR>
                      <a:noFill/>
                    </a:lnR>
                    <a:lnT>
                      <a:noFill/>
                    </a:lnT>
                    <a:lnB>
                      <a:noFill/>
                    </a:lnB>
                  </a:tcPr>
                </a:tc>
                <a:extLst>
                  <a:ext uri="{0D108BD9-81ED-4DB2-BD59-A6C34878D82A}">
                    <a16:rowId xmlns:a16="http://schemas.microsoft.com/office/drawing/2014/main" val="10029"/>
                  </a:ext>
                </a:extLst>
              </a:tr>
            </a:tbl>
          </a:graphicData>
        </a:graphic>
      </p:graphicFrame>
      <p:sp>
        <p:nvSpPr>
          <p:cNvPr id="4" name="Oval 3"/>
          <p:cNvSpPr/>
          <p:nvPr/>
        </p:nvSpPr>
        <p:spPr>
          <a:xfrm>
            <a:off x="3683000" y="425450"/>
            <a:ext cx="3600450" cy="6477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Notify the insurer about</a:t>
            </a:r>
            <a:r>
              <a:rPr lang="en-US" sz="1400" baseline="0" dirty="0">
                <a:solidFill>
                  <a:srgbClr val="002060"/>
                </a:solidFill>
              </a:rPr>
              <a:t> the incident with calls</a:t>
            </a:r>
            <a:endParaRPr lang="en-US" sz="1400" dirty="0">
              <a:solidFill>
                <a:srgbClr val="002060"/>
              </a:solidFill>
            </a:endParaRPr>
          </a:p>
        </p:txBody>
      </p:sp>
      <p:cxnSp>
        <p:nvCxnSpPr>
          <p:cNvPr id="5" name="Straight Arrow Connector 4"/>
          <p:cNvCxnSpPr/>
          <p:nvPr/>
        </p:nvCxnSpPr>
        <p:spPr>
          <a:xfrm>
            <a:off x="5457825" y="1187450"/>
            <a:ext cx="9525" cy="2857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Rectangle 5"/>
          <p:cNvSpPr/>
          <p:nvPr/>
        </p:nvSpPr>
        <p:spPr>
          <a:xfrm>
            <a:off x="3806825" y="1609725"/>
            <a:ext cx="3629025" cy="5524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there is any crime, law enforcement team needs to be informed</a:t>
            </a:r>
          </a:p>
        </p:txBody>
      </p:sp>
      <p:cxnSp>
        <p:nvCxnSpPr>
          <p:cNvPr id="7" name="Straight Arrow Connector 6"/>
          <p:cNvCxnSpPr/>
          <p:nvPr/>
        </p:nvCxnSpPr>
        <p:spPr>
          <a:xfrm>
            <a:off x="5430838" y="2174875"/>
            <a:ext cx="4762" cy="3619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 name="Rectangle 7"/>
          <p:cNvSpPr/>
          <p:nvPr/>
        </p:nvSpPr>
        <p:spPr>
          <a:xfrm>
            <a:off x="3794125" y="2555875"/>
            <a:ext cx="3600450" cy="6381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After contacting the necessary bodies, the</a:t>
            </a:r>
            <a:r>
              <a:rPr lang="en-US" sz="1400" baseline="0" dirty="0">
                <a:solidFill>
                  <a:srgbClr val="002060"/>
                </a:solidFill>
              </a:rPr>
              <a:t> insured should fallow up with Insurer</a:t>
            </a:r>
            <a:endParaRPr lang="en-US" sz="1400" dirty="0">
              <a:solidFill>
                <a:srgbClr val="002060"/>
              </a:solidFill>
            </a:endParaRPr>
          </a:p>
        </p:txBody>
      </p:sp>
      <p:cxnSp>
        <p:nvCxnSpPr>
          <p:cNvPr id="9" name="Straight Arrow Connector 8"/>
          <p:cNvCxnSpPr/>
          <p:nvPr/>
        </p:nvCxnSpPr>
        <p:spPr>
          <a:xfrm>
            <a:off x="5391150" y="3194050"/>
            <a:ext cx="0" cy="2667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Rectangle 9"/>
          <p:cNvSpPr/>
          <p:nvPr/>
        </p:nvSpPr>
        <p:spPr>
          <a:xfrm>
            <a:off x="3778250" y="3536950"/>
            <a:ext cx="3609975" cy="571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Adjuster</a:t>
            </a:r>
            <a:r>
              <a:rPr lang="en-US" sz="1400" baseline="0" dirty="0">
                <a:solidFill>
                  <a:srgbClr val="002060"/>
                </a:solidFill>
              </a:rPr>
              <a:t> from the insurance company investigates the claims</a:t>
            </a:r>
            <a:endParaRPr lang="en-US" sz="1400" dirty="0">
              <a:solidFill>
                <a:srgbClr val="002060"/>
              </a:solidFill>
            </a:endParaRPr>
          </a:p>
        </p:txBody>
      </p:sp>
      <p:cxnSp>
        <p:nvCxnSpPr>
          <p:cNvPr id="11" name="Straight Arrow Connector 10"/>
          <p:cNvCxnSpPr/>
          <p:nvPr/>
        </p:nvCxnSpPr>
        <p:spPr>
          <a:xfrm>
            <a:off x="5394325" y="4060825"/>
            <a:ext cx="0" cy="27622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2" name="Rectangle 11"/>
          <p:cNvSpPr/>
          <p:nvPr/>
        </p:nvSpPr>
        <p:spPr>
          <a:xfrm>
            <a:off x="3790950" y="4368800"/>
            <a:ext cx="360045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 claim is genuine the adjuster</a:t>
            </a:r>
            <a:r>
              <a:rPr lang="en-US" sz="1400" baseline="0" dirty="0">
                <a:solidFill>
                  <a:srgbClr val="002060"/>
                </a:solidFill>
              </a:rPr>
              <a:t> checks the policy terms and conditions</a:t>
            </a:r>
            <a:endParaRPr lang="en-US" sz="1400" dirty="0">
              <a:solidFill>
                <a:srgbClr val="002060"/>
              </a:solidFill>
            </a:endParaRPr>
          </a:p>
        </p:txBody>
      </p:sp>
      <p:cxnSp>
        <p:nvCxnSpPr>
          <p:cNvPr id="13" name="Straight Arrow Connector 12"/>
          <p:cNvCxnSpPr/>
          <p:nvPr/>
        </p:nvCxnSpPr>
        <p:spPr>
          <a:xfrm>
            <a:off x="5359400" y="5137150"/>
            <a:ext cx="9525" cy="3238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4" name="Oval 13"/>
          <p:cNvSpPr/>
          <p:nvPr/>
        </p:nvSpPr>
        <p:spPr>
          <a:xfrm>
            <a:off x="3860800" y="5483225"/>
            <a:ext cx="3543300" cy="685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dirty="0">
                <a:solidFill>
                  <a:srgbClr val="002060"/>
                </a:solidFill>
              </a:rPr>
              <a:t>If the insured is eligible to</a:t>
            </a:r>
            <a:r>
              <a:rPr lang="en-US" sz="1400" baseline="0" dirty="0">
                <a:solidFill>
                  <a:srgbClr val="002060"/>
                </a:solidFill>
              </a:rPr>
              <a:t> get</a:t>
            </a:r>
            <a:r>
              <a:rPr lang="en-US" sz="1400" dirty="0">
                <a:solidFill>
                  <a:srgbClr val="002060"/>
                </a:solidFill>
              </a:rPr>
              <a:t> the claim,</a:t>
            </a:r>
            <a:r>
              <a:rPr lang="en-US" sz="1400" baseline="0" dirty="0">
                <a:solidFill>
                  <a:srgbClr val="002060"/>
                </a:solidFill>
              </a:rPr>
              <a:t> amount will be paid</a:t>
            </a:r>
            <a:endParaRPr lang="en-US" sz="1400" dirty="0">
              <a:solidFill>
                <a:srgbClr val="002060"/>
              </a:solidFill>
            </a:endParaRPr>
          </a:p>
        </p:txBody>
      </p:sp>
      <p:cxnSp>
        <p:nvCxnSpPr>
          <p:cNvPr id="15" name="Straight Arrow Connector 14"/>
          <p:cNvCxnSpPr/>
          <p:nvPr/>
        </p:nvCxnSpPr>
        <p:spPr>
          <a:xfrm flipV="1">
            <a:off x="2800350" y="2111375"/>
            <a:ext cx="990600"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flipV="1">
            <a:off x="2813050" y="3140075"/>
            <a:ext cx="990600" cy="9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flipH="1" flipV="1">
            <a:off x="7489825" y="3822700"/>
            <a:ext cx="1123950" cy="19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8" name="Straight Arrow Connector 17"/>
          <p:cNvCxnSpPr/>
          <p:nvPr/>
        </p:nvCxnSpPr>
        <p:spPr>
          <a:xfrm flipH="1" flipV="1">
            <a:off x="7470775" y="4667250"/>
            <a:ext cx="1123950" cy="19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Rectangle 18"/>
          <p:cNvSpPr/>
          <p:nvPr/>
        </p:nvSpPr>
        <p:spPr>
          <a:xfrm>
            <a:off x="530654" y="0"/>
            <a:ext cx="5288692" cy="369332"/>
          </a:xfrm>
          <a:prstGeom prst="rect">
            <a:avLst/>
          </a:prstGeom>
        </p:spPr>
        <p:txBody>
          <a:bodyPr wrap="square">
            <a:spAutoFit/>
          </a:bodyPr>
          <a:lstStyle/>
          <a:p>
            <a:r>
              <a:rPr lang="en-US" b="1" dirty="0">
                <a:latin typeface="+mj-lt"/>
              </a:rPr>
              <a:t>Business Package Insurance Claim work flow process</a:t>
            </a:r>
            <a:r>
              <a:rPr lang="en-US" b="1"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19100"/>
            <a:ext cx="9194800" cy="584775"/>
          </a:xfrm>
          <a:prstGeom prst="rect">
            <a:avLst/>
          </a:prstGeom>
        </p:spPr>
        <p:txBody>
          <a:bodyPr wrap="square">
            <a:spAutoFit/>
          </a:bodyPr>
          <a:lstStyle/>
          <a:p>
            <a:r>
              <a:rPr lang="en-US" sz="3200" b="1" dirty="0">
                <a:latin typeface="+mj-lt"/>
              </a:rPr>
              <a:t>Business Package Insurance Claim Form for reference </a:t>
            </a:r>
          </a:p>
        </p:txBody>
      </p:sp>
      <p:pic>
        <p:nvPicPr>
          <p:cNvPr id="4" name="Picture 3" descr="Capture.PNG222.PNG"/>
          <p:cNvPicPr>
            <a:picLocks noChangeAspect="1"/>
          </p:cNvPicPr>
          <p:nvPr/>
        </p:nvPicPr>
        <p:blipFill>
          <a:blip r:embed="rId3" cstate="print"/>
          <a:stretch>
            <a:fillRect/>
          </a:stretch>
        </p:blipFill>
        <p:spPr>
          <a:xfrm>
            <a:off x="615702" y="1156954"/>
            <a:ext cx="4451598" cy="5510546"/>
          </a:xfrm>
          <a:prstGeom prst="rect">
            <a:avLst/>
          </a:prstGeom>
        </p:spPr>
      </p:pic>
      <p:pic>
        <p:nvPicPr>
          <p:cNvPr id="5" name="Picture 4" descr="Capture.PNG223.PNG"/>
          <p:cNvPicPr>
            <a:picLocks noChangeAspect="1"/>
          </p:cNvPicPr>
          <p:nvPr/>
        </p:nvPicPr>
        <p:blipFill>
          <a:blip r:embed="rId4" cstate="print"/>
          <a:stretch>
            <a:fillRect/>
          </a:stretch>
        </p:blipFill>
        <p:spPr>
          <a:xfrm>
            <a:off x="5040070" y="1190312"/>
            <a:ext cx="4408729" cy="54263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81B1D8-C8C1-413B-8024-DE27D9DCCD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009" y="944023"/>
            <a:ext cx="9935818" cy="268206"/>
          </a:xfrm>
          <a:prstGeom prst="rect">
            <a:avLst/>
          </a:prstGeom>
        </p:spPr>
      </p:pic>
      <p:sp>
        <p:nvSpPr>
          <p:cNvPr id="3" name="Rectangle 2"/>
          <p:cNvSpPr/>
          <p:nvPr/>
        </p:nvSpPr>
        <p:spPr>
          <a:xfrm>
            <a:off x="520700" y="431800"/>
            <a:ext cx="7411121" cy="584775"/>
          </a:xfrm>
          <a:prstGeom prst="rect">
            <a:avLst/>
          </a:prstGeom>
        </p:spPr>
        <p:txBody>
          <a:bodyPr wrap="square">
            <a:spAutoFit/>
          </a:bodyPr>
          <a:lstStyle/>
          <a:p>
            <a:r>
              <a:rPr lang="en-US" sz="3200" b="1" dirty="0">
                <a:latin typeface="+mj-lt"/>
              </a:rPr>
              <a:t>Documents Required for Claim Process</a:t>
            </a:r>
            <a:endParaRPr lang="en-US" sz="3200" dirty="0">
              <a:latin typeface="+mj-lt"/>
            </a:endParaRPr>
          </a:p>
        </p:txBody>
      </p:sp>
      <p:sp>
        <p:nvSpPr>
          <p:cNvPr id="4" name="Rectangle 3"/>
          <p:cNvSpPr/>
          <p:nvPr/>
        </p:nvSpPr>
        <p:spPr>
          <a:xfrm>
            <a:off x="660400" y="1384300"/>
            <a:ext cx="10248900" cy="4154984"/>
          </a:xfrm>
          <a:prstGeom prst="rect">
            <a:avLst/>
          </a:prstGeom>
        </p:spPr>
        <p:txBody>
          <a:bodyPr wrap="square">
            <a:spAutoFit/>
          </a:bodyPr>
          <a:lstStyle/>
          <a:p>
            <a:pPr algn="just"/>
            <a:r>
              <a:rPr lang="en-US" sz="2400" dirty="0"/>
              <a:t>Whenever there is an eventuality, you need to immediately contact the insurance company to make claims. You should keep in place the required documents to avoid any delay or rejection. Here are some of the documents; however, the list of documents changes for different insurance plans.</a:t>
            </a:r>
          </a:p>
          <a:p>
            <a:pPr algn="just"/>
            <a:endParaRPr lang="en-US" sz="2400" dirty="0"/>
          </a:p>
          <a:p>
            <a:pPr algn="just">
              <a:buFont typeface="Arial" pitchFamily="34" charset="0"/>
              <a:buChar char="•"/>
            </a:pPr>
            <a:r>
              <a:rPr lang="en-US" sz="2400" dirty="0"/>
              <a:t> Duly filled in claim forms</a:t>
            </a:r>
          </a:p>
          <a:p>
            <a:pPr algn="just"/>
            <a:endParaRPr lang="en-US" sz="2400" dirty="0"/>
          </a:p>
          <a:p>
            <a:pPr marL="114300" indent="-114300" algn="just">
              <a:buFont typeface="Arial" pitchFamily="34" charset="0"/>
              <a:buChar char="•"/>
            </a:pPr>
            <a:r>
              <a:rPr lang="en-US" sz="2400" dirty="0"/>
              <a:t> A picture or record of the event. This will help to substantiate the facts which have been mentioned in the claim application</a:t>
            </a:r>
          </a:p>
          <a:p>
            <a:pPr algn="just"/>
            <a:endParaRPr lang="en-US" sz="2400" dirty="0"/>
          </a:p>
          <a:p>
            <a:pPr algn="just">
              <a:buFont typeface="Arial" pitchFamily="34" charset="0"/>
              <a:buChar char="•"/>
            </a:pPr>
            <a:r>
              <a:rPr lang="en-US" sz="2400" dirty="0"/>
              <a:t> Police reports, as per the need and type of insurance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42E1F8-1F4B-4F97-A17D-B46FD7CD57D7}"/>
              </a:ext>
            </a:extLst>
          </p:cNvPr>
          <p:cNvSpPr txBox="1"/>
          <p:nvPr/>
        </p:nvSpPr>
        <p:spPr>
          <a:xfrm>
            <a:off x="3040380" y="2960370"/>
            <a:ext cx="6755130" cy="1446550"/>
          </a:xfrm>
          <a:prstGeom prst="rect">
            <a:avLst/>
          </a:prstGeom>
          <a:noFill/>
        </p:spPr>
        <p:txBody>
          <a:bodyPr wrap="square" rtlCol="0">
            <a:spAutoFit/>
          </a:bodyPr>
          <a:lstStyle/>
          <a:p>
            <a:r>
              <a:rPr lang="en-US" sz="8800" dirty="0">
                <a:solidFill>
                  <a:srgbClr val="0000FF"/>
                </a:solidFill>
              </a:rPr>
              <a:t>Thanks !</a:t>
            </a:r>
            <a:endParaRPr lang="en-IN" sz="8800" dirty="0">
              <a:solidFill>
                <a:srgbClr val="0000FF"/>
              </a:solidFill>
            </a:endParaRPr>
          </a:p>
        </p:txBody>
      </p:sp>
    </p:spTree>
    <p:extLst>
      <p:ext uri="{BB962C8B-B14F-4D97-AF65-F5344CB8AC3E}">
        <p14:creationId xmlns:p14="http://schemas.microsoft.com/office/powerpoint/2010/main" val="119228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0" ma:contentTypeDescription="" ma:contentTypeScope="" ma:versionID="92b093353b9940d7edd8e21a01084bae">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b049ac841faef01dc341f5e9116bb68"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A9C68CA7C7CB9747850736716ABD16DF"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Learning</SubCategory>
    <Tags xmlns="09339d3a-aaa0-497d-ae73-d8a5832d420d">BOP</Tags>
  </documentManagement>
</p:properties>
</file>

<file path=customXml/itemProps1.xml><?xml version="1.0" encoding="utf-8"?>
<ds:datastoreItem xmlns:ds="http://schemas.openxmlformats.org/officeDocument/2006/customXml" ds:itemID="{2E0B3B01-4A11-4A82-9076-0DF0F8CBEEE0}"/>
</file>

<file path=customXml/itemProps2.xml><?xml version="1.0" encoding="utf-8"?>
<ds:datastoreItem xmlns:ds="http://schemas.openxmlformats.org/officeDocument/2006/customXml" ds:itemID="{4C189B33-23E4-41A6-A66C-1C5CFB91F055}"/>
</file>

<file path=customXml/itemProps3.xml><?xml version="1.0" encoding="utf-8"?>
<ds:datastoreItem xmlns:ds="http://schemas.openxmlformats.org/officeDocument/2006/customXml" ds:itemID="{3185A475-CA26-4BD3-88CD-B2BC0F167093}"/>
</file>

<file path=customXml/itemProps4.xml><?xml version="1.0" encoding="utf-8"?>
<ds:datastoreItem xmlns:ds="http://schemas.openxmlformats.org/officeDocument/2006/customXml" ds:itemID="{337F6073-9549-4DA4-BAE3-8AAD5B2A4450}"/>
</file>

<file path=docProps/app.xml><?xml version="1.0" encoding="utf-8"?>
<Properties xmlns="http://schemas.openxmlformats.org/officeDocument/2006/extended-properties" xmlns:vt="http://schemas.openxmlformats.org/officeDocument/2006/docPropsVTypes">
  <TotalTime>46</TotalTime>
  <Words>1659</Words>
  <Application>Microsoft Office PowerPoint</Application>
  <PresentationFormat>Widescreen</PresentationFormat>
  <Paragraphs>182</Paragraphs>
  <Slides>11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vt:lpstr>
      <vt:lpstr>Calibri</vt:lpstr>
      <vt:lpstr>Calibri Light</vt:lpstr>
      <vt:lpstr>Segoe UI Light</vt:lpstr>
      <vt:lpstr>Segoe UI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2</cp:revision>
  <dcterms:created xsi:type="dcterms:W3CDTF">2022-01-25T06:51:26Z</dcterms:created>
  <dcterms:modified xsi:type="dcterms:W3CDTF">2022-01-25T07:38:15Z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0x010100A9C68CA7C7CB9747850736716ABD16DF00BE1DFF25D8869449A28818D1AF9444E1</vt:lpwstr>
  </property>
</Properties>
</file>
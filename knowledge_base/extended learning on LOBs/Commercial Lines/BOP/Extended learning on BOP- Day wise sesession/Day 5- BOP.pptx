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1186" r:id="rId2"/>
    <p:sldId id="1187" r:id="rId3"/>
    <p:sldId id="1191" r:id="rId4"/>
    <p:sldId id="1189" r:id="rId5"/>
    <p:sldId id="1190" r:id="rId6"/>
    <p:sldId id="1192" r:id="rId7"/>
    <p:sldId id="1193" r:id="rId8"/>
    <p:sldId id="1194" r:id="rId9"/>
    <p:sldId id="1195" r:id="rId10"/>
    <p:sldId id="1196" r:id="rId11"/>
    <p:sldId id="1198" r:id="rId12"/>
    <p:sldId id="119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193" autoAdjust="0"/>
  </p:normalViewPr>
  <p:slideViewPr>
    <p:cSldViewPr snapToGrid="0">
      <p:cViewPr varScale="1">
        <p:scale>
          <a:sx n="51" d="100"/>
          <a:sy n="51" d="100"/>
        </p:scale>
        <p:origin x="12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734A2-665F-4F8F-9144-0A945E209D50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7E84E-8FF7-4E10-B2F0-59BCF5376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90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are forms in insurance?</a:t>
            </a:r>
          </a:p>
          <a:p>
            <a:pPr algn="l"/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Policy form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- The definitions, insuring agreement, exclusions, and conditions are typically combined into a single integrated document called a policy form. Some insurers call it a coverage form or coverage part.</a:t>
            </a:r>
          </a:p>
          <a:p>
            <a:endParaRPr lang="en-IN" dirty="0"/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are ISO forms in insurance?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Causes of Loss Forms</a:t>
            </a:r>
            <a:b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b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(ISO),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commercial property insurance forms that establish and define the causes of loss (or perils) for which coverage is provided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IN" dirty="0"/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Where can I find ISO forms?</a:t>
            </a:r>
          </a:p>
          <a:p>
            <a:pPr algn="l"/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www.documents.dgs.ca.gov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- /iso/Forms/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7E84E-8FF7-4E10-B2F0-59BCF537628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761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Insurance is a Business, which works as any other business on the concept of Input-Process-Output.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7E84E-8FF7-4E10-B2F0-59BCF537628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7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rating and premium development method Insurance Services Office (ISO) uses with its Businessowners Program is fairly straightforward but the individual component parts require some explanation.</a:t>
            </a:r>
          </a:p>
          <a:p>
            <a:r>
              <a:rPr lang="en-IN" dirty="0"/>
              <a:t>The Guidelines are as yardstick, within which Insures customise or modify their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7E9D3-4EE8-43DA-85A8-9142FB69740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256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What are the 5 parts of an insurance policy?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Every insurance policy has five parts: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declarations, insuring agreements, definitions, exclusions and conditions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Many policies contain a sixth part: endorsements.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7E84E-8FF7-4E10-B2F0-59BCF537628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09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EA04-D5A2-406B-BA62-441F21EF4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5182C-5F5D-4344-AC68-B23262889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8628-1412-4D71-8019-806FC31F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9D84D-5004-4F17-8B60-1EC50372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0A499-3BD3-470F-BF59-FFC0A982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3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61003-6E2D-44BE-A095-C2AAE1A2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3F30-8301-477A-9FD4-FCEAE84F9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D01C6-6395-42AB-948D-8A0D0396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905FA-1E45-43E2-896B-DA307928A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B0B1E-24E4-49A4-A444-75F986BB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6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BA3E-0B54-44AD-BC8C-4505DA31F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EB73E-7F84-4C69-B1FF-4CF9B578B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E8DD4-8D82-4325-805E-9B1C369C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24B06-69D8-46BC-97E8-7CA3DBA05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A12EE-84F1-4394-A50E-085C2685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23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2DDB-B7C1-4AEF-AB52-4DB9BFFD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75DB-91DC-453A-A281-4B40F2AFE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68594-B89F-4D7F-8262-5A19225C8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DD5E5-146D-4AA7-9D05-46230B6F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EC559-EA1A-426E-8018-1539698F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F8E3F-C438-4CB0-BD0F-3E78AE54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318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1929-9101-4FBB-BA9F-36C4E064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26901-C48B-4C18-9721-57769BEB7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F37B4-D388-4B4D-819D-90B23E4E4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C52EA-BDEB-4C9C-B4EA-3F089C79F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4D080B-F658-40EA-847E-99224170D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D88118-A0A7-43D2-963F-70317D59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73D11-55B4-4215-ABDC-F8BFF3E8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48AA1-766B-4476-AB11-53C1B3C1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2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BFDE-9713-4B07-8DB6-A2EB84CB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D19FC-21D7-4594-9135-AF8F45E5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019FB-1DAC-4FB9-906D-27A5C9310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791C8-0D59-4772-B4E8-AD0FFB30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27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EB160-EE83-4753-B09A-D2152249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1FAD0-6726-4C12-9318-1BDFF0DDB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BB6E2-BD5A-49E4-8DD4-6BA5846B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495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0551-CCA4-4D90-A7F8-A4C68C21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5030E-81A9-4985-9C84-C5A375790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2734B-AF51-4C1E-8329-36F87C3B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A60E5-CD56-4008-A04E-81FAEE1D0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257E-DB8D-4BAB-AAED-0CB338B54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63CAD-E980-441B-9F40-E256DF29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31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B8D9-1B5F-47F3-9953-59BF630A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A6BC8-D75B-4D53-B0C1-E808079E3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B99B6-B485-4B33-88EA-6D64BF6A7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C5BAF-CD7C-4D06-80B9-215BC7D1C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265B1-E861-464D-9209-0E647D7F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771FC-5D69-4336-985B-88F92D04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3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8E46-44DC-43BA-9A80-98833D46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A94D8-F8C3-4613-9E45-849BA0A42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DE65C-89FC-4C54-AC84-76551CBF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10891-724A-467B-B103-6276362B7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E3F64-40A4-44E5-B075-418F38CB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73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2947F-63CB-485F-942D-19BDB8D66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61304-A88E-48AD-B47A-BCFC06630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7BEA6-B98A-479B-9F95-D2D565D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D226C-C607-4213-AC6F-67027B10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0990-23E0-41B5-A81F-E91E28AD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649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371554" y="6363129"/>
            <a:ext cx="608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6297" y="195809"/>
            <a:ext cx="1297157" cy="8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37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646B4-A518-49F7-9B5B-279A5B98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5D960-F713-4AE1-A58A-80AF28A56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03007-12C2-423D-84F2-4CBA84024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01D50-AD88-43A5-8DAE-E27CEE0D701A}" type="datetimeFigureOut">
              <a:rPr lang="en-IN" smtClean="0"/>
              <a:t>25-01-2022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3D757-CA43-4081-9A40-1880170EA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6E07-B0CA-4B92-8BF6-0CB1ACB19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4D0F5-EAFB-410A-ACEB-32F0D7767B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87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461660-315C-458A-8089-FA6C55BA24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DC84E1C-CE4C-4005-8BB7-970D9C648CCF}"/>
              </a:ext>
            </a:extLst>
          </p:cNvPr>
          <p:cNvSpPr txBox="1">
            <a:spLocks/>
          </p:cNvSpPr>
          <p:nvPr/>
        </p:nvSpPr>
        <p:spPr>
          <a:xfrm>
            <a:off x="4277475" y="3106604"/>
            <a:ext cx="2750049" cy="644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BOP-Day 5</a:t>
            </a:r>
            <a:endParaRPr lang="en-I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47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A8F9BF-9C74-451E-B772-867A7C314C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99" y="487730"/>
            <a:ext cx="9804188" cy="26465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F0BADD-B2EC-4FEF-A06A-9490F36F8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08525"/>
              </p:ext>
            </p:extLst>
          </p:nvPr>
        </p:nvGraphicFramePr>
        <p:xfrm>
          <a:off x="899422" y="752383"/>
          <a:ext cx="10051402" cy="6066703"/>
        </p:xfrm>
        <a:graphic>
          <a:graphicData uri="http://schemas.openxmlformats.org/drawingml/2006/table">
            <a:tbl>
              <a:tblPr/>
              <a:tblGrid>
                <a:gridCol w="690896">
                  <a:extLst>
                    <a:ext uri="{9D8B030D-6E8A-4147-A177-3AD203B41FA5}">
                      <a16:colId xmlns:a16="http://schemas.microsoft.com/office/drawing/2014/main" val="200615716"/>
                    </a:ext>
                  </a:extLst>
                </a:gridCol>
                <a:gridCol w="3791085">
                  <a:extLst>
                    <a:ext uri="{9D8B030D-6E8A-4147-A177-3AD203B41FA5}">
                      <a16:colId xmlns:a16="http://schemas.microsoft.com/office/drawing/2014/main" val="4252074913"/>
                    </a:ext>
                  </a:extLst>
                </a:gridCol>
                <a:gridCol w="5569421">
                  <a:extLst>
                    <a:ext uri="{9D8B030D-6E8A-4147-A177-3AD203B41FA5}">
                      <a16:colId xmlns:a16="http://schemas.microsoft.com/office/drawing/2014/main" val="2620752890"/>
                    </a:ext>
                  </a:extLst>
                </a:gridCol>
              </a:tblGrid>
              <a:tr h="17401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Day 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Topics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Subtopics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265924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Concept</a:t>
                      </a:r>
                    </a:p>
                  </a:txBody>
                  <a:tcPr marL="100584" marR="100584" marT="390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Meaning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979618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Advantages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6655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Eligibility Rules and its need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118989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BOP Vs CPP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544059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06872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Coverages </a:t>
                      </a:r>
                      <a:b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endParaRPr lang="en-IN" sz="10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Property Insurance (BOP Vs CPP)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203298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Liability Insurance</a:t>
                      </a:r>
                    </a:p>
                  </a:txBody>
                  <a:tcPr marL="4299" marR="429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5449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299" marR="429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Interruption Insurance</a:t>
                      </a:r>
                    </a:p>
                  </a:txBody>
                  <a:tcPr marL="3908" marR="3908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722333"/>
                  </a:ext>
                </a:extLst>
              </a:tr>
              <a:tr h="210897">
                <a:tc vMerge="1"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08" marR="3908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08" marR="3908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Interruption Insurance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79089"/>
                  </a:ext>
                </a:extLst>
              </a:tr>
              <a:tr h="14907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782267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Exclusions</a:t>
                      </a:r>
                      <a:b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Endorsements </a:t>
                      </a:r>
                      <a:b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Additional Coverages</a:t>
                      </a:r>
                    </a:p>
                  </a:txBody>
                  <a:tcPr marL="100584" marR="100584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What’s Not Covered?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513336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Extra Expenses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938457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Inland Marine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531203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Equipment Breakdown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718525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Spoilage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046456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Employee Theft 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642174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Etc.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098778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430414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BOP Rating &amp; Premium Guidelines</a:t>
                      </a:r>
                    </a:p>
                  </a:txBody>
                  <a:tcPr marL="100584" marR="100584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Rating factors 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45215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Premium Guidelines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328889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What Does a BOP Cost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350626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Cost of a BOP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815636"/>
                  </a:ext>
                </a:extLst>
              </a:tr>
              <a:tr h="126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744597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BOP Policy issuance</a:t>
                      </a:r>
                    </a:p>
                  </a:txBody>
                  <a:tcPr marL="4299" marR="429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BOP Policy Forms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220954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Input Forms Output Forms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859053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29" marR="4729" marT="3908" marB="0" anchor="b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211034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Policy Issuance Flow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880253"/>
                  </a:ext>
                </a:extLst>
              </a:tr>
              <a:tr h="301787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study &amp; Discussion-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snapshot at a Restaurant looking for insurance- shared as BOP Made Easy PDF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212871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 Policy </a:t>
                      </a:r>
                    </a:p>
                  </a:txBody>
                  <a:tcPr marL="4299" marR="429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4561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299" marR="429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b"/>
                      <a:r>
                        <a:rPr lang="en-IN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Declaration Page- A snap shot</a:t>
                      </a:r>
                    </a:p>
                  </a:txBody>
                  <a:tcPr marL="3908" marR="3908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971011"/>
                  </a:ext>
                </a:extLst>
              </a:tr>
              <a:tr h="152714">
                <a:tc vMerge="1">
                  <a:txBody>
                    <a:bodyPr/>
                    <a:lstStyle/>
                    <a:p>
                      <a:pPr algn="l" fontAlgn="b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08" marR="3908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IN" sz="700" b="0" i="0" u="none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08" marR="3908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Declaration Page- A snap shot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17780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015319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r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Claims Handling</a:t>
                      </a:r>
                    </a:p>
                  </a:txBody>
                  <a:tcPr marL="100584" marR="100584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Valuation Methods, Property Damage Assessment and 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525351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Recovery for Business Owners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943026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Filing a claim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209666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Documents Required for Claim Process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12809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Claims Flow Process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266022"/>
                  </a:ext>
                </a:extLst>
              </a:tr>
              <a:tr h="15271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789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103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95EF32-8B22-44FB-B4AF-B21B178AB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10660"/>
              </p:ext>
            </p:extLst>
          </p:nvPr>
        </p:nvGraphicFramePr>
        <p:xfrm>
          <a:off x="838200" y="1825625"/>
          <a:ext cx="10306050" cy="3684956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</a:tblPr>
              <a:tblGrid>
                <a:gridCol w="4181475">
                  <a:extLst>
                    <a:ext uri="{9D8B030D-6E8A-4147-A177-3AD203B41FA5}">
                      <a16:colId xmlns:a16="http://schemas.microsoft.com/office/drawing/2014/main" val="363625148"/>
                    </a:ext>
                  </a:extLst>
                </a:gridCol>
                <a:gridCol w="6124575">
                  <a:extLst>
                    <a:ext uri="{9D8B030D-6E8A-4147-A177-3AD203B41FA5}">
                      <a16:colId xmlns:a16="http://schemas.microsoft.com/office/drawing/2014/main" val="1963554801"/>
                    </a:ext>
                  </a:extLst>
                </a:gridCol>
              </a:tblGrid>
              <a:tr h="152714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IN" sz="40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BOP Policy issuance</a:t>
                      </a:r>
                    </a:p>
                  </a:txBody>
                  <a:tcPr marL="4299" marR="4299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4800" dirty="0"/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202674"/>
                  </a:ext>
                </a:extLst>
              </a:tr>
              <a:tr h="1527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Input Forms Output Forms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487341"/>
                  </a:ext>
                </a:extLst>
              </a:tr>
              <a:tr h="1527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Specific Forms- Conditional Forms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29" marR="4729" marT="3908" marB="0" anchor="b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272441"/>
                  </a:ext>
                </a:extLst>
              </a:tr>
              <a:tr h="1527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Policy Issuance Flow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751644"/>
                  </a:ext>
                </a:extLst>
              </a:tr>
              <a:tr h="30178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 study &amp; Discussion- </a:t>
                      </a:r>
                      <a:b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snapshot at a Restaurant looking for insurance- shared as BOP Made Easy PDF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521384"/>
                  </a:ext>
                </a:extLst>
              </a:tr>
              <a:tr h="1527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 Policy </a:t>
                      </a:r>
                    </a:p>
                  </a:txBody>
                  <a:tcPr marL="4299" marR="429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00570"/>
                  </a:ext>
                </a:extLst>
              </a:tr>
              <a:tr h="152714">
                <a:tc vMerge="1">
                  <a:txBody>
                    <a:bodyPr/>
                    <a:lstStyle/>
                    <a:p>
                      <a:pPr algn="ctr" fontAlgn="ctr"/>
                      <a:endParaRPr lang="en-IN" sz="700" b="0" i="0" u="none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08" marR="3908" marT="390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Declaration Page- A snap shot</a:t>
                      </a:r>
                    </a:p>
                  </a:txBody>
                  <a:tcPr marL="4729" marR="4729" marT="3908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547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068AEC-04C3-4237-813C-8A4A50BABD9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10848"/>
            <a:ext cx="9804188" cy="264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C787D-CA78-4599-8455-06E10CE9530A}"/>
              </a:ext>
            </a:extLst>
          </p:cNvPr>
          <p:cNvSpPr txBox="1"/>
          <p:nvPr/>
        </p:nvSpPr>
        <p:spPr>
          <a:xfrm>
            <a:off x="3657600" y="2228850"/>
            <a:ext cx="4648200" cy="292387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+mn-lt"/>
              </a:rPr>
              <a:t>BOP Input – Application Form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Calibri" pitchFamily="34" charset="0"/>
              </a:rPr>
              <a:t>Documents required for obtaining Insurance</a:t>
            </a:r>
            <a:endParaRPr lang="en-US" sz="1600" dirty="0">
              <a:solidFill>
                <a:srgbClr val="0000FF"/>
              </a:solidFill>
              <a:latin typeface="+mn-lt"/>
            </a:endParaRP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+mn-lt"/>
              </a:rPr>
              <a:t> BOP Statutory Forms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+mn-lt"/>
              </a:rPr>
              <a:t> BOP Conditional / Coverage specific Forms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+mn-lt"/>
              </a:rPr>
              <a:t> Illustration – Conditional / Optional Forms 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+mn-lt"/>
              </a:rPr>
              <a:t> BOP - Various Forms Packages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  <a:latin typeface="+mn-lt"/>
              </a:rPr>
              <a:t> Sample Forms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FF"/>
                </a:solidFill>
              </a:rPr>
              <a:t>Policy process flow</a:t>
            </a:r>
            <a:endParaRPr lang="en-US" sz="1600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879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0468CD-0BB8-4659-9170-71EE33A6EA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6" name="Rectangle 66">
            <a:extLst>
              <a:ext uri="{FF2B5EF4-FFF2-40B4-BE49-F238E27FC236}">
                <a16:creationId xmlns:a16="http://schemas.microsoft.com/office/drawing/2014/main" id="{E27ADE25-CBD4-442A-A0C1-D83088937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361355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BOP – Application Form (Input Criteria)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0B29B4-B275-4027-80C4-0688D3ACCD2F}"/>
              </a:ext>
            </a:extLst>
          </p:cNvPr>
          <p:cNvSpPr/>
          <p:nvPr/>
        </p:nvSpPr>
        <p:spPr>
          <a:xfrm>
            <a:off x="2095500" y="1524000"/>
            <a:ext cx="8001000" cy="584200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+mn-lt"/>
              </a:rPr>
              <a:t>BOP</a:t>
            </a:r>
            <a:r>
              <a:rPr lang="en-US" sz="1600" dirty="0">
                <a:latin typeface="+mn-lt"/>
              </a:rPr>
              <a:t> – The application form for any Business Owners Policy will be broadly classified in these sections as per “ISO” standard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4E83B-CB19-4244-9BE8-6452B65CB71C}"/>
              </a:ext>
            </a:extLst>
          </p:cNvPr>
          <p:cNvSpPr txBox="1"/>
          <p:nvPr/>
        </p:nvSpPr>
        <p:spPr>
          <a:xfrm>
            <a:off x="1304924" y="2458243"/>
            <a:ext cx="4410075" cy="3293209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Policy Effective and Expiry Date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Company Name and details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Agency details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Applicant Information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Nature of Business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Premises details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Property details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Liability / limit options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Prior Insurance and Loss Information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5286D-4ADC-4A53-9426-B3C984DF0695}"/>
              </a:ext>
            </a:extLst>
          </p:cNvPr>
          <p:cNvSpPr/>
          <p:nvPr/>
        </p:nvSpPr>
        <p:spPr>
          <a:xfrm>
            <a:off x="6219825" y="2458243"/>
            <a:ext cx="4572000" cy="3293209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Optional / Additional Coverage information)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General Information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Mechanical Equipment details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Specialty Programs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Crime details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Additional Interest 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Remarks  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Applicant and Agent signature with date</a:t>
            </a:r>
          </a:p>
          <a:p>
            <a:pPr marL="566738" indent="-566738">
              <a:spcBef>
                <a:spcPct val="500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95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>
            <a:extLst>
              <a:ext uri="{FF2B5EF4-FFF2-40B4-BE49-F238E27FC236}">
                <a16:creationId xmlns:a16="http://schemas.microsoft.com/office/drawing/2014/main" id="{106CCF44-915C-42EC-B09E-11C304C5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" y="401273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Documents required for obtaining Insurance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935A6-2747-41F4-91FE-7C60387F259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DBA3EF-FC9C-42B7-BE0C-C283DEB7DBD6}"/>
              </a:ext>
            </a:extLst>
          </p:cNvPr>
          <p:cNvSpPr txBox="1"/>
          <p:nvPr/>
        </p:nvSpPr>
        <p:spPr>
          <a:xfrm>
            <a:off x="1814175" y="1618426"/>
            <a:ext cx="7543800" cy="390842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>
            <a:spAutoFit/>
          </a:bodyPr>
          <a:lstStyle/>
          <a:p>
            <a:pPr marL="566738" indent="-566738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b="1" dirty="0">
                <a:solidFill>
                  <a:srgbClr val="C00000"/>
                </a:solidFill>
                <a:latin typeface="+mn-lt"/>
              </a:rPr>
              <a:t>Which documents do I need to submit while buying Insurance for BOP?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Proposal Form/Quote (if applicable)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Proof that property is owned (if it is shown as owned)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Previous Insurance Policy (if applicable)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Complete Application form as shown previously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Business Tax returns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Company’s and Vendors’ Licenses/Certificates for business operations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Corporate or Partnership Documents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Lease Documents</a:t>
            </a:r>
          </a:p>
          <a:p>
            <a:pPr marL="1023938" lvl="1" indent="-566738">
              <a:spcBef>
                <a:spcPct val="50000"/>
              </a:spcBef>
              <a:buClr>
                <a:srgbClr val="C00000"/>
              </a:buClr>
              <a:buSzPct val="80000"/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Company loss runs for current policy period plus last three "or" signed and dated no loss letter on company's letterhead </a:t>
            </a:r>
          </a:p>
        </p:txBody>
      </p:sp>
    </p:spTree>
    <p:extLst>
      <p:ext uri="{BB962C8B-B14F-4D97-AF65-F5344CB8AC3E}">
        <p14:creationId xmlns:p14="http://schemas.microsoft.com/office/powerpoint/2010/main" val="3099524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>
            <a:extLst>
              <a:ext uri="{FF2B5EF4-FFF2-40B4-BE49-F238E27FC236}">
                <a16:creationId xmlns:a16="http://schemas.microsoft.com/office/drawing/2014/main" id="{04782FEA-A958-4DF6-8B08-F25891C62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BOP – Statutory Forms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2E694D-E729-4596-B434-CD7238FD1AC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78CCD38-9FE9-4D82-B727-8ED65E0F1A42}"/>
              </a:ext>
            </a:extLst>
          </p:cNvPr>
          <p:cNvSpPr txBox="1">
            <a:spLocks/>
          </p:cNvSpPr>
          <p:nvPr/>
        </p:nvSpPr>
        <p:spPr>
          <a:xfrm>
            <a:off x="1402915" y="1314849"/>
            <a:ext cx="9256734" cy="5410200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/>
          <a:lstStyle/>
          <a:p>
            <a:pPr>
              <a:defRPr/>
            </a:pPr>
            <a:r>
              <a:rPr lang="en-US" sz="1600" dirty="0">
                <a:latin typeface="+mn-lt"/>
              </a:rPr>
              <a:t>Statutory  forms are the forms which are </a:t>
            </a:r>
            <a:r>
              <a:rPr lang="en-US" sz="1600" dirty="0">
                <a:solidFill>
                  <a:srgbClr val="0000FF"/>
                </a:solidFill>
                <a:latin typeface="+mn-lt"/>
              </a:rPr>
              <a:t>mandatory to be issued / printed</a:t>
            </a:r>
            <a:r>
              <a:rPr lang="en-US" sz="1600" dirty="0">
                <a:latin typeface="+mn-lt"/>
              </a:rPr>
              <a:t> while a policy is issued by the insurer. </a:t>
            </a:r>
          </a:p>
          <a:p>
            <a:pPr>
              <a:defRPr/>
            </a:pPr>
            <a:endParaRPr lang="en-US" sz="1600" dirty="0">
              <a:latin typeface="+mn-lt"/>
            </a:endParaRPr>
          </a:p>
          <a:p>
            <a:pPr>
              <a:defRPr/>
            </a:pPr>
            <a:r>
              <a:rPr lang="en-US" sz="1600" dirty="0">
                <a:latin typeface="+mn-lt"/>
              </a:rPr>
              <a:t>These forms are state specific and will differ in content as well as other Limit related rules specific to different states.</a:t>
            </a:r>
          </a:p>
          <a:p>
            <a:pPr>
              <a:defRPr/>
            </a:pPr>
            <a:endParaRPr lang="en-US" sz="1600" dirty="0">
              <a:latin typeface="+mn-lt"/>
            </a:endParaRPr>
          </a:p>
          <a:p>
            <a:pPr>
              <a:defRPr/>
            </a:pPr>
            <a:r>
              <a:rPr lang="en-US" sz="1600" b="1" dirty="0">
                <a:latin typeface="+mn-lt"/>
              </a:rPr>
              <a:t>List of all mandatory forms for “A” carrier as an illustration is as given below – </a:t>
            </a:r>
          </a:p>
          <a:p>
            <a:pPr>
              <a:defRPr/>
            </a:pPr>
            <a:endParaRPr lang="en-US" sz="1600" dirty="0">
              <a:latin typeface="+mn-lt"/>
            </a:endParaRP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PUNITIVE DAMAGES COVERAGE  PUNITIVE DAMAGES COVERAGE  ILLINOIS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VIRGINIA IMPORTANT NOTICE - NO FLOOD COVERAGE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AMENDMENT OF MOBILE EQUIPMENT DEFINITION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AMENDMENT OF OCCURRENCE DEFINITION FOR SUBCONTRACTED WORK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AMENDMENT OF POLICY - TWO OR MORE COVERAGE PARTS 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CAP ON LOSSES FROM CERTIFIED ACTS OF TERRORISM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COMMERCIAL GENERAL LIABILITY COVERAGE FORM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COMMON POLICY CONDITIONS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DISCLOSURE PURSUANT TO TERRORISM RISK INSURANCE ACT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EMPLOYMENT-RELATED PRACTICES EXCLUSION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EXCLUSION - LEAD LIABILITY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FUNGI OR BACTERIA EXCLUSION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ILLINOIS CHANGES - CANCELLATION AND NONRENEWAL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IMPORTANT NOTICE TO POLICYHOLDERS - TERRORISM COVERAGE - PROPERTY</a:t>
            </a:r>
          </a:p>
        </p:txBody>
      </p:sp>
    </p:spTree>
    <p:extLst>
      <p:ext uri="{BB962C8B-B14F-4D97-AF65-F5344CB8AC3E}">
        <p14:creationId xmlns:p14="http://schemas.microsoft.com/office/powerpoint/2010/main" val="78553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>
            <a:extLst>
              <a:ext uri="{FF2B5EF4-FFF2-40B4-BE49-F238E27FC236}">
                <a16:creationId xmlns:a16="http://schemas.microsoft.com/office/drawing/2014/main" id="{6D51088B-AC47-43A9-8BC4-182AE3B54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06" y="400874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BOP – Coverage specific / Optional Forms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4C4DF7-6F69-4B59-9C0F-AF57F1B585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18F5A59-1915-4B3A-8EFD-4438A07D298F}"/>
              </a:ext>
            </a:extLst>
          </p:cNvPr>
          <p:cNvSpPr txBox="1">
            <a:spLocks/>
          </p:cNvSpPr>
          <p:nvPr/>
        </p:nvSpPr>
        <p:spPr>
          <a:xfrm>
            <a:off x="1290181" y="1314849"/>
            <a:ext cx="9596259" cy="5142277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These forms are part of the policy package </a:t>
            </a:r>
            <a:r>
              <a:rPr lang="en-US" sz="1600" dirty="0">
                <a:solidFill>
                  <a:srgbClr val="0000FF"/>
                </a:solidFill>
                <a:latin typeface="+mn-lt"/>
              </a:rPr>
              <a:t>only if any optional / additional coverage is selected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by the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insured on a policy over and above the mandatory covers. 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These forms also will be </a:t>
            </a:r>
            <a:r>
              <a:rPr lang="en-US" sz="1600" dirty="0">
                <a:solidFill>
                  <a:srgbClr val="0000FF"/>
                </a:solidFill>
                <a:latin typeface="+mn-lt"/>
              </a:rPr>
              <a:t>state specific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as the U/W rules and guidelines will be different for different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States. </a:t>
            </a:r>
            <a:r>
              <a:rPr lang="en-US" sz="1600" dirty="0">
                <a:solidFill>
                  <a:srgbClr val="0000FF"/>
                </a:solidFill>
                <a:latin typeface="+mn-lt"/>
              </a:rPr>
              <a:t>Conditional forms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will be triggered based on few conditions mentioned on the system, i.e. if the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following criteria is met on a policy, only then certain form will be printed for that policy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List of few optional forms are as given below –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INLAND MARINE GENERAL CONDITIONS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INLAND MARINE GENERAL CONDITIONS – ILLINOIS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RENTED/LEASED MOBILE EQUIPMENT - BLANKET COVERAGE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LIQUOR LIABILITY COVERAGE FORM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COVERAGE FOR INJURY TO LEASED WORKERS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EMPLOYEE BENEFITS LIABILITY COVERAGE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ADDITIONAL INSURED - CONCESSIONAIRES TRADING UNDER YOUR NAME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PROFESSIONAL LIABILITY EXCLUSION - WEB-SITE DESIGNERS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WAIVER OF IMMUNITY ENDORSEMENT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NEW YORK -- WINDSTORM PROTECTIVE DEVICES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INSTALLATION COVERAGE - COMPREHENSIVE PERILS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v"/>
              <a:defRPr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ILLINOIS MINE SUBSIDENCE - COMMERCIAL BUILDING</a:t>
            </a:r>
            <a:endParaRPr lang="en-US" sz="1200" b="1" dirty="0">
              <a:solidFill>
                <a:srgbClr val="00004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769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>
            <a:extLst>
              <a:ext uri="{FF2B5EF4-FFF2-40B4-BE49-F238E27FC236}">
                <a16:creationId xmlns:a16="http://schemas.microsoft.com/office/drawing/2014/main" id="{5620F895-4AF8-4D91-8701-3E48C46EA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06" y="401273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Illustration – Conditional Forms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1637C9-B627-4B25-AB39-5CB12C6D6F9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E8C839C-F17E-45BC-AF57-47406726BAB0}"/>
              </a:ext>
            </a:extLst>
          </p:cNvPr>
          <p:cNvSpPr txBox="1">
            <a:spLocks/>
          </p:cNvSpPr>
          <p:nvPr/>
        </p:nvSpPr>
        <p:spPr>
          <a:xfrm>
            <a:off x="1190624" y="1181100"/>
            <a:ext cx="9705975" cy="5334000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rgbClr val="0000FF"/>
                </a:solidFill>
                <a:latin typeface="Calibri" pitchFamily="34" charset="0"/>
              </a:rPr>
              <a:t>Conditional forms will be triggered based on peculiar conditions getting met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</a:rPr>
              <a:t>Illustration 1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–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INLAND MARINE GENERAL CONDITIONS will be generated only if following condition is met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Condition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 - If [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Bailees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 Customers Coverage Indicator] or [Coin and Stamp Dealers Coverage Indicator] or [Physicians &amp; Dentists Equipment Coverage Indicator] or [Musical Instruments Coverage Indicator] or [Fine Arts Coverage Indicator] or [Appliance Sales &amp; Service Coverage Indicator] or [Installation Coverage Indicator] or [Animal Floater Coverage Indicator] or [Tools Coverage Indicator] or [Contractors Equipment Coverage Indicator] or [Motor Truck Cargo Coverage Indicator] or [Photographic Equipment Coverage Indicator] or [Broad Form Specified Property Coverage Indicator] is selected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</a:rPr>
              <a:t>Illustration 2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–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RENTED/LEASED MOBILE EQUIPMENT - BLANKET COVERAGE will be generated only if following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 condition is met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Condition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 - If [Contractors Equipment Coverage Indicator] is selected and [Contractors Equipment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</a:rPr>
              <a:t> Peril Type] = Comprehensive Perils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791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6">
            <a:extLst>
              <a:ext uri="{FF2B5EF4-FFF2-40B4-BE49-F238E27FC236}">
                <a16:creationId xmlns:a16="http://schemas.microsoft.com/office/drawing/2014/main" id="{6ED7DB19-6601-41D3-AC51-A78E5B683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2400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BOP – Various Forms Packages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68DF8-6D0C-4C22-A8CA-50F078446A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E2404DA-8C22-4E02-A2DD-1233671C4EAD}"/>
              </a:ext>
            </a:extLst>
          </p:cNvPr>
          <p:cNvSpPr txBox="1">
            <a:spLocks/>
          </p:cNvSpPr>
          <p:nvPr/>
        </p:nvSpPr>
        <p:spPr>
          <a:xfrm>
            <a:off x="1020871" y="1178711"/>
            <a:ext cx="10452969" cy="5334000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All forms which are printed by a company will be clubbed under various packages / batches.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This is required to allocate similar forms under the same package.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These differentiation of packages will be company specific, as per company’s filter/ selection criteria and hence they will differ from carrier to carrier.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en-US" sz="1400" dirty="0">
                <a:solidFill>
                  <a:srgbClr val="C00000"/>
                </a:solidFill>
                <a:latin typeface="+mn-lt"/>
              </a:rPr>
              <a:t>Broadly sequencing of forms will be like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– 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lvl="1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Policy Jacket</a:t>
            </a:r>
          </a:p>
          <a:p>
            <a:pPr lvl="2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Property Coverage Part</a:t>
            </a:r>
          </a:p>
          <a:p>
            <a:pPr lvl="3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-Amendatory Property Endorsement</a:t>
            </a:r>
          </a:p>
          <a:p>
            <a:pPr lvl="4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Property Coverage Endorsement</a:t>
            </a:r>
          </a:p>
          <a:p>
            <a:pPr lvl="5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Property Exclusion Endorsement</a:t>
            </a:r>
          </a:p>
          <a:p>
            <a:pPr lvl="6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Amendatory Important Notice</a:t>
            </a:r>
          </a:p>
          <a:p>
            <a:pPr lvl="7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Amendatory</a:t>
            </a:r>
          </a:p>
          <a:p>
            <a:pPr lvl="8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- Inland Marine General Terms Endorsement</a:t>
            </a:r>
          </a:p>
          <a:p>
            <a:pPr lvl="8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- 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Inland Marine Endorsements</a:t>
            </a:r>
          </a:p>
          <a:p>
            <a:pPr lvl="8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                     - General Liability Coverage Part</a:t>
            </a:r>
          </a:p>
          <a:p>
            <a:pPr lvl="8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                                 - Amendatory General Liability Endorsements</a:t>
            </a:r>
          </a:p>
          <a:p>
            <a:pPr lvl="8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                                            - General Liability Coverage Endorsements</a:t>
            </a:r>
          </a:p>
          <a:p>
            <a:pPr lvl="8" eaLnBrk="0" hangingPunct="0">
              <a:spcBef>
                <a:spcPct val="20000"/>
              </a:spcBef>
              <a:buClr>
                <a:srgbClr val="C00000"/>
              </a:buClr>
              <a:defRPr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                                                            - General Liability Exclusion Endorsements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423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1F1C4B-B907-49C3-AE54-C48596D25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353985"/>
            <a:ext cx="7772400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6">
            <a:extLst>
              <a:ext uri="{FF2B5EF4-FFF2-40B4-BE49-F238E27FC236}">
                <a16:creationId xmlns:a16="http://schemas.microsoft.com/office/drawing/2014/main" id="{51852F94-0810-454E-911D-339569BE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06" y="370436"/>
            <a:ext cx="58674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00FF"/>
                </a:solidFill>
              </a:rPr>
              <a:t>Policy issuance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99396-3202-40E9-9EF5-6915A6CF2A8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8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8199AB9E-6086-4CD5-8214-E9FD31A7F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9626284"/>
              </p:ext>
            </p:extLst>
          </p:nvPr>
        </p:nvGraphicFramePr>
        <p:xfrm>
          <a:off x="2667000" y="4033839"/>
          <a:ext cx="914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Acrobat Document" showAsIcon="1" r:id="rId3" imgW="914400" imgH="714240" progId="AcroExch.Document.11">
                  <p:embed/>
                </p:oleObj>
              </mc:Choice>
              <mc:Fallback>
                <p:oleObj name="Acrobat Document" showAsIcon="1" r:id="rId3" imgW="914400" imgH="714240" progId="AcroExch.Document.11">
                  <p:embed/>
                  <p:pic>
                    <p:nvPicPr>
                      <p:cNvPr id="1026" name="Object 5">
                        <a:extLst>
                          <a:ext uri="{FF2B5EF4-FFF2-40B4-BE49-F238E27FC236}">
                            <a16:creationId xmlns:a16="http://schemas.microsoft.com/office/drawing/2014/main" id="{2DB48D66-F50A-47D7-B268-62E924FF9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033839"/>
                        <a:ext cx="9144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6">
            <a:extLst>
              <a:ext uri="{FF2B5EF4-FFF2-40B4-BE49-F238E27FC236}">
                <a16:creationId xmlns:a16="http://schemas.microsoft.com/office/drawing/2014/main" id="{581EAC1F-4991-4AA8-A0A4-A01CD8FD0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124201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prstClr val="black"/>
                </a:solidFill>
              </a:rPr>
              <a:t>BOP – Application Form (Input)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0224175D-04DC-4BD5-9F0F-19639ABD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048001"/>
            <a:ext cx="3429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prstClr val="black"/>
                </a:solidFill>
              </a:rPr>
              <a:t>BOP – Conditional Form (Output)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E15CEAF-9467-4735-8408-E73F71625C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657601"/>
          <a:ext cx="914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Acrobat Document" showAsIcon="1" r:id="rId5" imgW="914400" imgH="714240" progId="AcroExch.Document.11">
                  <p:embed/>
                </p:oleObj>
              </mc:Choice>
              <mc:Fallback>
                <p:oleObj name="Acrobat Document" showAsIcon="1" r:id="rId5" imgW="914400" imgH="714240" progId="AcroExch.Document.11">
                  <p:embed/>
                  <p:pic>
                    <p:nvPicPr>
                      <p:cNvPr id="1027" name="Object 6">
                        <a:extLst>
                          <a:ext uri="{FF2B5EF4-FFF2-40B4-BE49-F238E27FC236}">
                            <a16:creationId xmlns:a16="http://schemas.microsoft.com/office/drawing/2014/main" id="{92D540FA-94B8-4534-919A-0C97F99D0D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657601"/>
                        <a:ext cx="9144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D767C6DA-A7E5-4F50-91A5-01D5C9183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3581401"/>
          <a:ext cx="914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Acrobat Document" showAsIcon="1" r:id="rId7" imgW="914400" imgH="714240" progId="AcroExch.Document.11">
                  <p:embed/>
                </p:oleObj>
              </mc:Choice>
              <mc:Fallback>
                <p:oleObj name="Acrobat Document" showAsIcon="1" r:id="rId7" imgW="914400" imgH="714240" progId="AcroExch.Document.11">
                  <p:embed/>
                  <p:pic>
                    <p:nvPicPr>
                      <p:cNvPr id="1028" name="Object 7">
                        <a:extLst>
                          <a:ext uri="{FF2B5EF4-FFF2-40B4-BE49-F238E27FC236}">
                            <a16:creationId xmlns:a16="http://schemas.microsoft.com/office/drawing/2014/main" id="{0ECD2E81-E4F2-4EFD-B264-2911008CF3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581401"/>
                        <a:ext cx="9144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6">
            <a:extLst>
              <a:ext uri="{FF2B5EF4-FFF2-40B4-BE49-F238E27FC236}">
                <a16:creationId xmlns:a16="http://schemas.microsoft.com/office/drawing/2014/main" id="{21AEC85E-2141-4847-BF50-B5146A51D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" y="238125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SzPct val="120000"/>
            </a:pPr>
            <a:r>
              <a:rPr lang="en-US" altLang="en-US" sz="2000" dirty="0">
                <a:solidFill>
                  <a:srgbClr val="0000FF"/>
                </a:solidFill>
                <a:latin typeface="Calibri" panose="020F0502020204030204" pitchFamily="34" charset="0"/>
              </a:rPr>
              <a:t>Sample Forms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2B79A-0523-4B64-A94E-1893C4EA47B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906" y="801323"/>
            <a:ext cx="9804188" cy="26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1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41087d73-5bfe-4c6e-a130-3d602495565a" ContentTypeId="0x010100A9C68CA7C7CB9747850736716ABD16DF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VIKI Document" ma:contentTypeID="0x010100A9C68CA7C7CB9747850736716ABD16DF00BE1DFF25D8869449A28818D1AF9444E1" ma:contentTypeVersion="20" ma:contentTypeDescription="" ma:contentTypeScope="" ma:versionID="92b093353b9940d7edd8e21a01084bae">
  <xsd:schema xmlns:xsd="http://www.w3.org/2001/XMLSchema" xmlns:xs="http://www.w3.org/2001/XMLSchema" xmlns:p="http://schemas.microsoft.com/office/2006/metadata/properties" xmlns:ns2="09339d3a-aaa0-497d-ae73-d8a5832d420d" xmlns:ns3="1b0447fd-b4de-47d5-99cd-696b41a805aa" xmlns:ns4="54644d9b-790a-4fc8-9e5d-73cde5ed7352" targetNamespace="http://schemas.microsoft.com/office/2006/metadata/properties" ma:root="true" ma:fieldsID="7b049ac841faef01dc341f5e9116bb68" ns2:_="" ns3:_="" ns4:_="">
    <xsd:import namespace="09339d3a-aaa0-497d-ae73-d8a5832d420d"/>
    <xsd:import namespace="1b0447fd-b4de-47d5-99cd-696b41a805aa"/>
    <xsd:import namespace="54644d9b-790a-4fc8-9e5d-73cde5ed7352"/>
    <xsd:element name="properties">
      <xsd:complexType>
        <xsd:sequence>
          <xsd:element name="documentManagement">
            <xsd:complexType>
              <xsd:all>
                <xsd:element ref="ns2:Classification"/>
                <xsd:element ref="ns2:Departments"/>
                <xsd:element ref="ns2:SubCategory"/>
                <xsd:element ref="ns2:Tags"/>
                <xsd:element ref="ns2:Contributors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39d3a-aaa0-497d-ae73-d8a5832d420d" elementFormDefault="qualified">
    <xsd:import namespace="http://schemas.microsoft.com/office/2006/documentManagement/types"/>
    <xsd:import namespace="http://schemas.microsoft.com/office/infopath/2007/PartnerControls"/>
    <xsd:element name="Classification" ma:index="8" ma:displayName="Classification" ma:description="Refer Help &gt; Guidelines" ma:format="Dropdown" ma:internalName="Classification">
      <xsd:simpleType>
        <xsd:restriction base="dms:Choice">
          <xsd:enumeration value="Sensitive"/>
          <xsd:enumeration value="Confidential"/>
          <xsd:enumeration value="Internally Restricted"/>
          <xsd:enumeration value="Internal Use"/>
        </xsd:restriction>
      </xsd:simpleType>
    </xsd:element>
    <xsd:element name="Departments" ma:index="9" ma:displayName="Departments" ma:format="Dropdown" ma:internalName="Departments">
      <xsd:simpleType>
        <xsd:restriction base="dms:Choice">
          <xsd:enumeration value="Accounts"/>
          <xsd:enumeration value="Banking"/>
          <xsd:enumeration value="BizDynamics"/>
          <xsd:enumeration value="CCM"/>
          <xsd:enumeration value="Client Services"/>
          <xsd:enumeration value="Core Leverage"/>
          <xsd:enumeration value="Data Leverage"/>
          <xsd:enumeration value="Digital &amp; Cloud"/>
          <xsd:enumeration value="Facilities"/>
          <xsd:enumeration value="Finance"/>
          <xsd:enumeration value="Financial Services"/>
          <xsd:enumeration value="GRC Operations"/>
          <xsd:enumeration value="HR"/>
          <xsd:enumeration value="Insurance Health Care"/>
          <xsd:enumeration value="Insurance Life"/>
          <xsd:enumeration value="Insurance P&amp;C"/>
          <xsd:enumeration value="IT Operations"/>
          <xsd:enumeration value="Learning &amp; Development"/>
          <xsd:enumeration value="Management System"/>
          <xsd:enumeration value="Marketing"/>
          <xsd:enumeration value="Network Operations"/>
          <xsd:enumeration value="Operations"/>
          <xsd:enumeration value="Organization"/>
          <xsd:enumeration value="PMO"/>
          <xsd:enumeration value="Quality Leap"/>
          <xsd:enumeration value="Sales"/>
          <xsd:enumeration value="Security Operations"/>
          <xsd:enumeration value="WhiteCoats"/>
        </xsd:restriction>
      </xsd:simpleType>
    </xsd:element>
    <xsd:element name="SubCategory" ma:index="10" ma:displayName="SubCategory" ma:format="Dropdown" ma:internalName="SubCategory">
      <xsd:simpleType>
        <xsd:restriction base="dms:Choice">
          <xsd:enumeration value="Accelerator"/>
          <xsd:enumeration value="Analysis"/>
          <xsd:enumeration value="Architecture"/>
          <xsd:enumeration value="Best Practice"/>
          <xsd:enumeration value="Case Study"/>
          <xsd:enumeration value="Change Management"/>
          <xsd:enumeration value="Checklist"/>
          <xsd:enumeration value="Design Patterns"/>
          <xsd:enumeration value="Form"/>
          <xsd:enumeration value="Guideline"/>
          <xsd:enumeration value="Learning"/>
          <xsd:enumeration value="Market Research"/>
          <xsd:enumeration value="Methodology"/>
          <xsd:enumeration value="Policy"/>
          <xsd:enumeration value="Presales"/>
          <xsd:enumeration value="Presentation"/>
          <xsd:enumeration value="Procedure"/>
          <xsd:enumeration value="Process"/>
          <xsd:enumeration value="Program Management"/>
          <xsd:enumeration value="Project Closure"/>
          <xsd:enumeration value="Project Proposal"/>
          <xsd:enumeration value="Quality Management"/>
          <xsd:enumeration value="Report"/>
          <xsd:enumeration value="Risk Management"/>
          <xsd:enumeration value="SOW"/>
          <xsd:enumeration value="Standards"/>
          <xsd:enumeration value="Training"/>
          <xsd:enumeration value="Value Addition"/>
          <xsd:enumeration value="White Paper"/>
        </xsd:restriction>
      </xsd:simpleType>
    </xsd:element>
    <xsd:element name="Tags" ma:index="11" ma:displayName="Tags" ma:internalName="Tags">
      <xsd:simpleType>
        <xsd:restriction base="dms:Text">
          <xsd:maxLength value="255"/>
        </xsd:restriction>
      </xsd:simpleType>
    </xsd:element>
    <xsd:element name="Contributors" ma:index="12" ma:displayName="Contributors" ma:list="UserInfo" ma:SharePointGroup="0" ma:internalName="Contributors" ma:showField="Departmen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447fd-b4de-47d5-99cd-696b41a805aa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44d9b-790a-4fc8-9e5d-73cde5ed735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partments xmlns="09339d3a-aaa0-497d-ae73-d8a5832d420d">Insurance P&amp;C</Departments>
    <Classification xmlns="09339d3a-aaa0-497d-ae73-d8a5832d420d">Internal Use</Classification>
    <Contributors xmlns="09339d3a-aaa0-497d-ae73-d8a5832d420d">
      <UserInfo>
        <DisplayName>Alok Bharati</DisplayName>
        <AccountId>26</AccountId>
        <AccountType/>
      </UserInfo>
    </Contributors>
    <SubCategory xmlns="09339d3a-aaa0-497d-ae73-d8a5832d420d">Learning</SubCategory>
    <Tags xmlns="09339d3a-aaa0-497d-ae73-d8a5832d420d">BOP</Tags>
  </documentManagement>
</p:properties>
</file>

<file path=customXml/itemProps1.xml><?xml version="1.0" encoding="utf-8"?>
<ds:datastoreItem xmlns:ds="http://schemas.openxmlformats.org/officeDocument/2006/customXml" ds:itemID="{5947492E-8235-4D4E-8FE2-461C3C727799}"/>
</file>

<file path=customXml/itemProps2.xml><?xml version="1.0" encoding="utf-8"?>
<ds:datastoreItem xmlns:ds="http://schemas.openxmlformats.org/officeDocument/2006/customXml" ds:itemID="{FC47A4B4-4862-4554-90D4-267F71AEE2AF}"/>
</file>

<file path=customXml/itemProps3.xml><?xml version="1.0" encoding="utf-8"?>
<ds:datastoreItem xmlns:ds="http://schemas.openxmlformats.org/officeDocument/2006/customXml" ds:itemID="{B2FC8308-4719-4242-A66E-8C475140B4C9}"/>
</file>

<file path=customXml/itemProps4.xml><?xml version="1.0" encoding="utf-8"?>
<ds:datastoreItem xmlns:ds="http://schemas.openxmlformats.org/officeDocument/2006/customXml" ds:itemID="{AF98F520-4124-4857-8EBC-865B317FDF55}"/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1333</Words>
  <Application>Microsoft Office PowerPoint</Application>
  <PresentationFormat>Widescreen</PresentationFormat>
  <Paragraphs>229</Paragraphs>
  <Slides>12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</vt:lpstr>
      <vt:lpstr>Calibri</vt:lpstr>
      <vt:lpstr>Calibri Light</vt:lpstr>
      <vt:lpstr>Courier New</vt:lpstr>
      <vt:lpstr>Wingdings</vt:lpstr>
      <vt:lpstr>Office Theme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Bharati</dc:creator>
  <cp:lastModifiedBy>Alok Bharati</cp:lastModifiedBy>
  <cp:revision>3</cp:revision>
  <dcterms:created xsi:type="dcterms:W3CDTF">2022-01-25T05:25:32Z</dcterms:created>
  <dcterms:modified xsi:type="dcterms:W3CDTF">2022-01-25T07:37:29Z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0x010100A9C68CA7C7CB9747850736716ABD16DF00BE1DFF25D8869449A28818D1AF9444E1</vt:lpwstr>
  </property>
</Properties>
</file>
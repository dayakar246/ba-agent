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1.xml" ContentType="application/vnd.openxmlformats-officedocument.presentationml.notesSlide+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1186" r:id="rId2"/>
    <p:sldId id="1187" r:id="rId3"/>
    <p:sldId id="1188" r:id="rId4"/>
    <p:sldId id="1189" r:id="rId5"/>
    <p:sldId id="1190" r:id="rId6"/>
    <p:sldId id="1191" r:id="rId7"/>
    <p:sldId id="1192" r:id="rId8"/>
    <p:sldId id="1193" r:id="rId9"/>
    <p:sldId id="1194" r:id="rId10"/>
    <p:sldId id="1195" r:id="rId11"/>
    <p:sldId id="1196" r:id="rId12"/>
    <p:sldId id="1197" r:id="rId13"/>
    <p:sldId id="1198" r:id="rId14"/>
    <p:sldId id="1199" r:id="rId15"/>
    <p:sldId id="1200" r:id="rId16"/>
    <p:sldId id="120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9744" autoAdjust="0"/>
  </p:normalViewPr>
  <p:slideViewPr>
    <p:cSldViewPr snapToGrid="0">
      <p:cViewPr varScale="1">
        <p:scale>
          <a:sx n="60" d="100"/>
          <a:sy n="60" d="100"/>
        </p:scale>
        <p:origin x="908"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customXml" Target="../customXml/item4.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122C54-2E5C-4343-8F68-F08C1F018E04}" type="datetimeFigureOut">
              <a:rPr lang="en-IN" smtClean="0"/>
              <a:t>22-01-2022</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C7E9D3-4EE8-43DA-85A8-9142FB697404}" type="slidenum">
              <a:rPr lang="en-IN" smtClean="0"/>
              <a:t>‹#›</a:t>
            </a:fld>
            <a:endParaRPr lang="en-IN"/>
          </a:p>
        </p:txBody>
      </p:sp>
    </p:spTree>
    <p:extLst>
      <p:ext uri="{BB962C8B-B14F-4D97-AF65-F5344CB8AC3E}">
        <p14:creationId xmlns:p14="http://schemas.microsoft.com/office/powerpoint/2010/main" val="19227572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anose="020B0604020202020204" pitchFamily="34" charset="0"/>
                <a:cs typeface="Arial" panose="020B0604020202020204" pitchFamily="34" charset="0"/>
              </a:rPr>
              <a:t>The rating and premium development method Insurance Services Office (ISO) uses with its Businessowners Program is fairly straightforward but the individual component parts require some explanation.</a:t>
            </a:r>
          </a:p>
          <a:p>
            <a:endParaRPr lang="en-IN" dirty="0"/>
          </a:p>
        </p:txBody>
      </p:sp>
      <p:sp>
        <p:nvSpPr>
          <p:cNvPr id="4" name="Slide Number Placeholder 3"/>
          <p:cNvSpPr>
            <a:spLocks noGrp="1"/>
          </p:cNvSpPr>
          <p:nvPr>
            <p:ph type="sldNum" sz="quarter" idx="5"/>
          </p:nvPr>
        </p:nvSpPr>
        <p:spPr/>
        <p:txBody>
          <a:bodyPr/>
          <a:lstStyle/>
          <a:p>
            <a:fld id="{EBC7E9D3-4EE8-43DA-85A8-9142FB697404}" type="slidenum">
              <a:rPr lang="en-IN" smtClean="0"/>
              <a:t>5</a:t>
            </a:fld>
            <a:endParaRPr lang="en-IN"/>
          </a:p>
        </p:txBody>
      </p:sp>
    </p:spTree>
    <p:extLst>
      <p:ext uri="{BB962C8B-B14F-4D97-AF65-F5344CB8AC3E}">
        <p14:creationId xmlns:p14="http://schemas.microsoft.com/office/powerpoint/2010/main" val="26082565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t>Loss Cost - </a:t>
            </a:r>
            <a:r>
              <a:rPr lang="en-US" altLang="en-US" dirty="0"/>
              <a:t>Also called "pure premium," the actual or expected cost to an insurer of indemnity payments and allocated loss adjustment expenses. Loss costs do not include overhead costs or profit loadings. Historical loss costs reflect only the costs and allocated loss adjustment expenses associated with past claims. Prospective loss costs are estimates of future loss costs, which are derived by trending and developing historical loss costs. The organizations that used to be called rating bureaus now develop and publish loss costs instead of insurance rates. Insurers add their own expense and profit loadings to these loss costs to develop rates which are then filed with regulators.</a:t>
            </a:r>
          </a:p>
          <a:p>
            <a:endParaRPr lang="en-US" altLang="en-US" dirty="0"/>
          </a:p>
          <a:p>
            <a:r>
              <a:rPr lang="en-US" altLang="en-US" dirty="0"/>
              <a:t>Every community in the United States is given a grading for its fire-fighting ability. This is assessed by an organization called the Insurance Services Office, an advisory body based in New York. The ISO gives a rating class of between 1 and 10, where 1 is excellent fire protection, and 10 is no protection whatsoever</a:t>
            </a:r>
          </a:p>
          <a:p>
            <a:endParaRPr lang="en-US" altLang="en-US" dirty="0"/>
          </a:p>
          <a:p>
            <a:pPr marL="0" lvl="1"/>
            <a:r>
              <a:rPr lang="en-US" altLang="en-US" dirty="0"/>
              <a:t>Most insurers look at protection classes quite broadly when determining the effect on a policy. Communities in classes 1-4 might be regarded as roughly equal. However, if your protection class is upgraded, it can be worth contacting your insurer to ask for a premium reduction. </a:t>
            </a:r>
          </a:p>
          <a:p>
            <a:endParaRPr lang="en-US" altLang="en-US" dirty="0"/>
          </a:p>
          <a:p>
            <a:endParaRPr lang="en-IN" dirty="0"/>
          </a:p>
        </p:txBody>
      </p:sp>
      <p:sp>
        <p:nvSpPr>
          <p:cNvPr id="4" name="Slide Number Placeholder 3"/>
          <p:cNvSpPr>
            <a:spLocks noGrp="1"/>
          </p:cNvSpPr>
          <p:nvPr>
            <p:ph type="sldNum" sz="quarter" idx="5"/>
          </p:nvPr>
        </p:nvSpPr>
        <p:spPr/>
        <p:txBody>
          <a:bodyPr/>
          <a:lstStyle/>
          <a:p>
            <a:fld id="{EBC7E9D3-4EE8-43DA-85A8-9142FB697404}" type="slidenum">
              <a:rPr lang="en-IN" smtClean="0"/>
              <a:t>6</a:t>
            </a:fld>
            <a:endParaRPr lang="en-IN"/>
          </a:p>
        </p:txBody>
      </p:sp>
    </p:spTree>
    <p:extLst>
      <p:ext uri="{BB962C8B-B14F-4D97-AF65-F5344CB8AC3E}">
        <p14:creationId xmlns:p14="http://schemas.microsoft.com/office/powerpoint/2010/main" val="627466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Property Rate number is derived from the ISO manuals used by companies, this is then mapped against to get a relative factor based on the Risk covered or class of operations selected by the user.</a:t>
            </a:r>
          </a:p>
          <a:p>
            <a:endParaRPr lang="en-IN" dirty="0"/>
          </a:p>
        </p:txBody>
      </p:sp>
      <p:sp>
        <p:nvSpPr>
          <p:cNvPr id="4" name="Slide Number Placeholder 3"/>
          <p:cNvSpPr>
            <a:spLocks noGrp="1"/>
          </p:cNvSpPr>
          <p:nvPr>
            <p:ph type="sldNum" sz="quarter" idx="5"/>
          </p:nvPr>
        </p:nvSpPr>
        <p:spPr/>
        <p:txBody>
          <a:bodyPr/>
          <a:lstStyle/>
          <a:p>
            <a:fld id="{EBC7E9D3-4EE8-43DA-85A8-9142FB697404}" type="slidenum">
              <a:rPr lang="en-IN" smtClean="0"/>
              <a:t>7</a:t>
            </a:fld>
            <a:endParaRPr lang="en-IN"/>
          </a:p>
        </p:txBody>
      </p:sp>
    </p:spTree>
    <p:extLst>
      <p:ext uri="{BB962C8B-B14F-4D97-AF65-F5344CB8AC3E}">
        <p14:creationId xmlns:p14="http://schemas.microsoft.com/office/powerpoint/2010/main" val="32907677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Factor thus applied here will be then multiplied to the rate and accordingly the premium will be calculated, for </a:t>
            </a:r>
            <a:r>
              <a:rPr lang="en-US" altLang="en-US" dirty="0" err="1"/>
              <a:t>examlpe</a:t>
            </a:r>
            <a:r>
              <a:rPr lang="en-US" altLang="en-US" dirty="0"/>
              <a:t> – if the % of sprinklered is higher in the given location the premium will be lower respectively.</a:t>
            </a:r>
          </a:p>
          <a:p>
            <a:endParaRPr lang="en-IN" dirty="0"/>
          </a:p>
        </p:txBody>
      </p:sp>
      <p:sp>
        <p:nvSpPr>
          <p:cNvPr id="4" name="Slide Number Placeholder 3"/>
          <p:cNvSpPr>
            <a:spLocks noGrp="1"/>
          </p:cNvSpPr>
          <p:nvPr>
            <p:ph type="sldNum" sz="quarter" idx="5"/>
          </p:nvPr>
        </p:nvSpPr>
        <p:spPr/>
        <p:txBody>
          <a:bodyPr/>
          <a:lstStyle/>
          <a:p>
            <a:fld id="{EBC7E9D3-4EE8-43DA-85A8-9142FB697404}" type="slidenum">
              <a:rPr lang="en-IN" smtClean="0"/>
              <a:t>11</a:t>
            </a:fld>
            <a:endParaRPr lang="en-IN"/>
          </a:p>
        </p:txBody>
      </p:sp>
    </p:spTree>
    <p:extLst>
      <p:ext uri="{BB962C8B-B14F-4D97-AF65-F5344CB8AC3E}">
        <p14:creationId xmlns:p14="http://schemas.microsoft.com/office/powerpoint/2010/main" val="17873732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3D61E-84C3-42B6-AD3A-B673704805D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85D3D00-D901-4B31-B5B1-A5BA629E35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A79D741-AA82-4120-B58D-F86EE94E9742}"/>
              </a:ext>
            </a:extLst>
          </p:cNvPr>
          <p:cNvSpPr>
            <a:spLocks noGrp="1"/>
          </p:cNvSpPr>
          <p:nvPr>
            <p:ph type="dt" sz="half" idx="10"/>
          </p:nvPr>
        </p:nvSpPr>
        <p:spPr/>
        <p:txBody>
          <a:bodyPr/>
          <a:lstStyle/>
          <a:p>
            <a:fld id="{9AD01194-2A7E-4F88-B6B3-0F0D961724D6}" type="datetimeFigureOut">
              <a:rPr lang="en-IN" smtClean="0"/>
              <a:t>22-01-2022</a:t>
            </a:fld>
            <a:endParaRPr lang="en-IN"/>
          </a:p>
        </p:txBody>
      </p:sp>
      <p:sp>
        <p:nvSpPr>
          <p:cNvPr id="5" name="Footer Placeholder 4">
            <a:extLst>
              <a:ext uri="{FF2B5EF4-FFF2-40B4-BE49-F238E27FC236}">
                <a16:creationId xmlns:a16="http://schemas.microsoft.com/office/drawing/2014/main" id="{D3EC878B-C2D1-480C-9D6A-563B07B1E1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CF36C1-C3C0-41F6-BCFF-C600A187B1CB}"/>
              </a:ext>
            </a:extLst>
          </p:cNvPr>
          <p:cNvSpPr>
            <a:spLocks noGrp="1"/>
          </p:cNvSpPr>
          <p:nvPr>
            <p:ph type="sldNum" sz="quarter" idx="12"/>
          </p:nvPr>
        </p:nvSpPr>
        <p:spPr/>
        <p:txBody>
          <a:bodyPr/>
          <a:lstStyle/>
          <a:p>
            <a:fld id="{1FEF67EF-7DF4-48C0-8575-09E1A34C3548}" type="slidenum">
              <a:rPr lang="en-IN" smtClean="0"/>
              <a:t>‹#›</a:t>
            </a:fld>
            <a:endParaRPr lang="en-IN"/>
          </a:p>
        </p:txBody>
      </p:sp>
    </p:spTree>
    <p:extLst>
      <p:ext uri="{BB962C8B-B14F-4D97-AF65-F5344CB8AC3E}">
        <p14:creationId xmlns:p14="http://schemas.microsoft.com/office/powerpoint/2010/main" val="16274433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2A7F1-D976-4F0B-B838-764333DD85A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ED72E8A-70F4-4F7D-B5D8-977E01C468A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6602E9-A12F-4A79-9F87-0CB6E5D19500}"/>
              </a:ext>
            </a:extLst>
          </p:cNvPr>
          <p:cNvSpPr>
            <a:spLocks noGrp="1"/>
          </p:cNvSpPr>
          <p:nvPr>
            <p:ph type="dt" sz="half" idx="10"/>
          </p:nvPr>
        </p:nvSpPr>
        <p:spPr/>
        <p:txBody>
          <a:bodyPr/>
          <a:lstStyle/>
          <a:p>
            <a:fld id="{9AD01194-2A7E-4F88-B6B3-0F0D961724D6}" type="datetimeFigureOut">
              <a:rPr lang="en-IN" smtClean="0"/>
              <a:t>22-01-2022</a:t>
            </a:fld>
            <a:endParaRPr lang="en-IN"/>
          </a:p>
        </p:txBody>
      </p:sp>
      <p:sp>
        <p:nvSpPr>
          <p:cNvPr id="5" name="Footer Placeholder 4">
            <a:extLst>
              <a:ext uri="{FF2B5EF4-FFF2-40B4-BE49-F238E27FC236}">
                <a16:creationId xmlns:a16="http://schemas.microsoft.com/office/drawing/2014/main" id="{343806A4-F260-49E1-8829-3C2ACE572C7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696699-110D-44C4-9176-007E1F75B1A2}"/>
              </a:ext>
            </a:extLst>
          </p:cNvPr>
          <p:cNvSpPr>
            <a:spLocks noGrp="1"/>
          </p:cNvSpPr>
          <p:nvPr>
            <p:ph type="sldNum" sz="quarter" idx="12"/>
          </p:nvPr>
        </p:nvSpPr>
        <p:spPr/>
        <p:txBody>
          <a:bodyPr/>
          <a:lstStyle/>
          <a:p>
            <a:fld id="{1FEF67EF-7DF4-48C0-8575-09E1A34C3548}" type="slidenum">
              <a:rPr lang="en-IN" smtClean="0"/>
              <a:t>‹#›</a:t>
            </a:fld>
            <a:endParaRPr lang="en-IN"/>
          </a:p>
        </p:txBody>
      </p:sp>
    </p:spTree>
    <p:extLst>
      <p:ext uri="{BB962C8B-B14F-4D97-AF65-F5344CB8AC3E}">
        <p14:creationId xmlns:p14="http://schemas.microsoft.com/office/powerpoint/2010/main" val="20876247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B01A1-54B2-48CC-A28D-E0612F2296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23F6E08-127B-466F-B56C-284FD8C9E9E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73EDFA5-EAFD-4918-A6FB-FB67F100C602}"/>
              </a:ext>
            </a:extLst>
          </p:cNvPr>
          <p:cNvSpPr>
            <a:spLocks noGrp="1"/>
          </p:cNvSpPr>
          <p:nvPr>
            <p:ph type="dt" sz="half" idx="10"/>
          </p:nvPr>
        </p:nvSpPr>
        <p:spPr/>
        <p:txBody>
          <a:bodyPr/>
          <a:lstStyle/>
          <a:p>
            <a:fld id="{9AD01194-2A7E-4F88-B6B3-0F0D961724D6}" type="datetimeFigureOut">
              <a:rPr lang="en-IN" smtClean="0"/>
              <a:t>22-01-2022</a:t>
            </a:fld>
            <a:endParaRPr lang="en-IN"/>
          </a:p>
        </p:txBody>
      </p:sp>
      <p:sp>
        <p:nvSpPr>
          <p:cNvPr id="5" name="Footer Placeholder 4">
            <a:extLst>
              <a:ext uri="{FF2B5EF4-FFF2-40B4-BE49-F238E27FC236}">
                <a16:creationId xmlns:a16="http://schemas.microsoft.com/office/drawing/2014/main" id="{14602D4D-4019-4178-9C8F-A9B54C75C4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2DE3189-6EFC-4AFB-BA82-4AB45DE14066}"/>
              </a:ext>
            </a:extLst>
          </p:cNvPr>
          <p:cNvSpPr>
            <a:spLocks noGrp="1"/>
          </p:cNvSpPr>
          <p:nvPr>
            <p:ph type="sldNum" sz="quarter" idx="12"/>
          </p:nvPr>
        </p:nvSpPr>
        <p:spPr/>
        <p:txBody>
          <a:bodyPr/>
          <a:lstStyle/>
          <a:p>
            <a:fld id="{1FEF67EF-7DF4-48C0-8575-09E1A34C3548}" type="slidenum">
              <a:rPr lang="en-IN" smtClean="0"/>
              <a:t>‹#›</a:t>
            </a:fld>
            <a:endParaRPr lang="en-IN"/>
          </a:p>
        </p:txBody>
      </p:sp>
    </p:spTree>
    <p:extLst>
      <p:ext uri="{BB962C8B-B14F-4D97-AF65-F5344CB8AC3E}">
        <p14:creationId xmlns:p14="http://schemas.microsoft.com/office/powerpoint/2010/main" val="1847873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626BA-9E52-46DD-B548-3C8C55D8541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2FF35AB-2107-4764-82A1-3ED8C373EAA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5E6D9E1-5FED-4EC3-89F4-9C0FAD0EB11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2F02DC4-C301-4B6F-9E8C-96415D4D660E}"/>
              </a:ext>
            </a:extLst>
          </p:cNvPr>
          <p:cNvSpPr>
            <a:spLocks noGrp="1"/>
          </p:cNvSpPr>
          <p:nvPr>
            <p:ph type="dt" sz="half" idx="10"/>
          </p:nvPr>
        </p:nvSpPr>
        <p:spPr/>
        <p:txBody>
          <a:bodyPr/>
          <a:lstStyle/>
          <a:p>
            <a:fld id="{9AD01194-2A7E-4F88-B6B3-0F0D961724D6}" type="datetimeFigureOut">
              <a:rPr lang="en-IN" smtClean="0"/>
              <a:t>22-01-2022</a:t>
            </a:fld>
            <a:endParaRPr lang="en-IN"/>
          </a:p>
        </p:txBody>
      </p:sp>
      <p:sp>
        <p:nvSpPr>
          <p:cNvPr id="6" name="Footer Placeholder 5">
            <a:extLst>
              <a:ext uri="{FF2B5EF4-FFF2-40B4-BE49-F238E27FC236}">
                <a16:creationId xmlns:a16="http://schemas.microsoft.com/office/drawing/2014/main" id="{E5321C65-D100-406D-AC20-F71F321384B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FF5D05E-8303-4A64-9931-767A64655557}"/>
              </a:ext>
            </a:extLst>
          </p:cNvPr>
          <p:cNvSpPr>
            <a:spLocks noGrp="1"/>
          </p:cNvSpPr>
          <p:nvPr>
            <p:ph type="sldNum" sz="quarter" idx="12"/>
          </p:nvPr>
        </p:nvSpPr>
        <p:spPr/>
        <p:txBody>
          <a:bodyPr/>
          <a:lstStyle/>
          <a:p>
            <a:fld id="{1FEF67EF-7DF4-48C0-8575-09E1A34C3548}" type="slidenum">
              <a:rPr lang="en-IN" smtClean="0"/>
              <a:t>‹#›</a:t>
            </a:fld>
            <a:endParaRPr lang="en-IN"/>
          </a:p>
        </p:txBody>
      </p:sp>
    </p:spTree>
    <p:extLst>
      <p:ext uri="{BB962C8B-B14F-4D97-AF65-F5344CB8AC3E}">
        <p14:creationId xmlns:p14="http://schemas.microsoft.com/office/powerpoint/2010/main" val="20141275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A1E54-3D2B-4D97-9C84-FAD7605C53F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82B43E0-0D54-40DD-8302-10DFD1ADBD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1E3A0DC-8963-4015-B49A-D676349C9A5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C1C97F1-2BA2-49E3-A789-A1E88D360A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C821F45-C182-4322-A798-6348029629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ADC403D-B27F-45D1-A0BE-BD10CD0C5A36}"/>
              </a:ext>
            </a:extLst>
          </p:cNvPr>
          <p:cNvSpPr>
            <a:spLocks noGrp="1"/>
          </p:cNvSpPr>
          <p:nvPr>
            <p:ph type="dt" sz="half" idx="10"/>
          </p:nvPr>
        </p:nvSpPr>
        <p:spPr/>
        <p:txBody>
          <a:bodyPr/>
          <a:lstStyle/>
          <a:p>
            <a:fld id="{9AD01194-2A7E-4F88-B6B3-0F0D961724D6}" type="datetimeFigureOut">
              <a:rPr lang="en-IN" smtClean="0"/>
              <a:t>22-01-2022</a:t>
            </a:fld>
            <a:endParaRPr lang="en-IN"/>
          </a:p>
        </p:txBody>
      </p:sp>
      <p:sp>
        <p:nvSpPr>
          <p:cNvPr id="8" name="Footer Placeholder 7">
            <a:extLst>
              <a:ext uri="{FF2B5EF4-FFF2-40B4-BE49-F238E27FC236}">
                <a16:creationId xmlns:a16="http://schemas.microsoft.com/office/drawing/2014/main" id="{1C7927A2-D642-4BE6-97AF-3EC35601055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A25F572-6C61-4C6B-B40B-83C902ED8D67}"/>
              </a:ext>
            </a:extLst>
          </p:cNvPr>
          <p:cNvSpPr>
            <a:spLocks noGrp="1"/>
          </p:cNvSpPr>
          <p:nvPr>
            <p:ph type="sldNum" sz="quarter" idx="12"/>
          </p:nvPr>
        </p:nvSpPr>
        <p:spPr/>
        <p:txBody>
          <a:bodyPr/>
          <a:lstStyle/>
          <a:p>
            <a:fld id="{1FEF67EF-7DF4-48C0-8575-09E1A34C3548}" type="slidenum">
              <a:rPr lang="en-IN" smtClean="0"/>
              <a:t>‹#›</a:t>
            </a:fld>
            <a:endParaRPr lang="en-IN"/>
          </a:p>
        </p:txBody>
      </p:sp>
    </p:spTree>
    <p:extLst>
      <p:ext uri="{BB962C8B-B14F-4D97-AF65-F5344CB8AC3E}">
        <p14:creationId xmlns:p14="http://schemas.microsoft.com/office/powerpoint/2010/main" val="2596973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7B7F5-8033-4982-A40E-73EA5EBFD99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29CCCF7-1B14-4CBE-A8B1-79F25ADA3E85}"/>
              </a:ext>
            </a:extLst>
          </p:cNvPr>
          <p:cNvSpPr>
            <a:spLocks noGrp="1"/>
          </p:cNvSpPr>
          <p:nvPr>
            <p:ph type="dt" sz="half" idx="10"/>
          </p:nvPr>
        </p:nvSpPr>
        <p:spPr/>
        <p:txBody>
          <a:bodyPr/>
          <a:lstStyle/>
          <a:p>
            <a:fld id="{9AD01194-2A7E-4F88-B6B3-0F0D961724D6}" type="datetimeFigureOut">
              <a:rPr lang="en-IN" smtClean="0"/>
              <a:t>22-01-2022</a:t>
            </a:fld>
            <a:endParaRPr lang="en-IN"/>
          </a:p>
        </p:txBody>
      </p:sp>
      <p:sp>
        <p:nvSpPr>
          <p:cNvPr id="4" name="Footer Placeholder 3">
            <a:extLst>
              <a:ext uri="{FF2B5EF4-FFF2-40B4-BE49-F238E27FC236}">
                <a16:creationId xmlns:a16="http://schemas.microsoft.com/office/drawing/2014/main" id="{56195F9C-4C1F-4C3D-AB64-17B3FE5F9E0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A78E631-C309-4EC6-B126-D08421A678B6}"/>
              </a:ext>
            </a:extLst>
          </p:cNvPr>
          <p:cNvSpPr>
            <a:spLocks noGrp="1"/>
          </p:cNvSpPr>
          <p:nvPr>
            <p:ph type="sldNum" sz="quarter" idx="12"/>
          </p:nvPr>
        </p:nvSpPr>
        <p:spPr/>
        <p:txBody>
          <a:bodyPr/>
          <a:lstStyle/>
          <a:p>
            <a:fld id="{1FEF67EF-7DF4-48C0-8575-09E1A34C3548}" type="slidenum">
              <a:rPr lang="en-IN" smtClean="0"/>
              <a:t>‹#›</a:t>
            </a:fld>
            <a:endParaRPr lang="en-IN"/>
          </a:p>
        </p:txBody>
      </p:sp>
    </p:spTree>
    <p:extLst>
      <p:ext uri="{BB962C8B-B14F-4D97-AF65-F5344CB8AC3E}">
        <p14:creationId xmlns:p14="http://schemas.microsoft.com/office/powerpoint/2010/main" val="436467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6F5AFE-6247-4A77-9A98-10B0F60E6414}"/>
              </a:ext>
            </a:extLst>
          </p:cNvPr>
          <p:cNvSpPr>
            <a:spLocks noGrp="1"/>
          </p:cNvSpPr>
          <p:nvPr>
            <p:ph type="dt" sz="half" idx="10"/>
          </p:nvPr>
        </p:nvSpPr>
        <p:spPr/>
        <p:txBody>
          <a:bodyPr/>
          <a:lstStyle/>
          <a:p>
            <a:fld id="{9AD01194-2A7E-4F88-B6B3-0F0D961724D6}" type="datetimeFigureOut">
              <a:rPr lang="en-IN" smtClean="0"/>
              <a:t>22-01-2022</a:t>
            </a:fld>
            <a:endParaRPr lang="en-IN"/>
          </a:p>
        </p:txBody>
      </p:sp>
      <p:sp>
        <p:nvSpPr>
          <p:cNvPr id="3" name="Footer Placeholder 2">
            <a:extLst>
              <a:ext uri="{FF2B5EF4-FFF2-40B4-BE49-F238E27FC236}">
                <a16:creationId xmlns:a16="http://schemas.microsoft.com/office/drawing/2014/main" id="{280D170A-BCF3-415F-B553-3F1DFAC662F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070AC20-E409-4B6F-A9BA-4E3BD09083AF}"/>
              </a:ext>
            </a:extLst>
          </p:cNvPr>
          <p:cNvSpPr>
            <a:spLocks noGrp="1"/>
          </p:cNvSpPr>
          <p:nvPr>
            <p:ph type="sldNum" sz="quarter" idx="12"/>
          </p:nvPr>
        </p:nvSpPr>
        <p:spPr/>
        <p:txBody>
          <a:bodyPr/>
          <a:lstStyle/>
          <a:p>
            <a:fld id="{1FEF67EF-7DF4-48C0-8575-09E1A34C3548}" type="slidenum">
              <a:rPr lang="en-IN" smtClean="0"/>
              <a:t>‹#›</a:t>
            </a:fld>
            <a:endParaRPr lang="en-IN"/>
          </a:p>
        </p:txBody>
      </p:sp>
    </p:spTree>
    <p:extLst>
      <p:ext uri="{BB962C8B-B14F-4D97-AF65-F5344CB8AC3E}">
        <p14:creationId xmlns:p14="http://schemas.microsoft.com/office/powerpoint/2010/main" val="927397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16D92-7FEC-48E3-8158-13028EA889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728D15D-E826-401F-879A-06D528206A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4425530-455A-4796-82E2-DB5915337A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012613-EF52-4F42-A455-0B02F73AB630}"/>
              </a:ext>
            </a:extLst>
          </p:cNvPr>
          <p:cNvSpPr>
            <a:spLocks noGrp="1"/>
          </p:cNvSpPr>
          <p:nvPr>
            <p:ph type="dt" sz="half" idx="10"/>
          </p:nvPr>
        </p:nvSpPr>
        <p:spPr/>
        <p:txBody>
          <a:bodyPr/>
          <a:lstStyle/>
          <a:p>
            <a:fld id="{9AD01194-2A7E-4F88-B6B3-0F0D961724D6}" type="datetimeFigureOut">
              <a:rPr lang="en-IN" smtClean="0"/>
              <a:t>22-01-2022</a:t>
            </a:fld>
            <a:endParaRPr lang="en-IN"/>
          </a:p>
        </p:txBody>
      </p:sp>
      <p:sp>
        <p:nvSpPr>
          <p:cNvPr id="6" name="Footer Placeholder 5">
            <a:extLst>
              <a:ext uri="{FF2B5EF4-FFF2-40B4-BE49-F238E27FC236}">
                <a16:creationId xmlns:a16="http://schemas.microsoft.com/office/drawing/2014/main" id="{F7DDC4A1-4863-4CB4-BCAD-0FB2B6D2B92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077F5B7-FD16-45AA-B9F4-224B062C9CC9}"/>
              </a:ext>
            </a:extLst>
          </p:cNvPr>
          <p:cNvSpPr>
            <a:spLocks noGrp="1"/>
          </p:cNvSpPr>
          <p:nvPr>
            <p:ph type="sldNum" sz="quarter" idx="12"/>
          </p:nvPr>
        </p:nvSpPr>
        <p:spPr/>
        <p:txBody>
          <a:bodyPr/>
          <a:lstStyle/>
          <a:p>
            <a:fld id="{1FEF67EF-7DF4-48C0-8575-09E1A34C3548}" type="slidenum">
              <a:rPr lang="en-IN" smtClean="0"/>
              <a:t>‹#›</a:t>
            </a:fld>
            <a:endParaRPr lang="en-IN"/>
          </a:p>
        </p:txBody>
      </p:sp>
    </p:spTree>
    <p:extLst>
      <p:ext uri="{BB962C8B-B14F-4D97-AF65-F5344CB8AC3E}">
        <p14:creationId xmlns:p14="http://schemas.microsoft.com/office/powerpoint/2010/main" val="11750903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BAD93-DD0A-4D21-8A39-2D1D872D75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B12DFDF-DC78-4F6E-A8EF-94DF8279DF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8840DD3-E100-4B53-9970-D23AE1C84D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9BDBC3-5ADB-4C0B-82DA-5AF90C5DF145}"/>
              </a:ext>
            </a:extLst>
          </p:cNvPr>
          <p:cNvSpPr>
            <a:spLocks noGrp="1"/>
          </p:cNvSpPr>
          <p:nvPr>
            <p:ph type="dt" sz="half" idx="10"/>
          </p:nvPr>
        </p:nvSpPr>
        <p:spPr/>
        <p:txBody>
          <a:bodyPr/>
          <a:lstStyle/>
          <a:p>
            <a:fld id="{9AD01194-2A7E-4F88-B6B3-0F0D961724D6}" type="datetimeFigureOut">
              <a:rPr lang="en-IN" smtClean="0"/>
              <a:t>22-01-2022</a:t>
            </a:fld>
            <a:endParaRPr lang="en-IN"/>
          </a:p>
        </p:txBody>
      </p:sp>
      <p:sp>
        <p:nvSpPr>
          <p:cNvPr id="6" name="Footer Placeholder 5">
            <a:extLst>
              <a:ext uri="{FF2B5EF4-FFF2-40B4-BE49-F238E27FC236}">
                <a16:creationId xmlns:a16="http://schemas.microsoft.com/office/drawing/2014/main" id="{DD3BEF5C-8419-4546-BFD5-DFEA48174E1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680EC4A-9555-4B54-9874-5A86BC255502}"/>
              </a:ext>
            </a:extLst>
          </p:cNvPr>
          <p:cNvSpPr>
            <a:spLocks noGrp="1"/>
          </p:cNvSpPr>
          <p:nvPr>
            <p:ph type="sldNum" sz="quarter" idx="12"/>
          </p:nvPr>
        </p:nvSpPr>
        <p:spPr/>
        <p:txBody>
          <a:bodyPr/>
          <a:lstStyle/>
          <a:p>
            <a:fld id="{1FEF67EF-7DF4-48C0-8575-09E1A34C3548}" type="slidenum">
              <a:rPr lang="en-IN" smtClean="0"/>
              <a:t>‹#›</a:t>
            </a:fld>
            <a:endParaRPr lang="en-IN"/>
          </a:p>
        </p:txBody>
      </p:sp>
    </p:spTree>
    <p:extLst>
      <p:ext uri="{BB962C8B-B14F-4D97-AF65-F5344CB8AC3E}">
        <p14:creationId xmlns:p14="http://schemas.microsoft.com/office/powerpoint/2010/main" val="42341545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068ED-C190-40F9-83E2-98B71BEF890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83D07F5-CA4D-4CA9-8E57-A575DB8FF88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2D50CF-051F-4E5A-9F72-A9DAF951D6A9}"/>
              </a:ext>
            </a:extLst>
          </p:cNvPr>
          <p:cNvSpPr>
            <a:spLocks noGrp="1"/>
          </p:cNvSpPr>
          <p:nvPr>
            <p:ph type="dt" sz="half" idx="10"/>
          </p:nvPr>
        </p:nvSpPr>
        <p:spPr/>
        <p:txBody>
          <a:bodyPr/>
          <a:lstStyle/>
          <a:p>
            <a:fld id="{9AD01194-2A7E-4F88-B6B3-0F0D961724D6}" type="datetimeFigureOut">
              <a:rPr lang="en-IN" smtClean="0"/>
              <a:t>22-01-2022</a:t>
            </a:fld>
            <a:endParaRPr lang="en-IN"/>
          </a:p>
        </p:txBody>
      </p:sp>
      <p:sp>
        <p:nvSpPr>
          <p:cNvPr id="5" name="Footer Placeholder 4">
            <a:extLst>
              <a:ext uri="{FF2B5EF4-FFF2-40B4-BE49-F238E27FC236}">
                <a16:creationId xmlns:a16="http://schemas.microsoft.com/office/drawing/2014/main" id="{606110FD-C535-4D09-B45F-2FA3440D57D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DBC3E3A-8F21-42C5-9B5C-F3ABBC76B2A4}"/>
              </a:ext>
            </a:extLst>
          </p:cNvPr>
          <p:cNvSpPr>
            <a:spLocks noGrp="1"/>
          </p:cNvSpPr>
          <p:nvPr>
            <p:ph type="sldNum" sz="quarter" idx="12"/>
          </p:nvPr>
        </p:nvSpPr>
        <p:spPr/>
        <p:txBody>
          <a:bodyPr/>
          <a:lstStyle/>
          <a:p>
            <a:fld id="{1FEF67EF-7DF4-48C0-8575-09E1A34C3548}" type="slidenum">
              <a:rPr lang="en-IN" smtClean="0"/>
              <a:t>‹#›</a:t>
            </a:fld>
            <a:endParaRPr lang="en-IN"/>
          </a:p>
        </p:txBody>
      </p:sp>
    </p:spTree>
    <p:extLst>
      <p:ext uri="{BB962C8B-B14F-4D97-AF65-F5344CB8AC3E}">
        <p14:creationId xmlns:p14="http://schemas.microsoft.com/office/powerpoint/2010/main" val="39437077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83F8348-24A5-4B76-84EF-2D7CB531EDB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0B48F0E-619D-442C-8C81-125461FBED8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90D089E-C990-4487-93BC-7394ABCB9EED}"/>
              </a:ext>
            </a:extLst>
          </p:cNvPr>
          <p:cNvSpPr>
            <a:spLocks noGrp="1"/>
          </p:cNvSpPr>
          <p:nvPr>
            <p:ph type="dt" sz="half" idx="10"/>
          </p:nvPr>
        </p:nvSpPr>
        <p:spPr/>
        <p:txBody>
          <a:bodyPr/>
          <a:lstStyle/>
          <a:p>
            <a:fld id="{9AD01194-2A7E-4F88-B6B3-0F0D961724D6}" type="datetimeFigureOut">
              <a:rPr lang="en-IN" smtClean="0"/>
              <a:t>22-01-2022</a:t>
            </a:fld>
            <a:endParaRPr lang="en-IN"/>
          </a:p>
        </p:txBody>
      </p:sp>
      <p:sp>
        <p:nvSpPr>
          <p:cNvPr id="5" name="Footer Placeholder 4">
            <a:extLst>
              <a:ext uri="{FF2B5EF4-FFF2-40B4-BE49-F238E27FC236}">
                <a16:creationId xmlns:a16="http://schemas.microsoft.com/office/drawing/2014/main" id="{D083CB3B-14ED-4F24-94C0-39C00F6571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3ED7B1-7BFE-4190-9787-61D73FC08657}"/>
              </a:ext>
            </a:extLst>
          </p:cNvPr>
          <p:cNvSpPr>
            <a:spLocks noGrp="1"/>
          </p:cNvSpPr>
          <p:nvPr>
            <p:ph type="sldNum" sz="quarter" idx="12"/>
          </p:nvPr>
        </p:nvSpPr>
        <p:spPr/>
        <p:txBody>
          <a:bodyPr/>
          <a:lstStyle/>
          <a:p>
            <a:fld id="{1FEF67EF-7DF4-48C0-8575-09E1A34C3548}" type="slidenum">
              <a:rPr lang="en-IN" smtClean="0"/>
              <a:t>‹#›</a:t>
            </a:fld>
            <a:endParaRPr lang="en-IN"/>
          </a:p>
        </p:txBody>
      </p:sp>
    </p:spTree>
    <p:extLst>
      <p:ext uri="{BB962C8B-B14F-4D97-AF65-F5344CB8AC3E}">
        <p14:creationId xmlns:p14="http://schemas.microsoft.com/office/powerpoint/2010/main" val="36862634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4" name="TextBox 3"/>
          <p:cNvSpPr txBox="1"/>
          <p:nvPr userDrawn="1"/>
        </p:nvSpPr>
        <p:spPr>
          <a:xfrm>
            <a:off x="11371554" y="6363129"/>
            <a:ext cx="608274" cy="369332"/>
          </a:xfrm>
          <a:prstGeom prst="rect">
            <a:avLst/>
          </a:prstGeom>
          <a:noFill/>
        </p:spPr>
        <p:txBody>
          <a:bodyPr wrap="square" rtlCol="0">
            <a:spAutoFit/>
          </a:bodyPr>
          <a:lstStyle/>
          <a:p>
            <a:fld id="{65B66DB6-D71E-4B3E-9AE0-4919FDE04E8D}" type="slidenum">
              <a:rPr lang="en-US" smtClean="0">
                <a:solidFill>
                  <a:schemeClr val="tx1"/>
                </a:solidFill>
              </a:rPr>
              <a:t>‹#›</a:t>
            </a:fld>
            <a:endParaRPr lang="en-US" dirty="0">
              <a:solidFill>
                <a:schemeClr val="tx1"/>
              </a:solidFill>
            </a:endParaRPr>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36297" y="195809"/>
            <a:ext cx="1297157" cy="843001"/>
          </a:xfrm>
          <a:prstGeom prst="rect">
            <a:avLst/>
          </a:prstGeom>
        </p:spPr>
      </p:pic>
    </p:spTree>
    <p:extLst>
      <p:ext uri="{BB962C8B-B14F-4D97-AF65-F5344CB8AC3E}">
        <p14:creationId xmlns:p14="http://schemas.microsoft.com/office/powerpoint/2010/main" val="22528499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E86168C-E2FD-47C3-9C22-7262195DB1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84E39EA-2B0F-4DE7-8CC9-7036790598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F34860-9FBA-4821-AB6C-C2003E65CF6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D01194-2A7E-4F88-B6B3-0F0D961724D6}" type="datetimeFigureOut">
              <a:rPr lang="en-IN" smtClean="0"/>
              <a:t>22-01-2022</a:t>
            </a:fld>
            <a:endParaRPr lang="en-IN"/>
          </a:p>
        </p:txBody>
      </p:sp>
      <p:sp>
        <p:nvSpPr>
          <p:cNvPr id="5" name="Footer Placeholder 4">
            <a:extLst>
              <a:ext uri="{FF2B5EF4-FFF2-40B4-BE49-F238E27FC236}">
                <a16:creationId xmlns:a16="http://schemas.microsoft.com/office/drawing/2014/main" id="{94122337-4FFD-4C55-AA91-B5BCDBA5D17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00660AF-8FFD-4E24-A53A-D030FEB9508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EF67EF-7DF4-48C0-8575-09E1A34C3548}" type="slidenum">
              <a:rPr lang="en-IN" smtClean="0"/>
              <a:t>‹#›</a:t>
            </a:fld>
            <a:endParaRPr lang="en-IN"/>
          </a:p>
        </p:txBody>
      </p:sp>
    </p:spTree>
    <p:extLst>
      <p:ext uri="{BB962C8B-B14F-4D97-AF65-F5344CB8AC3E}">
        <p14:creationId xmlns:p14="http://schemas.microsoft.com/office/powerpoint/2010/main" val="42116611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5461660-315C-458A-8089-FA6C55BA24A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3906" y="801323"/>
            <a:ext cx="9804188" cy="264653"/>
          </a:xfrm>
          <a:prstGeom prst="rect">
            <a:avLst/>
          </a:prstGeom>
        </p:spPr>
      </p:pic>
      <p:sp>
        <p:nvSpPr>
          <p:cNvPr id="3" name="Title 1">
            <a:extLst>
              <a:ext uri="{FF2B5EF4-FFF2-40B4-BE49-F238E27FC236}">
                <a16:creationId xmlns:a16="http://schemas.microsoft.com/office/drawing/2014/main" id="{9DC84E1C-CE4C-4005-8BB7-970D9C648CCF}"/>
              </a:ext>
            </a:extLst>
          </p:cNvPr>
          <p:cNvSpPr txBox="1">
            <a:spLocks/>
          </p:cNvSpPr>
          <p:nvPr/>
        </p:nvSpPr>
        <p:spPr>
          <a:xfrm>
            <a:off x="4277475" y="3106604"/>
            <a:ext cx="2750049" cy="6447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solidFill>
                  <a:srgbClr val="0000FF"/>
                </a:solidFill>
              </a:rPr>
              <a:t>BOP-Day 4</a:t>
            </a:r>
            <a:endParaRPr lang="en-IN" dirty="0">
              <a:solidFill>
                <a:srgbClr val="0000FF"/>
              </a:solidFill>
            </a:endParaRPr>
          </a:p>
        </p:txBody>
      </p:sp>
    </p:spTree>
    <p:extLst>
      <p:ext uri="{BB962C8B-B14F-4D97-AF65-F5344CB8AC3E}">
        <p14:creationId xmlns:p14="http://schemas.microsoft.com/office/powerpoint/2010/main" val="29604751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5A8F9BF-9C74-451E-B772-867A7C314CA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79599" y="487730"/>
            <a:ext cx="9804188" cy="264653"/>
          </a:xfrm>
          <a:prstGeom prst="rect">
            <a:avLst/>
          </a:prstGeom>
        </p:spPr>
      </p:pic>
      <p:graphicFrame>
        <p:nvGraphicFramePr>
          <p:cNvPr id="5" name="Table 4">
            <a:extLst>
              <a:ext uri="{FF2B5EF4-FFF2-40B4-BE49-F238E27FC236}">
                <a16:creationId xmlns:a16="http://schemas.microsoft.com/office/drawing/2014/main" id="{BFF0BADD-B2EC-4FEF-A06A-9490F36F813C}"/>
              </a:ext>
            </a:extLst>
          </p:cNvPr>
          <p:cNvGraphicFramePr>
            <a:graphicFrameLocks noGrp="1"/>
          </p:cNvGraphicFramePr>
          <p:nvPr/>
        </p:nvGraphicFramePr>
        <p:xfrm>
          <a:off x="1771651" y="752383"/>
          <a:ext cx="8306943" cy="6066703"/>
        </p:xfrm>
        <a:graphic>
          <a:graphicData uri="http://schemas.openxmlformats.org/drawingml/2006/table">
            <a:tbl>
              <a:tblPr/>
              <a:tblGrid>
                <a:gridCol w="570988">
                  <a:extLst>
                    <a:ext uri="{9D8B030D-6E8A-4147-A177-3AD203B41FA5}">
                      <a16:colId xmlns:a16="http://schemas.microsoft.com/office/drawing/2014/main" val="200615716"/>
                    </a:ext>
                  </a:extLst>
                </a:gridCol>
                <a:gridCol w="3133128">
                  <a:extLst>
                    <a:ext uri="{9D8B030D-6E8A-4147-A177-3AD203B41FA5}">
                      <a16:colId xmlns:a16="http://schemas.microsoft.com/office/drawing/2014/main" val="4252074913"/>
                    </a:ext>
                  </a:extLst>
                </a:gridCol>
                <a:gridCol w="4602827">
                  <a:extLst>
                    <a:ext uri="{9D8B030D-6E8A-4147-A177-3AD203B41FA5}">
                      <a16:colId xmlns:a16="http://schemas.microsoft.com/office/drawing/2014/main" val="2620752890"/>
                    </a:ext>
                  </a:extLst>
                </a:gridCol>
              </a:tblGrid>
              <a:tr h="174010">
                <a:tc>
                  <a:txBody>
                    <a:bodyPr/>
                    <a:lstStyle/>
                    <a:p>
                      <a:pPr algn="ctr" fontAlgn="b"/>
                      <a:r>
                        <a:rPr lang="en-IN" sz="1100" b="1" i="0" u="none" strike="noStrike" dirty="0">
                          <a:solidFill>
                            <a:srgbClr val="0000FF"/>
                          </a:solidFill>
                          <a:effectLst/>
                          <a:latin typeface="Calibri" panose="020F0502020204030204" pitchFamily="34" charset="0"/>
                        </a:rPr>
                        <a:t>Day </a:t>
                      </a:r>
                    </a:p>
                  </a:txBody>
                  <a:tcPr marL="3908" marR="3908" marT="3908"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DEBF7"/>
                    </a:solidFill>
                  </a:tcPr>
                </a:tc>
                <a:tc>
                  <a:txBody>
                    <a:bodyPr/>
                    <a:lstStyle/>
                    <a:p>
                      <a:pPr algn="ctr" fontAlgn="b"/>
                      <a:r>
                        <a:rPr lang="en-IN" sz="1100" b="1" i="0" u="none" strike="noStrike">
                          <a:solidFill>
                            <a:srgbClr val="0000FF"/>
                          </a:solidFill>
                          <a:effectLst/>
                          <a:latin typeface="Calibri" panose="020F0502020204030204" pitchFamily="34" charset="0"/>
                        </a:rPr>
                        <a:t>Topics</a:t>
                      </a:r>
                    </a:p>
                  </a:txBody>
                  <a:tcPr marL="3908" marR="3908" marT="3908"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DEBF7"/>
                    </a:solidFill>
                  </a:tcPr>
                </a:tc>
                <a:tc>
                  <a:txBody>
                    <a:bodyPr/>
                    <a:lstStyle/>
                    <a:p>
                      <a:pPr algn="ctr" fontAlgn="b"/>
                      <a:r>
                        <a:rPr lang="en-IN" sz="1100" b="1" i="0" u="none" strike="noStrike">
                          <a:solidFill>
                            <a:srgbClr val="0000FF"/>
                          </a:solidFill>
                          <a:effectLst/>
                          <a:latin typeface="Calibri" panose="020F0502020204030204" pitchFamily="34" charset="0"/>
                        </a:rPr>
                        <a:t>Subtopics</a:t>
                      </a:r>
                    </a:p>
                  </a:txBody>
                  <a:tcPr marL="3908" marR="3908" marT="3908"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DEBF7"/>
                    </a:solidFill>
                  </a:tcPr>
                </a:tc>
                <a:extLst>
                  <a:ext uri="{0D108BD9-81ED-4DB2-BD59-A6C34878D82A}">
                    <a16:rowId xmlns:a16="http://schemas.microsoft.com/office/drawing/2014/main" val="2175265924"/>
                  </a:ext>
                </a:extLst>
              </a:tr>
              <a:tr h="152714">
                <a:tc>
                  <a:txBody>
                    <a:bodyPr/>
                    <a:lstStyle/>
                    <a:p>
                      <a:pPr algn="r" fontAlgn="b"/>
                      <a:r>
                        <a:rPr lang="en-IN" sz="1000" b="0" i="0" u="none" strike="noStrike">
                          <a:solidFill>
                            <a:srgbClr val="000000"/>
                          </a:solidFill>
                          <a:effectLst/>
                          <a:latin typeface="Calibri" panose="020F0502020204030204" pitchFamily="34" charset="0"/>
                        </a:rPr>
                        <a:t>1</a:t>
                      </a:r>
                    </a:p>
                  </a:txBody>
                  <a:tcPr marL="3908" marR="3908" marT="3908"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rowSpan="4">
                  <a:txBody>
                    <a:bodyPr/>
                    <a:lstStyle/>
                    <a:p>
                      <a:pPr algn="ctr" fontAlgn="ctr"/>
                      <a:r>
                        <a:rPr lang="en-IN" sz="1000" b="0" i="0" u="none" strike="noStrike" dirty="0">
                          <a:solidFill>
                            <a:srgbClr val="0000FF"/>
                          </a:solidFill>
                          <a:effectLst/>
                          <a:latin typeface="Calibri" panose="020F0502020204030204" pitchFamily="34" charset="0"/>
                        </a:rPr>
                        <a:t>Concept</a:t>
                      </a:r>
                    </a:p>
                  </a:txBody>
                  <a:tcPr marL="3908" marR="3908" marT="3908"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IN" sz="1000" b="0" i="0" u="none" strike="noStrike">
                          <a:solidFill>
                            <a:srgbClr val="000000"/>
                          </a:solidFill>
                          <a:effectLst/>
                          <a:latin typeface="Calibri" panose="020F0502020204030204" pitchFamily="34" charset="0"/>
                        </a:rPr>
                        <a:t>Meaning</a:t>
                      </a:r>
                    </a:p>
                  </a:txBody>
                  <a:tcPr marL="3908" marR="3908" marT="3908"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064979618"/>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Advantages</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86236655"/>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US" sz="1000" b="0" i="0" u="none" strike="noStrike" dirty="0">
                          <a:solidFill>
                            <a:srgbClr val="000000"/>
                          </a:solidFill>
                          <a:effectLst/>
                          <a:latin typeface="Calibri" panose="020F0502020204030204" pitchFamily="34" charset="0"/>
                        </a:rPr>
                        <a:t>Eligibility Rules and its need</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892118989"/>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dirty="0">
                          <a:solidFill>
                            <a:srgbClr val="000000"/>
                          </a:solidFill>
                          <a:effectLst/>
                          <a:latin typeface="Calibri" panose="020F0502020204030204" pitchFamily="34" charset="0"/>
                        </a:rPr>
                        <a:t>BOP Vs CPP</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454544059"/>
                  </a:ext>
                </a:extLst>
              </a:tr>
              <a:tr h="152714">
                <a:tc>
                  <a:txBody>
                    <a:bodyPr/>
                    <a:lstStyle/>
                    <a:p>
                      <a:pPr algn="l" fontAlgn="b"/>
                      <a:endParaRPr lang="en-IN" sz="1000" b="0" i="0" u="none" strike="noStrike" dirty="0">
                        <a:solidFill>
                          <a:srgbClr val="000000"/>
                        </a:solidFill>
                        <a:effectLst/>
                        <a:latin typeface="Calibri" panose="020F0502020204030204" pitchFamily="34" charset="0"/>
                      </a:endParaRP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solidFill>
                      <a:srgbClr val="DDEBF7"/>
                    </a:solidFill>
                  </a:tcPr>
                </a:tc>
                <a:tc>
                  <a:txBody>
                    <a:bodyPr/>
                    <a:lstStyle/>
                    <a:p>
                      <a:pPr algn="ctr" fontAlgn="ctr"/>
                      <a:r>
                        <a:rPr lang="en-IN" sz="1000" b="0" i="0" u="none" strike="noStrike" dirty="0">
                          <a:solidFill>
                            <a:srgbClr val="0000FF"/>
                          </a:solidFill>
                          <a:effectLst/>
                          <a:latin typeface="Calibri" panose="020F0502020204030204" pitchFamily="34" charset="0"/>
                        </a:rPr>
                        <a:t> </a:t>
                      </a:r>
                    </a:p>
                  </a:txBody>
                  <a:tcPr marL="3908" marR="3908" marT="3908" marB="0" anchor="ctr">
                    <a:lnL>
                      <a:noFill/>
                    </a:lnL>
                    <a:lnR>
                      <a:noFill/>
                    </a:lnR>
                    <a:lnT>
                      <a:noFill/>
                    </a:lnT>
                    <a:lnB>
                      <a:noFill/>
                    </a:lnB>
                    <a:solidFill>
                      <a:srgbClr val="DDEBF7"/>
                    </a:solidFill>
                  </a:tcPr>
                </a:tc>
                <a:tc>
                  <a:txBody>
                    <a:bodyPr/>
                    <a:lstStyle/>
                    <a:p>
                      <a:pPr algn="l" fontAlgn="b"/>
                      <a:r>
                        <a:rPr lang="en-IN" sz="1000" b="0" i="0" u="none" strike="noStrike" dirty="0">
                          <a:solidFill>
                            <a:srgbClr val="000000"/>
                          </a:solidFill>
                          <a:effectLst/>
                          <a:latin typeface="Calibri" panose="020F0502020204030204" pitchFamily="34" charset="0"/>
                        </a:rPr>
                        <a:t> </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rgbClr val="DDEBF7"/>
                    </a:solidFill>
                  </a:tcPr>
                </a:tc>
                <a:extLst>
                  <a:ext uri="{0D108BD9-81ED-4DB2-BD59-A6C34878D82A}">
                    <a16:rowId xmlns:a16="http://schemas.microsoft.com/office/drawing/2014/main" val="1388006872"/>
                  </a:ext>
                </a:extLst>
              </a:tr>
              <a:tr h="152714">
                <a:tc>
                  <a:txBody>
                    <a:bodyPr/>
                    <a:lstStyle/>
                    <a:p>
                      <a:pPr algn="r" fontAlgn="b"/>
                      <a:r>
                        <a:rPr lang="en-IN" sz="1000" b="0" i="0" u="none" strike="noStrike" dirty="0">
                          <a:solidFill>
                            <a:srgbClr val="000000"/>
                          </a:solidFill>
                          <a:effectLst/>
                          <a:latin typeface="Calibri" panose="020F0502020204030204" pitchFamily="34" charset="0"/>
                        </a:rPr>
                        <a:t>2</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solidFill>
                      <a:schemeClr val="bg1"/>
                    </a:solidFill>
                  </a:tcPr>
                </a:tc>
                <a:tc rowSpan="4">
                  <a:txBody>
                    <a:bodyPr/>
                    <a:lstStyle/>
                    <a:p>
                      <a:pPr algn="ctr" fontAlgn="ctr"/>
                      <a:r>
                        <a:rPr lang="en-IN" sz="1000" b="0" i="0" u="none" strike="noStrike" dirty="0">
                          <a:solidFill>
                            <a:srgbClr val="0000FF"/>
                          </a:solidFill>
                          <a:effectLst/>
                          <a:latin typeface="Calibri" panose="020F0502020204030204" pitchFamily="34" charset="0"/>
                        </a:rPr>
                        <a:t>Coverages </a:t>
                      </a:r>
                      <a:br>
                        <a:rPr lang="en-IN" sz="1000" b="0" i="0" u="none" strike="noStrike" dirty="0">
                          <a:solidFill>
                            <a:srgbClr val="0000FF"/>
                          </a:solidFill>
                          <a:effectLst/>
                          <a:latin typeface="Calibri" panose="020F0502020204030204" pitchFamily="34" charset="0"/>
                        </a:rPr>
                      </a:br>
                      <a:endParaRPr lang="en-IN" sz="1000" b="0" i="0" u="none" strike="noStrike" dirty="0">
                        <a:solidFill>
                          <a:srgbClr val="0000FF"/>
                        </a:solidFill>
                        <a:effectLst/>
                        <a:latin typeface="Calibri" panose="020F0502020204030204" pitchFamily="34" charset="0"/>
                      </a:endParaRPr>
                    </a:p>
                  </a:txBody>
                  <a:tcPr marL="3908" marR="3908" marT="3908" marB="0" anchor="ctr">
                    <a:lnL>
                      <a:noFill/>
                    </a:lnL>
                    <a:lnR>
                      <a:noFill/>
                    </a:lnR>
                    <a:lnT>
                      <a:noFill/>
                    </a:lnT>
                    <a:lnB>
                      <a:noFill/>
                    </a:lnB>
                    <a:solidFill>
                      <a:schemeClr val="bg1"/>
                    </a:solidFill>
                  </a:tcPr>
                </a:tc>
                <a:tc>
                  <a:txBody>
                    <a:bodyPr/>
                    <a:lstStyle/>
                    <a:p>
                      <a:pPr algn="l" fontAlgn="b"/>
                      <a:r>
                        <a:rPr lang="en-IN" sz="1000" b="0" i="0" u="none" strike="noStrike" dirty="0">
                          <a:solidFill>
                            <a:srgbClr val="000000"/>
                          </a:solidFill>
                          <a:effectLst/>
                          <a:latin typeface="Calibri" panose="020F0502020204030204" pitchFamily="34" charset="0"/>
                        </a:rPr>
                        <a:t>Commercial Property Insurance (BOP Vs CPP)</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1957203298"/>
                  </a:ext>
                </a:extLst>
              </a:tr>
              <a:tr h="152714">
                <a:tc>
                  <a:txBody>
                    <a:bodyPr/>
                    <a:lstStyle/>
                    <a:p>
                      <a:pPr algn="l" fontAlgn="b"/>
                      <a:r>
                        <a:rPr lang="en-IN" sz="1000" b="0" i="0" u="none" strike="noStrike" dirty="0">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solidFill>
                      <a:schemeClr val="bg1"/>
                    </a:solidFill>
                  </a:tcPr>
                </a:tc>
                <a:tc vMerge="1">
                  <a:txBody>
                    <a:bodyPr/>
                    <a:lstStyle/>
                    <a:p>
                      <a:endParaRPr lang="en-IN"/>
                    </a:p>
                  </a:txBody>
                  <a:tcPr/>
                </a:tc>
                <a:tc rowSpan="2">
                  <a:txBody>
                    <a:bodyPr/>
                    <a:lstStyle/>
                    <a:p>
                      <a:pPr algn="l" fontAlgn="b"/>
                      <a:r>
                        <a:rPr lang="en-IN" sz="1000" b="0" i="0" u="none" strike="noStrike" dirty="0">
                          <a:solidFill>
                            <a:srgbClr val="000000"/>
                          </a:solidFill>
                          <a:effectLst/>
                          <a:latin typeface="Calibri" panose="020F0502020204030204" pitchFamily="34" charset="0"/>
                        </a:rPr>
                        <a:t>General Liability Insurance</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2758554496"/>
                  </a:ext>
                </a:extLst>
              </a:tr>
              <a:tr h="0">
                <a:tc rowSpan="2">
                  <a:txBody>
                    <a:bodyPr/>
                    <a:lstStyle/>
                    <a:p>
                      <a:pPr algn="l" fontAlgn="b"/>
                      <a:r>
                        <a:rPr lang="en-IN" sz="1000" b="0" i="0" u="none" strike="noStrike" dirty="0">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solidFill>
                      <a:schemeClr val="bg1"/>
                    </a:solidFill>
                  </a:tcPr>
                </a:tc>
                <a:tc vMerge="1">
                  <a:txBody>
                    <a:bodyPr/>
                    <a:lstStyle/>
                    <a:p>
                      <a:endParaRPr lang="en-IN"/>
                    </a:p>
                  </a:txBody>
                  <a:tcPr/>
                </a:tc>
                <a:tc vMerge="1">
                  <a:txBody>
                    <a:bodyPr/>
                    <a:lstStyle/>
                    <a:p>
                      <a:pPr algn="l" fontAlgn="b"/>
                      <a:r>
                        <a:rPr lang="en-IN" sz="1000" b="0" i="0" u="none" strike="noStrike" dirty="0">
                          <a:solidFill>
                            <a:srgbClr val="000000"/>
                          </a:solidFill>
                          <a:effectLst/>
                          <a:latin typeface="Calibri" panose="020F0502020204030204" pitchFamily="34" charset="0"/>
                        </a:rPr>
                        <a:t>Business Interruption Insurance</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606722333"/>
                  </a:ext>
                </a:extLst>
              </a:tr>
              <a:tr h="210897">
                <a:tc vMerge="1">
                  <a:txBody>
                    <a:bodyPr/>
                    <a:lstStyle/>
                    <a:p>
                      <a:pPr algn="l" fontAlgn="b"/>
                      <a:endParaRPr lang="en-IN" sz="1000" b="0" i="0" u="none" strike="noStrike">
                        <a:solidFill>
                          <a:srgbClr val="000000"/>
                        </a:solidFill>
                        <a:effectLst/>
                        <a:latin typeface="Calibri" panose="020F0502020204030204" pitchFamily="34" charset="0"/>
                      </a:endParaRP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pPr algn="ctr" fontAlgn="ctr"/>
                      <a:endParaRPr lang="en-IN" sz="1000" b="0" i="0" u="none" strike="noStrike" dirty="0">
                        <a:solidFill>
                          <a:srgbClr val="0000FF"/>
                        </a:solidFill>
                        <a:effectLst/>
                        <a:latin typeface="Calibri" panose="020F0502020204030204" pitchFamily="34" charset="0"/>
                      </a:endParaRPr>
                    </a:p>
                  </a:txBody>
                  <a:tcPr marL="3908" marR="3908" marT="3908" marB="0" anchor="ctr">
                    <a:lnL>
                      <a:noFill/>
                    </a:lnL>
                    <a:lnR>
                      <a:noFill/>
                    </a:lnR>
                    <a:lnT>
                      <a:noFill/>
                    </a:lnT>
                    <a:lnB>
                      <a:noFill/>
                    </a:lnB>
                  </a:tcPr>
                </a:tc>
                <a:tc>
                  <a:txBody>
                    <a:bodyPr/>
                    <a:lstStyle/>
                    <a:p>
                      <a:pPr algn="l" fontAlgn="b"/>
                      <a:r>
                        <a:rPr lang="en-IN" sz="1000" b="0" i="0" u="none" strike="noStrike" dirty="0">
                          <a:solidFill>
                            <a:srgbClr val="000000"/>
                          </a:solidFill>
                          <a:effectLst/>
                          <a:latin typeface="Calibri" panose="020F0502020204030204" pitchFamily="34" charset="0"/>
                        </a:rPr>
                        <a:t>Business Interruption Insurance</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2910579089"/>
                  </a:ext>
                </a:extLst>
              </a:tr>
              <a:tr h="149071">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solidFill>
                      <a:srgbClr val="DDEBF7"/>
                    </a:solidFill>
                  </a:tcPr>
                </a:tc>
                <a:tc>
                  <a:txBody>
                    <a:bodyPr/>
                    <a:lstStyle/>
                    <a:p>
                      <a:pPr algn="ctr" fontAlgn="ctr"/>
                      <a:r>
                        <a:rPr lang="en-IN" sz="1000" b="0" i="0" u="none" strike="noStrike" dirty="0">
                          <a:solidFill>
                            <a:srgbClr val="0000FF"/>
                          </a:solidFill>
                          <a:effectLst/>
                          <a:latin typeface="Calibri" panose="020F0502020204030204" pitchFamily="34" charset="0"/>
                        </a:rPr>
                        <a:t> </a:t>
                      </a:r>
                    </a:p>
                  </a:txBody>
                  <a:tcPr marL="3908" marR="3908" marT="3908" marB="0" anchor="ctr">
                    <a:lnL>
                      <a:noFill/>
                    </a:lnL>
                    <a:lnR>
                      <a:noFill/>
                    </a:lnR>
                    <a:lnT>
                      <a:noFill/>
                    </a:lnT>
                    <a:lnB>
                      <a:noFill/>
                    </a:lnB>
                    <a:solidFill>
                      <a:srgbClr val="DDEBF7"/>
                    </a:solidFill>
                  </a:tcPr>
                </a:tc>
                <a:tc>
                  <a:txBody>
                    <a:bodyPr/>
                    <a:lstStyle/>
                    <a:p>
                      <a:pPr algn="l" fontAlgn="b"/>
                      <a:r>
                        <a:rPr lang="en-IN" sz="1000" b="0" i="0" u="none" strike="noStrike" dirty="0">
                          <a:solidFill>
                            <a:srgbClr val="000000"/>
                          </a:solidFill>
                          <a:effectLst/>
                          <a:latin typeface="Calibri" panose="020F0502020204030204" pitchFamily="34" charset="0"/>
                        </a:rPr>
                        <a:t> </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rgbClr val="DDEBF7"/>
                    </a:solidFill>
                  </a:tcPr>
                </a:tc>
                <a:extLst>
                  <a:ext uri="{0D108BD9-81ED-4DB2-BD59-A6C34878D82A}">
                    <a16:rowId xmlns:a16="http://schemas.microsoft.com/office/drawing/2014/main" val="3549782267"/>
                  </a:ext>
                </a:extLst>
              </a:tr>
              <a:tr h="152714">
                <a:tc>
                  <a:txBody>
                    <a:bodyPr/>
                    <a:lstStyle/>
                    <a:p>
                      <a:pPr algn="r" fontAlgn="b"/>
                      <a:r>
                        <a:rPr lang="en-IN" sz="1000" b="0" i="0" u="none" strike="noStrike">
                          <a:solidFill>
                            <a:srgbClr val="000000"/>
                          </a:solidFill>
                          <a:effectLst/>
                          <a:latin typeface="Calibri" panose="020F0502020204030204" pitchFamily="34" charset="0"/>
                        </a:rPr>
                        <a:t>3</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rowSpan="7">
                  <a:txBody>
                    <a:bodyPr/>
                    <a:lstStyle/>
                    <a:p>
                      <a:pPr algn="ctr" fontAlgn="ctr"/>
                      <a:r>
                        <a:rPr lang="en-IN" sz="1000" b="0" i="0" u="none" strike="noStrike" dirty="0">
                          <a:solidFill>
                            <a:srgbClr val="0000FF"/>
                          </a:solidFill>
                          <a:effectLst/>
                          <a:latin typeface="Calibri" panose="020F0502020204030204" pitchFamily="34" charset="0"/>
                        </a:rPr>
                        <a:t>Exclusions</a:t>
                      </a:r>
                      <a:br>
                        <a:rPr lang="en-IN" sz="1000" b="0" i="0" u="none" strike="noStrike" dirty="0">
                          <a:solidFill>
                            <a:srgbClr val="0000FF"/>
                          </a:solidFill>
                          <a:effectLst/>
                          <a:latin typeface="Calibri" panose="020F0502020204030204" pitchFamily="34" charset="0"/>
                        </a:rPr>
                      </a:br>
                      <a:r>
                        <a:rPr lang="en-IN" sz="1000" b="0" i="0" u="none" strike="noStrike" dirty="0">
                          <a:solidFill>
                            <a:srgbClr val="0000FF"/>
                          </a:solidFill>
                          <a:effectLst/>
                          <a:latin typeface="Calibri" panose="020F0502020204030204" pitchFamily="34" charset="0"/>
                        </a:rPr>
                        <a:t>Endorsements </a:t>
                      </a:r>
                      <a:br>
                        <a:rPr lang="en-IN" sz="1000" b="0" i="0" u="none" strike="noStrike" dirty="0">
                          <a:solidFill>
                            <a:srgbClr val="0000FF"/>
                          </a:solidFill>
                          <a:effectLst/>
                          <a:latin typeface="Calibri" panose="020F0502020204030204" pitchFamily="34" charset="0"/>
                        </a:rPr>
                      </a:br>
                      <a:r>
                        <a:rPr lang="en-IN" sz="1000" b="0" i="0" u="none" strike="noStrike" dirty="0">
                          <a:solidFill>
                            <a:srgbClr val="0000FF"/>
                          </a:solidFill>
                          <a:effectLst/>
                          <a:latin typeface="Calibri" panose="020F0502020204030204" pitchFamily="34" charset="0"/>
                        </a:rPr>
                        <a:t>Additional Coverages</a:t>
                      </a:r>
                    </a:p>
                  </a:txBody>
                  <a:tcPr marL="3908" marR="3908" marT="3908" marB="0" anchor="ctr">
                    <a:lnL>
                      <a:noFill/>
                    </a:lnL>
                    <a:lnR>
                      <a:noFill/>
                    </a:lnR>
                    <a:lnT>
                      <a:noFill/>
                    </a:lnT>
                    <a:lnB>
                      <a:noFill/>
                    </a:lnB>
                    <a:solidFill>
                      <a:schemeClr val="bg1"/>
                    </a:solidFill>
                  </a:tcPr>
                </a:tc>
                <a:tc>
                  <a:txBody>
                    <a:bodyPr/>
                    <a:lstStyle/>
                    <a:p>
                      <a:pPr algn="l" fontAlgn="b"/>
                      <a:r>
                        <a:rPr lang="en-IN" sz="1000" b="0" i="0" u="none" strike="noStrike" dirty="0">
                          <a:solidFill>
                            <a:srgbClr val="000000"/>
                          </a:solidFill>
                          <a:effectLst/>
                          <a:latin typeface="Calibri" panose="020F0502020204030204" pitchFamily="34" charset="0"/>
                        </a:rPr>
                        <a:t>What’s Not Covered?</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2519513336"/>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dirty="0">
                          <a:solidFill>
                            <a:srgbClr val="000000"/>
                          </a:solidFill>
                          <a:effectLst/>
                          <a:latin typeface="Calibri" panose="020F0502020204030204" pitchFamily="34" charset="0"/>
                        </a:rPr>
                        <a:t>Extra Expenses</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2056938457"/>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dirty="0">
                          <a:solidFill>
                            <a:srgbClr val="000000"/>
                          </a:solidFill>
                          <a:effectLst/>
                          <a:latin typeface="Calibri" panose="020F0502020204030204" pitchFamily="34" charset="0"/>
                        </a:rPr>
                        <a:t>Inland Marine</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1273531203"/>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dirty="0">
                          <a:solidFill>
                            <a:srgbClr val="000000"/>
                          </a:solidFill>
                          <a:effectLst/>
                          <a:latin typeface="Calibri" panose="020F0502020204030204" pitchFamily="34" charset="0"/>
                        </a:rPr>
                        <a:t>Equipment Breakdown</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931718525"/>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dirty="0">
                          <a:solidFill>
                            <a:srgbClr val="000000"/>
                          </a:solidFill>
                          <a:effectLst/>
                          <a:latin typeface="Calibri" panose="020F0502020204030204" pitchFamily="34" charset="0"/>
                        </a:rPr>
                        <a:t>Spoilage</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1036046456"/>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dirty="0">
                          <a:solidFill>
                            <a:srgbClr val="000000"/>
                          </a:solidFill>
                          <a:effectLst/>
                          <a:latin typeface="Calibri" panose="020F0502020204030204" pitchFamily="34" charset="0"/>
                        </a:rPr>
                        <a:t>Employee Theft </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1557642174"/>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dirty="0">
                          <a:solidFill>
                            <a:srgbClr val="000000"/>
                          </a:solidFill>
                          <a:effectLst/>
                          <a:latin typeface="Calibri" panose="020F0502020204030204" pitchFamily="34" charset="0"/>
                        </a:rPr>
                        <a:t>Etc.</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1509098778"/>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solidFill>
                      <a:srgbClr val="DDEBF7"/>
                    </a:solidFill>
                  </a:tcPr>
                </a:tc>
                <a:tc>
                  <a:txBody>
                    <a:bodyPr/>
                    <a:lstStyle/>
                    <a:p>
                      <a:pPr algn="ctr" fontAlgn="ctr"/>
                      <a:r>
                        <a:rPr lang="en-IN" sz="1000" b="0" i="0" u="none" strike="noStrike">
                          <a:solidFill>
                            <a:srgbClr val="0000FF"/>
                          </a:solidFill>
                          <a:effectLst/>
                          <a:latin typeface="Calibri" panose="020F0502020204030204" pitchFamily="34" charset="0"/>
                        </a:rPr>
                        <a:t> </a:t>
                      </a:r>
                    </a:p>
                  </a:txBody>
                  <a:tcPr marL="3908" marR="3908" marT="3908" marB="0" anchor="ctr">
                    <a:lnL>
                      <a:noFill/>
                    </a:lnL>
                    <a:lnR>
                      <a:noFill/>
                    </a:lnR>
                    <a:lnT>
                      <a:noFill/>
                    </a:lnT>
                    <a:lnB>
                      <a:noFill/>
                    </a:lnB>
                    <a:solidFill>
                      <a:srgbClr val="DDEBF7"/>
                    </a:solidFill>
                  </a:tcPr>
                </a:tc>
                <a:tc>
                  <a:txBody>
                    <a:bodyPr/>
                    <a:lstStyle/>
                    <a:p>
                      <a:pPr algn="l" fontAlgn="b"/>
                      <a:r>
                        <a:rPr lang="en-IN" sz="1000" b="0" i="0" u="none" strike="noStrike" dirty="0">
                          <a:solidFill>
                            <a:srgbClr val="000000"/>
                          </a:solidFill>
                          <a:effectLst/>
                          <a:latin typeface="Calibri" panose="020F0502020204030204" pitchFamily="34" charset="0"/>
                        </a:rPr>
                        <a:t> </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rgbClr val="DDEBF7"/>
                    </a:solidFill>
                  </a:tcPr>
                </a:tc>
                <a:extLst>
                  <a:ext uri="{0D108BD9-81ED-4DB2-BD59-A6C34878D82A}">
                    <a16:rowId xmlns:a16="http://schemas.microsoft.com/office/drawing/2014/main" val="3072430414"/>
                  </a:ext>
                </a:extLst>
              </a:tr>
              <a:tr h="152714">
                <a:tc>
                  <a:txBody>
                    <a:bodyPr/>
                    <a:lstStyle/>
                    <a:p>
                      <a:pPr algn="r" fontAlgn="b"/>
                      <a:r>
                        <a:rPr lang="en-IN" sz="1000" b="0" i="0" u="none" strike="noStrike">
                          <a:solidFill>
                            <a:srgbClr val="000000"/>
                          </a:solidFill>
                          <a:effectLst/>
                          <a:latin typeface="Calibri" panose="020F0502020204030204" pitchFamily="34" charset="0"/>
                        </a:rPr>
                        <a:t>4</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rowSpan="4">
                  <a:txBody>
                    <a:bodyPr/>
                    <a:lstStyle/>
                    <a:p>
                      <a:pPr algn="ctr" fontAlgn="ctr"/>
                      <a:r>
                        <a:rPr lang="en-IN" sz="1000" b="0" i="0" u="none" strike="noStrike" dirty="0">
                          <a:solidFill>
                            <a:srgbClr val="0000FF"/>
                          </a:solidFill>
                          <a:effectLst/>
                          <a:latin typeface="Calibri" panose="020F0502020204030204" pitchFamily="34" charset="0"/>
                        </a:rPr>
                        <a:t>BOP Rating &amp; Premium Guidelines</a:t>
                      </a:r>
                    </a:p>
                  </a:txBody>
                  <a:tcPr marL="3908" marR="3908" marT="3908" marB="0" anchor="ctr">
                    <a:lnL>
                      <a:noFill/>
                    </a:lnL>
                    <a:lnR>
                      <a:noFill/>
                    </a:lnR>
                    <a:lnT>
                      <a:noFill/>
                    </a:lnT>
                    <a:lnB>
                      <a:noFill/>
                    </a:lnB>
                    <a:solidFill>
                      <a:schemeClr val="accent6">
                        <a:lumMod val="40000"/>
                        <a:lumOff val="60000"/>
                      </a:schemeClr>
                    </a:solidFill>
                  </a:tcPr>
                </a:tc>
                <a:tc>
                  <a:txBody>
                    <a:bodyPr/>
                    <a:lstStyle/>
                    <a:p>
                      <a:pPr algn="l" fontAlgn="b"/>
                      <a:r>
                        <a:rPr lang="en-IN" sz="1000" b="0" i="0" u="none" strike="noStrike">
                          <a:solidFill>
                            <a:srgbClr val="000000"/>
                          </a:solidFill>
                          <a:effectLst/>
                          <a:latin typeface="Calibri" panose="020F0502020204030204" pitchFamily="34" charset="0"/>
                        </a:rPr>
                        <a:t>Rating factors </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chemeClr val="accent6">
                        <a:lumMod val="40000"/>
                        <a:lumOff val="60000"/>
                      </a:schemeClr>
                    </a:solidFill>
                  </a:tcPr>
                </a:tc>
                <a:extLst>
                  <a:ext uri="{0D108BD9-81ED-4DB2-BD59-A6C34878D82A}">
                    <a16:rowId xmlns:a16="http://schemas.microsoft.com/office/drawing/2014/main" val="3702145215"/>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dirty="0">
                          <a:solidFill>
                            <a:srgbClr val="000000"/>
                          </a:solidFill>
                          <a:effectLst/>
                          <a:latin typeface="Calibri" panose="020F0502020204030204" pitchFamily="34" charset="0"/>
                        </a:rPr>
                        <a:t>Premium Guidelines</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chemeClr val="accent6">
                        <a:lumMod val="40000"/>
                        <a:lumOff val="60000"/>
                      </a:schemeClr>
                    </a:solidFill>
                  </a:tcPr>
                </a:tc>
                <a:extLst>
                  <a:ext uri="{0D108BD9-81ED-4DB2-BD59-A6C34878D82A}">
                    <a16:rowId xmlns:a16="http://schemas.microsoft.com/office/drawing/2014/main" val="2819328889"/>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US" sz="1000" b="0" i="0" u="none" strike="noStrike" dirty="0">
                          <a:solidFill>
                            <a:srgbClr val="000000"/>
                          </a:solidFill>
                          <a:effectLst/>
                          <a:latin typeface="Calibri" panose="020F0502020204030204" pitchFamily="34" charset="0"/>
                        </a:rPr>
                        <a:t>What Does a BOP Cost</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chemeClr val="accent6">
                        <a:lumMod val="40000"/>
                        <a:lumOff val="60000"/>
                      </a:schemeClr>
                    </a:solidFill>
                  </a:tcPr>
                </a:tc>
                <a:extLst>
                  <a:ext uri="{0D108BD9-81ED-4DB2-BD59-A6C34878D82A}">
                    <a16:rowId xmlns:a16="http://schemas.microsoft.com/office/drawing/2014/main" val="1833350626"/>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US" sz="1000" b="0" i="0" u="none" strike="noStrike" dirty="0">
                          <a:solidFill>
                            <a:srgbClr val="000000"/>
                          </a:solidFill>
                          <a:effectLst/>
                          <a:latin typeface="Calibri" panose="020F0502020204030204" pitchFamily="34" charset="0"/>
                        </a:rPr>
                        <a:t>Average Cost of a BOP</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chemeClr val="accent6">
                        <a:lumMod val="40000"/>
                        <a:lumOff val="60000"/>
                      </a:schemeClr>
                    </a:solidFill>
                  </a:tcPr>
                </a:tc>
                <a:extLst>
                  <a:ext uri="{0D108BD9-81ED-4DB2-BD59-A6C34878D82A}">
                    <a16:rowId xmlns:a16="http://schemas.microsoft.com/office/drawing/2014/main" val="1331815636"/>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solidFill>
                      <a:srgbClr val="DDEBF7"/>
                    </a:solidFill>
                  </a:tcPr>
                </a:tc>
                <a:tc>
                  <a:txBody>
                    <a:bodyPr/>
                    <a:lstStyle/>
                    <a:p>
                      <a:pPr algn="ctr" fontAlgn="ctr"/>
                      <a:r>
                        <a:rPr lang="en-IN" sz="1000" b="0" i="0" u="none" strike="noStrike" dirty="0">
                          <a:solidFill>
                            <a:srgbClr val="0000FF"/>
                          </a:solidFill>
                          <a:effectLst/>
                          <a:latin typeface="Calibri" panose="020F0502020204030204" pitchFamily="34" charset="0"/>
                        </a:rPr>
                        <a:t> </a:t>
                      </a:r>
                    </a:p>
                  </a:txBody>
                  <a:tcPr marL="3908" marR="3908" marT="3908" marB="0" anchor="ctr">
                    <a:lnL>
                      <a:noFill/>
                    </a:lnL>
                    <a:lnR>
                      <a:noFill/>
                    </a:lnR>
                    <a:lnT>
                      <a:noFill/>
                    </a:lnT>
                    <a:lnB>
                      <a:noFill/>
                    </a:lnB>
                    <a:solidFill>
                      <a:srgbClr val="DDEBF7"/>
                    </a:solidFill>
                  </a:tcPr>
                </a:tc>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rgbClr val="DDEBF7"/>
                    </a:solidFill>
                  </a:tcPr>
                </a:tc>
                <a:extLst>
                  <a:ext uri="{0D108BD9-81ED-4DB2-BD59-A6C34878D82A}">
                    <a16:rowId xmlns:a16="http://schemas.microsoft.com/office/drawing/2014/main" val="1652744597"/>
                  </a:ext>
                </a:extLst>
              </a:tr>
              <a:tr h="152714">
                <a:tc>
                  <a:txBody>
                    <a:bodyPr/>
                    <a:lstStyle/>
                    <a:p>
                      <a:pPr algn="r" fontAlgn="b"/>
                      <a:r>
                        <a:rPr lang="en-IN" sz="1000" b="0" i="0" u="none" strike="noStrike">
                          <a:solidFill>
                            <a:srgbClr val="000000"/>
                          </a:solidFill>
                          <a:effectLst/>
                          <a:latin typeface="Calibri" panose="020F0502020204030204" pitchFamily="34" charset="0"/>
                        </a:rPr>
                        <a:t>5</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rowSpan="8">
                  <a:txBody>
                    <a:bodyPr/>
                    <a:lstStyle/>
                    <a:p>
                      <a:pPr algn="ctr" fontAlgn="ctr"/>
                      <a:r>
                        <a:rPr lang="en-IN" sz="1000" b="0" i="0" u="none" strike="noStrike" dirty="0">
                          <a:solidFill>
                            <a:srgbClr val="0000FF"/>
                          </a:solidFill>
                          <a:effectLst/>
                          <a:latin typeface="Calibri" panose="020F0502020204030204" pitchFamily="34" charset="0"/>
                        </a:rPr>
                        <a:t>BOP Policy issuance</a:t>
                      </a:r>
                    </a:p>
                  </a:txBody>
                  <a:tcPr marL="3908" marR="3908" marT="3908" marB="0" anchor="ctr">
                    <a:lnL>
                      <a:noFill/>
                    </a:lnL>
                    <a:lnR>
                      <a:noFill/>
                    </a:lnR>
                    <a:lnT>
                      <a:noFill/>
                    </a:lnT>
                    <a:lnB>
                      <a:noFill/>
                    </a:lnB>
                  </a:tcPr>
                </a:tc>
                <a:tc>
                  <a:txBody>
                    <a:bodyPr/>
                    <a:lstStyle/>
                    <a:p>
                      <a:pPr algn="l" fontAlgn="b"/>
                      <a:r>
                        <a:rPr lang="en-IN" sz="1000" b="0" i="0" u="none" strike="noStrike">
                          <a:solidFill>
                            <a:srgbClr val="000000"/>
                          </a:solidFill>
                          <a:effectLst/>
                          <a:latin typeface="Calibri" panose="020F0502020204030204" pitchFamily="34" charset="0"/>
                        </a:rPr>
                        <a:t>BOP Policy Forms</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553220954"/>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Input Forms Output Forms</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484859053"/>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Valuation Methods</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132211034"/>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Policy Issuance Flow</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324880253"/>
                  </a:ext>
                </a:extLst>
              </a:tr>
              <a:tr h="301787">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US" sz="1000" b="0" i="0" u="none" strike="noStrike" dirty="0">
                          <a:solidFill>
                            <a:srgbClr val="000000"/>
                          </a:solidFill>
                          <a:effectLst/>
                          <a:latin typeface="Calibri" panose="020F0502020204030204" pitchFamily="34" charset="0"/>
                        </a:rPr>
                        <a:t>Case study &amp; Discussion- </a:t>
                      </a:r>
                      <a:br>
                        <a:rPr lang="en-US" sz="1000" b="0" i="0" u="none" strike="noStrike" dirty="0">
                          <a:solidFill>
                            <a:srgbClr val="000000"/>
                          </a:solidFill>
                          <a:effectLst/>
                          <a:latin typeface="Calibri" panose="020F0502020204030204" pitchFamily="34" charset="0"/>
                        </a:rPr>
                      </a:br>
                      <a:r>
                        <a:rPr lang="en-US" sz="1000" b="0" i="0" u="none" strike="noStrike" dirty="0">
                          <a:solidFill>
                            <a:srgbClr val="000000"/>
                          </a:solidFill>
                          <a:effectLst/>
                          <a:latin typeface="Calibri" panose="020F0502020204030204" pitchFamily="34" charset="0"/>
                        </a:rPr>
                        <a:t>A snapshot at a Restaurant looking for insurance</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077212871"/>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rowSpan="2">
                  <a:txBody>
                    <a:bodyPr/>
                    <a:lstStyle/>
                    <a:p>
                      <a:pPr algn="l" fontAlgn="b"/>
                      <a:r>
                        <a:rPr lang="en-IN" sz="1000" b="0" i="0" u="none" strike="noStrike">
                          <a:solidFill>
                            <a:srgbClr val="000000"/>
                          </a:solidFill>
                          <a:effectLst/>
                          <a:latin typeface="Calibri" panose="020F0502020204030204" pitchFamily="34" charset="0"/>
                        </a:rPr>
                        <a:t>Sample Policy </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85456104"/>
                  </a:ext>
                </a:extLst>
              </a:tr>
              <a:tr h="0">
                <a:tc rowSpan="2">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vMerge="1">
                  <a:txBody>
                    <a:bodyPr/>
                    <a:lstStyle/>
                    <a:p>
                      <a:pPr algn="l" fontAlgn="b"/>
                      <a:r>
                        <a:rPr lang="en-IN" sz="700" b="0" i="0" u="none" strike="noStrike">
                          <a:solidFill>
                            <a:srgbClr val="000000"/>
                          </a:solidFill>
                          <a:effectLst/>
                          <a:latin typeface="Calibri" panose="020F0502020204030204" pitchFamily="34" charset="0"/>
                        </a:rPr>
                        <a:t>Declaration Page- A snap shot</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152971011"/>
                  </a:ext>
                </a:extLst>
              </a:tr>
              <a:tr h="152714">
                <a:tc vMerge="1">
                  <a:txBody>
                    <a:bodyPr/>
                    <a:lstStyle/>
                    <a:p>
                      <a:pPr algn="l" fontAlgn="b"/>
                      <a:endParaRPr lang="en-IN" sz="700" b="0" i="0" u="none" strike="noStrike">
                        <a:solidFill>
                          <a:srgbClr val="000000"/>
                        </a:solidFill>
                        <a:effectLst/>
                        <a:latin typeface="Calibri" panose="020F0502020204030204" pitchFamily="34" charset="0"/>
                      </a:endParaRP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pPr algn="ctr" fontAlgn="ctr"/>
                      <a:endParaRPr lang="en-IN" sz="700" b="0" i="0" u="none" strike="noStrike">
                        <a:solidFill>
                          <a:srgbClr val="0000FF"/>
                        </a:solidFill>
                        <a:effectLst/>
                        <a:latin typeface="Calibri" panose="020F0502020204030204" pitchFamily="34" charset="0"/>
                      </a:endParaRPr>
                    </a:p>
                  </a:txBody>
                  <a:tcPr marL="3908" marR="3908" marT="3908" marB="0" anchor="ctr">
                    <a:lnL>
                      <a:noFill/>
                    </a:lnL>
                    <a:lnR>
                      <a:noFill/>
                    </a:lnR>
                    <a:lnT>
                      <a:noFill/>
                    </a:lnT>
                    <a:lnB>
                      <a:noFill/>
                    </a:lnB>
                  </a:tcPr>
                </a:tc>
                <a:tc>
                  <a:txBody>
                    <a:bodyPr/>
                    <a:lstStyle/>
                    <a:p>
                      <a:pPr algn="l" fontAlgn="b"/>
                      <a:r>
                        <a:rPr lang="en-IN" sz="1000" b="0" i="0" u="none" strike="noStrike" dirty="0">
                          <a:solidFill>
                            <a:srgbClr val="000000"/>
                          </a:solidFill>
                          <a:effectLst/>
                          <a:latin typeface="Calibri" panose="020F0502020204030204" pitchFamily="34" charset="0"/>
                        </a:rPr>
                        <a:t>Declaration Page- A snap shot</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298417780"/>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solidFill>
                      <a:srgbClr val="DDEBF7"/>
                    </a:solidFill>
                  </a:tcPr>
                </a:tc>
                <a:tc>
                  <a:txBody>
                    <a:bodyPr/>
                    <a:lstStyle/>
                    <a:p>
                      <a:pPr algn="ctr" fontAlgn="ctr"/>
                      <a:r>
                        <a:rPr lang="en-IN" sz="1000" b="0" i="0" u="none" strike="noStrike">
                          <a:solidFill>
                            <a:srgbClr val="0000FF"/>
                          </a:solidFill>
                          <a:effectLst/>
                          <a:latin typeface="Calibri" panose="020F0502020204030204" pitchFamily="34" charset="0"/>
                        </a:rPr>
                        <a:t> </a:t>
                      </a:r>
                    </a:p>
                  </a:txBody>
                  <a:tcPr marL="3908" marR="3908" marT="3908" marB="0" anchor="ctr">
                    <a:lnL>
                      <a:noFill/>
                    </a:lnL>
                    <a:lnR>
                      <a:noFill/>
                    </a:lnR>
                    <a:lnT>
                      <a:noFill/>
                    </a:lnT>
                    <a:lnB>
                      <a:noFill/>
                    </a:lnB>
                    <a:solidFill>
                      <a:srgbClr val="DDEBF7"/>
                    </a:solidFill>
                  </a:tcPr>
                </a:tc>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rgbClr val="DDEBF7"/>
                    </a:solidFill>
                  </a:tcPr>
                </a:tc>
                <a:extLst>
                  <a:ext uri="{0D108BD9-81ED-4DB2-BD59-A6C34878D82A}">
                    <a16:rowId xmlns:a16="http://schemas.microsoft.com/office/drawing/2014/main" val="3528015319"/>
                  </a:ext>
                </a:extLst>
              </a:tr>
              <a:tr h="152714">
                <a:tc>
                  <a:txBody>
                    <a:bodyPr/>
                    <a:lstStyle/>
                    <a:p>
                      <a:pPr algn="r" fontAlgn="b"/>
                      <a:r>
                        <a:rPr lang="en-IN" sz="1000" b="0" i="0" u="none" strike="noStrike">
                          <a:solidFill>
                            <a:srgbClr val="000000"/>
                          </a:solidFill>
                          <a:effectLst/>
                          <a:latin typeface="Calibri" panose="020F0502020204030204" pitchFamily="34" charset="0"/>
                        </a:rPr>
                        <a:t>6</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rowSpan="5">
                  <a:txBody>
                    <a:bodyPr/>
                    <a:lstStyle/>
                    <a:p>
                      <a:pPr algn="ctr" fontAlgn="ctr"/>
                      <a:r>
                        <a:rPr lang="en-IN" sz="1000" b="0" i="0" u="none" strike="noStrike">
                          <a:solidFill>
                            <a:srgbClr val="0000FF"/>
                          </a:solidFill>
                          <a:effectLst/>
                          <a:latin typeface="Calibri" panose="020F0502020204030204" pitchFamily="34" charset="0"/>
                        </a:rPr>
                        <a:t>Claims Handling</a:t>
                      </a:r>
                    </a:p>
                  </a:txBody>
                  <a:tcPr marL="3908" marR="3908" marT="3908" marB="0" anchor="ctr">
                    <a:lnL>
                      <a:noFill/>
                    </a:lnL>
                    <a:lnR>
                      <a:noFill/>
                    </a:lnR>
                    <a:lnT>
                      <a:noFill/>
                    </a:lnT>
                    <a:lnB>
                      <a:noFill/>
                    </a:lnB>
                  </a:tcPr>
                </a:tc>
                <a:tc>
                  <a:txBody>
                    <a:bodyPr/>
                    <a:lstStyle/>
                    <a:p>
                      <a:pPr algn="l" fontAlgn="b"/>
                      <a:r>
                        <a:rPr lang="en-IN" sz="1000" b="0" i="0" u="none" strike="noStrike">
                          <a:solidFill>
                            <a:srgbClr val="000000"/>
                          </a:solidFill>
                          <a:effectLst/>
                          <a:latin typeface="Calibri" panose="020F0502020204030204" pitchFamily="34" charset="0"/>
                        </a:rPr>
                        <a:t>Property Damage Assessment and </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662525351"/>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Recovery for Business Owners</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010943026"/>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Filing a claim</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030209666"/>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US" sz="1000" b="0" i="0" u="none" strike="noStrike">
                          <a:solidFill>
                            <a:srgbClr val="000000"/>
                          </a:solidFill>
                          <a:effectLst/>
                          <a:latin typeface="Calibri" panose="020F0502020204030204" pitchFamily="34" charset="0"/>
                        </a:rPr>
                        <a:t>Documents Required for Claim Process</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541112809"/>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Claims Flow Process</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068266022"/>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DDEBF7"/>
                    </a:solidFill>
                  </a:tcPr>
                </a:tc>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a:noFill/>
                    </a:lnL>
                    <a:lnR>
                      <a:noFill/>
                    </a:lnR>
                    <a:lnT>
                      <a:noFill/>
                    </a:lnT>
                    <a:lnB w="12700" cap="flat" cmpd="sng" algn="ctr">
                      <a:solidFill>
                        <a:srgbClr val="000000"/>
                      </a:solidFill>
                      <a:prstDash val="solid"/>
                      <a:round/>
                      <a:headEnd type="none" w="med" len="med"/>
                      <a:tailEnd type="none" w="med" len="med"/>
                    </a:lnB>
                    <a:solidFill>
                      <a:srgbClr val="DDEBF7"/>
                    </a:solidFill>
                  </a:tcPr>
                </a:tc>
                <a:tc>
                  <a:txBody>
                    <a:bodyPr/>
                    <a:lstStyle/>
                    <a:p>
                      <a:pPr algn="l" fontAlgn="b"/>
                      <a:r>
                        <a:rPr lang="en-IN" sz="1000" b="0" i="0" u="none" strike="noStrike" dirty="0">
                          <a:solidFill>
                            <a:srgbClr val="000000"/>
                          </a:solidFill>
                          <a:effectLst/>
                          <a:latin typeface="Calibri" panose="020F0502020204030204" pitchFamily="34" charset="0"/>
                        </a:rPr>
                        <a:t> </a:t>
                      </a:r>
                    </a:p>
                  </a:txBody>
                  <a:tcPr marL="3908" marR="3908" marT="3908"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DDEBF7"/>
                    </a:solidFill>
                  </a:tcPr>
                </a:tc>
                <a:extLst>
                  <a:ext uri="{0D108BD9-81ED-4DB2-BD59-A6C34878D82A}">
                    <a16:rowId xmlns:a16="http://schemas.microsoft.com/office/drawing/2014/main" val="3774789813"/>
                  </a:ext>
                </a:extLst>
              </a:tr>
            </a:tbl>
          </a:graphicData>
        </a:graphic>
      </p:graphicFrame>
    </p:spTree>
    <p:extLst>
      <p:ext uri="{BB962C8B-B14F-4D97-AF65-F5344CB8AC3E}">
        <p14:creationId xmlns:p14="http://schemas.microsoft.com/office/powerpoint/2010/main" val="11431033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675E68C-EEB7-46ED-AEC5-166418E7051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3906" y="801323"/>
            <a:ext cx="9804188" cy="264653"/>
          </a:xfrm>
          <a:prstGeom prst="rect">
            <a:avLst/>
          </a:prstGeom>
        </p:spPr>
      </p:pic>
      <p:graphicFrame>
        <p:nvGraphicFramePr>
          <p:cNvPr id="3" name="Table 2">
            <a:extLst>
              <a:ext uri="{FF2B5EF4-FFF2-40B4-BE49-F238E27FC236}">
                <a16:creationId xmlns:a16="http://schemas.microsoft.com/office/drawing/2014/main" id="{8251D664-2BCC-463B-9DF0-DDBF887AD8D4}"/>
              </a:ext>
            </a:extLst>
          </p:cNvPr>
          <p:cNvGraphicFramePr>
            <a:graphicFrameLocks noGrp="1"/>
          </p:cNvGraphicFramePr>
          <p:nvPr/>
        </p:nvGraphicFramePr>
        <p:xfrm>
          <a:off x="1252870" y="2201984"/>
          <a:ext cx="9049894" cy="2454032"/>
        </p:xfrm>
        <a:graphic>
          <a:graphicData uri="http://schemas.openxmlformats.org/drawingml/2006/table">
            <a:tbl>
              <a:tblPr>
                <a:effectLst>
                  <a:innerShdw blurRad="114300">
                    <a:prstClr val="black"/>
                  </a:innerShdw>
                </a:effectLst>
              </a:tblPr>
              <a:tblGrid>
                <a:gridCol w="3665285">
                  <a:extLst>
                    <a:ext uri="{9D8B030D-6E8A-4147-A177-3AD203B41FA5}">
                      <a16:colId xmlns:a16="http://schemas.microsoft.com/office/drawing/2014/main" val="4149801247"/>
                    </a:ext>
                  </a:extLst>
                </a:gridCol>
                <a:gridCol w="5384609">
                  <a:extLst>
                    <a:ext uri="{9D8B030D-6E8A-4147-A177-3AD203B41FA5}">
                      <a16:colId xmlns:a16="http://schemas.microsoft.com/office/drawing/2014/main" val="2405311075"/>
                    </a:ext>
                  </a:extLst>
                </a:gridCol>
              </a:tblGrid>
              <a:tr h="152714">
                <a:tc rowSpan="4">
                  <a:txBody>
                    <a:bodyPr/>
                    <a:lstStyle/>
                    <a:p>
                      <a:pPr algn="ctr" fontAlgn="ctr"/>
                      <a:r>
                        <a:rPr lang="en-IN" sz="4000" b="0" i="0" u="none" strike="noStrike" dirty="0">
                          <a:solidFill>
                            <a:srgbClr val="0000FF"/>
                          </a:solidFill>
                          <a:effectLst/>
                          <a:latin typeface="Calibri" panose="020F0502020204030204" pitchFamily="34" charset="0"/>
                        </a:rPr>
                        <a:t>BOP Rating &amp; Premium Guidelines</a:t>
                      </a:r>
                    </a:p>
                  </a:txBody>
                  <a:tcPr marL="3908" marR="3908" marT="3908" marB="0" anchor="ctr">
                    <a:lnL>
                      <a:noFill/>
                    </a:lnL>
                    <a:lnR>
                      <a:noFill/>
                    </a:lnR>
                    <a:lnT>
                      <a:noFill/>
                    </a:lnT>
                    <a:lnB>
                      <a:noFill/>
                    </a:lnB>
                    <a:solidFill>
                      <a:schemeClr val="accent6">
                        <a:lumMod val="40000"/>
                        <a:lumOff val="60000"/>
                      </a:schemeClr>
                    </a:solidFill>
                  </a:tcPr>
                </a:tc>
                <a:tc>
                  <a:txBody>
                    <a:bodyPr/>
                    <a:lstStyle/>
                    <a:p>
                      <a:pPr algn="l" fontAlgn="b"/>
                      <a:r>
                        <a:rPr lang="en-IN" sz="4000" b="0" i="0" u="none" strike="noStrike">
                          <a:solidFill>
                            <a:srgbClr val="000000"/>
                          </a:solidFill>
                          <a:effectLst/>
                          <a:latin typeface="Calibri" panose="020F0502020204030204" pitchFamily="34" charset="0"/>
                        </a:rPr>
                        <a:t>Rating factors </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chemeClr val="accent6">
                        <a:lumMod val="40000"/>
                        <a:lumOff val="60000"/>
                      </a:schemeClr>
                    </a:solidFill>
                  </a:tcPr>
                </a:tc>
                <a:extLst>
                  <a:ext uri="{0D108BD9-81ED-4DB2-BD59-A6C34878D82A}">
                    <a16:rowId xmlns:a16="http://schemas.microsoft.com/office/drawing/2014/main" val="2655053323"/>
                  </a:ext>
                </a:extLst>
              </a:tr>
              <a:tr h="152714">
                <a:tc vMerge="1">
                  <a:txBody>
                    <a:bodyPr/>
                    <a:lstStyle/>
                    <a:p>
                      <a:endParaRPr lang="en-IN"/>
                    </a:p>
                  </a:txBody>
                  <a:tcPr/>
                </a:tc>
                <a:tc>
                  <a:txBody>
                    <a:bodyPr/>
                    <a:lstStyle/>
                    <a:p>
                      <a:pPr algn="l" fontAlgn="b"/>
                      <a:r>
                        <a:rPr lang="en-IN" sz="4000" b="0" i="0" u="none" strike="noStrike" dirty="0">
                          <a:solidFill>
                            <a:srgbClr val="000000"/>
                          </a:solidFill>
                          <a:effectLst/>
                          <a:latin typeface="Calibri" panose="020F0502020204030204" pitchFamily="34" charset="0"/>
                        </a:rPr>
                        <a:t>Premium Guidelines</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chemeClr val="accent6">
                        <a:lumMod val="40000"/>
                        <a:lumOff val="60000"/>
                      </a:schemeClr>
                    </a:solidFill>
                  </a:tcPr>
                </a:tc>
                <a:extLst>
                  <a:ext uri="{0D108BD9-81ED-4DB2-BD59-A6C34878D82A}">
                    <a16:rowId xmlns:a16="http://schemas.microsoft.com/office/drawing/2014/main" val="2493064180"/>
                  </a:ext>
                </a:extLst>
              </a:tr>
              <a:tr h="152714">
                <a:tc vMerge="1">
                  <a:txBody>
                    <a:bodyPr/>
                    <a:lstStyle/>
                    <a:p>
                      <a:endParaRPr lang="en-IN"/>
                    </a:p>
                  </a:txBody>
                  <a:tcPr/>
                </a:tc>
                <a:tc>
                  <a:txBody>
                    <a:bodyPr/>
                    <a:lstStyle/>
                    <a:p>
                      <a:pPr algn="l" fontAlgn="b"/>
                      <a:r>
                        <a:rPr lang="en-US" sz="4000" b="0" i="0" u="none" strike="noStrike" dirty="0">
                          <a:solidFill>
                            <a:srgbClr val="000000"/>
                          </a:solidFill>
                          <a:effectLst/>
                          <a:latin typeface="Calibri" panose="020F0502020204030204" pitchFamily="34" charset="0"/>
                        </a:rPr>
                        <a:t>What Does a BOP Cost</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chemeClr val="accent6">
                        <a:lumMod val="40000"/>
                        <a:lumOff val="60000"/>
                      </a:schemeClr>
                    </a:solidFill>
                  </a:tcPr>
                </a:tc>
                <a:extLst>
                  <a:ext uri="{0D108BD9-81ED-4DB2-BD59-A6C34878D82A}">
                    <a16:rowId xmlns:a16="http://schemas.microsoft.com/office/drawing/2014/main" val="2723289856"/>
                  </a:ext>
                </a:extLst>
              </a:tr>
              <a:tr h="152714">
                <a:tc vMerge="1">
                  <a:txBody>
                    <a:bodyPr/>
                    <a:lstStyle/>
                    <a:p>
                      <a:endParaRPr lang="en-IN"/>
                    </a:p>
                  </a:txBody>
                  <a:tcPr/>
                </a:tc>
                <a:tc>
                  <a:txBody>
                    <a:bodyPr/>
                    <a:lstStyle/>
                    <a:p>
                      <a:pPr algn="l" fontAlgn="b"/>
                      <a:r>
                        <a:rPr lang="en-US" sz="4000" b="0" i="0" u="none" strike="noStrike" dirty="0">
                          <a:solidFill>
                            <a:srgbClr val="000000"/>
                          </a:solidFill>
                          <a:effectLst/>
                          <a:latin typeface="Calibri" panose="020F0502020204030204" pitchFamily="34" charset="0"/>
                        </a:rPr>
                        <a:t>Average Cost of a BOP</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chemeClr val="accent6">
                        <a:lumMod val="40000"/>
                        <a:lumOff val="60000"/>
                      </a:schemeClr>
                    </a:solidFill>
                  </a:tcPr>
                </a:tc>
                <a:extLst>
                  <a:ext uri="{0D108BD9-81ED-4DB2-BD59-A6C34878D82A}">
                    <a16:rowId xmlns:a16="http://schemas.microsoft.com/office/drawing/2014/main" val="3290154456"/>
                  </a:ext>
                </a:extLst>
              </a:tr>
            </a:tbl>
          </a:graphicData>
        </a:graphic>
      </p:graphicFrame>
    </p:spTree>
    <p:extLst>
      <p:ext uri="{BB962C8B-B14F-4D97-AF65-F5344CB8AC3E}">
        <p14:creationId xmlns:p14="http://schemas.microsoft.com/office/powerpoint/2010/main" val="3437135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B068AEC-04C3-4237-813C-8A4A50BABD9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3906" y="810848"/>
            <a:ext cx="9804188" cy="264653"/>
          </a:xfrm>
          <a:prstGeom prst="rect">
            <a:avLst/>
          </a:prstGeom>
        </p:spPr>
      </p:pic>
      <p:sp>
        <p:nvSpPr>
          <p:cNvPr id="3" name="Rectangle 3">
            <a:extLst>
              <a:ext uri="{FF2B5EF4-FFF2-40B4-BE49-F238E27FC236}">
                <a16:creationId xmlns:a16="http://schemas.microsoft.com/office/drawing/2014/main" id="{F0D5670C-73E8-4C2C-B7A6-A4BDAAE0E7FB}"/>
              </a:ext>
            </a:extLst>
          </p:cNvPr>
          <p:cNvSpPr txBox="1">
            <a:spLocks noChangeArrowheads="1"/>
          </p:cNvSpPr>
          <p:nvPr/>
        </p:nvSpPr>
        <p:spPr bwMode="auto">
          <a:xfrm>
            <a:off x="3200400" y="1905000"/>
            <a:ext cx="4763386" cy="2828925"/>
          </a:xfrm>
          <a:prstGeom prst="rect">
            <a:avLst/>
          </a:prstGeom>
          <a:noFill/>
          <a:ln w="9525">
            <a:solidFill>
              <a:srgbClr val="0000FF"/>
            </a:solidFill>
            <a:miter lim="800000"/>
            <a:headEnd/>
            <a:tailEnd/>
          </a:ln>
        </p:spPr>
        <p:txBody>
          <a:bodyPr/>
          <a:lstStyle/>
          <a:p>
            <a:pPr marL="285750" indent="-285750" eaLnBrk="1" hangingPunct="1">
              <a:buClr>
                <a:srgbClr val="C00000"/>
              </a:buClr>
              <a:buFont typeface="Arial" panose="020B0604020202020204" pitchFamily="34" charset="0"/>
              <a:buChar char="•"/>
              <a:defRPr/>
            </a:pPr>
            <a:r>
              <a:rPr lang="en-US" sz="1600" dirty="0">
                <a:latin typeface="+mn-lt"/>
              </a:rPr>
              <a:t>Introduction</a:t>
            </a:r>
          </a:p>
          <a:p>
            <a:pPr marL="285750" indent="-285750" eaLnBrk="1" hangingPunct="1">
              <a:buClr>
                <a:srgbClr val="C00000"/>
              </a:buClr>
              <a:buFont typeface="Arial" panose="020B0604020202020204" pitchFamily="34" charset="0"/>
              <a:buChar char="•"/>
              <a:defRPr/>
            </a:pPr>
            <a:endParaRPr lang="en-US" sz="1600" dirty="0">
              <a:latin typeface="+mn-lt"/>
            </a:endParaRPr>
          </a:p>
          <a:p>
            <a:pPr marL="285750" indent="-285750" eaLnBrk="1" hangingPunct="1">
              <a:buClr>
                <a:srgbClr val="C00000"/>
              </a:buClr>
              <a:buFont typeface="Arial" panose="020B0604020202020204" pitchFamily="34" charset="0"/>
              <a:buChar char="•"/>
              <a:defRPr/>
            </a:pPr>
            <a:r>
              <a:rPr lang="en-US" sz="1600" dirty="0">
                <a:latin typeface="+mn-lt"/>
              </a:rPr>
              <a:t> Property Rating calculation factors</a:t>
            </a:r>
          </a:p>
          <a:p>
            <a:pPr marL="285750" indent="-285750" eaLnBrk="1" hangingPunct="1">
              <a:buClr>
                <a:srgbClr val="C00000"/>
              </a:buClr>
              <a:buFont typeface="Arial" panose="020B0604020202020204" pitchFamily="34" charset="0"/>
              <a:buChar char="•"/>
              <a:defRPr/>
            </a:pPr>
            <a:endParaRPr lang="en-US" sz="1600" dirty="0">
              <a:latin typeface="+mn-lt"/>
            </a:endParaRPr>
          </a:p>
          <a:p>
            <a:pPr marL="285750" indent="-285750" eaLnBrk="1" hangingPunct="1">
              <a:buClr>
                <a:srgbClr val="C00000"/>
              </a:buClr>
              <a:buFont typeface="Arial" panose="020B0604020202020204" pitchFamily="34" charset="0"/>
              <a:buChar char="•"/>
              <a:defRPr/>
            </a:pPr>
            <a:r>
              <a:rPr lang="en-US" sz="1600" dirty="0">
                <a:latin typeface="+mn-lt"/>
              </a:rPr>
              <a:t> General Liability Rating calculation factors</a:t>
            </a:r>
          </a:p>
          <a:p>
            <a:pPr marL="285750" indent="-285750" eaLnBrk="1" hangingPunct="1">
              <a:buClr>
                <a:srgbClr val="C00000"/>
              </a:buClr>
              <a:buFont typeface="Arial" panose="020B0604020202020204" pitchFamily="34" charset="0"/>
              <a:buChar char="•"/>
              <a:defRPr/>
            </a:pPr>
            <a:endParaRPr lang="en-US" sz="1600" dirty="0">
              <a:latin typeface="+mn-lt"/>
            </a:endParaRPr>
          </a:p>
          <a:p>
            <a:pPr marL="285750" indent="-285750" eaLnBrk="1" hangingPunct="1">
              <a:buClr>
                <a:srgbClr val="C00000"/>
              </a:buClr>
              <a:buFont typeface="Arial" panose="020B0604020202020204" pitchFamily="34" charset="0"/>
              <a:buChar char="•"/>
              <a:defRPr/>
            </a:pPr>
            <a:r>
              <a:rPr lang="en-US" sz="1600" dirty="0">
                <a:latin typeface="+mn-lt"/>
              </a:rPr>
              <a:t> Additional Premiums</a:t>
            </a:r>
          </a:p>
          <a:p>
            <a:pPr marL="285750" indent="-285750" eaLnBrk="1" hangingPunct="1">
              <a:buClr>
                <a:srgbClr val="C00000"/>
              </a:buClr>
              <a:buFont typeface="Arial" panose="020B0604020202020204" pitchFamily="34" charset="0"/>
              <a:buChar char="•"/>
              <a:defRPr/>
            </a:pPr>
            <a:endParaRPr lang="en-US" sz="1600" dirty="0">
              <a:latin typeface="+mn-lt"/>
            </a:endParaRPr>
          </a:p>
          <a:p>
            <a:pPr marL="285750" indent="-285750" eaLnBrk="1" hangingPunct="1">
              <a:buClr>
                <a:srgbClr val="C00000"/>
              </a:buClr>
              <a:buFont typeface="Arial" panose="020B0604020202020204" pitchFamily="34" charset="0"/>
              <a:buChar char="•"/>
              <a:defRPr/>
            </a:pPr>
            <a:r>
              <a:rPr lang="en-US" sz="1600" dirty="0">
                <a:latin typeface="+mn-lt"/>
              </a:rPr>
              <a:t> Final Premium determination </a:t>
            </a:r>
          </a:p>
          <a:p>
            <a:pPr marL="285750" indent="-285750" eaLnBrk="1" hangingPunct="1">
              <a:buClr>
                <a:srgbClr val="C00000"/>
              </a:buClr>
              <a:buFont typeface="Arial" panose="020B0604020202020204" pitchFamily="34" charset="0"/>
              <a:buChar char="•"/>
              <a:defRPr/>
            </a:pPr>
            <a:endParaRPr lang="en-US" sz="1600" dirty="0">
              <a:latin typeface="+mn-lt"/>
            </a:endParaRPr>
          </a:p>
          <a:p>
            <a:pPr marL="285750" indent="-285750" eaLnBrk="1" hangingPunct="1">
              <a:buClr>
                <a:srgbClr val="C00000"/>
              </a:buClr>
              <a:buFont typeface="Arial" panose="020B0604020202020204" pitchFamily="34" charset="0"/>
              <a:buChar char="•"/>
              <a:defRPr/>
            </a:pPr>
            <a:r>
              <a:rPr lang="en-US" sz="1600" dirty="0">
                <a:latin typeface="+mn-lt"/>
              </a:rPr>
              <a:t> Minimum Premium</a:t>
            </a:r>
          </a:p>
        </p:txBody>
      </p:sp>
    </p:spTree>
    <p:extLst>
      <p:ext uri="{BB962C8B-B14F-4D97-AF65-F5344CB8AC3E}">
        <p14:creationId xmlns:p14="http://schemas.microsoft.com/office/powerpoint/2010/main" val="37787961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00468CD-0BB8-4659-9170-71EE33A6EA7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3906" y="801323"/>
            <a:ext cx="9804188" cy="264653"/>
          </a:xfrm>
          <a:prstGeom prst="rect">
            <a:avLst/>
          </a:prstGeom>
        </p:spPr>
      </p:pic>
      <p:sp>
        <p:nvSpPr>
          <p:cNvPr id="3" name="Rectangle 2">
            <a:extLst>
              <a:ext uri="{FF2B5EF4-FFF2-40B4-BE49-F238E27FC236}">
                <a16:creationId xmlns:a16="http://schemas.microsoft.com/office/drawing/2014/main" id="{B6A4CD4C-0525-4663-A757-A25F9C7C421C}"/>
              </a:ext>
            </a:extLst>
          </p:cNvPr>
          <p:cNvSpPr/>
          <p:nvPr/>
        </p:nvSpPr>
        <p:spPr>
          <a:xfrm>
            <a:off x="1158284" y="1545862"/>
            <a:ext cx="9623130" cy="2639441"/>
          </a:xfrm>
          <a:prstGeom prst="rect">
            <a:avLst/>
          </a:prstGeom>
          <a:ln>
            <a:solidFill>
              <a:srgbClr val="0000FF"/>
            </a:solidFill>
          </a:ln>
        </p:spPr>
        <p:txBody>
          <a:bodyPr wrap="square">
            <a:spAutoFit/>
          </a:bodyPr>
          <a:lstStyle/>
          <a:p>
            <a:pPr eaLnBrk="1" hangingPunct="1">
              <a:lnSpc>
                <a:spcPct val="150000"/>
              </a:lnSpc>
              <a:buClr>
                <a:srgbClr val="C00000"/>
              </a:buClr>
              <a:defRPr/>
            </a:pPr>
            <a:r>
              <a:rPr lang="en-US" sz="1600" b="1" dirty="0">
                <a:latin typeface="+mn-lt"/>
              </a:rPr>
              <a:t> Rating and Premium development </a:t>
            </a:r>
          </a:p>
          <a:p>
            <a:pPr eaLnBrk="1" hangingPunct="1">
              <a:lnSpc>
                <a:spcPct val="150000"/>
              </a:lnSpc>
              <a:buClr>
                <a:srgbClr val="C00000"/>
              </a:buClr>
              <a:defRPr/>
            </a:pPr>
            <a:endParaRPr lang="en-US" sz="1600" dirty="0">
              <a:latin typeface="+mn-lt"/>
            </a:endParaRPr>
          </a:p>
          <a:p>
            <a:pPr marL="285750" indent="-285750" eaLnBrk="1" hangingPunct="1">
              <a:lnSpc>
                <a:spcPct val="150000"/>
              </a:lnSpc>
              <a:buClr>
                <a:srgbClr val="C00000"/>
              </a:buClr>
              <a:buFont typeface="Arial" panose="020B0604020202020204" pitchFamily="34" charset="0"/>
              <a:buChar char="•"/>
              <a:defRPr/>
            </a:pPr>
            <a:r>
              <a:rPr lang="en-US" sz="1600" dirty="0">
                <a:latin typeface="+mn-lt"/>
              </a:rPr>
              <a:t> ISO outlines the method to use in the Business owners Rules Manual Rule  23  Premium Development</a:t>
            </a:r>
          </a:p>
          <a:p>
            <a:pPr marL="285750" indent="-285750" eaLnBrk="1" hangingPunct="1">
              <a:lnSpc>
                <a:spcPct val="150000"/>
              </a:lnSpc>
              <a:buClr>
                <a:srgbClr val="C00000"/>
              </a:buClr>
              <a:buFont typeface="Arial" panose="020B0604020202020204" pitchFamily="34" charset="0"/>
              <a:buChar char="•"/>
              <a:defRPr/>
            </a:pPr>
            <a:r>
              <a:rPr lang="en-US" sz="1600" dirty="0">
                <a:latin typeface="+mn-lt"/>
              </a:rPr>
              <a:t> All calculations are formula-based and develop from a common starting point</a:t>
            </a:r>
          </a:p>
          <a:p>
            <a:pPr marL="285750" indent="-285750" eaLnBrk="1" hangingPunct="1">
              <a:lnSpc>
                <a:spcPct val="150000"/>
              </a:lnSpc>
              <a:buClr>
                <a:srgbClr val="C00000"/>
              </a:buClr>
              <a:buFont typeface="Arial" panose="020B0604020202020204" pitchFamily="34" charset="0"/>
              <a:buChar char="•"/>
              <a:defRPr/>
            </a:pPr>
            <a:r>
              <a:rPr lang="en-US" sz="1600" dirty="0">
                <a:latin typeface="+mn-lt"/>
              </a:rPr>
              <a:t> Property and liability premiums are calculated separately from one another</a:t>
            </a:r>
          </a:p>
          <a:p>
            <a:pPr marL="285750" indent="-285750" eaLnBrk="1" hangingPunct="1">
              <a:lnSpc>
                <a:spcPct val="150000"/>
              </a:lnSpc>
              <a:buClr>
                <a:srgbClr val="C00000"/>
              </a:buClr>
              <a:buFont typeface="Arial" panose="020B0604020202020204" pitchFamily="34" charset="0"/>
              <a:buChar char="•"/>
              <a:defRPr/>
            </a:pPr>
            <a:r>
              <a:rPr lang="en-US" sz="1600" dirty="0">
                <a:latin typeface="+mn-lt"/>
              </a:rPr>
              <a:t> This section deals only with rating the mandatory property and liability </a:t>
            </a:r>
            <a:r>
              <a:rPr lang="en-US" sz="1600" dirty="0" err="1">
                <a:latin typeface="+mn-lt"/>
              </a:rPr>
              <a:t>coverages</a:t>
            </a:r>
            <a:endParaRPr lang="en-US" sz="1600" dirty="0">
              <a:latin typeface="+mn-lt"/>
            </a:endParaRPr>
          </a:p>
          <a:p>
            <a:pPr marL="285750" indent="-285750" eaLnBrk="1" hangingPunct="1">
              <a:lnSpc>
                <a:spcPct val="150000"/>
              </a:lnSpc>
              <a:buClr>
                <a:srgbClr val="C00000"/>
              </a:buClr>
              <a:buFont typeface="Arial" panose="020B0604020202020204" pitchFamily="34" charset="0"/>
              <a:buChar char="•"/>
              <a:defRPr/>
            </a:pPr>
            <a:r>
              <a:rPr lang="en-US" sz="1600" dirty="0">
                <a:latin typeface="+mn-lt"/>
              </a:rPr>
              <a:t> The rating method used for a number of available optional </a:t>
            </a:r>
            <a:r>
              <a:rPr lang="en-US" sz="1600" dirty="0" err="1">
                <a:latin typeface="+mn-lt"/>
              </a:rPr>
              <a:t>coverages</a:t>
            </a:r>
            <a:r>
              <a:rPr lang="en-US" sz="1600" dirty="0">
                <a:latin typeface="+mn-lt"/>
              </a:rPr>
              <a:t> is similar to those described below</a:t>
            </a:r>
          </a:p>
        </p:txBody>
      </p:sp>
      <p:sp>
        <p:nvSpPr>
          <p:cNvPr id="5" name="TextBox 4">
            <a:extLst>
              <a:ext uri="{FF2B5EF4-FFF2-40B4-BE49-F238E27FC236}">
                <a16:creationId xmlns:a16="http://schemas.microsoft.com/office/drawing/2014/main" id="{C5879726-7F5B-4E85-9917-3648888A6F53}"/>
              </a:ext>
            </a:extLst>
          </p:cNvPr>
          <p:cNvSpPr txBox="1"/>
          <p:nvPr/>
        </p:nvSpPr>
        <p:spPr>
          <a:xfrm>
            <a:off x="247650" y="431991"/>
            <a:ext cx="6096000" cy="400110"/>
          </a:xfrm>
          <a:prstGeom prst="rect">
            <a:avLst/>
          </a:prstGeom>
          <a:noFill/>
        </p:spPr>
        <p:txBody>
          <a:bodyPr wrap="square">
            <a:spAutoFit/>
          </a:bodyPr>
          <a:lstStyle/>
          <a:p>
            <a:pPr eaLnBrk="1" hangingPunct="1">
              <a:buClr>
                <a:srgbClr val="C00000"/>
              </a:buClr>
              <a:defRPr/>
            </a:pPr>
            <a:r>
              <a:rPr lang="en-US" sz="2000" dirty="0">
                <a:solidFill>
                  <a:srgbClr val="0000FF"/>
                </a:solidFill>
                <a:latin typeface="+mn-lt"/>
              </a:rPr>
              <a:t>Introduction</a:t>
            </a:r>
          </a:p>
        </p:txBody>
      </p:sp>
    </p:spTree>
    <p:extLst>
      <p:ext uri="{BB962C8B-B14F-4D97-AF65-F5344CB8AC3E}">
        <p14:creationId xmlns:p14="http://schemas.microsoft.com/office/powerpoint/2010/main" val="4269506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0B766E1-072E-42C5-A218-0FCF1D472CD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3906" y="801323"/>
            <a:ext cx="9804188" cy="264653"/>
          </a:xfrm>
          <a:prstGeom prst="rect">
            <a:avLst/>
          </a:prstGeom>
        </p:spPr>
      </p:pic>
      <p:sp>
        <p:nvSpPr>
          <p:cNvPr id="3" name="Rectangle 2">
            <a:extLst>
              <a:ext uri="{FF2B5EF4-FFF2-40B4-BE49-F238E27FC236}">
                <a16:creationId xmlns:a16="http://schemas.microsoft.com/office/drawing/2014/main" id="{3A0E68DA-F0A1-4AE5-B916-531D883C73BD}"/>
              </a:ext>
            </a:extLst>
          </p:cNvPr>
          <p:cNvSpPr/>
          <p:nvPr/>
        </p:nvSpPr>
        <p:spPr>
          <a:xfrm>
            <a:off x="455428" y="1462658"/>
            <a:ext cx="11281144" cy="1569660"/>
          </a:xfrm>
          <a:prstGeom prst="rect">
            <a:avLst/>
          </a:prstGeom>
          <a:ln>
            <a:solidFill>
              <a:srgbClr val="0000FF"/>
            </a:solidFill>
          </a:ln>
        </p:spPr>
        <p:txBody>
          <a:bodyPr wrap="square">
            <a:spAutoFit/>
          </a:bodyPr>
          <a:lstStyle/>
          <a:p>
            <a:pPr marL="342900" indent="-342900" eaLnBrk="1" hangingPunct="1">
              <a:buClr>
                <a:srgbClr val="C00000"/>
              </a:buClr>
              <a:buFont typeface="Arial" panose="020B0604020202020204" pitchFamily="34" charset="0"/>
              <a:buChar char="•"/>
              <a:defRPr/>
            </a:pPr>
            <a:r>
              <a:rPr lang="en-US" sz="1600" dirty="0">
                <a:latin typeface="+mn-lt"/>
              </a:rPr>
              <a:t> All building and business personal property rating begins with:</a:t>
            </a:r>
          </a:p>
          <a:p>
            <a:pPr marL="342900" indent="-342900" eaLnBrk="1" hangingPunct="1">
              <a:buClr>
                <a:srgbClr val="C00000"/>
              </a:buClr>
              <a:buFont typeface="Arial" panose="020B0604020202020204" pitchFamily="34" charset="0"/>
              <a:buChar char="•"/>
              <a:defRPr/>
            </a:pPr>
            <a:r>
              <a:rPr lang="en-US" sz="1600" dirty="0">
                <a:latin typeface="+mn-lt"/>
              </a:rPr>
              <a:t>  The loss cost for a non-</a:t>
            </a:r>
            <a:r>
              <a:rPr lang="en-US" sz="1600" dirty="0" err="1">
                <a:latin typeface="+mn-lt"/>
              </a:rPr>
              <a:t>sprinklered</a:t>
            </a:r>
            <a:r>
              <a:rPr lang="en-US" sz="1600" dirty="0">
                <a:latin typeface="+mn-lt"/>
              </a:rPr>
              <a:t> frame structure located in Protection Classes 1-4 and represented by Property Rate Group 01 </a:t>
            </a:r>
          </a:p>
          <a:p>
            <a:pPr marL="342900" indent="-342900" eaLnBrk="1" hangingPunct="1">
              <a:buClr>
                <a:srgbClr val="C00000"/>
              </a:buClr>
              <a:buFont typeface="Arial" panose="020B0604020202020204" pitchFamily="34" charset="0"/>
              <a:buChar char="•"/>
              <a:defRPr/>
            </a:pPr>
            <a:r>
              <a:rPr lang="en-US" sz="1600" dirty="0">
                <a:latin typeface="+mn-lt"/>
              </a:rPr>
              <a:t> The standard deductible is $500 </a:t>
            </a:r>
          </a:p>
          <a:p>
            <a:pPr marL="342900" indent="-342900" eaLnBrk="1" hangingPunct="1">
              <a:buClr>
                <a:srgbClr val="C00000"/>
              </a:buClr>
              <a:buFont typeface="Arial" panose="020B0604020202020204" pitchFamily="34" charset="0"/>
              <a:buChar char="•"/>
              <a:defRPr/>
            </a:pPr>
            <a:r>
              <a:rPr lang="en-US" sz="1600" dirty="0">
                <a:latin typeface="+mn-lt"/>
              </a:rPr>
              <a:t> This loss cost is selected from the applicable state loss cost pages based on the specific territory</a:t>
            </a:r>
          </a:p>
          <a:p>
            <a:pPr marL="342900" indent="-342900" eaLnBrk="1" hangingPunct="1">
              <a:buClr>
                <a:srgbClr val="C00000"/>
              </a:buClr>
              <a:buFont typeface="Arial" panose="020B0604020202020204" pitchFamily="34" charset="0"/>
              <a:buChar char="•"/>
              <a:defRPr/>
            </a:pPr>
            <a:r>
              <a:rPr lang="en-US" sz="1600" dirty="0">
                <a:latin typeface="+mn-lt"/>
              </a:rPr>
              <a:t> Separate rates apply to building and business personal property </a:t>
            </a:r>
          </a:p>
          <a:p>
            <a:pPr marL="342900" indent="-342900" eaLnBrk="1" hangingPunct="1">
              <a:buClr>
                <a:srgbClr val="C00000"/>
              </a:buClr>
              <a:buFont typeface="Arial" panose="020B0604020202020204" pitchFamily="34" charset="0"/>
              <a:buChar char="•"/>
              <a:defRPr/>
            </a:pPr>
            <a:r>
              <a:rPr lang="en-US" sz="1600" dirty="0">
                <a:latin typeface="+mn-lt"/>
              </a:rPr>
              <a:t>The base rates are then modified by relativities using the following formulas: </a:t>
            </a:r>
          </a:p>
        </p:txBody>
      </p:sp>
      <p:graphicFrame>
        <p:nvGraphicFramePr>
          <p:cNvPr id="4" name="Table 3">
            <a:extLst>
              <a:ext uri="{FF2B5EF4-FFF2-40B4-BE49-F238E27FC236}">
                <a16:creationId xmlns:a16="http://schemas.microsoft.com/office/drawing/2014/main" id="{FA9C8F20-49C6-4351-9FBE-8E1197D47B43}"/>
              </a:ext>
            </a:extLst>
          </p:cNvPr>
          <p:cNvGraphicFramePr>
            <a:graphicFrameLocks noGrp="1"/>
          </p:cNvGraphicFramePr>
          <p:nvPr>
            <p:extLst>
              <p:ext uri="{D42A27DB-BD31-4B8C-83A1-F6EECF244321}">
                <p14:modId xmlns:p14="http://schemas.microsoft.com/office/powerpoint/2010/main" val="2661109379"/>
              </p:ext>
            </p:extLst>
          </p:nvPr>
        </p:nvGraphicFramePr>
        <p:xfrm>
          <a:off x="2091070" y="3429000"/>
          <a:ext cx="7169888" cy="2598710"/>
        </p:xfrm>
        <a:graphic>
          <a:graphicData uri="http://schemas.openxmlformats.org/drawingml/2006/table">
            <a:tbl>
              <a:tblPr/>
              <a:tblGrid>
                <a:gridCol w="3587727">
                  <a:extLst>
                    <a:ext uri="{9D8B030D-6E8A-4147-A177-3AD203B41FA5}">
                      <a16:colId xmlns:a16="http://schemas.microsoft.com/office/drawing/2014/main" val="20000"/>
                    </a:ext>
                  </a:extLst>
                </a:gridCol>
                <a:gridCol w="3582161">
                  <a:extLst>
                    <a:ext uri="{9D8B030D-6E8A-4147-A177-3AD203B41FA5}">
                      <a16:colId xmlns:a16="http://schemas.microsoft.com/office/drawing/2014/main" val="20001"/>
                    </a:ext>
                  </a:extLst>
                </a:gridCol>
              </a:tblGrid>
              <a:tr h="259871">
                <a:tc>
                  <a:txBody>
                    <a:bodyPr/>
                    <a:lstStyle/>
                    <a:p>
                      <a:pPr marL="0" marR="0">
                        <a:lnSpc>
                          <a:spcPct val="115000"/>
                        </a:lnSpc>
                        <a:spcBef>
                          <a:spcPts val="300"/>
                        </a:spcBef>
                        <a:spcAft>
                          <a:spcPts val="0"/>
                        </a:spcAft>
                      </a:pPr>
                      <a:r>
                        <a:rPr lang="en-US" sz="1400" b="1" spc="-15" dirty="0">
                          <a:latin typeface="+mn-lt"/>
                          <a:ea typeface="Arial"/>
                          <a:cs typeface="Times New Roman"/>
                        </a:rPr>
                        <a:t>Building base loss cost </a:t>
                      </a:r>
                      <a:endParaRPr lang="en-US" sz="1600" dirty="0">
                        <a:latin typeface="+mn-lt"/>
                        <a:ea typeface="Calibri"/>
                        <a:cs typeface="Times New Roman"/>
                      </a:endParaRPr>
                    </a:p>
                  </a:txBody>
                  <a:tcPr marL="63894" marR="638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300"/>
                        </a:spcBef>
                        <a:spcAft>
                          <a:spcPts val="0"/>
                        </a:spcAft>
                      </a:pPr>
                      <a:r>
                        <a:rPr lang="en-US" sz="1400" b="1" spc="-15">
                          <a:latin typeface="+mn-lt"/>
                          <a:ea typeface="Arial"/>
                          <a:cs typeface="Times New Roman"/>
                        </a:rPr>
                        <a:t>Business Personal Property base loss cost </a:t>
                      </a:r>
                      <a:endParaRPr lang="en-US" sz="1600">
                        <a:latin typeface="+mn-lt"/>
                        <a:ea typeface="Calibri"/>
                        <a:cs typeface="Times New Roman"/>
                      </a:endParaRPr>
                    </a:p>
                  </a:txBody>
                  <a:tcPr marL="63894" marR="638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59871">
                <a:tc>
                  <a:txBody>
                    <a:bodyPr/>
                    <a:lstStyle/>
                    <a:p>
                      <a:pPr marL="0" marR="0">
                        <a:lnSpc>
                          <a:spcPct val="115000"/>
                        </a:lnSpc>
                        <a:spcBef>
                          <a:spcPts val="300"/>
                        </a:spcBef>
                        <a:spcAft>
                          <a:spcPts val="0"/>
                        </a:spcAft>
                      </a:pPr>
                      <a:r>
                        <a:rPr lang="en-US" sz="1400" spc="-15" dirty="0">
                          <a:latin typeface="+mn-lt"/>
                          <a:ea typeface="Arial"/>
                          <a:cs typeface="Times New Roman"/>
                        </a:rPr>
                        <a:t>X Property Rate Number Factor </a:t>
                      </a:r>
                      <a:endParaRPr lang="en-US" sz="1600" dirty="0">
                        <a:latin typeface="+mn-lt"/>
                        <a:ea typeface="Calibri"/>
                        <a:cs typeface="Times New Roman"/>
                      </a:endParaRPr>
                    </a:p>
                  </a:txBody>
                  <a:tcPr marL="63894" marR="638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300"/>
                        </a:spcBef>
                        <a:spcAft>
                          <a:spcPts val="0"/>
                        </a:spcAft>
                      </a:pPr>
                      <a:r>
                        <a:rPr lang="en-US" sz="1400" spc="-15" dirty="0">
                          <a:latin typeface="+mn-lt"/>
                          <a:ea typeface="Arial"/>
                          <a:cs typeface="Times New Roman"/>
                        </a:rPr>
                        <a:t>X Property Rate Number Factor </a:t>
                      </a:r>
                      <a:endParaRPr lang="en-US" sz="1600" dirty="0">
                        <a:latin typeface="+mn-lt"/>
                        <a:ea typeface="Calibri"/>
                        <a:cs typeface="Times New Roman"/>
                      </a:endParaRPr>
                    </a:p>
                  </a:txBody>
                  <a:tcPr marL="63894" marR="638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59871">
                <a:tc>
                  <a:txBody>
                    <a:bodyPr/>
                    <a:lstStyle/>
                    <a:p>
                      <a:pPr marL="0" marR="0">
                        <a:lnSpc>
                          <a:spcPct val="115000"/>
                        </a:lnSpc>
                        <a:spcBef>
                          <a:spcPts val="300"/>
                        </a:spcBef>
                        <a:spcAft>
                          <a:spcPts val="0"/>
                        </a:spcAft>
                      </a:pPr>
                      <a:r>
                        <a:rPr lang="en-US" sz="1400" spc="-15" dirty="0">
                          <a:latin typeface="+mn-lt"/>
                          <a:ea typeface="Arial"/>
                          <a:cs typeface="Times New Roman"/>
                        </a:rPr>
                        <a:t>X Construction Factor </a:t>
                      </a:r>
                      <a:endParaRPr lang="en-US" sz="1600" dirty="0">
                        <a:latin typeface="+mn-lt"/>
                        <a:ea typeface="Calibri"/>
                        <a:cs typeface="Times New Roman"/>
                      </a:endParaRPr>
                    </a:p>
                  </a:txBody>
                  <a:tcPr marL="63894" marR="638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300"/>
                        </a:spcBef>
                        <a:spcAft>
                          <a:spcPts val="0"/>
                        </a:spcAft>
                      </a:pPr>
                      <a:r>
                        <a:rPr lang="en-US" sz="1400" spc="-15">
                          <a:latin typeface="+mn-lt"/>
                          <a:ea typeface="Arial"/>
                          <a:cs typeface="Times New Roman"/>
                        </a:rPr>
                        <a:t>X Construction Factor </a:t>
                      </a:r>
                      <a:endParaRPr lang="en-US" sz="1600">
                        <a:latin typeface="+mn-lt"/>
                        <a:ea typeface="Calibri"/>
                        <a:cs typeface="Times New Roman"/>
                      </a:endParaRPr>
                    </a:p>
                  </a:txBody>
                  <a:tcPr marL="63894" marR="638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59871">
                <a:tc>
                  <a:txBody>
                    <a:bodyPr/>
                    <a:lstStyle/>
                    <a:p>
                      <a:pPr marL="0" marR="0">
                        <a:lnSpc>
                          <a:spcPct val="115000"/>
                        </a:lnSpc>
                        <a:spcBef>
                          <a:spcPts val="300"/>
                        </a:spcBef>
                        <a:spcAft>
                          <a:spcPts val="0"/>
                        </a:spcAft>
                      </a:pPr>
                      <a:r>
                        <a:rPr lang="en-US" sz="1400" spc="-15" dirty="0">
                          <a:latin typeface="+mn-lt"/>
                          <a:ea typeface="Arial"/>
                          <a:cs typeface="Times New Roman"/>
                        </a:rPr>
                        <a:t>X Limit Of Insurance Factor </a:t>
                      </a:r>
                      <a:endParaRPr lang="en-US" sz="1600" dirty="0">
                        <a:latin typeface="+mn-lt"/>
                        <a:ea typeface="Calibri"/>
                        <a:cs typeface="Times New Roman"/>
                      </a:endParaRPr>
                    </a:p>
                  </a:txBody>
                  <a:tcPr marL="63894" marR="638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300"/>
                        </a:spcBef>
                        <a:spcAft>
                          <a:spcPts val="0"/>
                        </a:spcAft>
                      </a:pPr>
                      <a:r>
                        <a:rPr lang="en-US" sz="1400" spc="-15">
                          <a:latin typeface="+mn-lt"/>
                          <a:ea typeface="Arial"/>
                          <a:cs typeface="Times New Roman"/>
                        </a:rPr>
                        <a:t>X Limit Of Insurance Factor </a:t>
                      </a:r>
                      <a:endParaRPr lang="en-US" sz="1600">
                        <a:latin typeface="+mn-lt"/>
                        <a:ea typeface="Calibri"/>
                        <a:cs typeface="Times New Roman"/>
                      </a:endParaRPr>
                    </a:p>
                  </a:txBody>
                  <a:tcPr marL="63894" marR="638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59871">
                <a:tc>
                  <a:txBody>
                    <a:bodyPr/>
                    <a:lstStyle/>
                    <a:p>
                      <a:pPr marL="0" marR="0">
                        <a:lnSpc>
                          <a:spcPct val="115000"/>
                        </a:lnSpc>
                        <a:spcBef>
                          <a:spcPts val="300"/>
                        </a:spcBef>
                        <a:spcAft>
                          <a:spcPts val="0"/>
                        </a:spcAft>
                      </a:pPr>
                      <a:r>
                        <a:rPr lang="en-US" sz="1400" spc="-15" dirty="0">
                          <a:latin typeface="+mn-lt"/>
                          <a:ea typeface="Arial"/>
                          <a:cs typeface="Times New Roman"/>
                        </a:rPr>
                        <a:t>X Protection Class Factor </a:t>
                      </a:r>
                      <a:endParaRPr lang="en-US" sz="1600" dirty="0">
                        <a:latin typeface="+mn-lt"/>
                        <a:ea typeface="Calibri"/>
                        <a:cs typeface="Times New Roman"/>
                      </a:endParaRPr>
                    </a:p>
                  </a:txBody>
                  <a:tcPr marL="63894" marR="638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300"/>
                        </a:spcBef>
                        <a:spcAft>
                          <a:spcPts val="0"/>
                        </a:spcAft>
                      </a:pPr>
                      <a:r>
                        <a:rPr lang="en-US" sz="1400" spc="-15">
                          <a:latin typeface="+mn-lt"/>
                          <a:ea typeface="Arial"/>
                          <a:cs typeface="Times New Roman"/>
                        </a:rPr>
                        <a:t>X Protection Class Factor </a:t>
                      </a:r>
                      <a:endParaRPr lang="en-US" sz="1600">
                        <a:latin typeface="+mn-lt"/>
                        <a:ea typeface="Calibri"/>
                        <a:cs typeface="Times New Roman"/>
                      </a:endParaRPr>
                    </a:p>
                  </a:txBody>
                  <a:tcPr marL="63894" marR="638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59871">
                <a:tc>
                  <a:txBody>
                    <a:bodyPr/>
                    <a:lstStyle/>
                    <a:p>
                      <a:pPr marL="0" marR="0">
                        <a:lnSpc>
                          <a:spcPct val="115000"/>
                        </a:lnSpc>
                        <a:spcBef>
                          <a:spcPts val="300"/>
                        </a:spcBef>
                        <a:spcAft>
                          <a:spcPts val="0"/>
                        </a:spcAft>
                      </a:pPr>
                      <a:r>
                        <a:rPr lang="en-US" sz="1400" spc="-15" dirty="0">
                          <a:latin typeface="+mn-lt"/>
                          <a:ea typeface="Arial"/>
                          <a:cs typeface="Times New Roman"/>
                        </a:rPr>
                        <a:t>X Building Code Effectiveness Grading </a:t>
                      </a:r>
                      <a:endParaRPr lang="en-US" sz="1600" dirty="0">
                        <a:latin typeface="+mn-lt"/>
                        <a:ea typeface="Calibri"/>
                        <a:cs typeface="Times New Roman"/>
                      </a:endParaRPr>
                    </a:p>
                  </a:txBody>
                  <a:tcPr marL="63894" marR="638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300"/>
                        </a:spcBef>
                        <a:spcAft>
                          <a:spcPts val="0"/>
                        </a:spcAft>
                      </a:pPr>
                      <a:r>
                        <a:rPr lang="en-US" sz="1400" spc="-15">
                          <a:latin typeface="+mn-lt"/>
                          <a:ea typeface="Arial"/>
                          <a:cs typeface="Times New Roman"/>
                        </a:rPr>
                        <a:t>X Building Code Effectiveness Grading </a:t>
                      </a:r>
                      <a:endParaRPr lang="en-US" sz="1600">
                        <a:latin typeface="+mn-lt"/>
                        <a:ea typeface="Calibri"/>
                        <a:cs typeface="Times New Roman"/>
                      </a:endParaRPr>
                    </a:p>
                  </a:txBody>
                  <a:tcPr marL="63894" marR="638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59871">
                <a:tc>
                  <a:txBody>
                    <a:bodyPr/>
                    <a:lstStyle/>
                    <a:p>
                      <a:pPr marL="0" marR="0">
                        <a:lnSpc>
                          <a:spcPct val="115000"/>
                        </a:lnSpc>
                        <a:spcBef>
                          <a:spcPts val="300"/>
                        </a:spcBef>
                        <a:spcAft>
                          <a:spcPts val="0"/>
                        </a:spcAft>
                      </a:pPr>
                      <a:r>
                        <a:rPr lang="en-US" sz="1400" spc="-15" dirty="0">
                          <a:latin typeface="+mn-lt"/>
                          <a:ea typeface="Arial"/>
                          <a:cs typeface="Times New Roman"/>
                        </a:rPr>
                        <a:t>X Sprinklers Factor </a:t>
                      </a:r>
                      <a:endParaRPr lang="en-US" sz="1600" dirty="0">
                        <a:latin typeface="+mn-lt"/>
                        <a:ea typeface="Calibri"/>
                        <a:cs typeface="Times New Roman"/>
                      </a:endParaRPr>
                    </a:p>
                  </a:txBody>
                  <a:tcPr marL="63894" marR="638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300"/>
                        </a:spcBef>
                        <a:spcAft>
                          <a:spcPts val="0"/>
                        </a:spcAft>
                      </a:pPr>
                      <a:r>
                        <a:rPr lang="en-US" sz="1400" spc="-15">
                          <a:latin typeface="+mn-lt"/>
                          <a:ea typeface="Arial"/>
                          <a:cs typeface="Times New Roman"/>
                        </a:rPr>
                        <a:t>X Sprinklers Factor </a:t>
                      </a:r>
                      <a:endParaRPr lang="en-US" sz="1600">
                        <a:latin typeface="+mn-lt"/>
                        <a:ea typeface="Calibri"/>
                        <a:cs typeface="Times New Roman"/>
                      </a:endParaRPr>
                    </a:p>
                  </a:txBody>
                  <a:tcPr marL="63894" marR="638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59871">
                <a:tc>
                  <a:txBody>
                    <a:bodyPr/>
                    <a:lstStyle/>
                    <a:p>
                      <a:pPr marL="0" marR="0">
                        <a:lnSpc>
                          <a:spcPct val="115000"/>
                        </a:lnSpc>
                        <a:spcBef>
                          <a:spcPts val="300"/>
                        </a:spcBef>
                        <a:spcAft>
                          <a:spcPts val="0"/>
                        </a:spcAft>
                      </a:pPr>
                      <a:r>
                        <a:rPr lang="en-US" sz="1400" spc="-15" dirty="0">
                          <a:latin typeface="+mn-lt"/>
                          <a:ea typeface="Arial"/>
                          <a:cs typeface="Times New Roman"/>
                        </a:rPr>
                        <a:t>X Deductible Factor </a:t>
                      </a:r>
                      <a:endParaRPr lang="en-US" sz="1600" dirty="0">
                        <a:latin typeface="+mn-lt"/>
                        <a:ea typeface="Calibri"/>
                        <a:cs typeface="Times New Roman"/>
                      </a:endParaRPr>
                    </a:p>
                  </a:txBody>
                  <a:tcPr marL="63894" marR="638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300"/>
                        </a:spcBef>
                        <a:spcAft>
                          <a:spcPts val="0"/>
                        </a:spcAft>
                      </a:pPr>
                      <a:r>
                        <a:rPr lang="en-US" sz="1400" spc="-15">
                          <a:latin typeface="+mn-lt"/>
                          <a:ea typeface="Arial"/>
                          <a:cs typeface="Times New Roman"/>
                        </a:rPr>
                        <a:t>X Deductible Factor </a:t>
                      </a:r>
                      <a:endParaRPr lang="en-US" sz="1600">
                        <a:latin typeface="+mn-lt"/>
                        <a:ea typeface="Calibri"/>
                        <a:cs typeface="Times New Roman"/>
                      </a:endParaRPr>
                    </a:p>
                  </a:txBody>
                  <a:tcPr marL="63894" marR="638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59871">
                <a:tc>
                  <a:txBody>
                    <a:bodyPr/>
                    <a:lstStyle/>
                    <a:p>
                      <a:pPr marL="0" marR="0">
                        <a:lnSpc>
                          <a:spcPct val="115000"/>
                        </a:lnSpc>
                        <a:spcBef>
                          <a:spcPts val="300"/>
                        </a:spcBef>
                        <a:spcAft>
                          <a:spcPts val="0"/>
                        </a:spcAft>
                      </a:pPr>
                      <a:r>
                        <a:rPr lang="en-US" sz="1400" spc="-15" dirty="0">
                          <a:latin typeface="+mn-lt"/>
                          <a:ea typeface="Arial"/>
                          <a:cs typeface="Times New Roman"/>
                        </a:rPr>
                        <a:t>X Company Loss Cost Multiplier </a:t>
                      </a:r>
                      <a:endParaRPr lang="en-US" sz="1600" dirty="0">
                        <a:latin typeface="+mn-lt"/>
                        <a:ea typeface="Calibri"/>
                        <a:cs typeface="Times New Roman"/>
                      </a:endParaRPr>
                    </a:p>
                  </a:txBody>
                  <a:tcPr marL="63894" marR="638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300"/>
                        </a:spcBef>
                        <a:spcAft>
                          <a:spcPts val="0"/>
                        </a:spcAft>
                      </a:pPr>
                      <a:r>
                        <a:rPr lang="en-US" sz="1400" spc="-15">
                          <a:latin typeface="+mn-lt"/>
                          <a:ea typeface="Arial"/>
                          <a:cs typeface="Times New Roman"/>
                        </a:rPr>
                        <a:t>X Company Loss Cost Multiplier </a:t>
                      </a:r>
                      <a:endParaRPr lang="en-US" sz="1600">
                        <a:latin typeface="+mn-lt"/>
                        <a:ea typeface="Calibri"/>
                        <a:cs typeface="Times New Roman"/>
                      </a:endParaRPr>
                    </a:p>
                  </a:txBody>
                  <a:tcPr marL="63894" marR="638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259871">
                <a:tc>
                  <a:txBody>
                    <a:bodyPr/>
                    <a:lstStyle/>
                    <a:p>
                      <a:pPr marL="0" marR="0">
                        <a:lnSpc>
                          <a:spcPct val="115000"/>
                        </a:lnSpc>
                        <a:spcBef>
                          <a:spcPts val="300"/>
                        </a:spcBef>
                        <a:spcAft>
                          <a:spcPts val="0"/>
                        </a:spcAft>
                      </a:pPr>
                      <a:r>
                        <a:rPr lang="en-US" sz="1400" spc="-15" dirty="0">
                          <a:latin typeface="+mn-lt"/>
                          <a:ea typeface="Arial"/>
                          <a:cs typeface="Times New Roman"/>
                        </a:rPr>
                        <a:t>= Building Rate </a:t>
                      </a:r>
                      <a:endParaRPr lang="en-US" sz="1600" dirty="0">
                        <a:latin typeface="+mn-lt"/>
                        <a:ea typeface="Calibri"/>
                        <a:cs typeface="Times New Roman"/>
                      </a:endParaRPr>
                    </a:p>
                  </a:txBody>
                  <a:tcPr marL="63894" marR="638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300"/>
                        </a:spcBef>
                        <a:spcAft>
                          <a:spcPts val="0"/>
                        </a:spcAft>
                      </a:pPr>
                      <a:r>
                        <a:rPr lang="en-US" sz="1400" spc="-15" dirty="0">
                          <a:latin typeface="+mn-lt"/>
                          <a:ea typeface="Arial"/>
                          <a:cs typeface="Times New Roman"/>
                        </a:rPr>
                        <a:t>= Business Personal Property Rate </a:t>
                      </a:r>
                      <a:endParaRPr lang="en-US" sz="1600" dirty="0">
                        <a:latin typeface="+mn-lt"/>
                        <a:ea typeface="Calibri"/>
                        <a:cs typeface="Times New Roman"/>
                      </a:endParaRPr>
                    </a:p>
                  </a:txBody>
                  <a:tcPr marL="63894" marR="638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6" name="TextBox 5">
            <a:extLst>
              <a:ext uri="{FF2B5EF4-FFF2-40B4-BE49-F238E27FC236}">
                <a16:creationId xmlns:a16="http://schemas.microsoft.com/office/drawing/2014/main" id="{13B78010-7264-4C83-9FF2-A92DE72551A6}"/>
              </a:ext>
            </a:extLst>
          </p:cNvPr>
          <p:cNvSpPr txBox="1"/>
          <p:nvPr/>
        </p:nvSpPr>
        <p:spPr>
          <a:xfrm>
            <a:off x="784151" y="6264557"/>
            <a:ext cx="10858500" cy="307777"/>
          </a:xfrm>
          <a:prstGeom prst="rect">
            <a:avLst/>
          </a:prstGeom>
          <a:noFill/>
        </p:spPr>
        <p:txBody>
          <a:bodyPr wrap="square">
            <a:spAutoFit/>
          </a:bodyPr>
          <a:lstStyle/>
          <a:p>
            <a:pPr eaLnBrk="1" hangingPunct="1">
              <a:defRPr/>
            </a:pPr>
            <a:r>
              <a:rPr lang="en-US" sz="1400" dirty="0">
                <a:solidFill>
                  <a:srgbClr val="0000FF"/>
                </a:solidFill>
                <a:latin typeface="+mn-lt"/>
              </a:rPr>
              <a:t>The rate is rounded to three decimal places and then multiplied by the limit of insurance. The premium is then rounded to the nearest dollar. </a:t>
            </a:r>
          </a:p>
        </p:txBody>
      </p:sp>
      <p:sp>
        <p:nvSpPr>
          <p:cNvPr id="8" name="TextBox 7">
            <a:extLst>
              <a:ext uri="{FF2B5EF4-FFF2-40B4-BE49-F238E27FC236}">
                <a16:creationId xmlns:a16="http://schemas.microsoft.com/office/drawing/2014/main" id="{760F0CE2-3DA1-4E12-80E3-F88A4DBEB79B}"/>
              </a:ext>
            </a:extLst>
          </p:cNvPr>
          <p:cNvSpPr txBox="1"/>
          <p:nvPr/>
        </p:nvSpPr>
        <p:spPr>
          <a:xfrm>
            <a:off x="167463" y="469539"/>
            <a:ext cx="6097772" cy="369332"/>
          </a:xfrm>
          <a:prstGeom prst="rect">
            <a:avLst/>
          </a:prstGeom>
          <a:noFill/>
        </p:spPr>
        <p:txBody>
          <a:bodyPr wrap="square">
            <a:spAutoFit/>
          </a:bodyPr>
          <a:lstStyle/>
          <a:p>
            <a:r>
              <a:rPr lang="en-IN" dirty="0">
                <a:solidFill>
                  <a:srgbClr val="0000FF"/>
                </a:solidFill>
              </a:rPr>
              <a:t>Property</a:t>
            </a:r>
          </a:p>
        </p:txBody>
      </p:sp>
    </p:spTree>
    <p:extLst>
      <p:ext uri="{BB962C8B-B14F-4D97-AF65-F5344CB8AC3E}">
        <p14:creationId xmlns:p14="http://schemas.microsoft.com/office/powerpoint/2010/main" val="36808858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503C11F-A306-4B55-9F7C-779A563873D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3906" y="801323"/>
            <a:ext cx="9804188" cy="264653"/>
          </a:xfrm>
          <a:prstGeom prst="rect">
            <a:avLst/>
          </a:prstGeom>
        </p:spPr>
      </p:pic>
      <p:sp>
        <p:nvSpPr>
          <p:cNvPr id="3" name="Rectangle 2">
            <a:extLst>
              <a:ext uri="{FF2B5EF4-FFF2-40B4-BE49-F238E27FC236}">
                <a16:creationId xmlns:a16="http://schemas.microsoft.com/office/drawing/2014/main" id="{39108232-7932-4737-A076-70E0BFE03C69}"/>
              </a:ext>
            </a:extLst>
          </p:cNvPr>
          <p:cNvSpPr/>
          <p:nvPr/>
        </p:nvSpPr>
        <p:spPr>
          <a:xfrm>
            <a:off x="457200" y="1371600"/>
            <a:ext cx="11238614" cy="1785104"/>
          </a:xfrm>
          <a:prstGeom prst="rect">
            <a:avLst/>
          </a:prstGeom>
          <a:ln>
            <a:solidFill>
              <a:srgbClr val="0000FF"/>
            </a:solidFill>
          </a:ln>
        </p:spPr>
        <p:txBody>
          <a:bodyPr wrap="square">
            <a:spAutoFit/>
          </a:bodyPr>
          <a:lstStyle/>
          <a:p>
            <a:pPr eaLnBrk="1" hangingPunct="1">
              <a:defRPr/>
            </a:pPr>
            <a:r>
              <a:rPr lang="en-US" sz="1600" b="1" dirty="0">
                <a:latin typeface="+mn-lt"/>
              </a:rPr>
              <a:t>Property Rate Number </a:t>
            </a:r>
          </a:p>
          <a:p>
            <a:pPr marL="285750" indent="-285750" eaLnBrk="1" hangingPunct="1">
              <a:buClr>
                <a:srgbClr val="C00000"/>
              </a:buClr>
              <a:buFont typeface="Arial" panose="020B0604020202020204" pitchFamily="34" charset="0"/>
              <a:buChar char="•"/>
              <a:defRPr/>
            </a:pPr>
            <a:endParaRPr lang="en-US" sz="1600" b="1" dirty="0">
              <a:latin typeface="+mn-lt"/>
            </a:endParaRPr>
          </a:p>
          <a:p>
            <a:pPr marL="742950" lvl="1" indent="-285750">
              <a:buClr>
                <a:srgbClr val="C00000"/>
              </a:buClr>
              <a:buFont typeface="Arial" panose="020B0604020202020204" pitchFamily="34" charset="0"/>
              <a:buChar char="•"/>
              <a:defRPr/>
            </a:pPr>
            <a:r>
              <a:rPr lang="en-US" sz="1600" dirty="0">
                <a:latin typeface="+mn-lt"/>
              </a:rPr>
              <a:t> The property rate numbers are in the Business owners Classification section </a:t>
            </a:r>
          </a:p>
          <a:p>
            <a:pPr marL="742950" lvl="1" indent="-285750">
              <a:buClr>
                <a:srgbClr val="C00000"/>
              </a:buClr>
              <a:buFont typeface="Arial" panose="020B0604020202020204" pitchFamily="34" charset="0"/>
              <a:buChar char="•"/>
              <a:defRPr/>
            </a:pPr>
            <a:endParaRPr lang="en-US" sz="1600" dirty="0">
              <a:latin typeface="+mn-lt"/>
            </a:endParaRPr>
          </a:p>
          <a:p>
            <a:pPr marL="742950" lvl="1" indent="-285750">
              <a:buClr>
                <a:srgbClr val="C00000"/>
              </a:buClr>
              <a:buFont typeface="Arial" panose="020B0604020202020204" pitchFamily="34" charset="0"/>
              <a:buChar char="•"/>
              <a:defRPr/>
            </a:pPr>
            <a:r>
              <a:rPr lang="en-US" sz="1600" dirty="0">
                <a:latin typeface="+mn-lt"/>
              </a:rPr>
              <a:t>The numbers range from 01 to 26. The table in the Rating Relativities and Factors Section of the Countrywide Manual under Rule 23 then assigns a factor based on the appropriate property rate number for the risk or class of business involved</a:t>
            </a:r>
          </a:p>
          <a:p>
            <a:pPr marL="285750" indent="-285750" eaLnBrk="1" hangingPunct="1">
              <a:buFont typeface="Arial" panose="020B0604020202020204" pitchFamily="34" charset="0"/>
              <a:buChar char="•"/>
              <a:defRPr/>
            </a:pPr>
            <a:endParaRPr lang="en-US" sz="1400" dirty="0">
              <a:latin typeface="+mn-lt"/>
            </a:endParaRPr>
          </a:p>
        </p:txBody>
      </p:sp>
      <p:sp>
        <p:nvSpPr>
          <p:cNvPr id="4" name="Rectangle 66">
            <a:extLst>
              <a:ext uri="{FF2B5EF4-FFF2-40B4-BE49-F238E27FC236}">
                <a16:creationId xmlns:a16="http://schemas.microsoft.com/office/drawing/2014/main" id="{4426B84B-6923-4B9A-9CAF-5CE673A346FE}"/>
              </a:ext>
            </a:extLst>
          </p:cNvPr>
          <p:cNvSpPr>
            <a:spLocks noChangeArrowheads="1"/>
          </p:cNvSpPr>
          <p:nvPr/>
        </p:nvSpPr>
        <p:spPr bwMode="auto">
          <a:xfrm>
            <a:off x="83906" y="399686"/>
            <a:ext cx="5867400"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a:spcBef>
                <a:spcPct val="20000"/>
              </a:spcBef>
              <a:buFont typeface="Arial" panose="020B0604020202020204" pitchFamily="34" charset="0"/>
              <a:buChar char="•"/>
              <a:tabLst>
                <a:tab pos="18288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18288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18288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18288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18288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9pPr>
          </a:lstStyle>
          <a:p>
            <a:pPr>
              <a:spcBef>
                <a:spcPct val="0"/>
              </a:spcBef>
              <a:buSzPct val="120000"/>
              <a:buFontTx/>
              <a:buNone/>
            </a:pPr>
            <a:r>
              <a:rPr lang="en-US" altLang="en-US" sz="2000" dirty="0">
                <a:solidFill>
                  <a:srgbClr val="0000FF"/>
                </a:solidFill>
              </a:rPr>
              <a:t>Property Rating contd..</a:t>
            </a:r>
          </a:p>
        </p:txBody>
      </p:sp>
    </p:spTree>
    <p:extLst>
      <p:ext uri="{BB962C8B-B14F-4D97-AF65-F5344CB8AC3E}">
        <p14:creationId xmlns:p14="http://schemas.microsoft.com/office/powerpoint/2010/main" val="11013952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C4F2002-32C4-46BB-AA90-CAFDC325871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3906" y="801323"/>
            <a:ext cx="9804188" cy="264653"/>
          </a:xfrm>
          <a:prstGeom prst="rect">
            <a:avLst/>
          </a:prstGeom>
        </p:spPr>
      </p:pic>
      <p:sp>
        <p:nvSpPr>
          <p:cNvPr id="3" name="Rectangle 66">
            <a:extLst>
              <a:ext uri="{FF2B5EF4-FFF2-40B4-BE49-F238E27FC236}">
                <a16:creationId xmlns:a16="http://schemas.microsoft.com/office/drawing/2014/main" id="{93C45FAA-081F-42EE-9B92-09F54DF7180D}"/>
              </a:ext>
            </a:extLst>
          </p:cNvPr>
          <p:cNvSpPr>
            <a:spLocks noChangeArrowheads="1"/>
          </p:cNvSpPr>
          <p:nvPr/>
        </p:nvSpPr>
        <p:spPr bwMode="auto">
          <a:xfrm>
            <a:off x="76200" y="182563"/>
            <a:ext cx="5867400"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a:spcBef>
                <a:spcPct val="20000"/>
              </a:spcBef>
              <a:buFont typeface="Arial" panose="020B0604020202020204" pitchFamily="34" charset="0"/>
              <a:buChar char="•"/>
              <a:tabLst>
                <a:tab pos="18288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18288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18288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18288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18288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9pPr>
          </a:lstStyle>
          <a:p>
            <a:pPr>
              <a:spcBef>
                <a:spcPct val="0"/>
              </a:spcBef>
              <a:buSzPct val="120000"/>
              <a:buFontTx/>
              <a:buNone/>
            </a:pPr>
            <a:r>
              <a:rPr lang="en-US" altLang="en-US" sz="2000" dirty="0">
                <a:solidFill>
                  <a:srgbClr val="0000FF"/>
                </a:solidFill>
              </a:rPr>
              <a:t>Property Rating contd..</a:t>
            </a:r>
          </a:p>
        </p:txBody>
      </p:sp>
      <p:sp>
        <p:nvSpPr>
          <p:cNvPr id="4" name="Rectangle 3">
            <a:extLst>
              <a:ext uri="{FF2B5EF4-FFF2-40B4-BE49-F238E27FC236}">
                <a16:creationId xmlns:a16="http://schemas.microsoft.com/office/drawing/2014/main" id="{926D70FD-3691-474D-B638-0CD60CE45192}"/>
              </a:ext>
            </a:extLst>
          </p:cNvPr>
          <p:cNvSpPr/>
          <p:nvPr/>
        </p:nvSpPr>
        <p:spPr>
          <a:xfrm>
            <a:off x="443024" y="1623341"/>
            <a:ext cx="11401646" cy="4647426"/>
          </a:xfrm>
          <a:prstGeom prst="rect">
            <a:avLst/>
          </a:prstGeom>
          <a:ln>
            <a:solidFill>
              <a:srgbClr val="0000FF"/>
            </a:solidFill>
          </a:ln>
        </p:spPr>
        <p:txBody>
          <a:bodyPr wrap="square">
            <a:spAutoFit/>
          </a:bodyPr>
          <a:lstStyle/>
          <a:p>
            <a:pPr eaLnBrk="1" hangingPunct="1">
              <a:defRPr/>
            </a:pPr>
            <a:r>
              <a:rPr lang="en-US" b="1" dirty="0">
                <a:solidFill>
                  <a:srgbClr val="0000FF"/>
                </a:solidFill>
                <a:latin typeface="+mn-lt"/>
              </a:rPr>
              <a:t>Construction Types </a:t>
            </a:r>
          </a:p>
          <a:p>
            <a:pPr marL="285750" indent="-285750" eaLnBrk="1" hangingPunct="1">
              <a:buFont typeface="Arial" panose="020B0604020202020204" pitchFamily="34" charset="0"/>
              <a:buChar char="•"/>
              <a:defRPr/>
            </a:pPr>
            <a:endParaRPr lang="en-US" sz="1400" dirty="0">
              <a:latin typeface="+mn-lt"/>
            </a:endParaRPr>
          </a:p>
          <a:p>
            <a:pPr marL="285750" indent="-285750" eaLnBrk="1" hangingPunct="1">
              <a:buFont typeface="Arial" panose="020B0604020202020204" pitchFamily="34" charset="0"/>
              <a:buChar char="•"/>
              <a:defRPr/>
            </a:pPr>
            <a:r>
              <a:rPr lang="en-US" sz="1400" dirty="0">
                <a:latin typeface="+mn-lt"/>
              </a:rPr>
              <a:t>One of the following types of construction applies, using the information and descriptions in Rule 23. One part of the rule describes the proper method used to classify mixed construction</a:t>
            </a:r>
          </a:p>
          <a:p>
            <a:pPr marL="285750" indent="-285750" eaLnBrk="1" hangingPunct="1">
              <a:buFont typeface="Arial" panose="020B0604020202020204" pitchFamily="34" charset="0"/>
              <a:buChar char="•"/>
              <a:defRPr/>
            </a:pPr>
            <a:endParaRPr lang="en-US" sz="1400" dirty="0">
              <a:latin typeface="+mn-lt"/>
            </a:endParaRPr>
          </a:p>
          <a:p>
            <a:pPr marL="285750" indent="-285750" eaLnBrk="1" hangingPunct="1">
              <a:lnSpc>
                <a:spcPct val="150000"/>
              </a:lnSpc>
              <a:buClr>
                <a:srgbClr val="C00000"/>
              </a:buClr>
              <a:buFont typeface="Arial" panose="020B0604020202020204" pitchFamily="34" charset="0"/>
              <a:buChar char="•"/>
              <a:defRPr/>
            </a:pPr>
            <a:r>
              <a:rPr lang="en-US" sz="1400" b="1" dirty="0">
                <a:latin typeface="+mn-lt"/>
              </a:rPr>
              <a:t> Frame </a:t>
            </a:r>
            <a:r>
              <a:rPr lang="en-US" sz="1400" dirty="0">
                <a:latin typeface="+mn-lt"/>
              </a:rPr>
              <a:t>has exterior walls of wood or other combustible materials. It also includes mixed construction like brick veneer, stone veneer, wood-iron clad or stucco on wood</a:t>
            </a:r>
          </a:p>
          <a:p>
            <a:pPr marL="285750" indent="-285750" eaLnBrk="1" hangingPunct="1">
              <a:lnSpc>
                <a:spcPct val="150000"/>
              </a:lnSpc>
              <a:buClr>
                <a:srgbClr val="C00000"/>
              </a:buClr>
              <a:buFont typeface="Arial" panose="020B0604020202020204" pitchFamily="34" charset="0"/>
              <a:buChar char="•"/>
              <a:defRPr/>
            </a:pPr>
            <a:r>
              <a:rPr lang="en-US" sz="1400" b="1" dirty="0">
                <a:latin typeface="+mn-lt"/>
              </a:rPr>
              <a:t> Joisted Masonry </a:t>
            </a:r>
            <a:r>
              <a:rPr lang="en-US" sz="1400" dirty="0">
                <a:latin typeface="+mn-lt"/>
              </a:rPr>
              <a:t>has exterior walls of masonry materials such as adobe, brick, concrete, gypsum block, hollow concrete block, stone and tile. Floors and roof materials are combustible</a:t>
            </a:r>
          </a:p>
          <a:p>
            <a:pPr marL="285750" indent="-285750" eaLnBrk="1" hangingPunct="1">
              <a:lnSpc>
                <a:spcPct val="150000"/>
              </a:lnSpc>
              <a:buClr>
                <a:srgbClr val="C00000"/>
              </a:buClr>
              <a:buFont typeface="Arial" panose="020B0604020202020204" pitchFamily="34" charset="0"/>
              <a:buChar char="•"/>
              <a:defRPr/>
            </a:pPr>
            <a:r>
              <a:rPr lang="en-US" sz="1400" b="1" dirty="0">
                <a:latin typeface="+mn-lt"/>
              </a:rPr>
              <a:t> Noncombustible </a:t>
            </a:r>
            <a:r>
              <a:rPr lang="en-US" sz="1400" dirty="0">
                <a:latin typeface="+mn-lt"/>
              </a:rPr>
              <a:t>has exterior walls, floors and roof constructed of and supported by metal, asbestos, gypsum or other noncombustible materials </a:t>
            </a:r>
          </a:p>
          <a:p>
            <a:pPr marL="285750" indent="-285750" eaLnBrk="1" hangingPunct="1">
              <a:lnSpc>
                <a:spcPct val="150000"/>
              </a:lnSpc>
              <a:buClr>
                <a:srgbClr val="C00000"/>
              </a:buClr>
              <a:buFont typeface="Arial" panose="020B0604020202020204" pitchFamily="34" charset="0"/>
              <a:buChar char="•"/>
              <a:defRPr/>
            </a:pPr>
            <a:r>
              <a:rPr lang="en-US" sz="1400" b="1" dirty="0">
                <a:latin typeface="+mn-lt"/>
              </a:rPr>
              <a:t> Masonry Noncombustible </a:t>
            </a:r>
            <a:r>
              <a:rPr lang="en-US" sz="1400" dirty="0">
                <a:latin typeface="+mn-lt"/>
              </a:rPr>
              <a:t>has exterior walls of masonry materials as described under joisted masonry above. Floors and roof consist of metal or other noncombustible materials </a:t>
            </a:r>
          </a:p>
          <a:p>
            <a:pPr marL="285750" indent="-285750" eaLnBrk="1" hangingPunct="1">
              <a:lnSpc>
                <a:spcPct val="150000"/>
              </a:lnSpc>
              <a:buClr>
                <a:srgbClr val="C00000"/>
              </a:buClr>
              <a:buFont typeface="Arial" panose="020B0604020202020204" pitchFamily="34" charset="0"/>
              <a:buChar char="•"/>
              <a:defRPr/>
            </a:pPr>
            <a:r>
              <a:rPr lang="en-US" sz="1400" b="1" dirty="0">
                <a:latin typeface="+mn-lt"/>
              </a:rPr>
              <a:t> Modified Fire-Resistive </a:t>
            </a:r>
            <a:r>
              <a:rPr lang="en-US" sz="1400" dirty="0">
                <a:latin typeface="+mn-lt"/>
              </a:rPr>
              <a:t>has exterior walls, floors and roof of masonry or fire-resistive materials with a fire-resistive rating of at least one hour and less than two hours</a:t>
            </a:r>
          </a:p>
          <a:p>
            <a:pPr marL="285750" indent="-285750" eaLnBrk="1" hangingPunct="1">
              <a:lnSpc>
                <a:spcPct val="150000"/>
              </a:lnSpc>
              <a:buClr>
                <a:srgbClr val="C00000"/>
              </a:buClr>
              <a:buFont typeface="Arial" panose="020B0604020202020204" pitchFamily="34" charset="0"/>
              <a:buChar char="•"/>
              <a:defRPr/>
            </a:pPr>
            <a:r>
              <a:rPr lang="en-US" sz="1400" b="1" dirty="0">
                <a:latin typeface="+mn-lt"/>
              </a:rPr>
              <a:t> Fire-Resistive </a:t>
            </a:r>
            <a:r>
              <a:rPr lang="en-US" sz="1400" dirty="0">
                <a:latin typeface="+mn-lt"/>
              </a:rPr>
              <a:t>has exterior walls, floors and roof of masonry or fire-resistive materials having a fire resistance rating of two hours or more</a:t>
            </a:r>
          </a:p>
          <a:p>
            <a:pPr marL="171450" indent="-171450" eaLnBrk="1" hangingPunct="1">
              <a:buFont typeface="Arial" panose="020B0604020202020204" pitchFamily="34" charset="0"/>
              <a:buChar char="•"/>
              <a:defRPr/>
            </a:pPr>
            <a:endParaRPr lang="en-US" sz="1200" dirty="0">
              <a:latin typeface="+mn-lt"/>
            </a:endParaRPr>
          </a:p>
        </p:txBody>
      </p:sp>
    </p:spTree>
    <p:extLst>
      <p:ext uri="{BB962C8B-B14F-4D97-AF65-F5344CB8AC3E}">
        <p14:creationId xmlns:p14="http://schemas.microsoft.com/office/powerpoint/2010/main" val="16720148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CDF2870-E072-4251-A2E2-8EF63607AF1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3906" y="801323"/>
            <a:ext cx="9804188" cy="264653"/>
          </a:xfrm>
          <a:prstGeom prst="rect">
            <a:avLst/>
          </a:prstGeom>
        </p:spPr>
      </p:pic>
      <p:sp>
        <p:nvSpPr>
          <p:cNvPr id="3" name="Rectangle 66">
            <a:extLst>
              <a:ext uri="{FF2B5EF4-FFF2-40B4-BE49-F238E27FC236}">
                <a16:creationId xmlns:a16="http://schemas.microsoft.com/office/drawing/2014/main" id="{6E24B688-A23E-4154-932D-761B30722B8F}"/>
              </a:ext>
            </a:extLst>
          </p:cNvPr>
          <p:cNvSpPr>
            <a:spLocks noChangeArrowheads="1"/>
          </p:cNvSpPr>
          <p:nvPr/>
        </p:nvSpPr>
        <p:spPr bwMode="auto">
          <a:xfrm>
            <a:off x="228600" y="399686"/>
            <a:ext cx="5867400"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a:spcBef>
                <a:spcPct val="20000"/>
              </a:spcBef>
              <a:buFont typeface="Arial" panose="020B0604020202020204" pitchFamily="34" charset="0"/>
              <a:buChar char="•"/>
              <a:tabLst>
                <a:tab pos="18288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18288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18288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18288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18288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9pPr>
          </a:lstStyle>
          <a:p>
            <a:pPr>
              <a:spcBef>
                <a:spcPct val="0"/>
              </a:spcBef>
              <a:buSzPct val="120000"/>
              <a:buFontTx/>
              <a:buNone/>
            </a:pPr>
            <a:r>
              <a:rPr lang="en-US" altLang="en-US" sz="2000" dirty="0">
                <a:solidFill>
                  <a:srgbClr val="0000FF"/>
                </a:solidFill>
              </a:rPr>
              <a:t>Property Rating contd..</a:t>
            </a:r>
          </a:p>
        </p:txBody>
      </p:sp>
      <p:sp>
        <p:nvSpPr>
          <p:cNvPr id="4" name="Rectangle 3">
            <a:extLst>
              <a:ext uri="{FF2B5EF4-FFF2-40B4-BE49-F238E27FC236}">
                <a16:creationId xmlns:a16="http://schemas.microsoft.com/office/drawing/2014/main" id="{18D7177C-3A32-4D12-BC6A-CD88B4F427DD}"/>
              </a:ext>
            </a:extLst>
          </p:cNvPr>
          <p:cNvSpPr/>
          <p:nvPr/>
        </p:nvSpPr>
        <p:spPr>
          <a:xfrm>
            <a:off x="572386" y="1692719"/>
            <a:ext cx="11047227" cy="2339102"/>
          </a:xfrm>
          <a:prstGeom prst="rect">
            <a:avLst/>
          </a:prstGeom>
          <a:ln>
            <a:solidFill>
              <a:srgbClr val="0000FF"/>
            </a:solidFill>
          </a:ln>
        </p:spPr>
        <p:txBody>
          <a:bodyPr wrap="square">
            <a:spAutoFit/>
          </a:bodyPr>
          <a:lstStyle/>
          <a:p>
            <a:pPr eaLnBrk="1" hangingPunct="1">
              <a:defRPr/>
            </a:pPr>
            <a:r>
              <a:rPr lang="en-US" b="1" dirty="0">
                <a:latin typeface="+mn-lt"/>
              </a:rPr>
              <a:t>Limit of Insurance </a:t>
            </a:r>
          </a:p>
          <a:p>
            <a:pPr marL="285750" indent="-285750" eaLnBrk="1" hangingPunct="1">
              <a:buFont typeface="Arial" panose="020B0604020202020204" pitchFamily="34" charset="0"/>
              <a:buChar char="•"/>
              <a:defRPr/>
            </a:pPr>
            <a:endParaRPr lang="en-US" sz="1600" dirty="0">
              <a:latin typeface="+mn-lt"/>
            </a:endParaRPr>
          </a:p>
          <a:p>
            <a:pPr marL="800100" lvl="1" indent="-342900">
              <a:buClr>
                <a:srgbClr val="C00000"/>
              </a:buClr>
              <a:buFont typeface="Arial" panose="020B0604020202020204" pitchFamily="34" charset="0"/>
              <a:buChar char="•"/>
              <a:defRPr/>
            </a:pPr>
            <a:r>
              <a:rPr lang="en-US" sz="1600" dirty="0">
                <a:latin typeface="+mn-lt"/>
              </a:rPr>
              <a:t>This factor reflects the fact that most losses occur in the lower limits of insurance and that chances of a total loss diminish as the limits increase. </a:t>
            </a:r>
          </a:p>
          <a:p>
            <a:pPr marL="800100" lvl="1" indent="-342900">
              <a:buClr>
                <a:srgbClr val="C00000"/>
              </a:buClr>
              <a:buFont typeface="Arial" panose="020B0604020202020204" pitchFamily="34" charset="0"/>
              <a:buChar char="•"/>
              <a:defRPr/>
            </a:pPr>
            <a:endParaRPr lang="en-US" sz="1600" dirty="0">
              <a:latin typeface="+mn-lt"/>
            </a:endParaRPr>
          </a:p>
          <a:p>
            <a:pPr marL="800100" lvl="1" indent="-342900">
              <a:buClr>
                <a:srgbClr val="C00000"/>
              </a:buClr>
              <a:buFont typeface="Arial" panose="020B0604020202020204" pitchFamily="34" charset="0"/>
              <a:buChar char="•"/>
              <a:defRPr/>
            </a:pPr>
            <a:r>
              <a:rPr lang="en-US" sz="1600" dirty="0">
                <a:latin typeface="+mn-lt"/>
              </a:rPr>
              <a:t>ISO determined that limits of $200,000 on building and $50,000 on business personal property were the dividing point for credits and debits and hence assigned a factor of 1.00 for these limits. </a:t>
            </a:r>
          </a:p>
          <a:p>
            <a:pPr marL="800100" lvl="1" indent="-342900">
              <a:buClr>
                <a:srgbClr val="C00000"/>
              </a:buClr>
              <a:buFont typeface="Arial" panose="020B0604020202020204" pitchFamily="34" charset="0"/>
              <a:buChar char="•"/>
              <a:defRPr/>
            </a:pPr>
            <a:endParaRPr lang="en-US" sz="1600" dirty="0">
              <a:latin typeface="+mn-lt"/>
            </a:endParaRPr>
          </a:p>
          <a:p>
            <a:pPr marL="800100" lvl="1" indent="-342900">
              <a:buClr>
                <a:srgbClr val="C00000"/>
              </a:buClr>
              <a:buFont typeface="Arial" panose="020B0604020202020204" pitchFamily="34" charset="0"/>
              <a:buChar char="•"/>
              <a:defRPr/>
            </a:pPr>
            <a:r>
              <a:rPr lang="en-US" sz="1600" dirty="0">
                <a:latin typeface="+mn-lt"/>
              </a:rPr>
              <a:t>Risks with limits below these thresholds receive a surcharge factor and limits above receive a credit factor. </a:t>
            </a:r>
          </a:p>
        </p:txBody>
      </p:sp>
    </p:spTree>
    <p:extLst>
      <p:ext uri="{BB962C8B-B14F-4D97-AF65-F5344CB8AC3E}">
        <p14:creationId xmlns:p14="http://schemas.microsoft.com/office/powerpoint/2010/main" val="13326848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B6D69A5-2701-4B10-A25F-B9756490E9A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3906" y="801323"/>
            <a:ext cx="9804188" cy="264653"/>
          </a:xfrm>
          <a:prstGeom prst="rect">
            <a:avLst/>
          </a:prstGeom>
        </p:spPr>
      </p:pic>
      <p:sp>
        <p:nvSpPr>
          <p:cNvPr id="3" name="Rectangle 2">
            <a:extLst>
              <a:ext uri="{FF2B5EF4-FFF2-40B4-BE49-F238E27FC236}">
                <a16:creationId xmlns:a16="http://schemas.microsoft.com/office/drawing/2014/main" id="{F9BE46C9-17F8-4340-98F8-D94CBF39CDF3}"/>
              </a:ext>
            </a:extLst>
          </p:cNvPr>
          <p:cNvSpPr/>
          <p:nvPr/>
        </p:nvSpPr>
        <p:spPr>
          <a:xfrm>
            <a:off x="422644" y="1289953"/>
            <a:ext cx="11346712" cy="4278094"/>
          </a:xfrm>
          <a:prstGeom prst="rect">
            <a:avLst/>
          </a:prstGeom>
          <a:ln>
            <a:solidFill>
              <a:srgbClr val="0000FF"/>
            </a:solidFill>
          </a:ln>
        </p:spPr>
        <p:txBody>
          <a:bodyPr wrap="square">
            <a:spAutoFit/>
          </a:bodyPr>
          <a:lstStyle/>
          <a:p>
            <a:pPr marL="285750" indent="-285750" eaLnBrk="1" hangingPunct="1">
              <a:buFont typeface="Arial" panose="020B0604020202020204" pitchFamily="34" charset="0"/>
              <a:buChar char="•"/>
              <a:defRPr/>
            </a:pPr>
            <a:r>
              <a:rPr lang="en-US" sz="1600" b="1" dirty="0">
                <a:latin typeface="+mn-lt"/>
              </a:rPr>
              <a:t>Protection Class (PPC)</a:t>
            </a:r>
          </a:p>
          <a:p>
            <a:pPr marL="285750" indent="-285750" eaLnBrk="1" hangingPunct="1">
              <a:buFont typeface="Arial" panose="020B0604020202020204" pitchFamily="34" charset="0"/>
              <a:buChar char="•"/>
              <a:defRPr/>
            </a:pPr>
            <a:endParaRPr lang="en-US" sz="1600" dirty="0">
              <a:latin typeface="+mn-lt"/>
            </a:endParaRPr>
          </a:p>
          <a:p>
            <a:pPr marL="742950" lvl="1" indent="-285750">
              <a:buClr>
                <a:srgbClr val="C00000"/>
              </a:buClr>
              <a:buFont typeface="Courier New" panose="02070309020205020404" pitchFamily="49" charset="0"/>
              <a:buChar char="o"/>
              <a:defRPr/>
            </a:pPr>
            <a:r>
              <a:rPr lang="en-US" sz="1600" dirty="0">
                <a:latin typeface="+mn-lt"/>
              </a:rPr>
              <a:t>Protection classification numbers are in the Community Mitigation Classification Manual. The 11 possible numbers are 1 through 10 and 8B. Some risks have a split protection class, such as 6/9. Protection class 9 is used if the location is over 1,000 feet from a public fire hydrant. </a:t>
            </a:r>
          </a:p>
          <a:p>
            <a:pPr marL="742950" lvl="1" indent="-285750">
              <a:buClr>
                <a:srgbClr val="C00000"/>
              </a:buClr>
              <a:buFont typeface="Courier New" panose="02070309020205020404" pitchFamily="49" charset="0"/>
              <a:buChar char="o"/>
              <a:defRPr/>
            </a:pPr>
            <a:endParaRPr lang="en-US" sz="1600" dirty="0">
              <a:latin typeface="+mn-lt"/>
            </a:endParaRPr>
          </a:p>
          <a:p>
            <a:pPr marL="742950" lvl="1" indent="-285750">
              <a:buClr>
                <a:srgbClr val="C00000"/>
              </a:buClr>
              <a:buFont typeface="Courier New" panose="02070309020205020404" pitchFamily="49" charset="0"/>
              <a:buChar char="o"/>
              <a:defRPr/>
            </a:pPr>
            <a:r>
              <a:rPr lang="en-US" sz="1600" dirty="0">
                <a:latin typeface="+mn-lt"/>
              </a:rPr>
              <a:t>The Public Protection Class table in the Rating Relativities and Factors Section of the Countrywide Manual under Rule 23 provides a factor based on the actual public protection class at risk. </a:t>
            </a:r>
          </a:p>
          <a:p>
            <a:pPr marL="285750" indent="-285750" eaLnBrk="1" hangingPunct="1">
              <a:buFont typeface="Arial" panose="020B0604020202020204" pitchFamily="34" charset="0"/>
              <a:buChar char="•"/>
              <a:defRPr/>
            </a:pPr>
            <a:endParaRPr lang="en-US" sz="1600" dirty="0">
              <a:latin typeface="+mn-lt"/>
            </a:endParaRPr>
          </a:p>
          <a:p>
            <a:pPr marL="285750" indent="-285750" eaLnBrk="1" hangingPunct="1">
              <a:buFont typeface="Arial" panose="020B0604020202020204" pitchFamily="34" charset="0"/>
              <a:buChar char="•"/>
              <a:defRPr/>
            </a:pPr>
            <a:endParaRPr lang="en-US" sz="1600" dirty="0">
              <a:latin typeface="+mn-lt"/>
            </a:endParaRPr>
          </a:p>
          <a:p>
            <a:pPr marL="285750" indent="-285750" eaLnBrk="1" hangingPunct="1">
              <a:buFont typeface="Arial" panose="020B0604020202020204" pitchFamily="34" charset="0"/>
              <a:buChar char="•"/>
              <a:defRPr/>
            </a:pPr>
            <a:r>
              <a:rPr lang="en-US" sz="1600" b="1" dirty="0">
                <a:latin typeface="+mn-lt"/>
              </a:rPr>
              <a:t>Building Code Effectiveness Grading (BCEG)</a:t>
            </a:r>
          </a:p>
          <a:p>
            <a:pPr marL="285750" indent="-285750" eaLnBrk="1" hangingPunct="1">
              <a:buFont typeface="Arial" panose="020B0604020202020204" pitchFamily="34" charset="0"/>
              <a:buChar char="•"/>
              <a:defRPr/>
            </a:pPr>
            <a:endParaRPr lang="en-US" sz="1600" dirty="0">
              <a:latin typeface="+mn-lt"/>
            </a:endParaRPr>
          </a:p>
          <a:p>
            <a:pPr marL="742950" lvl="1" indent="-285750">
              <a:buClr>
                <a:srgbClr val="C00000"/>
              </a:buClr>
              <a:buFont typeface="Courier New" panose="02070309020205020404" pitchFamily="49" charset="0"/>
              <a:buChar char="o"/>
              <a:defRPr/>
            </a:pPr>
            <a:r>
              <a:rPr lang="en-US" sz="1600" dirty="0">
                <a:latin typeface="+mn-lt"/>
              </a:rPr>
              <a:t>Building code effectiveness grading numbers are in the Community Mitigation Classification Manual and are used to determine the protection level of a community with respect to windstorm and earthquake. </a:t>
            </a:r>
          </a:p>
          <a:p>
            <a:pPr marL="742950" lvl="1" indent="-285750">
              <a:buClr>
                <a:srgbClr val="C00000"/>
              </a:buClr>
              <a:buFont typeface="Courier New" panose="02070309020205020404" pitchFamily="49" charset="0"/>
              <a:buChar char="o"/>
              <a:defRPr/>
            </a:pPr>
            <a:endParaRPr lang="en-US" sz="1600" dirty="0">
              <a:latin typeface="+mn-lt"/>
            </a:endParaRPr>
          </a:p>
          <a:p>
            <a:pPr marL="742950" lvl="1" indent="-285750">
              <a:buClr>
                <a:srgbClr val="C00000"/>
              </a:buClr>
              <a:buFont typeface="Courier New" panose="02070309020205020404" pitchFamily="49" charset="0"/>
              <a:buChar char="o"/>
              <a:defRPr/>
            </a:pPr>
            <a:r>
              <a:rPr lang="en-US" sz="1600" dirty="0">
                <a:latin typeface="+mn-lt"/>
              </a:rPr>
              <a:t>This rating does not necessarily apply to every state. When it does, factors are in the Rating Relativities And Factors Section, Rule 23 pages for the specific state. </a:t>
            </a:r>
          </a:p>
        </p:txBody>
      </p:sp>
      <p:sp>
        <p:nvSpPr>
          <p:cNvPr id="4" name="Rectangle 66">
            <a:extLst>
              <a:ext uri="{FF2B5EF4-FFF2-40B4-BE49-F238E27FC236}">
                <a16:creationId xmlns:a16="http://schemas.microsoft.com/office/drawing/2014/main" id="{D0E81424-6B4A-43EA-A8C1-72FC991EFCCB}"/>
              </a:ext>
            </a:extLst>
          </p:cNvPr>
          <p:cNvSpPr>
            <a:spLocks noChangeArrowheads="1"/>
          </p:cNvSpPr>
          <p:nvPr/>
        </p:nvSpPr>
        <p:spPr bwMode="auto">
          <a:xfrm>
            <a:off x="228600" y="399686"/>
            <a:ext cx="5867400"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a:spcBef>
                <a:spcPct val="20000"/>
              </a:spcBef>
              <a:buFont typeface="Arial" panose="020B0604020202020204" pitchFamily="34" charset="0"/>
              <a:buChar char="•"/>
              <a:tabLst>
                <a:tab pos="18288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18288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18288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18288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18288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9pPr>
          </a:lstStyle>
          <a:p>
            <a:pPr>
              <a:spcBef>
                <a:spcPct val="0"/>
              </a:spcBef>
              <a:buSzPct val="120000"/>
              <a:buFontTx/>
              <a:buNone/>
            </a:pPr>
            <a:r>
              <a:rPr lang="en-US" altLang="en-US" sz="2000" dirty="0">
                <a:solidFill>
                  <a:srgbClr val="0000FF"/>
                </a:solidFill>
              </a:rPr>
              <a:t>Property Rating contd..</a:t>
            </a:r>
          </a:p>
        </p:txBody>
      </p:sp>
    </p:spTree>
    <p:extLst>
      <p:ext uri="{BB962C8B-B14F-4D97-AF65-F5344CB8AC3E}">
        <p14:creationId xmlns:p14="http://schemas.microsoft.com/office/powerpoint/2010/main" val="4170961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FBD3C90-39E4-471A-8BE2-23B830A1038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3906" y="801323"/>
            <a:ext cx="9804188" cy="264653"/>
          </a:xfrm>
          <a:prstGeom prst="rect">
            <a:avLst/>
          </a:prstGeom>
        </p:spPr>
      </p:pic>
      <p:sp>
        <p:nvSpPr>
          <p:cNvPr id="3" name="Rectangle 2">
            <a:extLst>
              <a:ext uri="{FF2B5EF4-FFF2-40B4-BE49-F238E27FC236}">
                <a16:creationId xmlns:a16="http://schemas.microsoft.com/office/drawing/2014/main" id="{75E13E4E-6A76-447D-8F03-BC1F90EF3371}"/>
              </a:ext>
            </a:extLst>
          </p:cNvPr>
          <p:cNvSpPr/>
          <p:nvPr/>
        </p:nvSpPr>
        <p:spPr>
          <a:xfrm>
            <a:off x="624662" y="1639186"/>
            <a:ext cx="10942675" cy="2554545"/>
          </a:xfrm>
          <a:prstGeom prst="rect">
            <a:avLst/>
          </a:prstGeom>
          <a:ln>
            <a:solidFill>
              <a:srgbClr val="0000FF"/>
            </a:solidFill>
          </a:ln>
        </p:spPr>
        <p:txBody>
          <a:bodyPr wrap="square">
            <a:spAutoFit/>
          </a:bodyPr>
          <a:lstStyle/>
          <a:p>
            <a:pPr eaLnBrk="1" hangingPunct="1">
              <a:defRPr/>
            </a:pPr>
            <a:r>
              <a:rPr lang="en-US" sz="1600" b="1" dirty="0">
                <a:latin typeface="+mn-lt"/>
              </a:rPr>
              <a:t>Sprinklers </a:t>
            </a:r>
          </a:p>
          <a:p>
            <a:pPr eaLnBrk="1" hangingPunct="1">
              <a:defRPr/>
            </a:pPr>
            <a:endParaRPr lang="en-US" sz="1600" dirty="0">
              <a:latin typeface="+mn-lt"/>
            </a:endParaRPr>
          </a:p>
          <a:p>
            <a:pPr marL="742950" lvl="1" indent="-285750">
              <a:buClr>
                <a:srgbClr val="C00000"/>
              </a:buClr>
              <a:buFont typeface="Courier New" panose="02070309020205020404" pitchFamily="49" charset="0"/>
              <a:buChar char="o"/>
              <a:defRPr/>
            </a:pPr>
            <a:r>
              <a:rPr lang="en-US" sz="1600" dirty="0">
                <a:latin typeface="+mn-lt"/>
              </a:rPr>
              <a:t>Rule 23 has a comprehensive definition of </a:t>
            </a:r>
            <a:r>
              <a:rPr lang="en-US" sz="1600" dirty="0" err="1">
                <a:latin typeface="+mn-lt"/>
              </a:rPr>
              <a:t>sprinklered</a:t>
            </a:r>
            <a:r>
              <a:rPr lang="en-US" sz="1600" dirty="0">
                <a:latin typeface="+mn-lt"/>
              </a:rPr>
              <a:t> property. It describes what qualifies as sprinklers and states that cooking equipment with an approved automatic extinguishing system also qualifies as a sprinkler system. </a:t>
            </a:r>
          </a:p>
          <a:p>
            <a:pPr marL="742950" lvl="1" indent="-285750">
              <a:buClr>
                <a:srgbClr val="C00000"/>
              </a:buClr>
              <a:buFont typeface="Courier New" panose="02070309020205020404" pitchFamily="49" charset="0"/>
              <a:buChar char="o"/>
              <a:defRPr/>
            </a:pPr>
            <a:endParaRPr lang="en-US" sz="1600" dirty="0">
              <a:latin typeface="+mn-lt"/>
            </a:endParaRPr>
          </a:p>
          <a:p>
            <a:pPr marL="742950" lvl="1" indent="-285750">
              <a:buClr>
                <a:srgbClr val="C00000"/>
              </a:buClr>
              <a:buFont typeface="Courier New" panose="02070309020205020404" pitchFamily="49" charset="0"/>
              <a:buChar char="o"/>
              <a:defRPr/>
            </a:pPr>
            <a:r>
              <a:rPr lang="en-US" sz="1600" dirty="0">
                <a:latin typeface="+mn-lt"/>
              </a:rPr>
              <a:t>If the risk is </a:t>
            </a:r>
            <a:r>
              <a:rPr lang="en-US" sz="1600" dirty="0" err="1">
                <a:latin typeface="+mn-lt"/>
              </a:rPr>
              <a:t>sprinklered</a:t>
            </a:r>
            <a:r>
              <a:rPr lang="en-US" sz="1600" dirty="0">
                <a:latin typeface="+mn-lt"/>
              </a:rPr>
              <a:t> by the terms of this definition, a factor is applied based on the property rate number. The factor is found in the Rating Relativities and Factors Section of the Countrywide Manual</a:t>
            </a:r>
          </a:p>
          <a:p>
            <a:pPr eaLnBrk="1" hangingPunct="1">
              <a:defRPr/>
            </a:pPr>
            <a:endParaRPr lang="en-US" sz="1600" dirty="0">
              <a:latin typeface="+mn-lt"/>
            </a:endParaRPr>
          </a:p>
          <a:p>
            <a:pPr eaLnBrk="1" hangingPunct="1">
              <a:defRPr/>
            </a:pPr>
            <a:endParaRPr lang="en-US" sz="1600" dirty="0">
              <a:latin typeface="+mn-lt"/>
            </a:endParaRPr>
          </a:p>
          <a:p>
            <a:pPr eaLnBrk="1" hangingPunct="1">
              <a:defRPr/>
            </a:pPr>
            <a:endParaRPr lang="en-US" sz="1600" dirty="0">
              <a:latin typeface="+mn-lt"/>
            </a:endParaRPr>
          </a:p>
        </p:txBody>
      </p:sp>
      <p:sp>
        <p:nvSpPr>
          <p:cNvPr id="4" name="Rectangle 66">
            <a:extLst>
              <a:ext uri="{FF2B5EF4-FFF2-40B4-BE49-F238E27FC236}">
                <a16:creationId xmlns:a16="http://schemas.microsoft.com/office/drawing/2014/main" id="{CCA70303-E38D-4D38-B036-B8633551C273}"/>
              </a:ext>
            </a:extLst>
          </p:cNvPr>
          <p:cNvSpPr>
            <a:spLocks noChangeArrowheads="1"/>
          </p:cNvSpPr>
          <p:nvPr/>
        </p:nvSpPr>
        <p:spPr bwMode="auto">
          <a:xfrm>
            <a:off x="228600" y="399686"/>
            <a:ext cx="5867400"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a:spcBef>
                <a:spcPct val="20000"/>
              </a:spcBef>
              <a:buFont typeface="Arial" panose="020B0604020202020204" pitchFamily="34" charset="0"/>
              <a:buChar char="•"/>
              <a:tabLst>
                <a:tab pos="18288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18288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18288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18288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18288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9pPr>
          </a:lstStyle>
          <a:p>
            <a:pPr>
              <a:spcBef>
                <a:spcPct val="0"/>
              </a:spcBef>
              <a:buSzPct val="120000"/>
              <a:buFontTx/>
              <a:buNone/>
            </a:pPr>
            <a:r>
              <a:rPr lang="en-US" altLang="en-US" sz="2000" dirty="0">
                <a:solidFill>
                  <a:srgbClr val="0000FF"/>
                </a:solidFill>
              </a:rPr>
              <a:t>Property Rating contd..</a:t>
            </a:r>
          </a:p>
        </p:txBody>
      </p:sp>
    </p:spTree>
    <p:extLst>
      <p:ext uri="{BB962C8B-B14F-4D97-AF65-F5344CB8AC3E}">
        <p14:creationId xmlns:p14="http://schemas.microsoft.com/office/powerpoint/2010/main" val="5072641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9DBAFE9-C3B5-4C3C-AC9D-CED992AAB49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3906" y="801323"/>
            <a:ext cx="9804188" cy="264653"/>
          </a:xfrm>
          <a:prstGeom prst="rect">
            <a:avLst/>
          </a:prstGeom>
        </p:spPr>
      </p:pic>
      <p:sp>
        <p:nvSpPr>
          <p:cNvPr id="3" name="Rectangle 66">
            <a:extLst>
              <a:ext uri="{FF2B5EF4-FFF2-40B4-BE49-F238E27FC236}">
                <a16:creationId xmlns:a16="http://schemas.microsoft.com/office/drawing/2014/main" id="{AE8ECCEB-1A24-4F18-BB07-31739CD1497D}"/>
              </a:ext>
            </a:extLst>
          </p:cNvPr>
          <p:cNvSpPr>
            <a:spLocks noChangeArrowheads="1"/>
          </p:cNvSpPr>
          <p:nvPr/>
        </p:nvSpPr>
        <p:spPr bwMode="auto">
          <a:xfrm>
            <a:off x="76200" y="145196"/>
            <a:ext cx="64770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a:spcBef>
                <a:spcPct val="20000"/>
              </a:spcBef>
              <a:buFont typeface="Arial" panose="020B0604020202020204" pitchFamily="34" charset="0"/>
              <a:buChar char="•"/>
              <a:tabLst>
                <a:tab pos="18288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18288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18288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18288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18288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9pPr>
          </a:lstStyle>
          <a:p>
            <a:pPr>
              <a:spcBef>
                <a:spcPct val="0"/>
              </a:spcBef>
              <a:buSzPct val="120000"/>
              <a:buFontTx/>
              <a:buNone/>
            </a:pPr>
            <a:r>
              <a:rPr lang="en-US" altLang="en-US" dirty="0">
                <a:solidFill>
                  <a:srgbClr val="0000FF"/>
                </a:solidFill>
              </a:rPr>
              <a:t>General Liability Rating Calculation</a:t>
            </a:r>
          </a:p>
        </p:txBody>
      </p:sp>
      <p:sp>
        <p:nvSpPr>
          <p:cNvPr id="4" name="Rectangle 3">
            <a:extLst>
              <a:ext uri="{FF2B5EF4-FFF2-40B4-BE49-F238E27FC236}">
                <a16:creationId xmlns:a16="http://schemas.microsoft.com/office/drawing/2014/main" id="{5FF3F4CF-7310-4F2F-8FB5-DC7654DD4434}"/>
              </a:ext>
            </a:extLst>
          </p:cNvPr>
          <p:cNvSpPr/>
          <p:nvPr/>
        </p:nvSpPr>
        <p:spPr>
          <a:xfrm>
            <a:off x="457199" y="1143000"/>
            <a:ext cx="11100391" cy="2062103"/>
          </a:xfrm>
          <a:prstGeom prst="rect">
            <a:avLst/>
          </a:prstGeom>
          <a:ln>
            <a:solidFill>
              <a:srgbClr val="0000FF"/>
            </a:solidFill>
          </a:ln>
        </p:spPr>
        <p:txBody>
          <a:bodyPr wrap="square">
            <a:spAutoFit/>
          </a:bodyPr>
          <a:lstStyle/>
          <a:p>
            <a:pPr marL="285750" indent="-285750" eaLnBrk="1" hangingPunct="1">
              <a:buClr>
                <a:srgbClr val="C00000"/>
              </a:buClr>
              <a:buFont typeface="Courier New" panose="02070309020205020404" pitchFamily="49" charset="0"/>
              <a:buChar char="o"/>
              <a:defRPr/>
            </a:pPr>
            <a:r>
              <a:rPr lang="en-US" sz="1600" dirty="0">
                <a:latin typeface="+mn-lt"/>
              </a:rPr>
              <a:t>The risk must be classified using the Business owners Classification Tables. Two items that apply specifically to General Liability are the Liability Class Group and the Liability Exposure Base. The rate is based on the selected base loss cost from the state loss cost table for the appropriate territory and the liability exposure base. </a:t>
            </a:r>
          </a:p>
          <a:p>
            <a:pPr marL="285750" indent="-285750" eaLnBrk="1" hangingPunct="1">
              <a:buClr>
                <a:srgbClr val="C00000"/>
              </a:buClr>
              <a:buFont typeface="Courier New" panose="02070309020205020404" pitchFamily="49" charset="0"/>
              <a:buChar char="o"/>
              <a:defRPr/>
            </a:pPr>
            <a:endParaRPr lang="en-US" sz="1600" dirty="0">
              <a:latin typeface="+mn-lt"/>
            </a:endParaRPr>
          </a:p>
          <a:p>
            <a:pPr marL="285750" indent="-285750" eaLnBrk="1" hangingPunct="1">
              <a:buClr>
                <a:srgbClr val="C00000"/>
              </a:buClr>
              <a:buFont typeface="Courier New" panose="02070309020205020404" pitchFamily="49" charset="0"/>
              <a:buChar char="o"/>
              <a:defRPr/>
            </a:pPr>
            <a:r>
              <a:rPr lang="en-US" sz="1600" dirty="0">
                <a:latin typeface="+mn-lt"/>
              </a:rPr>
              <a:t>If the exposure base is Limit of Insurance (LOI), a different rate applies as opposed to a </a:t>
            </a:r>
            <a:r>
              <a:rPr lang="en-US" sz="1600" dirty="0" err="1">
                <a:latin typeface="+mn-lt"/>
              </a:rPr>
              <a:t>lessor</a:t>
            </a:r>
            <a:r>
              <a:rPr lang="en-US" sz="1600" dirty="0">
                <a:latin typeface="+mn-lt"/>
              </a:rPr>
              <a:t> of premises or a risk with a specific occupancy. </a:t>
            </a:r>
          </a:p>
          <a:p>
            <a:pPr marL="285750" indent="-285750" eaLnBrk="1" hangingPunct="1">
              <a:buClr>
                <a:srgbClr val="C00000"/>
              </a:buClr>
              <a:buFont typeface="Courier New" panose="02070309020205020404" pitchFamily="49" charset="0"/>
              <a:buChar char="o"/>
              <a:defRPr/>
            </a:pPr>
            <a:endParaRPr lang="en-US" sz="1600" dirty="0">
              <a:latin typeface="+mn-lt"/>
            </a:endParaRPr>
          </a:p>
          <a:p>
            <a:pPr marL="285750" indent="-285750" eaLnBrk="1" hangingPunct="1">
              <a:buClr>
                <a:srgbClr val="C00000"/>
              </a:buClr>
              <a:buFont typeface="Courier New" panose="02070309020205020404" pitchFamily="49" charset="0"/>
              <a:buChar char="o"/>
              <a:defRPr/>
            </a:pPr>
            <a:r>
              <a:rPr lang="en-US" sz="1600" dirty="0">
                <a:latin typeface="+mn-lt"/>
              </a:rPr>
              <a:t>The base loss costs are then modified by relativities using the following formula: </a:t>
            </a:r>
          </a:p>
        </p:txBody>
      </p:sp>
      <p:graphicFrame>
        <p:nvGraphicFramePr>
          <p:cNvPr id="5" name="Table 4">
            <a:extLst>
              <a:ext uri="{FF2B5EF4-FFF2-40B4-BE49-F238E27FC236}">
                <a16:creationId xmlns:a16="http://schemas.microsoft.com/office/drawing/2014/main" id="{BB4470F5-8286-4B0B-8D0B-1AB2196E5AC8}"/>
              </a:ext>
            </a:extLst>
          </p:cNvPr>
          <p:cNvGraphicFramePr>
            <a:graphicFrameLocks noGrp="1"/>
          </p:cNvGraphicFramePr>
          <p:nvPr>
            <p:extLst>
              <p:ext uri="{D42A27DB-BD31-4B8C-83A1-F6EECF244321}">
                <p14:modId xmlns:p14="http://schemas.microsoft.com/office/powerpoint/2010/main" val="4086035791"/>
              </p:ext>
            </p:extLst>
          </p:nvPr>
        </p:nvGraphicFramePr>
        <p:xfrm>
          <a:off x="2425995" y="3429000"/>
          <a:ext cx="6096000" cy="1649730"/>
        </p:xfrm>
        <a:graphic>
          <a:graphicData uri="http://schemas.openxmlformats.org/drawingml/2006/table">
            <a:tbl>
              <a:tblPr/>
              <a:tblGrid>
                <a:gridCol w="6096000">
                  <a:extLst>
                    <a:ext uri="{9D8B030D-6E8A-4147-A177-3AD203B41FA5}">
                      <a16:colId xmlns:a16="http://schemas.microsoft.com/office/drawing/2014/main" val="20000"/>
                    </a:ext>
                  </a:extLst>
                </a:gridCol>
              </a:tblGrid>
              <a:tr h="304800">
                <a:tc>
                  <a:txBody>
                    <a:bodyPr/>
                    <a:lstStyle/>
                    <a:p>
                      <a:pPr marL="0" marR="0">
                        <a:lnSpc>
                          <a:spcPct val="115000"/>
                        </a:lnSpc>
                        <a:spcBef>
                          <a:spcPts val="300"/>
                        </a:spcBef>
                        <a:spcAft>
                          <a:spcPts val="0"/>
                        </a:spcAft>
                      </a:pPr>
                      <a:r>
                        <a:rPr lang="en-US" sz="2000" spc="-15" dirty="0">
                          <a:latin typeface="+mn-lt"/>
                          <a:ea typeface="Arial"/>
                          <a:cs typeface="Times New Roman"/>
                        </a:rPr>
                        <a:t>General Liability base loss cost </a:t>
                      </a:r>
                      <a:endParaRPr lang="en-US" sz="2400" dirty="0">
                        <a:latin typeface="+mn-lt"/>
                        <a:ea typeface="Calibri"/>
                        <a:cs typeface="Times New Roman"/>
                      </a:endParaRPr>
                    </a:p>
                  </a:txBody>
                  <a:tcPr marL="63894" marR="638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04800">
                <a:tc>
                  <a:txBody>
                    <a:bodyPr/>
                    <a:lstStyle/>
                    <a:p>
                      <a:pPr marL="0" marR="0">
                        <a:lnSpc>
                          <a:spcPct val="115000"/>
                        </a:lnSpc>
                        <a:spcBef>
                          <a:spcPts val="300"/>
                        </a:spcBef>
                        <a:spcAft>
                          <a:spcPts val="0"/>
                        </a:spcAft>
                      </a:pPr>
                      <a:r>
                        <a:rPr lang="en-US" sz="2000" spc="-15">
                          <a:latin typeface="+mn-lt"/>
                          <a:ea typeface="Arial"/>
                          <a:cs typeface="Times New Roman"/>
                        </a:rPr>
                        <a:t>X Class Group Occupant Factor </a:t>
                      </a:r>
                      <a:endParaRPr lang="en-US" sz="2400">
                        <a:latin typeface="+mn-lt"/>
                        <a:ea typeface="Calibri"/>
                        <a:cs typeface="Times New Roman"/>
                      </a:endParaRPr>
                    </a:p>
                  </a:txBody>
                  <a:tcPr marL="63894" marR="638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04800">
                <a:tc>
                  <a:txBody>
                    <a:bodyPr/>
                    <a:lstStyle/>
                    <a:p>
                      <a:pPr marL="0" marR="0">
                        <a:lnSpc>
                          <a:spcPct val="115000"/>
                        </a:lnSpc>
                        <a:spcBef>
                          <a:spcPts val="300"/>
                        </a:spcBef>
                        <a:spcAft>
                          <a:spcPts val="0"/>
                        </a:spcAft>
                      </a:pPr>
                      <a:r>
                        <a:rPr lang="en-US" sz="2000" spc="-15">
                          <a:latin typeface="+mn-lt"/>
                          <a:ea typeface="Arial"/>
                          <a:cs typeface="Times New Roman"/>
                        </a:rPr>
                        <a:t>X Increased Limits Factor </a:t>
                      </a:r>
                      <a:endParaRPr lang="en-US" sz="2400">
                        <a:latin typeface="+mn-lt"/>
                        <a:ea typeface="Calibri"/>
                        <a:cs typeface="Times New Roman"/>
                      </a:endParaRPr>
                    </a:p>
                  </a:txBody>
                  <a:tcPr marL="63894" marR="638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04800">
                <a:tc>
                  <a:txBody>
                    <a:bodyPr/>
                    <a:lstStyle/>
                    <a:p>
                      <a:pPr marL="0" marR="0">
                        <a:lnSpc>
                          <a:spcPct val="115000"/>
                        </a:lnSpc>
                        <a:spcBef>
                          <a:spcPts val="300"/>
                        </a:spcBef>
                        <a:spcAft>
                          <a:spcPts val="0"/>
                        </a:spcAft>
                      </a:pPr>
                      <a:r>
                        <a:rPr lang="en-US" sz="2000" spc="-15" dirty="0">
                          <a:latin typeface="+mn-lt"/>
                          <a:ea typeface="Arial"/>
                          <a:cs typeface="Times New Roman"/>
                        </a:rPr>
                        <a:t>X Company Loss Cost Multiplier </a:t>
                      </a:r>
                      <a:endParaRPr lang="en-US" sz="2400" dirty="0">
                        <a:latin typeface="+mn-lt"/>
                        <a:ea typeface="Calibri"/>
                        <a:cs typeface="Times New Roman"/>
                      </a:endParaRPr>
                    </a:p>
                  </a:txBody>
                  <a:tcPr marL="63894" marR="638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04800">
                <a:tc>
                  <a:txBody>
                    <a:bodyPr/>
                    <a:lstStyle/>
                    <a:p>
                      <a:pPr marL="0" marR="0">
                        <a:lnSpc>
                          <a:spcPct val="115000"/>
                        </a:lnSpc>
                        <a:spcBef>
                          <a:spcPts val="300"/>
                        </a:spcBef>
                        <a:spcAft>
                          <a:spcPts val="0"/>
                        </a:spcAft>
                      </a:pPr>
                      <a:r>
                        <a:rPr lang="en-US" sz="2000" spc="-15" dirty="0">
                          <a:latin typeface="+mn-lt"/>
                          <a:ea typeface="Arial"/>
                          <a:cs typeface="Times New Roman"/>
                        </a:rPr>
                        <a:t>= Liability Rate </a:t>
                      </a:r>
                      <a:endParaRPr lang="en-US" sz="2400" dirty="0">
                        <a:latin typeface="+mn-lt"/>
                        <a:ea typeface="Calibri"/>
                        <a:cs typeface="Times New Roman"/>
                      </a:endParaRPr>
                    </a:p>
                  </a:txBody>
                  <a:tcPr marL="63894" marR="6389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Box 7">
            <a:extLst>
              <a:ext uri="{FF2B5EF4-FFF2-40B4-BE49-F238E27FC236}">
                <a16:creationId xmlns:a16="http://schemas.microsoft.com/office/drawing/2014/main" id="{D3FA5CB4-D48C-4C95-96AA-A39D1050DA16}"/>
              </a:ext>
            </a:extLst>
          </p:cNvPr>
          <p:cNvSpPr txBox="1">
            <a:spLocks noChangeArrowheads="1"/>
          </p:cNvSpPr>
          <p:nvPr/>
        </p:nvSpPr>
        <p:spPr bwMode="auto">
          <a:xfrm>
            <a:off x="228600" y="5562600"/>
            <a:ext cx="11541642" cy="830997"/>
          </a:xfrm>
          <a:prstGeom prst="rect">
            <a:avLst/>
          </a:prstGeom>
          <a:noFill/>
          <a:ln w="9525">
            <a:solidFill>
              <a:srgbClr val="0000FF"/>
            </a:solidFill>
            <a:miter lim="800000"/>
            <a:headEnd/>
            <a:tailEnd/>
          </a:ln>
        </p:spPr>
        <p:txBody>
          <a:bodyPr wrap="square">
            <a:spAutoFit/>
          </a:bodyPr>
          <a:lstStyle/>
          <a:p>
            <a:pPr eaLnBrk="1" hangingPunct="1">
              <a:defRPr/>
            </a:pPr>
            <a:r>
              <a:rPr lang="en-US" sz="1600" dirty="0">
                <a:latin typeface="+mn-lt"/>
              </a:rPr>
              <a:t>The rate is rounded to three decimal places and then multiplied by the applicable exposure. If the exposure base is either sales or payroll, the rate applies per $1,000. If the exposure base is the limit of insurance, the rate is per $100. The premium is then rounded to the nearest dollar. </a:t>
            </a:r>
          </a:p>
        </p:txBody>
      </p:sp>
    </p:spTree>
    <p:extLst>
      <p:ext uri="{BB962C8B-B14F-4D97-AF65-F5344CB8AC3E}">
        <p14:creationId xmlns:p14="http://schemas.microsoft.com/office/powerpoint/2010/main" val="13773474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B13BB90-FD44-431F-A3B5-75F32AC0F29E}"/>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3906" y="801323"/>
            <a:ext cx="9804188" cy="264653"/>
          </a:xfrm>
          <a:prstGeom prst="rect">
            <a:avLst/>
          </a:prstGeom>
        </p:spPr>
      </p:pic>
      <p:sp>
        <p:nvSpPr>
          <p:cNvPr id="3" name="Rectangle 66">
            <a:extLst>
              <a:ext uri="{FF2B5EF4-FFF2-40B4-BE49-F238E27FC236}">
                <a16:creationId xmlns:a16="http://schemas.microsoft.com/office/drawing/2014/main" id="{AB804D1D-5ECF-4701-88F2-8C725D2633E1}"/>
              </a:ext>
            </a:extLst>
          </p:cNvPr>
          <p:cNvSpPr>
            <a:spLocks noChangeArrowheads="1"/>
          </p:cNvSpPr>
          <p:nvPr/>
        </p:nvSpPr>
        <p:spPr bwMode="auto">
          <a:xfrm>
            <a:off x="83906" y="278103"/>
            <a:ext cx="6477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a:spcBef>
                <a:spcPct val="20000"/>
              </a:spcBef>
              <a:buFont typeface="Arial" panose="020B0604020202020204" pitchFamily="34" charset="0"/>
              <a:buChar char="•"/>
              <a:tabLst>
                <a:tab pos="18288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18288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18288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18288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18288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9pPr>
          </a:lstStyle>
          <a:p>
            <a:pPr>
              <a:spcBef>
                <a:spcPct val="0"/>
              </a:spcBef>
              <a:buSzPct val="120000"/>
              <a:buFontTx/>
              <a:buNone/>
            </a:pPr>
            <a:r>
              <a:rPr lang="en-US" altLang="en-US" sz="2000" dirty="0">
                <a:solidFill>
                  <a:srgbClr val="0000FF"/>
                </a:solidFill>
              </a:rPr>
              <a:t>General Liability Rating Calculation- </a:t>
            </a:r>
            <a:r>
              <a:rPr lang="en-US" altLang="en-US" sz="2800" dirty="0">
                <a:solidFill>
                  <a:srgbClr val="0000FF"/>
                </a:solidFill>
              </a:rPr>
              <a:t>Continued…</a:t>
            </a:r>
            <a:endParaRPr lang="en-US" altLang="en-US" sz="2000" dirty="0">
              <a:solidFill>
                <a:srgbClr val="0000FF"/>
              </a:solidFill>
            </a:endParaRPr>
          </a:p>
        </p:txBody>
      </p:sp>
      <p:sp>
        <p:nvSpPr>
          <p:cNvPr id="4" name="Rectangle 3">
            <a:extLst>
              <a:ext uri="{FF2B5EF4-FFF2-40B4-BE49-F238E27FC236}">
                <a16:creationId xmlns:a16="http://schemas.microsoft.com/office/drawing/2014/main" id="{9611AAB0-FD6B-444C-B168-6DBA454205A4}"/>
              </a:ext>
            </a:extLst>
          </p:cNvPr>
          <p:cNvSpPr/>
          <p:nvPr/>
        </p:nvSpPr>
        <p:spPr>
          <a:xfrm>
            <a:off x="457199" y="1143000"/>
            <a:ext cx="10877107" cy="3785652"/>
          </a:xfrm>
          <a:prstGeom prst="rect">
            <a:avLst/>
          </a:prstGeom>
          <a:ln>
            <a:solidFill>
              <a:srgbClr val="0000FF"/>
            </a:solidFill>
          </a:ln>
        </p:spPr>
        <p:txBody>
          <a:bodyPr wrap="square">
            <a:spAutoFit/>
          </a:bodyPr>
          <a:lstStyle/>
          <a:p>
            <a:pPr eaLnBrk="1" hangingPunct="1">
              <a:buClr>
                <a:srgbClr val="C00000"/>
              </a:buClr>
              <a:defRPr/>
            </a:pPr>
            <a:r>
              <a:rPr lang="en-US" sz="1600" b="1" dirty="0">
                <a:latin typeface="+mn-lt"/>
              </a:rPr>
              <a:t>Class Group </a:t>
            </a:r>
          </a:p>
          <a:p>
            <a:pPr marL="285750" indent="-285750" eaLnBrk="1" hangingPunct="1">
              <a:buClr>
                <a:srgbClr val="C00000"/>
              </a:buClr>
              <a:buFont typeface="Courier New" panose="02070309020205020404" pitchFamily="49" charset="0"/>
              <a:buChar char="o"/>
              <a:defRPr/>
            </a:pPr>
            <a:endParaRPr lang="en-US" sz="1600" dirty="0">
              <a:latin typeface="+mn-lt"/>
            </a:endParaRPr>
          </a:p>
          <a:p>
            <a:pPr marL="800100" lvl="1" indent="-342900">
              <a:buClr>
                <a:srgbClr val="C00000"/>
              </a:buClr>
              <a:buFont typeface="Courier New" panose="02070309020205020404" pitchFamily="49" charset="0"/>
              <a:buChar char="o"/>
              <a:defRPr/>
            </a:pPr>
            <a:r>
              <a:rPr lang="en-US" sz="1600" dirty="0">
                <a:latin typeface="+mn-lt"/>
              </a:rPr>
              <a:t>Class group factors are in the Rating Relativities and Factors Section of the Countrywide Manual under Rule 23. They are broken down in tables based on whether the exposure basis is annual sales, payroll, or limit of insurance. The two tables available if the premium basis is limit of insurance are for </a:t>
            </a:r>
            <a:r>
              <a:rPr lang="en-US" sz="1600" dirty="0" err="1">
                <a:latin typeface="+mn-lt"/>
              </a:rPr>
              <a:t>lessors</a:t>
            </a:r>
            <a:r>
              <a:rPr lang="en-US" sz="1600" dirty="0">
                <a:latin typeface="+mn-lt"/>
              </a:rPr>
              <a:t> of premises and for specific occupancies.</a:t>
            </a:r>
          </a:p>
          <a:p>
            <a:pPr marL="800100" lvl="1" indent="-342900">
              <a:buClr>
                <a:srgbClr val="C00000"/>
              </a:buClr>
              <a:buFont typeface="Courier New" panose="02070309020205020404" pitchFamily="49" charset="0"/>
              <a:buChar char="o"/>
              <a:defRPr/>
            </a:pPr>
            <a:endParaRPr lang="en-US" sz="1600" dirty="0">
              <a:latin typeface="+mn-lt"/>
            </a:endParaRPr>
          </a:p>
          <a:p>
            <a:pPr marL="800100" lvl="1" indent="-342900">
              <a:buClr>
                <a:srgbClr val="C00000"/>
              </a:buClr>
              <a:buFont typeface="Courier New" panose="02070309020205020404" pitchFamily="49" charset="0"/>
              <a:buChar char="o"/>
              <a:defRPr/>
            </a:pPr>
            <a:r>
              <a:rPr lang="en-US" sz="1600" dirty="0">
                <a:latin typeface="+mn-lt"/>
              </a:rPr>
              <a:t>Rule 23, Premium Development, Item B–Special Rules explains how to apply rating to multiple occupancy locations. The class group is based on the most hazardous occupancy, not on a “majority rules” method. There is no provision for split class groups within the same building. </a:t>
            </a:r>
          </a:p>
          <a:p>
            <a:pPr marL="285750" indent="-285750" eaLnBrk="1" hangingPunct="1">
              <a:buClr>
                <a:srgbClr val="C00000"/>
              </a:buClr>
              <a:buFont typeface="Courier New" panose="02070309020205020404" pitchFamily="49" charset="0"/>
              <a:buChar char="o"/>
              <a:defRPr/>
            </a:pPr>
            <a:endParaRPr lang="en-US" sz="1600" dirty="0">
              <a:latin typeface="+mn-lt"/>
            </a:endParaRPr>
          </a:p>
          <a:p>
            <a:pPr marL="285750" indent="-285750" eaLnBrk="1" hangingPunct="1">
              <a:buClr>
                <a:srgbClr val="C00000"/>
              </a:buClr>
              <a:buFont typeface="Courier New" panose="02070309020205020404" pitchFamily="49" charset="0"/>
              <a:buChar char="o"/>
              <a:defRPr/>
            </a:pPr>
            <a:endParaRPr lang="en-US" sz="1600" dirty="0">
              <a:latin typeface="+mn-lt"/>
            </a:endParaRPr>
          </a:p>
          <a:p>
            <a:pPr eaLnBrk="1" hangingPunct="1">
              <a:buClr>
                <a:srgbClr val="C00000"/>
              </a:buClr>
              <a:defRPr/>
            </a:pPr>
            <a:r>
              <a:rPr lang="en-US" sz="1600" b="1" dirty="0">
                <a:latin typeface="+mn-lt"/>
              </a:rPr>
              <a:t>Increased Limits </a:t>
            </a:r>
          </a:p>
          <a:p>
            <a:pPr marL="285750" indent="-285750" eaLnBrk="1" hangingPunct="1">
              <a:buClr>
                <a:srgbClr val="C00000"/>
              </a:buClr>
              <a:buFont typeface="Courier New" panose="02070309020205020404" pitchFamily="49" charset="0"/>
              <a:buChar char="o"/>
              <a:defRPr/>
            </a:pPr>
            <a:endParaRPr lang="en-US" sz="1600" dirty="0">
              <a:latin typeface="+mn-lt"/>
            </a:endParaRPr>
          </a:p>
          <a:p>
            <a:pPr marL="800100" lvl="1" indent="-342900">
              <a:buClr>
                <a:srgbClr val="C00000"/>
              </a:buClr>
              <a:buFont typeface="Courier New" panose="02070309020205020404" pitchFamily="49" charset="0"/>
              <a:buChar char="o"/>
              <a:defRPr/>
            </a:pPr>
            <a:r>
              <a:rPr lang="en-US" sz="1600" dirty="0">
                <a:latin typeface="+mn-lt"/>
              </a:rPr>
              <a:t>The Increased Limit Table is in the Rating Relativities and Factors Section of the Countrywide Manual under Rule 23. There are no additional tables because there are no limits options</a:t>
            </a:r>
          </a:p>
        </p:txBody>
      </p:sp>
    </p:spTree>
    <p:extLst>
      <p:ext uri="{BB962C8B-B14F-4D97-AF65-F5344CB8AC3E}">
        <p14:creationId xmlns:p14="http://schemas.microsoft.com/office/powerpoint/2010/main" val="987074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B53142-DCE9-4161-B13F-4FE794ACF3C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3906" y="801323"/>
            <a:ext cx="9804188" cy="264653"/>
          </a:xfrm>
          <a:prstGeom prst="rect">
            <a:avLst/>
          </a:prstGeom>
        </p:spPr>
      </p:pic>
      <p:sp>
        <p:nvSpPr>
          <p:cNvPr id="3" name="Rectangle 66">
            <a:extLst>
              <a:ext uri="{FF2B5EF4-FFF2-40B4-BE49-F238E27FC236}">
                <a16:creationId xmlns:a16="http://schemas.microsoft.com/office/drawing/2014/main" id="{276F4A10-84A3-4E00-84C6-9DC503940134}"/>
              </a:ext>
            </a:extLst>
          </p:cNvPr>
          <p:cNvSpPr>
            <a:spLocks noChangeArrowheads="1"/>
          </p:cNvSpPr>
          <p:nvPr/>
        </p:nvSpPr>
        <p:spPr bwMode="auto">
          <a:xfrm>
            <a:off x="76200" y="182563"/>
            <a:ext cx="6477000"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a:spcBef>
                <a:spcPct val="20000"/>
              </a:spcBef>
              <a:buFont typeface="Arial" panose="020B0604020202020204" pitchFamily="34" charset="0"/>
              <a:buChar char="•"/>
              <a:tabLst>
                <a:tab pos="18288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18288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18288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18288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18288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9pPr>
          </a:lstStyle>
          <a:p>
            <a:pPr>
              <a:spcBef>
                <a:spcPct val="0"/>
              </a:spcBef>
              <a:buSzPct val="120000"/>
              <a:buFontTx/>
              <a:buNone/>
            </a:pPr>
            <a:r>
              <a:rPr lang="en-US" altLang="en-US" sz="2000" dirty="0">
                <a:solidFill>
                  <a:srgbClr val="0000FF"/>
                </a:solidFill>
              </a:rPr>
              <a:t>Premium Determination</a:t>
            </a:r>
          </a:p>
        </p:txBody>
      </p:sp>
      <p:sp>
        <p:nvSpPr>
          <p:cNvPr id="4" name="Rectangle 3">
            <a:extLst>
              <a:ext uri="{FF2B5EF4-FFF2-40B4-BE49-F238E27FC236}">
                <a16:creationId xmlns:a16="http://schemas.microsoft.com/office/drawing/2014/main" id="{1CF1927B-0C4B-4F98-BCDC-445B7C24F1F0}"/>
              </a:ext>
            </a:extLst>
          </p:cNvPr>
          <p:cNvSpPr/>
          <p:nvPr/>
        </p:nvSpPr>
        <p:spPr>
          <a:xfrm>
            <a:off x="701748" y="1741968"/>
            <a:ext cx="11164186" cy="3539430"/>
          </a:xfrm>
          <a:prstGeom prst="rect">
            <a:avLst/>
          </a:prstGeom>
          <a:ln>
            <a:solidFill>
              <a:srgbClr val="0000FF"/>
            </a:solidFill>
          </a:ln>
        </p:spPr>
        <p:txBody>
          <a:bodyPr wrap="square">
            <a:spAutoFit/>
          </a:bodyPr>
          <a:lstStyle/>
          <a:p>
            <a:pPr eaLnBrk="1" hangingPunct="1">
              <a:buClr>
                <a:srgbClr val="C00000"/>
              </a:buClr>
              <a:defRPr/>
            </a:pPr>
            <a:r>
              <a:rPr lang="en-US" sz="1600" b="1" dirty="0">
                <a:latin typeface="+mn-lt"/>
              </a:rPr>
              <a:t>ADDITIONAL PREMIUMS </a:t>
            </a:r>
          </a:p>
          <a:p>
            <a:pPr marL="285750" indent="-285750" eaLnBrk="1" hangingPunct="1">
              <a:buClr>
                <a:srgbClr val="C00000"/>
              </a:buClr>
              <a:buFont typeface="Courier New" panose="02070309020205020404" pitchFamily="49" charset="0"/>
              <a:buChar char="o"/>
              <a:defRPr/>
            </a:pPr>
            <a:endParaRPr lang="en-US" sz="1600" dirty="0">
              <a:latin typeface="+mn-lt"/>
            </a:endParaRPr>
          </a:p>
          <a:p>
            <a:pPr marL="800100" lvl="1" indent="-342900">
              <a:buClr>
                <a:srgbClr val="C00000"/>
              </a:buClr>
              <a:buFont typeface="Courier New" panose="02070309020205020404" pitchFamily="49" charset="0"/>
              <a:buChar char="o"/>
              <a:defRPr/>
            </a:pPr>
            <a:r>
              <a:rPr lang="en-US" sz="1600" dirty="0">
                <a:latin typeface="+mn-lt"/>
              </a:rPr>
              <a:t>The </a:t>
            </a:r>
            <a:r>
              <a:rPr lang="en-US" sz="1600" dirty="0" err="1">
                <a:latin typeface="+mn-lt"/>
              </a:rPr>
              <a:t>Businessowners</a:t>
            </a:r>
            <a:r>
              <a:rPr lang="en-US" sz="1600" dirty="0">
                <a:latin typeface="+mn-lt"/>
              </a:rPr>
              <a:t> Program has additional coverage options available. The premiums for these optional </a:t>
            </a:r>
            <a:r>
              <a:rPr lang="en-US" sz="1600" dirty="0" err="1">
                <a:latin typeface="+mn-lt"/>
              </a:rPr>
              <a:t>coverages</a:t>
            </a:r>
            <a:r>
              <a:rPr lang="en-US" sz="1600" dirty="0">
                <a:latin typeface="+mn-lt"/>
              </a:rPr>
              <a:t> are calculated based on the rules provided</a:t>
            </a:r>
          </a:p>
          <a:p>
            <a:pPr marL="285750" indent="-285750" eaLnBrk="1" hangingPunct="1">
              <a:buClr>
                <a:srgbClr val="C00000"/>
              </a:buClr>
              <a:buFont typeface="Courier New" panose="02070309020205020404" pitchFamily="49" charset="0"/>
              <a:buChar char="o"/>
              <a:defRPr/>
            </a:pPr>
            <a:endParaRPr lang="en-US" sz="1600" dirty="0">
              <a:latin typeface="+mn-lt"/>
            </a:endParaRPr>
          </a:p>
          <a:p>
            <a:pPr eaLnBrk="1" hangingPunct="1">
              <a:buClr>
                <a:srgbClr val="C00000"/>
              </a:buClr>
              <a:defRPr/>
            </a:pPr>
            <a:r>
              <a:rPr lang="en-US" sz="1600" b="1" dirty="0">
                <a:latin typeface="+mn-lt"/>
              </a:rPr>
              <a:t>FINAL PREMIUM DETERMINATION </a:t>
            </a:r>
          </a:p>
          <a:p>
            <a:pPr marL="285750" indent="-285750" eaLnBrk="1" hangingPunct="1">
              <a:buClr>
                <a:srgbClr val="C00000"/>
              </a:buClr>
              <a:buFont typeface="Courier New" panose="02070309020205020404" pitchFamily="49" charset="0"/>
              <a:buChar char="o"/>
              <a:defRPr/>
            </a:pPr>
            <a:endParaRPr lang="en-US" sz="1600" dirty="0">
              <a:latin typeface="+mn-lt"/>
            </a:endParaRPr>
          </a:p>
          <a:p>
            <a:pPr marL="800100" lvl="1" indent="-342900">
              <a:buClr>
                <a:srgbClr val="C00000"/>
              </a:buClr>
              <a:buFont typeface="Courier New" panose="02070309020205020404" pitchFamily="49" charset="0"/>
              <a:buChar char="o"/>
              <a:defRPr/>
            </a:pPr>
            <a:r>
              <a:rPr lang="en-US" sz="1600" dirty="0">
                <a:latin typeface="+mn-lt"/>
              </a:rPr>
              <a:t>Underwriting judgment credits and debits are available in most states for the </a:t>
            </a:r>
            <a:r>
              <a:rPr lang="en-US" sz="1600" dirty="0" err="1">
                <a:latin typeface="+mn-lt"/>
              </a:rPr>
              <a:t>Businessowners</a:t>
            </a:r>
            <a:r>
              <a:rPr lang="en-US" sz="1600" dirty="0">
                <a:latin typeface="+mn-lt"/>
              </a:rPr>
              <a:t> Program. The same credit or debit factor is applied to the total premium and not to the rate</a:t>
            </a:r>
          </a:p>
          <a:p>
            <a:pPr marL="285750" indent="-285750" eaLnBrk="1" hangingPunct="1">
              <a:buClr>
                <a:srgbClr val="C00000"/>
              </a:buClr>
              <a:buFont typeface="Courier New" panose="02070309020205020404" pitchFamily="49" charset="0"/>
              <a:buChar char="o"/>
              <a:defRPr/>
            </a:pPr>
            <a:endParaRPr lang="en-US" sz="1600" dirty="0">
              <a:latin typeface="+mn-lt"/>
            </a:endParaRPr>
          </a:p>
          <a:p>
            <a:pPr eaLnBrk="1" hangingPunct="1">
              <a:buClr>
                <a:srgbClr val="C00000"/>
              </a:buClr>
              <a:defRPr/>
            </a:pPr>
            <a:r>
              <a:rPr lang="en-US" sz="1600" b="1" dirty="0">
                <a:latin typeface="+mn-lt"/>
              </a:rPr>
              <a:t>MINIMUM PREMIUM </a:t>
            </a:r>
          </a:p>
          <a:p>
            <a:pPr marL="285750" indent="-285750" eaLnBrk="1" hangingPunct="1">
              <a:buClr>
                <a:srgbClr val="C00000"/>
              </a:buClr>
              <a:buFont typeface="Courier New" panose="02070309020205020404" pitchFamily="49" charset="0"/>
              <a:buChar char="o"/>
              <a:defRPr/>
            </a:pPr>
            <a:endParaRPr lang="en-US" sz="1600" dirty="0">
              <a:latin typeface="+mn-lt"/>
            </a:endParaRPr>
          </a:p>
          <a:p>
            <a:pPr marL="800100" lvl="1" indent="-342900">
              <a:buClr>
                <a:srgbClr val="C00000"/>
              </a:buClr>
              <a:buFont typeface="Courier New" panose="02070309020205020404" pitchFamily="49" charset="0"/>
              <a:buChar char="o"/>
              <a:defRPr/>
            </a:pPr>
            <a:r>
              <a:rPr lang="en-US" sz="1600" dirty="0">
                <a:latin typeface="+mn-lt"/>
              </a:rPr>
              <a:t>Each insurance company establishes its own minimum premiums, not ISO. If the calculated premium is less than the minimum premium, the minimum premium is charged</a:t>
            </a:r>
          </a:p>
        </p:txBody>
      </p:sp>
    </p:spTree>
    <p:extLst>
      <p:ext uri="{BB962C8B-B14F-4D97-AF65-F5344CB8AC3E}">
        <p14:creationId xmlns:p14="http://schemas.microsoft.com/office/powerpoint/2010/main" val="26719744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1D890F8-64D3-489E-BEDB-5E37E20CD26E}"/>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3906" y="801323"/>
            <a:ext cx="9804188" cy="264653"/>
          </a:xfrm>
          <a:prstGeom prst="rect">
            <a:avLst/>
          </a:prstGeom>
        </p:spPr>
      </p:pic>
    </p:spTree>
    <p:extLst>
      <p:ext uri="{BB962C8B-B14F-4D97-AF65-F5344CB8AC3E}">
        <p14:creationId xmlns:p14="http://schemas.microsoft.com/office/powerpoint/2010/main" val="42233113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AE68927-953A-4E60-B828-D81938B97EB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3906" y="801323"/>
            <a:ext cx="9804188" cy="264653"/>
          </a:xfrm>
          <a:prstGeom prst="rect">
            <a:avLst/>
          </a:prstGeom>
        </p:spPr>
      </p:pic>
    </p:spTree>
    <p:extLst>
      <p:ext uri="{BB962C8B-B14F-4D97-AF65-F5344CB8AC3E}">
        <p14:creationId xmlns:p14="http://schemas.microsoft.com/office/powerpoint/2010/main" val="3172949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haredContentType xmlns="Microsoft.SharePoint.Taxonomy.ContentTypeSync" SourceId="41087d73-5bfe-4c6e-a130-3d602495565a" ContentTypeId="0x010100A9C68CA7C7CB9747850736716ABD16DF" PreviousValue="false"/>
</file>

<file path=customXml/item2.xml><?xml version="1.0" encoding="utf-8"?>
<ct:contentTypeSchema xmlns:ct="http://schemas.microsoft.com/office/2006/metadata/contentType" xmlns:ma="http://schemas.microsoft.com/office/2006/metadata/properties/metaAttributes" ct:_="" ma:_="" ma:contentTypeName="VIKI Document" ma:contentTypeID="0x010100A9C68CA7C7CB9747850736716ABD16DF00BE1DFF25D8869449A28818D1AF9444E1" ma:contentTypeVersion="20" ma:contentTypeDescription="" ma:contentTypeScope="" ma:versionID="92b093353b9940d7edd8e21a01084bae">
  <xsd:schema xmlns:xsd="http://www.w3.org/2001/XMLSchema" xmlns:xs="http://www.w3.org/2001/XMLSchema" xmlns:p="http://schemas.microsoft.com/office/2006/metadata/properties" xmlns:ns2="09339d3a-aaa0-497d-ae73-d8a5832d420d" xmlns:ns3="1b0447fd-b4de-47d5-99cd-696b41a805aa" xmlns:ns4="54644d9b-790a-4fc8-9e5d-73cde5ed7352" targetNamespace="http://schemas.microsoft.com/office/2006/metadata/properties" ma:root="true" ma:fieldsID="7b049ac841faef01dc341f5e9116bb68" ns2:_="" ns3:_="" ns4:_="">
    <xsd:import namespace="09339d3a-aaa0-497d-ae73-d8a5832d420d"/>
    <xsd:import namespace="1b0447fd-b4de-47d5-99cd-696b41a805aa"/>
    <xsd:import namespace="54644d9b-790a-4fc8-9e5d-73cde5ed7352"/>
    <xsd:element name="properties">
      <xsd:complexType>
        <xsd:sequence>
          <xsd:element name="documentManagement">
            <xsd:complexType>
              <xsd:all>
                <xsd:element ref="ns2:Classification"/>
                <xsd:element ref="ns2:Departments"/>
                <xsd:element ref="ns2:SubCategory"/>
                <xsd:element ref="ns2:Tags"/>
                <xsd:element ref="ns2:Contributors"/>
                <xsd:element ref="ns3:MediaServiceAutoKeyPoints" minOccurs="0"/>
                <xsd:element ref="ns3:MediaServiceKeyPoints" minOccurs="0"/>
                <xsd:element ref="ns4:SharedWithUsers" minOccurs="0"/>
                <xsd:element ref="ns4:SharedWithDetails" minOccurs="0"/>
                <xsd:element ref="ns3:MediaServiceDateTaken" minOccurs="0"/>
                <xsd:element ref="ns3:MediaLengthInSeconds" minOccurs="0"/>
                <xsd:element ref="ns3:MediaServiceObjectDetectorVersions"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339d3a-aaa0-497d-ae73-d8a5832d420d" elementFormDefault="qualified">
    <xsd:import namespace="http://schemas.microsoft.com/office/2006/documentManagement/types"/>
    <xsd:import namespace="http://schemas.microsoft.com/office/infopath/2007/PartnerControls"/>
    <xsd:element name="Classification" ma:index="8" ma:displayName="Classification" ma:description="Refer Help &gt; Guidelines" ma:format="Dropdown" ma:internalName="Classification">
      <xsd:simpleType>
        <xsd:restriction base="dms:Choice">
          <xsd:enumeration value="Sensitive"/>
          <xsd:enumeration value="Confidential"/>
          <xsd:enumeration value="Internally Restricted"/>
          <xsd:enumeration value="Internal Use"/>
        </xsd:restriction>
      </xsd:simpleType>
    </xsd:element>
    <xsd:element name="Departments" ma:index="9" ma:displayName="Departments" ma:format="Dropdown" ma:internalName="Departments">
      <xsd:simpleType>
        <xsd:restriction base="dms:Choice">
          <xsd:enumeration value="Accounts"/>
          <xsd:enumeration value="Banking"/>
          <xsd:enumeration value="BizDynamics"/>
          <xsd:enumeration value="CCM"/>
          <xsd:enumeration value="Client Services"/>
          <xsd:enumeration value="Core Leverage"/>
          <xsd:enumeration value="Data Leverage"/>
          <xsd:enumeration value="Digital &amp; Cloud"/>
          <xsd:enumeration value="Facilities"/>
          <xsd:enumeration value="Finance"/>
          <xsd:enumeration value="Financial Services"/>
          <xsd:enumeration value="GRC Operations"/>
          <xsd:enumeration value="HR"/>
          <xsd:enumeration value="Insurance Health Care"/>
          <xsd:enumeration value="Insurance Life"/>
          <xsd:enumeration value="Insurance P&amp;C"/>
          <xsd:enumeration value="IT Operations"/>
          <xsd:enumeration value="Learning &amp; Development"/>
          <xsd:enumeration value="Management System"/>
          <xsd:enumeration value="Marketing"/>
          <xsd:enumeration value="Network Operations"/>
          <xsd:enumeration value="Operations"/>
          <xsd:enumeration value="Organization"/>
          <xsd:enumeration value="PMO"/>
          <xsd:enumeration value="Quality Leap"/>
          <xsd:enumeration value="Sales"/>
          <xsd:enumeration value="Security Operations"/>
          <xsd:enumeration value="WhiteCoats"/>
        </xsd:restriction>
      </xsd:simpleType>
    </xsd:element>
    <xsd:element name="SubCategory" ma:index="10" ma:displayName="SubCategory" ma:format="Dropdown" ma:internalName="SubCategory">
      <xsd:simpleType>
        <xsd:restriction base="dms:Choice">
          <xsd:enumeration value="Accelerator"/>
          <xsd:enumeration value="Analysis"/>
          <xsd:enumeration value="Architecture"/>
          <xsd:enumeration value="Best Practice"/>
          <xsd:enumeration value="Case Study"/>
          <xsd:enumeration value="Change Management"/>
          <xsd:enumeration value="Checklist"/>
          <xsd:enumeration value="Design Patterns"/>
          <xsd:enumeration value="Form"/>
          <xsd:enumeration value="Guideline"/>
          <xsd:enumeration value="Learning"/>
          <xsd:enumeration value="Market Research"/>
          <xsd:enumeration value="Methodology"/>
          <xsd:enumeration value="Policy"/>
          <xsd:enumeration value="Presales"/>
          <xsd:enumeration value="Presentation"/>
          <xsd:enumeration value="Procedure"/>
          <xsd:enumeration value="Process"/>
          <xsd:enumeration value="Program Management"/>
          <xsd:enumeration value="Project Closure"/>
          <xsd:enumeration value="Project Proposal"/>
          <xsd:enumeration value="Quality Management"/>
          <xsd:enumeration value="Report"/>
          <xsd:enumeration value="Risk Management"/>
          <xsd:enumeration value="SOW"/>
          <xsd:enumeration value="Standards"/>
          <xsd:enumeration value="Training"/>
          <xsd:enumeration value="Value Addition"/>
          <xsd:enumeration value="White Paper"/>
        </xsd:restriction>
      </xsd:simpleType>
    </xsd:element>
    <xsd:element name="Tags" ma:index="11" ma:displayName="Tags" ma:internalName="Tags">
      <xsd:simpleType>
        <xsd:restriction base="dms:Text">
          <xsd:maxLength value="255"/>
        </xsd:restriction>
      </xsd:simpleType>
    </xsd:element>
    <xsd:element name="Contributors" ma:index="12" ma:displayName="Contributors" ma:list="UserInfo" ma:SharePointGroup="0" ma:internalName="Contributors" ma:showField="Department">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1b0447fd-b4de-47d5-99cd-696b41a805aa" elementFormDefault="qualified">
    <xsd:import namespace="http://schemas.microsoft.com/office/2006/documentManagement/types"/>
    <xsd:import namespace="http://schemas.microsoft.com/office/infopath/2007/PartnerControls"/>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4644d9b-790a-4fc8-9e5d-73cde5ed7352"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Departments xmlns="09339d3a-aaa0-497d-ae73-d8a5832d420d">Insurance P&amp;C</Departments>
    <Classification xmlns="09339d3a-aaa0-497d-ae73-d8a5832d420d">Internal Use</Classification>
    <Contributors xmlns="09339d3a-aaa0-497d-ae73-d8a5832d420d">
      <UserInfo>
        <DisplayName>Alok Bharati</DisplayName>
        <AccountId>26</AccountId>
        <AccountType/>
      </UserInfo>
    </Contributors>
    <SubCategory xmlns="09339d3a-aaa0-497d-ae73-d8a5832d420d">Learning</SubCategory>
    <Tags xmlns="09339d3a-aaa0-497d-ae73-d8a5832d420d">BOP</Tags>
  </documentManagement>
</p:properties>
</file>

<file path=customXml/itemProps1.xml><?xml version="1.0" encoding="utf-8"?>
<ds:datastoreItem xmlns:ds="http://schemas.openxmlformats.org/officeDocument/2006/customXml" ds:itemID="{46832562-E4B4-4F56-9DCA-43F4386244CC}"/>
</file>

<file path=customXml/itemProps2.xml><?xml version="1.0" encoding="utf-8"?>
<ds:datastoreItem xmlns:ds="http://schemas.openxmlformats.org/officeDocument/2006/customXml" ds:itemID="{C8B309BD-B0F7-4FC7-9435-730A2C80DEAC}"/>
</file>

<file path=customXml/itemProps3.xml><?xml version="1.0" encoding="utf-8"?>
<ds:datastoreItem xmlns:ds="http://schemas.openxmlformats.org/officeDocument/2006/customXml" ds:itemID="{677A7F76-AAF0-40C1-9724-1A4DF14B7BDF}"/>
</file>

<file path=customXml/itemProps4.xml><?xml version="1.0" encoding="utf-8"?>
<ds:datastoreItem xmlns:ds="http://schemas.openxmlformats.org/officeDocument/2006/customXml" ds:itemID="{59F27BC3-DFB7-4A1F-B595-CCE2913FC7E3}"/>
</file>

<file path=docProps/app.xml><?xml version="1.0" encoding="utf-8"?>
<Properties xmlns="http://schemas.openxmlformats.org/officeDocument/2006/extended-properties" xmlns:vt="http://schemas.openxmlformats.org/officeDocument/2006/docPropsVTypes">
  <TotalTime>35</TotalTime>
  <Words>1852</Words>
  <Application>Microsoft Office PowerPoint</Application>
  <PresentationFormat>Widescreen</PresentationFormat>
  <Paragraphs>231</Paragraphs>
  <Slides>16</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Alok Bharati</dc:creator>
  <cp:lastModifiedBy>Alok Bharati</cp:lastModifiedBy>
  <cp:revision>1</cp:revision>
  <dcterms:created xsi:type="dcterms:W3CDTF">2022-01-22T09:06:43Z</dcterms:created>
  <dcterms:modified xsi:type="dcterms:W3CDTF">2022-01-22T09:41:43Z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0x010100A9C68CA7C7CB9747850736716ABD16DF00BE1DFF25D8869449A28818D1AF9444E1</vt:lpwstr>
  </property>
</Properties>
</file>
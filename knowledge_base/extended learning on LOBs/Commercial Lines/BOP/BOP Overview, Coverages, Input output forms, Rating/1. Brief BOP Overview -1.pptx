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21"/>
  </p:notesMasterIdLst>
  <p:sldIdLst>
    <p:sldId id="1177" r:id="rId6"/>
    <p:sldId id="1178" r:id="rId7"/>
    <p:sldId id="265" r:id="rId8"/>
    <p:sldId id="258" r:id="rId9"/>
    <p:sldId id="266" r:id="rId10"/>
    <p:sldId id="267" r:id="rId11"/>
    <p:sldId id="260" r:id="rId12"/>
    <p:sldId id="1180" r:id="rId13"/>
    <p:sldId id="268" r:id="rId14"/>
    <p:sldId id="261" r:id="rId15"/>
    <p:sldId id="262" r:id="rId16"/>
    <p:sldId id="263" r:id="rId17"/>
    <p:sldId id="1166" r:id="rId18"/>
    <p:sldId id="269" r:id="rId19"/>
    <p:sldId id="27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E2FDD8-1808-491D-A85F-D0F330F8E222}" v="11" dt="2021-05-08T19:23:07.314"/>
    <p1510:client id="{356F176F-E8DD-3F3D-3489-1CD9974F5AC5}" v="1" dt="2021-12-15T11:15:35.1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3" autoAdjust="0"/>
    <p:restoredTop sz="93792" autoAdjust="0"/>
  </p:normalViewPr>
  <p:slideViewPr>
    <p:cSldViewPr snapToGrid="0">
      <p:cViewPr varScale="1">
        <p:scale>
          <a:sx n="67" d="100"/>
          <a:sy n="67" d="100"/>
        </p:scale>
        <p:origin x="60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ok Bharati" userId="S::alok.bharati@valuemomentum.com::2f6e0e27-ace8-4335-a59d-f4692af8e221" providerId="AD" clId="Web-{356F176F-E8DD-3F3D-3489-1CD9974F5AC5}"/>
    <pc:docChg chg="delSld">
      <pc:chgData name="Alok Bharati" userId="S::alok.bharati@valuemomentum.com::2f6e0e27-ace8-4335-a59d-f4692af8e221" providerId="AD" clId="Web-{356F176F-E8DD-3F3D-3489-1CD9974F5AC5}" dt="2021-12-15T11:15:35.179" v="0"/>
      <pc:docMkLst>
        <pc:docMk/>
      </pc:docMkLst>
      <pc:sldChg chg="del">
        <pc:chgData name="Alok Bharati" userId="S::alok.bharati@valuemomentum.com::2f6e0e27-ace8-4335-a59d-f4692af8e221" providerId="AD" clId="Web-{356F176F-E8DD-3F3D-3489-1CD9974F5AC5}" dt="2021-12-15T11:15:35.179" v="0"/>
        <pc:sldMkLst>
          <pc:docMk/>
          <pc:sldMk cId="504465558" sldId="118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E178AC-10FD-48DA-B091-9B227E8DD1AB}" type="datetimeFigureOut">
              <a:rPr lang="en-US" smtClean="0"/>
              <a:t>12/15/2021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E30A59-99EF-4A9E-B675-40DAD48CDC8B}" type="slidenum">
              <a:rPr lang="en-US" smtClean="0"/>
              <a:t>‹#›</a:t>
            </a:fld>
            <a:endParaRPr lang="en-US"/>
          </a:p>
        </p:txBody>
      </p:sp>
    </p:spTree>
    <p:extLst>
      <p:ext uri="{BB962C8B-B14F-4D97-AF65-F5344CB8AC3E}">
        <p14:creationId xmlns:p14="http://schemas.microsoft.com/office/powerpoint/2010/main" val="2425374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What does a business owners insurance policy cover?</a:t>
            </a:r>
          </a:p>
          <a:p>
            <a:r>
              <a:rPr lang="en-US" dirty="0"/>
              <a:t>A BOP typically protects business owners against property damage, peril, business interruption, and liability. While coverages vary among insurance providers, businesses can often opt-in for additional coverage, such as crime, spoilage of merchandise, forgery, fidelity, and more.</a:t>
            </a:r>
          </a:p>
          <a:p>
            <a:pPr algn="l"/>
            <a:r>
              <a:rPr lang="en-US" b="1" i="0" dirty="0">
                <a:solidFill>
                  <a:srgbClr val="1A4D79"/>
                </a:solidFill>
                <a:effectLst/>
                <a:latin typeface="proxima-nova"/>
              </a:rPr>
              <a:t>BOPs include</a:t>
            </a:r>
          </a:p>
          <a:p>
            <a:pPr algn="l">
              <a:buFont typeface="+mj-lt"/>
              <a:buAutoNum type="arabicPeriod"/>
            </a:pPr>
            <a:r>
              <a:rPr lang="en-US" b="0" i="0" dirty="0">
                <a:solidFill>
                  <a:srgbClr val="505050"/>
                </a:solidFill>
                <a:effectLst/>
                <a:latin typeface="proxima-nova"/>
              </a:rPr>
              <a:t>Property insurance for buildings and contents owned by the company -- there are two different forms, standard and special, which provides more comprehensive coverage.</a:t>
            </a:r>
          </a:p>
          <a:p>
            <a:pPr algn="l">
              <a:buFont typeface="+mj-lt"/>
              <a:buAutoNum type="arabicPeriod"/>
            </a:pPr>
            <a:r>
              <a:rPr lang="en-US" b="0" i="0" dirty="0">
                <a:solidFill>
                  <a:srgbClr val="505050"/>
                </a:solidFill>
                <a:effectLst/>
                <a:latin typeface="proxima-nova"/>
              </a:rPr>
              <a:t>Business interruption insurance, which covers the loss of income resulting from a fire or other catastrophe that disrupts the operation of the business. It can also include the extra expense of operating out of a temporary location.</a:t>
            </a:r>
          </a:p>
          <a:p>
            <a:pPr algn="l">
              <a:buFont typeface="+mj-lt"/>
              <a:buAutoNum type="arabicPeriod"/>
            </a:pPr>
            <a:r>
              <a:rPr lang="en-US" b="0" i="0" dirty="0">
                <a:solidFill>
                  <a:srgbClr val="505050"/>
                </a:solidFill>
                <a:effectLst/>
                <a:latin typeface="proxima-nova"/>
              </a:rPr>
              <a:t>Liability protection, which covers your company's legal responsibility for the harm it may cause to others. This harm is a result of things that you and your employees do or fail to do in your business operations that may cause bodily injury or property damage due to defective products, faulty installations and errors in services provided.</a:t>
            </a:r>
          </a:p>
          <a:p>
            <a:pPr algn="l"/>
            <a:br>
              <a:rPr lang="en-US" dirty="0"/>
            </a:br>
            <a:r>
              <a:rPr lang="en-US" b="0" i="0" dirty="0">
                <a:solidFill>
                  <a:srgbClr val="505050"/>
                </a:solidFill>
                <a:effectLst/>
                <a:latin typeface="proxima-nova"/>
              </a:rPr>
              <a:t>BOPs do NOT cover professional liability, auto insurance, worker’s compensation or health and disability insurance. You'll need separate insurance policies to cover professional services, vehicles and your employees.</a:t>
            </a:r>
          </a:p>
          <a:p>
            <a:endParaRPr lang="en-US" dirty="0"/>
          </a:p>
          <a:p>
            <a:endParaRPr lang="en-US" dirty="0"/>
          </a:p>
          <a:p>
            <a:pPr algn="l"/>
            <a:r>
              <a:rPr lang="en-US" b="1" i="0" u="sng" dirty="0">
                <a:solidFill>
                  <a:srgbClr val="0000FF"/>
                </a:solidFill>
                <a:effectLst/>
                <a:latin typeface="arial" panose="020B0604020202020204" pitchFamily="34" charset="0"/>
              </a:rPr>
              <a:t>Who is eligible for a business owner's policy?</a:t>
            </a:r>
          </a:p>
          <a:p>
            <a:pPr algn="l"/>
            <a:r>
              <a:rPr lang="en-US" b="1" i="0" dirty="0">
                <a:solidFill>
                  <a:srgbClr val="202124"/>
                </a:solidFill>
                <a:effectLst/>
                <a:latin typeface="arial" panose="020B0604020202020204" pitchFamily="34" charset="0"/>
              </a:rPr>
              <a:t>Businesses</a:t>
            </a:r>
            <a:r>
              <a:rPr lang="en-US" b="0" i="0" dirty="0">
                <a:solidFill>
                  <a:srgbClr val="202124"/>
                </a:solidFill>
                <a:effectLst/>
                <a:latin typeface="arial" panose="020B0604020202020204" pitchFamily="34" charset="0"/>
              </a:rPr>
              <a:t> in low-risk industries with a small footprint often </a:t>
            </a:r>
            <a:r>
              <a:rPr lang="en-US" b="1" i="0" dirty="0">
                <a:solidFill>
                  <a:srgbClr val="202124"/>
                </a:solidFill>
                <a:effectLst/>
                <a:latin typeface="arial" panose="020B0604020202020204" pitchFamily="34" charset="0"/>
              </a:rPr>
              <a:t>qualify for a business owner's policy</a:t>
            </a:r>
            <a:r>
              <a:rPr lang="en-US" b="0" i="0" dirty="0">
                <a:solidFill>
                  <a:srgbClr val="202124"/>
                </a:solidFill>
                <a:effectLst/>
                <a:latin typeface="arial" panose="020B0604020202020204" pitchFamily="34" charset="0"/>
              </a:rPr>
              <a:t>, which combines general liability insurance with property insurance at a discount. The typical </a:t>
            </a:r>
            <a:r>
              <a:rPr lang="en-US" b="1" i="0" dirty="0">
                <a:solidFill>
                  <a:srgbClr val="202124"/>
                </a:solidFill>
                <a:effectLst/>
                <a:latin typeface="arial" panose="020B0604020202020204" pitchFamily="34" charset="0"/>
              </a:rPr>
              <a:t>business</a:t>
            </a:r>
            <a:r>
              <a:rPr lang="en-US" b="0" i="0" dirty="0">
                <a:solidFill>
                  <a:srgbClr val="202124"/>
                </a:solidFill>
                <a:effectLst/>
                <a:latin typeface="arial" panose="020B0604020202020204" pitchFamily="34" charset="0"/>
              </a:rPr>
              <a:t> that is </a:t>
            </a:r>
            <a:r>
              <a:rPr lang="en-US" b="1" i="0" dirty="0">
                <a:solidFill>
                  <a:srgbClr val="202124"/>
                </a:solidFill>
                <a:effectLst/>
                <a:latin typeface="arial" panose="020B0604020202020204" pitchFamily="34" charset="0"/>
              </a:rPr>
              <a:t>eligible</a:t>
            </a:r>
            <a:r>
              <a:rPr lang="en-US" b="0" i="0" dirty="0">
                <a:solidFill>
                  <a:srgbClr val="202124"/>
                </a:solidFill>
                <a:effectLst/>
                <a:latin typeface="arial" panose="020B0604020202020204" pitchFamily="34" charset="0"/>
              </a:rPr>
              <a:t> for a BOP: Has fewer than 100 employees. Has a small office, workplace, or other premises.</a:t>
            </a:r>
          </a:p>
          <a:p>
            <a:endParaRPr lang="en-US" dirty="0"/>
          </a:p>
          <a:p>
            <a:endParaRPr lang="en-IN" dirty="0"/>
          </a:p>
        </p:txBody>
      </p:sp>
      <p:sp>
        <p:nvSpPr>
          <p:cNvPr id="4" name="Slide Number Placeholder 3"/>
          <p:cNvSpPr>
            <a:spLocks noGrp="1"/>
          </p:cNvSpPr>
          <p:nvPr>
            <p:ph type="sldNum" sz="quarter" idx="5"/>
          </p:nvPr>
        </p:nvSpPr>
        <p:spPr/>
        <p:txBody>
          <a:bodyPr/>
          <a:lstStyle/>
          <a:p>
            <a:fld id="{46E30A59-99EF-4A9E-B675-40DAD48CDC8B}" type="slidenum">
              <a:rPr lang="en-US" smtClean="0"/>
              <a:t>3</a:t>
            </a:fld>
            <a:endParaRPr lang="en-US"/>
          </a:p>
        </p:txBody>
      </p:sp>
    </p:spTree>
    <p:extLst>
      <p:ext uri="{BB962C8B-B14F-4D97-AF65-F5344CB8AC3E}">
        <p14:creationId xmlns:p14="http://schemas.microsoft.com/office/powerpoint/2010/main" val="1877518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freestanding package policy – It can not be added to a Commercial package policy.</a:t>
            </a:r>
          </a:p>
        </p:txBody>
      </p:sp>
      <p:sp>
        <p:nvSpPr>
          <p:cNvPr id="4" name="Slide Number Placeholder 3"/>
          <p:cNvSpPr>
            <a:spLocks noGrp="1"/>
          </p:cNvSpPr>
          <p:nvPr>
            <p:ph type="sldNum" sz="quarter" idx="10"/>
          </p:nvPr>
        </p:nvSpPr>
        <p:spPr/>
        <p:txBody>
          <a:bodyPr/>
          <a:lstStyle/>
          <a:p>
            <a:pPr>
              <a:defRPr/>
            </a:pPr>
            <a:fld id="{9A3926EB-BD52-4AE3-B0C0-D240C7C26208}" type="slidenum">
              <a:rPr lang="en-US" smtClean="0"/>
              <a:pPr>
                <a:defRPr/>
              </a:pPr>
              <a:t>4</a:t>
            </a:fld>
            <a:endParaRPr lang="en-US"/>
          </a:p>
        </p:txBody>
      </p:sp>
    </p:spTree>
    <p:extLst>
      <p:ext uri="{BB962C8B-B14F-4D97-AF65-F5344CB8AC3E}">
        <p14:creationId xmlns:p14="http://schemas.microsoft.com/office/powerpoint/2010/main" val="2837672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Insurance to Value:  “A mechanism whereby the insurer agrees to a reduced rate if the insured carries a specific percent of insurance to the value of the property.	</a:t>
            </a:r>
          </a:p>
          <a:p>
            <a:r>
              <a:rPr lang="en-US" dirty="0"/>
              <a:t> Fairness and Rate Equity: Insurance is the spreading, sharing and transferring of risk, and all participants (i.e. insureds) are expected to pay their “fair share”.</a:t>
            </a:r>
          </a:p>
        </p:txBody>
      </p:sp>
      <p:sp>
        <p:nvSpPr>
          <p:cNvPr id="4" name="Slide Number Placeholder 3"/>
          <p:cNvSpPr>
            <a:spLocks noGrp="1"/>
          </p:cNvSpPr>
          <p:nvPr>
            <p:ph type="sldNum" sz="quarter" idx="10"/>
          </p:nvPr>
        </p:nvSpPr>
        <p:spPr/>
        <p:txBody>
          <a:bodyPr/>
          <a:lstStyle/>
          <a:p>
            <a:pPr>
              <a:defRPr/>
            </a:pPr>
            <a:fld id="{9A3926EB-BD52-4AE3-B0C0-D240C7C26208}" type="slidenum">
              <a:rPr lang="en-US" smtClean="0"/>
              <a:pPr>
                <a:defRPr/>
              </a:pPr>
              <a:t>7</a:t>
            </a:fld>
            <a:endParaRPr lang="en-US"/>
          </a:p>
        </p:txBody>
      </p:sp>
    </p:spTree>
    <p:extLst>
      <p:ext uri="{BB962C8B-B14F-4D97-AF65-F5344CB8AC3E}">
        <p14:creationId xmlns:p14="http://schemas.microsoft.com/office/powerpoint/2010/main" val="37523917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371554" y="6363129"/>
            <a:ext cx="608274" cy="369332"/>
          </a:xfrm>
          <a:prstGeom prst="rect">
            <a:avLst/>
          </a:prstGeom>
          <a:noFill/>
        </p:spPr>
        <p:txBody>
          <a:bodyPr wrap="square" rtlCol="0">
            <a:spAutoFit/>
          </a:bodyPr>
          <a:lstStyle/>
          <a:p>
            <a:fld id="{65B66DB6-D71E-4B3E-9AE0-4919FDE04E8D}" type="slidenum">
              <a:rPr lang="en-US" smtClean="0">
                <a:solidFill>
                  <a:schemeClr val="tx1"/>
                </a:solidFill>
              </a:rPr>
              <a:t>‹#›</a:t>
            </a:fld>
            <a:endParaRPr lang="en-US" dirty="0">
              <a:solidFill>
                <a:schemeClr val="tx1"/>
              </a:solidFill>
            </a:endParaRP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36297" y="195809"/>
            <a:ext cx="1297157" cy="843001"/>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110249" tIns="55125" rIns="110249" bIns="55125"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110249" tIns="55125" rIns="110249" bIns="5512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110249" tIns="55125" rIns="110249" bIns="55125" rtlCol="0" anchor="ctr"/>
          <a:lstStyle>
            <a:lvl1pPr algn="l" fontAlgn="auto">
              <a:spcBef>
                <a:spcPts val="0"/>
              </a:spcBef>
              <a:spcAft>
                <a:spcPts val="0"/>
              </a:spcAft>
              <a:defRPr sz="1382">
                <a:solidFill>
                  <a:schemeClr val="tx1">
                    <a:tint val="75000"/>
                  </a:schemeClr>
                </a:solidFill>
                <a:latin typeface="+mn-lt"/>
                <a:cs typeface="+mn-cs"/>
              </a:defRPr>
            </a:lvl1pPr>
          </a:lstStyle>
          <a:p>
            <a:pPr>
              <a:defRPr/>
            </a:pPr>
            <a:fld id="{033C36AE-1F22-4034-AC38-1EF7C2E753D1}" type="datetimeFigureOut">
              <a:rPr lang="en-US"/>
              <a:pPr>
                <a:defRPr/>
              </a:pPr>
              <a:t>12/15/2021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110249" tIns="55125" rIns="110249" bIns="55125" rtlCol="0" anchor="ctr"/>
          <a:lstStyle>
            <a:lvl1pPr algn="ctr" fontAlgn="auto">
              <a:spcBef>
                <a:spcPts val="0"/>
              </a:spcBef>
              <a:spcAft>
                <a:spcPts val="0"/>
              </a:spcAft>
              <a:defRPr sz="1382">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110249" tIns="55125" rIns="110249" bIns="55125" rtlCol="0" anchor="ctr"/>
          <a:lstStyle>
            <a:lvl1pPr algn="r" fontAlgn="auto">
              <a:spcBef>
                <a:spcPts val="0"/>
              </a:spcBef>
              <a:spcAft>
                <a:spcPts val="0"/>
              </a:spcAft>
              <a:defRPr sz="1382">
                <a:solidFill>
                  <a:schemeClr val="tx1">
                    <a:tint val="75000"/>
                  </a:schemeClr>
                </a:solidFill>
                <a:latin typeface="+mn-lt"/>
                <a:cs typeface="+mn-cs"/>
              </a:defRPr>
            </a:lvl1pPr>
          </a:lstStyle>
          <a:p>
            <a:pPr>
              <a:defRPr/>
            </a:pPr>
            <a:fld id="{019164D7-1688-4482-BCBF-BB84A53684B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59" r:id="rId1"/>
  </p:sldLayoutIdLst>
  <p:transition>
    <p:fade thruBlk="1"/>
  </p:transition>
  <p:txStyles>
    <p:titleStyle>
      <a:lvl1pPr algn="ctr" rtl="0" eaLnBrk="1" fontAlgn="base" hangingPunct="1">
        <a:spcBef>
          <a:spcPct val="0"/>
        </a:spcBef>
        <a:spcAft>
          <a:spcPct val="0"/>
        </a:spcAft>
        <a:defRPr sz="5300" kern="1200">
          <a:solidFill>
            <a:schemeClr val="tx1"/>
          </a:solidFill>
          <a:latin typeface="+mj-lt"/>
          <a:ea typeface="+mj-ea"/>
          <a:cs typeface="+mj-cs"/>
        </a:defRPr>
      </a:lvl1pPr>
      <a:lvl2pPr algn="ctr" rtl="0" eaLnBrk="1" fontAlgn="base" hangingPunct="1">
        <a:spcBef>
          <a:spcPct val="0"/>
        </a:spcBef>
        <a:spcAft>
          <a:spcPct val="0"/>
        </a:spcAft>
        <a:defRPr sz="5300">
          <a:solidFill>
            <a:schemeClr val="tx1"/>
          </a:solidFill>
          <a:latin typeface="Calibri" pitchFamily="34" charset="0"/>
        </a:defRPr>
      </a:lvl2pPr>
      <a:lvl3pPr algn="ctr" rtl="0" eaLnBrk="1" fontAlgn="base" hangingPunct="1">
        <a:spcBef>
          <a:spcPct val="0"/>
        </a:spcBef>
        <a:spcAft>
          <a:spcPct val="0"/>
        </a:spcAft>
        <a:defRPr sz="5300">
          <a:solidFill>
            <a:schemeClr val="tx1"/>
          </a:solidFill>
          <a:latin typeface="Calibri" pitchFamily="34" charset="0"/>
        </a:defRPr>
      </a:lvl3pPr>
      <a:lvl4pPr algn="ctr" rtl="0" eaLnBrk="1" fontAlgn="base" hangingPunct="1">
        <a:spcBef>
          <a:spcPct val="0"/>
        </a:spcBef>
        <a:spcAft>
          <a:spcPct val="0"/>
        </a:spcAft>
        <a:defRPr sz="5300">
          <a:solidFill>
            <a:schemeClr val="tx1"/>
          </a:solidFill>
          <a:latin typeface="Calibri" pitchFamily="34" charset="0"/>
        </a:defRPr>
      </a:lvl4pPr>
      <a:lvl5pPr algn="ctr" rtl="0" eaLnBrk="1" fontAlgn="base" hangingPunct="1">
        <a:spcBef>
          <a:spcPct val="0"/>
        </a:spcBef>
        <a:spcAft>
          <a:spcPct val="0"/>
        </a:spcAft>
        <a:defRPr sz="5300">
          <a:solidFill>
            <a:schemeClr val="tx1"/>
          </a:solidFill>
          <a:latin typeface="Calibri" pitchFamily="34" charset="0"/>
        </a:defRPr>
      </a:lvl5pPr>
      <a:lvl6pPr marL="551246" algn="ctr" rtl="0" eaLnBrk="1" fontAlgn="base" hangingPunct="1">
        <a:spcBef>
          <a:spcPct val="0"/>
        </a:spcBef>
        <a:spcAft>
          <a:spcPct val="0"/>
        </a:spcAft>
        <a:defRPr sz="5300">
          <a:solidFill>
            <a:schemeClr val="tx1"/>
          </a:solidFill>
          <a:latin typeface="Calibri" pitchFamily="34" charset="0"/>
        </a:defRPr>
      </a:lvl6pPr>
      <a:lvl7pPr marL="1102492" algn="ctr" rtl="0" eaLnBrk="1" fontAlgn="base" hangingPunct="1">
        <a:spcBef>
          <a:spcPct val="0"/>
        </a:spcBef>
        <a:spcAft>
          <a:spcPct val="0"/>
        </a:spcAft>
        <a:defRPr sz="5300">
          <a:solidFill>
            <a:schemeClr val="tx1"/>
          </a:solidFill>
          <a:latin typeface="Calibri" pitchFamily="34" charset="0"/>
        </a:defRPr>
      </a:lvl7pPr>
      <a:lvl8pPr marL="1653738" algn="ctr" rtl="0" eaLnBrk="1" fontAlgn="base" hangingPunct="1">
        <a:spcBef>
          <a:spcPct val="0"/>
        </a:spcBef>
        <a:spcAft>
          <a:spcPct val="0"/>
        </a:spcAft>
        <a:defRPr sz="5300">
          <a:solidFill>
            <a:schemeClr val="tx1"/>
          </a:solidFill>
          <a:latin typeface="Calibri" pitchFamily="34" charset="0"/>
        </a:defRPr>
      </a:lvl8pPr>
      <a:lvl9pPr marL="2204984" algn="ctr" rtl="0" eaLnBrk="1" fontAlgn="base" hangingPunct="1">
        <a:spcBef>
          <a:spcPct val="0"/>
        </a:spcBef>
        <a:spcAft>
          <a:spcPct val="0"/>
        </a:spcAft>
        <a:defRPr sz="5300">
          <a:solidFill>
            <a:schemeClr val="tx1"/>
          </a:solidFill>
          <a:latin typeface="Calibri" pitchFamily="34" charset="0"/>
        </a:defRPr>
      </a:lvl9pPr>
    </p:titleStyle>
    <p:bodyStyle>
      <a:lvl1pPr marL="413435" indent="-413435" algn="l" rtl="0" eaLnBrk="1" fontAlgn="base" hangingPunct="1">
        <a:spcBef>
          <a:spcPct val="20000"/>
        </a:spcBef>
        <a:spcAft>
          <a:spcPct val="0"/>
        </a:spcAft>
        <a:buFont typeface="Arial" charset="0"/>
        <a:buChar char="•"/>
        <a:defRPr sz="3900" kern="1200">
          <a:solidFill>
            <a:schemeClr val="tx1"/>
          </a:solidFill>
          <a:latin typeface="+mn-lt"/>
          <a:ea typeface="+mn-ea"/>
          <a:cs typeface="+mn-cs"/>
        </a:defRPr>
      </a:lvl1pPr>
      <a:lvl2pPr marL="895775" indent="-344529" algn="l" rtl="0" eaLnBrk="1" fontAlgn="base" hangingPunct="1">
        <a:spcBef>
          <a:spcPct val="20000"/>
        </a:spcBef>
        <a:spcAft>
          <a:spcPct val="0"/>
        </a:spcAft>
        <a:buFont typeface="Arial" charset="0"/>
        <a:buChar char="–"/>
        <a:defRPr sz="3400" kern="1200">
          <a:solidFill>
            <a:schemeClr val="tx1"/>
          </a:solidFill>
          <a:latin typeface="+mn-lt"/>
          <a:ea typeface="+mn-ea"/>
          <a:cs typeface="+mn-cs"/>
        </a:defRPr>
      </a:lvl2pPr>
      <a:lvl3pPr marL="1378115" indent="-275623" algn="l" rtl="0" eaLnBrk="1" fontAlgn="base" hangingPunct="1">
        <a:spcBef>
          <a:spcPct val="20000"/>
        </a:spcBef>
        <a:spcAft>
          <a:spcPct val="0"/>
        </a:spcAft>
        <a:buFont typeface="Arial" charset="0"/>
        <a:buChar char="•"/>
        <a:defRPr sz="2900" kern="1200">
          <a:solidFill>
            <a:schemeClr val="tx1"/>
          </a:solidFill>
          <a:latin typeface="+mn-lt"/>
          <a:ea typeface="+mn-ea"/>
          <a:cs typeface="+mn-cs"/>
        </a:defRPr>
      </a:lvl3pPr>
      <a:lvl4pPr marL="1929361" indent="-275623"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4pPr>
      <a:lvl5pPr marL="2480607" indent="-275623"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5pPr>
      <a:lvl6pPr marL="3031853" indent="-275623" algn="l" defTabSz="1102492"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83099" indent="-275623" algn="l" defTabSz="1102492"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34345" indent="-275623" algn="l" defTabSz="1102492"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85591" indent="-275623" algn="l" defTabSz="1102492"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102492" rtl="0" eaLnBrk="1" latinLnBrk="0" hangingPunct="1">
        <a:defRPr sz="2200" kern="1200">
          <a:solidFill>
            <a:schemeClr val="tx1"/>
          </a:solidFill>
          <a:latin typeface="+mn-lt"/>
          <a:ea typeface="+mn-ea"/>
          <a:cs typeface="+mn-cs"/>
        </a:defRPr>
      </a:lvl1pPr>
      <a:lvl2pPr marL="551246" algn="l" defTabSz="1102492" rtl="0" eaLnBrk="1" latinLnBrk="0" hangingPunct="1">
        <a:defRPr sz="2200" kern="1200">
          <a:solidFill>
            <a:schemeClr val="tx1"/>
          </a:solidFill>
          <a:latin typeface="+mn-lt"/>
          <a:ea typeface="+mn-ea"/>
          <a:cs typeface="+mn-cs"/>
        </a:defRPr>
      </a:lvl2pPr>
      <a:lvl3pPr marL="1102492" algn="l" defTabSz="1102492" rtl="0" eaLnBrk="1" latinLnBrk="0" hangingPunct="1">
        <a:defRPr sz="2200" kern="1200">
          <a:solidFill>
            <a:schemeClr val="tx1"/>
          </a:solidFill>
          <a:latin typeface="+mn-lt"/>
          <a:ea typeface="+mn-ea"/>
          <a:cs typeface="+mn-cs"/>
        </a:defRPr>
      </a:lvl3pPr>
      <a:lvl4pPr marL="1653738" algn="l" defTabSz="1102492" rtl="0" eaLnBrk="1" latinLnBrk="0" hangingPunct="1">
        <a:defRPr sz="2200" kern="1200">
          <a:solidFill>
            <a:schemeClr val="tx1"/>
          </a:solidFill>
          <a:latin typeface="+mn-lt"/>
          <a:ea typeface="+mn-ea"/>
          <a:cs typeface="+mn-cs"/>
        </a:defRPr>
      </a:lvl4pPr>
      <a:lvl5pPr marL="2204984" algn="l" defTabSz="1102492" rtl="0" eaLnBrk="1" latinLnBrk="0" hangingPunct="1">
        <a:defRPr sz="2200" kern="1200">
          <a:solidFill>
            <a:schemeClr val="tx1"/>
          </a:solidFill>
          <a:latin typeface="+mn-lt"/>
          <a:ea typeface="+mn-ea"/>
          <a:cs typeface="+mn-cs"/>
        </a:defRPr>
      </a:lvl5pPr>
      <a:lvl6pPr marL="2756230" algn="l" defTabSz="1102492" rtl="0" eaLnBrk="1" latinLnBrk="0" hangingPunct="1">
        <a:defRPr sz="2200" kern="1200">
          <a:solidFill>
            <a:schemeClr val="tx1"/>
          </a:solidFill>
          <a:latin typeface="+mn-lt"/>
          <a:ea typeface="+mn-ea"/>
          <a:cs typeface="+mn-cs"/>
        </a:defRPr>
      </a:lvl6pPr>
      <a:lvl7pPr marL="3307476" algn="l" defTabSz="1102492" rtl="0" eaLnBrk="1" latinLnBrk="0" hangingPunct="1">
        <a:defRPr sz="2200" kern="1200">
          <a:solidFill>
            <a:schemeClr val="tx1"/>
          </a:solidFill>
          <a:latin typeface="+mn-lt"/>
          <a:ea typeface="+mn-ea"/>
          <a:cs typeface="+mn-cs"/>
        </a:defRPr>
      </a:lvl7pPr>
      <a:lvl8pPr marL="3858722" algn="l" defTabSz="1102492" rtl="0" eaLnBrk="1" latinLnBrk="0" hangingPunct="1">
        <a:defRPr sz="2200" kern="1200">
          <a:solidFill>
            <a:schemeClr val="tx1"/>
          </a:solidFill>
          <a:latin typeface="+mn-lt"/>
          <a:ea typeface="+mn-ea"/>
          <a:cs typeface="+mn-cs"/>
        </a:defRPr>
      </a:lvl8pPr>
      <a:lvl9pPr marL="4409968" algn="l" defTabSz="1102492" rtl="0" eaLnBrk="1" latinLnBrk="0" hangingPunct="1">
        <a:defRPr sz="2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youtu.be/dGMFqu8hrkM" TargetMode="External"/><Relationship Id="rId2" Type="http://schemas.openxmlformats.org/officeDocument/2006/relationships/hyperlink" Target="https://youtu.be/cmOLxrScsB4" TargetMode="Externa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s://www.thehartford.com/business-owners-policy"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30" name="TextBox 29"/>
          <p:cNvSpPr txBox="1"/>
          <p:nvPr/>
        </p:nvSpPr>
        <p:spPr>
          <a:xfrm>
            <a:off x="83906" y="102693"/>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544245" algn="l" rtl="0" fontAlgn="base">
              <a:spcBef>
                <a:spcPct val="0"/>
              </a:spcBef>
              <a:spcAft>
                <a:spcPct val="0"/>
              </a:spcAft>
              <a:defRPr kern="1200">
                <a:solidFill>
                  <a:schemeClr val="tx1"/>
                </a:solidFill>
                <a:latin typeface="Arial" charset="0"/>
                <a:ea typeface="+mn-ea"/>
                <a:cs typeface="Arial" charset="0"/>
              </a:defRPr>
            </a:lvl2pPr>
            <a:lvl3pPr marL="1088490" algn="l" rtl="0" fontAlgn="base">
              <a:spcBef>
                <a:spcPct val="0"/>
              </a:spcBef>
              <a:spcAft>
                <a:spcPct val="0"/>
              </a:spcAft>
              <a:defRPr kern="1200">
                <a:solidFill>
                  <a:schemeClr val="tx1"/>
                </a:solidFill>
                <a:latin typeface="Arial" charset="0"/>
                <a:ea typeface="+mn-ea"/>
                <a:cs typeface="Arial" charset="0"/>
              </a:defRPr>
            </a:lvl3pPr>
            <a:lvl4pPr marL="1632736" algn="l" rtl="0" fontAlgn="base">
              <a:spcBef>
                <a:spcPct val="0"/>
              </a:spcBef>
              <a:spcAft>
                <a:spcPct val="0"/>
              </a:spcAft>
              <a:defRPr kern="1200">
                <a:solidFill>
                  <a:schemeClr val="tx1"/>
                </a:solidFill>
                <a:latin typeface="Arial" charset="0"/>
                <a:ea typeface="+mn-ea"/>
                <a:cs typeface="Arial" charset="0"/>
              </a:defRPr>
            </a:lvl4pPr>
            <a:lvl5pPr marL="2176981" algn="l" rtl="0" fontAlgn="base">
              <a:spcBef>
                <a:spcPct val="0"/>
              </a:spcBef>
              <a:spcAft>
                <a:spcPct val="0"/>
              </a:spcAft>
              <a:defRPr kern="1200">
                <a:solidFill>
                  <a:schemeClr val="tx1"/>
                </a:solidFill>
                <a:latin typeface="Arial" charset="0"/>
                <a:ea typeface="+mn-ea"/>
                <a:cs typeface="Arial" charset="0"/>
              </a:defRPr>
            </a:lvl5pPr>
            <a:lvl6pPr marL="2721226" algn="l" defTabSz="1088490" rtl="0" eaLnBrk="1" latinLnBrk="0" hangingPunct="1">
              <a:defRPr kern="1200">
                <a:solidFill>
                  <a:schemeClr val="tx1"/>
                </a:solidFill>
                <a:latin typeface="Arial" charset="0"/>
                <a:ea typeface="+mn-ea"/>
                <a:cs typeface="Arial" charset="0"/>
              </a:defRPr>
            </a:lvl6pPr>
            <a:lvl7pPr marL="3265471" algn="l" defTabSz="1088490" rtl="0" eaLnBrk="1" latinLnBrk="0" hangingPunct="1">
              <a:defRPr kern="1200">
                <a:solidFill>
                  <a:schemeClr val="tx1"/>
                </a:solidFill>
                <a:latin typeface="Arial" charset="0"/>
                <a:ea typeface="+mn-ea"/>
                <a:cs typeface="Arial" charset="0"/>
              </a:defRPr>
            </a:lvl7pPr>
            <a:lvl8pPr marL="3809716" algn="l" defTabSz="1088490" rtl="0" eaLnBrk="1" latinLnBrk="0" hangingPunct="1">
              <a:defRPr kern="1200">
                <a:solidFill>
                  <a:schemeClr val="tx1"/>
                </a:solidFill>
                <a:latin typeface="Arial" charset="0"/>
                <a:ea typeface="+mn-ea"/>
                <a:cs typeface="Arial" charset="0"/>
              </a:defRPr>
            </a:lvl8pPr>
            <a:lvl9pPr marL="4353961" algn="l" defTabSz="1088490" rtl="0" eaLnBrk="1" latinLnBrk="0" hangingPunct="1">
              <a:defRPr kern="1200">
                <a:solidFill>
                  <a:schemeClr val="tx1"/>
                </a:solidFill>
                <a:latin typeface="Arial" charset="0"/>
                <a:ea typeface="+mn-ea"/>
                <a:cs typeface="Arial" charset="0"/>
              </a:defRPr>
            </a:lvl9pPr>
          </a:lstStyle>
          <a:p>
            <a:pPr>
              <a:buSzPct val="120000"/>
            </a:pPr>
            <a:r>
              <a:rPr lang="en-US" altLang="en-US" sz="3454" dirty="0">
                <a:solidFill>
                  <a:schemeClr val="tx1"/>
                </a:solidFill>
                <a:latin typeface="Segoe UI Semibold" panose="020B0702040204020203" pitchFamily="34" charset="0"/>
                <a:cs typeface="BrowalliaUPC" panose="020B0604020202020204" pitchFamily="34" charset="-34"/>
              </a:rPr>
              <a:t> Types of Insurance</a:t>
            </a:r>
          </a:p>
        </p:txBody>
      </p:sp>
      <p:sp>
        <p:nvSpPr>
          <p:cNvPr id="7" name="Slide Number Placeholder 3">
            <a:extLst>
              <a:ext uri="{FF2B5EF4-FFF2-40B4-BE49-F238E27FC236}">
                <a16:creationId xmlns:a16="http://schemas.microsoft.com/office/drawing/2014/main" id="{F95E73D3-9B05-4FF2-B08D-E64FC281F483}"/>
              </a:ext>
            </a:extLst>
          </p:cNvPr>
          <p:cNvSpPr txBox="1">
            <a:spLocks/>
          </p:cNvSpPr>
          <p:nvPr/>
        </p:nvSpPr>
        <p:spPr bwMode="auto">
          <a:xfrm>
            <a:off x="8458200" y="6953250"/>
            <a:ext cx="2209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C52D5490-2BE5-4FD6-A9E3-7F77FA77A1FA}" type="slidenum">
              <a:rPr lang="en-US" altLang="en-US" sz="1400"/>
              <a:pPr algn="r" eaLnBrk="1" hangingPunct="1">
                <a:spcBef>
                  <a:spcPct val="0"/>
                </a:spcBef>
                <a:buFontTx/>
                <a:buNone/>
              </a:pPr>
              <a:t>1</a:t>
            </a:fld>
            <a:endParaRPr lang="en-US" altLang="en-US" sz="1400"/>
          </a:p>
        </p:txBody>
      </p:sp>
      <p:sp>
        <p:nvSpPr>
          <p:cNvPr id="8" name="Rectangle 66">
            <a:extLst>
              <a:ext uri="{FF2B5EF4-FFF2-40B4-BE49-F238E27FC236}">
                <a16:creationId xmlns:a16="http://schemas.microsoft.com/office/drawing/2014/main" id="{10200685-28BA-41B4-B333-7D9724B063D3}"/>
              </a:ext>
            </a:extLst>
          </p:cNvPr>
          <p:cNvSpPr>
            <a:spLocks noChangeArrowheads="1"/>
          </p:cNvSpPr>
          <p:nvPr/>
        </p:nvSpPr>
        <p:spPr bwMode="auto">
          <a:xfrm>
            <a:off x="1600200" y="582613"/>
            <a:ext cx="632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tabLst>
                <a:tab pos="18288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18288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18288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9pPr>
          </a:lstStyle>
          <a:p>
            <a:pPr>
              <a:spcBef>
                <a:spcPct val="0"/>
              </a:spcBef>
              <a:buSzPct val="120000"/>
              <a:buFontTx/>
              <a:buNone/>
            </a:pPr>
            <a:r>
              <a:rPr lang="en-US" altLang="en-US" sz="2000" dirty="0">
                <a:solidFill>
                  <a:schemeClr val="bg1"/>
                </a:solidFill>
              </a:rPr>
              <a:t>Types of Insurance</a:t>
            </a:r>
          </a:p>
        </p:txBody>
      </p:sp>
      <p:sp>
        <p:nvSpPr>
          <p:cNvPr id="9" name="Rectangle 5">
            <a:extLst>
              <a:ext uri="{FF2B5EF4-FFF2-40B4-BE49-F238E27FC236}">
                <a16:creationId xmlns:a16="http://schemas.microsoft.com/office/drawing/2014/main" id="{9767BB63-05AE-4AAC-9978-FFE8A9BB2BB7}"/>
              </a:ext>
            </a:extLst>
          </p:cNvPr>
          <p:cNvSpPr>
            <a:spLocks noChangeArrowheads="1"/>
          </p:cNvSpPr>
          <p:nvPr/>
        </p:nvSpPr>
        <p:spPr bwMode="auto">
          <a:xfrm>
            <a:off x="1524000" y="3600450"/>
            <a:ext cx="8763000" cy="611188"/>
          </a:xfrm>
          <a:prstGeom prst="rect">
            <a:avLst/>
          </a:prstGeom>
          <a:noFill/>
          <a:ln w="12700">
            <a:noFill/>
            <a:miter lim="800000"/>
            <a:headEnd/>
            <a:tailEnd/>
          </a:ln>
          <a:effectLst/>
        </p:spPr>
        <p:txBody>
          <a:bodyPr anchor="ctr">
            <a:spAutoFit/>
          </a:bodyPr>
          <a:lstStyle/>
          <a:p>
            <a:pPr eaLnBrk="1" hangingPunct="1">
              <a:spcBef>
                <a:spcPct val="20000"/>
              </a:spcBef>
              <a:buClr>
                <a:schemeClr val="hlink"/>
              </a:buClr>
              <a:buSzPct val="60000"/>
              <a:buFont typeface="Arial" charset="0"/>
              <a:buNone/>
              <a:defRPr/>
            </a:pPr>
            <a:endParaRPr lang="en-US" b="1">
              <a:solidFill>
                <a:schemeClr val="accent2"/>
              </a:solidFill>
              <a:effectLst>
                <a:outerShdw blurRad="38100" dist="38100" dir="2700000" algn="tl">
                  <a:srgbClr val="C0C0C0"/>
                </a:outerShdw>
              </a:effectLst>
              <a:latin typeface="Verdana" pitchFamily="34" charset="0"/>
            </a:endParaRPr>
          </a:p>
          <a:p>
            <a:pPr>
              <a:buSzPct val="120000"/>
              <a:defRPr/>
            </a:pPr>
            <a:endParaRPr lang="en-US" sz="1600">
              <a:solidFill>
                <a:schemeClr val="accent2"/>
              </a:solidFill>
              <a:latin typeface="Verdana" pitchFamily="34" charset="0"/>
            </a:endParaRPr>
          </a:p>
        </p:txBody>
      </p:sp>
      <p:sp>
        <p:nvSpPr>
          <p:cNvPr id="10" name="Rectangle 6">
            <a:extLst>
              <a:ext uri="{FF2B5EF4-FFF2-40B4-BE49-F238E27FC236}">
                <a16:creationId xmlns:a16="http://schemas.microsoft.com/office/drawing/2014/main" id="{B049D447-D5C9-420A-A704-5E94467C4D92}"/>
              </a:ext>
            </a:extLst>
          </p:cNvPr>
          <p:cNvSpPr>
            <a:spLocks noChangeArrowheads="1"/>
          </p:cNvSpPr>
          <p:nvPr/>
        </p:nvSpPr>
        <p:spPr bwMode="auto">
          <a:xfrm>
            <a:off x="4876800" y="1771651"/>
            <a:ext cx="1676400" cy="685800"/>
          </a:xfrm>
          <a:prstGeom prst="rect">
            <a:avLst/>
          </a:prstGeom>
          <a:solidFill>
            <a:schemeClr val="accent6"/>
          </a:solidFill>
          <a:ln>
            <a:noFill/>
          </a:ln>
          <a:effectLst>
            <a:glow rad="228600">
              <a:schemeClr val="accent5">
                <a:satMod val="175000"/>
                <a:alpha val="40000"/>
              </a:schemeClr>
            </a:glow>
            <a:outerShdw blurRad="76200" dir="18900000" sy="23000" kx="-1200000" algn="bl" rotWithShape="0">
              <a:prstClr val="black">
                <a:alpha val="20000"/>
              </a:prstClr>
            </a:outerShdw>
          </a:effectLst>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800" b="1" dirty="0">
                <a:solidFill>
                  <a:schemeClr val="tx1"/>
                </a:solidFill>
              </a:rPr>
              <a:t>Insurance</a:t>
            </a:r>
          </a:p>
        </p:txBody>
      </p:sp>
      <p:cxnSp>
        <p:nvCxnSpPr>
          <p:cNvPr id="11" name="AutoShape 7">
            <a:extLst>
              <a:ext uri="{FF2B5EF4-FFF2-40B4-BE49-F238E27FC236}">
                <a16:creationId xmlns:a16="http://schemas.microsoft.com/office/drawing/2014/main" id="{AE31C29A-4C71-40D8-BC6E-73C188A09EA0}"/>
              </a:ext>
            </a:extLst>
          </p:cNvPr>
          <p:cNvCxnSpPr>
            <a:cxnSpLocks noChangeShapeType="1"/>
          </p:cNvCxnSpPr>
          <p:nvPr/>
        </p:nvCxnSpPr>
        <p:spPr bwMode="auto">
          <a:xfrm rot="5400000">
            <a:off x="4076700" y="1733550"/>
            <a:ext cx="914400" cy="2362200"/>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4" name="Rectangle 8">
            <a:extLst>
              <a:ext uri="{FF2B5EF4-FFF2-40B4-BE49-F238E27FC236}">
                <a16:creationId xmlns:a16="http://schemas.microsoft.com/office/drawing/2014/main" id="{04122677-30F5-473E-A3EA-66802565DC68}"/>
              </a:ext>
            </a:extLst>
          </p:cNvPr>
          <p:cNvSpPr>
            <a:spLocks noChangeArrowheads="1"/>
          </p:cNvSpPr>
          <p:nvPr/>
        </p:nvSpPr>
        <p:spPr bwMode="auto">
          <a:xfrm>
            <a:off x="2362200" y="3371850"/>
            <a:ext cx="1905000" cy="914400"/>
          </a:xfrm>
          <a:prstGeom prst="rect">
            <a:avLst/>
          </a:prstGeom>
          <a:solidFill>
            <a:schemeClr val="accent1">
              <a:lumMod val="20000"/>
              <a:lumOff val="80000"/>
            </a:schemeClr>
          </a:solidFill>
          <a:ln>
            <a:solidFill>
              <a:srgbClr val="0000FF"/>
            </a:solid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Property </a:t>
            </a:r>
          </a:p>
          <a:p>
            <a:pPr algn="ctr" eaLnBrk="1" hangingPunct="1">
              <a:defRPr/>
            </a:pPr>
            <a:r>
              <a:rPr lang="en-US" sz="1400" b="1" dirty="0">
                <a:solidFill>
                  <a:prstClr val="black"/>
                </a:solidFill>
              </a:rPr>
              <a:t>&amp;</a:t>
            </a:r>
          </a:p>
          <a:p>
            <a:pPr algn="ctr" eaLnBrk="1" hangingPunct="1">
              <a:defRPr/>
            </a:pPr>
            <a:r>
              <a:rPr lang="en-US" sz="1400" b="1" dirty="0">
                <a:solidFill>
                  <a:prstClr val="black"/>
                </a:solidFill>
              </a:rPr>
              <a:t> Casualty</a:t>
            </a:r>
          </a:p>
        </p:txBody>
      </p:sp>
      <p:sp>
        <p:nvSpPr>
          <p:cNvPr id="15" name="Rectangle 13">
            <a:extLst>
              <a:ext uri="{FF2B5EF4-FFF2-40B4-BE49-F238E27FC236}">
                <a16:creationId xmlns:a16="http://schemas.microsoft.com/office/drawing/2014/main" id="{D2D35FF1-924F-44A9-988D-B8F89DD90338}"/>
              </a:ext>
            </a:extLst>
          </p:cNvPr>
          <p:cNvSpPr>
            <a:spLocks noChangeArrowheads="1"/>
          </p:cNvSpPr>
          <p:nvPr/>
        </p:nvSpPr>
        <p:spPr bwMode="auto">
          <a:xfrm>
            <a:off x="1676400" y="4895850"/>
            <a:ext cx="1143000" cy="609600"/>
          </a:xfrm>
          <a:prstGeom prst="rect">
            <a:avLst/>
          </a:prstGeom>
          <a:solidFill>
            <a:schemeClr val="accent1">
              <a:lumMod val="20000"/>
              <a:lumOff val="80000"/>
            </a:schemeClr>
          </a:solidFill>
          <a:ln>
            <a:solidFill>
              <a:srgbClr val="0000FF"/>
            </a:solid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Personal</a:t>
            </a:r>
          </a:p>
        </p:txBody>
      </p:sp>
      <p:sp>
        <p:nvSpPr>
          <p:cNvPr id="16" name="Rectangle 14">
            <a:extLst>
              <a:ext uri="{FF2B5EF4-FFF2-40B4-BE49-F238E27FC236}">
                <a16:creationId xmlns:a16="http://schemas.microsoft.com/office/drawing/2014/main" id="{D7587553-9BC6-4771-9F1C-7763CEA688E6}"/>
              </a:ext>
            </a:extLst>
          </p:cNvPr>
          <p:cNvSpPr>
            <a:spLocks noChangeArrowheads="1"/>
          </p:cNvSpPr>
          <p:nvPr/>
        </p:nvSpPr>
        <p:spPr bwMode="auto">
          <a:xfrm flipH="1">
            <a:off x="2997200" y="4895850"/>
            <a:ext cx="1447800" cy="609600"/>
          </a:xfrm>
          <a:prstGeom prst="rect">
            <a:avLst/>
          </a:prstGeom>
          <a:solidFill>
            <a:schemeClr val="accent1">
              <a:lumMod val="20000"/>
              <a:lumOff val="80000"/>
            </a:schemeClr>
          </a:solidFill>
          <a:ln>
            <a:solidFill>
              <a:srgbClr val="0000FF"/>
            </a:solid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Commercial</a:t>
            </a:r>
          </a:p>
        </p:txBody>
      </p:sp>
      <p:sp>
        <p:nvSpPr>
          <p:cNvPr id="17" name="Rectangle 15">
            <a:extLst>
              <a:ext uri="{FF2B5EF4-FFF2-40B4-BE49-F238E27FC236}">
                <a16:creationId xmlns:a16="http://schemas.microsoft.com/office/drawing/2014/main" id="{A503018F-7100-40A4-BF44-38BBF7CA516B}"/>
              </a:ext>
            </a:extLst>
          </p:cNvPr>
          <p:cNvSpPr>
            <a:spLocks noChangeArrowheads="1"/>
          </p:cNvSpPr>
          <p:nvPr/>
        </p:nvSpPr>
        <p:spPr bwMode="auto">
          <a:xfrm flipH="1">
            <a:off x="4597400" y="4895850"/>
            <a:ext cx="1295400" cy="609600"/>
          </a:xfrm>
          <a:prstGeom prst="rect">
            <a:avLst/>
          </a:prstGeom>
          <a:solidFill>
            <a:schemeClr val="accent1">
              <a:lumMod val="20000"/>
              <a:lumOff val="80000"/>
            </a:schemeClr>
          </a:solidFill>
          <a:ln>
            <a:solidFill>
              <a:srgbClr val="0000FF"/>
            </a:solid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Specialty</a:t>
            </a:r>
          </a:p>
        </p:txBody>
      </p:sp>
      <p:sp>
        <p:nvSpPr>
          <p:cNvPr id="18" name="Rectangle 16">
            <a:extLst>
              <a:ext uri="{FF2B5EF4-FFF2-40B4-BE49-F238E27FC236}">
                <a16:creationId xmlns:a16="http://schemas.microsoft.com/office/drawing/2014/main" id="{67D5564D-1A4F-41F6-A414-026F8D0445D2}"/>
              </a:ext>
            </a:extLst>
          </p:cNvPr>
          <p:cNvSpPr>
            <a:spLocks noChangeArrowheads="1"/>
          </p:cNvSpPr>
          <p:nvPr/>
        </p:nvSpPr>
        <p:spPr bwMode="auto">
          <a:xfrm>
            <a:off x="6477000" y="3371850"/>
            <a:ext cx="1066800" cy="838200"/>
          </a:xfrm>
          <a:prstGeom prst="rect">
            <a:avLst/>
          </a:prstGeom>
          <a:solidFill>
            <a:schemeClr val="accent2">
              <a:lumMod val="20000"/>
              <a:lumOff val="80000"/>
            </a:schemeClr>
          </a:solidFill>
          <a:ln>
            <a:solidFill>
              <a:srgbClr val="FF0066"/>
            </a:solid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400" b="1" dirty="0">
              <a:solidFill>
                <a:prstClr val="black"/>
              </a:solidFill>
            </a:endParaRPr>
          </a:p>
          <a:p>
            <a:pPr algn="ctr" eaLnBrk="1" hangingPunct="1">
              <a:defRPr/>
            </a:pPr>
            <a:r>
              <a:rPr lang="en-US" sz="1400" b="1" dirty="0">
                <a:solidFill>
                  <a:prstClr val="black"/>
                </a:solidFill>
              </a:rPr>
              <a:t>Life </a:t>
            </a:r>
          </a:p>
          <a:p>
            <a:pPr algn="ctr" eaLnBrk="1" hangingPunct="1">
              <a:defRPr/>
            </a:pPr>
            <a:endParaRPr lang="en-US" sz="1400" b="1" dirty="0">
              <a:solidFill>
                <a:prstClr val="black"/>
              </a:solidFill>
            </a:endParaRPr>
          </a:p>
        </p:txBody>
      </p:sp>
      <p:sp>
        <p:nvSpPr>
          <p:cNvPr id="19" name="Line 18">
            <a:extLst>
              <a:ext uri="{FF2B5EF4-FFF2-40B4-BE49-F238E27FC236}">
                <a16:creationId xmlns:a16="http://schemas.microsoft.com/office/drawing/2014/main" id="{553974A8-1659-4137-BB7B-F8427DF6401D}"/>
              </a:ext>
            </a:extLst>
          </p:cNvPr>
          <p:cNvSpPr>
            <a:spLocks noChangeShapeType="1"/>
          </p:cNvSpPr>
          <p:nvPr/>
        </p:nvSpPr>
        <p:spPr bwMode="auto">
          <a:xfrm>
            <a:off x="3505200" y="4286250"/>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0" name="Line 19">
            <a:extLst>
              <a:ext uri="{FF2B5EF4-FFF2-40B4-BE49-F238E27FC236}">
                <a16:creationId xmlns:a16="http://schemas.microsoft.com/office/drawing/2014/main" id="{A6EF9981-F5EE-4170-955D-DDB83CF832F3}"/>
              </a:ext>
            </a:extLst>
          </p:cNvPr>
          <p:cNvSpPr>
            <a:spLocks noChangeShapeType="1"/>
          </p:cNvSpPr>
          <p:nvPr/>
        </p:nvSpPr>
        <p:spPr bwMode="auto">
          <a:xfrm>
            <a:off x="4038600" y="4591050"/>
            <a:ext cx="1219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1" name="Line 20">
            <a:extLst>
              <a:ext uri="{FF2B5EF4-FFF2-40B4-BE49-F238E27FC236}">
                <a16:creationId xmlns:a16="http://schemas.microsoft.com/office/drawing/2014/main" id="{F52A191F-D346-429F-A324-8401A82CFF47}"/>
              </a:ext>
            </a:extLst>
          </p:cNvPr>
          <p:cNvSpPr>
            <a:spLocks noChangeShapeType="1"/>
          </p:cNvSpPr>
          <p:nvPr/>
        </p:nvSpPr>
        <p:spPr bwMode="auto">
          <a:xfrm flipH="1">
            <a:off x="2362200" y="4591050"/>
            <a:ext cx="16764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2" name="Line 21">
            <a:extLst>
              <a:ext uri="{FF2B5EF4-FFF2-40B4-BE49-F238E27FC236}">
                <a16:creationId xmlns:a16="http://schemas.microsoft.com/office/drawing/2014/main" id="{8C2A8AC1-2B8C-4E8F-BDE3-7D38D2E35BD8}"/>
              </a:ext>
            </a:extLst>
          </p:cNvPr>
          <p:cNvSpPr>
            <a:spLocks noChangeShapeType="1"/>
          </p:cNvSpPr>
          <p:nvPr/>
        </p:nvSpPr>
        <p:spPr bwMode="auto">
          <a:xfrm>
            <a:off x="2362200" y="4591050"/>
            <a:ext cx="0" cy="304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3" name="Line 22">
            <a:extLst>
              <a:ext uri="{FF2B5EF4-FFF2-40B4-BE49-F238E27FC236}">
                <a16:creationId xmlns:a16="http://schemas.microsoft.com/office/drawing/2014/main" id="{95D1D603-C71E-4C6A-B8CF-9B949C0EED3F}"/>
              </a:ext>
            </a:extLst>
          </p:cNvPr>
          <p:cNvSpPr>
            <a:spLocks noChangeShapeType="1"/>
          </p:cNvSpPr>
          <p:nvPr/>
        </p:nvSpPr>
        <p:spPr bwMode="auto">
          <a:xfrm>
            <a:off x="3505200" y="4591050"/>
            <a:ext cx="0" cy="304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4" name="Line 23">
            <a:extLst>
              <a:ext uri="{FF2B5EF4-FFF2-40B4-BE49-F238E27FC236}">
                <a16:creationId xmlns:a16="http://schemas.microsoft.com/office/drawing/2014/main" id="{1056BCA4-868B-44B2-86C8-B359313AE25D}"/>
              </a:ext>
            </a:extLst>
          </p:cNvPr>
          <p:cNvSpPr>
            <a:spLocks noChangeShapeType="1"/>
          </p:cNvSpPr>
          <p:nvPr/>
        </p:nvSpPr>
        <p:spPr bwMode="auto">
          <a:xfrm>
            <a:off x="5257800" y="4591050"/>
            <a:ext cx="0" cy="304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5" name="Rectangle 13">
            <a:extLst>
              <a:ext uri="{FF2B5EF4-FFF2-40B4-BE49-F238E27FC236}">
                <a16:creationId xmlns:a16="http://schemas.microsoft.com/office/drawing/2014/main" id="{E576585E-F0C7-4E37-8D29-8FBE14CC9898}"/>
              </a:ext>
            </a:extLst>
          </p:cNvPr>
          <p:cNvSpPr>
            <a:spLocks noChangeArrowheads="1"/>
          </p:cNvSpPr>
          <p:nvPr/>
        </p:nvSpPr>
        <p:spPr bwMode="auto">
          <a:xfrm>
            <a:off x="6019800" y="4895850"/>
            <a:ext cx="1143000" cy="533400"/>
          </a:xfrm>
          <a:prstGeom prst="rect">
            <a:avLst/>
          </a:prstGeom>
          <a:solidFill>
            <a:schemeClr val="accent2">
              <a:lumMod val="20000"/>
              <a:lumOff val="80000"/>
            </a:schemeClr>
          </a:solidFill>
          <a:ln>
            <a:solidFill>
              <a:srgbClr val="FF0066"/>
            </a:solid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Whole Life</a:t>
            </a:r>
          </a:p>
        </p:txBody>
      </p:sp>
      <p:sp>
        <p:nvSpPr>
          <p:cNvPr id="26" name="Rectangle 14">
            <a:extLst>
              <a:ext uri="{FF2B5EF4-FFF2-40B4-BE49-F238E27FC236}">
                <a16:creationId xmlns:a16="http://schemas.microsoft.com/office/drawing/2014/main" id="{41D41088-8094-41EE-B587-3FA113372995}"/>
              </a:ext>
            </a:extLst>
          </p:cNvPr>
          <p:cNvSpPr>
            <a:spLocks noChangeArrowheads="1"/>
          </p:cNvSpPr>
          <p:nvPr/>
        </p:nvSpPr>
        <p:spPr bwMode="auto">
          <a:xfrm flipH="1">
            <a:off x="7315200" y="4895850"/>
            <a:ext cx="1143000" cy="533400"/>
          </a:xfrm>
          <a:prstGeom prst="rect">
            <a:avLst/>
          </a:prstGeom>
          <a:solidFill>
            <a:schemeClr val="accent2">
              <a:lumMod val="20000"/>
              <a:lumOff val="80000"/>
            </a:schemeClr>
          </a:solidFill>
          <a:ln>
            <a:solidFill>
              <a:srgbClr val="FF0066"/>
            </a:solid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Term Life</a:t>
            </a:r>
          </a:p>
        </p:txBody>
      </p:sp>
      <p:sp>
        <p:nvSpPr>
          <p:cNvPr id="28" name="Line 18">
            <a:extLst>
              <a:ext uri="{FF2B5EF4-FFF2-40B4-BE49-F238E27FC236}">
                <a16:creationId xmlns:a16="http://schemas.microsoft.com/office/drawing/2014/main" id="{36B22164-92A7-460A-A397-C1CEFBA30CC3}"/>
              </a:ext>
            </a:extLst>
          </p:cNvPr>
          <p:cNvSpPr>
            <a:spLocks noChangeShapeType="1"/>
          </p:cNvSpPr>
          <p:nvPr/>
        </p:nvSpPr>
        <p:spPr bwMode="auto">
          <a:xfrm>
            <a:off x="7239000" y="4210050"/>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9" name="Line 19">
            <a:extLst>
              <a:ext uri="{FF2B5EF4-FFF2-40B4-BE49-F238E27FC236}">
                <a16:creationId xmlns:a16="http://schemas.microsoft.com/office/drawing/2014/main" id="{4A53B47E-09F9-4FEE-84AD-1C528603C54B}"/>
              </a:ext>
            </a:extLst>
          </p:cNvPr>
          <p:cNvSpPr>
            <a:spLocks noChangeShapeType="1"/>
          </p:cNvSpPr>
          <p:nvPr/>
        </p:nvSpPr>
        <p:spPr bwMode="auto">
          <a:xfrm>
            <a:off x="6553200" y="4591050"/>
            <a:ext cx="2667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31" name="Line 22">
            <a:extLst>
              <a:ext uri="{FF2B5EF4-FFF2-40B4-BE49-F238E27FC236}">
                <a16:creationId xmlns:a16="http://schemas.microsoft.com/office/drawing/2014/main" id="{8DD8BEB6-9B93-464C-A733-45B978BB0009}"/>
              </a:ext>
            </a:extLst>
          </p:cNvPr>
          <p:cNvSpPr>
            <a:spLocks noChangeShapeType="1"/>
          </p:cNvSpPr>
          <p:nvPr/>
        </p:nvSpPr>
        <p:spPr bwMode="auto">
          <a:xfrm>
            <a:off x="6553200" y="4591050"/>
            <a:ext cx="0" cy="304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32" name="Line 22">
            <a:extLst>
              <a:ext uri="{FF2B5EF4-FFF2-40B4-BE49-F238E27FC236}">
                <a16:creationId xmlns:a16="http://schemas.microsoft.com/office/drawing/2014/main" id="{55775BA8-F3C4-459F-B39C-7E35A58CAF4D}"/>
              </a:ext>
            </a:extLst>
          </p:cNvPr>
          <p:cNvSpPr>
            <a:spLocks noChangeShapeType="1"/>
          </p:cNvSpPr>
          <p:nvPr/>
        </p:nvSpPr>
        <p:spPr bwMode="auto">
          <a:xfrm>
            <a:off x="9220200" y="4591050"/>
            <a:ext cx="0" cy="304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33" name="Rectangle 16">
            <a:extLst>
              <a:ext uri="{FF2B5EF4-FFF2-40B4-BE49-F238E27FC236}">
                <a16:creationId xmlns:a16="http://schemas.microsoft.com/office/drawing/2014/main" id="{3097A537-A9D1-44DD-BBD3-3BBB2A003FF7}"/>
              </a:ext>
            </a:extLst>
          </p:cNvPr>
          <p:cNvSpPr>
            <a:spLocks noChangeArrowheads="1"/>
          </p:cNvSpPr>
          <p:nvPr/>
        </p:nvSpPr>
        <p:spPr bwMode="auto">
          <a:xfrm>
            <a:off x="9448800" y="3371850"/>
            <a:ext cx="1066800" cy="838200"/>
          </a:xfrm>
          <a:prstGeom prst="rect">
            <a:avLst/>
          </a:prstGeom>
          <a:solidFill>
            <a:schemeClr val="accent3">
              <a:lumMod val="40000"/>
              <a:lumOff val="60000"/>
            </a:schemeClr>
          </a:solidFill>
          <a:ln>
            <a:solidFill>
              <a:srgbClr val="00B050"/>
            </a:solid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400" b="1" dirty="0">
              <a:solidFill>
                <a:prstClr val="black"/>
              </a:solidFill>
            </a:endParaRPr>
          </a:p>
          <a:p>
            <a:pPr algn="ctr" eaLnBrk="1" hangingPunct="1">
              <a:defRPr/>
            </a:pPr>
            <a:r>
              <a:rPr lang="en-US" sz="1400" b="1" dirty="0">
                <a:solidFill>
                  <a:prstClr val="black"/>
                </a:solidFill>
              </a:rPr>
              <a:t>Health </a:t>
            </a:r>
          </a:p>
          <a:p>
            <a:pPr algn="ctr" eaLnBrk="1" hangingPunct="1">
              <a:defRPr/>
            </a:pPr>
            <a:endParaRPr lang="en-US" sz="1400" b="1" dirty="0">
              <a:solidFill>
                <a:prstClr val="black"/>
              </a:solidFill>
            </a:endParaRPr>
          </a:p>
        </p:txBody>
      </p:sp>
      <p:sp>
        <p:nvSpPr>
          <p:cNvPr id="34" name="Line 19">
            <a:extLst>
              <a:ext uri="{FF2B5EF4-FFF2-40B4-BE49-F238E27FC236}">
                <a16:creationId xmlns:a16="http://schemas.microsoft.com/office/drawing/2014/main" id="{1BC192C3-E1E5-4DF6-89F0-DCBCA1155FEE}"/>
              </a:ext>
            </a:extLst>
          </p:cNvPr>
          <p:cNvSpPr>
            <a:spLocks noChangeShapeType="1"/>
          </p:cNvSpPr>
          <p:nvPr/>
        </p:nvSpPr>
        <p:spPr bwMode="auto">
          <a:xfrm flipV="1">
            <a:off x="5715000" y="2868614"/>
            <a:ext cx="4343400" cy="46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35" name="Line 22">
            <a:extLst>
              <a:ext uri="{FF2B5EF4-FFF2-40B4-BE49-F238E27FC236}">
                <a16:creationId xmlns:a16="http://schemas.microsoft.com/office/drawing/2014/main" id="{7B07F0A4-FA17-4CCA-AD4B-39E81965E476}"/>
              </a:ext>
            </a:extLst>
          </p:cNvPr>
          <p:cNvSpPr>
            <a:spLocks noChangeShapeType="1"/>
          </p:cNvSpPr>
          <p:nvPr/>
        </p:nvSpPr>
        <p:spPr bwMode="auto">
          <a:xfrm>
            <a:off x="7086600" y="2914650"/>
            <a:ext cx="0" cy="457200"/>
          </a:xfrm>
          <a:prstGeom prst="line">
            <a:avLst/>
          </a:prstGeom>
          <a:noFill/>
          <a:ln w="12700">
            <a:solidFill>
              <a:schemeClr val="tx1"/>
            </a:solidFill>
            <a:round/>
            <a:headEnd/>
            <a:tailEnd type="triangle" w="med" len="med"/>
          </a:ln>
          <a:scene3d>
            <a:camera prst="orthographicFront"/>
            <a:lightRig rig="threePt" dir="t"/>
          </a:scene3d>
          <a:sp3d>
            <a:bevelT w="152400" h="50800" prst="softRound"/>
          </a:sp3d>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36" name="Line 22">
            <a:extLst>
              <a:ext uri="{FF2B5EF4-FFF2-40B4-BE49-F238E27FC236}">
                <a16:creationId xmlns:a16="http://schemas.microsoft.com/office/drawing/2014/main" id="{C0717556-DB84-4F6F-A66F-D1CA51696358}"/>
              </a:ext>
            </a:extLst>
          </p:cNvPr>
          <p:cNvSpPr>
            <a:spLocks noChangeShapeType="1"/>
          </p:cNvSpPr>
          <p:nvPr/>
        </p:nvSpPr>
        <p:spPr bwMode="auto">
          <a:xfrm>
            <a:off x="10031413" y="2914650"/>
            <a:ext cx="0" cy="4572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37" name="Line 22">
            <a:extLst>
              <a:ext uri="{FF2B5EF4-FFF2-40B4-BE49-F238E27FC236}">
                <a16:creationId xmlns:a16="http://schemas.microsoft.com/office/drawing/2014/main" id="{A716670D-6C18-43BD-B584-7B26CAE062EA}"/>
              </a:ext>
            </a:extLst>
          </p:cNvPr>
          <p:cNvSpPr>
            <a:spLocks noChangeShapeType="1"/>
          </p:cNvSpPr>
          <p:nvPr/>
        </p:nvSpPr>
        <p:spPr bwMode="auto">
          <a:xfrm>
            <a:off x="7848600" y="4591050"/>
            <a:ext cx="0" cy="304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38" name="Rectangle 14">
            <a:extLst>
              <a:ext uri="{FF2B5EF4-FFF2-40B4-BE49-F238E27FC236}">
                <a16:creationId xmlns:a16="http://schemas.microsoft.com/office/drawing/2014/main" id="{65355F0A-5ECC-40C5-B014-00C52D741CAD}"/>
              </a:ext>
            </a:extLst>
          </p:cNvPr>
          <p:cNvSpPr>
            <a:spLocks noChangeArrowheads="1"/>
          </p:cNvSpPr>
          <p:nvPr/>
        </p:nvSpPr>
        <p:spPr bwMode="auto">
          <a:xfrm flipH="1">
            <a:off x="8610598" y="4895850"/>
            <a:ext cx="1447799" cy="533399"/>
          </a:xfrm>
          <a:prstGeom prst="rect">
            <a:avLst/>
          </a:prstGeom>
          <a:solidFill>
            <a:schemeClr val="accent2">
              <a:lumMod val="20000"/>
              <a:lumOff val="80000"/>
            </a:schemeClr>
          </a:solidFill>
          <a:ln>
            <a:solidFill>
              <a:srgbClr val="FF0066"/>
            </a:solid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Universal</a:t>
            </a:r>
          </a:p>
          <a:p>
            <a:pPr algn="ctr" eaLnBrk="1" hangingPunct="1">
              <a:defRPr/>
            </a:pPr>
            <a:r>
              <a:rPr lang="en-US" sz="1400" b="1" dirty="0">
                <a:solidFill>
                  <a:prstClr val="black"/>
                </a:solidFill>
              </a:rPr>
              <a:t>Life</a:t>
            </a:r>
          </a:p>
        </p:txBody>
      </p:sp>
      <p:sp>
        <p:nvSpPr>
          <p:cNvPr id="39" name="Rectangle 13">
            <a:extLst>
              <a:ext uri="{FF2B5EF4-FFF2-40B4-BE49-F238E27FC236}">
                <a16:creationId xmlns:a16="http://schemas.microsoft.com/office/drawing/2014/main" id="{CA000E7A-3318-4720-9B66-332D428ECDD7}"/>
              </a:ext>
            </a:extLst>
          </p:cNvPr>
          <p:cNvSpPr>
            <a:spLocks noChangeArrowheads="1"/>
          </p:cNvSpPr>
          <p:nvPr/>
        </p:nvSpPr>
        <p:spPr bwMode="auto">
          <a:xfrm>
            <a:off x="7772400" y="5962650"/>
            <a:ext cx="1143000" cy="533400"/>
          </a:xfrm>
          <a:prstGeom prst="rect">
            <a:avLst/>
          </a:prstGeom>
          <a:solidFill>
            <a:schemeClr val="accent3">
              <a:lumMod val="40000"/>
              <a:lumOff val="60000"/>
            </a:schemeClr>
          </a:solidFill>
          <a:ln>
            <a:solidFill>
              <a:srgbClr val="00B050"/>
            </a:solid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Short Term</a:t>
            </a:r>
          </a:p>
          <a:p>
            <a:pPr algn="ctr" eaLnBrk="1" hangingPunct="1">
              <a:defRPr/>
            </a:pPr>
            <a:r>
              <a:rPr lang="en-US" sz="1400" b="1" dirty="0">
                <a:solidFill>
                  <a:prstClr val="black"/>
                </a:solidFill>
              </a:rPr>
              <a:t>Disability</a:t>
            </a:r>
          </a:p>
        </p:txBody>
      </p:sp>
      <p:sp>
        <p:nvSpPr>
          <p:cNvPr id="40" name="Rectangle 14">
            <a:extLst>
              <a:ext uri="{FF2B5EF4-FFF2-40B4-BE49-F238E27FC236}">
                <a16:creationId xmlns:a16="http://schemas.microsoft.com/office/drawing/2014/main" id="{5B162986-C605-4C85-820B-53B4359CA2E5}"/>
              </a:ext>
            </a:extLst>
          </p:cNvPr>
          <p:cNvSpPr>
            <a:spLocks noChangeArrowheads="1"/>
          </p:cNvSpPr>
          <p:nvPr/>
        </p:nvSpPr>
        <p:spPr bwMode="auto">
          <a:xfrm flipH="1">
            <a:off x="9220200" y="5962650"/>
            <a:ext cx="1143000" cy="533400"/>
          </a:xfrm>
          <a:prstGeom prst="rect">
            <a:avLst/>
          </a:prstGeom>
          <a:solidFill>
            <a:schemeClr val="accent3">
              <a:lumMod val="40000"/>
              <a:lumOff val="60000"/>
            </a:schemeClr>
          </a:solidFill>
          <a:ln>
            <a:solidFill>
              <a:srgbClr val="00B050"/>
            </a:solid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Long Term</a:t>
            </a:r>
          </a:p>
          <a:p>
            <a:pPr algn="ctr" eaLnBrk="1" hangingPunct="1">
              <a:defRPr/>
            </a:pPr>
            <a:r>
              <a:rPr lang="en-US" sz="1400" b="1" dirty="0">
                <a:solidFill>
                  <a:prstClr val="black"/>
                </a:solidFill>
              </a:rPr>
              <a:t>Disability</a:t>
            </a:r>
          </a:p>
        </p:txBody>
      </p:sp>
      <p:sp>
        <p:nvSpPr>
          <p:cNvPr id="41" name="Line 22">
            <a:extLst>
              <a:ext uri="{FF2B5EF4-FFF2-40B4-BE49-F238E27FC236}">
                <a16:creationId xmlns:a16="http://schemas.microsoft.com/office/drawing/2014/main" id="{7D543069-04E5-4D0E-B55D-370DA5A16A9D}"/>
              </a:ext>
            </a:extLst>
          </p:cNvPr>
          <p:cNvSpPr>
            <a:spLocks noChangeShapeType="1"/>
          </p:cNvSpPr>
          <p:nvPr/>
        </p:nvSpPr>
        <p:spPr bwMode="auto">
          <a:xfrm>
            <a:off x="8382000" y="5657850"/>
            <a:ext cx="0" cy="304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42" name="Line 22">
            <a:extLst>
              <a:ext uri="{FF2B5EF4-FFF2-40B4-BE49-F238E27FC236}">
                <a16:creationId xmlns:a16="http://schemas.microsoft.com/office/drawing/2014/main" id="{BF6EDA2E-219B-4A08-A9D2-CC634EDC7CCE}"/>
              </a:ext>
            </a:extLst>
          </p:cNvPr>
          <p:cNvSpPr>
            <a:spLocks noChangeShapeType="1"/>
          </p:cNvSpPr>
          <p:nvPr/>
        </p:nvSpPr>
        <p:spPr bwMode="auto">
          <a:xfrm>
            <a:off x="9807575" y="5657850"/>
            <a:ext cx="0" cy="304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43" name="Line 18">
            <a:extLst>
              <a:ext uri="{FF2B5EF4-FFF2-40B4-BE49-F238E27FC236}">
                <a16:creationId xmlns:a16="http://schemas.microsoft.com/office/drawing/2014/main" id="{4C1E45A8-8249-4FFA-8F61-E7D1B99D5CBD}"/>
              </a:ext>
            </a:extLst>
          </p:cNvPr>
          <p:cNvSpPr>
            <a:spLocks noChangeShapeType="1"/>
          </p:cNvSpPr>
          <p:nvPr/>
        </p:nvSpPr>
        <p:spPr bwMode="auto">
          <a:xfrm>
            <a:off x="10287000" y="4210050"/>
            <a:ext cx="0" cy="1447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44" name="Line 19">
            <a:extLst>
              <a:ext uri="{FF2B5EF4-FFF2-40B4-BE49-F238E27FC236}">
                <a16:creationId xmlns:a16="http://schemas.microsoft.com/office/drawing/2014/main" id="{500C2E0A-2FA6-4CD5-BE6F-A6B9E00792A1}"/>
              </a:ext>
            </a:extLst>
          </p:cNvPr>
          <p:cNvSpPr>
            <a:spLocks noChangeShapeType="1"/>
          </p:cNvSpPr>
          <p:nvPr/>
        </p:nvSpPr>
        <p:spPr bwMode="auto">
          <a:xfrm>
            <a:off x="8382000" y="5657850"/>
            <a:ext cx="1905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pic>
        <p:nvPicPr>
          <p:cNvPr id="45" name="Picture 44">
            <a:extLst>
              <a:ext uri="{FF2B5EF4-FFF2-40B4-BE49-F238E27FC236}">
                <a16:creationId xmlns:a16="http://schemas.microsoft.com/office/drawing/2014/main" id="{27D03B95-1F80-4540-8DA0-4D0140CFD493}"/>
              </a:ext>
            </a:extLst>
          </p:cNvPr>
          <p:cNvPicPr>
            <a:picLocks noChangeAspect="1"/>
          </p:cNvPicPr>
          <p:nvPr/>
        </p:nvPicPr>
        <p:blipFill>
          <a:blip r:embed="rId3"/>
          <a:stretch>
            <a:fillRect/>
          </a:stretch>
        </p:blipFill>
        <p:spPr>
          <a:xfrm>
            <a:off x="1104900" y="1140588"/>
            <a:ext cx="3314701" cy="1728026"/>
          </a:xfrm>
          <a:prstGeom prst="rect">
            <a:avLst/>
          </a:prstGeom>
        </p:spPr>
      </p:pic>
    </p:spTree>
    <p:extLst>
      <p:ext uri="{BB962C8B-B14F-4D97-AF65-F5344CB8AC3E}">
        <p14:creationId xmlns:p14="http://schemas.microsoft.com/office/powerpoint/2010/main" val="330138679"/>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0" presetClass="emph" presetSubtype="0" fill="hold" grpId="0" nodeType="clickEffect">
                                  <p:stCondLst>
                                    <p:cond delay="0"/>
                                  </p:stCondLst>
                                  <p:childTnLst>
                                    <p:animClr clrSpc="hsl" dir="cw">
                                      <p:cBhvr override="childStyle">
                                        <p:cTn id="11" dur="500" fill="hold"/>
                                        <p:tgtEl>
                                          <p:spTgt spid="14"/>
                                        </p:tgtEl>
                                        <p:attrNameLst>
                                          <p:attrName>style.color</p:attrName>
                                        </p:attrNameLst>
                                      </p:cBhvr>
                                      <p:by>
                                        <p:hsl h="0" s="12549" l="25098"/>
                                      </p:by>
                                    </p:animClr>
                                    <p:animClr clrSpc="hsl" dir="cw">
                                      <p:cBhvr>
                                        <p:cTn id="12" dur="500" fill="hold"/>
                                        <p:tgtEl>
                                          <p:spTgt spid="14"/>
                                        </p:tgtEl>
                                        <p:attrNameLst>
                                          <p:attrName>fillcolor</p:attrName>
                                        </p:attrNameLst>
                                      </p:cBhvr>
                                      <p:by>
                                        <p:hsl h="0" s="12549" l="25098"/>
                                      </p:by>
                                    </p:animClr>
                                    <p:animClr clrSpc="hsl" dir="cw">
                                      <p:cBhvr>
                                        <p:cTn id="13" dur="500" fill="hold"/>
                                        <p:tgtEl>
                                          <p:spTgt spid="14"/>
                                        </p:tgtEl>
                                        <p:attrNameLst>
                                          <p:attrName>stroke.color</p:attrName>
                                        </p:attrNameLst>
                                      </p:cBhvr>
                                      <p:by>
                                        <p:hsl h="0" s="12549" l="25098"/>
                                      </p:by>
                                    </p:animClr>
                                    <p:set>
                                      <p:cBhvr>
                                        <p:cTn id="14" dur="500" fill="hold"/>
                                        <p:tgtEl>
                                          <p:spTgt spid="14"/>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down)">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wipe(down)">
                                      <p:cBhvr>
                                        <p:cTn id="39" dur="500"/>
                                        <p:tgtEl>
                                          <p:spTgt spid="25"/>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33"/>
                                        </p:tgtEl>
                                        <p:attrNameLst>
                                          <p:attrName>style.visibility</p:attrName>
                                        </p:attrNameLst>
                                      </p:cBhvr>
                                      <p:to>
                                        <p:strVal val="visible"/>
                                      </p:to>
                                    </p:set>
                                    <p:anim calcmode="lin" valueType="num">
                                      <p:cBhvr additive="base">
                                        <p:cTn id="52" dur="500" fill="hold"/>
                                        <p:tgtEl>
                                          <p:spTgt spid="33"/>
                                        </p:tgtEl>
                                        <p:attrNameLst>
                                          <p:attrName>ppt_x</p:attrName>
                                        </p:attrNameLst>
                                      </p:cBhvr>
                                      <p:tavLst>
                                        <p:tav tm="0">
                                          <p:val>
                                            <p:strVal val="#ppt_x"/>
                                          </p:val>
                                        </p:tav>
                                        <p:tav tm="100000">
                                          <p:val>
                                            <p:strVal val="#ppt_x"/>
                                          </p:val>
                                        </p:tav>
                                      </p:tavLst>
                                    </p:anim>
                                    <p:anim calcmode="lin" valueType="num">
                                      <p:cBhvr additive="base">
                                        <p:cTn id="53"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39"/>
                                        </p:tgtEl>
                                        <p:attrNameLst>
                                          <p:attrName>style.visibility</p:attrName>
                                        </p:attrNameLst>
                                      </p:cBhvr>
                                      <p:to>
                                        <p:strVal val="visible"/>
                                      </p:to>
                                    </p:set>
                                    <p:anim calcmode="lin" valueType="num">
                                      <p:cBhvr additive="base">
                                        <p:cTn id="58" dur="500" fill="hold"/>
                                        <p:tgtEl>
                                          <p:spTgt spid="39"/>
                                        </p:tgtEl>
                                        <p:attrNameLst>
                                          <p:attrName>ppt_x</p:attrName>
                                        </p:attrNameLst>
                                      </p:cBhvr>
                                      <p:tavLst>
                                        <p:tav tm="0">
                                          <p:val>
                                            <p:strVal val="#ppt_x"/>
                                          </p:val>
                                        </p:tav>
                                        <p:tav tm="100000">
                                          <p:val>
                                            <p:strVal val="#ppt_x"/>
                                          </p:val>
                                        </p:tav>
                                      </p:tavLst>
                                    </p:anim>
                                    <p:anim calcmode="lin" valueType="num">
                                      <p:cBhvr additive="base">
                                        <p:cTn id="59"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40"/>
                                        </p:tgtEl>
                                        <p:attrNameLst>
                                          <p:attrName>style.visibility</p:attrName>
                                        </p:attrNameLst>
                                      </p:cBhvr>
                                      <p:to>
                                        <p:strVal val="visible"/>
                                      </p:to>
                                    </p:set>
                                    <p:anim calcmode="lin" valueType="num">
                                      <p:cBhvr additive="base">
                                        <p:cTn id="64" dur="500" fill="hold"/>
                                        <p:tgtEl>
                                          <p:spTgt spid="40"/>
                                        </p:tgtEl>
                                        <p:attrNameLst>
                                          <p:attrName>ppt_x</p:attrName>
                                        </p:attrNameLst>
                                      </p:cBhvr>
                                      <p:tavLst>
                                        <p:tav tm="0">
                                          <p:val>
                                            <p:strVal val="#ppt_x"/>
                                          </p:val>
                                        </p:tav>
                                        <p:tav tm="100000">
                                          <p:val>
                                            <p:strVal val="#ppt_x"/>
                                          </p:val>
                                        </p:tav>
                                      </p:tavLst>
                                    </p:anim>
                                    <p:anim calcmode="lin" valueType="num">
                                      <p:cBhvr additive="base">
                                        <p:cTn id="65"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5" grpId="0" animBg="1"/>
      <p:bldP spid="16" grpId="0" animBg="1"/>
      <p:bldP spid="17" grpId="0" animBg="1"/>
      <p:bldP spid="18" grpId="0" animBg="1"/>
      <p:bldP spid="25" grpId="0" animBg="1"/>
      <p:bldP spid="26" grpId="0" animBg="1"/>
      <p:bldP spid="33" grpId="0" animBg="1"/>
      <p:bldP spid="38" grpId="0" animBg="1"/>
      <p:bldP spid="39" grpId="0" animBg="1"/>
      <p:bldP spid="4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5BBD606-7AE2-470F-B86D-E2FF7C7FF6B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a:scene3d>
            <a:camera prst="orthographicFront"/>
            <a:lightRig rig="threePt" dir="t"/>
          </a:scene3d>
          <a:sp3d>
            <a:bevelT w="152400" h="50800" prst="softRound"/>
          </a:sp3d>
        </p:spPr>
      </p:pic>
      <p:sp>
        <p:nvSpPr>
          <p:cNvPr id="23" name="Slide Number Placeholder 3">
            <a:extLst>
              <a:ext uri="{FF2B5EF4-FFF2-40B4-BE49-F238E27FC236}">
                <a16:creationId xmlns:a16="http://schemas.microsoft.com/office/drawing/2014/main" id="{319964B5-6451-4F01-923B-6D4947F4996D}"/>
              </a:ext>
            </a:extLst>
          </p:cNvPr>
          <p:cNvSpPr txBox="1">
            <a:spLocks/>
          </p:cNvSpPr>
          <p:nvPr/>
        </p:nvSpPr>
        <p:spPr bwMode="auto">
          <a:xfrm>
            <a:off x="8458200" y="6553200"/>
            <a:ext cx="2209800" cy="228600"/>
          </a:xfrm>
          <a:prstGeom prst="rect">
            <a:avLst/>
          </a:prstGeom>
          <a:noFill/>
          <a:ln>
            <a:noFill/>
          </a:ln>
          <a:scene3d>
            <a:camera prst="orthographicFront"/>
            <a:lightRig rig="threePt" dir="t"/>
          </a:scene3d>
          <a:sp3d>
            <a:bevelT w="152400" h="50800" prst="softRound"/>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CACAED3A-D58B-42F2-AC44-6CCF5080DCCD}" type="slidenum">
              <a:rPr lang="en-US" altLang="en-US" sz="1400"/>
              <a:pPr algn="r" eaLnBrk="1" hangingPunct="1">
                <a:spcBef>
                  <a:spcPct val="0"/>
                </a:spcBef>
                <a:buFontTx/>
                <a:buNone/>
              </a:pPr>
              <a:t>2</a:t>
            </a:fld>
            <a:endParaRPr lang="en-US" altLang="en-US" sz="1400"/>
          </a:p>
        </p:txBody>
      </p:sp>
      <p:sp>
        <p:nvSpPr>
          <p:cNvPr id="24" name="Rectangle 66">
            <a:extLst>
              <a:ext uri="{FF2B5EF4-FFF2-40B4-BE49-F238E27FC236}">
                <a16:creationId xmlns:a16="http://schemas.microsoft.com/office/drawing/2014/main" id="{6750993C-65AF-4EC4-B1D1-C6923FCF3D33}"/>
              </a:ext>
            </a:extLst>
          </p:cNvPr>
          <p:cNvSpPr>
            <a:spLocks noChangeArrowheads="1"/>
          </p:cNvSpPr>
          <p:nvPr/>
        </p:nvSpPr>
        <p:spPr bwMode="auto">
          <a:xfrm>
            <a:off x="1600200" y="182563"/>
            <a:ext cx="6324600" cy="400050"/>
          </a:xfrm>
          <a:prstGeom prst="rect">
            <a:avLst/>
          </a:prstGeom>
          <a:noFill/>
          <a:ln>
            <a:noFill/>
          </a:ln>
          <a:scene3d>
            <a:camera prst="orthographicFront"/>
            <a:lightRig rig="threePt" dir="t"/>
          </a:scene3d>
          <a:sp3d>
            <a:bevelT w="152400" h="50800" prst="softRound"/>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tabLst>
                <a:tab pos="18288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18288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18288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9pPr>
          </a:lstStyle>
          <a:p>
            <a:pPr>
              <a:spcBef>
                <a:spcPct val="0"/>
              </a:spcBef>
              <a:buSzPct val="120000"/>
              <a:buFontTx/>
              <a:buNone/>
            </a:pPr>
            <a:r>
              <a:rPr lang="en-US" altLang="en-US" sz="2000" dirty="0">
                <a:solidFill>
                  <a:schemeClr val="bg1"/>
                </a:solidFill>
              </a:rPr>
              <a:t>Commercial Lines</a:t>
            </a:r>
          </a:p>
        </p:txBody>
      </p:sp>
      <p:sp>
        <p:nvSpPr>
          <p:cNvPr id="25" name="Rectangle 5">
            <a:extLst>
              <a:ext uri="{FF2B5EF4-FFF2-40B4-BE49-F238E27FC236}">
                <a16:creationId xmlns:a16="http://schemas.microsoft.com/office/drawing/2014/main" id="{750DA079-D530-4105-AB6E-503A9F3C206F}"/>
              </a:ext>
            </a:extLst>
          </p:cNvPr>
          <p:cNvSpPr>
            <a:spLocks noChangeArrowheads="1"/>
          </p:cNvSpPr>
          <p:nvPr/>
        </p:nvSpPr>
        <p:spPr bwMode="auto">
          <a:xfrm>
            <a:off x="1676400" y="3325813"/>
            <a:ext cx="8763000" cy="457200"/>
          </a:xfrm>
          <a:prstGeom prst="rect">
            <a:avLst/>
          </a:prstGeom>
          <a:noFill/>
          <a:ln>
            <a:noFill/>
          </a:ln>
          <a:scene3d>
            <a:camera prst="orthographicFront"/>
            <a:lightRig rig="threePt" dir="t"/>
          </a:scene3d>
          <a:sp3d>
            <a:bevelT w="152400" h="50800" prst="softRound"/>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SzPct val="120000"/>
              <a:buFontTx/>
              <a:buNone/>
            </a:pPr>
            <a:r>
              <a:rPr lang="en-US" altLang="en-US" sz="2400">
                <a:solidFill>
                  <a:srgbClr val="FF0000"/>
                </a:solidFill>
                <a:latin typeface="Verdana" panose="020B0604030504040204" pitchFamily="34" charset="0"/>
              </a:rPr>
              <a:t> </a:t>
            </a:r>
            <a:endParaRPr lang="en-US" altLang="en-US" sz="2400">
              <a:solidFill>
                <a:srgbClr val="008000"/>
              </a:solidFill>
              <a:latin typeface="Verdana" panose="020B0604030504040204" pitchFamily="34" charset="0"/>
            </a:endParaRPr>
          </a:p>
        </p:txBody>
      </p:sp>
      <p:sp>
        <p:nvSpPr>
          <p:cNvPr id="26" name="Rectangle 6">
            <a:extLst>
              <a:ext uri="{FF2B5EF4-FFF2-40B4-BE49-F238E27FC236}">
                <a16:creationId xmlns:a16="http://schemas.microsoft.com/office/drawing/2014/main" id="{7E5C3F7E-6A81-4898-89AD-7123605D988E}"/>
              </a:ext>
            </a:extLst>
          </p:cNvPr>
          <p:cNvSpPr>
            <a:spLocks noChangeArrowheads="1"/>
          </p:cNvSpPr>
          <p:nvPr/>
        </p:nvSpPr>
        <p:spPr bwMode="auto">
          <a:xfrm>
            <a:off x="4648200" y="1981200"/>
            <a:ext cx="2590800" cy="914400"/>
          </a:xfrm>
          <a:prstGeom prst="rect">
            <a:avLst/>
          </a:prstGeom>
          <a:solidFill>
            <a:schemeClr val="accent6"/>
          </a:solidFill>
          <a:ln>
            <a:no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b="1" dirty="0">
                <a:solidFill>
                  <a:schemeClr val="tx1"/>
                </a:solidFill>
              </a:rPr>
              <a:t>Commercial</a:t>
            </a:r>
          </a:p>
        </p:txBody>
      </p:sp>
      <p:sp>
        <p:nvSpPr>
          <p:cNvPr id="27" name="Rectangle 11">
            <a:extLst>
              <a:ext uri="{FF2B5EF4-FFF2-40B4-BE49-F238E27FC236}">
                <a16:creationId xmlns:a16="http://schemas.microsoft.com/office/drawing/2014/main" id="{C08FBCD2-E859-492E-BB61-4FC2974BD772}"/>
              </a:ext>
            </a:extLst>
          </p:cNvPr>
          <p:cNvSpPr>
            <a:spLocks noChangeArrowheads="1"/>
          </p:cNvSpPr>
          <p:nvPr/>
        </p:nvSpPr>
        <p:spPr bwMode="auto">
          <a:xfrm>
            <a:off x="1676400" y="4191000"/>
            <a:ext cx="1143000" cy="914400"/>
          </a:xfrm>
          <a:prstGeom prst="rect">
            <a:avLst/>
          </a:prstGeom>
          <a:solidFill>
            <a:schemeClr val="accent5"/>
          </a:solidFill>
          <a:ln>
            <a:no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General </a:t>
            </a:r>
          </a:p>
          <a:p>
            <a:pPr algn="ctr" eaLnBrk="1" hangingPunct="1">
              <a:defRPr/>
            </a:pPr>
            <a:r>
              <a:rPr lang="en-US" sz="1400" b="1" dirty="0">
                <a:solidFill>
                  <a:prstClr val="black"/>
                </a:solidFill>
              </a:rPr>
              <a:t>Liability</a:t>
            </a:r>
          </a:p>
        </p:txBody>
      </p:sp>
      <p:sp>
        <p:nvSpPr>
          <p:cNvPr id="28" name="Rectangle 12">
            <a:extLst>
              <a:ext uri="{FF2B5EF4-FFF2-40B4-BE49-F238E27FC236}">
                <a16:creationId xmlns:a16="http://schemas.microsoft.com/office/drawing/2014/main" id="{5B8D59E3-978F-4867-978B-915FB84A8707}"/>
              </a:ext>
            </a:extLst>
          </p:cNvPr>
          <p:cNvSpPr>
            <a:spLocks noChangeArrowheads="1"/>
          </p:cNvSpPr>
          <p:nvPr/>
        </p:nvSpPr>
        <p:spPr bwMode="auto">
          <a:xfrm>
            <a:off x="3048000" y="4191000"/>
            <a:ext cx="1219200" cy="914400"/>
          </a:xfrm>
          <a:prstGeom prst="rect">
            <a:avLst/>
          </a:prstGeom>
          <a:solidFill>
            <a:schemeClr val="accent5"/>
          </a:solidFill>
          <a:ln>
            <a:no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Property</a:t>
            </a:r>
          </a:p>
        </p:txBody>
      </p:sp>
      <p:sp>
        <p:nvSpPr>
          <p:cNvPr id="29" name="Rectangle 13">
            <a:extLst>
              <a:ext uri="{FF2B5EF4-FFF2-40B4-BE49-F238E27FC236}">
                <a16:creationId xmlns:a16="http://schemas.microsoft.com/office/drawing/2014/main" id="{FD413584-C469-469D-988C-6AB346009FE9}"/>
              </a:ext>
            </a:extLst>
          </p:cNvPr>
          <p:cNvSpPr>
            <a:spLocks noChangeArrowheads="1"/>
          </p:cNvSpPr>
          <p:nvPr/>
        </p:nvSpPr>
        <p:spPr bwMode="auto">
          <a:xfrm>
            <a:off x="4419600" y="4191000"/>
            <a:ext cx="1143000" cy="914400"/>
          </a:xfrm>
          <a:prstGeom prst="rect">
            <a:avLst/>
          </a:prstGeom>
          <a:solidFill>
            <a:srgbClr val="FFFF00"/>
          </a:solidFill>
          <a:ln>
            <a:no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b="1" dirty="0">
                <a:solidFill>
                  <a:prstClr val="black"/>
                </a:solidFill>
              </a:rPr>
              <a:t>Business</a:t>
            </a:r>
          </a:p>
          <a:p>
            <a:pPr algn="ctr" eaLnBrk="1" hangingPunct="1">
              <a:defRPr/>
            </a:pPr>
            <a:r>
              <a:rPr lang="en-US" b="1" dirty="0">
                <a:solidFill>
                  <a:prstClr val="black"/>
                </a:solidFill>
              </a:rPr>
              <a:t>Owners</a:t>
            </a:r>
          </a:p>
          <a:p>
            <a:pPr algn="ctr" eaLnBrk="1" hangingPunct="1">
              <a:defRPr/>
            </a:pPr>
            <a:r>
              <a:rPr lang="en-US" b="1" dirty="0">
                <a:solidFill>
                  <a:prstClr val="black"/>
                </a:solidFill>
              </a:rPr>
              <a:t>Program</a:t>
            </a:r>
          </a:p>
        </p:txBody>
      </p:sp>
      <p:sp>
        <p:nvSpPr>
          <p:cNvPr id="30" name="Rectangle 14">
            <a:extLst>
              <a:ext uri="{FF2B5EF4-FFF2-40B4-BE49-F238E27FC236}">
                <a16:creationId xmlns:a16="http://schemas.microsoft.com/office/drawing/2014/main" id="{D2BCF7F5-B4F7-4464-906F-4042EF862459}"/>
              </a:ext>
            </a:extLst>
          </p:cNvPr>
          <p:cNvSpPr>
            <a:spLocks noChangeArrowheads="1"/>
          </p:cNvSpPr>
          <p:nvPr/>
        </p:nvSpPr>
        <p:spPr bwMode="auto">
          <a:xfrm>
            <a:off x="5638800" y="4191000"/>
            <a:ext cx="1447800" cy="914400"/>
          </a:xfrm>
          <a:prstGeom prst="rect">
            <a:avLst/>
          </a:prstGeom>
          <a:solidFill>
            <a:schemeClr val="accent5"/>
          </a:solidFill>
          <a:ln>
            <a:no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Commercial </a:t>
            </a:r>
          </a:p>
          <a:p>
            <a:pPr algn="ctr" eaLnBrk="1" hangingPunct="1">
              <a:defRPr/>
            </a:pPr>
            <a:r>
              <a:rPr lang="en-US" sz="1400" b="1" dirty="0">
                <a:solidFill>
                  <a:prstClr val="black"/>
                </a:solidFill>
              </a:rPr>
              <a:t>Auto</a:t>
            </a:r>
          </a:p>
        </p:txBody>
      </p:sp>
      <p:sp>
        <p:nvSpPr>
          <p:cNvPr id="31" name="Rectangle 18">
            <a:extLst>
              <a:ext uri="{FF2B5EF4-FFF2-40B4-BE49-F238E27FC236}">
                <a16:creationId xmlns:a16="http://schemas.microsoft.com/office/drawing/2014/main" id="{E8A4D9CA-4A70-4CE0-8503-EA7085465475}"/>
              </a:ext>
            </a:extLst>
          </p:cNvPr>
          <p:cNvSpPr>
            <a:spLocks noChangeArrowheads="1"/>
          </p:cNvSpPr>
          <p:nvPr/>
        </p:nvSpPr>
        <p:spPr bwMode="auto">
          <a:xfrm>
            <a:off x="7315200" y="4191000"/>
            <a:ext cx="1447800" cy="914400"/>
          </a:xfrm>
          <a:prstGeom prst="rect">
            <a:avLst/>
          </a:prstGeom>
          <a:solidFill>
            <a:schemeClr val="accent5"/>
          </a:solidFill>
          <a:ln>
            <a:no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Commercial</a:t>
            </a:r>
          </a:p>
          <a:p>
            <a:pPr algn="ctr" eaLnBrk="1" hangingPunct="1">
              <a:defRPr/>
            </a:pPr>
            <a:r>
              <a:rPr lang="en-US" sz="1400" b="1" dirty="0">
                <a:solidFill>
                  <a:prstClr val="black"/>
                </a:solidFill>
              </a:rPr>
              <a:t> Umbrella</a:t>
            </a:r>
          </a:p>
        </p:txBody>
      </p:sp>
      <p:sp>
        <p:nvSpPr>
          <p:cNvPr id="32" name="Line 21">
            <a:extLst>
              <a:ext uri="{FF2B5EF4-FFF2-40B4-BE49-F238E27FC236}">
                <a16:creationId xmlns:a16="http://schemas.microsoft.com/office/drawing/2014/main" id="{2FFBDB36-0707-430A-85B1-EEE55D8893EE}"/>
              </a:ext>
            </a:extLst>
          </p:cNvPr>
          <p:cNvSpPr>
            <a:spLocks noChangeShapeType="1"/>
          </p:cNvSpPr>
          <p:nvPr/>
        </p:nvSpPr>
        <p:spPr bwMode="auto">
          <a:xfrm>
            <a:off x="5943600" y="2895600"/>
            <a:ext cx="0" cy="609600"/>
          </a:xfrm>
          <a:prstGeom prst="line">
            <a:avLst/>
          </a:prstGeom>
          <a:noFill/>
          <a:ln w="12700">
            <a:solidFill>
              <a:schemeClr val="tx1"/>
            </a:solidFill>
            <a:round/>
            <a:headEnd/>
            <a:tailEnd/>
          </a:ln>
          <a:scene3d>
            <a:camera prst="orthographicFront"/>
            <a:lightRig rig="threePt" dir="t"/>
          </a:scene3d>
          <a:sp3d>
            <a:bevelT w="152400" h="50800" prst="softRound"/>
          </a:sp3d>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33" name="Line 22">
            <a:extLst>
              <a:ext uri="{FF2B5EF4-FFF2-40B4-BE49-F238E27FC236}">
                <a16:creationId xmlns:a16="http://schemas.microsoft.com/office/drawing/2014/main" id="{54C3F371-4FF7-459B-8B3B-E7EFE0B896A2}"/>
              </a:ext>
            </a:extLst>
          </p:cNvPr>
          <p:cNvSpPr>
            <a:spLocks noChangeShapeType="1"/>
          </p:cNvSpPr>
          <p:nvPr/>
        </p:nvSpPr>
        <p:spPr bwMode="auto">
          <a:xfrm>
            <a:off x="2057400" y="3505200"/>
            <a:ext cx="7696200" cy="0"/>
          </a:xfrm>
          <a:prstGeom prst="line">
            <a:avLst/>
          </a:prstGeom>
          <a:noFill/>
          <a:ln w="12700">
            <a:solidFill>
              <a:schemeClr val="tx1"/>
            </a:solidFill>
            <a:round/>
            <a:headEnd/>
            <a:tailEnd/>
          </a:ln>
          <a:scene3d>
            <a:camera prst="orthographicFront"/>
            <a:lightRig rig="threePt" dir="t"/>
          </a:scene3d>
          <a:sp3d>
            <a:bevelT w="152400" h="50800" prst="softRound"/>
          </a:sp3d>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34" name="Rectangle 28">
            <a:extLst>
              <a:ext uri="{FF2B5EF4-FFF2-40B4-BE49-F238E27FC236}">
                <a16:creationId xmlns:a16="http://schemas.microsoft.com/office/drawing/2014/main" id="{0B63B165-903B-443D-93C6-0D7D3C58A6B9}"/>
              </a:ext>
            </a:extLst>
          </p:cNvPr>
          <p:cNvSpPr>
            <a:spLocks noChangeArrowheads="1"/>
          </p:cNvSpPr>
          <p:nvPr/>
        </p:nvSpPr>
        <p:spPr bwMode="auto">
          <a:xfrm>
            <a:off x="8915400" y="4191000"/>
            <a:ext cx="1600200" cy="914400"/>
          </a:xfrm>
          <a:prstGeom prst="rect">
            <a:avLst/>
          </a:prstGeom>
          <a:solidFill>
            <a:schemeClr val="accent5"/>
          </a:solidFill>
          <a:ln>
            <a:no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Workers </a:t>
            </a:r>
          </a:p>
          <a:p>
            <a:pPr algn="ctr" eaLnBrk="1" hangingPunct="1">
              <a:defRPr/>
            </a:pPr>
            <a:r>
              <a:rPr lang="en-US" sz="1400" b="1" dirty="0">
                <a:solidFill>
                  <a:prstClr val="black"/>
                </a:solidFill>
              </a:rPr>
              <a:t>Compensation</a:t>
            </a:r>
          </a:p>
        </p:txBody>
      </p:sp>
      <p:sp>
        <p:nvSpPr>
          <p:cNvPr id="35" name="Line 30">
            <a:extLst>
              <a:ext uri="{FF2B5EF4-FFF2-40B4-BE49-F238E27FC236}">
                <a16:creationId xmlns:a16="http://schemas.microsoft.com/office/drawing/2014/main" id="{32DBFC10-2E0F-4961-84EC-9A750D9219A0}"/>
              </a:ext>
            </a:extLst>
          </p:cNvPr>
          <p:cNvSpPr>
            <a:spLocks noChangeShapeType="1"/>
          </p:cNvSpPr>
          <p:nvPr/>
        </p:nvSpPr>
        <p:spPr bwMode="auto">
          <a:xfrm>
            <a:off x="2057400" y="3505200"/>
            <a:ext cx="0" cy="685800"/>
          </a:xfrm>
          <a:prstGeom prst="line">
            <a:avLst/>
          </a:prstGeom>
          <a:noFill/>
          <a:ln w="12700">
            <a:solidFill>
              <a:schemeClr val="tx1"/>
            </a:solidFill>
            <a:round/>
            <a:headEnd/>
            <a:tailEnd type="triangle" w="med" len="med"/>
          </a:ln>
          <a:scene3d>
            <a:camera prst="orthographicFront"/>
            <a:lightRig rig="threePt" dir="t"/>
          </a:scene3d>
          <a:sp3d>
            <a:bevelT w="152400" h="50800" prst="softRound"/>
          </a:sp3d>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36" name="Line 31">
            <a:extLst>
              <a:ext uri="{FF2B5EF4-FFF2-40B4-BE49-F238E27FC236}">
                <a16:creationId xmlns:a16="http://schemas.microsoft.com/office/drawing/2014/main" id="{D40C33F8-9300-4F8C-99A8-F76A452DB8F2}"/>
              </a:ext>
            </a:extLst>
          </p:cNvPr>
          <p:cNvSpPr>
            <a:spLocks noChangeShapeType="1"/>
          </p:cNvSpPr>
          <p:nvPr/>
        </p:nvSpPr>
        <p:spPr bwMode="auto">
          <a:xfrm>
            <a:off x="3657600" y="3505200"/>
            <a:ext cx="0" cy="685800"/>
          </a:xfrm>
          <a:prstGeom prst="line">
            <a:avLst/>
          </a:prstGeom>
          <a:noFill/>
          <a:ln w="12700">
            <a:solidFill>
              <a:schemeClr val="tx1"/>
            </a:solidFill>
            <a:round/>
            <a:headEnd/>
            <a:tailEnd type="triangle" w="med" len="med"/>
          </a:ln>
          <a:scene3d>
            <a:camera prst="orthographicFront"/>
            <a:lightRig rig="threePt" dir="t"/>
          </a:scene3d>
          <a:sp3d>
            <a:bevelT w="152400" h="50800" prst="softRound"/>
          </a:sp3d>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37" name="Line 32">
            <a:extLst>
              <a:ext uri="{FF2B5EF4-FFF2-40B4-BE49-F238E27FC236}">
                <a16:creationId xmlns:a16="http://schemas.microsoft.com/office/drawing/2014/main" id="{031E6843-20DA-429B-8AD3-C6C156A7DE5C}"/>
              </a:ext>
            </a:extLst>
          </p:cNvPr>
          <p:cNvSpPr>
            <a:spLocks noChangeShapeType="1"/>
          </p:cNvSpPr>
          <p:nvPr/>
        </p:nvSpPr>
        <p:spPr bwMode="auto">
          <a:xfrm>
            <a:off x="4953000" y="3505200"/>
            <a:ext cx="0" cy="685800"/>
          </a:xfrm>
          <a:prstGeom prst="line">
            <a:avLst/>
          </a:prstGeom>
          <a:noFill/>
          <a:ln w="12700">
            <a:solidFill>
              <a:schemeClr val="tx1"/>
            </a:solidFill>
            <a:round/>
            <a:headEnd/>
            <a:tailEnd type="triangle" w="med" len="med"/>
          </a:ln>
          <a:scene3d>
            <a:camera prst="orthographicFront"/>
            <a:lightRig rig="threePt" dir="t"/>
          </a:scene3d>
          <a:sp3d>
            <a:bevelT w="152400" h="50800" prst="softRound"/>
          </a:sp3d>
          <a:extLst>
            <a:ext uri="{909E8E84-426E-40DD-AFC4-6F175D3DCCD1}">
              <a14:hiddenFill xmlns:a14="http://schemas.microsoft.com/office/drawing/2010/main">
                <a:noFill/>
              </a14:hiddenFill>
            </a:ext>
          </a:extLst>
        </p:spPr>
        <p:txBody>
          <a:bodyPr wrap="none" lIns="92075" tIns="46038" rIns="92075" bIns="46038" anchor="ctr"/>
          <a:lstStyle/>
          <a:p>
            <a:endParaRPr lang="en-US" sz="2800"/>
          </a:p>
        </p:txBody>
      </p:sp>
      <p:sp>
        <p:nvSpPr>
          <p:cNvPr id="38" name="Line 33">
            <a:extLst>
              <a:ext uri="{FF2B5EF4-FFF2-40B4-BE49-F238E27FC236}">
                <a16:creationId xmlns:a16="http://schemas.microsoft.com/office/drawing/2014/main" id="{8A025F45-BCEC-4C3A-B6B2-064666E140D7}"/>
              </a:ext>
            </a:extLst>
          </p:cNvPr>
          <p:cNvSpPr>
            <a:spLocks noChangeShapeType="1"/>
          </p:cNvSpPr>
          <p:nvPr/>
        </p:nvSpPr>
        <p:spPr bwMode="auto">
          <a:xfrm>
            <a:off x="6324600" y="3505200"/>
            <a:ext cx="0" cy="685800"/>
          </a:xfrm>
          <a:prstGeom prst="line">
            <a:avLst/>
          </a:prstGeom>
          <a:noFill/>
          <a:ln w="12700">
            <a:solidFill>
              <a:schemeClr val="tx1"/>
            </a:solidFill>
            <a:round/>
            <a:headEnd/>
            <a:tailEnd type="triangle" w="med" len="med"/>
          </a:ln>
          <a:scene3d>
            <a:camera prst="orthographicFront"/>
            <a:lightRig rig="threePt" dir="t"/>
          </a:scene3d>
          <a:sp3d>
            <a:bevelT w="152400" h="50800" prst="softRound"/>
          </a:sp3d>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39" name="Line 34">
            <a:extLst>
              <a:ext uri="{FF2B5EF4-FFF2-40B4-BE49-F238E27FC236}">
                <a16:creationId xmlns:a16="http://schemas.microsoft.com/office/drawing/2014/main" id="{5034D590-36EF-4CE2-B103-8BFE44B4293E}"/>
              </a:ext>
            </a:extLst>
          </p:cNvPr>
          <p:cNvSpPr>
            <a:spLocks noChangeShapeType="1"/>
          </p:cNvSpPr>
          <p:nvPr/>
        </p:nvSpPr>
        <p:spPr bwMode="auto">
          <a:xfrm>
            <a:off x="8001000" y="3505200"/>
            <a:ext cx="0" cy="685800"/>
          </a:xfrm>
          <a:prstGeom prst="line">
            <a:avLst/>
          </a:prstGeom>
          <a:noFill/>
          <a:ln w="12700">
            <a:solidFill>
              <a:schemeClr val="tx1"/>
            </a:solidFill>
            <a:round/>
            <a:headEnd/>
            <a:tailEnd type="triangle" w="med" len="med"/>
          </a:ln>
          <a:scene3d>
            <a:camera prst="orthographicFront"/>
            <a:lightRig rig="threePt" dir="t"/>
          </a:scene3d>
          <a:sp3d>
            <a:bevelT w="152400" h="50800" prst="softRound"/>
          </a:sp3d>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40" name="Line 36">
            <a:extLst>
              <a:ext uri="{FF2B5EF4-FFF2-40B4-BE49-F238E27FC236}">
                <a16:creationId xmlns:a16="http://schemas.microsoft.com/office/drawing/2014/main" id="{989AD5C7-342E-46DB-BD18-BA28236AEE29}"/>
              </a:ext>
            </a:extLst>
          </p:cNvPr>
          <p:cNvSpPr>
            <a:spLocks noChangeShapeType="1"/>
          </p:cNvSpPr>
          <p:nvPr/>
        </p:nvSpPr>
        <p:spPr bwMode="auto">
          <a:xfrm>
            <a:off x="9753600" y="3505200"/>
            <a:ext cx="0" cy="685800"/>
          </a:xfrm>
          <a:prstGeom prst="line">
            <a:avLst/>
          </a:prstGeom>
          <a:noFill/>
          <a:ln w="12700">
            <a:solidFill>
              <a:schemeClr val="tx1"/>
            </a:solidFill>
            <a:round/>
            <a:headEnd/>
            <a:tailEnd type="triangle" w="med" len="med"/>
          </a:ln>
          <a:scene3d>
            <a:camera prst="orthographicFront"/>
            <a:lightRig rig="threePt" dir="t"/>
          </a:scene3d>
          <a:sp3d>
            <a:bevelT w="152400" h="50800" prst="softRound"/>
          </a:sp3d>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Tree>
    <p:extLst>
      <p:ext uri="{BB962C8B-B14F-4D97-AF65-F5344CB8AC3E}">
        <p14:creationId xmlns:p14="http://schemas.microsoft.com/office/powerpoint/2010/main" val="3180227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4"/>
                                        </p:tgtEl>
                                        <p:attrNameLst>
                                          <p:attrName>fillcolor</p:attrName>
                                        </p:attrNameLst>
                                      </p:cBhvr>
                                      <p:to>
                                        <a:schemeClr val="accent2"/>
                                      </p:to>
                                    </p:animClr>
                                    <p:set>
                                      <p:cBhvr>
                                        <p:cTn id="7" dur="2000" fill="hold"/>
                                        <p:tgtEl>
                                          <p:spTgt spid="24"/>
                                        </p:tgtEl>
                                        <p:attrNameLst>
                                          <p:attrName>fill.type</p:attrName>
                                        </p:attrNameLst>
                                      </p:cBhvr>
                                      <p:to>
                                        <p:strVal val="solid"/>
                                      </p:to>
                                    </p:set>
                                    <p:set>
                                      <p:cBhvr>
                                        <p:cTn id="8" dur="2000" fill="hold"/>
                                        <p:tgtEl>
                                          <p:spTgt spid="24"/>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barn(inVertical)">
                                      <p:cBhvr>
                                        <p:cTn id="13" dur="500"/>
                                        <p:tgtEl>
                                          <p:spTgt spid="26"/>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1000"/>
                                        <p:tgtEl>
                                          <p:spTgt spid="27"/>
                                        </p:tgtEl>
                                      </p:cBhvr>
                                    </p:animEffect>
                                    <p:anim calcmode="lin" valueType="num">
                                      <p:cBhvr>
                                        <p:cTn id="19" dur="1000" fill="hold"/>
                                        <p:tgtEl>
                                          <p:spTgt spid="27"/>
                                        </p:tgtEl>
                                        <p:attrNameLst>
                                          <p:attrName>ppt_x</p:attrName>
                                        </p:attrNameLst>
                                      </p:cBhvr>
                                      <p:tavLst>
                                        <p:tav tm="0">
                                          <p:val>
                                            <p:strVal val="#ppt_x"/>
                                          </p:val>
                                        </p:tav>
                                        <p:tav tm="100000">
                                          <p:val>
                                            <p:strVal val="#ppt_x"/>
                                          </p:val>
                                        </p:tav>
                                      </p:tavLst>
                                    </p:anim>
                                    <p:anim calcmode="lin" valueType="num">
                                      <p:cBhvr>
                                        <p:cTn id="20"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1000"/>
                                        <p:tgtEl>
                                          <p:spTgt spid="28"/>
                                        </p:tgtEl>
                                      </p:cBhvr>
                                    </p:animEffect>
                                    <p:anim calcmode="lin" valueType="num">
                                      <p:cBhvr>
                                        <p:cTn id="26" dur="1000" fill="hold"/>
                                        <p:tgtEl>
                                          <p:spTgt spid="28"/>
                                        </p:tgtEl>
                                        <p:attrNameLst>
                                          <p:attrName>ppt_x</p:attrName>
                                        </p:attrNameLst>
                                      </p:cBhvr>
                                      <p:tavLst>
                                        <p:tav tm="0">
                                          <p:val>
                                            <p:strVal val="#ppt_x"/>
                                          </p:val>
                                        </p:tav>
                                        <p:tav tm="100000">
                                          <p:val>
                                            <p:strVal val="#ppt_x"/>
                                          </p:val>
                                        </p:tav>
                                      </p:tavLst>
                                    </p:anim>
                                    <p:anim calcmode="lin" valueType="num">
                                      <p:cBhvr>
                                        <p:cTn id="27"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1000"/>
                                        <p:tgtEl>
                                          <p:spTgt spid="29"/>
                                        </p:tgtEl>
                                      </p:cBhvr>
                                    </p:animEffect>
                                    <p:anim calcmode="lin" valueType="num">
                                      <p:cBhvr>
                                        <p:cTn id="33" dur="1000" fill="hold"/>
                                        <p:tgtEl>
                                          <p:spTgt spid="29"/>
                                        </p:tgtEl>
                                        <p:attrNameLst>
                                          <p:attrName>ppt_x</p:attrName>
                                        </p:attrNameLst>
                                      </p:cBhvr>
                                      <p:tavLst>
                                        <p:tav tm="0">
                                          <p:val>
                                            <p:strVal val="#ppt_x"/>
                                          </p:val>
                                        </p:tav>
                                        <p:tav tm="100000">
                                          <p:val>
                                            <p:strVal val="#ppt_x"/>
                                          </p:val>
                                        </p:tav>
                                      </p:tavLst>
                                    </p:anim>
                                    <p:anim calcmode="lin" valueType="num">
                                      <p:cBhvr>
                                        <p:cTn id="34"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1000"/>
                                        <p:tgtEl>
                                          <p:spTgt spid="30"/>
                                        </p:tgtEl>
                                      </p:cBhvr>
                                    </p:animEffect>
                                    <p:anim calcmode="lin" valueType="num">
                                      <p:cBhvr>
                                        <p:cTn id="40" dur="1000" fill="hold"/>
                                        <p:tgtEl>
                                          <p:spTgt spid="30"/>
                                        </p:tgtEl>
                                        <p:attrNameLst>
                                          <p:attrName>ppt_x</p:attrName>
                                        </p:attrNameLst>
                                      </p:cBhvr>
                                      <p:tavLst>
                                        <p:tav tm="0">
                                          <p:val>
                                            <p:strVal val="#ppt_x"/>
                                          </p:val>
                                        </p:tav>
                                        <p:tav tm="100000">
                                          <p:val>
                                            <p:strVal val="#ppt_x"/>
                                          </p:val>
                                        </p:tav>
                                      </p:tavLst>
                                    </p:anim>
                                    <p:anim calcmode="lin" valueType="num">
                                      <p:cBhvr>
                                        <p:cTn id="41"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fade">
                                      <p:cBhvr>
                                        <p:cTn id="46" dur="1000"/>
                                        <p:tgtEl>
                                          <p:spTgt spid="31"/>
                                        </p:tgtEl>
                                      </p:cBhvr>
                                    </p:animEffect>
                                    <p:anim calcmode="lin" valueType="num">
                                      <p:cBhvr>
                                        <p:cTn id="47" dur="1000" fill="hold"/>
                                        <p:tgtEl>
                                          <p:spTgt spid="31"/>
                                        </p:tgtEl>
                                        <p:attrNameLst>
                                          <p:attrName>ppt_x</p:attrName>
                                        </p:attrNameLst>
                                      </p:cBhvr>
                                      <p:tavLst>
                                        <p:tav tm="0">
                                          <p:val>
                                            <p:strVal val="#ppt_x"/>
                                          </p:val>
                                        </p:tav>
                                        <p:tav tm="100000">
                                          <p:val>
                                            <p:strVal val="#ppt_x"/>
                                          </p:val>
                                        </p:tav>
                                      </p:tavLst>
                                    </p:anim>
                                    <p:anim calcmode="lin" valueType="num">
                                      <p:cBhvr>
                                        <p:cTn id="48"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1000"/>
                                        <p:tgtEl>
                                          <p:spTgt spid="34"/>
                                        </p:tgtEl>
                                      </p:cBhvr>
                                    </p:animEffect>
                                    <p:anim calcmode="lin" valueType="num">
                                      <p:cBhvr>
                                        <p:cTn id="54" dur="1000" fill="hold"/>
                                        <p:tgtEl>
                                          <p:spTgt spid="34"/>
                                        </p:tgtEl>
                                        <p:attrNameLst>
                                          <p:attrName>ppt_x</p:attrName>
                                        </p:attrNameLst>
                                      </p:cBhvr>
                                      <p:tavLst>
                                        <p:tav tm="0">
                                          <p:val>
                                            <p:strVal val="#ppt_x"/>
                                          </p:val>
                                        </p:tav>
                                        <p:tav tm="100000">
                                          <p:val>
                                            <p:strVal val="#ppt_x"/>
                                          </p:val>
                                        </p:tav>
                                      </p:tavLst>
                                    </p:anim>
                                    <p:anim calcmode="lin" valueType="num">
                                      <p:cBhvr>
                                        <p:cTn id="55"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6" presetClass="emph" presetSubtype="0" fill="hold" grpId="1" nodeType="clickEffect">
                                  <p:stCondLst>
                                    <p:cond delay="0"/>
                                  </p:stCondLst>
                                  <p:childTnLst>
                                    <p:animScale>
                                      <p:cBhvr>
                                        <p:cTn id="59" dur="2000" fill="hold"/>
                                        <p:tgtEl>
                                          <p:spTgt spid="29"/>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29" grpId="1" animBg="1"/>
      <p:bldP spid="30" grpId="0" animBg="1"/>
      <p:bldP spid="31" grpId="0" animBg="1"/>
      <p:bldP spid="3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6400" y="190500"/>
            <a:ext cx="4876800" cy="461665"/>
          </a:xfrm>
          <a:prstGeom prst="rect">
            <a:avLst/>
          </a:prstGeom>
          <a:noFill/>
        </p:spPr>
        <p:txBody>
          <a:bodyPr wrap="square" rtlCol="0">
            <a:spAutoFit/>
          </a:bodyPr>
          <a:lstStyle/>
          <a:p>
            <a:r>
              <a:rPr lang="en-US" sz="2400" dirty="0">
                <a:solidFill>
                  <a:schemeClr val="bg1"/>
                </a:solidFill>
              </a:rPr>
              <a:t>Commercial Lines of Business: BOP</a:t>
            </a:r>
          </a:p>
        </p:txBody>
      </p:sp>
      <p:sp>
        <p:nvSpPr>
          <p:cNvPr id="3" name="TextBox 2"/>
          <p:cNvSpPr txBox="1"/>
          <p:nvPr/>
        </p:nvSpPr>
        <p:spPr>
          <a:xfrm>
            <a:off x="2406649" y="2967335"/>
            <a:ext cx="8270875" cy="923330"/>
          </a:xfrm>
          <a:prstGeom prst="rect">
            <a:avLst/>
          </a:prstGeom>
          <a:noFill/>
          <a:ln>
            <a:solidFill>
              <a:srgbClr val="0000FF"/>
            </a:solidFill>
          </a:ln>
          <a:effectLst>
            <a:glow rad="228600">
              <a:srgbClr val="FFFF00">
                <a:alpha val="40000"/>
              </a:srgbClr>
            </a:glow>
          </a:effectLst>
        </p:spPr>
        <p:txBody>
          <a:bodyPr wrap="square" rtlCol="0">
            <a:spAutoFit/>
          </a:bodyPr>
          <a:lstStyle/>
          <a:p>
            <a:r>
              <a:rPr lang="en-US" sz="5400" dirty="0"/>
              <a:t>Business Owners Program*</a:t>
            </a:r>
          </a:p>
        </p:txBody>
      </p:sp>
      <p:pic>
        <p:nvPicPr>
          <p:cNvPr id="4" name="Picture 3">
            <a:extLst>
              <a:ext uri="{FF2B5EF4-FFF2-40B4-BE49-F238E27FC236}">
                <a16:creationId xmlns:a16="http://schemas.microsoft.com/office/drawing/2014/main" id="{2D6450A5-5061-42FD-9A62-BBB95742C9F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7" name="TextBox 6">
            <a:extLst>
              <a:ext uri="{FF2B5EF4-FFF2-40B4-BE49-F238E27FC236}">
                <a16:creationId xmlns:a16="http://schemas.microsoft.com/office/drawing/2014/main" id="{9A3CE62D-A6F4-4BE3-BE56-D64B5122B85D}"/>
              </a:ext>
            </a:extLst>
          </p:cNvPr>
          <p:cNvSpPr txBox="1"/>
          <p:nvPr/>
        </p:nvSpPr>
        <p:spPr>
          <a:xfrm>
            <a:off x="8519120" y="6060668"/>
            <a:ext cx="2581275" cy="369332"/>
          </a:xfrm>
          <a:prstGeom prst="rect">
            <a:avLst/>
          </a:prstGeom>
          <a:noFill/>
        </p:spPr>
        <p:txBody>
          <a:bodyPr wrap="square" rtlCol="0">
            <a:spAutoFit/>
          </a:bodyPr>
          <a:lstStyle/>
          <a:p>
            <a:r>
              <a:rPr lang="en-US" dirty="0"/>
              <a:t>* Refer the notes section</a:t>
            </a:r>
            <a:endParaRPr lang="en-IN" dirty="0"/>
          </a:p>
        </p:txBody>
      </p:sp>
    </p:spTree>
    <p:extLst>
      <p:ext uri="{BB962C8B-B14F-4D97-AF65-F5344CB8AC3E}">
        <p14:creationId xmlns:p14="http://schemas.microsoft.com/office/powerpoint/2010/main" val="2125591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76400" y="304800"/>
            <a:ext cx="6019800" cy="400110"/>
          </a:xfrm>
          <a:prstGeom prst="rect">
            <a:avLst/>
          </a:prstGeom>
          <a:noFill/>
        </p:spPr>
        <p:txBody>
          <a:bodyPr wrap="square" rtlCol="0">
            <a:spAutoFit/>
          </a:bodyPr>
          <a:lstStyle/>
          <a:p>
            <a:r>
              <a:rPr lang="en-US" sz="2000" dirty="0">
                <a:solidFill>
                  <a:schemeClr val="bg1"/>
                </a:solidFill>
              </a:rPr>
              <a:t>Businessowners Policy </a:t>
            </a:r>
          </a:p>
        </p:txBody>
      </p:sp>
      <p:sp>
        <p:nvSpPr>
          <p:cNvPr id="3" name="TextBox 2"/>
          <p:cNvSpPr txBox="1"/>
          <p:nvPr/>
        </p:nvSpPr>
        <p:spPr>
          <a:xfrm>
            <a:off x="993881" y="1404320"/>
            <a:ext cx="9804188" cy="4093428"/>
          </a:xfrm>
          <a:prstGeom prst="rect">
            <a:avLst/>
          </a:prstGeom>
          <a:noFill/>
        </p:spPr>
        <p:txBody>
          <a:bodyPr wrap="square" rtlCol="0">
            <a:spAutoFit/>
          </a:bodyPr>
          <a:lstStyle/>
          <a:p>
            <a:pPr marL="285750" indent="-285750">
              <a:buFontTx/>
              <a:buChar char="-"/>
            </a:pPr>
            <a:r>
              <a:rPr lang="en-US" sz="2000" dirty="0"/>
              <a:t>A freestanding package policy ( can not be added to a commercial package policy)</a:t>
            </a:r>
          </a:p>
          <a:p>
            <a:pPr marL="285750" indent="-285750">
              <a:buFontTx/>
              <a:buChar char="-"/>
            </a:pPr>
            <a:r>
              <a:rPr lang="en-US" sz="2000" dirty="0"/>
              <a:t>A package of property and liability coverages</a:t>
            </a:r>
          </a:p>
          <a:p>
            <a:pPr marL="285750" indent="-285750">
              <a:buFontTx/>
              <a:buChar char="-"/>
            </a:pPr>
            <a:r>
              <a:rPr lang="en-US" sz="2000" dirty="0"/>
              <a:t>Intended to meet the needs of </a:t>
            </a:r>
            <a:r>
              <a:rPr lang="en-US" sz="2000" u="sng" dirty="0"/>
              <a:t>small and medium </a:t>
            </a:r>
            <a:r>
              <a:rPr lang="en-US" sz="2000" dirty="0"/>
              <a:t>sized business such as stores, offices, restaurants, small contactors and apartment buildings.</a:t>
            </a:r>
          </a:p>
          <a:p>
            <a:pPr marL="285750" indent="-285750">
              <a:buFontTx/>
              <a:buChar char="-"/>
            </a:pPr>
            <a:r>
              <a:rPr lang="en-US" sz="2000" dirty="0"/>
              <a:t>Ineligible- auto business, bars, grills, large restaurants (blanket coverage), </a:t>
            </a:r>
          </a:p>
          <a:p>
            <a:r>
              <a:rPr lang="en-US" sz="2000" dirty="0"/>
              <a:t>     big manufacturers, places of amusement and financial institutions</a:t>
            </a:r>
          </a:p>
          <a:p>
            <a:pPr marL="285750" indent="-285750">
              <a:buFontTx/>
              <a:buChar char="-"/>
            </a:pPr>
            <a:endParaRPr lang="en-US" sz="2000" dirty="0"/>
          </a:p>
          <a:p>
            <a:r>
              <a:rPr lang="en-US" sz="2000" dirty="0"/>
              <a:t>BOP Program is limited to the following </a:t>
            </a:r>
            <a:r>
              <a:rPr lang="en-US" sz="2000" b="1" dirty="0"/>
              <a:t>small and simple risks </a:t>
            </a:r>
            <a:r>
              <a:rPr lang="en-US" sz="2000" dirty="0"/>
              <a:t>with similar exposure as</a:t>
            </a:r>
          </a:p>
          <a:p>
            <a:endParaRPr lang="en-US" sz="2000" dirty="0"/>
          </a:p>
          <a:p>
            <a:pPr marL="342900" indent="-342900">
              <a:buFont typeface="+mj-lt"/>
              <a:buAutoNum type="arabicPeriod"/>
            </a:pPr>
            <a:r>
              <a:rPr lang="en-US" sz="2000" dirty="0"/>
              <a:t>Small retail, service and processing risks        </a:t>
            </a:r>
          </a:p>
          <a:p>
            <a:pPr marL="342900" indent="-342900">
              <a:buFont typeface="+mj-lt"/>
              <a:buAutoNum type="arabicPeriod"/>
            </a:pPr>
            <a:r>
              <a:rPr lang="en-US" sz="2000" dirty="0"/>
              <a:t>Restaurants</a:t>
            </a:r>
          </a:p>
          <a:p>
            <a:pPr marL="342900" indent="-342900">
              <a:buFont typeface="+mj-lt"/>
              <a:buAutoNum type="arabicPeriod"/>
            </a:pPr>
            <a:r>
              <a:rPr lang="en-US" sz="2000" dirty="0"/>
              <a:t>Warehouses           </a:t>
            </a:r>
          </a:p>
          <a:p>
            <a:pPr marL="342900" indent="-342900">
              <a:buFont typeface="+mj-lt"/>
              <a:buAutoNum type="arabicPeriod"/>
            </a:pPr>
            <a:r>
              <a:rPr lang="en-US" sz="2000" dirty="0"/>
              <a:t>Wholesale operations</a:t>
            </a:r>
          </a:p>
        </p:txBody>
      </p:sp>
      <p:pic>
        <p:nvPicPr>
          <p:cNvPr id="4" name="Picture 3">
            <a:extLst>
              <a:ext uri="{FF2B5EF4-FFF2-40B4-BE49-F238E27FC236}">
                <a16:creationId xmlns:a16="http://schemas.microsoft.com/office/drawing/2014/main" id="{3A7011EC-6081-43E9-9180-714CBE9E699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5" name="TextBox 4">
            <a:extLst>
              <a:ext uri="{FF2B5EF4-FFF2-40B4-BE49-F238E27FC236}">
                <a16:creationId xmlns:a16="http://schemas.microsoft.com/office/drawing/2014/main" id="{F66CF561-CE8F-4041-B4F7-40430AF9BD50}"/>
              </a:ext>
            </a:extLst>
          </p:cNvPr>
          <p:cNvSpPr txBox="1"/>
          <p:nvPr/>
        </p:nvSpPr>
        <p:spPr>
          <a:xfrm>
            <a:off x="123825" y="454997"/>
            <a:ext cx="5772150" cy="523220"/>
          </a:xfrm>
          <a:prstGeom prst="rect">
            <a:avLst/>
          </a:prstGeom>
          <a:noFill/>
        </p:spPr>
        <p:txBody>
          <a:bodyPr wrap="square" rtlCol="0">
            <a:spAutoFit/>
          </a:bodyPr>
          <a:lstStyle/>
          <a:p>
            <a:r>
              <a:rPr lang="en-US" sz="2800" dirty="0"/>
              <a:t>Features of a BOP</a:t>
            </a:r>
            <a:endParaRPr lang="en-IN" sz="2800" dirty="0"/>
          </a:p>
        </p:txBody>
      </p:sp>
    </p:spTree>
    <p:extLst>
      <p:ext uri="{BB962C8B-B14F-4D97-AF65-F5344CB8AC3E}">
        <p14:creationId xmlns:p14="http://schemas.microsoft.com/office/powerpoint/2010/main" val="1833836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46200" y="1631940"/>
            <a:ext cx="10172700" cy="3046988"/>
          </a:xfrm>
          <a:prstGeom prst="rect">
            <a:avLst/>
          </a:prstGeom>
        </p:spPr>
        <p:txBody>
          <a:bodyPr wrap="square">
            <a:spAutoFit/>
          </a:bodyPr>
          <a:lstStyle/>
          <a:p>
            <a:pPr marL="285750" indent="-285750">
              <a:buFontTx/>
              <a:buChar char="-"/>
            </a:pPr>
            <a:r>
              <a:rPr lang="en-US" sz="2400" dirty="0"/>
              <a:t>Buildings &amp; Business Personal Properties</a:t>
            </a:r>
          </a:p>
          <a:p>
            <a:pPr marL="285750" indent="-285750">
              <a:buFontTx/>
              <a:buChar char="-"/>
            </a:pPr>
            <a:r>
              <a:rPr lang="en-US" sz="2400" dirty="0"/>
              <a:t>Many BOPs automatically include business income &amp; extra expense coverage</a:t>
            </a:r>
          </a:p>
          <a:p>
            <a:pPr marL="285750" indent="-285750">
              <a:buFontTx/>
              <a:buChar char="-"/>
            </a:pPr>
            <a:r>
              <a:rPr lang="en-US" sz="2400" dirty="0"/>
              <a:t>12 months restoration period/ dollar limit</a:t>
            </a:r>
          </a:p>
          <a:p>
            <a:pPr marL="285750" indent="-285750">
              <a:buFontTx/>
              <a:buChar char="-"/>
            </a:pPr>
            <a:r>
              <a:rPr lang="en-US" sz="2400" dirty="0"/>
              <a:t>Liability coverage closely resembles the CGL occurrence basis</a:t>
            </a:r>
          </a:p>
          <a:p>
            <a:pPr marL="285750" indent="-285750">
              <a:buFontTx/>
              <a:buChar char="-"/>
            </a:pPr>
            <a:r>
              <a:rPr lang="en-US" sz="2400" dirty="0"/>
              <a:t>Other common coverages either included automatically/ available as options:</a:t>
            </a:r>
          </a:p>
          <a:p>
            <a:pPr marL="742950" lvl="1" indent="-285750">
              <a:buFontTx/>
              <a:buChar char="-"/>
            </a:pPr>
            <a:r>
              <a:rPr lang="en-US" sz="2400" dirty="0"/>
              <a:t>Employee dishonesty, forgery, mechanical breakdown</a:t>
            </a:r>
          </a:p>
          <a:p>
            <a:pPr marL="742950" lvl="1" indent="-285750">
              <a:buFontTx/>
              <a:buChar char="-"/>
            </a:pPr>
            <a:r>
              <a:rPr lang="en-US" sz="2400" dirty="0"/>
              <a:t>Money &amp; securities, valuable papers and records</a:t>
            </a:r>
          </a:p>
          <a:p>
            <a:pPr marL="742950" lvl="1" indent="-285750">
              <a:buFontTx/>
              <a:buChar char="-"/>
            </a:pPr>
            <a:r>
              <a:rPr lang="en-US" sz="2400" dirty="0"/>
              <a:t>Signs &amp; seals</a:t>
            </a:r>
          </a:p>
        </p:txBody>
      </p:sp>
      <p:sp>
        <p:nvSpPr>
          <p:cNvPr id="4" name="TextBox 3"/>
          <p:cNvSpPr txBox="1"/>
          <p:nvPr/>
        </p:nvSpPr>
        <p:spPr>
          <a:xfrm>
            <a:off x="469900" y="139700"/>
            <a:ext cx="2743200" cy="461665"/>
          </a:xfrm>
          <a:prstGeom prst="rect">
            <a:avLst/>
          </a:prstGeom>
          <a:noFill/>
        </p:spPr>
        <p:txBody>
          <a:bodyPr wrap="square" rtlCol="0">
            <a:spAutoFit/>
          </a:bodyPr>
          <a:lstStyle/>
          <a:p>
            <a:r>
              <a:rPr lang="en-US" sz="2400" dirty="0">
                <a:solidFill>
                  <a:schemeClr val="bg1"/>
                </a:solidFill>
              </a:rPr>
              <a:t>Coverages</a:t>
            </a:r>
          </a:p>
        </p:txBody>
      </p:sp>
      <p:pic>
        <p:nvPicPr>
          <p:cNvPr id="5" name="Picture 4">
            <a:extLst>
              <a:ext uri="{FF2B5EF4-FFF2-40B4-BE49-F238E27FC236}">
                <a16:creationId xmlns:a16="http://schemas.microsoft.com/office/drawing/2014/main" id="{489F4EF5-FC9A-45FC-A872-1265B1422A4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6" name="TextBox 5">
            <a:extLst>
              <a:ext uri="{FF2B5EF4-FFF2-40B4-BE49-F238E27FC236}">
                <a16:creationId xmlns:a16="http://schemas.microsoft.com/office/drawing/2014/main" id="{6F90C390-F277-4F8F-92C1-6CEA74AE5768}"/>
              </a:ext>
            </a:extLst>
          </p:cNvPr>
          <p:cNvSpPr txBox="1"/>
          <p:nvPr/>
        </p:nvSpPr>
        <p:spPr>
          <a:xfrm>
            <a:off x="123825" y="454997"/>
            <a:ext cx="5772150" cy="523220"/>
          </a:xfrm>
          <a:prstGeom prst="rect">
            <a:avLst/>
          </a:prstGeom>
          <a:noFill/>
        </p:spPr>
        <p:txBody>
          <a:bodyPr wrap="square" rtlCol="0">
            <a:spAutoFit/>
          </a:bodyPr>
          <a:lstStyle/>
          <a:p>
            <a:r>
              <a:rPr lang="en-US" sz="2800" dirty="0"/>
              <a:t>BOP Coverages</a:t>
            </a:r>
            <a:endParaRPr lang="en-IN" sz="2800" dirty="0"/>
          </a:p>
        </p:txBody>
      </p:sp>
    </p:spTree>
    <p:extLst>
      <p:ext uri="{BB962C8B-B14F-4D97-AF65-F5344CB8AC3E}">
        <p14:creationId xmlns:p14="http://schemas.microsoft.com/office/powerpoint/2010/main" val="3633405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Effect transition="in" filter="fade">
                                      <p:cBhvr>
                                        <p:cTn id="49" dur="1000"/>
                                        <p:tgtEl>
                                          <p:spTgt spid="2">
                                            <p:txEl>
                                              <p:pRg st="6" end="6"/>
                                            </p:txEl>
                                          </p:spTgt>
                                        </p:tgtEl>
                                      </p:cBhvr>
                                    </p:animEffect>
                                    <p:anim calcmode="lin" valueType="num">
                                      <p:cBhvr>
                                        <p:cTn id="50"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2">
                                            <p:txEl>
                                              <p:pRg st="7" end="7"/>
                                            </p:txEl>
                                          </p:spTgt>
                                        </p:tgtEl>
                                        <p:attrNameLst>
                                          <p:attrName>style.visibility</p:attrName>
                                        </p:attrNameLst>
                                      </p:cBhvr>
                                      <p:to>
                                        <p:strVal val="visible"/>
                                      </p:to>
                                    </p:set>
                                    <p:animEffect transition="in" filter="fade">
                                      <p:cBhvr>
                                        <p:cTn id="56" dur="1000"/>
                                        <p:tgtEl>
                                          <p:spTgt spid="2">
                                            <p:txEl>
                                              <p:pRg st="7" end="7"/>
                                            </p:txEl>
                                          </p:spTgt>
                                        </p:tgtEl>
                                      </p:cBhvr>
                                    </p:animEffect>
                                    <p:anim calcmode="lin" valueType="num">
                                      <p:cBhvr>
                                        <p:cTn id="57"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35100" y="1538238"/>
            <a:ext cx="9702800" cy="4154984"/>
          </a:xfrm>
          <a:prstGeom prst="rect">
            <a:avLst/>
          </a:prstGeom>
        </p:spPr>
        <p:txBody>
          <a:bodyPr wrap="square">
            <a:spAutoFit/>
          </a:bodyPr>
          <a:lstStyle/>
          <a:p>
            <a:pPr marL="342900" indent="-342900">
              <a:buFontTx/>
              <a:buChar char="-"/>
            </a:pPr>
            <a:r>
              <a:rPr lang="en-US" sz="2400" dirty="0"/>
              <a:t>Advantageous to insured, insurers, producers</a:t>
            </a:r>
          </a:p>
          <a:p>
            <a:pPr marL="342900" indent="-342900">
              <a:buFontTx/>
              <a:buChar char="-"/>
            </a:pPr>
            <a:endParaRPr lang="en-US" sz="2400" dirty="0"/>
          </a:p>
          <a:p>
            <a:pPr marL="285750" indent="-285750">
              <a:buFontTx/>
              <a:buChar char="-"/>
            </a:pPr>
            <a:r>
              <a:rPr lang="en-US" sz="2400" dirty="0"/>
              <a:t>Insured gains convenience of one policy that meets most of their needs</a:t>
            </a:r>
          </a:p>
          <a:p>
            <a:pPr marL="285750" indent="-285750">
              <a:buFontTx/>
              <a:buChar char="-"/>
            </a:pPr>
            <a:endParaRPr lang="en-US" sz="2400" dirty="0"/>
          </a:p>
          <a:p>
            <a:pPr marL="285750" indent="-285750">
              <a:buFontTx/>
              <a:buChar char="-"/>
            </a:pPr>
            <a:r>
              <a:rPr lang="en-US" sz="2400" dirty="0"/>
              <a:t>Reduced premium cost</a:t>
            </a:r>
          </a:p>
          <a:p>
            <a:pPr marL="285750" indent="-285750">
              <a:buFontTx/>
              <a:buChar char="-"/>
            </a:pPr>
            <a:endParaRPr lang="en-US" sz="2400" dirty="0"/>
          </a:p>
          <a:p>
            <a:pPr marL="285750" indent="-285750">
              <a:buFontTx/>
              <a:buChar char="-"/>
            </a:pPr>
            <a:r>
              <a:rPr lang="en-US" sz="2400" dirty="0"/>
              <a:t>Often with coverages included that might be overlook</a:t>
            </a:r>
          </a:p>
          <a:p>
            <a:pPr marL="285750" indent="-285750">
              <a:buFontTx/>
              <a:buChar char="-"/>
            </a:pPr>
            <a:endParaRPr lang="en-US" sz="2400" dirty="0"/>
          </a:p>
          <a:p>
            <a:pPr marL="285750" indent="-285750">
              <a:buFontTx/>
              <a:buChar char="-"/>
            </a:pPr>
            <a:r>
              <a:rPr lang="en-US" sz="2400" dirty="0"/>
              <a:t>Simplified rating used to determine premium as in HO</a:t>
            </a:r>
          </a:p>
          <a:p>
            <a:pPr marL="285750" indent="-285750">
              <a:buFontTx/>
              <a:buChar char="-"/>
            </a:pPr>
            <a:endParaRPr lang="en-US" sz="2400" dirty="0"/>
          </a:p>
          <a:p>
            <a:pPr marL="285750" indent="-285750">
              <a:buFontTx/>
              <a:buChar char="-"/>
            </a:pPr>
            <a:r>
              <a:rPr lang="en-US" sz="2400" dirty="0"/>
              <a:t>Lower handling cost for insurer and producer</a:t>
            </a:r>
          </a:p>
        </p:txBody>
      </p:sp>
      <p:sp>
        <p:nvSpPr>
          <p:cNvPr id="3" name="Rectangle 2"/>
          <p:cNvSpPr/>
          <p:nvPr/>
        </p:nvSpPr>
        <p:spPr>
          <a:xfrm>
            <a:off x="464573" y="183634"/>
            <a:ext cx="2129622" cy="461665"/>
          </a:xfrm>
          <a:prstGeom prst="rect">
            <a:avLst/>
          </a:prstGeom>
        </p:spPr>
        <p:txBody>
          <a:bodyPr wrap="none">
            <a:spAutoFit/>
          </a:bodyPr>
          <a:lstStyle/>
          <a:p>
            <a:r>
              <a:rPr lang="en-US" sz="2400" dirty="0">
                <a:solidFill>
                  <a:schemeClr val="bg1"/>
                </a:solidFill>
              </a:rPr>
              <a:t>Benefits of BOP</a:t>
            </a:r>
          </a:p>
        </p:txBody>
      </p:sp>
      <p:pic>
        <p:nvPicPr>
          <p:cNvPr id="4" name="Picture 3">
            <a:extLst>
              <a:ext uri="{FF2B5EF4-FFF2-40B4-BE49-F238E27FC236}">
                <a16:creationId xmlns:a16="http://schemas.microsoft.com/office/drawing/2014/main" id="{286AB12E-D3E1-400F-A2F4-8957F1FD6A1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5" name="TextBox 4">
            <a:extLst>
              <a:ext uri="{FF2B5EF4-FFF2-40B4-BE49-F238E27FC236}">
                <a16:creationId xmlns:a16="http://schemas.microsoft.com/office/drawing/2014/main" id="{246057F9-772A-49E7-BE31-7524F41414C0}"/>
              </a:ext>
            </a:extLst>
          </p:cNvPr>
          <p:cNvSpPr txBox="1"/>
          <p:nvPr/>
        </p:nvSpPr>
        <p:spPr>
          <a:xfrm>
            <a:off x="123825" y="454997"/>
            <a:ext cx="5772150" cy="523220"/>
          </a:xfrm>
          <a:prstGeom prst="rect">
            <a:avLst/>
          </a:prstGeom>
          <a:noFill/>
        </p:spPr>
        <p:txBody>
          <a:bodyPr wrap="square" rtlCol="0">
            <a:spAutoFit/>
          </a:bodyPr>
          <a:lstStyle/>
          <a:p>
            <a:r>
              <a:rPr lang="en-US" sz="2800" dirty="0"/>
              <a:t>Advantages of BOP </a:t>
            </a:r>
            <a:endParaRPr lang="en-IN" sz="2800" dirty="0"/>
          </a:p>
        </p:txBody>
      </p:sp>
    </p:spTree>
    <p:extLst>
      <p:ext uri="{BB962C8B-B14F-4D97-AF65-F5344CB8AC3E}">
        <p14:creationId xmlns:p14="http://schemas.microsoft.com/office/powerpoint/2010/main" val="485948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1000"/>
                                        <p:tgtEl>
                                          <p:spTgt spid="2">
                                            <p:txEl>
                                              <p:pRg st="4" end="4"/>
                                            </p:txEl>
                                          </p:spTgt>
                                        </p:tgtEl>
                                      </p:cBhvr>
                                    </p:animEffect>
                                    <p:anim calcmode="lin" valueType="num">
                                      <p:cBhvr>
                                        <p:cTn id="2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fade">
                                      <p:cBhvr>
                                        <p:cTn id="28" dur="1000"/>
                                        <p:tgtEl>
                                          <p:spTgt spid="2">
                                            <p:txEl>
                                              <p:pRg st="6" end="6"/>
                                            </p:txEl>
                                          </p:spTgt>
                                        </p:tgtEl>
                                      </p:cBhvr>
                                    </p:animEffect>
                                    <p:anim calcmode="lin" valueType="num">
                                      <p:cBhvr>
                                        <p:cTn id="29"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fade">
                                      <p:cBhvr>
                                        <p:cTn id="35" dur="1000"/>
                                        <p:tgtEl>
                                          <p:spTgt spid="2">
                                            <p:txEl>
                                              <p:pRg st="8" end="8"/>
                                            </p:txEl>
                                          </p:spTgt>
                                        </p:tgtEl>
                                      </p:cBhvr>
                                    </p:animEffect>
                                    <p:anim calcmode="lin" valueType="num">
                                      <p:cBhvr>
                                        <p:cTn id="36"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xEl>
                                              <p:pRg st="10" end="10"/>
                                            </p:txEl>
                                          </p:spTgt>
                                        </p:tgtEl>
                                        <p:attrNameLst>
                                          <p:attrName>style.visibility</p:attrName>
                                        </p:attrNameLst>
                                      </p:cBhvr>
                                      <p:to>
                                        <p:strVal val="visible"/>
                                      </p:to>
                                    </p:set>
                                    <p:animEffect transition="in" filter="fade">
                                      <p:cBhvr>
                                        <p:cTn id="42" dur="1000"/>
                                        <p:tgtEl>
                                          <p:spTgt spid="2">
                                            <p:txEl>
                                              <p:pRg st="10" end="10"/>
                                            </p:txEl>
                                          </p:spTgt>
                                        </p:tgtEl>
                                      </p:cBhvr>
                                    </p:animEffect>
                                    <p:anim calcmode="lin" valueType="num">
                                      <p:cBhvr>
                                        <p:cTn id="43"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82800" y="2133601"/>
            <a:ext cx="8686800" cy="2031325"/>
          </a:xfrm>
          <a:prstGeom prst="rect">
            <a:avLst/>
          </a:prstGeom>
        </p:spPr>
        <p:txBody>
          <a:bodyPr wrap="square">
            <a:spAutoFit/>
          </a:bodyPr>
          <a:lstStyle/>
          <a:p>
            <a:pPr marL="285750" indent="-285750">
              <a:buFontTx/>
              <a:buChar char="-"/>
            </a:pPr>
            <a:endParaRPr lang="en-US" dirty="0"/>
          </a:p>
          <a:p>
            <a:pPr marL="285750" indent="-285750">
              <a:buFont typeface="Wingdings" panose="05000000000000000000" pitchFamily="2" charset="2"/>
              <a:buChar char="§"/>
            </a:pPr>
            <a:r>
              <a:rPr lang="en-US" b="1" dirty="0"/>
              <a:t>Standard Form </a:t>
            </a:r>
            <a:r>
              <a:rPr lang="en-US" dirty="0"/>
              <a:t>that provides property coverage on a </a:t>
            </a:r>
            <a:r>
              <a:rPr lang="en-US" u="sng" dirty="0"/>
              <a:t>named peril </a:t>
            </a:r>
            <a:r>
              <a:rPr lang="en-US" dirty="0"/>
              <a:t>basis</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Special Form ( All risks) </a:t>
            </a:r>
            <a:r>
              <a:rPr lang="en-US" dirty="0"/>
              <a:t>that provides property coverage against all physical risks of loss with designated   exclusions</a:t>
            </a:r>
          </a:p>
          <a:p>
            <a:endParaRPr lang="en-US" dirty="0"/>
          </a:p>
          <a:p>
            <a:pPr marL="285750" indent="-285750">
              <a:buFontTx/>
              <a:buChar char="-"/>
            </a:pPr>
            <a:endParaRPr lang="en-US" dirty="0"/>
          </a:p>
        </p:txBody>
      </p:sp>
      <p:sp>
        <p:nvSpPr>
          <p:cNvPr id="3" name="Rectangle 2"/>
          <p:cNvSpPr/>
          <p:nvPr/>
        </p:nvSpPr>
        <p:spPr>
          <a:xfrm>
            <a:off x="320972" y="183634"/>
            <a:ext cx="1554208" cy="461665"/>
          </a:xfrm>
          <a:prstGeom prst="rect">
            <a:avLst/>
          </a:prstGeom>
        </p:spPr>
        <p:txBody>
          <a:bodyPr wrap="none">
            <a:spAutoFit/>
          </a:bodyPr>
          <a:lstStyle/>
          <a:p>
            <a:r>
              <a:rPr lang="en-US" sz="2400" dirty="0">
                <a:solidFill>
                  <a:schemeClr val="bg1"/>
                </a:solidFill>
              </a:rPr>
              <a:t>BOP Forms</a:t>
            </a:r>
          </a:p>
        </p:txBody>
      </p:sp>
      <p:pic>
        <p:nvPicPr>
          <p:cNvPr id="4" name="Picture 3">
            <a:extLst>
              <a:ext uri="{FF2B5EF4-FFF2-40B4-BE49-F238E27FC236}">
                <a16:creationId xmlns:a16="http://schemas.microsoft.com/office/drawing/2014/main" id="{10D45A91-DED8-4C59-89FE-027E5B4A0C0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5" name="TextBox 4">
            <a:extLst>
              <a:ext uri="{FF2B5EF4-FFF2-40B4-BE49-F238E27FC236}">
                <a16:creationId xmlns:a16="http://schemas.microsoft.com/office/drawing/2014/main" id="{B3351C7B-71BD-431F-9ACF-594F34EF097E}"/>
              </a:ext>
            </a:extLst>
          </p:cNvPr>
          <p:cNvSpPr txBox="1"/>
          <p:nvPr/>
        </p:nvSpPr>
        <p:spPr>
          <a:xfrm>
            <a:off x="123825" y="454997"/>
            <a:ext cx="5772150" cy="523220"/>
          </a:xfrm>
          <a:prstGeom prst="rect">
            <a:avLst/>
          </a:prstGeom>
          <a:noFill/>
        </p:spPr>
        <p:txBody>
          <a:bodyPr wrap="square" rtlCol="0">
            <a:spAutoFit/>
          </a:bodyPr>
          <a:lstStyle/>
          <a:p>
            <a:r>
              <a:rPr lang="en-US" sz="2800" dirty="0"/>
              <a:t>Types of BOP</a:t>
            </a:r>
            <a:endParaRPr lang="en-IN" sz="2800" dirty="0"/>
          </a:p>
        </p:txBody>
      </p:sp>
    </p:spTree>
    <p:extLst>
      <p:ext uri="{BB962C8B-B14F-4D97-AF65-F5344CB8AC3E}">
        <p14:creationId xmlns:p14="http://schemas.microsoft.com/office/powerpoint/2010/main" val="1796652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3" end="3"/>
                                            </p:txEl>
                                          </p:spTgt>
                                        </p:tgtEl>
                                        <p:attrNameLst>
                                          <p:attrName>style.visibility</p:attrName>
                                        </p:attrNameLst>
                                      </p:cBhvr>
                                      <p:to>
                                        <p:strVal val="visible"/>
                                      </p:to>
                                    </p:set>
                                    <p:animEffect transition="in" filter="fade">
                                      <p:cBhvr>
                                        <p:cTn id="14" dur="1000"/>
                                        <p:tgtEl>
                                          <p:spTgt spid="2">
                                            <p:txEl>
                                              <p:pRg st="3" end="3"/>
                                            </p:txEl>
                                          </p:spTgt>
                                        </p:tgtEl>
                                      </p:cBhvr>
                                    </p:animEffect>
                                    <p:anim calcmode="lin" valueType="num">
                                      <p:cBhvr>
                                        <p:cTn id="1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95B9BE-595C-44E7-8ED2-0FB24B1615D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3" name="TextBox 2">
            <a:extLst>
              <a:ext uri="{FF2B5EF4-FFF2-40B4-BE49-F238E27FC236}">
                <a16:creationId xmlns:a16="http://schemas.microsoft.com/office/drawing/2014/main" id="{CBD9CC2D-9D2C-420B-8171-B7AF18ABA689}"/>
              </a:ext>
            </a:extLst>
          </p:cNvPr>
          <p:cNvSpPr txBox="1"/>
          <p:nvPr/>
        </p:nvSpPr>
        <p:spPr>
          <a:xfrm>
            <a:off x="866775" y="2690336"/>
            <a:ext cx="3771900" cy="1477328"/>
          </a:xfrm>
          <a:prstGeom prst="rect">
            <a:avLst/>
          </a:prstGeom>
          <a:noFill/>
          <a:ln>
            <a:solidFill>
              <a:srgbClr val="0000FF"/>
            </a:solidFill>
          </a:ln>
        </p:spPr>
        <p:txBody>
          <a:bodyPr wrap="square" rtlCol="0">
            <a:spAutoFit/>
          </a:bodyPr>
          <a:lstStyle/>
          <a:p>
            <a:r>
              <a:rPr lang="en-US" dirty="0"/>
              <a:t>BOP </a:t>
            </a:r>
          </a:p>
          <a:p>
            <a:pPr marL="285750" indent="-285750">
              <a:buFontTx/>
              <a:buChar char="-"/>
            </a:pPr>
            <a:r>
              <a:rPr lang="en-IN" dirty="0"/>
              <a:t>Like a HO Policy  for small Business</a:t>
            </a:r>
          </a:p>
          <a:p>
            <a:pPr marL="285750" indent="-285750">
              <a:buFontTx/>
              <a:buChar char="-"/>
            </a:pPr>
            <a:r>
              <a:rPr lang="en-IN" dirty="0"/>
              <a:t>Comprehensive package</a:t>
            </a:r>
          </a:p>
          <a:p>
            <a:pPr marL="285750" indent="-285750">
              <a:buFontTx/>
              <a:buChar char="-"/>
            </a:pPr>
            <a:r>
              <a:rPr lang="en-IN" dirty="0"/>
              <a:t>Covers small business need most</a:t>
            </a:r>
          </a:p>
          <a:p>
            <a:pPr marL="285750" indent="-285750">
              <a:buFontTx/>
              <a:buChar char="-"/>
            </a:pPr>
            <a:r>
              <a:rPr lang="en-IN" dirty="0"/>
              <a:t>Low Cost</a:t>
            </a:r>
            <a:endParaRPr lang="en-US" dirty="0"/>
          </a:p>
        </p:txBody>
      </p:sp>
      <p:sp>
        <p:nvSpPr>
          <p:cNvPr id="4" name="TextBox 3">
            <a:extLst>
              <a:ext uri="{FF2B5EF4-FFF2-40B4-BE49-F238E27FC236}">
                <a16:creationId xmlns:a16="http://schemas.microsoft.com/office/drawing/2014/main" id="{EAA2C775-3C6A-4E23-8D6F-6DEC1D9AC95C}"/>
              </a:ext>
            </a:extLst>
          </p:cNvPr>
          <p:cNvSpPr txBox="1"/>
          <p:nvPr/>
        </p:nvSpPr>
        <p:spPr>
          <a:xfrm>
            <a:off x="5486400" y="1081035"/>
            <a:ext cx="5210175" cy="2031325"/>
          </a:xfrm>
          <a:prstGeom prst="rect">
            <a:avLst/>
          </a:prstGeom>
          <a:noFill/>
          <a:ln>
            <a:solidFill>
              <a:srgbClr val="0000FF"/>
            </a:solidFill>
          </a:ln>
        </p:spPr>
        <p:txBody>
          <a:bodyPr wrap="square" rtlCol="0">
            <a:spAutoFit/>
          </a:bodyPr>
          <a:lstStyle/>
          <a:p>
            <a:r>
              <a:rPr lang="en-US" dirty="0"/>
              <a:t>Property Coverage</a:t>
            </a:r>
          </a:p>
          <a:p>
            <a:pPr marL="285750" indent="-285750">
              <a:buFontTx/>
              <a:buChar char="-"/>
            </a:pPr>
            <a:r>
              <a:rPr lang="en-US" dirty="0"/>
              <a:t>Building and/ or Contents</a:t>
            </a:r>
          </a:p>
          <a:p>
            <a:pPr marL="285750" indent="-285750">
              <a:buFontTx/>
              <a:buChar char="-"/>
            </a:pPr>
            <a:r>
              <a:rPr lang="en-US" dirty="0"/>
              <a:t>Broad Coverage</a:t>
            </a:r>
          </a:p>
          <a:p>
            <a:pPr marL="285750" indent="-285750">
              <a:buFontTx/>
              <a:buChar char="-"/>
            </a:pPr>
            <a:r>
              <a:rPr lang="en-US" dirty="0"/>
              <a:t>‘’Special’’ Perils available including Fire, Lightening, windstorm, Theft, Vandalism, Falling object, Frozen pipes etc.</a:t>
            </a:r>
          </a:p>
          <a:p>
            <a:pPr marL="285750" indent="-285750">
              <a:buFontTx/>
              <a:buChar char="-"/>
            </a:pPr>
            <a:r>
              <a:rPr lang="en-US" dirty="0"/>
              <a:t>Replacement Cost Coverage available</a:t>
            </a:r>
          </a:p>
        </p:txBody>
      </p:sp>
      <p:sp>
        <p:nvSpPr>
          <p:cNvPr id="5" name="TextBox 4">
            <a:extLst>
              <a:ext uri="{FF2B5EF4-FFF2-40B4-BE49-F238E27FC236}">
                <a16:creationId xmlns:a16="http://schemas.microsoft.com/office/drawing/2014/main" id="{56BBD4F8-266A-477D-930E-F6C7C776FBEE}"/>
              </a:ext>
            </a:extLst>
          </p:cNvPr>
          <p:cNvSpPr txBox="1"/>
          <p:nvPr/>
        </p:nvSpPr>
        <p:spPr>
          <a:xfrm>
            <a:off x="5486400" y="3322015"/>
            <a:ext cx="5210175" cy="2031325"/>
          </a:xfrm>
          <a:prstGeom prst="rect">
            <a:avLst/>
          </a:prstGeom>
          <a:noFill/>
          <a:ln>
            <a:solidFill>
              <a:srgbClr val="0000FF"/>
            </a:solidFill>
          </a:ln>
        </p:spPr>
        <p:txBody>
          <a:bodyPr wrap="square" rtlCol="0">
            <a:spAutoFit/>
          </a:bodyPr>
          <a:lstStyle/>
          <a:p>
            <a:r>
              <a:rPr lang="en-US" dirty="0"/>
              <a:t>Loss of Business Income</a:t>
            </a:r>
          </a:p>
          <a:p>
            <a:pPr marL="285750" indent="-285750">
              <a:buFontTx/>
              <a:buChar char="-"/>
            </a:pPr>
            <a:r>
              <a:rPr lang="en-US" dirty="0"/>
              <a:t>Loss of profits</a:t>
            </a:r>
          </a:p>
          <a:p>
            <a:pPr marL="285750" indent="-285750">
              <a:buFontTx/>
              <a:buChar char="-"/>
            </a:pPr>
            <a:r>
              <a:rPr lang="en-US" dirty="0"/>
              <a:t>Continuing expenses</a:t>
            </a:r>
          </a:p>
          <a:p>
            <a:pPr marL="285750" indent="-285750">
              <a:buFontTx/>
              <a:buChar char="-"/>
            </a:pPr>
            <a:r>
              <a:rPr lang="en-US" dirty="0"/>
              <a:t>Extra expenses</a:t>
            </a:r>
          </a:p>
          <a:p>
            <a:pPr marL="285750" indent="-285750">
              <a:buFontTx/>
              <a:buChar char="-"/>
            </a:pPr>
            <a:r>
              <a:rPr lang="en-US" dirty="0"/>
              <a:t>Following a covered loss</a:t>
            </a:r>
          </a:p>
          <a:p>
            <a:pPr marL="285750" indent="-285750">
              <a:buFontTx/>
              <a:buChar char="-"/>
            </a:pPr>
            <a:r>
              <a:rPr lang="en-US" dirty="0"/>
              <a:t>Coverage up to 12 full months</a:t>
            </a:r>
          </a:p>
          <a:p>
            <a:pPr marL="285750" indent="-285750">
              <a:buFontTx/>
              <a:buChar char="-"/>
            </a:pPr>
            <a:endParaRPr lang="en-IN" dirty="0"/>
          </a:p>
        </p:txBody>
      </p:sp>
      <p:sp>
        <p:nvSpPr>
          <p:cNvPr id="6" name="TextBox 5">
            <a:extLst>
              <a:ext uri="{FF2B5EF4-FFF2-40B4-BE49-F238E27FC236}">
                <a16:creationId xmlns:a16="http://schemas.microsoft.com/office/drawing/2014/main" id="{AA493582-3CE0-4ADD-AE37-D6679FA77C37}"/>
              </a:ext>
            </a:extLst>
          </p:cNvPr>
          <p:cNvSpPr txBox="1"/>
          <p:nvPr/>
        </p:nvSpPr>
        <p:spPr>
          <a:xfrm>
            <a:off x="5486400" y="5686425"/>
            <a:ext cx="5286375" cy="923330"/>
          </a:xfrm>
          <a:prstGeom prst="rect">
            <a:avLst/>
          </a:prstGeom>
          <a:noFill/>
          <a:ln>
            <a:solidFill>
              <a:srgbClr val="0000FF"/>
            </a:solidFill>
          </a:ln>
        </p:spPr>
        <p:txBody>
          <a:bodyPr wrap="square" rtlCol="0">
            <a:spAutoFit/>
          </a:bodyPr>
          <a:lstStyle/>
          <a:p>
            <a:r>
              <a:rPr lang="en-US" dirty="0"/>
              <a:t>Coverage Options</a:t>
            </a:r>
          </a:p>
          <a:p>
            <a:r>
              <a:rPr lang="en-US" dirty="0"/>
              <a:t>-Glass, Signs, Money &amp; securities, Spoilage, Bailee’s</a:t>
            </a:r>
          </a:p>
          <a:p>
            <a:r>
              <a:rPr lang="en-US" dirty="0"/>
              <a:t>Coverage, etc.</a:t>
            </a:r>
            <a:endParaRPr lang="en-IN" dirty="0"/>
          </a:p>
        </p:txBody>
      </p:sp>
      <p:sp>
        <p:nvSpPr>
          <p:cNvPr id="7" name="TextBox 6">
            <a:extLst>
              <a:ext uri="{FF2B5EF4-FFF2-40B4-BE49-F238E27FC236}">
                <a16:creationId xmlns:a16="http://schemas.microsoft.com/office/drawing/2014/main" id="{DF938470-10ED-4409-B677-E768C10AC3B6}"/>
              </a:ext>
            </a:extLst>
          </p:cNvPr>
          <p:cNvSpPr txBox="1"/>
          <p:nvPr/>
        </p:nvSpPr>
        <p:spPr>
          <a:xfrm>
            <a:off x="123825" y="454997"/>
            <a:ext cx="5772150" cy="523220"/>
          </a:xfrm>
          <a:prstGeom prst="rect">
            <a:avLst/>
          </a:prstGeom>
          <a:noFill/>
        </p:spPr>
        <p:txBody>
          <a:bodyPr wrap="square" rtlCol="0">
            <a:spAutoFit/>
          </a:bodyPr>
          <a:lstStyle/>
          <a:p>
            <a:r>
              <a:rPr lang="en-US" sz="2800" dirty="0"/>
              <a:t>Conclude : BOP’s Snapshot</a:t>
            </a:r>
            <a:endParaRPr lang="en-IN" sz="2800" dirty="0"/>
          </a:p>
        </p:txBody>
      </p:sp>
    </p:spTree>
    <p:extLst>
      <p:ext uri="{BB962C8B-B14F-4D97-AF65-F5344CB8AC3E}">
        <p14:creationId xmlns:p14="http://schemas.microsoft.com/office/powerpoint/2010/main" val="3429655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3400" y="1425139"/>
            <a:ext cx="9283700" cy="4154984"/>
          </a:xfrm>
          <a:prstGeom prst="rect">
            <a:avLst/>
          </a:prstGeom>
        </p:spPr>
        <p:txBody>
          <a:bodyPr wrap="square">
            <a:spAutoFit/>
          </a:bodyPr>
          <a:lstStyle/>
          <a:p>
            <a:pPr marL="285750" indent="-285750">
              <a:buFontTx/>
              <a:buChar char="-"/>
            </a:pPr>
            <a:r>
              <a:rPr lang="en-US" sz="2400" dirty="0"/>
              <a:t>Automatic Seasonal Increase Provision</a:t>
            </a:r>
          </a:p>
          <a:p>
            <a:pPr marL="285750" indent="-285750">
              <a:buFontTx/>
              <a:buChar char="-"/>
            </a:pPr>
            <a:endParaRPr lang="en-US" sz="2400" dirty="0"/>
          </a:p>
          <a:p>
            <a:pPr marL="285750" indent="-285750">
              <a:buFontTx/>
              <a:buChar char="-"/>
            </a:pPr>
            <a:r>
              <a:rPr lang="en-US" sz="2400" dirty="0"/>
              <a:t>Business Income and extra expense Coverage Included</a:t>
            </a:r>
          </a:p>
          <a:p>
            <a:pPr marL="285750" indent="-285750">
              <a:buFontTx/>
              <a:buChar char="-"/>
            </a:pPr>
            <a:endParaRPr lang="en-US" sz="2400" dirty="0"/>
          </a:p>
          <a:p>
            <a:pPr marL="285750" indent="-285750">
              <a:buFontTx/>
              <a:buChar char="-"/>
            </a:pPr>
            <a:r>
              <a:rPr lang="en-US" sz="2400" dirty="0"/>
              <a:t>Replacement cost as Standard Valuation Provision( ACV optional)</a:t>
            </a:r>
          </a:p>
          <a:p>
            <a:pPr marL="285750" indent="-285750">
              <a:buFontTx/>
              <a:buChar char="-"/>
            </a:pPr>
            <a:endParaRPr lang="en-US" sz="2400" dirty="0"/>
          </a:p>
          <a:p>
            <a:pPr marL="285750" indent="-285750">
              <a:buFontTx/>
              <a:buChar char="-"/>
            </a:pPr>
            <a:r>
              <a:rPr lang="en-US" sz="2400" dirty="0"/>
              <a:t>Insurance to Value</a:t>
            </a:r>
          </a:p>
          <a:p>
            <a:pPr marL="285750" indent="-285750">
              <a:buFontTx/>
              <a:buChar char="-"/>
            </a:pPr>
            <a:endParaRPr lang="en-US" sz="2400" dirty="0"/>
          </a:p>
          <a:p>
            <a:pPr marL="285750" indent="-285750">
              <a:buFontTx/>
              <a:buChar char="-"/>
            </a:pPr>
            <a:r>
              <a:rPr lang="en-US" sz="2400" dirty="0"/>
              <a:t>Coinsurance clause:  ( Did/  Should) x Loss)</a:t>
            </a:r>
          </a:p>
          <a:p>
            <a:pPr lvl="2"/>
            <a:r>
              <a:rPr lang="en-US" sz="2400" dirty="0"/>
              <a:t>- Underinsurance </a:t>
            </a:r>
          </a:p>
          <a:p>
            <a:pPr lvl="2"/>
            <a:r>
              <a:rPr lang="en-US" sz="2400" dirty="0"/>
              <a:t>- Adequately insured</a:t>
            </a:r>
          </a:p>
        </p:txBody>
      </p:sp>
      <p:sp>
        <p:nvSpPr>
          <p:cNvPr id="3" name="Rectangle 2"/>
          <p:cNvSpPr/>
          <p:nvPr/>
        </p:nvSpPr>
        <p:spPr>
          <a:xfrm>
            <a:off x="476199" y="272534"/>
            <a:ext cx="3641574" cy="461665"/>
          </a:xfrm>
          <a:prstGeom prst="rect">
            <a:avLst/>
          </a:prstGeom>
        </p:spPr>
        <p:txBody>
          <a:bodyPr wrap="none">
            <a:spAutoFit/>
          </a:bodyPr>
          <a:lstStyle/>
          <a:p>
            <a:r>
              <a:rPr lang="en-US" sz="2400" dirty="0">
                <a:solidFill>
                  <a:schemeClr val="bg1"/>
                </a:solidFill>
              </a:rPr>
              <a:t>Settlements and Provisions</a:t>
            </a:r>
          </a:p>
        </p:txBody>
      </p:sp>
      <p:pic>
        <p:nvPicPr>
          <p:cNvPr id="4" name="Picture 3">
            <a:extLst>
              <a:ext uri="{FF2B5EF4-FFF2-40B4-BE49-F238E27FC236}">
                <a16:creationId xmlns:a16="http://schemas.microsoft.com/office/drawing/2014/main" id="{BA887560-22A1-4E8A-AE4B-1DCBD13549E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5" name="TextBox 4">
            <a:extLst>
              <a:ext uri="{FF2B5EF4-FFF2-40B4-BE49-F238E27FC236}">
                <a16:creationId xmlns:a16="http://schemas.microsoft.com/office/drawing/2014/main" id="{EDCA9700-816A-42E7-80EE-65BF09F19296}"/>
              </a:ext>
            </a:extLst>
          </p:cNvPr>
          <p:cNvSpPr txBox="1"/>
          <p:nvPr/>
        </p:nvSpPr>
        <p:spPr>
          <a:xfrm>
            <a:off x="123825" y="454997"/>
            <a:ext cx="5772150" cy="523220"/>
          </a:xfrm>
          <a:prstGeom prst="rect">
            <a:avLst/>
          </a:prstGeom>
          <a:noFill/>
        </p:spPr>
        <p:txBody>
          <a:bodyPr wrap="square" rtlCol="0">
            <a:spAutoFit/>
          </a:bodyPr>
          <a:lstStyle/>
          <a:p>
            <a:r>
              <a:rPr lang="en-US" sz="2800" dirty="0"/>
              <a:t>Settlement Provisions in a BOP </a:t>
            </a:r>
            <a:endParaRPr lang="en-IN" sz="2800" dirty="0"/>
          </a:p>
        </p:txBody>
      </p:sp>
    </p:spTree>
    <p:extLst>
      <p:ext uri="{BB962C8B-B14F-4D97-AF65-F5344CB8AC3E}">
        <p14:creationId xmlns:p14="http://schemas.microsoft.com/office/powerpoint/2010/main" val="42370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1000"/>
                                        <p:tgtEl>
                                          <p:spTgt spid="2">
                                            <p:txEl>
                                              <p:pRg st="4" end="4"/>
                                            </p:txEl>
                                          </p:spTgt>
                                        </p:tgtEl>
                                      </p:cBhvr>
                                    </p:animEffect>
                                    <p:anim calcmode="lin" valueType="num">
                                      <p:cBhvr>
                                        <p:cTn id="2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fade">
                                      <p:cBhvr>
                                        <p:cTn id="28" dur="1000"/>
                                        <p:tgtEl>
                                          <p:spTgt spid="2">
                                            <p:txEl>
                                              <p:pRg st="6" end="6"/>
                                            </p:txEl>
                                          </p:spTgt>
                                        </p:tgtEl>
                                      </p:cBhvr>
                                    </p:animEffect>
                                    <p:anim calcmode="lin" valueType="num">
                                      <p:cBhvr>
                                        <p:cTn id="29"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fade">
                                      <p:cBhvr>
                                        <p:cTn id="35" dur="1000"/>
                                        <p:tgtEl>
                                          <p:spTgt spid="2">
                                            <p:txEl>
                                              <p:pRg st="8" end="8"/>
                                            </p:txEl>
                                          </p:spTgt>
                                        </p:tgtEl>
                                      </p:cBhvr>
                                    </p:animEffect>
                                    <p:anim calcmode="lin" valueType="num">
                                      <p:cBhvr>
                                        <p:cTn id="36"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xEl>
                                              <p:pRg st="9" end="9"/>
                                            </p:txEl>
                                          </p:spTgt>
                                        </p:tgtEl>
                                        <p:attrNameLst>
                                          <p:attrName>style.visibility</p:attrName>
                                        </p:attrNameLst>
                                      </p:cBhvr>
                                      <p:to>
                                        <p:strVal val="visible"/>
                                      </p:to>
                                    </p:set>
                                    <p:animEffect transition="in" filter="fade">
                                      <p:cBhvr>
                                        <p:cTn id="42" dur="1000"/>
                                        <p:tgtEl>
                                          <p:spTgt spid="2">
                                            <p:txEl>
                                              <p:pRg st="9" end="9"/>
                                            </p:txEl>
                                          </p:spTgt>
                                        </p:tgtEl>
                                      </p:cBhvr>
                                    </p:animEffect>
                                    <p:anim calcmode="lin" valueType="num">
                                      <p:cBhvr>
                                        <p:cTn id="43"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9" end="9"/>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animEffect transition="in" filter="fade">
                                      <p:cBhvr>
                                        <p:cTn id="47" dur="1000"/>
                                        <p:tgtEl>
                                          <p:spTgt spid="2">
                                            <p:txEl>
                                              <p:pRg st="10" end="10"/>
                                            </p:txEl>
                                          </p:spTgt>
                                        </p:tgtEl>
                                      </p:cBhvr>
                                    </p:animEffect>
                                    <p:anim calcmode="lin" valueType="num">
                                      <p:cBhvr>
                                        <p:cTn id="48"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49"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76400" y="1066800"/>
            <a:ext cx="8839200" cy="5109091"/>
          </a:xfrm>
          <a:prstGeom prst="rect">
            <a:avLst/>
          </a:prstGeom>
          <a:noFill/>
        </p:spPr>
        <p:txBody>
          <a:bodyPr wrap="square" rtlCol="0">
            <a:spAutoFit/>
          </a:bodyPr>
          <a:lstStyle/>
          <a:p>
            <a:r>
              <a:rPr lang="en-US" sz="2000" dirty="0"/>
              <a:t>How much to pay out when there arise a Co-Insurance Clause ?</a:t>
            </a:r>
          </a:p>
          <a:p>
            <a:endParaRPr lang="en-US" dirty="0"/>
          </a:p>
          <a:p>
            <a:r>
              <a:rPr lang="en-US" dirty="0"/>
              <a:t>  </a:t>
            </a:r>
          </a:p>
          <a:p>
            <a:endParaRPr lang="en-US" dirty="0"/>
          </a:p>
          <a:p>
            <a:r>
              <a:rPr lang="en-US" dirty="0"/>
              <a:t>     </a:t>
            </a:r>
            <a:r>
              <a:rPr lang="en-US" u="sng" dirty="0"/>
              <a:t>Amount of Insurance carried  ‘ Did ‘ </a:t>
            </a:r>
          </a:p>
          <a:p>
            <a:r>
              <a:rPr lang="en-US" b="1" dirty="0"/>
              <a:t>     </a:t>
            </a:r>
            <a:r>
              <a:rPr lang="en-US" dirty="0"/>
              <a:t>Amount of Insurance required ‘should’     X Loss     ---  Deductible</a:t>
            </a:r>
          </a:p>
          <a:p>
            <a:endParaRPr lang="en-US" dirty="0"/>
          </a:p>
          <a:p>
            <a:endParaRPr lang="en-US" dirty="0"/>
          </a:p>
          <a:p>
            <a:r>
              <a:rPr lang="en-US" dirty="0"/>
              <a:t>Amount of Insurance required ‘Should’ = Coinsurance % of the Value of the Property</a:t>
            </a:r>
          </a:p>
          <a:p>
            <a:endParaRPr lang="en-US" dirty="0"/>
          </a:p>
          <a:p>
            <a:r>
              <a:rPr lang="en-US" i="1" u="sng" dirty="0"/>
              <a:t>If he ‘Did’ less than he ‘should’, it leads him to penalty :</a:t>
            </a:r>
          </a:p>
          <a:p>
            <a:r>
              <a:rPr lang="en-US" dirty="0"/>
              <a:t>If the insured had got insurance for the adequate amount he will not be penalized.</a:t>
            </a:r>
          </a:p>
          <a:p>
            <a:r>
              <a:rPr lang="en-US" dirty="0"/>
              <a:t> ( Coinsurance % of Value of Property &lt; Value of Property )</a:t>
            </a:r>
          </a:p>
          <a:p>
            <a:endParaRPr lang="en-US" dirty="0"/>
          </a:p>
          <a:p>
            <a:r>
              <a:rPr lang="en-US" i="1" u="sng" dirty="0"/>
              <a:t>If he ‘Did’ as much as he ‘should’, it leads him to NO penalty :</a:t>
            </a:r>
          </a:p>
          <a:p>
            <a:r>
              <a:rPr lang="en-US" dirty="0"/>
              <a:t>If the insured has got insurance lesser than he is required to take , he will be penalized.</a:t>
            </a:r>
          </a:p>
          <a:p>
            <a:r>
              <a:rPr lang="en-US" dirty="0"/>
              <a:t>( Coinsurance % of Value of Property &gt; Value of Property)</a:t>
            </a:r>
          </a:p>
          <a:p>
            <a:endParaRPr lang="en-US" dirty="0"/>
          </a:p>
        </p:txBody>
      </p:sp>
      <p:sp>
        <p:nvSpPr>
          <p:cNvPr id="3" name="TextBox 2"/>
          <p:cNvSpPr txBox="1"/>
          <p:nvPr/>
        </p:nvSpPr>
        <p:spPr>
          <a:xfrm>
            <a:off x="584200" y="259318"/>
            <a:ext cx="5105400" cy="461665"/>
          </a:xfrm>
          <a:prstGeom prst="rect">
            <a:avLst/>
          </a:prstGeom>
          <a:noFill/>
        </p:spPr>
        <p:txBody>
          <a:bodyPr wrap="square" rtlCol="0">
            <a:spAutoFit/>
          </a:bodyPr>
          <a:lstStyle/>
          <a:p>
            <a:r>
              <a:rPr lang="en-US" sz="2400" dirty="0">
                <a:solidFill>
                  <a:schemeClr val="bg1"/>
                </a:solidFill>
              </a:rPr>
              <a:t>How does it work?</a:t>
            </a:r>
          </a:p>
        </p:txBody>
      </p:sp>
      <p:sp>
        <p:nvSpPr>
          <p:cNvPr id="4" name="Double Bracket 3"/>
          <p:cNvSpPr/>
          <p:nvPr/>
        </p:nvSpPr>
        <p:spPr>
          <a:xfrm>
            <a:off x="1930400" y="1943100"/>
            <a:ext cx="3759200" cy="914400"/>
          </a:xfrm>
          <a:prstGeom prst="bracketPair">
            <a:avLst/>
          </a:prstGeom>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Double Brace 4"/>
          <p:cNvSpPr/>
          <p:nvPr/>
        </p:nvSpPr>
        <p:spPr>
          <a:xfrm>
            <a:off x="1676400" y="1917700"/>
            <a:ext cx="4889500" cy="1295400"/>
          </a:xfrm>
          <a:prstGeom prst="bracePair">
            <a:avLst/>
          </a:prstGeom>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6" name="Picture 5">
            <a:extLst>
              <a:ext uri="{FF2B5EF4-FFF2-40B4-BE49-F238E27FC236}">
                <a16:creationId xmlns:a16="http://schemas.microsoft.com/office/drawing/2014/main" id="{63CD435F-4A3B-4679-BB25-F07D57E9838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7" name="TextBox 6">
            <a:extLst>
              <a:ext uri="{FF2B5EF4-FFF2-40B4-BE49-F238E27FC236}">
                <a16:creationId xmlns:a16="http://schemas.microsoft.com/office/drawing/2014/main" id="{FF2A7EA8-50D5-4421-9061-58397F2D9F91}"/>
              </a:ext>
            </a:extLst>
          </p:cNvPr>
          <p:cNvSpPr txBox="1"/>
          <p:nvPr/>
        </p:nvSpPr>
        <p:spPr>
          <a:xfrm>
            <a:off x="123825" y="454997"/>
            <a:ext cx="5772150" cy="523220"/>
          </a:xfrm>
          <a:prstGeom prst="rect">
            <a:avLst/>
          </a:prstGeom>
          <a:noFill/>
        </p:spPr>
        <p:txBody>
          <a:bodyPr wrap="square" rtlCol="0">
            <a:spAutoFit/>
          </a:bodyPr>
          <a:lstStyle/>
          <a:p>
            <a:r>
              <a:rPr lang="en-US" sz="2800" dirty="0"/>
              <a:t>Coinsurance Clause</a:t>
            </a:r>
            <a:endParaRPr lang="en-IN" sz="2800" dirty="0"/>
          </a:p>
        </p:txBody>
      </p:sp>
    </p:spTree>
    <p:extLst>
      <p:ext uri="{BB962C8B-B14F-4D97-AF65-F5344CB8AC3E}">
        <p14:creationId xmlns:p14="http://schemas.microsoft.com/office/powerpoint/2010/main" val="519735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animEffect transition="in" filter="fade">
                                      <p:cBhvr>
                                        <p:cTn id="7" dur="1000"/>
                                        <p:tgtEl>
                                          <p:spTgt spid="2">
                                            <p:txEl>
                                              <p:pRg st="8" end="8"/>
                                            </p:txEl>
                                          </p:spTgt>
                                        </p:tgtEl>
                                      </p:cBhvr>
                                    </p:animEffect>
                                    <p:anim calcmode="lin" valueType="num">
                                      <p:cBhvr>
                                        <p:cTn id="8"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0" end="10"/>
                                            </p:txEl>
                                          </p:spTgt>
                                        </p:tgtEl>
                                        <p:attrNameLst>
                                          <p:attrName>style.visibility</p:attrName>
                                        </p:attrNameLst>
                                      </p:cBhvr>
                                      <p:to>
                                        <p:strVal val="visible"/>
                                      </p:to>
                                    </p:set>
                                    <p:animEffect transition="in" filter="fade">
                                      <p:cBhvr>
                                        <p:cTn id="14" dur="1000"/>
                                        <p:tgtEl>
                                          <p:spTgt spid="2">
                                            <p:txEl>
                                              <p:pRg st="10" end="10"/>
                                            </p:txEl>
                                          </p:spTgt>
                                        </p:tgtEl>
                                      </p:cBhvr>
                                    </p:animEffect>
                                    <p:anim calcmode="lin" valueType="num">
                                      <p:cBhvr>
                                        <p:cTn id="15"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0" end="1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
                                            <p:txEl>
                                              <p:pRg st="11" end="11"/>
                                            </p:txEl>
                                          </p:spTgt>
                                        </p:tgtEl>
                                        <p:attrNameLst>
                                          <p:attrName>style.visibility</p:attrName>
                                        </p:attrNameLst>
                                      </p:cBhvr>
                                      <p:to>
                                        <p:strVal val="visible"/>
                                      </p:to>
                                    </p:set>
                                    <p:animEffect transition="in" filter="fade">
                                      <p:cBhvr>
                                        <p:cTn id="19" dur="1000"/>
                                        <p:tgtEl>
                                          <p:spTgt spid="2">
                                            <p:txEl>
                                              <p:pRg st="11" end="11"/>
                                            </p:txEl>
                                          </p:spTgt>
                                        </p:tgtEl>
                                      </p:cBhvr>
                                    </p:animEffect>
                                    <p:anim calcmode="lin" valueType="num">
                                      <p:cBhvr>
                                        <p:cTn id="20"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11" end="11"/>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
                                            <p:txEl>
                                              <p:pRg st="12" end="12"/>
                                            </p:txEl>
                                          </p:spTgt>
                                        </p:tgtEl>
                                        <p:attrNameLst>
                                          <p:attrName>style.visibility</p:attrName>
                                        </p:attrNameLst>
                                      </p:cBhvr>
                                      <p:to>
                                        <p:strVal val="visible"/>
                                      </p:to>
                                    </p:set>
                                    <p:animEffect transition="in" filter="fade">
                                      <p:cBhvr>
                                        <p:cTn id="24" dur="1000"/>
                                        <p:tgtEl>
                                          <p:spTgt spid="2">
                                            <p:txEl>
                                              <p:pRg st="12" end="12"/>
                                            </p:txEl>
                                          </p:spTgt>
                                        </p:tgtEl>
                                      </p:cBhvr>
                                    </p:animEffect>
                                    <p:anim calcmode="lin" valueType="num">
                                      <p:cBhvr>
                                        <p:cTn id="25"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
                                            <p:txEl>
                                              <p:pRg st="14" end="14"/>
                                            </p:txEl>
                                          </p:spTgt>
                                        </p:tgtEl>
                                        <p:attrNameLst>
                                          <p:attrName>style.visibility</p:attrName>
                                        </p:attrNameLst>
                                      </p:cBhvr>
                                      <p:to>
                                        <p:strVal val="visible"/>
                                      </p:to>
                                    </p:set>
                                    <p:animEffect transition="in" filter="fade">
                                      <p:cBhvr>
                                        <p:cTn id="31" dur="1000"/>
                                        <p:tgtEl>
                                          <p:spTgt spid="2">
                                            <p:txEl>
                                              <p:pRg st="14" end="14"/>
                                            </p:txEl>
                                          </p:spTgt>
                                        </p:tgtEl>
                                      </p:cBhvr>
                                    </p:animEffect>
                                    <p:anim calcmode="lin" valueType="num">
                                      <p:cBhvr>
                                        <p:cTn id="32" dur="1000" fill="hold"/>
                                        <p:tgtEl>
                                          <p:spTgt spid="2">
                                            <p:txEl>
                                              <p:pRg st="14" end="14"/>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14" end="14"/>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2">
                                            <p:txEl>
                                              <p:pRg st="15" end="15"/>
                                            </p:txEl>
                                          </p:spTgt>
                                        </p:tgtEl>
                                        <p:attrNameLst>
                                          <p:attrName>style.visibility</p:attrName>
                                        </p:attrNameLst>
                                      </p:cBhvr>
                                      <p:to>
                                        <p:strVal val="visible"/>
                                      </p:to>
                                    </p:set>
                                    <p:animEffect transition="in" filter="fade">
                                      <p:cBhvr>
                                        <p:cTn id="36" dur="1000"/>
                                        <p:tgtEl>
                                          <p:spTgt spid="2">
                                            <p:txEl>
                                              <p:pRg st="15" end="15"/>
                                            </p:txEl>
                                          </p:spTgt>
                                        </p:tgtEl>
                                      </p:cBhvr>
                                    </p:animEffect>
                                    <p:anim calcmode="lin" valueType="num">
                                      <p:cBhvr>
                                        <p:cTn id="37" dur="1000" fill="hold"/>
                                        <p:tgtEl>
                                          <p:spTgt spid="2">
                                            <p:txEl>
                                              <p:pRg st="15" end="15"/>
                                            </p:txEl>
                                          </p:spTgt>
                                        </p:tgtEl>
                                        <p:attrNameLst>
                                          <p:attrName>ppt_x</p:attrName>
                                        </p:attrNameLst>
                                      </p:cBhvr>
                                      <p:tavLst>
                                        <p:tav tm="0">
                                          <p:val>
                                            <p:strVal val="#ppt_x"/>
                                          </p:val>
                                        </p:tav>
                                        <p:tav tm="100000">
                                          <p:val>
                                            <p:strVal val="#ppt_x"/>
                                          </p:val>
                                        </p:tav>
                                      </p:tavLst>
                                    </p:anim>
                                    <p:anim calcmode="lin" valueType="num">
                                      <p:cBhvr>
                                        <p:cTn id="38" dur="1000" fill="hold"/>
                                        <p:tgtEl>
                                          <p:spTgt spid="2">
                                            <p:txEl>
                                              <p:pRg st="15" end="15"/>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2">
                                            <p:txEl>
                                              <p:pRg st="16" end="16"/>
                                            </p:txEl>
                                          </p:spTgt>
                                        </p:tgtEl>
                                        <p:attrNameLst>
                                          <p:attrName>style.visibility</p:attrName>
                                        </p:attrNameLst>
                                      </p:cBhvr>
                                      <p:to>
                                        <p:strVal val="visible"/>
                                      </p:to>
                                    </p:set>
                                    <p:animEffect transition="in" filter="fade">
                                      <p:cBhvr>
                                        <p:cTn id="41" dur="1000"/>
                                        <p:tgtEl>
                                          <p:spTgt spid="2">
                                            <p:txEl>
                                              <p:pRg st="16" end="16"/>
                                            </p:txEl>
                                          </p:spTgt>
                                        </p:tgtEl>
                                      </p:cBhvr>
                                    </p:animEffect>
                                    <p:anim calcmode="lin" valueType="num">
                                      <p:cBhvr>
                                        <p:cTn id="42" dur="1000" fill="hold"/>
                                        <p:tgtEl>
                                          <p:spTgt spid="2">
                                            <p:txEl>
                                              <p:pRg st="16" end="16"/>
                                            </p:txEl>
                                          </p:spTgt>
                                        </p:tgtEl>
                                        <p:attrNameLst>
                                          <p:attrName>ppt_x</p:attrName>
                                        </p:attrNameLst>
                                      </p:cBhvr>
                                      <p:tavLst>
                                        <p:tav tm="0">
                                          <p:val>
                                            <p:strVal val="#ppt_x"/>
                                          </p:val>
                                        </p:tav>
                                        <p:tav tm="100000">
                                          <p:val>
                                            <p:strVal val="#ppt_x"/>
                                          </p:val>
                                        </p:tav>
                                      </p:tavLst>
                                    </p:anim>
                                    <p:anim calcmode="lin" valueType="num">
                                      <p:cBhvr>
                                        <p:cTn id="43" dur="1000" fill="hold"/>
                                        <p:tgtEl>
                                          <p:spTgt spid="2">
                                            <p:txEl>
                                              <p:pRg st="16" end="1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75367" y="954698"/>
            <a:ext cx="8779933" cy="5632311"/>
          </a:xfrm>
          <a:prstGeom prst="rect">
            <a:avLst/>
          </a:prstGeom>
          <a:noFill/>
        </p:spPr>
        <p:txBody>
          <a:bodyPr wrap="square" rtlCol="0">
            <a:spAutoFit/>
          </a:bodyPr>
          <a:lstStyle/>
          <a:p>
            <a:r>
              <a:rPr lang="en-US" b="1" u="sng" dirty="0"/>
              <a:t>Example 1 (Underinsurance) :</a:t>
            </a:r>
          </a:p>
          <a:p>
            <a:r>
              <a:rPr lang="en-US" b="1" u="sng" dirty="0"/>
              <a:t>Both penalty and deductible are applied</a:t>
            </a:r>
          </a:p>
          <a:p>
            <a:endParaRPr lang="en-US" dirty="0"/>
          </a:p>
          <a:p>
            <a:r>
              <a:rPr lang="en-US" dirty="0"/>
              <a:t>When: The value of the property is: $ 250,000</a:t>
            </a:r>
          </a:p>
          <a:p>
            <a:r>
              <a:rPr lang="en-US" dirty="0"/>
              <a:t> The Coinsurance percentage for it is: 80%</a:t>
            </a:r>
          </a:p>
          <a:p>
            <a:r>
              <a:rPr lang="en-US" dirty="0"/>
              <a:t> The Limit of Insurance for it is: $ 100,000</a:t>
            </a:r>
          </a:p>
          <a:p>
            <a:r>
              <a:rPr lang="en-US" dirty="0"/>
              <a:t> The Deductible is: $ 250</a:t>
            </a:r>
          </a:p>
          <a:p>
            <a:r>
              <a:rPr lang="en-US" dirty="0"/>
              <a:t> The amount of loss is: $ 40,000</a:t>
            </a:r>
          </a:p>
          <a:p>
            <a:endParaRPr lang="en-US" dirty="0"/>
          </a:p>
          <a:p>
            <a:r>
              <a:rPr lang="en-US" dirty="0"/>
              <a:t> </a:t>
            </a:r>
            <a:r>
              <a:rPr lang="en-US" u="sng" dirty="0"/>
              <a:t>Amount of Insurance carried  ‘ Did ‘ </a:t>
            </a:r>
          </a:p>
          <a:p>
            <a:r>
              <a:rPr lang="en-US" b="1" dirty="0"/>
              <a:t> </a:t>
            </a:r>
            <a:r>
              <a:rPr lang="en-US" dirty="0"/>
              <a:t>Amount of Insurance required ‘should’     x Loss  --  Deductible</a:t>
            </a:r>
          </a:p>
          <a:p>
            <a:endParaRPr lang="en-US" dirty="0"/>
          </a:p>
          <a:p>
            <a:endParaRPr lang="en-US" dirty="0"/>
          </a:p>
          <a:p>
            <a:endParaRPr lang="en-US" dirty="0"/>
          </a:p>
          <a:p>
            <a:r>
              <a:rPr lang="en-US" dirty="0"/>
              <a:t>        </a:t>
            </a:r>
            <a:r>
              <a:rPr lang="en-US" u="sng" dirty="0"/>
              <a:t>    100,000    </a:t>
            </a:r>
          </a:p>
          <a:p>
            <a:r>
              <a:rPr lang="en-US" dirty="0"/>
              <a:t>      80% of  250,000      x 40,000        --  250</a:t>
            </a:r>
          </a:p>
          <a:p>
            <a:endParaRPr lang="en-US" dirty="0"/>
          </a:p>
          <a:p>
            <a:r>
              <a:rPr lang="en-US" dirty="0"/>
              <a:t>= $ 19,750</a:t>
            </a:r>
          </a:p>
          <a:p>
            <a:r>
              <a:rPr lang="en-US" dirty="0"/>
              <a:t>We will pay no more than $19,750. The remaining $20,250 is not covered.</a:t>
            </a:r>
          </a:p>
          <a:p>
            <a:r>
              <a:rPr lang="en-US" dirty="0"/>
              <a:t> </a:t>
            </a:r>
          </a:p>
        </p:txBody>
      </p:sp>
      <p:sp>
        <p:nvSpPr>
          <p:cNvPr id="5" name="Double Bracket 4"/>
          <p:cNvSpPr/>
          <p:nvPr/>
        </p:nvSpPr>
        <p:spPr>
          <a:xfrm>
            <a:off x="2051958" y="4742264"/>
            <a:ext cx="1910443" cy="655319"/>
          </a:xfrm>
          <a:prstGeom prst="bracketPair">
            <a:avLst/>
          </a:prstGeom>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Double Brace 6"/>
          <p:cNvSpPr/>
          <p:nvPr/>
        </p:nvSpPr>
        <p:spPr>
          <a:xfrm>
            <a:off x="1813076" y="4731378"/>
            <a:ext cx="3330424" cy="784859"/>
          </a:xfrm>
          <a:prstGeom prst="bracePair">
            <a:avLst/>
          </a:prstGeom>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Double Bracket 7"/>
          <p:cNvSpPr/>
          <p:nvPr/>
        </p:nvSpPr>
        <p:spPr>
          <a:xfrm>
            <a:off x="1813076" y="3299765"/>
            <a:ext cx="3901924" cy="914400"/>
          </a:xfrm>
          <a:prstGeom prst="bracketPair">
            <a:avLst/>
          </a:prstGeom>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 name="Double Brace 8"/>
          <p:cNvSpPr/>
          <p:nvPr/>
        </p:nvSpPr>
        <p:spPr>
          <a:xfrm>
            <a:off x="1536700" y="3299765"/>
            <a:ext cx="5029200" cy="914400"/>
          </a:xfrm>
          <a:prstGeom prst="bracePair">
            <a:avLst/>
          </a:prstGeom>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10" name="Picture 9">
            <a:extLst>
              <a:ext uri="{FF2B5EF4-FFF2-40B4-BE49-F238E27FC236}">
                <a16:creationId xmlns:a16="http://schemas.microsoft.com/office/drawing/2014/main" id="{8F5F8B0F-5BC7-48A6-9697-8111AF6FCCA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11" name="TextBox 10">
            <a:extLst>
              <a:ext uri="{FF2B5EF4-FFF2-40B4-BE49-F238E27FC236}">
                <a16:creationId xmlns:a16="http://schemas.microsoft.com/office/drawing/2014/main" id="{D6C5023F-0F10-42AE-A4B9-C3A95FB329E6}"/>
              </a:ext>
            </a:extLst>
          </p:cNvPr>
          <p:cNvSpPr txBox="1"/>
          <p:nvPr/>
        </p:nvSpPr>
        <p:spPr>
          <a:xfrm>
            <a:off x="198965" y="431478"/>
            <a:ext cx="6096000" cy="523220"/>
          </a:xfrm>
          <a:prstGeom prst="rect">
            <a:avLst/>
          </a:prstGeom>
          <a:noFill/>
        </p:spPr>
        <p:txBody>
          <a:bodyPr wrap="square">
            <a:spAutoFit/>
          </a:bodyPr>
          <a:lstStyle/>
          <a:p>
            <a:r>
              <a:rPr lang="en-US" sz="2800" b="1" dirty="0"/>
              <a:t>Coinsurance in case of Underinsurance </a:t>
            </a:r>
            <a:endParaRPr lang="en-IN" sz="2800" dirty="0"/>
          </a:p>
        </p:txBody>
      </p:sp>
    </p:spTree>
    <p:extLst>
      <p:ext uri="{BB962C8B-B14F-4D97-AF65-F5344CB8AC3E}">
        <p14:creationId xmlns:p14="http://schemas.microsoft.com/office/powerpoint/2010/main" val="1776936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21859" y="1061985"/>
            <a:ext cx="10126436" cy="5632311"/>
          </a:xfrm>
          <a:prstGeom prst="rect">
            <a:avLst/>
          </a:prstGeom>
          <a:noFill/>
        </p:spPr>
        <p:txBody>
          <a:bodyPr wrap="square" rtlCol="0">
            <a:spAutoFit/>
          </a:bodyPr>
          <a:lstStyle/>
          <a:p>
            <a:r>
              <a:rPr lang="en-US" b="1" u="sng" dirty="0"/>
              <a:t>Example 2: (Adequate Insurance)	:</a:t>
            </a:r>
          </a:p>
          <a:p>
            <a:r>
              <a:rPr lang="en-US" b="1" u="sng" dirty="0"/>
              <a:t>No Penalty is applied, just the deductible is deducted.</a:t>
            </a:r>
          </a:p>
          <a:p>
            <a:endParaRPr lang="en-US" dirty="0"/>
          </a:p>
          <a:p>
            <a:r>
              <a:rPr lang="en-US" dirty="0"/>
              <a:t> When: The value of the property is: $ 250,000</a:t>
            </a:r>
          </a:p>
          <a:p>
            <a:r>
              <a:rPr lang="en-US" dirty="0"/>
              <a:t> The Coinsurance percentage  for it is: 80%</a:t>
            </a:r>
          </a:p>
          <a:p>
            <a:r>
              <a:rPr lang="en-US" dirty="0"/>
              <a:t> The Limit of Insurance for it is: $ 200,000</a:t>
            </a:r>
          </a:p>
          <a:p>
            <a:r>
              <a:rPr lang="en-US" dirty="0"/>
              <a:t> The Deductible is: $ 250</a:t>
            </a:r>
          </a:p>
          <a:p>
            <a:r>
              <a:rPr lang="en-US" dirty="0"/>
              <a:t> The amount of loss is: $ 40,000</a:t>
            </a:r>
          </a:p>
          <a:p>
            <a:r>
              <a:rPr lang="en-US" dirty="0"/>
              <a:t>    </a:t>
            </a:r>
          </a:p>
          <a:p>
            <a:r>
              <a:rPr lang="en-US" dirty="0"/>
              <a:t>      </a:t>
            </a:r>
            <a:r>
              <a:rPr lang="en-US" u="sng" dirty="0"/>
              <a:t>Amount of Insurance carried  ‘ Did ‘ </a:t>
            </a:r>
          </a:p>
          <a:p>
            <a:r>
              <a:rPr lang="en-US" b="1" dirty="0"/>
              <a:t>      </a:t>
            </a:r>
            <a:r>
              <a:rPr lang="en-US" dirty="0"/>
              <a:t>Amount of Insurance required ‘should’   x Loss  --  Deductible</a:t>
            </a:r>
          </a:p>
          <a:p>
            <a:endParaRPr lang="en-US" dirty="0"/>
          </a:p>
          <a:p>
            <a:r>
              <a:rPr lang="en-US" dirty="0"/>
              <a:t> </a:t>
            </a:r>
          </a:p>
          <a:p>
            <a:r>
              <a:rPr lang="en-US" dirty="0"/>
              <a:t>    </a:t>
            </a:r>
            <a:r>
              <a:rPr lang="en-US" u="sng" dirty="0"/>
              <a:t>200,000</a:t>
            </a:r>
          </a:p>
          <a:p>
            <a:r>
              <a:rPr lang="en-US" dirty="0"/>
              <a:t>    200,000        x    40,000     --  250  = 40,000 – 250 =</a:t>
            </a:r>
            <a:r>
              <a:rPr lang="en-US" b="1" dirty="0"/>
              <a:t> $39,750 </a:t>
            </a:r>
          </a:p>
          <a:p>
            <a:endParaRPr lang="en-US" b="1" dirty="0"/>
          </a:p>
          <a:p>
            <a:r>
              <a:rPr lang="en-US" dirty="0"/>
              <a:t>The minimum amount of insurance to meet your  Coinsurance requirement is 80% of $250,000 i.e. $200,000 . In this example the Limit of Insurance in this example is adequate ( $ 200,000), so no penalty applies. Just the deductible is deducted out of the loss and the amount is paid.</a:t>
            </a:r>
          </a:p>
          <a:p>
            <a:r>
              <a:rPr lang="en-US" dirty="0"/>
              <a:t>So, 40,000 amount of loss minus the deductible of $250 i.e. $39,750 will be paid.</a:t>
            </a:r>
          </a:p>
        </p:txBody>
      </p:sp>
      <p:sp>
        <p:nvSpPr>
          <p:cNvPr id="7" name="Double Bracket 6"/>
          <p:cNvSpPr/>
          <p:nvPr/>
        </p:nvSpPr>
        <p:spPr>
          <a:xfrm>
            <a:off x="1581455" y="4674131"/>
            <a:ext cx="990296" cy="559639"/>
          </a:xfrm>
          <a:prstGeom prst="bracketPair">
            <a:avLst/>
          </a:prstGeom>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8" name="Picture 7"/>
          <p:cNvPicPr>
            <a:picLocks noChangeAspect="1"/>
          </p:cNvPicPr>
          <p:nvPr/>
        </p:nvPicPr>
        <p:blipFill>
          <a:blip r:embed="rId2"/>
          <a:stretch>
            <a:fillRect/>
          </a:stretch>
        </p:blipFill>
        <p:spPr>
          <a:xfrm>
            <a:off x="1321859" y="4600131"/>
            <a:ext cx="2621187" cy="711358"/>
          </a:xfrm>
          <a:prstGeom prst="rect">
            <a:avLst/>
          </a:prstGeom>
        </p:spPr>
      </p:pic>
      <p:sp>
        <p:nvSpPr>
          <p:cNvPr id="9" name="Double Bracket 8"/>
          <p:cNvSpPr/>
          <p:nvPr/>
        </p:nvSpPr>
        <p:spPr>
          <a:xfrm>
            <a:off x="1687286" y="3429000"/>
            <a:ext cx="3683000" cy="850900"/>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ight Brace 9"/>
          <p:cNvSpPr/>
          <p:nvPr/>
        </p:nvSpPr>
        <p:spPr>
          <a:xfrm>
            <a:off x="5858668" y="3429000"/>
            <a:ext cx="237332" cy="962452"/>
          </a:xfrm>
          <a:prstGeom prst="rightBrace">
            <a:avLst>
              <a:gd name="adj1" fmla="val 69525"/>
              <a:gd name="adj2" fmla="val 6361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Left Brace 12"/>
          <p:cNvSpPr/>
          <p:nvPr/>
        </p:nvSpPr>
        <p:spPr>
          <a:xfrm>
            <a:off x="1234242" y="3344268"/>
            <a:ext cx="482599" cy="96245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6018850F-3305-40E8-9CAB-0DE2770191C6}"/>
              </a:ext>
            </a:extLst>
          </p:cNvPr>
          <p:cNvSpPr txBox="1"/>
          <p:nvPr/>
        </p:nvSpPr>
        <p:spPr>
          <a:xfrm>
            <a:off x="77560" y="468869"/>
            <a:ext cx="9237889" cy="523220"/>
          </a:xfrm>
          <a:prstGeom prst="rect">
            <a:avLst/>
          </a:prstGeom>
          <a:noFill/>
        </p:spPr>
        <p:txBody>
          <a:bodyPr wrap="square">
            <a:spAutoFit/>
          </a:bodyPr>
          <a:lstStyle/>
          <a:p>
            <a:r>
              <a:rPr lang="en-US" sz="2800" b="1" dirty="0"/>
              <a:t>Coinsurance in case of Adequate insurance </a:t>
            </a:r>
            <a:endParaRPr lang="en-IN" sz="2800" dirty="0"/>
          </a:p>
        </p:txBody>
      </p:sp>
      <p:pic>
        <p:nvPicPr>
          <p:cNvPr id="12" name="Picture 11">
            <a:extLst>
              <a:ext uri="{FF2B5EF4-FFF2-40B4-BE49-F238E27FC236}">
                <a16:creationId xmlns:a16="http://schemas.microsoft.com/office/drawing/2014/main" id="{1E178010-AAAB-4813-97FE-0C4568FD1C2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Tree>
    <p:extLst>
      <p:ext uri="{BB962C8B-B14F-4D97-AF65-F5344CB8AC3E}">
        <p14:creationId xmlns:p14="http://schemas.microsoft.com/office/powerpoint/2010/main" val="1783485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BBAD45-B779-41CE-A42D-A314F43B606D}"/>
              </a:ext>
            </a:extLst>
          </p:cNvPr>
          <p:cNvSpPr txBox="1"/>
          <p:nvPr/>
        </p:nvSpPr>
        <p:spPr>
          <a:xfrm>
            <a:off x="2494362" y="3160904"/>
            <a:ext cx="9323622" cy="2082237"/>
          </a:xfrm>
          <a:prstGeom prst="rect">
            <a:avLst/>
          </a:prstGeom>
          <a:solidFill>
            <a:schemeClr val="accent3">
              <a:lumMod val="20000"/>
              <a:lumOff val="80000"/>
            </a:schemeClr>
          </a:solidFill>
          <a:ln>
            <a:solidFill>
              <a:srgbClr val="0000FF"/>
            </a:solidFill>
          </a:ln>
          <a:scene3d>
            <a:camera prst="orthographicFront"/>
            <a:lightRig rig="threePt" dir="t"/>
          </a:scene3d>
          <a:sp3d>
            <a:bevelT w="139700" h="139700" prst="divot"/>
          </a:sp3d>
        </p:spPr>
        <p:txBody>
          <a:bodyPr wrap="square">
            <a:spAutoFit/>
          </a:bodyPr>
          <a:lstStyle/>
          <a:p>
            <a:pPr>
              <a:spcBef>
                <a:spcPct val="20000"/>
              </a:spcBef>
              <a:buClr>
                <a:schemeClr val="tx1"/>
              </a:buClr>
              <a:defRPr/>
            </a:pPr>
            <a:endParaRPr lang="en-US" dirty="0">
              <a:solidFill>
                <a:srgbClr val="000000"/>
              </a:solidFill>
              <a:latin typeface="Segoe UI Light" panose="020B0502040204020203" pitchFamily="34" charset="0"/>
            </a:endParaRPr>
          </a:p>
          <a:p>
            <a:pPr algn="l"/>
            <a:r>
              <a:rPr lang="en-IN" b="0" i="0" dirty="0">
                <a:effectLst/>
                <a:latin typeface="Roboto" panose="02000000000000000000" pitchFamily="2" charset="0"/>
              </a:rPr>
              <a:t>Business Owners Policy Explained : </a:t>
            </a:r>
            <a:r>
              <a:rPr lang="en-IN" b="0" i="0" dirty="0">
                <a:effectLst/>
                <a:latin typeface="Roboto" panose="02000000000000000000" pitchFamily="2" charset="0"/>
                <a:hlinkClick r:id="rId2"/>
              </a:rPr>
              <a:t>https://youtu.be/cmOLxrScsB4</a:t>
            </a:r>
            <a:endParaRPr lang="en-IN" b="0" i="0" dirty="0">
              <a:effectLst/>
              <a:latin typeface="Roboto" panose="02000000000000000000" pitchFamily="2" charset="0"/>
            </a:endParaRPr>
          </a:p>
          <a:p>
            <a:r>
              <a:rPr lang="en-IN" b="0" i="0" dirty="0">
                <a:effectLst/>
                <a:latin typeface="Roboto" panose="02000000000000000000" pitchFamily="2" charset="0"/>
              </a:rPr>
              <a:t>Business Owners Policy Preview : </a:t>
            </a:r>
            <a:r>
              <a:rPr lang="en-IN" b="0" i="0" dirty="0">
                <a:effectLst/>
                <a:latin typeface="Roboto" panose="02000000000000000000" pitchFamily="2" charset="0"/>
                <a:hlinkClick r:id="rId3"/>
              </a:rPr>
              <a:t>https://youtu.be/dGMFqu8hrkM</a:t>
            </a:r>
            <a:endParaRPr lang="en-IN" b="0" i="0" dirty="0">
              <a:effectLst/>
              <a:latin typeface="Roboto" panose="02000000000000000000" pitchFamily="2" charset="0"/>
            </a:endParaRPr>
          </a:p>
          <a:p>
            <a:r>
              <a:rPr lang="en-IN" b="0" i="0" dirty="0">
                <a:effectLst/>
                <a:latin typeface="Roboto" panose="02000000000000000000" pitchFamily="2" charset="0"/>
                <a:hlinkClick r:id="rId4">
                  <a:extLst>
                    <a:ext uri="{A12FA001-AC4F-418D-AE19-62706E023703}">
                      <ahyp:hlinkClr xmlns:ahyp="http://schemas.microsoft.com/office/drawing/2018/hyperlinkcolor" val="tx"/>
                    </a:ext>
                  </a:extLst>
                </a:hlinkClick>
              </a:rPr>
              <a:t>BOP Details: </a:t>
            </a:r>
            <a:r>
              <a:rPr lang="en-IN" b="0" i="0" dirty="0">
                <a:solidFill>
                  <a:srgbClr val="0000FF"/>
                </a:solidFill>
                <a:effectLst/>
                <a:latin typeface="Roboto" panose="02000000000000000000" pitchFamily="2" charset="0"/>
                <a:hlinkClick r:id="rId4">
                  <a:extLst>
                    <a:ext uri="{A12FA001-AC4F-418D-AE19-62706E023703}">
                      <ahyp:hlinkClr xmlns:ahyp="http://schemas.microsoft.com/office/drawing/2018/hyperlinkcolor" val="tx"/>
                    </a:ext>
                  </a:extLst>
                </a:hlinkClick>
              </a:rPr>
              <a:t>https://www.thehartford.com/business-owners-policy</a:t>
            </a:r>
            <a:endParaRPr lang="en-IN" dirty="0">
              <a:latin typeface="Roboto" panose="02000000000000000000" pitchFamily="2" charset="0"/>
            </a:endParaRPr>
          </a:p>
          <a:p>
            <a:endParaRPr lang="en-IN" b="0" i="0" dirty="0">
              <a:effectLst/>
              <a:latin typeface="Roboto" panose="02000000000000000000" pitchFamily="2" charset="0"/>
            </a:endParaRPr>
          </a:p>
          <a:p>
            <a:endParaRPr lang="en-IN" b="0" i="0" dirty="0">
              <a:effectLst/>
              <a:latin typeface="Roboto" panose="02000000000000000000" pitchFamily="2" charset="0"/>
            </a:endParaRPr>
          </a:p>
          <a:p>
            <a:pPr>
              <a:spcBef>
                <a:spcPct val="20000"/>
              </a:spcBef>
              <a:buClr>
                <a:schemeClr val="tx1"/>
              </a:buClr>
              <a:defRPr/>
            </a:pPr>
            <a:endParaRPr lang="en-US" dirty="0">
              <a:latin typeface="Segoe UI Light" panose="020B0502040204020203" pitchFamily="34" charset="0"/>
            </a:endParaRPr>
          </a:p>
        </p:txBody>
      </p:sp>
      <p:pic>
        <p:nvPicPr>
          <p:cNvPr id="5" name="Picture 4">
            <a:extLst>
              <a:ext uri="{FF2B5EF4-FFF2-40B4-BE49-F238E27FC236}">
                <a16:creationId xmlns:a16="http://schemas.microsoft.com/office/drawing/2014/main" id="{0257BA28-B7E3-48B9-84B5-FC9EC4CC57B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6" name="Callout: Right Arrow 5">
            <a:extLst>
              <a:ext uri="{FF2B5EF4-FFF2-40B4-BE49-F238E27FC236}">
                <a16:creationId xmlns:a16="http://schemas.microsoft.com/office/drawing/2014/main" id="{971C9511-D4A5-47B9-B1D0-48AD5EA0EAA9}"/>
              </a:ext>
            </a:extLst>
          </p:cNvPr>
          <p:cNvSpPr/>
          <p:nvPr/>
        </p:nvSpPr>
        <p:spPr>
          <a:xfrm>
            <a:off x="570884" y="1774808"/>
            <a:ext cx="1766977" cy="4378341"/>
          </a:xfrm>
          <a:prstGeom prst="rightArrowCallout">
            <a:avLst/>
          </a:prstGeom>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74" dirty="0"/>
              <a:t>Visit without fail</a:t>
            </a:r>
            <a:endParaRPr lang="en-IN" sz="1974" dirty="0"/>
          </a:p>
        </p:txBody>
      </p:sp>
      <p:sp>
        <p:nvSpPr>
          <p:cNvPr id="7" name="TextBox 6">
            <a:extLst>
              <a:ext uri="{FF2B5EF4-FFF2-40B4-BE49-F238E27FC236}">
                <a16:creationId xmlns:a16="http://schemas.microsoft.com/office/drawing/2014/main" id="{85BBE90D-C6F8-4C70-8495-C4B1EEF932B7}"/>
              </a:ext>
            </a:extLst>
          </p:cNvPr>
          <p:cNvSpPr txBox="1"/>
          <p:nvPr/>
        </p:nvSpPr>
        <p:spPr>
          <a:xfrm>
            <a:off x="-18175" y="228748"/>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454" dirty="0">
                <a:solidFill>
                  <a:schemeClr val="tx1"/>
                </a:solidFill>
                <a:latin typeface="Segoe UI Semibold" panose="020B0702040204020203" pitchFamily="34" charset="0"/>
                <a:cs typeface="BrowalliaUPC" panose="020B0604020202020204" pitchFamily="34" charset="-34"/>
              </a:rPr>
              <a:t>Do Watch…</a:t>
            </a:r>
          </a:p>
        </p:txBody>
      </p:sp>
    </p:spTree>
    <p:extLst>
      <p:ext uri="{BB962C8B-B14F-4D97-AF65-F5344CB8AC3E}">
        <p14:creationId xmlns:p14="http://schemas.microsoft.com/office/powerpoint/2010/main" val="3978384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95430D-6DB1-4D12-A01E-927942B8E14D}"/>
              </a:ext>
            </a:extLst>
          </p:cNvPr>
          <p:cNvSpPr txBox="1"/>
          <p:nvPr/>
        </p:nvSpPr>
        <p:spPr>
          <a:xfrm>
            <a:off x="437321" y="834887"/>
            <a:ext cx="5327374" cy="6494085"/>
          </a:xfrm>
          <a:prstGeom prst="rect">
            <a:avLst/>
          </a:prstGeom>
          <a:noFill/>
        </p:spPr>
        <p:txBody>
          <a:bodyPr wrap="square" rtlCol="0">
            <a:spAutoFit/>
          </a:bodyPr>
          <a:lstStyle/>
          <a:p>
            <a:r>
              <a:rPr lang="en-US" sz="3200" b="1" dirty="0">
                <a:solidFill>
                  <a:srgbClr val="FF0000"/>
                </a:solidFill>
              </a:rPr>
              <a:t>Insurer</a:t>
            </a:r>
          </a:p>
          <a:p>
            <a:pPr marL="342900" indent="-342900">
              <a:buAutoNum type="arabicPeriod"/>
            </a:pPr>
            <a:r>
              <a:rPr lang="en-US" sz="2400" dirty="0">
                <a:solidFill>
                  <a:srgbClr val="FF0000"/>
                </a:solidFill>
              </a:rPr>
              <a:t>Business Model</a:t>
            </a:r>
          </a:p>
          <a:p>
            <a:pPr marL="342900" indent="-342900">
              <a:buAutoNum type="arabicPeriod"/>
            </a:pPr>
            <a:r>
              <a:rPr lang="en-US" sz="2400" dirty="0">
                <a:solidFill>
                  <a:srgbClr val="FF0000"/>
                </a:solidFill>
              </a:rPr>
              <a:t>Business Structure</a:t>
            </a:r>
          </a:p>
          <a:p>
            <a:pPr marL="342900" indent="-342900">
              <a:buAutoNum type="arabicPeriod"/>
            </a:pPr>
            <a:r>
              <a:rPr lang="en-US" sz="2400" dirty="0">
                <a:solidFill>
                  <a:srgbClr val="FF0000"/>
                </a:solidFill>
              </a:rPr>
              <a:t>Employee Size of the business</a:t>
            </a:r>
          </a:p>
          <a:p>
            <a:pPr marL="342900" indent="-342900">
              <a:buAutoNum type="arabicPeriod"/>
            </a:pPr>
            <a:r>
              <a:rPr lang="en-US" sz="2400" dirty="0">
                <a:solidFill>
                  <a:srgbClr val="FF0000"/>
                </a:solidFill>
              </a:rPr>
              <a:t>Turnover</a:t>
            </a:r>
          </a:p>
          <a:p>
            <a:pPr marL="342900" indent="-342900">
              <a:buAutoNum type="arabicPeriod"/>
            </a:pPr>
            <a:r>
              <a:rPr lang="en-US" sz="2400" dirty="0">
                <a:solidFill>
                  <a:srgbClr val="FF0000"/>
                </a:solidFill>
              </a:rPr>
              <a:t>Location? Any Branches?</a:t>
            </a:r>
          </a:p>
          <a:p>
            <a:pPr marL="342900" indent="-342900">
              <a:buAutoNum type="arabicPeriod"/>
            </a:pPr>
            <a:r>
              <a:rPr lang="en-US" sz="2400" dirty="0">
                <a:solidFill>
                  <a:srgbClr val="FF0000"/>
                </a:solidFill>
              </a:rPr>
              <a:t>Protections looking for</a:t>
            </a:r>
          </a:p>
          <a:p>
            <a:pPr marL="342900" indent="-342900">
              <a:buAutoNum type="arabicPeriod"/>
            </a:pPr>
            <a:r>
              <a:rPr lang="en-US" sz="2400" dirty="0">
                <a:solidFill>
                  <a:srgbClr val="FF0000"/>
                </a:solidFill>
              </a:rPr>
              <a:t>Any other insurance</a:t>
            </a:r>
          </a:p>
          <a:p>
            <a:pPr marL="342900" indent="-342900">
              <a:buAutoNum type="arabicPeriod"/>
            </a:pPr>
            <a:r>
              <a:rPr lang="en-US" sz="2400" dirty="0">
                <a:solidFill>
                  <a:srgbClr val="FF0000"/>
                </a:solidFill>
              </a:rPr>
              <a:t>Own/ leased/ rented place</a:t>
            </a:r>
          </a:p>
          <a:p>
            <a:pPr marL="342900" indent="-342900">
              <a:buAutoNum type="arabicPeriod"/>
            </a:pPr>
            <a:r>
              <a:rPr lang="en-US" sz="2400" dirty="0">
                <a:solidFill>
                  <a:srgbClr val="FF0000"/>
                </a:solidFill>
              </a:rPr>
              <a:t>Claim history</a:t>
            </a:r>
          </a:p>
          <a:p>
            <a:pPr marL="342900" indent="-342900">
              <a:buAutoNum type="arabicPeriod"/>
            </a:pPr>
            <a:r>
              <a:rPr lang="en-US" sz="2400" dirty="0">
                <a:solidFill>
                  <a:srgbClr val="FF0000"/>
                </a:solidFill>
              </a:rPr>
              <a:t>Span of the policy needed</a:t>
            </a:r>
          </a:p>
          <a:p>
            <a:pPr marL="342900" indent="-342900">
              <a:buAutoNum type="arabicPeriod"/>
            </a:pPr>
            <a:r>
              <a:rPr lang="en-US" sz="2400" dirty="0">
                <a:solidFill>
                  <a:srgbClr val="FF0000"/>
                </a:solidFill>
              </a:rPr>
              <a:t>Equipment</a:t>
            </a:r>
          </a:p>
          <a:p>
            <a:pPr marL="342900" indent="-342900">
              <a:buAutoNum type="arabicPeriod"/>
            </a:pPr>
            <a:r>
              <a:rPr lang="en-US" sz="2400" dirty="0">
                <a:solidFill>
                  <a:srgbClr val="FF0000"/>
                </a:solidFill>
              </a:rPr>
              <a:t>Warehouse</a:t>
            </a:r>
          </a:p>
          <a:p>
            <a:pPr marL="342900" indent="-342900">
              <a:buAutoNum type="arabicPeriod"/>
            </a:pPr>
            <a:r>
              <a:rPr lang="en-US" sz="2400" dirty="0">
                <a:solidFill>
                  <a:srgbClr val="FF0000"/>
                </a:solidFill>
              </a:rPr>
              <a:t>Fire station distance</a:t>
            </a:r>
          </a:p>
          <a:p>
            <a:pPr marL="342900" indent="-342900">
              <a:buAutoNum type="arabicPeriod"/>
            </a:pPr>
            <a:r>
              <a:rPr lang="en-US" sz="2400" dirty="0">
                <a:solidFill>
                  <a:srgbClr val="FF0000"/>
                </a:solidFill>
              </a:rPr>
              <a:t>Any litigation</a:t>
            </a:r>
          </a:p>
          <a:p>
            <a:pPr marL="342900" indent="-342900">
              <a:buAutoNum type="arabicPeriod"/>
            </a:pPr>
            <a:r>
              <a:rPr lang="en-US" sz="2400" dirty="0">
                <a:solidFill>
                  <a:srgbClr val="FF0000"/>
                </a:solidFill>
              </a:rPr>
              <a:t>Partnership</a:t>
            </a:r>
          </a:p>
          <a:p>
            <a:endParaRPr lang="en-US" sz="2400" b="1" dirty="0">
              <a:solidFill>
                <a:srgbClr val="FF0000"/>
              </a:solidFill>
            </a:endParaRPr>
          </a:p>
        </p:txBody>
      </p:sp>
      <p:sp>
        <p:nvSpPr>
          <p:cNvPr id="3" name="TextBox 2">
            <a:extLst>
              <a:ext uri="{FF2B5EF4-FFF2-40B4-BE49-F238E27FC236}">
                <a16:creationId xmlns:a16="http://schemas.microsoft.com/office/drawing/2014/main" id="{D947E872-0EE0-47C8-B88A-1B212AF8E578}"/>
              </a:ext>
            </a:extLst>
          </p:cNvPr>
          <p:cNvSpPr txBox="1"/>
          <p:nvPr/>
        </p:nvSpPr>
        <p:spPr>
          <a:xfrm>
            <a:off x="6440558" y="1046922"/>
            <a:ext cx="5579164" cy="5016758"/>
          </a:xfrm>
          <a:prstGeom prst="rect">
            <a:avLst/>
          </a:prstGeom>
          <a:noFill/>
        </p:spPr>
        <p:txBody>
          <a:bodyPr wrap="square" rtlCol="0">
            <a:spAutoFit/>
          </a:bodyPr>
          <a:lstStyle/>
          <a:p>
            <a:endParaRPr lang="en-US" sz="2400" b="1" dirty="0">
              <a:solidFill>
                <a:srgbClr val="FF0000"/>
              </a:solidFill>
            </a:endParaRPr>
          </a:p>
          <a:p>
            <a:r>
              <a:rPr lang="en-US" sz="2400" dirty="0">
                <a:solidFill>
                  <a:srgbClr val="FF0000"/>
                </a:solidFill>
              </a:rPr>
              <a:t>16. Loans?</a:t>
            </a:r>
          </a:p>
          <a:p>
            <a:r>
              <a:rPr lang="en-US" sz="2400" dirty="0">
                <a:solidFill>
                  <a:srgbClr val="FF0000"/>
                </a:solidFill>
              </a:rPr>
              <a:t>17.No of years in the business?</a:t>
            </a:r>
          </a:p>
          <a:p>
            <a:r>
              <a:rPr lang="en-US" sz="2400" dirty="0">
                <a:solidFill>
                  <a:srgbClr val="FF0000"/>
                </a:solidFill>
              </a:rPr>
              <a:t>18. License</a:t>
            </a:r>
          </a:p>
          <a:p>
            <a:r>
              <a:rPr lang="en-US" sz="2400" dirty="0">
                <a:solidFill>
                  <a:srgbClr val="FF0000"/>
                </a:solidFill>
              </a:rPr>
              <a:t>19. Stock exchange</a:t>
            </a:r>
          </a:p>
          <a:p>
            <a:r>
              <a:rPr lang="en-US" sz="2400" dirty="0">
                <a:solidFill>
                  <a:srgbClr val="FF0000"/>
                </a:solidFill>
              </a:rPr>
              <a:t>20. Safety Measures</a:t>
            </a:r>
          </a:p>
          <a:p>
            <a:r>
              <a:rPr lang="en-US" sz="2400" dirty="0">
                <a:solidFill>
                  <a:srgbClr val="FF0000"/>
                </a:solidFill>
              </a:rPr>
              <a:t>21.Limits of coverage needed?</a:t>
            </a:r>
          </a:p>
          <a:p>
            <a:r>
              <a:rPr lang="en-US" sz="2400" dirty="0">
                <a:solidFill>
                  <a:srgbClr val="FF0000"/>
                </a:solidFill>
              </a:rPr>
              <a:t>22. Area covered for business</a:t>
            </a:r>
          </a:p>
          <a:p>
            <a:r>
              <a:rPr lang="en-US" sz="2400" dirty="0">
                <a:solidFill>
                  <a:srgbClr val="FF0000"/>
                </a:solidFill>
              </a:rPr>
              <a:t>23. Any constraint – affordability of premium??</a:t>
            </a:r>
          </a:p>
          <a:p>
            <a:r>
              <a:rPr lang="en-US" sz="2400" dirty="0">
                <a:solidFill>
                  <a:srgbClr val="FF0000"/>
                </a:solidFill>
              </a:rPr>
              <a:t>24. Vehicle involved?</a:t>
            </a:r>
          </a:p>
          <a:p>
            <a:pPr marL="342900" indent="-342900">
              <a:buAutoNum type="arabicPeriod"/>
            </a:pPr>
            <a:endParaRPr lang="en-US" sz="2400" b="1" dirty="0">
              <a:solidFill>
                <a:srgbClr val="FF0000"/>
              </a:solidFill>
            </a:endParaRPr>
          </a:p>
          <a:p>
            <a:endParaRPr lang="en-US" sz="3200" b="1" dirty="0">
              <a:solidFill>
                <a:srgbClr val="FF0000"/>
              </a:solidFill>
            </a:endParaRPr>
          </a:p>
        </p:txBody>
      </p:sp>
      <p:pic>
        <p:nvPicPr>
          <p:cNvPr id="4" name="Picture 3">
            <a:extLst>
              <a:ext uri="{FF2B5EF4-FFF2-40B4-BE49-F238E27FC236}">
                <a16:creationId xmlns:a16="http://schemas.microsoft.com/office/drawing/2014/main" id="{BF8248C4-5A60-4BBD-94BC-52E35F9975A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6" name="TextBox 5">
            <a:extLst>
              <a:ext uri="{FF2B5EF4-FFF2-40B4-BE49-F238E27FC236}">
                <a16:creationId xmlns:a16="http://schemas.microsoft.com/office/drawing/2014/main" id="{D274C293-1842-458C-8B34-78086D722DE8}"/>
              </a:ext>
            </a:extLst>
          </p:cNvPr>
          <p:cNvSpPr txBox="1"/>
          <p:nvPr/>
        </p:nvSpPr>
        <p:spPr>
          <a:xfrm>
            <a:off x="134711" y="212557"/>
            <a:ext cx="6096000" cy="584775"/>
          </a:xfrm>
          <a:prstGeom prst="rect">
            <a:avLst/>
          </a:prstGeom>
          <a:noFill/>
        </p:spPr>
        <p:txBody>
          <a:bodyPr wrap="square">
            <a:spAutoFit/>
          </a:bodyPr>
          <a:lstStyle/>
          <a:p>
            <a:r>
              <a:rPr lang="en-US" sz="3200" b="1" dirty="0"/>
              <a:t>Group Discussion</a:t>
            </a:r>
            <a:endParaRPr lang="en-IN" sz="3200" dirty="0"/>
          </a:p>
        </p:txBody>
      </p:sp>
    </p:spTree>
    <p:extLst>
      <p:ext uri="{BB962C8B-B14F-4D97-AF65-F5344CB8AC3E}">
        <p14:creationId xmlns:p14="http://schemas.microsoft.com/office/powerpoint/2010/main" val="996488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AA0392-FB06-40FD-B819-9B393B18FB5D}"/>
              </a:ext>
            </a:extLst>
          </p:cNvPr>
          <p:cNvSpPr txBox="1"/>
          <p:nvPr/>
        </p:nvSpPr>
        <p:spPr>
          <a:xfrm>
            <a:off x="490330" y="981525"/>
            <a:ext cx="6202017" cy="5016758"/>
          </a:xfrm>
          <a:prstGeom prst="rect">
            <a:avLst/>
          </a:prstGeom>
          <a:noFill/>
        </p:spPr>
        <p:txBody>
          <a:bodyPr wrap="square" rtlCol="0">
            <a:spAutoFit/>
          </a:bodyPr>
          <a:lstStyle/>
          <a:p>
            <a:r>
              <a:rPr lang="en-US" sz="3200" b="1" dirty="0">
                <a:solidFill>
                  <a:srgbClr val="FF0000"/>
                </a:solidFill>
              </a:rPr>
              <a:t>Insured</a:t>
            </a:r>
          </a:p>
          <a:p>
            <a:pPr marL="514350" indent="-514350">
              <a:buFont typeface="+mj-lt"/>
              <a:buAutoNum type="arabicPeriod"/>
            </a:pPr>
            <a:r>
              <a:rPr lang="en-US" sz="2400" dirty="0">
                <a:solidFill>
                  <a:srgbClr val="FF0000"/>
                </a:solidFill>
              </a:rPr>
              <a:t>Small scale business(Restaurant)</a:t>
            </a:r>
          </a:p>
          <a:p>
            <a:pPr marL="514350" indent="-514350">
              <a:buFont typeface="+mj-lt"/>
              <a:buAutoNum type="arabicPeriod"/>
            </a:pPr>
            <a:r>
              <a:rPr lang="en-US" sz="2400" dirty="0">
                <a:solidFill>
                  <a:srgbClr val="FF0000"/>
                </a:solidFill>
              </a:rPr>
              <a:t>Size of employment  -25</a:t>
            </a:r>
          </a:p>
          <a:p>
            <a:pPr marL="514350" indent="-514350">
              <a:buFont typeface="+mj-lt"/>
              <a:buAutoNum type="arabicPeriod"/>
            </a:pPr>
            <a:r>
              <a:rPr lang="en-US" sz="2400" dirty="0">
                <a:solidFill>
                  <a:srgbClr val="FF0000"/>
                </a:solidFill>
              </a:rPr>
              <a:t>Budget – low</a:t>
            </a:r>
          </a:p>
          <a:p>
            <a:pPr marL="514350" indent="-514350">
              <a:buFont typeface="+mj-lt"/>
              <a:buAutoNum type="arabicPeriod"/>
            </a:pPr>
            <a:r>
              <a:rPr lang="en-US" sz="2400" dirty="0">
                <a:solidFill>
                  <a:srgbClr val="FF0000"/>
                </a:solidFill>
              </a:rPr>
              <a:t>Property damage protection</a:t>
            </a:r>
          </a:p>
          <a:p>
            <a:pPr marL="514350" indent="-514350">
              <a:buFont typeface="+mj-lt"/>
              <a:buAutoNum type="arabicPeriod"/>
            </a:pPr>
            <a:r>
              <a:rPr lang="en-US" sz="2400" dirty="0">
                <a:solidFill>
                  <a:srgbClr val="FF0000"/>
                </a:solidFill>
              </a:rPr>
              <a:t>Customer safety</a:t>
            </a:r>
          </a:p>
          <a:p>
            <a:pPr marL="514350" indent="-514350">
              <a:buFont typeface="+mj-lt"/>
              <a:buAutoNum type="arabicPeriod"/>
            </a:pPr>
            <a:r>
              <a:rPr lang="en-US" sz="2400" dirty="0">
                <a:solidFill>
                  <a:srgbClr val="FF0000"/>
                </a:solidFill>
              </a:rPr>
              <a:t>Theft</a:t>
            </a:r>
          </a:p>
          <a:p>
            <a:pPr marL="514350" indent="-514350">
              <a:buFont typeface="+mj-lt"/>
              <a:buAutoNum type="arabicPeriod"/>
            </a:pPr>
            <a:r>
              <a:rPr lang="en-US" sz="2400" dirty="0">
                <a:solidFill>
                  <a:srgbClr val="FF0000"/>
                </a:solidFill>
              </a:rPr>
              <a:t>Fire accident</a:t>
            </a:r>
          </a:p>
          <a:p>
            <a:pPr marL="514350" indent="-514350">
              <a:buFont typeface="+mj-lt"/>
              <a:buAutoNum type="arabicPeriod"/>
            </a:pPr>
            <a:r>
              <a:rPr lang="en-US" sz="2400" dirty="0">
                <a:solidFill>
                  <a:srgbClr val="FF0000"/>
                </a:solidFill>
              </a:rPr>
              <a:t>Liability</a:t>
            </a:r>
          </a:p>
          <a:p>
            <a:pPr marL="514350" indent="-514350">
              <a:buFont typeface="+mj-lt"/>
              <a:buAutoNum type="arabicPeriod"/>
            </a:pPr>
            <a:r>
              <a:rPr lang="en-US" sz="2400" dirty="0">
                <a:solidFill>
                  <a:srgbClr val="FF0000"/>
                </a:solidFill>
              </a:rPr>
              <a:t>3</a:t>
            </a:r>
            <a:r>
              <a:rPr lang="en-US" sz="2400" baseline="30000" dirty="0">
                <a:solidFill>
                  <a:srgbClr val="FF0000"/>
                </a:solidFill>
              </a:rPr>
              <a:t>rd</a:t>
            </a:r>
            <a:r>
              <a:rPr lang="en-US" sz="2400" dirty="0">
                <a:solidFill>
                  <a:srgbClr val="FF0000"/>
                </a:solidFill>
              </a:rPr>
              <a:t> party property protection-Auto</a:t>
            </a:r>
          </a:p>
          <a:p>
            <a:pPr marL="514350" indent="-514350">
              <a:buFont typeface="+mj-lt"/>
              <a:buAutoNum type="arabicPeriod"/>
            </a:pPr>
            <a:r>
              <a:rPr lang="en-US" sz="2400" dirty="0">
                <a:solidFill>
                  <a:srgbClr val="FF0000"/>
                </a:solidFill>
              </a:rPr>
              <a:t>Machinery Protection</a:t>
            </a:r>
          </a:p>
          <a:p>
            <a:pPr marL="514350" indent="-514350">
              <a:buFont typeface="+mj-lt"/>
              <a:buAutoNum type="arabicPeriod"/>
            </a:pPr>
            <a:r>
              <a:rPr lang="en-US" sz="2400" dirty="0">
                <a:solidFill>
                  <a:srgbClr val="FF0000"/>
                </a:solidFill>
              </a:rPr>
              <a:t>Vehicle parking</a:t>
            </a:r>
          </a:p>
          <a:p>
            <a:pPr marL="514350" indent="-514350">
              <a:buFont typeface="+mj-lt"/>
              <a:buAutoNum type="arabicPeriod"/>
            </a:pPr>
            <a:r>
              <a:rPr lang="en-US" sz="2400" dirty="0">
                <a:solidFill>
                  <a:srgbClr val="FF0000"/>
                </a:solidFill>
              </a:rPr>
              <a:t>Stock safety</a:t>
            </a:r>
          </a:p>
        </p:txBody>
      </p:sp>
      <p:sp>
        <p:nvSpPr>
          <p:cNvPr id="3" name="TextBox 2">
            <a:extLst>
              <a:ext uri="{FF2B5EF4-FFF2-40B4-BE49-F238E27FC236}">
                <a16:creationId xmlns:a16="http://schemas.microsoft.com/office/drawing/2014/main" id="{F1786715-3A02-4B17-878B-33EAD01A9CDD}"/>
              </a:ext>
            </a:extLst>
          </p:cNvPr>
          <p:cNvSpPr txBox="1"/>
          <p:nvPr/>
        </p:nvSpPr>
        <p:spPr>
          <a:xfrm>
            <a:off x="6877878" y="1166191"/>
            <a:ext cx="4943061" cy="7109639"/>
          </a:xfrm>
          <a:prstGeom prst="rect">
            <a:avLst/>
          </a:prstGeom>
          <a:noFill/>
        </p:spPr>
        <p:txBody>
          <a:bodyPr wrap="square" rtlCol="0">
            <a:spAutoFit/>
          </a:bodyPr>
          <a:lstStyle/>
          <a:p>
            <a:r>
              <a:rPr lang="en-US" sz="2400" dirty="0">
                <a:solidFill>
                  <a:srgbClr val="FF0000"/>
                </a:solidFill>
              </a:rPr>
              <a:t>12. No partnership</a:t>
            </a:r>
          </a:p>
          <a:p>
            <a:r>
              <a:rPr lang="en-US" sz="2400" dirty="0">
                <a:solidFill>
                  <a:srgbClr val="FF0000"/>
                </a:solidFill>
              </a:rPr>
              <a:t>13. No lease</a:t>
            </a:r>
          </a:p>
          <a:p>
            <a:r>
              <a:rPr lang="en-US" sz="2400" dirty="0">
                <a:solidFill>
                  <a:srgbClr val="FF0000"/>
                </a:solidFill>
              </a:rPr>
              <a:t>14. Natural disaster</a:t>
            </a:r>
          </a:p>
          <a:p>
            <a:r>
              <a:rPr lang="en-US" sz="2400" dirty="0">
                <a:solidFill>
                  <a:srgbClr val="FF0000"/>
                </a:solidFill>
              </a:rPr>
              <a:t>15. Advertisement</a:t>
            </a:r>
          </a:p>
          <a:p>
            <a:r>
              <a:rPr lang="en-US" sz="2400" dirty="0">
                <a:solidFill>
                  <a:srgbClr val="FF0000"/>
                </a:solidFill>
              </a:rPr>
              <a:t>16. Copywrite</a:t>
            </a:r>
          </a:p>
          <a:p>
            <a:r>
              <a:rPr lang="en-US" sz="2400" dirty="0">
                <a:solidFill>
                  <a:srgbClr val="FF0000"/>
                </a:solidFill>
              </a:rPr>
              <a:t>17. Workers compensation</a:t>
            </a:r>
          </a:p>
          <a:p>
            <a:r>
              <a:rPr lang="en-US" sz="2400" dirty="0">
                <a:solidFill>
                  <a:srgbClr val="FF0000"/>
                </a:solidFill>
              </a:rPr>
              <a:t>18. leakages- Gas n water</a:t>
            </a:r>
          </a:p>
          <a:p>
            <a:r>
              <a:rPr lang="en-US" sz="2400" dirty="0">
                <a:solidFill>
                  <a:srgbClr val="FF0000"/>
                </a:solidFill>
              </a:rPr>
              <a:t>19. Food poison</a:t>
            </a:r>
          </a:p>
          <a:p>
            <a:r>
              <a:rPr lang="en-US" sz="2400" dirty="0">
                <a:solidFill>
                  <a:srgbClr val="FF0000"/>
                </a:solidFill>
              </a:rPr>
              <a:t>20. Protection from insect</a:t>
            </a:r>
          </a:p>
          <a:p>
            <a:r>
              <a:rPr lang="en-US" sz="2400" dirty="0">
                <a:solidFill>
                  <a:srgbClr val="FF0000"/>
                </a:solidFill>
              </a:rPr>
              <a:t>21. Total loss coverage</a:t>
            </a:r>
          </a:p>
          <a:p>
            <a:r>
              <a:rPr lang="en-US" sz="2400" dirty="0">
                <a:solidFill>
                  <a:srgbClr val="FF0000"/>
                </a:solidFill>
              </a:rPr>
              <a:t>22. Company fame/ reputation</a:t>
            </a:r>
          </a:p>
          <a:p>
            <a:r>
              <a:rPr lang="en-US" sz="2400" dirty="0">
                <a:solidFill>
                  <a:srgbClr val="FF0000"/>
                </a:solidFill>
              </a:rPr>
              <a:t>23. Terrorism</a:t>
            </a:r>
          </a:p>
          <a:p>
            <a:r>
              <a:rPr lang="en-US" sz="2400" dirty="0">
                <a:solidFill>
                  <a:srgbClr val="FF0000"/>
                </a:solidFill>
              </a:rPr>
              <a:t>24. Business Interruption</a:t>
            </a:r>
          </a:p>
          <a:p>
            <a:r>
              <a:rPr lang="en-US" sz="2400" dirty="0">
                <a:solidFill>
                  <a:srgbClr val="FF0000"/>
                </a:solidFill>
              </a:rPr>
              <a:t>25. Inflation guard</a:t>
            </a:r>
          </a:p>
          <a:p>
            <a:r>
              <a:rPr lang="en-US" sz="2400" dirty="0">
                <a:solidFill>
                  <a:srgbClr val="FF0000"/>
                </a:solidFill>
              </a:rPr>
              <a:t>26. Temp. Location</a:t>
            </a:r>
          </a:p>
          <a:p>
            <a:endParaRPr lang="en-US" sz="2400" dirty="0">
              <a:solidFill>
                <a:srgbClr val="FF0000"/>
              </a:solidFill>
            </a:endParaRPr>
          </a:p>
          <a:p>
            <a:endParaRPr lang="en-US" sz="2400" dirty="0">
              <a:solidFill>
                <a:srgbClr val="FF0000"/>
              </a:solidFill>
            </a:endParaRPr>
          </a:p>
          <a:p>
            <a:endParaRPr lang="en-US" sz="2400" dirty="0">
              <a:solidFill>
                <a:srgbClr val="FF0000"/>
              </a:solidFill>
            </a:endParaRPr>
          </a:p>
          <a:p>
            <a:endParaRPr lang="en-US" sz="2400" dirty="0">
              <a:solidFill>
                <a:srgbClr val="FF0000"/>
              </a:solidFill>
            </a:endParaRPr>
          </a:p>
        </p:txBody>
      </p:sp>
      <p:pic>
        <p:nvPicPr>
          <p:cNvPr id="4" name="Picture 3">
            <a:extLst>
              <a:ext uri="{FF2B5EF4-FFF2-40B4-BE49-F238E27FC236}">
                <a16:creationId xmlns:a16="http://schemas.microsoft.com/office/drawing/2014/main" id="{84A14A6F-D272-409D-A6A4-83E3FDC9F90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5" name="TextBox 4">
            <a:extLst>
              <a:ext uri="{FF2B5EF4-FFF2-40B4-BE49-F238E27FC236}">
                <a16:creationId xmlns:a16="http://schemas.microsoft.com/office/drawing/2014/main" id="{09901A93-FBCB-4F1C-AB56-7D8BA99557CE}"/>
              </a:ext>
            </a:extLst>
          </p:cNvPr>
          <p:cNvSpPr txBox="1"/>
          <p:nvPr/>
        </p:nvSpPr>
        <p:spPr>
          <a:xfrm>
            <a:off x="134711" y="212557"/>
            <a:ext cx="6096000" cy="584775"/>
          </a:xfrm>
          <a:prstGeom prst="rect">
            <a:avLst/>
          </a:prstGeom>
          <a:noFill/>
        </p:spPr>
        <p:txBody>
          <a:bodyPr wrap="square">
            <a:spAutoFit/>
          </a:bodyPr>
          <a:lstStyle/>
          <a:p>
            <a:r>
              <a:rPr lang="en-US" sz="3200" b="1" dirty="0"/>
              <a:t>Group Discussion</a:t>
            </a:r>
            <a:endParaRPr lang="en-IN" sz="3200" dirty="0"/>
          </a:p>
        </p:txBody>
      </p:sp>
    </p:spTree>
    <p:extLst>
      <p:ext uri="{BB962C8B-B14F-4D97-AF65-F5344CB8AC3E}">
        <p14:creationId xmlns:p14="http://schemas.microsoft.com/office/powerpoint/2010/main" val="38124529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owerPoint Template 2016" id="{90BAF895-86B6-4C60-9208-C4F858343066}" vid="{7154B3E6-577F-4162-B9F9-6A81BF94E4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haredContentType xmlns="Microsoft.SharePoint.Taxonomy.ContentTypeSync" SourceId="41087d73-5bfe-4c6e-a130-3d602495565a" ContentTypeId="0x010100F7548365F7A28B41B9A685ED46C1AC26" PreviousValue="false"/>
</file>

<file path=customXml/item2.xml><?xml version="1.0" encoding="utf-8"?>
<ct:contentTypeSchema xmlns:ct="http://schemas.microsoft.com/office/2006/metadata/contentType" xmlns:ma="http://schemas.microsoft.com/office/2006/metadata/properties/metaAttributes" ct:_="" ma:_="" ma:contentTypeName="VIKI New Document" ma:contentTypeID="0x010100F7548365F7A28B41B9A685ED46C1AC26001AB29883D45E2C4E9CA6FE95A9034FC3" ma:contentTypeVersion="5" ma:contentTypeDescription="" ma:contentTypeScope="" ma:versionID="bc1a5864616262670162eb204ab13928">
  <xsd:schema xmlns:xsd="http://www.w3.org/2001/XMLSchema" xmlns:xs="http://www.w3.org/2001/XMLSchema" xmlns:p="http://schemas.microsoft.com/office/2006/metadata/properties" xmlns:ns2="09339d3a-aaa0-497d-ae73-d8a5832d420d" targetNamespace="http://schemas.microsoft.com/office/2006/metadata/properties" ma:root="true" ma:fieldsID="86592b75fc3d2fa65ab3e34efd39cedb" ns2:_="">
    <xsd:import namespace="09339d3a-aaa0-497d-ae73-d8a5832d420d"/>
    <xsd:element name="properties">
      <xsd:complexType>
        <xsd:sequence>
          <xsd:element name="documentManagement">
            <xsd:complexType>
              <xsd:all>
                <xsd:element ref="ns2:Classification"/>
                <xsd:element ref="ns2:Contributors"/>
                <xsd:element ref="ns2:Departments"/>
                <xsd:element ref="ns2:SubCategory"/>
                <xsd:element ref="ns2:Tags"/>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Contributors" ma:index="9"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epartments" ma:index="10"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1" ma:displayName="SubCategory" ma:format="Dropdown" ma:internalName="SubCategory" ma:readOnly="false">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2" ma:displayName="Tags" ma:internalName="Tag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SubCategory xmlns="09339d3a-aaa0-497d-ae73-d8a5832d420d">Best Practice</SubCategory>
    <Tags xmlns="09339d3a-aaa0-497d-ae73-d8a5832d420d">bop</Tags>
    <Contributors xmlns="09339d3a-aaa0-497d-ae73-d8a5832d420d">
      <UserInfo>
        <DisplayName>Alok Bharati</DisplayName>
        <AccountId>26</AccountId>
        <AccountType/>
      </UserInfo>
    </Contributors>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E90CC30-C283-4D56-8A86-79047B8D7184}"/>
</file>

<file path=customXml/itemProps2.xml><?xml version="1.0" encoding="utf-8"?>
<ds:datastoreItem xmlns:ds="http://schemas.openxmlformats.org/officeDocument/2006/customXml" ds:itemID="{11025738-0607-4086-BBD7-0576FDBD5E8D}"/>
</file>

<file path=customXml/itemProps3.xml><?xml version="1.0" encoding="utf-8"?>
<ds:datastoreItem xmlns:ds="http://schemas.openxmlformats.org/officeDocument/2006/customXml" ds:itemID="{3B1D8459-51A4-473C-BD7A-9AA7E82630A6}">
  <ds:schemaRefs>
    <ds:schemaRef ds:uri="http://schemas.microsoft.com/office/2006/metadata/properties"/>
    <ds:schemaRef ds:uri="http://schemas.microsoft.com/office/infopath/2007/PartnerControls"/>
    <ds:schemaRef ds:uri="09339d3a-aaa0-497d-ae73-d8a5832d420d"/>
  </ds:schemaRefs>
</ds:datastoreItem>
</file>

<file path=customXml/itemProps4.xml><?xml version="1.0" encoding="utf-8"?>
<ds:datastoreItem xmlns:ds="http://schemas.openxmlformats.org/officeDocument/2006/customXml" ds:itemID="{DF8E4C5A-E717-40F5-9195-774C6C26276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9901</TotalTime>
  <Words>1529</Words>
  <Application>Microsoft Office PowerPoint</Application>
  <PresentationFormat>Widescreen</PresentationFormat>
  <Paragraphs>258</Paragraphs>
  <Slides>15</Slides>
  <Notes>3</Notes>
  <HiddenSlides>1</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Bharati</dc:creator>
  <cp:lastModifiedBy>Alok Bharati</cp:lastModifiedBy>
  <cp:revision>13</cp:revision>
  <dcterms:created xsi:type="dcterms:W3CDTF">2016-07-18T11:28:26Z</dcterms:created>
  <dcterms:modified xsi:type="dcterms:W3CDTF">2021-12-15T11:15:35Z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0x010100F7548365F7A28B41B9A685ED46C1AC26001AB29883D45E2C4E9CA6FE95A9034FC3</vt:lpwstr>
  </property>
  <property fmtid="{D5CDD505-2E9C-101B-9397-08002B2CF9AE}" pid="3" name="Order">
    <vt:r8>5900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ies>
</file>
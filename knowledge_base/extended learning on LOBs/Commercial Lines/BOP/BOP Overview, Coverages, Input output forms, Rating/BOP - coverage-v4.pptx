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Lst>
  <p:notesMasterIdLst>
    <p:notesMasterId r:id="rId46"/>
  </p:notesMasterIdLst>
  <p:sldIdLst>
    <p:sldId id="256" r:id="rId6"/>
    <p:sldId id="310" r:id="rId7"/>
    <p:sldId id="314" r:id="rId8"/>
    <p:sldId id="315" r:id="rId9"/>
    <p:sldId id="316" r:id="rId10"/>
    <p:sldId id="317" r:id="rId11"/>
    <p:sldId id="318" r:id="rId12"/>
    <p:sldId id="319" r:id="rId13"/>
    <p:sldId id="320" r:id="rId14"/>
    <p:sldId id="321" r:id="rId15"/>
    <p:sldId id="322" r:id="rId16"/>
    <p:sldId id="323" r:id="rId17"/>
    <p:sldId id="324" r:id="rId18"/>
    <p:sldId id="325" r:id="rId19"/>
    <p:sldId id="326" r:id="rId20"/>
    <p:sldId id="327" r:id="rId21"/>
    <p:sldId id="328" r:id="rId22"/>
    <p:sldId id="329" r:id="rId23"/>
    <p:sldId id="330" r:id="rId24"/>
    <p:sldId id="331" r:id="rId25"/>
    <p:sldId id="332" r:id="rId26"/>
    <p:sldId id="333" r:id="rId27"/>
    <p:sldId id="334" r:id="rId28"/>
    <p:sldId id="335" r:id="rId29"/>
    <p:sldId id="336" r:id="rId30"/>
    <p:sldId id="337" r:id="rId31"/>
    <p:sldId id="338" r:id="rId32"/>
    <p:sldId id="339" r:id="rId33"/>
    <p:sldId id="340" r:id="rId34"/>
    <p:sldId id="341" r:id="rId35"/>
    <p:sldId id="342" r:id="rId36"/>
    <p:sldId id="343" r:id="rId37"/>
    <p:sldId id="344" r:id="rId38"/>
    <p:sldId id="345" r:id="rId39"/>
    <p:sldId id="346" r:id="rId40"/>
    <p:sldId id="347" r:id="rId41"/>
    <p:sldId id="348" r:id="rId42"/>
    <p:sldId id="349" r:id="rId43"/>
    <p:sldId id="350" r:id="rId44"/>
    <p:sldId id="313" r:id="rId4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699C1"/>
    <a:srgbClr val="859B98"/>
    <a:srgbClr val="F07846"/>
    <a:srgbClr val="94888C"/>
    <a:srgbClr val="4DA0EE"/>
    <a:srgbClr val="AEAD6F"/>
    <a:srgbClr val="854856"/>
    <a:srgbClr val="F2C90D"/>
    <a:srgbClr val="7EA846"/>
    <a:srgbClr val="0457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6816CD-8836-143C-0CBA-6DE86831523C}" v="1" dt="2022-01-11T12:59:55.192"/>
    <p1510:client id="{FB13319F-C193-9783-A032-DF3AA0C67067}" v="1" dt="2022-01-18T13:40:06.8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603" autoAdjust="0"/>
    <p:restoredTop sz="82503" autoAdjust="0"/>
  </p:normalViewPr>
  <p:slideViewPr>
    <p:cSldViewPr>
      <p:cViewPr varScale="1">
        <p:scale>
          <a:sx n="65" d="100"/>
          <a:sy n="65" d="100"/>
        </p:scale>
        <p:origin x="1200" y="60"/>
      </p:cViewPr>
      <p:guideLst>
        <p:guide orient="horz" pos="2160"/>
        <p:guide pos="2880"/>
      </p:guideLst>
    </p:cSldViewPr>
  </p:slideViewPr>
  <p:notesTextViewPr>
    <p:cViewPr>
      <p:scale>
        <a:sx n="100" d="100"/>
        <a:sy n="100" d="100"/>
      </p:scale>
      <p:origin x="0" y="0"/>
    </p:cViewPr>
  </p:notesTextViewPr>
  <p:notesViewPr>
    <p:cSldViewPr>
      <p:cViewPr varScale="1">
        <p:scale>
          <a:sx n="70" d="100"/>
          <a:sy n="70" d="100"/>
        </p:scale>
        <p:origin x="-2814"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microsoft.com/office/2015/10/relationships/revisionInfo" Target="revisionInfo.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viewProps" Target="viewProps.xml"/><Relationship Id="rId8" Type="http://schemas.openxmlformats.org/officeDocument/2006/relationships/slide" Target="slides/slide3.xml"/><Relationship Id="rId51"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notesMaster" Target="notesMasters/notesMaster1.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lman Khan Pattan" userId="S::salman.pattan@valuemomentum.com::45740356-8b1b-40af-82ce-cd91d4d84d02" providerId="AD" clId="Web-{466816CD-8836-143C-0CBA-6DE86831523C}"/>
    <pc:docChg chg="delSld">
      <pc:chgData name="Salman Khan Pattan" userId="S::salman.pattan@valuemomentum.com::45740356-8b1b-40af-82ce-cd91d4d84d02" providerId="AD" clId="Web-{466816CD-8836-143C-0CBA-6DE86831523C}" dt="2022-01-11T12:59:55.192" v="0"/>
      <pc:docMkLst>
        <pc:docMk/>
      </pc:docMkLst>
      <pc:sldChg chg="del">
        <pc:chgData name="Salman Khan Pattan" userId="S::salman.pattan@valuemomentum.com::45740356-8b1b-40af-82ce-cd91d4d84d02" providerId="AD" clId="Web-{466816CD-8836-143C-0CBA-6DE86831523C}" dt="2022-01-11T12:59:55.192" v="0"/>
        <pc:sldMkLst>
          <pc:docMk/>
          <pc:sldMk cId="0" sldId="311"/>
        </pc:sldMkLst>
      </pc:sldChg>
    </pc:docChg>
  </pc:docChgLst>
  <pc:docChgLst>
    <pc:chgData name="Alok Bharati" userId="S::alok.bharati@valuemomentum.com::2f6e0e27-ace8-4335-a59d-f4692af8e221" providerId="AD" clId="Web-{FB13319F-C193-9783-A032-DF3AA0C67067}"/>
    <pc:docChg chg="modSld">
      <pc:chgData name="Alok Bharati" userId="S::alok.bharati@valuemomentum.com::2f6e0e27-ace8-4335-a59d-f4692af8e221" providerId="AD" clId="Web-{FB13319F-C193-9783-A032-DF3AA0C67067}" dt="2022-01-18T13:41:37.445" v="5" actId="1076"/>
      <pc:docMkLst>
        <pc:docMk/>
      </pc:docMkLst>
      <pc:sldChg chg="modSp">
        <pc:chgData name="Alok Bharati" userId="S::alok.bharati@valuemomentum.com::2f6e0e27-ace8-4335-a59d-f4692af8e221" providerId="AD" clId="Web-{FB13319F-C193-9783-A032-DF3AA0C67067}" dt="2022-01-18T13:41:37.445" v="5" actId="1076"/>
        <pc:sldMkLst>
          <pc:docMk/>
          <pc:sldMk cId="0" sldId="320"/>
        </pc:sldMkLst>
        <pc:spChg chg="mod">
          <ac:chgData name="Alok Bharati" userId="S::alok.bharati@valuemomentum.com::2f6e0e27-ace8-4335-a59d-f4692af8e221" providerId="AD" clId="Web-{FB13319F-C193-9783-A032-DF3AA0C67067}" dt="2022-01-18T13:40:06.895" v="2" actId="1076"/>
          <ac:spMkLst>
            <pc:docMk/>
            <pc:sldMk cId="0" sldId="320"/>
            <ac:spMk id="4" creationId="{00000000-0000-0000-0000-000000000000}"/>
          </ac:spMkLst>
        </pc:spChg>
        <pc:graphicFrameChg chg="mod">
          <ac:chgData name="Alok Bharati" userId="S::alok.bharati@valuemomentum.com::2f6e0e27-ace8-4335-a59d-f4692af8e221" providerId="AD" clId="Web-{FB13319F-C193-9783-A032-DF3AA0C67067}" dt="2022-01-18T13:41:37.445" v="5" actId="1076"/>
          <ac:graphicFrameMkLst>
            <pc:docMk/>
            <pc:sldMk cId="0" sldId="320"/>
            <ac:graphicFrameMk id="1026" creationId="{00000000-0000-0000-0000-000000000000}"/>
          </ac:graphicFrameMkLst>
        </pc:graphicFrameChg>
      </pc:sld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3DA7D6-147C-400C-A35F-2169931AA8B6}" type="datetimeFigureOut">
              <a:rPr lang="en-US" smtClean="0"/>
              <a:pPr/>
              <a:t>1/18/2022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B4AD5B4-0444-431F-910B-BA532084FB7B}" type="slidenum">
              <a:rPr lang="en-US" smtClean="0"/>
              <a:pPr/>
              <a:t>‹#›</a:t>
            </a:fld>
            <a:endParaRPr lang="en-US"/>
          </a:p>
        </p:txBody>
      </p:sp>
    </p:spTree>
    <p:extLst>
      <p:ext uri="{BB962C8B-B14F-4D97-AF65-F5344CB8AC3E}">
        <p14:creationId xmlns:p14="http://schemas.microsoft.com/office/powerpoint/2010/main" val="31041019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www.iso.com/Products/Public-Protection-Classification-Service/Fire-Suppression-Rating-Schedule-FSRS-manual-for-PPC-grading.html"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en.wikipedia.org/wiki/Liability_insurance"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www.wisegeek.com/what-is-a-condominium.htm"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B4AD5B4-0444-431F-910B-BA532084FB7B}" type="slidenum">
              <a:rPr lang="en-US" smtClean="0"/>
              <a:pPr/>
              <a:t>1</a:t>
            </a:fld>
            <a:endParaRPr lang="en-US"/>
          </a:p>
        </p:txBody>
      </p:sp>
    </p:spTree>
    <p:extLst>
      <p:ext uri="{BB962C8B-B14F-4D97-AF65-F5344CB8AC3E}">
        <p14:creationId xmlns:p14="http://schemas.microsoft.com/office/powerpoint/2010/main" val="31611173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000" dirty="0"/>
              <a:t>The Business owners Policy (BOP) is designed for small to medium size businesses. BOP policies are structured and priced to fill the need of a multitude of businesses which have similar risk characteristics. The basic concept is that small businesses of all kinds have more in common with each other than they do with large risks in the same kind of business. </a:t>
            </a:r>
          </a:p>
          <a:p>
            <a:r>
              <a:rPr lang="en-US" sz="1000" dirty="0"/>
              <a:t>BOP policies may be written for eligible retail, apartment, office, service, and processing risks and are available for owners of buildings and tenants of retail, service, and processing operations. In addition to the type of business for which coverage is being sought, the building height, area square footage, number of units and annual gross sales are determining factors for acceptability under the BOP program</a:t>
            </a:r>
          </a:p>
          <a:p>
            <a:endParaRPr lang="en-US" sz="1000" dirty="0"/>
          </a:p>
        </p:txBody>
      </p:sp>
      <p:sp>
        <p:nvSpPr>
          <p:cNvPr id="4" name="Slide Number Placeholder 3"/>
          <p:cNvSpPr>
            <a:spLocks noGrp="1"/>
          </p:cNvSpPr>
          <p:nvPr>
            <p:ph type="sldNum" sz="quarter" idx="10"/>
          </p:nvPr>
        </p:nvSpPr>
        <p:spPr/>
        <p:txBody>
          <a:bodyPr/>
          <a:lstStyle/>
          <a:p>
            <a:fld id="{7B4AD5B4-0444-431F-910B-BA532084FB7B}" type="slidenum">
              <a:rPr lang="en-US" smtClean="0"/>
              <a:pPr/>
              <a:t>2</a:t>
            </a:fld>
            <a:endParaRPr lang="en-US"/>
          </a:p>
        </p:txBody>
      </p:sp>
    </p:spTree>
    <p:extLst>
      <p:ext uri="{BB962C8B-B14F-4D97-AF65-F5344CB8AC3E}">
        <p14:creationId xmlns:p14="http://schemas.microsoft.com/office/powerpoint/2010/main" val="33926429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a:t>The standard form includes Building coverage and Business Personal Property on a replacement cost basis, with an ACV (actual cash value) option for building coverage. Business Income and Extra Expense coverage is included on an “Actual Loss Sustained” basis. Perils covered are fire, lightning, explosion, windstorm or hail, smoke, aircraft or vehicles, riot or civil commotion, vandalism, sprinkler leakage, sinkhole collapse, volcanic action, and transportation. In addition, the liability portion of the policy includes protection for business liability and medical expenses. </a:t>
            </a:r>
          </a:p>
          <a:p>
            <a:endParaRPr lang="en-US" sz="1000" dirty="0"/>
          </a:p>
        </p:txBody>
      </p:sp>
      <p:sp>
        <p:nvSpPr>
          <p:cNvPr id="4" name="Slide Number Placeholder 3"/>
          <p:cNvSpPr>
            <a:spLocks noGrp="1"/>
          </p:cNvSpPr>
          <p:nvPr>
            <p:ph type="sldNum" sz="quarter" idx="10"/>
          </p:nvPr>
        </p:nvSpPr>
        <p:spPr/>
        <p:txBody>
          <a:bodyPr/>
          <a:lstStyle/>
          <a:p>
            <a:fld id="{7B4AD5B4-0444-431F-910B-BA532084FB7B}" type="slidenum">
              <a:rPr lang="en-US" smtClean="0"/>
              <a:pPr/>
              <a:t>3</a:t>
            </a:fld>
            <a:endParaRPr lang="en-US"/>
          </a:p>
        </p:txBody>
      </p:sp>
    </p:spTree>
    <p:extLst>
      <p:ext uri="{BB962C8B-B14F-4D97-AF65-F5344CB8AC3E}">
        <p14:creationId xmlns:p14="http://schemas.microsoft.com/office/powerpoint/2010/main" val="22948693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000" dirty="0"/>
          </a:p>
        </p:txBody>
      </p:sp>
      <p:sp>
        <p:nvSpPr>
          <p:cNvPr id="4" name="Slide Number Placeholder 3"/>
          <p:cNvSpPr>
            <a:spLocks noGrp="1"/>
          </p:cNvSpPr>
          <p:nvPr>
            <p:ph type="sldNum" sz="quarter" idx="10"/>
          </p:nvPr>
        </p:nvSpPr>
        <p:spPr/>
        <p:txBody>
          <a:bodyPr/>
          <a:lstStyle/>
          <a:p>
            <a:fld id="{7B4AD5B4-0444-431F-910B-BA532084FB7B}" type="slidenum">
              <a:rPr lang="en-US" smtClean="0"/>
              <a:pPr/>
              <a:t>4</a:t>
            </a:fld>
            <a:endParaRPr lang="en-US"/>
          </a:p>
        </p:txBody>
      </p:sp>
    </p:spTree>
    <p:extLst>
      <p:ext uri="{BB962C8B-B14F-4D97-AF65-F5344CB8AC3E}">
        <p14:creationId xmlns:p14="http://schemas.microsoft.com/office/powerpoint/2010/main" val="12106009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000" dirty="0"/>
          </a:p>
        </p:txBody>
      </p:sp>
      <p:sp>
        <p:nvSpPr>
          <p:cNvPr id="4" name="Slide Number Placeholder 3"/>
          <p:cNvSpPr>
            <a:spLocks noGrp="1"/>
          </p:cNvSpPr>
          <p:nvPr>
            <p:ph type="sldNum" sz="quarter" idx="10"/>
          </p:nvPr>
        </p:nvSpPr>
        <p:spPr/>
        <p:txBody>
          <a:bodyPr/>
          <a:lstStyle/>
          <a:p>
            <a:fld id="{7B4AD5B4-0444-431F-910B-BA532084FB7B}" type="slidenum">
              <a:rPr lang="en-US" smtClean="0"/>
              <a:pPr/>
              <a:t>5</a:t>
            </a:fld>
            <a:endParaRPr lang="en-US"/>
          </a:p>
        </p:txBody>
      </p:sp>
    </p:spTree>
    <p:extLst>
      <p:ext uri="{BB962C8B-B14F-4D97-AF65-F5344CB8AC3E}">
        <p14:creationId xmlns:p14="http://schemas.microsoft.com/office/powerpoint/2010/main" val="5505198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000" dirty="0"/>
          </a:p>
        </p:txBody>
      </p:sp>
      <p:sp>
        <p:nvSpPr>
          <p:cNvPr id="4" name="Slide Number Placeholder 3"/>
          <p:cNvSpPr>
            <a:spLocks noGrp="1"/>
          </p:cNvSpPr>
          <p:nvPr>
            <p:ph type="sldNum" sz="quarter" idx="10"/>
          </p:nvPr>
        </p:nvSpPr>
        <p:spPr/>
        <p:txBody>
          <a:bodyPr/>
          <a:lstStyle/>
          <a:p>
            <a:fld id="{7B4AD5B4-0444-431F-910B-BA532084FB7B}" type="slidenum">
              <a:rPr lang="en-US" smtClean="0"/>
              <a:pPr/>
              <a:t>6</a:t>
            </a:fld>
            <a:endParaRPr lang="en-US"/>
          </a:p>
        </p:txBody>
      </p:sp>
    </p:spTree>
    <p:extLst>
      <p:ext uri="{BB962C8B-B14F-4D97-AF65-F5344CB8AC3E}">
        <p14:creationId xmlns:p14="http://schemas.microsoft.com/office/powerpoint/2010/main" val="30865855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000" dirty="0"/>
          </a:p>
        </p:txBody>
      </p:sp>
      <p:sp>
        <p:nvSpPr>
          <p:cNvPr id="4" name="Slide Number Placeholder 3"/>
          <p:cNvSpPr>
            <a:spLocks noGrp="1"/>
          </p:cNvSpPr>
          <p:nvPr>
            <p:ph type="sldNum" sz="quarter" idx="10"/>
          </p:nvPr>
        </p:nvSpPr>
        <p:spPr/>
        <p:txBody>
          <a:bodyPr/>
          <a:lstStyle/>
          <a:p>
            <a:fld id="{7B4AD5B4-0444-431F-910B-BA532084FB7B}" type="slidenum">
              <a:rPr lang="en-US" smtClean="0"/>
              <a:pPr/>
              <a:t>7</a:t>
            </a:fld>
            <a:endParaRPr lang="en-US"/>
          </a:p>
        </p:txBody>
      </p:sp>
    </p:spTree>
    <p:extLst>
      <p:ext uri="{BB962C8B-B14F-4D97-AF65-F5344CB8AC3E}">
        <p14:creationId xmlns:p14="http://schemas.microsoft.com/office/powerpoint/2010/main" val="18795226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000" dirty="0"/>
              <a:t>The following requirements must be met in order for processing, servicing, and retail risks to be eligible for coverage under the BOP Policy: </a:t>
            </a:r>
          </a:p>
          <a:p>
            <a:r>
              <a:rPr lang="en-US" sz="1000" dirty="0"/>
              <a:t>(1) No more than 25% of gross sales may be from off-premises operations. </a:t>
            </a:r>
            <a:br>
              <a:rPr lang="en-US" sz="1000" dirty="0"/>
            </a:br>
            <a:r>
              <a:rPr lang="en-US" sz="1000" dirty="0"/>
              <a:t>(2) The risk cannot occupy more than 15,000 square feet in total area, and </a:t>
            </a:r>
            <a:br>
              <a:rPr lang="en-US" sz="1000" dirty="0"/>
            </a:br>
            <a:r>
              <a:rPr lang="en-US" sz="1000" dirty="0"/>
              <a:t>(3) The annual gross sales per location do not exceed $3 million. </a:t>
            </a:r>
          </a:p>
          <a:p>
            <a:endParaRPr lang="en-US" sz="1000" dirty="0"/>
          </a:p>
        </p:txBody>
      </p:sp>
      <p:sp>
        <p:nvSpPr>
          <p:cNvPr id="4" name="Slide Number Placeholder 3"/>
          <p:cNvSpPr>
            <a:spLocks noGrp="1"/>
          </p:cNvSpPr>
          <p:nvPr>
            <p:ph type="sldNum" sz="quarter" idx="10"/>
          </p:nvPr>
        </p:nvSpPr>
        <p:spPr/>
        <p:txBody>
          <a:bodyPr/>
          <a:lstStyle/>
          <a:p>
            <a:fld id="{7B4AD5B4-0444-431F-910B-BA532084FB7B}" type="slidenum">
              <a:rPr lang="en-US" smtClean="0"/>
              <a:pPr/>
              <a:t>8</a:t>
            </a:fld>
            <a:endParaRPr lang="en-US"/>
          </a:p>
        </p:txBody>
      </p:sp>
    </p:spTree>
    <p:extLst>
      <p:ext uri="{BB962C8B-B14F-4D97-AF65-F5344CB8AC3E}">
        <p14:creationId xmlns:p14="http://schemas.microsoft.com/office/powerpoint/2010/main" val="40631014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800" b="1" dirty="0"/>
              <a:t>Building</a:t>
            </a:r>
            <a:r>
              <a:rPr lang="en-US" sz="800" dirty="0"/>
              <a:t> – Includes coverage for the building, completed additions, permanently installed fixtures, machinery, and equipment, outdoor fixtures and furniture, floor coverings, and other similar property typically used to maintain the building.</a:t>
            </a:r>
          </a:p>
          <a:p>
            <a:endParaRPr lang="en-US" sz="800" b="1" dirty="0"/>
          </a:p>
          <a:p>
            <a:r>
              <a:rPr lang="en-US" sz="800" b="1" dirty="0"/>
              <a:t>Business Personal Property</a:t>
            </a:r>
            <a:r>
              <a:rPr lang="en-US" sz="800" dirty="0"/>
              <a:t> – Covers business personal property (as defined in the policy) in or on the building or in the open within 100 feet of the described premises.</a:t>
            </a:r>
            <a:br>
              <a:rPr lang="en-US" sz="800" dirty="0"/>
            </a:br>
            <a:endParaRPr lang="en-US" sz="800" b="1" dirty="0"/>
          </a:p>
          <a:p>
            <a:r>
              <a:rPr lang="en-US" sz="800" b="1" dirty="0"/>
              <a:t>Personal Property of Others</a:t>
            </a:r>
            <a:r>
              <a:rPr lang="en-US" sz="800" dirty="0"/>
              <a:t> – Covers personal property of others in the care, custody, and control of the insured within the described premises or within 100 feet of the described premises.</a:t>
            </a:r>
          </a:p>
          <a:p>
            <a:endParaRPr lang="en-US" sz="800" b="1" dirty="0"/>
          </a:p>
          <a:p>
            <a:r>
              <a:rPr lang="en-US" sz="800" b="1" dirty="0"/>
              <a:t>Replacement Cost</a:t>
            </a:r>
            <a:r>
              <a:rPr lang="en-US" sz="800" dirty="0"/>
              <a:t> – The BOP policy is written on a replacement cost basis for qualifying properties. Buildings 25 years or older must have upgraded the </a:t>
            </a:r>
            <a:r>
              <a:rPr lang="en-US" sz="800" dirty="0" err="1"/>
              <a:t>the</a:t>
            </a:r>
            <a:r>
              <a:rPr lang="en-US" sz="800" dirty="0"/>
              <a:t> roof, wiring, plumbing and heating within the last 25 years to qualify. Properties that do not qualify for replacement cost will be written on a fair market value/actual cash value basis.</a:t>
            </a:r>
          </a:p>
          <a:p>
            <a:endParaRPr lang="en-US" sz="800" b="1" dirty="0"/>
          </a:p>
          <a:p>
            <a:r>
              <a:rPr lang="en-US" sz="800" b="1" dirty="0"/>
              <a:t>Business Liability</a:t>
            </a:r>
            <a:r>
              <a:rPr lang="en-US" sz="800" dirty="0"/>
              <a:t> – Includes coverage for bodily injury, property damage, personal injury and/or advertising injury. Coverage applies only to those premises and operations designated in the Declarations.</a:t>
            </a:r>
          </a:p>
          <a:p>
            <a:endParaRPr lang="en-US" sz="800" b="1" dirty="0"/>
          </a:p>
          <a:p>
            <a:r>
              <a:rPr lang="en-US" sz="800" b="1" dirty="0"/>
              <a:t>Medical Expenses </a:t>
            </a:r>
            <a:r>
              <a:rPr lang="en-US" sz="800" dirty="0"/>
              <a:t>– Covers medical expenses for bodily injury caused by a covered loss</a:t>
            </a:r>
          </a:p>
          <a:p>
            <a:endParaRPr lang="en-US" sz="800" dirty="0"/>
          </a:p>
          <a:p>
            <a:r>
              <a:rPr lang="en-US" sz="800" b="1" dirty="0"/>
              <a:t>Business Income</a:t>
            </a:r>
            <a:r>
              <a:rPr lang="en-US" sz="800" dirty="0"/>
              <a:t> – Coverage for the actual loss of business income sustained due to the necessary suspension of operations caused by a covered property loss during the period of restoration, as defined by the policy. </a:t>
            </a:r>
            <a:br>
              <a:rPr lang="en-US" sz="800" dirty="0"/>
            </a:br>
            <a:br>
              <a:rPr lang="en-US" sz="800" dirty="0"/>
            </a:br>
            <a:endParaRPr lang="en-US" sz="800" dirty="0"/>
          </a:p>
          <a:p>
            <a:endParaRPr lang="en-US" sz="800" dirty="0"/>
          </a:p>
        </p:txBody>
      </p:sp>
      <p:sp>
        <p:nvSpPr>
          <p:cNvPr id="4" name="Slide Number Placeholder 3"/>
          <p:cNvSpPr>
            <a:spLocks noGrp="1"/>
          </p:cNvSpPr>
          <p:nvPr>
            <p:ph type="sldNum" sz="quarter" idx="10"/>
          </p:nvPr>
        </p:nvSpPr>
        <p:spPr/>
        <p:txBody>
          <a:bodyPr/>
          <a:lstStyle/>
          <a:p>
            <a:fld id="{7B4AD5B4-0444-431F-910B-BA532084FB7B}" type="slidenum">
              <a:rPr lang="en-US" smtClean="0"/>
              <a:pPr/>
              <a:t>9</a:t>
            </a:fld>
            <a:endParaRPr lang="en-US"/>
          </a:p>
        </p:txBody>
      </p:sp>
    </p:spTree>
    <p:extLst>
      <p:ext uri="{BB962C8B-B14F-4D97-AF65-F5344CB8AC3E}">
        <p14:creationId xmlns:p14="http://schemas.microsoft.com/office/powerpoint/2010/main" val="12141476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000" dirty="0"/>
              <a:t>ABOP typically provides the following two major types of coverage for your business:</a:t>
            </a:r>
          </a:p>
          <a:p>
            <a:endParaRPr lang="en-US" sz="1000" dirty="0"/>
          </a:p>
          <a:p>
            <a:r>
              <a:rPr lang="en-US" sz="1000" b="1" dirty="0"/>
              <a:t>Coverage A (buildings): </a:t>
            </a:r>
            <a:r>
              <a:rPr lang="en-US" sz="1000" dirty="0"/>
              <a:t>This coverage includes the buildings and structures described in the declarations section. Among other things, this coverage also protects completed additions, indoor and outdoor fixtures, personal property furnished by you as landlord, and personal property used for service or maintenance of the buildings or premises. It may also include additions under construction and costs associated with building alterations or repairs. You don't need this coverage if you're a tenant in someone else's building.</a:t>
            </a:r>
          </a:p>
          <a:p>
            <a:endParaRPr lang="en-US" sz="1000" dirty="0"/>
          </a:p>
          <a:p>
            <a:r>
              <a:rPr lang="en-US" sz="1000" b="1" dirty="0"/>
              <a:t>Coverage B</a:t>
            </a:r>
            <a:r>
              <a:rPr lang="en-US" sz="1000" dirty="0"/>
              <a:t> (business personal property): This coverage includes property owned by you and used in your business operations. Your property is generally covered if it's in or on the described buildings, or within 100 feet of your business premises while in a vehicle or out in the open. You're also covered for the property of others while it's in your care, custody, or control (up to your legal liability, plus the costs of your labor, materials, and services).</a:t>
            </a:r>
          </a:p>
          <a:p>
            <a:endParaRPr lang="en-US" sz="1000" dirty="0"/>
          </a:p>
          <a:p>
            <a:r>
              <a:rPr lang="en-US" sz="1000" dirty="0"/>
              <a:t>A standard </a:t>
            </a:r>
            <a:r>
              <a:rPr lang="en-US" sz="1000" dirty="0" err="1"/>
              <a:t>deductibleis</a:t>
            </a:r>
            <a:r>
              <a:rPr lang="en-US" sz="1000" dirty="0"/>
              <a:t> often $250 per loss, though higher amounts may be available and will </a:t>
            </a:r>
            <a:r>
              <a:rPr lang="en-US" sz="1000" dirty="0" err="1"/>
              <a:t>usuallylower</a:t>
            </a:r>
            <a:r>
              <a:rPr lang="en-US" sz="1000" dirty="0"/>
              <a:t> your premium.</a:t>
            </a:r>
          </a:p>
          <a:p>
            <a:endParaRPr lang="en-US" sz="1000" dirty="0"/>
          </a:p>
        </p:txBody>
      </p:sp>
      <p:sp>
        <p:nvSpPr>
          <p:cNvPr id="4" name="Slide Number Placeholder 3"/>
          <p:cNvSpPr>
            <a:spLocks noGrp="1"/>
          </p:cNvSpPr>
          <p:nvPr>
            <p:ph type="sldNum" sz="quarter" idx="10"/>
          </p:nvPr>
        </p:nvSpPr>
        <p:spPr/>
        <p:txBody>
          <a:bodyPr/>
          <a:lstStyle/>
          <a:p>
            <a:fld id="{7B4AD5B4-0444-431F-910B-BA532084FB7B}" type="slidenum">
              <a:rPr lang="en-US" smtClean="0"/>
              <a:pPr/>
              <a:t>10</a:t>
            </a:fld>
            <a:endParaRPr lang="en-US"/>
          </a:p>
        </p:txBody>
      </p:sp>
    </p:spTree>
    <p:extLst>
      <p:ext uri="{BB962C8B-B14F-4D97-AF65-F5344CB8AC3E}">
        <p14:creationId xmlns:p14="http://schemas.microsoft.com/office/powerpoint/2010/main" val="5556998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r>
              <a:rPr lang="en-US" b="1" dirty="0"/>
              <a:t>Frame buildings </a:t>
            </a:r>
            <a:r>
              <a:rPr lang="en-US" dirty="0"/>
              <a:t>are buildings with exterior walls, floors, and roofs with combustible construction — or buildings with exterior walls of noncombustible or slow-burning construction with combustible floors and roofs. </a:t>
            </a:r>
          </a:p>
          <a:p>
            <a:pPr lvl="1"/>
            <a:r>
              <a:rPr lang="en-US" dirty="0"/>
              <a:t>Frame buildings generally have roof, floor, and supports of combustible material, usually wood, and combustible interior walls. </a:t>
            </a:r>
          </a:p>
          <a:p>
            <a:pPr lvl="1"/>
            <a:endParaRPr lang="en-US" dirty="0"/>
          </a:p>
          <a:p>
            <a:pPr lvl="1"/>
            <a:r>
              <a:rPr lang="en-US" b="1" dirty="0"/>
              <a:t>Joisted Masonry </a:t>
            </a:r>
            <a:r>
              <a:rPr lang="en-US" dirty="0"/>
              <a:t>buildings are buildings with exterior walls of masonry or fire-resistive construction rated for not less than one hour and with combustible floors and roofs.</a:t>
            </a:r>
          </a:p>
          <a:p>
            <a:pPr lvl="1"/>
            <a:endParaRPr lang="en-US" dirty="0"/>
          </a:p>
          <a:p>
            <a:pPr>
              <a:buFontTx/>
              <a:buChar char="•"/>
            </a:pPr>
            <a:r>
              <a:rPr lang="en-US" b="1" dirty="0"/>
              <a:t>Light Non Combustible </a:t>
            </a:r>
            <a:r>
              <a:rPr lang="en-US" dirty="0"/>
              <a:t>buildings are buildings with exterior walls of light metal or other Noncombustible material and with Noncombustible floors and roofs:</a:t>
            </a:r>
            <a:br>
              <a:rPr lang="en-US" dirty="0"/>
            </a:br>
            <a:r>
              <a:rPr lang="en-US" dirty="0"/>
              <a:t>buildings with exterior walls, floors, and roofs of noncombustible or slow-burning materials </a:t>
            </a:r>
          </a:p>
          <a:p>
            <a:pPr lvl="1">
              <a:buFontTx/>
              <a:buChar char="•"/>
            </a:pPr>
            <a:r>
              <a:rPr lang="en-US" dirty="0"/>
              <a:t>building supports of noncombustible or slow-burning materials </a:t>
            </a:r>
          </a:p>
          <a:p>
            <a:pPr lvl="1">
              <a:buFontTx/>
              <a:buChar char="•"/>
            </a:pPr>
            <a:r>
              <a:rPr lang="en-US" dirty="0"/>
              <a:t>noncombustible or slow-burning roof decks on noncombustible or slow-burning supports — regardless of the type of insulation on the roof surface </a:t>
            </a:r>
          </a:p>
          <a:p>
            <a:pPr lvl="1"/>
            <a:endParaRPr lang="en-US" dirty="0"/>
          </a:p>
          <a:p>
            <a:endParaRPr lang="en-US" sz="1000" dirty="0"/>
          </a:p>
        </p:txBody>
      </p:sp>
      <p:sp>
        <p:nvSpPr>
          <p:cNvPr id="4" name="Slide Number Placeholder 3"/>
          <p:cNvSpPr>
            <a:spLocks noGrp="1"/>
          </p:cNvSpPr>
          <p:nvPr>
            <p:ph type="sldNum" sz="quarter" idx="10"/>
          </p:nvPr>
        </p:nvSpPr>
        <p:spPr/>
        <p:txBody>
          <a:bodyPr/>
          <a:lstStyle/>
          <a:p>
            <a:fld id="{7B4AD5B4-0444-431F-910B-BA532084FB7B}" type="slidenum">
              <a:rPr lang="en-US" smtClean="0"/>
              <a:pPr/>
              <a:t>11</a:t>
            </a:fld>
            <a:endParaRPr lang="en-US"/>
          </a:p>
        </p:txBody>
      </p:sp>
    </p:spTree>
    <p:extLst>
      <p:ext uri="{BB962C8B-B14F-4D97-AF65-F5344CB8AC3E}">
        <p14:creationId xmlns:p14="http://schemas.microsoft.com/office/powerpoint/2010/main" val="41579521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defRPr/>
            </a:pPr>
            <a:r>
              <a:rPr lang="en-US" b="1" dirty="0"/>
              <a:t>Masonry non-combustible buildings </a:t>
            </a:r>
            <a:r>
              <a:rPr lang="en-US" dirty="0"/>
              <a:t>are buildings with exterior walls of masonry material and with noncombustible or slow burning floors and roofs.</a:t>
            </a:r>
            <a:br>
              <a:rPr lang="en-US" dirty="0"/>
            </a:br>
            <a:r>
              <a:rPr lang="en-US" dirty="0"/>
              <a:t>buildings with exterior walls of masonry — not less than four inches thick, or </a:t>
            </a:r>
          </a:p>
          <a:p>
            <a:pPr lvl="1">
              <a:buFont typeface="Arial" pitchFamily="34" charset="0"/>
              <a:buChar char="•"/>
              <a:defRPr/>
            </a:pPr>
            <a:r>
              <a:rPr lang="en-US" dirty="0"/>
              <a:t>buildings with exterior walls of fire-resistive construction — with a rating of not less than one hour, and </a:t>
            </a:r>
          </a:p>
          <a:p>
            <a:pPr lvl="1">
              <a:buFont typeface="Arial" pitchFamily="34" charset="0"/>
              <a:buChar char="•"/>
              <a:defRPr/>
            </a:pPr>
            <a:r>
              <a:rPr lang="en-US" dirty="0"/>
              <a:t>noncombustible or slow-burning floors and roofs — regardless of the type of insulation on the roof surface</a:t>
            </a:r>
          </a:p>
          <a:p>
            <a:pPr>
              <a:defRPr/>
            </a:pPr>
            <a:endParaRPr lang="en-US" dirty="0"/>
          </a:p>
          <a:p>
            <a:pPr>
              <a:buFont typeface="Arial" pitchFamily="34" charset="0"/>
              <a:buChar char="•"/>
              <a:defRPr/>
            </a:pPr>
            <a:r>
              <a:rPr lang="en-US" b="1" dirty="0"/>
              <a:t>Modified Fire Resistive Buildings </a:t>
            </a:r>
            <a:r>
              <a:rPr lang="en-US" dirty="0"/>
              <a:t>are buildings where the exterior bearing walls and load-bearing portions of exterior walls must be of noncombustible materials or of masonry, but exterior nonbearing walls and wall panels may be slow-burning, combustible, or with no fire- resistance rating.</a:t>
            </a:r>
            <a:br>
              <a:rPr lang="en-US" dirty="0"/>
            </a:br>
            <a:r>
              <a:rPr lang="en-US" dirty="0"/>
              <a:t>Buildings with exterior walls, floors, and roofs of masonry materials described in the definition of fire resistive (Construction Class 6) — less thick than required for fire-resistive structures but not less than four inches thick, or </a:t>
            </a:r>
          </a:p>
          <a:p>
            <a:pPr lvl="1">
              <a:buFont typeface="Arial" pitchFamily="34" charset="0"/>
              <a:buChar char="•"/>
              <a:defRPr/>
            </a:pPr>
            <a:r>
              <a:rPr lang="en-US" dirty="0"/>
              <a:t>Fire-resistive materials with a fire-resistance rating less than two hours but not less than one hour</a:t>
            </a:r>
          </a:p>
          <a:p>
            <a:pPr lvl="1">
              <a:buFont typeface="Arial" pitchFamily="34" charset="0"/>
              <a:buNone/>
              <a:defRPr/>
            </a:pPr>
            <a:endParaRPr lang="en-US" dirty="0"/>
          </a:p>
          <a:p>
            <a:pPr lvl="1">
              <a:buFont typeface="Arial" pitchFamily="34" charset="0"/>
              <a:buNone/>
              <a:defRPr/>
            </a:pPr>
            <a:r>
              <a:rPr lang="en-US" b="1" dirty="0"/>
              <a:t>Fire Resistive Construction -</a:t>
            </a:r>
            <a:r>
              <a:rPr lang="en-US" dirty="0"/>
              <a:t>The exterior bearing walls and load-bearing portions of exterior walls must be of noncombustible materials or of masonry, but exterior nonbearing walls and wall panels may be slow burning, combustible, or with no fire-resistance rating.</a:t>
            </a:r>
          </a:p>
          <a:p>
            <a:endParaRPr lang="en-US" sz="1000" dirty="0"/>
          </a:p>
        </p:txBody>
      </p:sp>
      <p:sp>
        <p:nvSpPr>
          <p:cNvPr id="4" name="Slide Number Placeholder 3"/>
          <p:cNvSpPr>
            <a:spLocks noGrp="1"/>
          </p:cNvSpPr>
          <p:nvPr>
            <p:ph type="sldNum" sz="quarter" idx="10"/>
          </p:nvPr>
        </p:nvSpPr>
        <p:spPr/>
        <p:txBody>
          <a:bodyPr/>
          <a:lstStyle/>
          <a:p>
            <a:fld id="{7B4AD5B4-0444-431F-910B-BA532084FB7B}" type="slidenum">
              <a:rPr lang="en-US" smtClean="0"/>
              <a:pPr/>
              <a:t>12</a:t>
            </a:fld>
            <a:endParaRPr lang="en-US"/>
          </a:p>
        </p:txBody>
      </p:sp>
    </p:spTree>
    <p:extLst>
      <p:ext uri="{BB962C8B-B14F-4D97-AF65-F5344CB8AC3E}">
        <p14:creationId xmlns:p14="http://schemas.microsoft.com/office/powerpoint/2010/main" val="32208502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defRPr/>
            </a:pPr>
            <a:r>
              <a:rPr lang="en-US" sz="1000" dirty="0"/>
              <a:t>The BCEGS assesses the building codes in effect in a particular community. The </a:t>
            </a:r>
            <a:r>
              <a:rPr lang="en-US" sz="1000" dirty="0" err="1"/>
              <a:t>programme</a:t>
            </a:r>
            <a:endParaRPr lang="en-US" sz="1000" dirty="0"/>
          </a:p>
          <a:p>
            <a:pPr>
              <a:defRPr/>
            </a:pPr>
            <a:r>
              <a:rPr lang="en-US" sz="1000" dirty="0"/>
              <a:t>also evaluates how the community enforces its building codes, with special emphasis on</a:t>
            </a:r>
          </a:p>
          <a:p>
            <a:pPr>
              <a:defRPr/>
            </a:pPr>
            <a:r>
              <a:rPr lang="en-US" sz="1000" dirty="0"/>
              <a:t>mitigation of losses from natural hazards.</a:t>
            </a:r>
          </a:p>
          <a:p>
            <a:pPr>
              <a:defRPr/>
            </a:pPr>
            <a:endParaRPr lang="en-US" sz="1000" dirty="0"/>
          </a:p>
          <a:p>
            <a:pPr>
              <a:defRPr/>
            </a:pPr>
            <a:r>
              <a:rPr lang="en-US" sz="1000" dirty="0"/>
              <a:t>The ISO collects information on building code adoption and enforcement services by distributing a detailed questionnaire to the community’s building official. Once the Building Code Effectiveness Grading Schedule questionnaire is complete, the ISO arranges for one of more than 40 field representatives to meet at the community site with the building official. Together, the ISO representative and building official review and verify the community’s capabilities. Each review usually takes between two and four hours. The ISO field representative then tabulates the points scored on the various sections of the schedule. The total score determines the community’s Building Code Effectiveness Classification.</a:t>
            </a:r>
          </a:p>
          <a:p>
            <a:pPr>
              <a:defRPr/>
            </a:pPr>
            <a:endParaRPr lang="en-US" sz="1000" dirty="0"/>
          </a:p>
          <a:p>
            <a:pPr>
              <a:defRPr/>
            </a:pPr>
            <a:r>
              <a:rPr lang="en-US" sz="1000" b="1" dirty="0"/>
              <a:t>ISO's Public Protection Classification (PPC) </a:t>
            </a:r>
            <a:r>
              <a:rPr lang="en-US" sz="1000" dirty="0"/>
              <a:t>Service gauges the capacity of the local fire department to respond if flames engulf a property in which your company has a financial stake.</a:t>
            </a:r>
          </a:p>
          <a:p>
            <a:pPr>
              <a:defRPr/>
            </a:pPr>
            <a:endParaRPr lang="en-US" sz="1000" dirty="0"/>
          </a:p>
          <a:p>
            <a:pPr>
              <a:defRPr/>
            </a:pPr>
            <a:r>
              <a:rPr lang="en-US" sz="1000" dirty="0"/>
              <a:t>ISO collects information on a community's public fire protection and analyzes the data using our </a:t>
            </a:r>
            <a:r>
              <a:rPr lang="en-US" sz="1000" dirty="0">
                <a:hlinkClick r:id="rId3" tooltip="FSRS"/>
              </a:rPr>
              <a:t>Fire Suppression Rating Schedule (FSRS)</a:t>
            </a:r>
            <a:r>
              <a:rPr lang="en-US" sz="1000" dirty="0"/>
              <a:t>. We then assign a Public Protection Classification from 1 to 10. Class 1 generally represents superior property fire protection, and Class 10 indicates that the area's fire-suppression program doesn't meet ISO's minimum criteria.</a:t>
            </a:r>
          </a:p>
          <a:p>
            <a:endParaRPr lang="en-US" sz="1000" dirty="0"/>
          </a:p>
        </p:txBody>
      </p:sp>
      <p:sp>
        <p:nvSpPr>
          <p:cNvPr id="4" name="Slide Number Placeholder 3"/>
          <p:cNvSpPr>
            <a:spLocks noGrp="1"/>
          </p:cNvSpPr>
          <p:nvPr>
            <p:ph type="sldNum" sz="quarter" idx="10"/>
          </p:nvPr>
        </p:nvSpPr>
        <p:spPr/>
        <p:txBody>
          <a:bodyPr/>
          <a:lstStyle/>
          <a:p>
            <a:fld id="{7B4AD5B4-0444-431F-910B-BA532084FB7B}" type="slidenum">
              <a:rPr lang="en-US" smtClean="0"/>
              <a:pPr/>
              <a:t>13</a:t>
            </a:fld>
            <a:endParaRPr lang="en-US"/>
          </a:p>
        </p:txBody>
      </p:sp>
    </p:spTree>
    <p:extLst>
      <p:ext uri="{BB962C8B-B14F-4D97-AF65-F5344CB8AC3E}">
        <p14:creationId xmlns:p14="http://schemas.microsoft.com/office/powerpoint/2010/main" val="8966023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000" b="1" dirty="0"/>
              <a:t>Commercial Liability </a:t>
            </a:r>
            <a:r>
              <a:rPr lang="en-US" sz="1000" dirty="0"/>
              <a:t>- general liability insurance is that for covered claims, all damages, legal defense fees and settlement charges are paid by the insurer up to the limits of the policy</a:t>
            </a:r>
          </a:p>
          <a:p>
            <a:endParaRPr lang="en-US" sz="1000" dirty="0"/>
          </a:p>
          <a:p>
            <a:r>
              <a:rPr lang="en-US" sz="1000" b="1" dirty="0"/>
              <a:t>Inland Marine coverage - </a:t>
            </a:r>
            <a:r>
              <a:rPr lang="en-US" sz="1000" dirty="0"/>
              <a:t>Includes coverage for property in transit over land, certain moveable property, property under construction, instrumentalities of transportation and communication (such as bridges, roads, piers, and television and radio towers), legal liability coverage for </a:t>
            </a:r>
            <a:r>
              <a:rPr lang="en-US" sz="1000" dirty="0" err="1"/>
              <a:t>bailees</a:t>
            </a:r>
            <a:r>
              <a:rPr lang="en-US" sz="1000" dirty="0"/>
              <a:t>, and computerized equipment.</a:t>
            </a:r>
          </a:p>
          <a:p>
            <a:endParaRPr lang="en-US" sz="1000" dirty="0"/>
          </a:p>
        </p:txBody>
      </p:sp>
      <p:sp>
        <p:nvSpPr>
          <p:cNvPr id="4" name="Slide Number Placeholder 3"/>
          <p:cNvSpPr>
            <a:spLocks noGrp="1"/>
          </p:cNvSpPr>
          <p:nvPr>
            <p:ph type="sldNum" sz="quarter" idx="10"/>
          </p:nvPr>
        </p:nvSpPr>
        <p:spPr/>
        <p:txBody>
          <a:bodyPr/>
          <a:lstStyle/>
          <a:p>
            <a:fld id="{7B4AD5B4-0444-431F-910B-BA532084FB7B}" type="slidenum">
              <a:rPr lang="en-US" smtClean="0"/>
              <a:pPr/>
              <a:t>14</a:t>
            </a:fld>
            <a:endParaRPr lang="en-US"/>
          </a:p>
        </p:txBody>
      </p:sp>
    </p:spTree>
    <p:extLst>
      <p:ext uri="{BB962C8B-B14F-4D97-AF65-F5344CB8AC3E}">
        <p14:creationId xmlns:p14="http://schemas.microsoft.com/office/powerpoint/2010/main" val="42110859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000" b="1" dirty="0"/>
              <a:t>Illustration </a:t>
            </a:r>
            <a:r>
              <a:rPr lang="en-US" sz="1000" dirty="0"/>
              <a:t>- If an employee of your company has a serious auto accident in their own vehicle or in a rented vehicle while on company business and their personal insurance is not enough to cover the claim, your company can be held responsible</a:t>
            </a:r>
          </a:p>
          <a:p>
            <a:endParaRPr lang="en-US" sz="1000" dirty="0"/>
          </a:p>
          <a:p>
            <a:r>
              <a:rPr lang="en-US" sz="1000" b="1" dirty="0"/>
              <a:t>Hired Auto coverage </a:t>
            </a:r>
            <a:r>
              <a:rPr lang="en-US" sz="1000" dirty="0"/>
              <a:t>can either supplement or replace a car rental agency's liability coverage. But because Hired Auto insurance doesn't cover physical damage to a rented vehicle, it still makes sense to purchase the rental agency's physical damage coverage. The Hired Auto policy's liability coverage protects only your company, not the employee driving the rented vehicle. As such, it supplements the driver's own auto liability coverage. Just as if he or she were driving a personal vehicle, in the event of an accident, the employee would still be personally liable for injuries or property damage to third parties</a:t>
            </a:r>
          </a:p>
          <a:p>
            <a:endParaRPr lang="en-US" sz="1000" dirty="0"/>
          </a:p>
          <a:p>
            <a:r>
              <a:rPr lang="en-US" sz="1000" b="1" dirty="0"/>
              <a:t>Non-Owned Auto coverage</a:t>
            </a:r>
            <a:r>
              <a:rPr lang="en-US" sz="1000" dirty="0"/>
              <a:t> protects your company should it be sued due to an auto accident while one of your employees is on company business in a personal vehicle. Unlike a personal auto policy, this coverage will not protect you or your employee. As with Hired Auto coverage, this coverage protects the company only and supplements the driver's personal auto liability coverage.</a:t>
            </a:r>
          </a:p>
          <a:p>
            <a:endParaRPr lang="en-US" sz="1000" dirty="0"/>
          </a:p>
        </p:txBody>
      </p:sp>
      <p:sp>
        <p:nvSpPr>
          <p:cNvPr id="4" name="Slide Number Placeholder 3"/>
          <p:cNvSpPr>
            <a:spLocks noGrp="1"/>
          </p:cNvSpPr>
          <p:nvPr>
            <p:ph type="sldNum" sz="quarter" idx="10"/>
          </p:nvPr>
        </p:nvSpPr>
        <p:spPr/>
        <p:txBody>
          <a:bodyPr/>
          <a:lstStyle/>
          <a:p>
            <a:fld id="{7B4AD5B4-0444-431F-910B-BA532084FB7B}" type="slidenum">
              <a:rPr lang="en-US" smtClean="0"/>
              <a:pPr/>
              <a:t>15</a:t>
            </a:fld>
            <a:endParaRPr lang="en-US"/>
          </a:p>
        </p:txBody>
      </p:sp>
    </p:spTree>
    <p:extLst>
      <p:ext uri="{BB962C8B-B14F-4D97-AF65-F5344CB8AC3E}">
        <p14:creationId xmlns:p14="http://schemas.microsoft.com/office/powerpoint/2010/main" val="28066589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lvl="1">
              <a:defRPr/>
            </a:pPr>
            <a:r>
              <a:rPr lang="en-US" b="1" dirty="0"/>
              <a:t>EPLI insures</a:t>
            </a:r>
            <a:r>
              <a:rPr lang="en-US" dirty="0"/>
              <a:t> against claims of discrimination (based on age, sex, race, religion, color and national origin), sexual harassment claims, wrongful termination, infliction of emotional distress or stress and breach of contract, among others. The insurance covers claims and lawsuits filed against directors and officers regarding allegations of misconduct in how they treat employees, shareholders and decisions that affected the company.</a:t>
            </a:r>
          </a:p>
          <a:p>
            <a:pPr>
              <a:defRPr/>
            </a:pPr>
            <a:endParaRPr lang="en-US" b="1" dirty="0"/>
          </a:p>
          <a:p>
            <a:pPr>
              <a:defRPr/>
            </a:pPr>
            <a:r>
              <a:rPr lang="en-US" b="1" dirty="0"/>
              <a:t>EPLI </a:t>
            </a:r>
            <a:r>
              <a:rPr lang="en-US" dirty="0"/>
              <a:t>- The insurance covers claims and lawsuits filed against directors and officers regarding allegations of misconduct in how they treat employees, shareholders and decisions that affected the company.</a:t>
            </a:r>
          </a:p>
          <a:p>
            <a:pPr>
              <a:defRPr/>
            </a:pPr>
            <a:endParaRPr lang="en-US" dirty="0"/>
          </a:p>
          <a:p>
            <a:pPr>
              <a:defRPr/>
            </a:pPr>
            <a:r>
              <a:rPr lang="en-US" b="1" dirty="0"/>
              <a:t>Employee Benefit Liability coverage</a:t>
            </a:r>
            <a:r>
              <a:rPr lang="en-US" dirty="0"/>
              <a:t> - Liability of an employer for an error or omission in the administration of an employee benefit program, such as failure to advise employees of benefit programs. </a:t>
            </a:r>
          </a:p>
          <a:p>
            <a:pPr>
              <a:defRPr/>
            </a:pPr>
            <a:r>
              <a:rPr lang="en-US" b="1" dirty="0"/>
              <a:t>Illustration -</a:t>
            </a:r>
            <a:r>
              <a:rPr lang="en-US" dirty="0"/>
              <a:t> Busy Betty, office manager for your small business, functions in countless different job capacities ranging from purchasing agent to human resources manager. One day while dealing with other urgent issues, Betty forgets to enroll a new employee on your firm’s medical insurance plan. The error isn’t discovered until the employee is hospitalized with a life threatening cancerous tumor and the bills started to roll in—over $300,000 in all.</a:t>
            </a:r>
          </a:p>
          <a:p>
            <a:pPr>
              <a:defRPr/>
            </a:pPr>
            <a:r>
              <a:rPr lang="en-US" dirty="0"/>
              <a:t>What now?!</a:t>
            </a:r>
          </a:p>
          <a:p>
            <a:pPr>
              <a:defRPr/>
            </a:pPr>
            <a:r>
              <a:rPr lang="en-US" dirty="0"/>
              <a:t>Well, in a case like this, it’s safe to assume that busy Betty (your business essentially) will be found liable for the damages. </a:t>
            </a:r>
          </a:p>
          <a:p>
            <a:pPr>
              <a:defRPr/>
            </a:pPr>
            <a:endParaRPr lang="en-US" dirty="0"/>
          </a:p>
          <a:p>
            <a:pPr>
              <a:defRPr/>
            </a:pPr>
            <a:endParaRPr lang="en-US" dirty="0"/>
          </a:p>
          <a:p>
            <a:endParaRPr lang="en-US" sz="1000" dirty="0"/>
          </a:p>
        </p:txBody>
      </p:sp>
      <p:sp>
        <p:nvSpPr>
          <p:cNvPr id="4" name="Slide Number Placeholder 3"/>
          <p:cNvSpPr>
            <a:spLocks noGrp="1"/>
          </p:cNvSpPr>
          <p:nvPr>
            <p:ph type="sldNum" sz="quarter" idx="10"/>
          </p:nvPr>
        </p:nvSpPr>
        <p:spPr/>
        <p:txBody>
          <a:bodyPr/>
          <a:lstStyle/>
          <a:p>
            <a:fld id="{7B4AD5B4-0444-431F-910B-BA532084FB7B}" type="slidenum">
              <a:rPr lang="en-US" smtClean="0"/>
              <a:pPr/>
              <a:t>16</a:t>
            </a:fld>
            <a:endParaRPr lang="en-US"/>
          </a:p>
        </p:txBody>
      </p:sp>
    </p:spTree>
    <p:extLst>
      <p:ext uri="{BB962C8B-B14F-4D97-AF65-F5344CB8AC3E}">
        <p14:creationId xmlns:p14="http://schemas.microsoft.com/office/powerpoint/2010/main" val="34291860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defRPr/>
            </a:pPr>
            <a:r>
              <a:rPr lang="en-US" sz="1000" b="1" dirty="0"/>
              <a:t>Condominium association insurance</a:t>
            </a:r>
            <a:r>
              <a:rPr lang="en-US" sz="1000" dirty="0"/>
              <a:t> provides property and liability insurance for the overall owners association, whereas individual </a:t>
            </a:r>
            <a:r>
              <a:rPr lang="en-US" sz="1000" dirty="0">
                <a:hlinkClick r:id="rId3"/>
              </a:rPr>
              <a:t>condo</a:t>
            </a:r>
            <a:r>
              <a:rPr lang="en-US" sz="1000" dirty="0"/>
              <a:t> owners maintain separate insurance for their respective interests. Depending on the laws in the region where the condominium is located, the ownership interest of the association may vary from common areas to the entire structure, with individual condo owners only owning air space within their unit. Condominium association insurance policies will vary depending upon the extent of the association's ownership and obligations.</a:t>
            </a:r>
          </a:p>
          <a:p>
            <a:pPr>
              <a:defRPr/>
            </a:pPr>
            <a:endParaRPr lang="en-US" sz="1000" dirty="0"/>
          </a:p>
          <a:p>
            <a:pPr>
              <a:defRPr/>
            </a:pPr>
            <a:r>
              <a:rPr lang="en-US" sz="1000" b="1" dirty="0"/>
              <a:t>Illustration </a:t>
            </a:r>
            <a:r>
              <a:rPr lang="en-US" sz="1000" dirty="0"/>
              <a:t>– </a:t>
            </a:r>
          </a:p>
          <a:p>
            <a:pPr>
              <a:defRPr/>
            </a:pPr>
            <a:r>
              <a:rPr lang="en-US" sz="1000" b="1" dirty="0"/>
              <a:t>Lender claim</a:t>
            </a:r>
            <a:br>
              <a:rPr lang="en-US" sz="1000" b="1" dirty="0"/>
            </a:br>
            <a:r>
              <a:rPr lang="en-US" sz="1000" dirty="0"/>
              <a:t>Following expansion into the USA and refinancing for this purpose, a large UK food supply group went into liquidation. The group’s lending bankers accused the parent’s directors of negligently providing inaccurate statements of the financial and trading position of several subsidiaries. The bankers sued and the eventual settlement and </a:t>
            </a:r>
            <a:r>
              <a:rPr lang="en-US" sz="1000" dirty="0" err="1"/>
              <a:t>defence</a:t>
            </a:r>
            <a:r>
              <a:rPr lang="en-US" sz="1000" dirty="0"/>
              <a:t> costs came to £7,000,000.</a:t>
            </a:r>
            <a:br>
              <a:rPr lang="en-US" sz="1000" dirty="0"/>
            </a:br>
            <a:br>
              <a:rPr lang="en-US" sz="1000" dirty="0"/>
            </a:br>
            <a:r>
              <a:rPr lang="en-US" sz="1000" b="1" dirty="0"/>
              <a:t>Fraud prosecution</a:t>
            </a:r>
            <a:br>
              <a:rPr lang="en-US" sz="1000" b="1" dirty="0"/>
            </a:br>
            <a:r>
              <a:rPr lang="en-US" sz="1000" dirty="0"/>
              <a:t>Directors of a large retailer were investigated by the Serious Fraud Office and then prosecuted for the alleged fraudulent recording of sales which had not yet been achieved. The inflation of reported profits would influence the directors’ rewards. The directors were acquitted in a trial lasting over six months. It cost £20,000,000 to defend them.</a:t>
            </a:r>
          </a:p>
          <a:p>
            <a:pPr>
              <a:defRPr/>
            </a:pPr>
            <a:endParaRPr lang="en-US" sz="1000" dirty="0"/>
          </a:p>
          <a:p>
            <a:pPr>
              <a:defRPr/>
            </a:pPr>
            <a:r>
              <a:rPr lang="en-US" sz="1000" b="1" dirty="0"/>
              <a:t>Contractors Liability -</a:t>
            </a:r>
            <a:r>
              <a:rPr lang="en-US" sz="1000" dirty="0"/>
              <a:t> Provides protection if you cause bodily injury, property damage, or personal injury on a job site up to a certain limit.</a:t>
            </a:r>
            <a:br>
              <a:rPr lang="en-US" sz="1000" dirty="0"/>
            </a:br>
            <a:r>
              <a:rPr lang="en-US" sz="1000" dirty="0"/>
              <a:t>Example: One of your employees accidentally damages the plumbing in a building and causes water damage.</a:t>
            </a:r>
          </a:p>
          <a:p>
            <a:pPr>
              <a:defRPr/>
            </a:pPr>
            <a:endParaRPr lang="en-US" sz="1000" dirty="0"/>
          </a:p>
          <a:p>
            <a:pPr>
              <a:defRPr/>
            </a:pPr>
            <a:r>
              <a:rPr lang="en-US" sz="1000" b="1" dirty="0"/>
              <a:t>Contractors Pollution Liability </a:t>
            </a:r>
            <a:r>
              <a:rPr lang="en-US" sz="1000" dirty="0"/>
              <a:t>product covers losses caused by both sudden and gradual pollution events arising from pollution conditions caused whilst working on customer sites. First of all it includes bodily injury and property damage including clean-up of pollution conditions arising out of covered operations performed by the insured, moreover on and off-site clean-up costs and legal defense costs.</a:t>
            </a:r>
          </a:p>
          <a:p>
            <a:endParaRPr lang="en-US" sz="1000" dirty="0"/>
          </a:p>
        </p:txBody>
      </p:sp>
      <p:sp>
        <p:nvSpPr>
          <p:cNvPr id="4" name="Slide Number Placeholder 3"/>
          <p:cNvSpPr>
            <a:spLocks noGrp="1"/>
          </p:cNvSpPr>
          <p:nvPr>
            <p:ph type="sldNum" sz="quarter" idx="10"/>
          </p:nvPr>
        </p:nvSpPr>
        <p:spPr/>
        <p:txBody>
          <a:bodyPr/>
          <a:lstStyle/>
          <a:p>
            <a:fld id="{7B4AD5B4-0444-431F-910B-BA532084FB7B}" type="slidenum">
              <a:rPr lang="en-US" smtClean="0"/>
              <a:pPr/>
              <a:t>17</a:t>
            </a:fld>
            <a:endParaRPr lang="en-US"/>
          </a:p>
        </p:txBody>
      </p:sp>
    </p:spTree>
    <p:extLst>
      <p:ext uri="{BB962C8B-B14F-4D97-AF65-F5344CB8AC3E}">
        <p14:creationId xmlns:p14="http://schemas.microsoft.com/office/powerpoint/2010/main" val="26934405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defRPr/>
            </a:pPr>
            <a:r>
              <a:rPr lang="en-US" sz="1000" b="1" dirty="0"/>
              <a:t>Illustration – electronic Data liability - </a:t>
            </a:r>
            <a:r>
              <a:rPr lang="en-US" sz="1000" dirty="0"/>
              <a:t>Pipes Up, Inc., a large plumbing contractor, severs the main feeder cable to a large office building while excavating a trench to install a new sewer line. The resultant current surge damages the computer and electronic equipment of the tenants, most of whom are very dependent on their computer systems. Claims are made against Pipes for: </a:t>
            </a:r>
            <a:br>
              <a:rPr lang="en-US" sz="1000" dirty="0"/>
            </a:br>
            <a:r>
              <a:rPr lang="en-US" sz="1000" dirty="0"/>
              <a:t> • Repairs to the feeder cable  </a:t>
            </a:r>
            <a:br>
              <a:rPr lang="en-US" sz="1000" dirty="0"/>
            </a:br>
            <a:r>
              <a:rPr lang="en-US" sz="1000" dirty="0"/>
              <a:t> • Damage to computer hardware  </a:t>
            </a:r>
            <a:br>
              <a:rPr lang="en-US" sz="1000" dirty="0"/>
            </a:br>
            <a:r>
              <a:rPr lang="en-US" sz="1000" dirty="0"/>
              <a:t> • Damage to phone systems  </a:t>
            </a:r>
            <a:br>
              <a:rPr lang="en-US" sz="1000" dirty="0"/>
            </a:br>
            <a:r>
              <a:rPr lang="en-US" sz="1000" dirty="0"/>
              <a:t> • Loss of electronic data and programs  </a:t>
            </a:r>
            <a:br>
              <a:rPr lang="en-US" sz="1000" dirty="0"/>
            </a:br>
            <a:r>
              <a:rPr lang="en-US" sz="1000" dirty="0"/>
              <a:t> • Resultant loss of business </a:t>
            </a:r>
            <a:br>
              <a:rPr lang="en-US" sz="1000" dirty="0"/>
            </a:br>
            <a:endParaRPr lang="en-US" sz="1000" dirty="0"/>
          </a:p>
          <a:p>
            <a:pPr>
              <a:defRPr/>
            </a:pPr>
            <a:r>
              <a:rPr lang="en-US" sz="1000" b="1" dirty="0"/>
              <a:t>Limited Personal Property &amp; lost keys of others – </a:t>
            </a:r>
            <a:r>
              <a:rPr lang="en-US" sz="1000" dirty="0"/>
              <a:t>Many janitorial and cleaning services offer this insurance to its customer during there services. This liability would cover insured belongings and house keys when in custody of others.</a:t>
            </a:r>
          </a:p>
          <a:p>
            <a:pPr>
              <a:defRPr/>
            </a:pPr>
            <a:endParaRPr lang="en-US" sz="1000" dirty="0"/>
          </a:p>
          <a:p>
            <a:pPr>
              <a:defRPr/>
            </a:pPr>
            <a:r>
              <a:rPr lang="en-US" sz="1000" b="1" dirty="0"/>
              <a:t>Limited product withdrawal expense - </a:t>
            </a:r>
            <a:r>
              <a:rPr lang="en-US" sz="1000" dirty="0"/>
              <a:t>an enhancement to General Liability policies offered by endorsement - clients are better protected</a:t>
            </a:r>
          </a:p>
          <a:p>
            <a:pPr>
              <a:defRPr/>
            </a:pPr>
            <a:r>
              <a:rPr lang="en-US" sz="1000" dirty="0"/>
              <a:t>against the large expenses arising out of a product withdrawal or recall</a:t>
            </a:r>
          </a:p>
          <a:p>
            <a:pPr>
              <a:defRPr/>
            </a:pPr>
            <a:r>
              <a:rPr lang="en-US" sz="1000" b="1" dirty="0"/>
              <a:t>Product withdrawal includes the recall or withdrawal of a client’s product due to:</a:t>
            </a:r>
          </a:p>
          <a:p>
            <a:pPr>
              <a:defRPr/>
            </a:pPr>
            <a:r>
              <a:rPr lang="en-US" sz="1000" dirty="0"/>
              <a:t>– Known or suspected product defects which has caused or is reasonably expected to cause bodily injury or property damage</a:t>
            </a:r>
          </a:p>
          <a:p>
            <a:pPr>
              <a:defRPr/>
            </a:pPr>
            <a:r>
              <a:rPr lang="en-US" sz="1000" dirty="0"/>
              <a:t>– Known or suspected product tampering</a:t>
            </a:r>
          </a:p>
          <a:p>
            <a:pPr>
              <a:defRPr/>
            </a:pPr>
            <a:r>
              <a:rPr lang="en-US" sz="1000" dirty="0"/>
              <a:t>– Government mandated product recall during the policy period due to known product defects or product tampering</a:t>
            </a:r>
          </a:p>
          <a:p>
            <a:pPr>
              <a:defRPr/>
            </a:pPr>
            <a:r>
              <a:rPr lang="en-US" sz="1000" b="1" dirty="0"/>
              <a:t>Reimbursable expenses include:</a:t>
            </a:r>
          </a:p>
          <a:p>
            <a:pPr>
              <a:defRPr/>
            </a:pPr>
            <a:r>
              <a:rPr lang="en-US" sz="1000" dirty="0"/>
              <a:t>– Costs related to the notification of a product withdrawal</a:t>
            </a:r>
          </a:p>
          <a:p>
            <a:pPr>
              <a:defRPr/>
            </a:pPr>
            <a:r>
              <a:rPr lang="en-US" sz="1000" dirty="0"/>
              <a:t>– Transportation and storage costs</a:t>
            </a:r>
          </a:p>
          <a:p>
            <a:pPr>
              <a:defRPr/>
            </a:pPr>
            <a:r>
              <a:rPr lang="en-US" sz="1000" dirty="0"/>
              <a:t>– Hiring fees of temporary staff to manage the product withdrawal process</a:t>
            </a:r>
          </a:p>
          <a:p>
            <a:pPr>
              <a:defRPr/>
            </a:pPr>
            <a:r>
              <a:rPr lang="en-US" sz="1000" dirty="0"/>
              <a:t>– Overtime paid to the insured’s regular, “non-salaried” employees</a:t>
            </a:r>
          </a:p>
          <a:p>
            <a:pPr>
              <a:defRPr/>
            </a:pPr>
            <a:r>
              <a:rPr lang="en-US" sz="1000" dirty="0"/>
              <a:t>– Expenses incurred during the proper disposal of the product</a:t>
            </a:r>
            <a:endParaRPr lang="en-US" sz="1000" b="1" dirty="0"/>
          </a:p>
          <a:p>
            <a:endParaRPr lang="en-US" sz="1000" dirty="0"/>
          </a:p>
        </p:txBody>
      </p:sp>
      <p:sp>
        <p:nvSpPr>
          <p:cNvPr id="4" name="Slide Number Placeholder 3"/>
          <p:cNvSpPr>
            <a:spLocks noGrp="1"/>
          </p:cNvSpPr>
          <p:nvPr>
            <p:ph type="sldNum" sz="quarter" idx="10"/>
          </p:nvPr>
        </p:nvSpPr>
        <p:spPr/>
        <p:txBody>
          <a:bodyPr/>
          <a:lstStyle/>
          <a:p>
            <a:fld id="{7B4AD5B4-0444-431F-910B-BA532084FB7B}" type="slidenum">
              <a:rPr lang="en-US" smtClean="0"/>
              <a:pPr/>
              <a:t>18</a:t>
            </a:fld>
            <a:endParaRPr lang="en-US"/>
          </a:p>
        </p:txBody>
      </p:sp>
    </p:spTree>
    <p:extLst>
      <p:ext uri="{BB962C8B-B14F-4D97-AF65-F5344CB8AC3E}">
        <p14:creationId xmlns:p14="http://schemas.microsoft.com/office/powerpoint/2010/main" val="39357198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a:t>The primary reason for professional liability coverage is that a typical general </a:t>
            </a:r>
            <a:r>
              <a:rPr lang="en-US" sz="1000" dirty="0">
                <a:hlinkClick r:id="rId3" action="ppaction://hlinkfile"/>
              </a:rPr>
              <a:t>liability insurance</a:t>
            </a:r>
            <a:r>
              <a:rPr lang="en-US" sz="1000" dirty="0"/>
              <a:t> policy will only respond to a bodily injury, property damage, personal injury or advertising injury claim. The above mentioned professional services and products can cause claims without causing a bodily injury, property damage, personal injury or advertising injury. Common reasons alleged in making claims on these policies are negligence, misrepresentation, violation of good faith and fair dealing, and inaccurate advice. For example, if a software product fails to perform properly, it may not cause physical damages, personal or advertising injuries, therefore the general liability policy would not be triggered. It may, however, directly cause financial losses which could potentially be attributed to the software developer's misrepresentation of the product capabilities. Importantly, the coverage may not just cover the financial loss but also provide for the </a:t>
            </a:r>
            <a:r>
              <a:rPr lang="en-US" sz="1000" dirty="0" err="1"/>
              <a:t>defence</a:t>
            </a:r>
            <a:r>
              <a:rPr lang="en-US" sz="1000" dirty="0"/>
              <a:t> costs - even if a legal action turns out to be groundless.</a:t>
            </a:r>
          </a:p>
          <a:p>
            <a:endParaRPr lang="en-US" sz="1000" dirty="0"/>
          </a:p>
        </p:txBody>
      </p:sp>
      <p:sp>
        <p:nvSpPr>
          <p:cNvPr id="4" name="Slide Number Placeholder 3"/>
          <p:cNvSpPr>
            <a:spLocks noGrp="1"/>
          </p:cNvSpPr>
          <p:nvPr>
            <p:ph type="sldNum" sz="quarter" idx="10"/>
          </p:nvPr>
        </p:nvSpPr>
        <p:spPr/>
        <p:txBody>
          <a:bodyPr/>
          <a:lstStyle/>
          <a:p>
            <a:fld id="{7B4AD5B4-0444-431F-910B-BA532084FB7B}" type="slidenum">
              <a:rPr lang="en-US" smtClean="0"/>
              <a:pPr/>
              <a:t>19</a:t>
            </a:fld>
            <a:endParaRPr lang="en-US"/>
          </a:p>
        </p:txBody>
      </p:sp>
    </p:spTree>
    <p:extLst>
      <p:ext uri="{BB962C8B-B14F-4D97-AF65-F5344CB8AC3E}">
        <p14:creationId xmlns:p14="http://schemas.microsoft.com/office/powerpoint/2010/main" val="26518297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000" dirty="0"/>
          </a:p>
        </p:txBody>
      </p:sp>
      <p:sp>
        <p:nvSpPr>
          <p:cNvPr id="4" name="Slide Number Placeholder 3"/>
          <p:cNvSpPr>
            <a:spLocks noGrp="1"/>
          </p:cNvSpPr>
          <p:nvPr>
            <p:ph type="sldNum" sz="quarter" idx="10"/>
          </p:nvPr>
        </p:nvSpPr>
        <p:spPr/>
        <p:txBody>
          <a:bodyPr/>
          <a:lstStyle/>
          <a:p>
            <a:fld id="{7B4AD5B4-0444-431F-910B-BA532084FB7B}" type="slidenum">
              <a:rPr lang="en-US" smtClean="0"/>
              <a:pPr/>
              <a:t>20</a:t>
            </a:fld>
            <a:endParaRPr lang="en-US"/>
          </a:p>
        </p:txBody>
      </p:sp>
    </p:spTree>
    <p:extLst>
      <p:ext uri="{BB962C8B-B14F-4D97-AF65-F5344CB8AC3E}">
        <p14:creationId xmlns:p14="http://schemas.microsoft.com/office/powerpoint/2010/main" val="39836059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defRPr/>
            </a:pPr>
            <a:r>
              <a:rPr lang="en-US" sz="1000" b="1" dirty="0" err="1"/>
              <a:t>Garagekeepers</a:t>
            </a:r>
            <a:r>
              <a:rPr lang="en-US" sz="1000" b="1" dirty="0"/>
              <a:t> Legal Liability coverage</a:t>
            </a:r>
            <a:r>
              <a:rPr lang="en-US" sz="1000" dirty="0"/>
              <a:t> is an optional coverage designed for business owners who offer towing services or operate service stations. It protects a customer's vehicle when you are keeping it at a covered location for parking or storing, or to perform service.</a:t>
            </a:r>
          </a:p>
          <a:p>
            <a:pPr>
              <a:defRPr/>
            </a:pPr>
            <a:r>
              <a:rPr lang="en-US" sz="1000" dirty="0" err="1"/>
              <a:t>Garagekeepers</a:t>
            </a:r>
            <a:r>
              <a:rPr lang="en-US" sz="1000" dirty="0"/>
              <a:t> Legal Liability insurance provides protection in case a vehicle is damaged by fire, theft, vandalism or collision.</a:t>
            </a:r>
          </a:p>
          <a:p>
            <a:pPr>
              <a:defRPr/>
            </a:pPr>
            <a:endParaRPr lang="en-US" sz="1000" dirty="0"/>
          </a:p>
          <a:p>
            <a:pPr>
              <a:defRPr/>
            </a:pPr>
            <a:r>
              <a:rPr lang="en-US" sz="1000" dirty="0"/>
              <a:t>If your business offers towing or service station services, </a:t>
            </a:r>
            <a:r>
              <a:rPr lang="en-US" sz="1000" dirty="0" err="1"/>
              <a:t>Garagekeepers</a:t>
            </a:r>
            <a:r>
              <a:rPr lang="en-US" sz="1000" dirty="0"/>
              <a:t> Legal Liability coverage is for you because it protects you when you are storing customers' vehicles.</a:t>
            </a:r>
          </a:p>
          <a:p>
            <a:pPr>
              <a:defRPr/>
            </a:pPr>
            <a:endParaRPr lang="en-US" sz="1000" dirty="0"/>
          </a:p>
          <a:p>
            <a:pPr>
              <a:defRPr/>
            </a:pPr>
            <a:r>
              <a:rPr lang="en-US" sz="1000" b="1" dirty="0"/>
              <a:t>Liquor liability insurance</a:t>
            </a:r>
            <a:r>
              <a:rPr lang="en-US" sz="1000" dirty="0"/>
              <a:t> is business insurance that protects your business against loss or damages claimed as a result of a patron of your business becoming intoxicated and injuring themselves or others. If your business manufactures, sells, serves, or facilitates the uses or purchase of alcohol, then your business may need this coverage.</a:t>
            </a:r>
          </a:p>
          <a:p>
            <a:pPr>
              <a:defRPr/>
            </a:pPr>
            <a:endParaRPr lang="en-US" sz="1000" dirty="0"/>
          </a:p>
          <a:p>
            <a:pPr>
              <a:defRPr/>
            </a:pPr>
            <a:r>
              <a:rPr lang="en-US" sz="1000" b="1" dirty="0"/>
              <a:t>For example</a:t>
            </a:r>
            <a:r>
              <a:rPr lang="en-US" sz="1000" dirty="0"/>
              <a:t>, if someone gets drunk at a bar and is involved in a car wreck, the bar is liable for the drunk's activity, and the bar could potentially be forced to pay a very high liability claim. People are liable for injuries their drunk patrons do to themselves, as when someone who is intoxicated falls down a flight of stairs, and for accidents which are determined to be the fault of someone who was drunk.</a:t>
            </a:r>
          </a:p>
          <a:p>
            <a:pPr>
              <a:defRPr/>
            </a:pPr>
            <a:endParaRPr lang="en-US" sz="1000" dirty="0"/>
          </a:p>
          <a:p>
            <a:pPr>
              <a:defRPr/>
            </a:pPr>
            <a:endParaRPr lang="en-US" sz="1000" dirty="0"/>
          </a:p>
          <a:p>
            <a:endParaRPr lang="en-US" sz="1000" dirty="0"/>
          </a:p>
        </p:txBody>
      </p:sp>
      <p:sp>
        <p:nvSpPr>
          <p:cNvPr id="4" name="Slide Number Placeholder 3"/>
          <p:cNvSpPr>
            <a:spLocks noGrp="1"/>
          </p:cNvSpPr>
          <p:nvPr>
            <p:ph type="sldNum" sz="quarter" idx="10"/>
          </p:nvPr>
        </p:nvSpPr>
        <p:spPr/>
        <p:txBody>
          <a:bodyPr/>
          <a:lstStyle/>
          <a:p>
            <a:fld id="{7B4AD5B4-0444-431F-910B-BA532084FB7B}" type="slidenum">
              <a:rPr lang="en-US" smtClean="0"/>
              <a:pPr/>
              <a:t>21</a:t>
            </a:fld>
            <a:endParaRPr lang="en-US"/>
          </a:p>
        </p:txBody>
      </p:sp>
    </p:spTree>
    <p:extLst>
      <p:ext uri="{BB962C8B-B14F-4D97-AF65-F5344CB8AC3E}">
        <p14:creationId xmlns:p14="http://schemas.microsoft.com/office/powerpoint/2010/main" val="11286120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1" dirty="0"/>
              <a:t>An example of when computer insurance coverage may be beneficial: </a:t>
            </a:r>
            <a:r>
              <a:rPr lang="en-US" sz="1000" dirty="0"/>
              <a:t>Company A owes Company B money. An employee of Company B hacks into Company A's computers through its website. The employee accesses Company A's accounts payable system. Once inside, she substitutes her own bank account information and routing number for Company B's, causing future payments made to Company B to actual go to her bank account. Travelers indicates that this type of scenario would be covered under a computer fraud policy. On the other hand, if the employee had hacked into Company A's actual bank account to steal the money, Company A should look for this type of action to be covered by an electronic funds transfer policy</a:t>
            </a:r>
          </a:p>
          <a:p>
            <a:endParaRPr lang="en-US" sz="1000" dirty="0"/>
          </a:p>
        </p:txBody>
      </p:sp>
      <p:sp>
        <p:nvSpPr>
          <p:cNvPr id="4" name="Slide Number Placeholder 3"/>
          <p:cNvSpPr>
            <a:spLocks noGrp="1"/>
          </p:cNvSpPr>
          <p:nvPr>
            <p:ph type="sldNum" sz="quarter" idx="10"/>
          </p:nvPr>
        </p:nvSpPr>
        <p:spPr/>
        <p:txBody>
          <a:bodyPr/>
          <a:lstStyle/>
          <a:p>
            <a:fld id="{7B4AD5B4-0444-431F-910B-BA532084FB7B}" type="slidenum">
              <a:rPr lang="en-US" smtClean="0"/>
              <a:pPr/>
              <a:t>22</a:t>
            </a:fld>
            <a:endParaRPr lang="en-US"/>
          </a:p>
        </p:txBody>
      </p:sp>
    </p:spTree>
    <p:extLst>
      <p:ext uri="{BB962C8B-B14F-4D97-AF65-F5344CB8AC3E}">
        <p14:creationId xmlns:p14="http://schemas.microsoft.com/office/powerpoint/2010/main" val="35489261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defRPr/>
            </a:pPr>
            <a:r>
              <a:rPr lang="en-US" dirty="0"/>
              <a:t>Employee dishonesty coverage is meant to cover your business against criminal acts of any kind by your employees. It could be theft with a view to financial gain, or willful damage to your property out of any motive.</a:t>
            </a:r>
          </a:p>
          <a:p>
            <a:pPr>
              <a:defRPr/>
            </a:pPr>
            <a:r>
              <a:rPr lang="en-US" b="1" dirty="0"/>
              <a:t>1) Theft:</a:t>
            </a:r>
          </a:p>
          <a:p>
            <a:pPr>
              <a:defRPr/>
            </a:pPr>
            <a:r>
              <a:rPr lang="en-US" dirty="0"/>
              <a:t>When employees steal money, equipment, property of any kind, or securities like passwords, bonds etc., you can suffer huge financial losses. Employee dishonesty coverage safeguards you from such loss.</a:t>
            </a:r>
          </a:p>
          <a:p>
            <a:pPr>
              <a:defRPr/>
            </a:pPr>
            <a:r>
              <a:rPr lang="en-US" b="1" dirty="0"/>
              <a:t>2) Damage to Property:</a:t>
            </a:r>
          </a:p>
          <a:p>
            <a:pPr>
              <a:defRPr/>
            </a:pPr>
            <a:r>
              <a:rPr lang="en-US" dirty="0"/>
              <a:t>Willful damage to property by an employee out of rage, revenge, or any other motive can also cripple your business. Employee Dishonesty Coverage covers this kind of damage.</a:t>
            </a:r>
          </a:p>
          <a:p>
            <a:pPr>
              <a:defRPr/>
            </a:pPr>
            <a:endParaRPr lang="en-US" dirty="0"/>
          </a:p>
          <a:p>
            <a:pPr>
              <a:defRPr/>
            </a:pPr>
            <a:r>
              <a:rPr lang="en-US" dirty="0"/>
              <a:t>ERISA is the Employee Retirement Income Security Act, a federal law enacted in 1974. ERISA established minimum standards for plan administrators and investment advisers to protect employee pension and health plans in the private sector.</a:t>
            </a:r>
          </a:p>
          <a:p>
            <a:pPr>
              <a:defRPr/>
            </a:pPr>
            <a:r>
              <a:rPr lang="en-US" b="1" dirty="0"/>
              <a:t>ERISA Bond</a:t>
            </a:r>
          </a:p>
          <a:p>
            <a:pPr lvl="1">
              <a:defRPr/>
            </a:pPr>
            <a:r>
              <a:rPr lang="en-US" dirty="0"/>
              <a:t>ERISA requires that plan officials who manage, oversee, recommend or handle funds or other property of an employee benefit plan must be covered by a personal fidelity bond, according to the U.S. Department of Labor.</a:t>
            </a:r>
          </a:p>
          <a:p>
            <a:pPr>
              <a:defRPr/>
            </a:pPr>
            <a:endParaRPr lang="en-US" dirty="0"/>
          </a:p>
          <a:p>
            <a:pPr>
              <a:defRPr/>
            </a:pPr>
            <a:endParaRPr lang="en-US" dirty="0"/>
          </a:p>
          <a:p>
            <a:endParaRPr lang="en-US" sz="1000" dirty="0"/>
          </a:p>
        </p:txBody>
      </p:sp>
      <p:sp>
        <p:nvSpPr>
          <p:cNvPr id="4" name="Slide Number Placeholder 3"/>
          <p:cNvSpPr>
            <a:spLocks noGrp="1"/>
          </p:cNvSpPr>
          <p:nvPr>
            <p:ph type="sldNum" sz="quarter" idx="10"/>
          </p:nvPr>
        </p:nvSpPr>
        <p:spPr/>
        <p:txBody>
          <a:bodyPr/>
          <a:lstStyle/>
          <a:p>
            <a:fld id="{7B4AD5B4-0444-431F-910B-BA532084FB7B}" type="slidenum">
              <a:rPr lang="en-US" smtClean="0"/>
              <a:pPr/>
              <a:t>23</a:t>
            </a:fld>
            <a:endParaRPr lang="en-US"/>
          </a:p>
        </p:txBody>
      </p:sp>
    </p:spTree>
    <p:extLst>
      <p:ext uri="{BB962C8B-B14F-4D97-AF65-F5344CB8AC3E}">
        <p14:creationId xmlns:p14="http://schemas.microsoft.com/office/powerpoint/2010/main" val="26357580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defRPr/>
            </a:pPr>
            <a:r>
              <a:rPr lang="en-US" sz="1000" dirty="0"/>
              <a:t>If “fungi”, wet or dry rot, or bacteria results from a covered peril and damages your property, loss caused by</a:t>
            </a:r>
          </a:p>
          <a:p>
            <a:pPr>
              <a:defRPr/>
            </a:pPr>
            <a:r>
              <a:rPr lang="en-US" sz="1000" dirty="0"/>
              <a:t>such “fungi”, wet or dry rot, or bacteria is covered. However, the amount of insurance available for such</a:t>
            </a:r>
          </a:p>
          <a:p>
            <a:pPr>
              <a:defRPr/>
            </a:pPr>
            <a:r>
              <a:rPr lang="en-US" sz="1000" dirty="0"/>
              <a:t>coverage is limited to the amount specified on the Endorsement or, if not on the Endorsement, the</a:t>
            </a:r>
          </a:p>
          <a:p>
            <a:pPr>
              <a:defRPr/>
            </a:pPr>
            <a:r>
              <a:rPr lang="en-US" sz="1000" dirty="0"/>
              <a:t>Declarations Page of your policy.</a:t>
            </a:r>
          </a:p>
          <a:p>
            <a:pPr>
              <a:defRPr/>
            </a:pPr>
            <a:r>
              <a:rPr lang="en-US" sz="1000" dirty="0"/>
              <a:t>Coverage, up to the specified amount of insurance, includes:</a:t>
            </a:r>
          </a:p>
          <a:p>
            <a:pPr>
              <a:defRPr/>
            </a:pPr>
            <a:r>
              <a:rPr lang="en-US" sz="1000" dirty="0"/>
              <a:t>1. The cost to remove fungi, wet or dry rot, or bacteria from covered property;</a:t>
            </a:r>
          </a:p>
          <a:p>
            <a:pPr>
              <a:defRPr/>
            </a:pPr>
            <a:r>
              <a:rPr lang="en-US" sz="1000" dirty="0"/>
              <a:t>2. The cost to tear out and replace any part of the building or other covered property as needed to</a:t>
            </a:r>
          </a:p>
          <a:p>
            <a:pPr>
              <a:defRPr/>
            </a:pPr>
            <a:r>
              <a:rPr lang="en-US" sz="1000" dirty="0"/>
              <a:t>gain access to the fungi, wet or dry rot, or bacteria; and</a:t>
            </a:r>
          </a:p>
          <a:p>
            <a:pPr>
              <a:defRPr/>
            </a:pPr>
            <a:r>
              <a:rPr lang="en-US" sz="1000" dirty="0"/>
              <a:t>3. The cost of testing of air or property to confirm the absence, presence or level of fungi, wet or dry</a:t>
            </a:r>
          </a:p>
          <a:p>
            <a:pPr>
              <a:defRPr/>
            </a:pPr>
            <a:r>
              <a:rPr lang="en-US" sz="1000" dirty="0"/>
              <a:t>rot, or bacteria whether performed prior to, during or after removal, repair, restoration or</a:t>
            </a:r>
          </a:p>
          <a:p>
            <a:pPr>
              <a:defRPr/>
            </a:pPr>
            <a:r>
              <a:rPr lang="en-US" sz="1000" dirty="0"/>
              <a:t>replacement. The cost of such testing will be provided only to the extent that there is a reason to</a:t>
            </a:r>
          </a:p>
          <a:p>
            <a:pPr>
              <a:defRPr/>
            </a:pPr>
            <a:r>
              <a:rPr lang="en-US" sz="1000" dirty="0"/>
              <a:t>believe that fungi, wet or dry rot, or bacteria is present.</a:t>
            </a:r>
          </a:p>
          <a:p>
            <a:pPr>
              <a:defRPr/>
            </a:pPr>
            <a:endParaRPr lang="en-US" sz="1000" dirty="0"/>
          </a:p>
          <a:p>
            <a:pPr>
              <a:defRPr/>
            </a:pPr>
            <a:r>
              <a:rPr lang="en-US" sz="1000" b="1" dirty="0"/>
              <a:t>Equipment Breakdown coverage - </a:t>
            </a:r>
            <a:r>
              <a:rPr lang="en-US" sz="1000" dirty="0"/>
              <a:t>Electrical, mechanical, air conditioning, and production equipment as well as heating boilers and pressure vessels are key machinery and equipment to concentrate coverage. </a:t>
            </a:r>
          </a:p>
          <a:p>
            <a:pPr>
              <a:defRPr/>
            </a:pPr>
            <a:r>
              <a:rPr lang="en-US" sz="1000" dirty="0"/>
              <a:t>Accidents and breakdowns that commonly happen to these kinds of devices are not covered by most fire/property insurance policies. In fact, these policies specifically exclude mechanical breakdown, electrical arcing or damage due to a surge of electrical power, and explosion due to centrifugal force.  </a:t>
            </a:r>
          </a:p>
          <a:p>
            <a:pPr>
              <a:defRPr/>
            </a:pPr>
            <a:r>
              <a:rPr lang="en-US" sz="1000" dirty="0"/>
              <a:t>These are the very types of accidents that have the highest probability of happening to your equipment! And that's not all. Typical policies do not cover explosion, cracking, or burning (overheating) of steam boilers or pipes. Uninsured gaps like these could mean big losses - and possibly financial disaster.  </a:t>
            </a:r>
          </a:p>
          <a:p>
            <a:pPr>
              <a:defRPr/>
            </a:pPr>
            <a:r>
              <a:rPr lang="en-US" sz="1000" dirty="0"/>
              <a:t>Equipment Breakdown coverage, previously referred to as Boiler &amp; Machinery Coverage, takes the worry out of coverage gaps and, for a typical property, costs less than you think.</a:t>
            </a:r>
          </a:p>
        </p:txBody>
      </p:sp>
      <p:sp>
        <p:nvSpPr>
          <p:cNvPr id="4" name="Slide Number Placeholder 3"/>
          <p:cNvSpPr>
            <a:spLocks noGrp="1"/>
          </p:cNvSpPr>
          <p:nvPr>
            <p:ph type="sldNum" sz="quarter" idx="10"/>
          </p:nvPr>
        </p:nvSpPr>
        <p:spPr/>
        <p:txBody>
          <a:bodyPr/>
          <a:lstStyle/>
          <a:p>
            <a:fld id="{7B4AD5B4-0444-431F-910B-BA532084FB7B}" type="slidenum">
              <a:rPr lang="en-US" smtClean="0"/>
              <a:pPr/>
              <a:t>24</a:t>
            </a:fld>
            <a:endParaRPr lang="en-US"/>
          </a:p>
        </p:txBody>
      </p:sp>
    </p:spTree>
    <p:extLst>
      <p:ext uri="{BB962C8B-B14F-4D97-AF65-F5344CB8AC3E}">
        <p14:creationId xmlns:p14="http://schemas.microsoft.com/office/powerpoint/2010/main" val="34205568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defRPr/>
            </a:pPr>
            <a:r>
              <a:rPr lang="en-US" sz="1000" b="1" dirty="0"/>
              <a:t>Building Property coverage -</a:t>
            </a:r>
            <a:r>
              <a:rPr lang="en-US" sz="1000" dirty="0"/>
              <a:t>The property insurance coverage in a BOP covers building structures including permanently installed fixtures, machinery and equipment. Outdoor fixtures, items used to fix or maintain the building and appliances are also covered. You can insure your business for its actual cash value or the replacement cost value, which is the cost to replace the building with new construction.</a:t>
            </a:r>
          </a:p>
          <a:p>
            <a:pPr>
              <a:defRPr/>
            </a:pPr>
            <a:endParaRPr lang="en-US" sz="1000" dirty="0"/>
          </a:p>
          <a:p>
            <a:pPr>
              <a:defRPr/>
            </a:pPr>
            <a:r>
              <a:rPr lang="en-US" sz="1000" b="1" dirty="0"/>
              <a:t>Business Personal Property coverage – </a:t>
            </a:r>
            <a:r>
              <a:rPr lang="en-US" sz="1000" dirty="0"/>
              <a:t>This form (CP 00 10) covers buildings, business personal property, and personal property of others for direct loss or damage, subject to the limits shown in the declarations for each of these categories. Also provides additional </a:t>
            </a:r>
            <a:r>
              <a:rPr lang="en-US" sz="1000" dirty="0" err="1"/>
              <a:t>coverages</a:t>
            </a:r>
            <a:r>
              <a:rPr lang="en-US" sz="1000" dirty="0"/>
              <a:t> and coverage extensions, including: debris removal, pollutant cleanup, preservation of property, fire department service charges, increased cost of construction, electronic data, newly acquired or constructed property, personal effects and personal property of others, off-premises property, valuable papers and records, outdoor property, and non owned detached trailers.</a:t>
            </a:r>
          </a:p>
          <a:p>
            <a:pPr>
              <a:defRPr/>
            </a:pPr>
            <a:endParaRPr lang="en-US" sz="1000" b="1" dirty="0"/>
          </a:p>
          <a:p>
            <a:pPr>
              <a:defRPr/>
            </a:pPr>
            <a:r>
              <a:rPr lang="en-US" sz="1000" b="1" dirty="0"/>
              <a:t>Property Of Others Insurance </a:t>
            </a:r>
            <a:r>
              <a:rPr lang="en-US" sz="1000" dirty="0"/>
              <a:t>has become a necessity for most of expatriates living in the country. With Property Of Others Insurance, what matters is you have something to cover the unexpected. This is especially helpful for an expat trying to feel secure and protect his belongings while on transit or at destination. More than anything, Property Of Others Insurance will relate to coverage for household goods and </a:t>
            </a:r>
            <a:r>
              <a:rPr lang="en-US" sz="1000" dirty="0" err="1"/>
              <a:t>morehas</a:t>
            </a:r>
            <a:r>
              <a:rPr lang="en-US" sz="1000" dirty="0"/>
              <a:t> become a necessity for most of expatriates living in the country. With Property Of Others Insurance, what matters is you have something to cover the unexpected. This is especially helpful for an expat trying to feel secure and protect his belongings while on transit or at destination. More than anything, Property Of Others Insurance will relate to coverage for household goods and more</a:t>
            </a:r>
            <a:endParaRPr lang="en-US" sz="1000" b="1" dirty="0"/>
          </a:p>
          <a:p>
            <a:pPr>
              <a:defRPr/>
            </a:pPr>
            <a:endParaRPr lang="en-US" sz="1000" b="1" dirty="0"/>
          </a:p>
        </p:txBody>
      </p:sp>
      <p:sp>
        <p:nvSpPr>
          <p:cNvPr id="4" name="Slide Number Placeholder 3"/>
          <p:cNvSpPr>
            <a:spLocks noGrp="1"/>
          </p:cNvSpPr>
          <p:nvPr>
            <p:ph type="sldNum" sz="quarter" idx="10"/>
          </p:nvPr>
        </p:nvSpPr>
        <p:spPr/>
        <p:txBody>
          <a:bodyPr/>
          <a:lstStyle/>
          <a:p>
            <a:fld id="{7B4AD5B4-0444-431F-910B-BA532084FB7B}" type="slidenum">
              <a:rPr lang="en-US" smtClean="0"/>
              <a:pPr/>
              <a:t>25</a:t>
            </a:fld>
            <a:endParaRPr lang="en-US"/>
          </a:p>
        </p:txBody>
      </p:sp>
    </p:spTree>
    <p:extLst>
      <p:ext uri="{BB962C8B-B14F-4D97-AF65-F5344CB8AC3E}">
        <p14:creationId xmlns:p14="http://schemas.microsoft.com/office/powerpoint/2010/main" val="27823956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000" b="1" dirty="0"/>
              <a:t>ACCOUNTS RECEIVABLE COVERAGE</a:t>
            </a:r>
          </a:p>
          <a:p>
            <a:r>
              <a:rPr lang="en-US" sz="1000" dirty="0"/>
              <a:t>This coverage provides protection for the following losses: </a:t>
            </a:r>
          </a:p>
          <a:p>
            <a:r>
              <a:rPr lang="en-US" sz="1000" dirty="0"/>
              <a:t>1. All sums due you from customers, providing you are unable to effect collection thereof as a direct result of loss or damage to records of accounts receivable. </a:t>
            </a:r>
          </a:p>
          <a:p>
            <a:r>
              <a:rPr lang="en-US" sz="1000" dirty="0"/>
              <a:t>2. Interest charges on any loan to offset impaired collections pending repayment of such sums made uncollectable by such loss or damage. </a:t>
            </a:r>
          </a:p>
          <a:p>
            <a:r>
              <a:rPr lang="en-US" sz="1000" dirty="0"/>
              <a:t>3. Collection expense in excess of normal collection cost made necessary because of such loss or damage. </a:t>
            </a:r>
          </a:p>
          <a:p>
            <a:r>
              <a:rPr lang="en-US" sz="1000" dirty="0"/>
              <a:t>4. Other expense, when reasonably incurred by you in re-establishing records of accounts receivable following loss or damage</a:t>
            </a:r>
          </a:p>
          <a:p>
            <a:endParaRPr lang="en-US" sz="1000" dirty="0"/>
          </a:p>
          <a:p>
            <a:endParaRPr lang="en-US" sz="1000" dirty="0"/>
          </a:p>
        </p:txBody>
      </p:sp>
      <p:sp>
        <p:nvSpPr>
          <p:cNvPr id="4" name="Slide Number Placeholder 3"/>
          <p:cNvSpPr>
            <a:spLocks noGrp="1"/>
          </p:cNvSpPr>
          <p:nvPr>
            <p:ph type="sldNum" sz="quarter" idx="10"/>
          </p:nvPr>
        </p:nvSpPr>
        <p:spPr/>
        <p:txBody>
          <a:bodyPr/>
          <a:lstStyle/>
          <a:p>
            <a:fld id="{7B4AD5B4-0444-431F-910B-BA532084FB7B}" type="slidenum">
              <a:rPr lang="en-US" smtClean="0"/>
              <a:pPr/>
              <a:t>26</a:t>
            </a:fld>
            <a:endParaRPr lang="en-US"/>
          </a:p>
        </p:txBody>
      </p:sp>
    </p:spTree>
    <p:extLst>
      <p:ext uri="{BB962C8B-B14F-4D97-AF65-F5344CB8AC3E}">
        <p14:creationId xmlns:p14="http://schemas.microsoft.com/office/powerpoint/2010/main" val="35634371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000" b="1" dirty="0"/>
              <a:t>Business interruption insurance </a:t>
            </a:r>
            <a:r>
              <a:rPr lang="en-US" sz="1000" dirty="0"/>
              <a:t>only covers the suspension of business caused by direct physical loss or damage to the premises described in the declarations. In other words, it does not cover utility service interruption. For example, when hurricanes or tornadoes damage power lines that are not on your premises, most standard business interruption insurance does not cover that interruption.</a:t>
            </a:r>
            <a:endParaRPr lang="en-US" sz="1000" b="1" dirty="0"/>
          </a:p>
          <a:p>
            <a:endParaRPr lang="en-US" sz="1000" b="1" dirty="0"/>
          </a:p>
          <a:p>
            <a:r>
              <a:rPr lang="en-US" sz="1000" b="1" dirty="0"/>
              <a:t>Standard business interruption coverage</a:t>
            </a:r>
            <a:r>
              <a:rPr lang="en-US" sz="1000" dirty="0"/>
              <a:t> can be easily extended to include utility services interruptions. The expanded coverage is known as “Utility Services-Time Element”. When damage from a hurricane or tornado knocks down power lines or damages water pipes away from your premises and those damaged utilities cause you to be without power and/or water so you cannot conduct business, Utility Services-Time Element pays your profit plus continuing expenses, up to the limit you have chosen or until the utility comes back into service, whichever comes first</a:t>
            </a:r>
          </a:p>
          <a:p>
            <a:endParaRPr lang="en-US" sz="1000" dirty="0"/>
          </a:p>
        </p:txBody>
      </p:sp>
      <p:sp>
        <p:nvSpPr>
          <p:cNvPr id="4" name="Slide Number Placeholder 3"/>
          <p:cNvSpPr>
            <a:spLocks noGrp="1"/>
          </p:cNvSpPr>
          <p:nvPr>
            <p:ph type="sldNum" sz="quarter" idx="10"/>
          </p:nvPr>
        </p:nvSpPr>
        <p:spPr/>
        <p:txBody>
          <a:bodyPr/>
          <a:lstStyle/>
          <a:p>
            <a:fld id="{7B4AD5B4-0444-431F-910B-BA532084FB7B}" type="slidenum">
              <a:rPr lang="en-US" smtClean="0"/>
              <a:pPr/>
              <a:t>27</a:t>
            </a:fld>
            <a:endParaRPr lang="en-US"/>
          </a:p>
        </p:txBody>
      </p:sp>
    </p:spTree>
    <p:extLst>
      <p:ext uri="{BB962C8B-B14F-4D97-AF65-F5344CB8AC3E}">
        <p14:creationId xmlns:p14="http://schemas.microsoft.com/office/powerpoint/2010/main" val="13001073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a:t>Business income coverage reimburses your business for revenues you lost during downtime caused by damage to or loss of your property. Extra expense insurance reimburses you for expenses incurred to avoid or minimize the suspension of business. Say, for example, your building roof collapses after a heavy thunderstorm. </a:t>
            </a:r>
            <a:br>
              <a:rPr lang="en-US" sz="1000" dirty="0"/>
            </a:br>
            <a:br>
              <a:rPr lang="en-US" sz="1000" dirty="0"/>
            </a:br>
            <a:r>
              <a:rPr lang="en-US" sz="1000" dirty="0"/>
              <a:t>The business income policy pays for the income you lost while you could not occupy the building, while the extra expense policy covers rent for a temporary office space while your building is being repaired. </a:t>
            </a:r>
          </a:p>
          <a:p>
            <a:endParaRPr lang="en-US" sz="1000" dirty="0"/>
          </a:p>
        </p:txBody>
      </p:sp>
      <p:sp>
        <p:nvSpPr>
          <p:cNvPr id="4" name="Slide Number Placeholder 3"/>
          <p:cNvSpPr>
            <a:spLocks noGrp="1"/>
          </p:cNvSpPr>
          <p:nvPr>
            <p:ph type="sldNum" sz="quarter" idx="10"/>
          </p:nvPr>
        </p:nvSpPr>
        <p:spPr/>
        <p:txBody>
          <a:bodyPr/>
          <a:lstStyle/>
          <a:p>
            <a:fld id="{7B4AD5B4-0444-431F-910B-BA532084FB7B}" type="slidenum">
              <a:rPr lang="en-US" smtClean="0"/>
              <a:pPr/>
              <a:t>28</a:t>
            </a:fld>
            <a:endParaRPr lang="en-US"/>
          </a:p>
        </p:txBody>
      </p:sp>
    </p:spTree>
    <p:extLst>
      <p:ext uri="{BB962C8B-B14F-4D97-AF65-F5344CB8AC3E}">
        <p14:creationId xmlns:p14="http://schemas.microsoft.com/office/powerpoint/2010/main" val="9365719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000" dirty="0"/>
          </a:p>
        </p:txBody>
      </p:sp>
      <p:sp>
        <p:nvSpPr>
          <p:cNvPr id="4" name="Slide Number Placeholder 3"/>
          <p:cNvSpPr>
            <a:spLocks noGrp="1"/>
          </p:cNvSpPr>
          <p:nvPr>
            <p:ph type="sldNum" sz="quarter" idx="10"/>
          </p:nvPr>
        </p:nvSpPr>
        <p:spPr/>
        <p:txBody>
          <a:bodyPr/>
          <a:lstStyle/>
          <a:p>
            <a:fld id="{7B4AD5B4-0444-431F-910B-BA532084FB7B}" type="slidenum">
              <a:rPr lang="en-US" smtClean="0"/>
              <a:pPr/>
              <a:t>29</a:t>
            </a:fld>
            <a:endParaRPr lang="en-US"/>
          </a:p>
        </p:txBody>
      </p:sp>
    </p:spTree>
    <p:extLst>
      <p:ext uri="{BB962C8B-B14F-4D97-AF65-F5344CB8AC3E}">
        <p14:creationId xmlns:p14="http://schemas.microsoft.com/office/powerpoint/2010/main" val="13748597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1" dirty="0"/>
              <a:t>Example: </a:t>
            </a:r>
            <a:r>
              <a:rPr lang="en-US" sz="1000" dirty="0"/>
              <a:t>The Keller Children's Store has a tremendous peak period in the month before the start of school. Keller uses a peak season period of July 15 through September 1 because school “always starts” the day after Labor Day. However, the school board changed the school starting date this year to August 15. Keller ordered inventory and scheduled it to arrive before the 4</a:t>
            </a:r>
            <a:r>
              <a:rPr lang="en-US" sz="1000" baseline="30000" dirty="0"/>
              <a:t>th</a:t>
            </a:r>
            <a:r>
              <a:rPr lang="en-US" sz="1000" dirty="0"/>
              <a:t> of July so parents could have a nice holiday shopping weekend. Unfortunately, it forgot to adjust and change the peak season period. When a tornado severely damaged Keller's store on July 10, it was underinsured and also incurred a coinsurance penalty because of inadequate business personal property limits. </a:t>
            </a:r>
          </a:p>
          <a:p>
            <a:endParaRPr lang="en-US" sz="1000" dirty="0"/>
          </a:p>
        </p:txBody>
      </p:sp>
      <p:sp>
        <p:nvSpPr>
          <p:cNvPr id="4" name="Slide Number Placeholder 3"/>
          <p:cNvSpPr>
            <a:spLocks noGrp="1"/>
          </p:cNvSpPr>
          <p:nvPr>
            <p:ph type="sldNum" sz="quarter" idx="10"/>
          </p:nvPr>
        </p:nvSpPr>
        <p:spPr/>
        <p:txBody>
          <a:bodyPr/>
          <a:lstStyle/>
          <a:p>
            <a:fld id="{7B4AD5B4-0444-431F-910B-BA532084FB7B}" type="slidenum">
              <a:rPr lang="en-US" smtClean="0"/>
              <a:pPr/>
              <a:t>30</a:t>
            </a:fld>
            <a:endParaRPr lang="en-US"/>
          </a:p>
        </p:txBody>
      </p:sp>
    </p:spTree>
    <p:extLst>
      <p:ext uri="{BB962C8B-B14F-4D97-AF65-F5344CB8AC3E}">
        <p14:creationId xmlns:p14="http://schemas.microsoft.com/office/powerpoint/2010/main" val="12243906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a:defRPr/>
            </a:pPr>
            <a:r>
              <a:rPr lang="en-US" sz="1000" b="1" dirty="0"/>
              <a:t>Electronic Data - </a:t>
            </a:r>
            <a:r>
              <a:rPr lang="en-US" sz="1000" dirty="0"/>
              <a:t>Coverage is provided for the cost of replacing or restoring electronic data which has been destroyed or corrupted by a covered  cause of loss. This additional coverage is subject to a $XXXX annual aggregate limit.</a:t>
            </a:r>
          </a:p>
          <a:p>
            <a:pPr>
              <a:defRPr/>
            </a:pPr>
            <a:endParaRPr lang="en-US" sz="1000" b="1" dirty="0"/>
          </a:p>
          <a:p>
            <a:pPr>
              <a:defRPr/>
            </a:pPr>
            <a:r>
              <a:rPr lang="en-US" sz="1000" b="1" dirty="0"/>
              <a:t>Interruption of Computer Operations. Coverage is provided for</a:t>
            </a:r>
          </a:p>
          <a:p>
            <a:pPr>
              <a:defRPr/>
            </a:pPr>
            <a:r>
              <a:rPr lang="en-US" sz="1000" dirty="0"/>
              <a:t>Business Income and/or Extra Expense arising from a business interruption caused by destruction or corruption of electronic data</a:t>
            </a:r>
          </a:p>
          <a:p>
            <a:pPr>
              <a:defRPr/>
            </a:pPr>
            <a:r>
              <a:rPr lang="en-US" sz="1000" dirty="0"/>
              <a:t>by a covered cause of loss. This additional coverage is subject to a $XXXX annual aggregate limit. </a:t>
            </a:r>
          </a:p>
          <a:p>
            <a:pPr>
              <a:defRPr/>
            </a:pPr>
            <a:endParaRPr lang="en-US" sz="1000" dirty="0"/>
          </a:p>
          <a:p>
            <a:pPr>
              <a:defRPr/>
            </a:pPr>
            <a:r>
              <a:rPr lang="en-US" sz="1000" b="1" dirty="0"/>
              <a:t>Fine Arts Coverage Form</a:t>
            </a:r>
            <a:r>
              <a:rPr lang="en-US" sz="1000" dirty="0"/>
              <a:t> provides coverage on a variety of objects of fine art owned by businesses not engaged in the fine arts business that want broad coverage on the fine arts they own. It is not to be used by fine arts dealers, galleries or museums whose primary business involves works of art. It covers scheduled items on a valued basis. This means the insurance company pays the limit of insurance for each scheduled item lost or damaged by a covered cause of loss. Fine arts include, but are not limited to, paintings, drawings, lithographs, rugs, tapestries, statuary, bronzes, porcelains, marbles, antique furniture and rare books. Coverage can also apply to works of art belonging to others in the insured's care, custody or control. Fine arts are not covered while at exhibitions at fair grounds or on the premises of any national or international exhibition. The form provides coverage for risks of direct physical loss or damage, except as limited or excluded, at designated locations and in transit. </a:t>
            </a:r>
          </a:p>
          <a:p>
            <a:pPr>
              <a:defRPr/>
            </a:pPr>
            <a:endParaRPr lang="en-US" sz="1000" dirty="0"/>
          </a:p>
          <a:p>
            <a:pPr>
              <a:defRPr/>
            </a:pPr>
            <a:r>
              <a:rPr lang="en-US" sz="1000" b="1" dirty="0"/>
              <a:t>"Food contamination" </a:t>
            </a:r>
            <a:r>
              <a:rPr lang="en-US" sz="1000" dirty="0"/>
              <a:t>means the occurrence of food poisoning or suspected food poisoning of one or more of your customers resulting from tainted food purchased by you, or a "communicable disease" transmitted by one or more of your employees.</a:t>
            </a:r>
          </a:p>
          <a:p>
            <a:pPr>
              <a:defRPr/>
            </a:pPr>
            <a:endParaRPr lang="en-US" sz="1000" dirty="0"/>
          </a:p>
          <a:p>
            <a:pPr>
              <a:defRPr/>
            </a:pPr>
            <a:r>
              <a:rPr lang="en-US" sz="1000" b="1" dirty="0"/>
              <a:t>Illustration - </a:t>
            </a:r>
            <a:r>
              <a:rPr lang="en-US" sz="1000" dirty="0"/>
              <a:t>Restaurant's reputation is its most valuable asset. One of the first steps a restaurant owner should take to preserve its reputation in the event of a suspected or proven food borne illness outbreak is to voluntarily close its doors until the problem can be identified and corrected.</a:t>
            </a:r>
          </a:p>
          <a:p>
            <a:pPr>
              <a:defRPr/>
            </a:pPr>
            <a:endParaRPr lang="en-US" sz="1000" dirty="0"/>
          </a:p>
          <a:p>
            <a:pPr>
              <a:defRPr/>
            </a:pPr>
            <a:r>
              <a:rPr lang="en-US" sz="1000" b="1" dirty="0"/>
              <a:t>First party food contamination  policy provides coverage :</a:t>
            </a:r>
          </a:p>
          <a:p>
            <a:pPr>
              <a:defRPr/>
            </a:pPr>
            <a:r>
              <a:rPr lang="en-US" sz="1000" dirty="0"/>
              <a:t>(1) If a Board of Health orders your premises closed; or</a:t>
            </a:r>
          </a:p>
          <a:p>
            <a:pPr>
              <a:defRPr/>
            </a:pPr>
            <a:r>
              <a:rPr lang="en-US" sz="1000" dirty="0"/>
              <a:t>(2) Either you or any government body makes an announcement warning the public of a health hazard because of either the discovery or the suspicion that contaminated food has been served to your patrons at a location described in the Declarations.</a:t>
            </a:r>
          </a:p>
          <a:p>
            <a:pPr>
              <a:defRPr/>
            </a:pPr>
            <a:endParaRPr lang="en-US" sz="1000" dirty="0"/>
          </a:p>
          <a:p>
            <a:endParaRPr lang="en-US" sz="1000" dirty="0"/>
          </a:p>
        </p:txBody>
      </p:sp>
      <p:sp>
        <p:nvSpPr>
          <p:cNvPr id="4" name="Slide Number Placeholder 3"/>
          <p:cNvSpPr>
            <a:spLocks noGrp="1"/>
          </p:cNvSpPr>
          <p:nvPr>
            <p:ph type="sldNum" sz="quarter" idx="10"/>
          </p:nvPr>
        </p:nvSpPr>
        <p:spPr/>
        <p:txBody>
          <a:bodyPr/>
          <a:lstStyle/>
          <a:p>
            <a:fld id="{7B4AD5B4-0444-431F-910B-BA532084FB7B}" type="slidenum">
              <a:rPr lang="en-US" smtClean="0"/>
              <a:pPr/>
              <a:t>31</a:t>
            </a:fld>
            <a:endParaRPr lang="en-US"/>
          </a:p>
        </p:txBody>
      </p:sp>
    </p:spTree>
    <p:extLst>
      <p:ext uri="{BB962C8B-B14F-4D97-AF65-F5344CB8AC3E}">
        <p14:creationId xmlns:p14="http://schemas.microsoft.com/office/powerpoint/2010/main" val="340193281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000" b="1" dirty="0"/>
              <a:t>ORDINANCE OR LAW COVERAGE</a:t>
            </a:r>
          </a:p>
          <a:p>
            <a:r>
              <a:rPr lang="en-US" sz="1000" dirty="0"/>
              <a:t>(1) </a:t>
            </a:r>
            <a:r>
              <a:rPr lang="en-US" sz="1000" b="1" dirty="0"/>
              <a:t>Coverage for Loss to the Undamaged Portion of the Building.</a:t>
            </a:r>
            <a:r>
              <a:rPr lang="en-US" sz="1000" dirty="0"/>
              <a:t> </a:t>
            </a:r>
          </a:p>
          <a:p>
            <a:r>
              <a:rPr lang="en-US" sz="1000" dirty="0"/>
              <a:t>Pays for the loss of value of an undamaged portion of the existing building which must be demolished and/or removed to conform with municipal ordinance, code, etc. </a:t>
            </a:r>
          </a:p>
          <a:p>
            <a:r>
              <a:rPr lang="en-US" sz="1000" dirty="0"/>
              <a:t>(2) </a:t>
            </a:r>
            <a:r>
              <a:rPr lang="en-US" sz="1000" b="1" dirty="0"/>
              <a:t>Demolition Cost</a:t>
            </a:r>
            <a:r>
              <a:rPr lang="en-US" sz="1000" dirty="0"/>
              <a:t> </a:t>
            </a:r>
          </a:p>
          <a:p>
            <a:r>
              <a:rPr lang="en-US" sz="1000" dirty="0"/>
              <a:t>Pays for the cost of demolition of the undamaged portions of the building necessitated by the enforcement of building, zoning or land use ordinance or law. </a:t>
            </a:r>
          </a:p>
          <a:p>
            <a:r>
              <a:rPr lang="en-US" sz="1000" dirty="0"/>
              <a:t>(3) </a:t>
            </a:r>
            <a:r>
              <a:rPr lang="en-US" sz="1000" b="1" dirty="0"/>
              <a:t>Increased Cost of Construction</a:t>
            </a:r>
            <a:r>
              <a:rPr lang="en-US" sz="1000" dirty="0"/>
              <a:t> </a:t>
            </a:r>
          </a:p>
          <a:p>
            <a:r>
              <a:rPr lang="en-US" sz="1000" dirty="0"/>
              <a:t>Pays for any increased expenses incurred to replace the building with one conforming to building laws or ordinances, or to repair the damaged building so that it meets the specifications of current building laws or ordinances</a:t>
            </a:r>
          </a:p>
          <a:p>
            <a:endParaRPr lang="en-US" sz="1000" dirty="0"/>
          </a:p>
        </p:txBody>
      </p:sp>
      <p:sp>
        <p:nvSpPr>
          <p:cNvPr id="4" name="Slide Number Placeholder 3"/>
          <p:cNvSpPr>
            <a:spLocks noGrp="1"/>
          </p:cNvSpPr>
          <p:nvPr>
            <p:ph type="sldNum" sz="quarter" idx="10"/>
          </p:nvPr>
        </p:nvSpPr>
        <p:spPr/>
        <p:txBody>
          <a:bodyPr/>
          <a:lstStyle/>
          <a:p>
            <a:fld id="{7B4AD5B4-0444-431F-910B-BA532084FB7B}" type="slidenum">
              <a:rPr lang="en-US" smtClean="0"/>
              <a:pPr/>
              <a:t>32</a:t>
            </a:fld>
            <a:endParaRPr lang="en-US"/>
          </a:p>
        </p:txBody>
      </p:sp>
    </p:spTree>
    <p:extLst>
      <p:ext uri="{BB962C8B-B14F-4D97-AF65-F5344CB8AC3E}">
        <p14:creationId xmlns:p14="http://schemas.microsoft.com/office/powerpoint/2010/main" val="246774662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a:t>Outdoor sign coverage is usually included on your commercial policy. Check standard policy limits -- usually about $5,000 -- against the cost to replace your sign and get higher limits if necessary. Outdoor sign insurance covers against perils such as wind and hail damage and flying or falling debris.</a:t>
            </a:r>
          </a:p>
          <a:p>
            <a:endParaRPr lang="en-US" sz="1000" dirty="0"/>
          </a:p>
        </p:txBody>
      </p:sp>
      <p:sp>
        <p:nvSpPr>
          <p:cNvPr id="4" name="Slide Number Placeholder 3"/>
          <p:cNvSpPr>
            <a:spLocks noGrp="1"/>
          </p:cNvSpPr>
          <p:nvPr>
            <p:ph type="sldNum" sz="quarter" idx="10"/>
          </p:nvPr>
        </p:nvSpPr>
        <p:spPr/>
        <p:txBody>
          <a:bodyPr/>
          <a:lstStyle/>
          <a:p>
            <a:fld id="{7B4AD5B4-0444-431F-910B-BA532084FB7B}" type="slidenum">
              <a:rPr lang="en-US" smtClean="0"/>
              <a:pPr/>
              <a:t>33</a:t>
            </a:fld>
            <a:endParaRPr lang="en-US"/>
          </a:p>
        </p:txBody>
      </p:sp>
    </p:spTree>
    <p:extLst>
      <p:ext uri="{BB962C8B-B14F-4D97-AF65-F5344CB8AC3E}">
        <p14:creationId xmlns:p14="http://schemas.microsoft.com/office/powerpoint/2010/main" val="257660842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a:t>Covered Property means "perishable stock" at the described premises owned by you or by others that is in your care, custody or control.</a:t>
            </a:r>
          </a:p>
          <a:p>
            <a:r>
              <a:rPr lang="en-US" sz="1000" b="1" dirty="0"/>
              <a:t>(1) Change in temperature or humidity </a:t>
            </a:r>
            <a:r>
              <a:rPr lang="en-US" sz="1000" dirty="0"/>
              <a:t>resulting from mechanical breakdown or mechanical failure of refrigerating, cooling or humidity control apparatus or equipment, only while such equipment or apparatus is at the described premises; and</a:t>
            </a:r>
          </a:p>
          <a:p>
            <a:r>
              <a:rPr lang="en-US" sz="1000" b="1" dirty="0"/>
              <a:t>(2) Contamination by the refrigerant.</a:t>
            </a:r>
          </a:p>
          <a:p>
            <a:r>
              <a:rPr lang="en-US" sz="1000" dirty="0"/>
              <a:t>b. Power Outage, meaning change in temperature or humidity resulting from complete or partial interruption of electrical power, either on or off the described premises, due to conditions beyond your control.</a:t>
            </a:r>
          </a:p>
          <a:p>
            <a:endParaRPr lang="en-US" sz="1000" dirty="0"/>
          </a:p>
        </p:txBody>
      </p:sp>
      <p:sp>
        <p:nvSpPr>
          <p:cNvPr id="4" name="Slide Number Placeholder 3"/>
          <p:cNvSpPr>
            <a:spLocks noGrp="1"/>
          </p:cNvSpPr>
          <p:nvPr>
            <p:ph type="sldNum" sz="quarter" idx="10"/>
          </p:nvPr>
        </p:nvSpPr>
        <p:spPr/>
        <p:txBody>
          <a:bodyPr/>
          <a:lstStyle/>
          <a:p>
            <a:fld id="{7B4AD5B4-0444-431F-910B-BA532084FB7B}" type="slidenum">
              <a:rPr lang="en-US" smtClean="0"/>
              <a:pPr/>
              <a:t>34</a:t>
            </a:fld>
            <a:endParaRPr lang="en-US"/>
          </a:p>
        </p:txBody>
      </p:sp>
    </p:spTree>
    <p:extLst>
      <p:ext uri="{BB962C8B-B14F-4D97-AF65-F5344CB8AC3E}">
        <p14:creationId xmlns:p14="http://schemas.microsoft.com/office/powerpoint/2010/main" val="12445455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a:defRPr/>
            </a:pPr>
            <a:r>
              <a:rPr lang="en-US" sz="1000" b="1" dirty="0"/>
              <a:t>Utility Services – Direct Damage </a:t>
            </a:r>
            <a:r>
              <a:rPr lang="en-US" sz="1000" dirty="0"/>
              <a:t>will pay for loss of or damage to Covered Property described in the Schedule, caused by an interruption in utility service to the described premises. The interruption in utility service must result from direct physical loss or damage by a Covered Cause of Loss (as indicated in the Schedule) to the property</a:t>
            </a:r>
          </a:p>
          <a:p>
            <a:pPr>
              <a:defRPr/>
            </a:pPr>
            <a:endParaRPr lang="en-US" sz="1000" dirty="0"/>
          </a:p>
          <a:p>
            <a:pPr>
              <a:defRPr/>
            </a:pPr>
            <a:r>
              <a:rPr lang="en-US" sz="1000" b="1" dirty="0"/>
              <a:t>Utility Services</a:t>
            </a:r>
          </a:p>
          <a:p>
            <a:pPr>
              <a:defRPr/>
            </a:pPr>
            <a:r>
              <a:rPr lang="en-US" sz="1000" b="1" dirty="0"/>
              <a:t>1. Water Supply Services, meaning the following </a:t>
            </a:r>
            <a:r>
              <a:rPr lang="en-US" sz="1000" dirty="0"/>
              <a:t>types of property supplying water to the described premises:</a:t>
            </a:r>
          </a:p>
          <a:p>
            <a:pPr>
              <a:defRPr/>
            </a:pPr>
            <a:r>
              <a:rPr lang="en-US" sz="1000" b="1" dirty="0"/>
              <a:t>a. Pumping stations; and</a:t>
            </a:r>
          </a:p>
          <a:p>
            <a:pPr>
              <a:defRPr/>
            </a:pPr>
            <a:r>
              <a:rPr lang="en-US" sz="1000" b="1" dirty="0"/>
              <a:t>b. Water mains.</a:t>
            </a:r>
          </a:p>
          <a:p>
            <a:pPr>
              <a:defRPr/>
            </a:pPr>
            <a:r>
              <a:rPr lang="en-US" sz="1000" b="1" dirty="0"/>
              <a:t>2. Communication Supply Services, meaning </a:t>
            </a:r>
            <a:r>
              <a:rPr lang="en-US" sz="1000" dirty="0"/>
              <a:t>property supplying communication services, including telephone, radio, microwave or television services to the described premises, such</a:t>
            </a:r>
          </a:p>
          <a:p>
            <a:pPr>
              <a:defRPr/>
            </a:pPr>
            <a:r>
              <a:rPr lang="en-US" sz="1000" dirty="0"/>
              <a:t>as:</a:t>
            </a:r>
          </a:p>
          <a:p>
            <a:pPr>
              <a:defRPr/>
            </a:pPr>
            <a:r>
              <a:rPr lang="en-US" sz="1000" dirty="0"/>
              <a:t>a. Communication transmission lines, including optic fiber transmission lines;</a:t>
            </a:r>
          </a:p>
          <a:p>
            <a:pPr>
              <a:defRPr/>
            </a:pPr>
            <a:r>
              <a:rPr lang="en-US" sz="1000" dirty="0"/>
              <a:t>b. Coaxial cables; and</a:t>
            </a:r>
          </a:p>
          <a:p>
            <a:pPr>
              <a:defRPr/>
            </a:pPr>
            <a:r>
              <a:rPr lang="en-US" sz="1000" dirty="0"/>
              <a:t>c. Microwave radio relays except satellites. </a:t>
            </a:r>
          </a:p>
          <a:p>
            <a:pPr>
              <a:defRPr/>
            </a:pPr>
            <a:endParaRPr lang="en-US" sz="1000" dirty="0"/>
          </a:p>
          <a:p>
            <a:pPr>
              <a:defRPr/>
            </a:pPr>
            <a:r>
              <a:rPr lang="en-US" sz="1000" dirty="0"/>
              <a:t>It does not include overhead transmission lines unless indicated by an "X" in the Schedule.</a:t>
            </a:r>
          </a:p>
          <a:p>
            <a:pPr>
              <a:defRPr/>
            </a:pPr>
            <a:endParaRPr lang="en-US" sz="1000" b="1" dirty="0"/>
          </a:p>
          <a:p>
            <a:pPr>
              <a:defRPr/>
            </a:pPr>
            <a:r>
              <a:rPr lang="en-US" sz="1000" b="1" dirty="0"/>
              <a:t>3. Power Supply Services, meaning the following </a:t>
            </a:r>
            <a:r>
              <a:rPr lang="en-US" sz="1000" dirty="0"/>
              <a:t>types of property supplying electricity, steam or gas to the described premises:</a:t>
            </a:r>
          </a:p>
          <a:p>
            <a:pPr>
              <a:defRPr/>
            </a:pPr>
            <a:r>
              <a:rPr lang="en-US" sz="1000" dirty="0"/>
              <a:t>a. Utility generating plants;</a:t>
            </a:r>
          </a:p>
          <a:p>
            <a:pPr>
              <a:defRPr/>
            </a:pPr>
            <a:r>
              <a:rPr lang="en-US" sz="1000" dirty="0"/>
              <a:t>b. Switching stations;</a:t>
            </a:r>
          </a:p>
          <a:p>
            <a:pPr>
              <a:defRPr/>
            </a:pPr>
            <a:r>
              <a:rPr lang="en-US" sz="1000" dirty="0"/>
              <a:t>c. Substations;</a:t>
            </a:r>
          </a:p>
          <a:p>
            <a:pPr>
              <a:defRPr/>
            </a:pPr>
            <a:r>
              <a:rPr lang="en-US" sz="1000" dirty="0"/>
              <a:t>d. Transformers; and</a:t>
            </a:r>
          </a:p>
          <a:p>
            <a:pPr>
              <a:defRPr/>
            </a:pPr>
            <a:r>
              <a:rPr lang="en-US" sz="1000" dirty="0"/>
              <a:t>e. Transmission lines.</a:t>
            </a:r>
          </a:p>
          <a:p>
            <a:pPr>
              <a:defRPr/>
            </a:pPr>
            <a:endParaRPr lang="en-US" sz="1000" dirty="0"/>
          </a:p>
          <a:p>
            <a:pPr>
              <a:defRPr/>
            </a:pPr>
            <a:r>
              <a:rPr lang="en-US" sz="1000" b="1" dirty="0"/>
              <a:t>Utility Services Time element - </a:t>
            </a:r>
            <a:r>
              <a:rPr lang="en-US" sz="1000" dirty="0"/>
              <a:t>Most businesses are highly dependent upon the utilities that provide water, electricity, heat, air conditioning and communication services for its operations. When any of these critical utility services is interrupted, many businesses either experience a major indirect loss of income or incur substantial extra expenses to continue operations in other ways or at other locations. </a:t>
            </a:r>
          </a:p>
          <a:p>
            <a:pPr>
              <a:defRPr/>
            </a:pPr>
            <a:endParaRPr lang="en-US" sz="1000" dirty="0"/>
          </a:p>
          <a:p>
            <a:pPr>
              <a:defRPr/>
            </a:pPr>
            <a:r>
              <a:rPr lang="en-US" sz="1000" dirty="0"/>
              <a:t>In an attempt to reduce the amount of business income loss, many businesses choose to incur extra expenses to resume operations more quickly by changing to an auxiliary power source or physically moving to a temporary location to continue operations or services. </a:t>
            </a:r>
          </a:p>
          <a:p>
            <a:pPr>
              <a:defRPr/>
            </a:pPr>
            <a:r>
              <a:rPr lang="en-US" sz="1000" dirty="0"/>
              <a:t>The Insurance Services Office (ISO) time element coverage forms provide no coverage for these indirect and often costly exposures to loss when the power interruption is due to an off premises cause of loss. However, coverage can be added by including Form CP 15 45–Utility Services–Time Element. It can apply to the Business Income Coverage Forms, CP 00 30 or CP 00 32, as well as to the Extra Expense Coverage Form, CP 00 50. </a:t>
            </a:r>
          </a:p>
          <a:p>
            <a:pPr>
              <a:defRPr/>
            </a:pPr>
            <a:endParaRPr lang="en-US" sz="1000" dirty="0"/>
          </a:p>
        </p:txBody>
      </p:sp>
      <p:sp>
        <p:nvSpPr>
          <p:cNvPr id="4" name="Slide Number Placeholder 3"/>
          <p:cNvSpPr>
            <a:spLocks noGrp="1"/>
          </p:cNvSpPr>
          <p:nvPr>
            <p:ph type="sldNum" sz="quarter" idx="10"/>
          </p:nvPr>
        </p:nvSpPr>
        <p:spPr/>
        <p:txBody>
          <a:bodyPr/>
          <a:lstStyle/>
          <a:p>
            <a:fld id="{7B4AD5B4-0444-431F-910B-BA532084FB7B}" type="slidenum">
              <a:rPr lang="en-US" smtClean="0"/>
              <a:pPr/>
              <a:t>35</a:t>
            </a:fld>
            <a:endParaRPr lang="en-US"/>
          </a:p>
        </p:txBody>
      </p:sp>
    </p:spTree>
    <p:extLst>
      <p:ext uri="{BB962C8B-B14F-4D97-AF65-F5344CB8AC3E}">
        <p14:creationId xmlns:p14="http://schemas.microsoft.com/office/powerpoint/2010/main" val="179301543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defRPr/>
            </a:pPr>
            <a:r>
              <a:rPr lang="en-US" sz="1000" dirty="0"/>
              <a:t>Valuable papers business insurance coverage provides coverage to your business in case of a loss of vital records. Over the years policy language has evolved to include a number of different types of records. Generally, the policy will cover "written, printed, or otherwise inscribed documents and records, including books, maps, films, drawings, abstracts, deeds, mortgages, and manuscripts." But, read the policy coverage carefully. The policy language typically "does not mean "money" or "securities," converted data, programs or instructions used in your data processing operations, including the materials on which the data is recorded.“</a:t>
            </a:r>
          </a:p>
          <a:p>
            <a:pPr>
              <a:defRPr/>
            </a:pPr>
            <a:endParaRPr lang="en-US" sz="1000" dirty="0"/>
          </a:p>
          <a:p>
            <a:pPr>
              <a:defRPr/>
            </a:pPr>
            <a:r>
              <a:rPr lang="en-US" sz="1000" dirty="0"/>
              <a:t>The coverage is often included as a part of property insurance or as part of a small business owner policy. For example, Safeco's small business owner policy includes valuable papers coverage up to $25,000.</a:t>
            </a:r>
          </a:p>
          <a:p>
            <a:pPr>
              <a:defRPr/>
            </a:pPr>
            <a:endParaRPr lang="en-US" sz="1000" dirty="0"/>
          </a:p>
          <a:p>
            <a:pPr>
              <a:defRPr/>
            </a:pPr>
            <a:r>
              <a:rPr lang="en-US" sz="1000" b="1" dirty="0"/>
              <a:t>Water Back up and sump overflow</a:t>
            </a:r>
          </a:p>
          <a:p>
            <a:pPr>
              <a:defRPr/>
            </a:pPr>
            <a:r>
              <a:rPr lang="en-US" sz="1000" dirty="0"/>
              <a:t>Outside a violent storm slams rain against your house, the streets fill with water, the rain rushes down the down spouts, but through it all you hear the comforting sound of the sump pump hard at work. Before going to bed, you check on the condition of the basement and find it remains dry. The sump pump is purring and easily removing the water rising in the pit. You sleep soundly.</a:t>
            </a:r>
          </a:p>
          <a:p>
            <a:pPr>
              <a:defRPr/>
            </a:pPr>
            <a:br>
              <a:rPr lang="en-US" sz="1000" dirty="0"/>
            </a:br>
            <a:r>
              <a:rPr lang="en-US" sz="1000" dirty="0"/>
              <a:t>The next morning, the storm has passed but you feel something is not quite right. You rush to the basement and find it completely flooded. The pump has broken down sometime during the night. You make a frantic call to your insurance agent to report the damage and what a relief when you learn you are covered -- you elected sump pump protection with your  policy.</a:t>
            </a:r>
          </a:p>
          <a:p>
            <a:pPr>
              <a:defRPr/>
            </a:pPr>
            <a:endParaRPr lang="en-US" sz="1000" dirty="0"/>
          </a:p>
          <a:p>
            <a:endParaRPr lang="en-US" sz="1000" dirty="0"/>
          </a:p>
        </p:txBody>
      </p:sp>
      <p:sp>
        <p:nvSpPr>
          <p:cNvPr id="4" name="Slide Number Placeholder 3"/>
          <p:cNvSpPr>
            <a:spLocks noGrp="1"/>
          </p:cNvSpPr>
          <p:nvPr>
            <p:ph type="sldNum" sz="quarter" idx="10"/>
          </p:nvPr>
        </p:nvSpPr>
        <p:spPr/>
        <p:txBody>
          <a:bodyPr/>
          <a:lstStyle/>
          <a:p>
            <a:fld id="{7B4AD5B4-0444-431F-910B-BA532084FB7B}" type="slidenum">
              <a:rPr lang="en-US" smtClean="0"/>
              <a:pPr/>
              <a:t>36</a:t>
            </a:fld>
            <a:endParaRPr lang="en-US"/>
          </a:p>
        </p:txBody>
      </p:sp>
    </p:spTree>
    <p:extLst>
      <p:ext uri="{BB962C8B-B14F-4D97-AF65-F5344CB8AC3E}">
        <p14:creationId xmlns:p14="http://schemas.microsoft.com/office/powerpoint/2010/main" val="126594975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a:defRPr/>
            </a:pPr>
            <a:r>
              <a:rPr lang="en-US" sz="1000" b="1" dirty="0"/>
              <a:t>Builders Risk &amp; Rental Income </a:t>
            </a:r>
          </a:p>
          <a:p>
            <a:pPr>
              <a:defRPr/>
            </a:pPr>
            <a:endParaRPr lang="en-US" sz="1000" b="1" dirty="0"/>
          </a:p>
          <a:p>
            <a:pPr>
              <a:defRPr/>
            </a:pPr>
            <a:r>
              <a:rPr lang="en-US" sz="1000" dirty="0"/>
              <a:t>BRIP offers optional coverage for </a:t>
            </a:r>
            <a:r>
              <a:rPr lang="en-US" sz="1000" b="1" i="1" dirty="0"/>
              <a:t>Loss of Rental Income</a:t>
            </a:r>
            <a:r>
              <a:rPr lang="en-US" sz="1000" dirty="0"/>
              <a:t> resulting from a </a:t>
            </a:r>
            <a:r>
              <a:rPr lang="en-US" sz="1000" b="1" i="1" dirty="0"/>
              <a:t>Covered Cause of Loss</a:t>
            </a:r>
            <a:r>
              <a:rPr lang="en-US" sz="1000" dirty="0"/>
              <a:t> resulting in </a:t>
            </a:r>
            <a:r>
              <a:rPr lang="en-US" sz="1000" b="1" i="1" dirty="0"/>
              <a:t>Direct Damage</a:t>
            </a:r>
            <a:r>
              <a:rPr lang="en-US" sz="1000" dirty="0"/>
              <a:t> to the </a:t>
            </a:r>
            <a:r>
              <a:rPr lang="en-US" sz="1000" b="1" i="1" dirty="0"/>
              <a:t>Covered Project</a:t>
            </a:r>
            <a:r>
              <a:rPr lang="en-US" sz="1000" dirty="0"/>
              <a:t>.  The italicized terms have special meaning described as follows:</a:t>
            </a:r>
          </a:p>
          <a:p>
            <a:pPr>
              <a:defRPr/>
            </a:pPr>
            <a:r>
              <a:rPr lang="en-US" sz="1000" dirty="0"/>
              <a:t> </a:t>
            </a:r>
          </a:p>
          <a:p>
            <a:pPr>
              <a:defRPr/>
            </a:pPr>
            <a:r>
              <a:rPr lang="en-US" sz="1000" b="1" i="1" dirty="0"/>
              <a:t>Loss of Rental Income</a:t>
            </a:r>
            <a:r>
              <a:rPr lang="en-US" sz="1000" dirty="0"/>
              <a:t>:  Actual loss of Rental Income sustained resulting from a delayed opening (delay in completion) due to direct physical loss to the covered project.  Payment begins after a </a:t>
            </a:r>
            <a:r>
              <a:rPr lang="en-US" sz="1000" b="1" dirty="0"/>
              <a:t>Deductible</a:t>
            </a:r>
            <a:r>
              <a:rPr lang="en-US" sz="1000" dirty="0"/>
              <a:t> amounting to thirty (30) consecutive days from date of loss; i.e., any reduction of Rental Income during the first thirty (30) consecutive days following loss is not covered.</a:t>
            </a:r>
          </a:p>
          <a:p>
            <a:pPr>
              <a:defRPr/>
            </a:pPr>
            <a:r>
              <a:rPr lang="en-US" sz="1000" dirty="0"/>
              <a:t> </a:t>
            </a:r>
          </a:p>
          <a:p>
            <a:pPr>
              <a:defRPr/>
            </a:pPr>
            <a:r>
              <a:rPr lang="en-US" sz="1000" b="1" i="1" dirty="0"/>
              <a:t>Covered Cause of Loss</a:t>
            </a:r>
            <a:r>
              <a:rPr lang="en-US" sz="1000" dirty="0"/>
              <a:t>:  Fire, Lightning, Explosion, Windstorm or hail, smoke; Aircraft or vehicles; Riot or civil commotion; Vandalism; Sinkhole collapse; Falling objects; Weight of snow, ice, or sleet; Water Damage from a break or crack of any part containing water or steam; Theft; etc.</a:t>
            </a:r>
          </a:p>
          <a:p>
            <a:pPr>
              <a:defRPr/>
            </a:pPr>
            <a:r>
              <a:rPr lang="en-US" sz="1000" dirty="0"/>
              <a:t> </a:t>
            </a:r>
          </a:p>
          <a:p>
            <a:pPr>
              <a:defRPr/>
            </a:pPr>
            <a:r>
              <a:rPr lang="en-US" sz="1000" b="1" i="1" dirty="0"/>
              <a:t>Direct Damage</a:t>
            </a:r>
            <a:r>
              <a:rPr lang="en-US" sz="1000" dirty="0"/>
              <a:t>:  Direct Physical Loss to Covered Property from any Covered Cause of Loss.</a:t>
            </a:r>
          </a:p>
          <a:p>
            <a:pPr>
              <a:defRPr/>
            </a:pPr>
            <a:r>
              <a:rPr lang="en-US" sz="1000" dirty="0"/>
              <a:t> </a:t>
            </a:r>
          </a:p>
          <a:p>
            <a:pPr>
              <a:defRPr/>
            </a:pPr>
            <a:r>
              <a:rPr lang="en-US" sz="1000" b="1" i="1" dirty="0"/>
              <a:t>Covered Project</a:t>
            </a:r>
            <a:r>
              <a:rPr lang="en-US" sz="1000" dirty="0"/>
              <a:t>:  CSU building projects enrolled in BRIP while in the course of construction, reconstruction or renovation.</a:t>
            </a:r>
          </a:p>
          <a:p>
            <a:pPr>
              <a:defRPr/>
            </a:pPr>
            <a:endParaRPr lang="en-US" sz="1000" b="1" dirty="0"/>
          </a:p>
          <a:p>
            <a:r>
              <a:rPr lang="en-US" sz="1000" b="1" dirty="0"/>
              <a:t>Transportation</a:t>
            </a:r>
            <a:r>
              <a:rPr lang="en-US" sz="1000" b="1" baseline="0" dirty="0"/>
              <a:t> Coverage</a:t>
            </a:r>
          </a:p>
          <a:p>
            <a:r>
              <a:rPr lang="en-US" sz="1000" kern="1200" dirty="0">
                <a:solidFill>
                  <a:schemeClr val="tx1"/>
                </a:solidFill>
                <a:latin typeface="Times New Roman" pitchFamily="18" charset="0"/>
                <a:ea typeface="+mn-ea"/>
                <a:cs typeface="+mn-cs"/>
              </a:rPr>
              <a:t>Covers all shipments during the policy period using carriers for hire or transportation companies, owned vehicles, railroads and airlines. </a:t>
            </a:r>
          </a:p>
          <a:p>
            <a:r>
              <a:rPr lang="en-US" sz="1000" b="0" kern="1200" dirty="0">
                <a:solidFill>
                  <a:schemeClr val="tx1"/>
                </a:solidFill>
                <a:latin typeface="Times New Roman" pitchFamily="18" charset="0"/>
                <a:ea typeface="+mn-ea"/>
                <a:cs typeface="+mn-cs"/>
              </a:rPr>
              <a:t>The</a:t>
            </a:r>
            <a:r>
              <a:rPr lang="en-US" sz="1000" b="1" kern="1200" dirty="0">
                <a:solidFill>
                  <a:schemeClr val="tx1"/>
                </a:solidFill>
                <a:latin typeface="Times New Roman" pitchFamily="18" charset="0"/>
                <a:ea typeface="+mn-ea"/>
                <a:cs typeface="+mn-cs"/>
              </a:rPr>
              <a:t> Owner's coverage </a:t>
            </a:r>
            <a:r>
              <a:rPr lang="en-US" sz="1000" kern="1200" dirty="0">
                <a:solidFill>
                  <a:schemeClr val="tx1"/>
                </a:solidFill>
                <a:latin typeface="Times New Roman" pitchFamily="18" charset="0"/>
                <a:ea typeface="+mn-ea"/>
                <a:cs typeface="+mn-cs"/>
              </a:rPr>
              <a:t>covers all shipments made using only the insured's owned vehicles. </a:t>
            </a:r>
          </a:p>
          <a:p>
            <a:r>
              <a:rPr lang="en-US" sz="1000" b="0" kern="1200" dirty="0">
                <a:solidFill>
                  <a:schemeClr val="tx1"/>
                </a:solidFill>
                <a:latin typeface="Times New Roman" pitchFamily="18" charset="0"/>
                <a:ea typeface="+mn-ea"/>
                <a:cs typeface="+mn-cs"/>
              </a:rPr>
              <a:t>The</a:t>
            </a:r>
            <a:r>
              <a:rPr lang="en-US" sz="1000" b="1" kern="1200" dirty="0">
                <a:solidFill>
                  <a:schemeClr val="tx1"/>
                </a:solidFill>
                <a:latin typeface="Times New Roman" pitchFamily="18" charset="0"/>
                <a:ea typeface="+mn-ea"/>
                <a:cs typeface="+mn-cs"/>
              </a:rPr>
              <a:t> Trip Transit coverage </a:t>
            </a:r>
            <a:r>
              <a:rPr lang="en-US" sz="1000" kern="1200" dirty="0">
                <a:solidFill>
                  <a:schemeClr val="tx1"/>
                </a:solidFill>
                <a:latin typeface="Times New Roman" pitchFamily="18" charset="0"/>
                <a:ea typeface="+mn-ea"/>
                <a:cs typeface="+mn-cs"/>
              </a:rPr>
              <a:t>is for a single shipment by a specific mode of conveyance, on a "one shot" basis. </a:t>
            </a:r>
          </a:p>
          <a:p>
            <a:r>
              <a:rPr lang="en-US" sz="1000" kern="1200" dirty="0">
                <a:solidFill>
                  <a:schemeClr val="tx1"/>
                </a:solidFill>
                <a:latin typeface="Times New Roman" pitchFamily="18" charset="0"/>
                <a:ea typeface="+mn-ea"/>
                <a:cs typeface="+mn-cs"/>
              </a:rPr>
              <a:t>An insured may decide to purchase transportation insurance, even if others transport the property and they provide coverage, because coverage gaps can occur. </a:t>
            </a:r>
          </a:p>
          <a:p>
            <a:r>
              <a:rPr lang="en-US" sz="1000" kern="1200" dirty="0">
                <a:solidFill>
                  <a:schemeClr val="tx1"/>
                </a:solidFill>
                <a:latin typeface="Times New Roman" pitchFamily="18" charset="0"/>
                <a:ea typeface="+mn-ea"/>
                <a:cs typeface="+mn-cs"/>
              </a:rPr>
              <a:t>Shipments may go through the hands of two or more transportation firms and different valuation and other terms in bills of lading may mean different levels of protection. </a:t>
            </a:r>
          </a:p>
          <a:p>
            <a:r>
              <a:rPr lang="en-US" sz="1000" kern="1200" dirty="0">
                <a:solidFill>
                  <a:schemeClr val="tx1"/>
                </a:solidFill>
                <a:latin typeface="Times New Roman" pitchFamily="18" charset="0"/>
                <a:ea typeface="+mn-ea"/>
                <a:cs typeface="+mn-cs"/>
              </a:rPr>
              <a:t>The value of the property shipped may be greater than that declared on the bill of lading. </a:t>
            </a:r>
          </a:p>
          <a:p>
            <a:r>
              <a:rPr lang="en-US" sz="1000" kern="1200" dirty="0">
                <a:solidFill>
                  <a:schemeClr val="tx1"/>
                </a:solidFill>
                <a:latin typeface="Times New Roman" pitchFamily="18" charset="0"/>
                <a:ea typeface="+mn-ea"/>
                <a:cs typeface="+mn-cs"/>
              </a:rPr>
              <a:t>The liability of transportation companies is limited by law and by the bill of lading, so the perils insured under their policy might be more limited than the perils on a transportation policy. </a:t>
            </a:r>
          </a:p>
          <a:p>
            <a:pPr>
              <a:defRPr/>
            </a:pPr>
            <a:endParaRPr lang="en-US" sz="1000" b="1" dirty="0"/>
          </a:p>
          <a:p>
            <a:pPr marL="0" marR="0" indent="0" algn="l" defTabSz="914400" rtl="0" eaLnBrk="1" fontAlgn="auto" latinLnBrk="0" hangingPunct="1">
              <a:lnSpc>
                <a:spcPct val="100000"/>
              </a:lnSpc>
              <a:spcBef>
                <a:spcPts val="0"/>
              </a:spcBef>
              <a:spcAft>
                <a:spcPts val="0"/>
              </a:spcAft>
              <a:buClrTx/>
              <a:buSzTx/>
              <a:buFontTx/>
              <a:buNone/>
              <a:tabLst/>
              <a:defRPr/>
            </a:pPr>
            <a:r>
              <a:rPr lang="en-US" sz="1000" b="1" kern="1200" dirty="0">
                <a:solidFill>
                  <a:schemeClr val="tx1"/>
                </a:solidFill>
                <a:latin typeface="Times New Roman" pitchFamily="18" charset="0"/>
                <a:ea typeface="+mn-ea"/>
                <a:cs typeface="+mn-cs"/>
              </a:rPr>
              <a:t>Installation Coverage</a:t>
            </a:r>
            <a:r>
              <a:rPr lang="en-US" sz="1000" kern="1200" dirty="0">
                <a:solidFill>
                  <a:schemeClr val="tx1"/>
                </a:solidFill>
                <a:latin typeface="Times New Roman" pitchFamily="18" charset="0"/>
                <a:ea typeface="+mn-ea"/>
                <a:cs typeface="+mn-cs"/>
              </a:rPr>
              <a:t> applies to owned property and property of others and covers the insurable interest of the insured contractor in the property. Property includes materials, supplies, machinery, fixtures and equipment that will become a permanent part of an installation or construction project. It can cover on a single project within an existing building, such as updating plumbing in the building. It can also cover a contractor who is acting as a subcontractor on a building in the course of construction, such as the one that installs the sprinkler system in it. Coverage can be written on a scheduled job or project basis or on a reporting form basis. Coverage can apply to such property at unnamed or temporary storage locations and while in transit. </a:t>
            </a:r>
            <a:endParaRPr lang="en-US" sz="1000" dirty="0"/>
          </a:p>
        </p:txBody>
      </p:sp>
      <p:sp>
        <p:nvSpPr>
          <p:cNvPr id="4" name="Slide Number Placeholder 3"/>
          <p:cNvSpPr>
            <a:spLocks noGrp="1"/>
          </p:cNvSpPr>
          <p:nvPr>
            <p:ph type="sldNum" sz="quarter" idx="10"/>
          </p:nvPr>
        </p:nvSpPr>
        <p:spPr/>
        <p:txBody>
          <a:bodyPr/>
          <a:lstStyle/>
          <a:p>
            <a:fld id="{7B4AD5B4-0444-431F-910B-BA532084FB7B}" type="slidenum">
              <a:rPr lang="en-US" smtClean="0"/>
              <a:pPr/>
              <a:t>37</a:t>
            </a:fld>
            <a:endParaRPr lang="en-US"/>
          </a:p>
        </p:txBody>
      </p:sp>
    </p:spTree>
    <p:extLst>
      <p:ext uri="{BB962C8B-B14F-4D97-AF65-F5344CB8AC3E}">
        <p14:creationId xmlns:p14="http://schemas.microsoft.com/office/powerpoint/2010/main" val="117963940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defRPr/>
            </a:pPr>
            <a:r>
              <a:rPr lang="en-US" sz="1000" b="1" dirty="0"/>
              <a:t>Contractors equipment is </a:t>
            </a:r>
            <a:r>
              <a:rPr lang="en-US" sz="1000" dirty="0"/>
              <a:t>the largest class, in terms of premium volume, of commercial inland marine insurance. The commercial insured engaged in building construction projects purchases builders risk insurance to cover buildings and structures in the course of construction, and commercial auto insurance to cover damage to his/her automobiles and trucks. However, equipment such as bulldozers, forklifts, mobile tools, etc., is not covered by auto insurance because the equipment is not designed or licensed for road use. Nor is it covered by builders risk insurance.</a:t>
            </a:r>
          </a:p>
          <a:p>
            <a:pPr>
              <a:defRPr/>
            </a:pPr>
            <a:endParaRPr lang="en-US" sz="1000" dirty="0"/>
          </a:p>
          <a:p>
            <a:pPr>
              <a:defRPr/>
            </a:pPr>
            <a:r>
              <a:rPr lang="en-US" sz="1000" dirty="0"/>
              <a:t>Contractors equipment insurance provides coverage for damage to mobile equipment, including tools and machinery, used in construction as well as in a variety of other activities. Builders risk policies do not cover such equipment, unless it is intended to be made a part of the building or structure. Even self-employed carpenters, who take on smaller jobs such as building decks, patios, screened-in porches, and the like, use tools and equipment that need to be insured. These smaller contractors might purchase a small tools form or an AAIS Artisans policy, the latter providing contractors equipment coverage as an option. </a:t>
            </a:r>
          </a:p>
          <a:p>
            <a:pPr>
              <a:defRPr/>
            </a:pPr>
            <a:r>
              <a:rPr lang="en-US" sz="1000" dirty="0"/>
              <a:t>Contractors equipment coverage is not restricted to a location, so it applies at job sites, other locations, and while in transit. The perils of flood and earthquake are often covered in contractors equipment forms. </a:t>
            </a:r>
          </a:p>
          <a:p>
            <a:pPr>
              <a:defRPr/>
            </a:pPr>
            <a:endParaRPr lang="en-US" sz="1000" dirty="0"/>
          </a:p>
          <a:p>
            <a:pPr>
              <a:defRPr/>
            </a:pPr>
            <a:r>
              <a:rPr lang="en-US" sz="1000" b="1" dirty="0"/>
              <a:t>Trip Transit Coverage </a:t>
            </a:r>
          </a:p>
          <a:p>
            <a:pPr>
              <a:defRPr/>
            </a:pPr>
            <a:endParaRPr lang="en-US" sz="1000" b="1" dirty="0"/>
          </a:p>
          <a:p>
            <a:pPr>
              <a:defRPr/>
            </a:pPr>
            <a:r>
              <a:rPr lang="en-US" sz="1000" dirty="0"/>
              <a:t>Inland marine coverage on the insured's property while in transit over land from one location to another</a:t>
            </a:r>
            <a:endParaRPr lang="en-US" sz="1000" b="1" dirty="0"/>
          </a:p>
          <a:p>
            <a:endParaRPr lang="en-US" sz="1000" dirty="0"/>
          </a:p>
        </p:txBody>
      </p:sp>
      <p:sp>
        <p:nvSpPr>
          <p:cNvPr id="4" name="Slide Number Placeholder 3"/>
          <p:cNvSpPr>
            <a:spLocks noGrp="1"/>
          </p:cNvSpPr>
          <p:nvPr>
            <p:ph type="sldNum" sz="quarter" idx="10"/>
          </p:nvPr>
        </p:nvSpPr>
        <p:spPr/>
        <p:txBody>
          <a:bodyPr/>
          <a:lstStyle/>
          <a:p>
            <a:fld id="{7B4AD5B4-0444-431F-910B-BA532084FB7B}" type="slidenum">
              <a:rPr lang="en-US" smtClean="0"/>
              <a:pPr/>
              <a:t>38</a:t>
            </a:fld>
            <a:endParaRPr lang="en-US"/>
          </a:p>
        </p:txBody>
      </p:sp>
    </p:spTree>
    <p:extLst>
      <p:ext uri="{BB962C8B-B14F-4D97-AF65-F5344CB8AC3E}">
        <p14:creationId xmlns:p14="http://schemas.microsoft.com/office/powerpoint/2010/main" val="38192714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000" b="1" kern="1200" baseline="0" dirty="0">
                <a:solidFill>
                  <a:schemeClr val="tx1"/>
                </a:solidFill>
                <a:latin typeface="Times New Roman" pitchFamily="18" charset="0"/>
                <a:ea typeface="+mn-ea"/>
                <a:cs typeface="+mn-cs"/>
              </a:rPr>
              <a:t>Trucker Cargo Liability </a:t>
            </a:r>
            <a:r>
              <a:rPr lang="en-US" sz="1000" b="0" kern="1200" baseline="0" dirty="0">
                <a:solidFill>
                  <a:schemeClr val="tx1"/>
                </a:solidFill>
                <a:latin typeface="Times New Roman" pitchFamily="18" charset="0"/>
                <a:ea typeface="+mn-ea"/>
                <a:cs typeface="+mn-cs"/>
              </a:rPr>
              <a:t>is needed</a:t>
            </a:r>
            <a:r>
              <a:rPr lang="en-US" sz="1000" b="1" kern="1200" baseline="0" dirty="0">
                <a:solidFill>
                  <a:schemeClr val="tx1"/>
                </a:solidFill>
                <a:latin typeface="Times New Roman" pitchFamily="18" charset="0"/>
                <a:ea typeface="+mn-ea"/>
                <a:cs typeface="+mn-cs"/>
              </a:rPr>
              <a:t>:</a:t>
            </a:r>
          </a:p>
          <a:p>
            <a:endParaRPr lang="en-US" sz="1000" b="0" kern="1200" baseline="0" dirty="0">
              <a:solidFill>
                <a:schemeClr val="tx1"/>
              </a:solidFill>
              <a:latin typeface="Times New Roman" pitchFamily="18" charset="0"/>
              <a:ea typeface="+mn-ea"/>
              <a:cs typeface="+mn-cs"/>
            </a:endParaRPr>
          </a:p>
          <a:p>
            <a:r>
              <a:rPr lang="en-US" sz="1000" b="0" kern="1200" baseline="0" dirty="0">
                <a:solidFill>
                  <a:schemeClr val="tx1"/>
                </a:solidFill>
                <a:latin typeface="Times New Roman" pitchFamily="18" charset="0"/>
                <a:ea typeface="+mn-ea"/>
                <a:cs typeface="+mn-cs"/>
              </a:rPr>
              <a:t>a) To protect insured against financial loss, if liable for a cargo loss</a:t>
            </a:r>
          </a:p>
          <a:p>
            <a:r>
              <a:rPr lang="en-US" sz="1000" b="0" kern="1200" baseline="0" dirty="0">
                <a:solidFill>
                  <a:schemeClr val="tx1"/>
                </a:solidFill>
                <a:latin typeface="Times New Roman" pitchFamily="18" charset="0"/>
                <a:ea typeface="+mn-ea"/>
                <a:cs typeface="+mn-cs"/>
              </a:rPr>
              <a:t>b) To obtain filings to satisfy U.S. Dept. of Transportation and/or state regulator</a:t>
            </a:r>
          </a:p>
          <a:p>
            <a:r>
              <a:rPr lang="en-US" sz="1000" b="0" kern="1200" baseline="0" dirty="0">
                <a:solidFill>
                  <a:schemeClr val="tx1"/>
                </a:solidFill>
                <a:latin typeface="Times New Roman" pitchFamily="18" charset="0"/>
                <a:ea typeface="+mn-ea"/>
                <a:cs typeface="+mn-cs"/>
              </a:rPr>
              <a:t>requirements</a:t>
            </a:r>
          </a:p>
          <a:p>
            <a:r>
              <a:rPr lang="en-US" sz="1000" b="0" kern="1200" baseline="0" dirty="0">
                <a:solidFill>
                  <a:schemeClr val="tx1"/>
                </a:solidFill>
                <a:latin typeface="Times New Roman" pitchFamily="18" charset="0"/>
                <a:ea typeface="+mn-ea"/>
                <a:cs typeface="+mn-cs"/>
              </a:rPr>
              <a:t>c) </a:t>
            </a:r>
            <a:r>
              <a:rPr lang="en-US" sz="1000" kern="1200" baseline="0" dirty="0">
                <a:solidFill>
                  <a:schemeClr val="tx1"/>
                </a:solidFill>
                <a:latin typeface="Times New Roman" pitchFamily="18" charset="0"/>
                <a:ea typeface="+mn-ea"/>
                <a:cs typeface="+mn-cs"/>
              </a:rPr>
              <a:t>To reassure insured’s customers that insured has proper insurance</a:t>
            </a:r>
            <a:endParaRPr lang="en-US" sz="1000" b="1" kern="1200" baseline="0" dirty="0">
              <a:solidFill>
                <a:schemeClr val="tx1"/>
              </a:solidFill>
              <a:latin typeface="Times New Roman" pitchFamily="18"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000" b="1" kern="1200" baseline="0" dirty="0">
              <a:solidFill>
                <a:schemeClr val="tx1"/>
              </a:solidFill>
              <a:latin typeface="Times New Roman" pitchFamily="18"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000" b="1" kern="1200" baseline="0" dirty="0">
                <a:solidFill>
                  <a:schemeClr val="tx1"/>
                </a:solidFill>
                <a:latin typeface="Times New Roman" pitchFamily="18" charset="0"/>
                <a:ea typeface="+mn-ea"/>
                <a:cs typeface="+mn-cs"/>
              </a:rPr>
              <a:t>Computer Virus and Computer Hacking Coverage Example:</a:t>
            </a:r>
            <a:r>
              <a:rPr lang="en-US" sz="1000" kern="1200" baseline="0" dirty="0">
                <a:solidFill>
                  <a:schemeClr val="tx1"/>
                </a:solidFill>
                <a:latin typeface="Times New Roman" pitchFamily="18" charset="0"/>
                <a:ea typeface="+mn-ea"/>
                <a:cs typeface="+mn-cs"/>
              </a:rPr>
              <a:t> An IT Consulting firm’s (insured) entire network had been infected by a “computer virus” penetrating one of their servers. The insured had Anti-Virus software installed and the virus fooled the software into believing it had it quarantined. In fact the virus continued to spread workstation to workstation until the entire network became inoperable. The insured’s computer consultants believe the entry point was a hacker who dropped the virus into their system. There is no evidence that the virus was opened in the way of an e-mail or website as it would have started locally on one computer not the entire network. In addition to the virus affecting this insured, it also affected two outside consulting firms that work with the insured and tie into their server network.</a:t>
            </a:r>
          </a:p>
          <a:p>
            <a:endParaRPr lang="en-US" sz="1000" dirty="0"/>
          </a:p>
        </p:txBody>
      </p:sp>
      <p:sp>
        <p:nvSpPr>
          <p:cNvPr id="4" name="Slide Number Placeholder 3"/>
          <p:cNvSpPr>
            <a:spLocks noGrp="1"/>
          </p:cNvSpPr>
          <p:nvPr>
            <p:ph type="sldNum" sz="quarter" idx="10"/>
          </p:nvPr>
        </p:nvSpPr>
        <p:spPr/>
        <p:txBody>
          <a:bodyPr/>
          <a:lstStyle/>
          <a:p>
            <a:fld id="{7B4AD5B4-0444-431F-910B-BA532084FB7B}" type="slidenum">
              <a:rPr lang="en-US" smtClean="0"/>
              <a:pPr/>
              <a:t>39</a:t>
            </a:fld>
            <a:endParaRPr lang="en-US"/>
          </a:p>
        </p:txBody>
      </p:sp>
    </p:spTree>
    <p:extLst>
      <p:ext uri="{BB962C8B-B14F-4D97-AF65-F5344CB8AC3E}">
        <p14:creationId xmlns:p14="http://schemas.microsoft.com/office/powerpoint/2010/main" val="50916383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B4AD5B4-0444-431F-910B-BA532084FB7B}" type="slidenum">
              <a:rPr lang="en-US" smtClean="0"/>
              <a:pPr/>
              <a:t>40</a:t>
            </a:fld>
            <a:endParaRPr lang="en-US"/>
          </a:p>
        </p:txBody>
      </p:sp>
    </p:spTree>
    <p:extLst>
      <p:ext uri="{BB962C8B-B14F-4D97-AF65-F5344CB8AC3E}">
        <p14:creationId xmlns:p14="http://schemas.microsoft.com/office/powerpoint/2010/main" val="270269735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0"/>
          <p:cNvSpPr>
            <a:spLocks noChangeArrowheads="1"/>
          </p:cNvSpPr>
          <p:nvPr userDrawn="1"/>
        </p:nvSpPr>
        <p:spPr bwMode="auto">
          <a:xfrm>
            <a:off x="0" y="2546309"/>
            <a:ext cx="533400" cy="2484438"/>
          </a:xfrm>
          <a:prstGeom prst="rect">
            <a:avLst/>
          </a:prstGeom>
          <a:solidFill>
            <a:srgbClr val="969696"/>
          </a:solidFill>
          <a:ln w="9525">
            <a:noFill/>
            <a:miter lim="800000"/>
            <a:headEnd/>
            <a:tailEnd/>
          </a:ln>
        </p:spPr>
        <p:txBody>
          <a:bodyPr wrap="none" anchor="ctr"/>
          <a:lstStyle/>
          <a:p>
            <a:pPr>
              <a:defRPr/>
            </a:pPr>
            <a:endParaRPr lang="en-US"/>
          </a:p>
        </p:txBody>
      </p:sp>
      <p:sp>
        <p:nvSpPr>
          <p:cNvPr id="9" name="Rectangle 62"/>
          <p:cNvSpPr>
            <a:spLocks noChangeArrowheads="1"/>
          </p:cNvSpPr>
          <p:nvPr userDrawn="1"/>
        </p:nvSpPr>
        <p:spPr bwMode="auto">
          <a:xfrm>
            <a:off x="0" y="1754147"/>
            <a:ext cx="7391400" cy="761999"/>
          </a:xfrm>
          <a:prstGeom prst="rect">
            <a:avLst/>
          </a:prstGeom>
          <a:solidFill>
            <a:srgbClr val="5F5F5F"/>
          </a:solidFill>
          <a:ln w="9525">
            <a:noFill/>
            <a:miter lim="800000"/>
            <a:headEnd/>
            <a:tailEnd/>
          </a:ln>
        </p:spPr>
        <p:txBody>
          <a:bodyPr wrap="none" anchor="ctr"/>
          <a:lstStyle/>
          <a:p>
            <a:pPr>
              <a:defRPr/>
            </a:pPr>
            <a:endParaRPr lang="en-US"/>
          </a:p>
        </p:txBody>
      </p:sp>
      <p:sp>
        <p:nvSpPr>
          <p:cNvPr id="10" name="Rectangle 63"/>
          <p:cNvSpPr>
            <a:spLocks noChangeArrowheads="1"/>
          </p:cNvSpPr>
          <p:nvPr userDrawn="1"/>
        </p:nvSpPr>
        <p:spPr bwMode="auto">
          <a:xfrm>
            <a:off x="6400800" y="1754146"/>
            <a:ext cx="990600" cy="763546"/>
          </a:xfrm>
          <a:prstGeom prst="rect">
            <a:avLst/>
          </a:prstGeom>
          <a:solidFill>
            <a:srgbClr val="CC0000"/>
          </a:solidFill>
          <a:ln w="9525">
            <a:noFill/>
            <a:miter lim="800000"/>
            <a:headEnd/>
            <a:tailEnd/>
          </a:ln>
        </p:spPr>
        <p:txBody>
          <a:bodyPr wrap="none" anchor="ctr"/>
          <a:lstStyle/>
          <a:p>
            <a:pPr>
              <a:defRPr/>
            </a:pPr>
            <a:endParaRPr lang="en-US"/>
          </a:p>
        </p:txBody>
      </p:sp>
      <p:sp>
        <p:nvSpPr>
          <p:cNvPr id="11" name="Rectangle 64"/>
          <p:cNvSpPr>
            <a:spLocks noChangeArrowheads="1"/>
          </p:cNvSpPr>
          <p:nvPr userDrawn="1"/>
        </p:nvSpPr>
        <p:spPr bwMode="auto">
          <a:xfrm>
            <a:off x="8763000" y="1754146"/>
            <a:ext cx="381000" cy="763546"/>
          </a:xfrm>
          <a:prstGeom prst="rect">
            <a:avLst/>
          </a:prstGeom>
          <a:solidFill>
            <a:srgbClr val="969696"/>
          </a:solidFill>
          <a:ln w="9525">
            <a:noFill/>
            <a:miter lim="800000"/>
            <a:headEnd/>
            <a:tailEnd/>
          </a:ln>
        </p:spPr>
        <p:txBody>
          <a:bodyPr wrap="none" anchor="ctr"/>
          <a:lstStyle/>
          <a:p>
            <a:pPr>
              <a:defRPr/>
            </a:pPr>
            <a:endParaRPr lang="en-US"/>
          </a:p>
        </p:txBody>
      </p:sp>
      <p:sp>
        <p:nvSpPr>
          <p:cNvPr id="12" name="Rectangle 65"/>
          <p:cNvSpPr>
            <a:spLocks noChangeArrowheads="1"/>
          </p:cNvSpPr>
          <p:nvPr userDrawn="1"/>
        </p:nvSpPr>
        <p:spPr bwMode="auto">
          <a:xfrm>
            <a:off x="6781800" y="1754146"/>
            <a:ext cx="304800" cy="763546"/>
          </a:xfrm>
          <a:prstGeom prst="rect">
            <a:avLst/>
          </a:prstGeom>
          <a:solidFill>
            <a:srgbClr val="A50021"/>
          </a:solidFill>
          <a:ln w="9525">
            <a:noFill/>
            <a:miter lim="800000"/>
            <a:headEnd/>
            <a:tailEnd/>
          </a:ln>
        </p:spPr>
        <p:txBody>
          <a:bodyPr wrap="none" anchor="ctr"/>
          <a:lstStyle/>
          <a:p>
            <a:pPr>
              <a:defRPr/>
            </a:pPr>
            <a:endParaRPr lang="en-US"/>
          </a:p>
        </p:txBody>
      </p:sp>
      <p:sp>
        <p:nvSpPr>
          <p:cNvPr id="21" name="Text Box 75"/>
          <p:cNvSpPr txBox="1">
            <a:spLocks noChangeArrowheads="1"/>
          </p:cNvSpPr>
          <p:nvPr userDrawn="1"/>
        </p:nvSpPr>
        <p:spPr bwMode="auto">
          <a:xfrm>
            <a:off x="3200400" y="2774908"/>
            <a:ext cx="5943600" cy="381000"/>
          </a:xfrm>
          <a:prstGeom prst="rect">
            <a:avLst/>
          </a:prstGeom>
          <a:noFill/>
          <a:ln w="9525" algn="in">
            <a:noFill/>
            <a:miter lim="800000"/>
            <a:headEnd/>
            <a:tailEnd/>
          </a:ln>
        </p:spPr>
        <p:txBody>
          <a:bodyPr lIns="36576" tIns="36576" rIns="36576" bIns="36576"/>
          <a:lstStyle/>
          <a:p>
            <a:pPr>
              <a:defRPr/>
            </a:pPr>
            <a:r>
              <a:rPr lang="en-US" b="1" u="none" dirty="0">
                <a:solidFill>
                  <a:schemeClr val="bg1"/>
                </a:solidFill>
              </a:rPr>
              <a:t>POWERED BY VALUEMOMENTUM’S SMART SOLUTIONS FOR:</a:t>
            </a:r>
            <a:endParaRPr lang="en-US" dirty="0">
              <a:solidFill>
                <a:schemeClr val="bg1"/>
              </a:solidFill>
            </a:endParaRPr>
          </a:p>
        </p:txBody>
      </p:sp>
      <p:sp>
        <p:nvSpPr>
          <p:cNvPr id="23" name="Rectangle 66"/>
          <p:cNvSpPr>
            <a:spLocks noChangeArrowheads="1"/>
          </p:cNvSpPr>
          <p:nvPr userDrawn="1"/>
        </p:nvSpPr>
        <p:spPr bwMode="auto">
          <a:xfrm>
            <a:off x="0" y="1830346"/>
            <a:ext cx="6400800" cy="523220"/>
          </a:xfrm>
          <a:prstGeom prst="rect">
            <a:avLst/>
          </a:prstGeom>
          <a:noFill/>
          <a:ln w="12700">
            <a:noFill/>
            <a:miter lim="800000"/>
            <a:headEnd/>
            <a:tailEnd/>
          </a:ln>
        </p:spPr>
        <p:txBody>
          <a:bodyPr wrap="square" anchor="ctr">
            <a:spAutoFit/>
          </a:bodyPr>
          <a:lstStyle/>
          <a:p>
            <a:pPr algn="ctr" eaLnBrk="0" hangingPunct="0">
              <a:buSzPct val="120000"/>
              <a:tabLst>
                <a:tab pos="1828800" algn="l"/>
              </a:tabLst>
              <a:defRPr/>
            </a:pPr>
            <a:r>
              <a:rPr lang="en-US" sz="2800" b="0" u="none" kern="1200" dirty="0">
                <a:solidFill>
                  <a:schemeClr val="bg1"/>
                </a:solidFill>
                <a:latin typeface="+mn-lt"/>
                <a:ea typeface="+mn-ea"/>
                <a:cs typeface="+mn-cs"/>
              </a:rPr>
              <a:t>BOP Product &amp; Limits</a:t>
            </a:r>
          </a:p>
        </p:txBody>
      </p:sp>
      <p:pic>
        <p:nvPicPr>
          <p:cNvPr id="24" name="Picture 3"/>
          <p:cNvPicPr>
            <a:picLocks noChangeAspect="1" noChangeArrowheads="1"/>
          </p:cNvPicPr>
          <p:nvPr userDrawn="1"/>
        </p:nvPicPr>
        <p:blipFill>
          <a:blip r:embed="rId2" cstate="print"/>
          <a:srcRect/>
          <a:stretch>
            <a:fillRect/>
          </a:stretch>
        </p:blipFill>
        <p:spPr bwMode="auto">
          <a:xfrm>
            <a:off x="7467600" y="1754146"/>
            <a:ext cx="1150477" cy="783124"/>
          </a:xfrm>
          <a:prstGeom prst="rect">
            <a:avLst/>
          </a:prstGeom>
          <a:noFill/>
          <a:ln w="6350" algn="ctr">
            <a:noFill/>
            <a:miter lim="800000"/>
            <a:headEnd/>
            <a:tailEnd/>
          </a:ln>
        </p:spPr>
      </p:pic>
      <p:sp>
        <p:nvSpPr>
          <p:cNvPr id="13" name="Rectangle 67"/>
          <p:cNvSpPr>
            <a:spLocks noChangeArrowheads="1"/>
          </p:cNvSpPr>
          <p:nvPr userDrawn="1"/>
        </p:nvSpPr>
        <p:spPr bwMode="auto">
          <a:xfrm>
            <a:off x="0" y="2516146"/>
            <a:ext cx="9144000" cy="76200"/>
          </a:xfrm>
          <a:prstGeom prst="rect">
            <a:avLst/>
          </a:prstGeom>
          <a:solidFill>
            <a:srgbClr val="000000"/>
          </a:solidFill>
          <a:ln w="9525">
            <a:noFill/>
            <a:miter lim="800000"/>
            <a:headEnd/>
            <a:tailEnd/>
          </a:ln>
        </p:spPr>
        <p:txBody>
          <a:bodyPr wrap="none" anchor="ctr"/>
          <a:lstStyle/>
          <a:p>
            <a:pPr>
              <a:defRPr/>
            </a:pPr>
            <a:endParaRPr lang="en-US"/>
          </a:p>
        </p:txBody>
      </p:sp>
      <p:sp>
        <p:nvSpPr>
          <p:cNvPr id="25" name="Rectangle 63"/>
          <p:cNvSpPr>
            <a:spLocks noChangeArrowheads="1"/>
          </p:cNvSpPr>
          <p:nvPr userDrawn="1"/>
        </p:nvSpPr>
        <p:spPr bwMode="auto">
          <a:xfrm>
            <a:off x="8763000" y="1752600"/>
            <a:ext cx="76200" cy="763546"/>
          </a:xfrm>
          <a:prstGeom prst="rect">
            <a:avLst/>
          </a:prstGeom>
          <a:solidFill>
            <a:srgbClr val="CC0000"/>
          </a:solidFill>
          <a:ln w="9525">
            <a:noFill/>
            <a:miter lim="800000"/>
            <a:headEnd/>
            <a:tailEnd/>
          </a:ln>
        </p:spPr>
        <p:txBody>
          <a:bodyPr wrap="none" anchor="ctr"/>
          <a:lstStyle/>
          <a:p>
            <a:pPr>
              <a:defRPr/>
            </a:pPr>
            <a:endParaRPr lang="en-US"/>
          </a:p>
        </p:txBody>
      </p:sp>
      <p:sp>
        <p:nvSpPr>
          <p:cNvPr id="22" name="Rectangle 45"/>
          <p:cNvSpPr>
            <a:spLocks noChangeArrowheads="1"/>
          </p:cNvSpPr>
          <p:nvPr userDrawn="1"/>
        </p:nvSpPr>
        <p:spPr bwMode="auto">
          <a:xfrm>
            <a:off x="2895601" y="2592347"/>
            <a:ext cx="6248400" cy="2438400"/>
          </a:xfrm>
          <a:prstGeom prst="rect">
            <a:avLst/>
          </a:prstGeom>
          <a:solidFill>
            <a:srgbClr val="5F5F5F"/>
          </a:solidFill>
          <a:ln w="9525">
            <a:noFill/>
            <a:miter lim="800000"/>
            <a:headEnd/>
            <a:tailEnd/>
          </a:ln>
          <a:effectLst/>
        </p:spPr>
        <p:txBody>
          <a:bodyPr wrap="none" anchor="ctr"/>
          <a:lstStyle/>
          <a:p>
            <a:pPr>
              <a:defRPr/>
            </a:pPr>
            <a:endParaRPr lang="en-US"/>
          </a:p>
        </p:txBody>
      </p:sp>
      <p:sp>
        <p:nvSpPr>
          <p:cNvPr id="30" name="Rectangle 66"/>
          <p:cNvSpPr>
            <a:spLocks noChangeArrowheads="1"/>
          </p:cNvSpPr>
          <p:nvPr userDrawn="1"/>
        </p:nvSpPr>
        <p:spPr bwMode="auto">
          <a:xfrm>
            <a:off x="152400" y="304800"/>
            <a:ext cx="5867400" cy="646331"/>
          </a:xfrm>
          <a:prstGeom prst="rect">
            <a:avLst/>
          </a:prstGeom>
          <a:noFill/>
          <a:ln w="12700">
            <a:noFill/>
            <a:miter lim="800000"/>
            <a:headEnd/>
            <a:tailEnd/>
          </a:ln>
        </p:spPr>
        <p:txBody>
          <a:bodyPr wrap="square" anchor="ctr">
            <a:spAutoFit/>
          </a:bodyPr>
          <a:lstStyle/>
          <a:p>
            <a:pPr algn="ctr" eaLnBrk="0" hangingPunct="0">
              <a:buSzPct val="120000"/>
              <a:tabLst>
                <a:tab pos="1828800" algn="l"/>
              </a:tabLst>
              <a:defRPr/>
            </a:pPr>
            <a:r>
              <a:rPr lang="en-US" sz="3600" u="none" dirty="0">
                <a:solidFill>
                  <a:schemeClr val="bg1"/>
                </a:solidFill>
              </a:rPr>
              <a:t>Corporate Overview</a:t>
            </a:r>
          </a:p>
        </p:txBody>
      </p:sp>
      <p:sp>
        <p:nvSpPr>
          <p:cNvPr id="34" name="Text Box 20"/>
          <p:cNvSpPr txBox="1">
            <a:spLocks noChangeArrowheads="1"/>
          </p:cNvSpPr>
          <p:nvPr userDrawn="1"/>
        </p:nvSpPr>
        <p:spPr bwMode="auto">
          <a:xfrm>
            <a:off x="3321876" y="3990975"/>
            <a:ext cx="1257300" cy="228600"/>
          </a:xfrm>
          <a:prstGeom prst="rect">
            <a:avLst/>
          </a:prstGeom>
          <a:noFill/>
          <a:ln w="9525" algn="in">
            <a:noFill/>
            <a:miter lim="800000"/>
            <a:headEnd/>
            <a:tailEnd/>
          </a:ln>
        </p:spPr>
        <p:txBody>
          <a:bodyPr lIns="36576" tIns="36576" rIns="36576" bIns="36576"/>
          <a:lstStyle/>
          <a:p>
            <a:r>
              <a:rPr lang="en-US" b="1">
                <a:solidFill>
                  <a:schemeClr val="bg1"/>
                </a:solidFill>
                <a:latin typeface="Calibri" pitchFamily="34" charset="0"/>
                <a:ea typeface="Calibri" pitchFamily="34" charset="0"/>
                <a:cs typeface="Calibri" pitchFamily="34" charset="0"/>
              </a:rPr>
              <a:t>EXPERIENCE</a:t>
            </a:r>
            <a:endParaRPr lang="en-US" u="sng">
              <a:solidFill>
                <a:schemeClr val="bg1"/>
              </a:solidFill>
              <a:latin typeface="Calibri" pitchFamily="34" charset="0"/>
              <a:ea typeface="Calibri" pitchFamily="34" charset="0"/>
              <a:cs typeface="Calibri" pitchFamily="34" charset="0"/>
            </a:endParaRPr>
          </a:p>
        </p:txBody>
      </p:sp>
      <p:sp>
        <p:nvSpPr>
          <p:cNvPr id="35" name="Text Box 21"/>
          <p:cNvSpPr txBox="1">
            <a:spLocks noChangeArrowheads="1"/>
          </p:cNvSpPr>
          <p:nvPr userDrawn="1"/>
        </p:nvSpPr>
        <p:spPr bwMode="auto">
          <a:xfrm>
            <a:off x="4778375" y="3990975"/>
            <a:ext cx="1393825" cy="228600"/>
          </a:xfrm>
          <a:prstGeom prst="rect">
            <a:avLst/>
          </a:prstGeom>
          <a:noFill/>
          <a:ln w="9525" algn="in">
            <a:noFill/>
            <a:miter lim="800000"/>
            <a:headEnd/>
            <a:tailEnd/>
          </a:ln>
        </p:spPr>
        <p:txBody>
          <a:bodyPr lIns="36576" tIns="36576" rIns="36576" bIns="36576"/>
          <a:lstStyle/>
          <a:p>
            <a:r>
              <a:rPr lang="en-US" b="1" dirty="0">
                <a:solidFill>
                  <a:schemeClr val="bg1"/>
                </a:solidFill>
                <a:latin typeface="Calibri" pitchFamily="34" charset="0"/>
                <a:ea typeface="Calibri" pitchFamily="34" charset="0"/>
                <a:cs typeface="Calibri" pitchFamily="34" charset="0"/>
              </a:rPr>
              <a:t>EXPERTISE</a:t>
            </a:r>
            <a:endParaRPr lang="en-US" u="sng" dirty="0">
              <a:solidFill>
                <a:schemeClr val="bg1"/>
              </a:solidFill>
              <a:latin typeface="Calibri" pitchFamily="34" charset="0"/>
              <a:ea typeface="Calibri" pitchFamily="34" charset="0"/>
              <a:cs typeface="Calibri" pitchFamily="34" charset="0"/>
            </a:endParaRPr>
          </a:p>
        </p:txBody>
      </p:sp>
      <p:sp>
        <p:nvSpPr>
          <p:cNvPr id="36" name="Text Box 22"/>
          <p:cNvSpPr txBox="1">
            <a:spLocks noChangeArrowheads="1"/>
          </p:cNvSpPr>
          <p:nvPr userDrawn="1"/>
        </p:nvSpPr>
        <p:spPr bwMode="auto">
          <a:xfrm>
            <a:off x="7010400" y="3990975"/>
            <a:ext cx="2743200" cy="352425"/>
          </a:xfrm>
          <a:prstGeom prst="rect">
            <a:avLst/>
          </a:prstGeom>
          <a:noFill/>
          <a:ln w="9525" algn="in">
            <a:noFill/>
            <a:miter lim="800000"/>
            <a:headEnd/>
            <a:tailEnd/>
          </a:ln>
        </p:spPr>
        <p:txBody>
          <a:bodyPr lIns="36576" tIns="36576" rIns="36576" bIns="36576"/>
          <a:lstStyle/>
          <a:p>
            <a:r>
              <a:rPr lang="en-US" b="1" dirty="0">
                <a:solidFill>
                  <a:schemeClr val="bg1"/>
                </a:solidFill>
                <a:latin typeface="Calibri" pitchFamily="34" charset="0"/>
                <a:ea typeface="Calibri" pitchFamily="34" charset="0"/>
                <a:cs typeface="Calibri" pitchFamily="34" charset="0"/>
              </a:rPr>
              <a:t>APPROACH</a:t>
            </a:r>
            <a:br>
              <a:rPr lang="en-US" b="1" dirty="0">
                <a:solidFill>
                  <a:schemeClr val="bg1"/>
                </a:solidFill>
                <a:latin typeface="Calibri" pitchFamily="34" charset="0"/>
                <a:ea typeface="Calibri" pitchFamily="34" charset="0"/>
                <a:cs typeface="Calibri" pitchFamily="34" charset="0"/>
              </a:rPr>
            </a:br>
            <a:r>
              <a:rPr lang="en-US" sz="900" b="1" dirty="0">
                <a:solidFill>
                  <a:schemeClr val="bg1"/>
                </a:solidFill>
                <a:latin typeface="Calibri" pitchFamily="34" charset="0"/>
                <a:ea typeface="Calibri" pitchFamily="34" charset="0"/>
                <a:cs typeface="Calibri" pitchFamily="34" charset="0"/>
              </a:rPr>
              <a:t>(KEEP-CUSTOMER-FOR-LIFE approach)</a:t>
            </a:r>
            <a:endParaRPr lang="en-US" u="sng" dirty="0">
              <a:solidFill>
                <a:schemeClr val="bg1"/>
              </a:solidFill>
              <a:latin typeface="Calibri" pitchFamily="34" charset="0"/>
              <a:ea typeface="Calibri" pitchFamily="34" charset="0"/>
              <a:cs typeface="Calibri" pitchFamily="34" charset="0"/>
            </a:endParaRPr>
          </a:p>
        </p:txBody>
      </p:sp>
      <p:sp>
        <p:nvSpPr>
          <p:cNvPr id="37" name="Freeform 23"/>
          <p:cNvSpPr>
            <a:spLocks noChangeAspect="1"/>
          </p:cNvSpPr>
          <p:nvPr userDrawn="1"/>
        </p:nvSpPr>
        <p:spPr bwMode="auto">
          <a:xfrm rot="1628237">
            <a:off x="3621914" y="3654425"/>
            <a:ext cx="546100" cy="274638"/>
          </a:xfrm>
          <a:custGeom>
            <a:avLst/>
            <a:gdLst>
              <a:gd name="T0" fmla="*/ 2147483647 w 274"/>
              <a:gd name="T1" fmla="*/ 2147483647 h 138"/>
              <a:gd name="T2" fmla="*/ 0 w 274"/>
              <a:gd name="T3" fmla="*/ 2147483647 h 138"/>
              <a:gd name="T4" fmla="*/ 0 w 274"/>
              <a:gd name="T5" fmla="*/ 2147483647 h 138"/>
              <a:gd name="T6" fmla="*/ 2147483647 w 274"/>
              <a:gd name="T7" fmla="*/ 2147483647 h 138"/>
              <a:gd name="T8" fmla="*/ 2147483647 w 274"/>
              <a:gd name="T9" fmla="*/ 2147483647 h 138"/>
              <a:gd name="T10" fmla="*/ 2147483647 w 274"/>
              <a:gd name="T11" fmla="*/ 2147483647 h 138"/>
              <a:gd name="T12" fmla="*/ 2147483647 w 274"/>
              <a:gd name="T13" fmla="*/ 2147483647 h 138"/>
              <a:gd name="T14" fmla="*/ 2147483647 w 274"/>
              <a:gd name="T15" fmla="*/ 2147483647 h 138"/>
              <a:gd name="T16" fmla="*/ 2147483647 w 274"/>
              <a:gd name="T17" fmla="*/ 2147483647 h 138"/>
              <a:gd name="T18" fmla="*/ 2147483647 w 274"/>
              <a:gd name="T19" fmla="*/ 2147483647 h 138"/>
              <a:gd name="T20" fmla="*/ 2147483647 w 274"/>
              <a:gd name="T21" fmla="*/ 2147483647 h 138"/>
              <a:gd name="T22" fmla="*/ 2147483647 w 274"/>
              <a:gd name="T23" fmla="*/ 2147483647 h 138"/>
              <a:gd name="T24" fmla="*/ 2147483647 w 274"/>
              <a:gd name="T25" fmla="*/ 2147483647 h 138"/>
              <a:gd name="T26" fmla="*/ 2147483647 w 274"/>
              <a:gd name="T27" fmla="*/ 2147483647 h 138"/>
              <a:gd name="T28" fmla="*/ 2147483647 w 274"/>
              <a:gd name="T29" fmla="*/ 2147483647 h 138"/>
              <a:gd name="T30" fmla="*/ 2147483647 w 274"/>
              <a:gd name="T31" fmla="*/ 2147483647 h 138"/>
              <a:gd name="T32" fmla="*/ 2147483647 w 274"/>
              <a:gd name="T33" fmla="*/ 2147483647 h 138"/>
              <a:gd name="T34" fmla="*/ 2147483647 w 274"/>
              <a:gd name="T35" fmla="*/ 2147483647 h 138"/>
              <a:gd name="T36" fmla="*/ 2147483647 w 274"/>
              <a:gd name="T37" fmla="*/ 2147483647 h 138"/>
              <a:gd name="T38" fmla="*/ 2147483647 w 274"/>
              <a:gd name="T39" fmla="*/ 2147483647 h 138"/>
              <a:gd name="T40" fmla="*/ 2147483647 w 274"/>
              <a:gd name="T41" fmla="*/ 0 h 138"/>
              <a:gd name="T42" fmla="*/ 2147483647 w 274"/>
              <a:gd name="T43" fmla="*/ 2147483647 h 138"/>
              <a:gd name="T44" fmla="*/ 2147483647 w 274"/>
              <a:gd name="T45" fmla="*/ 2147483647 h 138"/>
              <a:gd name="T46" fmla="*/ 2147483647 w 274"/>
              <a:gd name="T47" fmla="*/ 2147483647 h 138"/>
              <a:gd name="T48" fmla="*/ 2147483647 w 274"/>
              <a:gd name="T49" fmla="*/ 2147483647 h 138"/>
              <a:gd name="T50" fmla="*/ 2147483647 w 274"/>
              <a:gd name="T51" fmla="*/ 2147483647 h 138"/>
              <a:gd name="T52" fmla="*/ 2147483647 w 274"/>
              <a:gd name="T53" fmla="*/ 2147483647 h 138"/>
              <a:gd name="T54" fmla="*/ 2147483647 w 274"/>
              <a:gd name="T55" fmla="*/ 2147483647 h 138"/>
              <a:gd name="T56" fmla="*/ 2147483647 w 274"/>
              <a:gd name="T57" fmla="*/ 2147483647 h 138"/>
              <a:gd name="T58" fmla="*/ 2147483647 w 274"/>
              <a:gd name="T59" fmla="*/ 2147483647 h 138"/>
              <a:gd name="T60" fmla="*/ 2147483647 w 274"/>
              <a:gd name="T61" fmla="*/ 2147483647 h 138"/>
              <a:gd name="T62" fmla="*/ 2147483647 w 274"/>
              <a:gd name="T63" fmla="*/ 2147483647 h 138"/>
              <a:gd name="T64" fmla="*/ 2147483647 w 274"/>
              <a:gd name="T65" fmla="*/ 2147483647 h 138"/>
              <a:gd name="T66" fmla="*/ 2147483647 w 274"/>
              <a:gd name="T67" fmla="*/ 2147483647 h 138"/>
              <a:gd name="T68" fmla="*/ 2147483647 w 274"/>
              <a:gd name="T69" fmla="*/ 2147483647 h 138"/>
              <a:gd name="T70" fmla="*/ 2147483647 w 274"/>
              <a:gd name="T71" fmla="*/ 2147483647 h 138"/>
              <a:gd name="T72" fmla="*/ 2147483647 w 274"/>
              <a:gd name="T73" fmla="*/ 2147483647 h 138"/>
              <a:gd name="T74" fmla="*/ 2147483647 w 274"/>
              <a:gd name="T75" fmla="*/ 2147483647 h 13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74"/>
              <a:gd name="T115" fmla="*/ 0 h 138"/>
              <a:gd name="T116" fmla="*/ 274 w 274"/>
              <a:gd name="T117" fmla="*/ 138 h 13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74" h="138">
                <a:moveTo>
                  <a:pt x="2" y="111"/>
                </a:moveTo>
                <a:lnTo>
                  <a:pt x="0" y="104"/>
                </a:lnTo>
                <a:lnTo>
                  <a:pt x="0" y="96"/>
                </a:lnTo>
                <a:lnTo>
                  <a:pt x="2" y="86"/>
                </a:lnTo>
                <a:lnTo>
                  <a:pt x="4" y="82"/>
                </a:lnTo>
                <a:lnTo>
                  <a:pt x="6" y="79"/>
                </a:lnTo>
                <a:lnTo>
                  <a:pt x="15" y="63"/>
                </a:lnTo>
                <a:lnTo>
                  <a:pt x="25" y="52"/>
                </a:lnTo>
                <a:lnTo>
                  <a:pt x="37" y="42"/>
                </a:lnTo>
                <a:lnTo>
                  <a:pt x="50" y="34"/>
                </a:lnTo>
                <a:lnTo>
                  <a:pt x="65" y="28"/>
                </a:lnTo>
                <a:lnTo>
                  <a:pt x="81" y="25"/>
                </a:lnTo>
                <a:lnTo>
                  <a:pt x="94" y="21"/>
                </a:lnTo>
                <a:lnTo>
                  <a:pt x="110" y="21"/>
                </a:lnTo>
                <a:lnTo>
                  <a:pt x="125" y="21"/>
                </a:lnTo>
                <a:lnTo>
                  <a:pt x="139" y="21"/>
                </a:lnTo>
                <a:lnTo>
                  <a:pt x="152" y="23"/>
                </a:lnTo>
                <a:lnTo>
                  <a:pt x="166" y="23"/>
                </a:lnTo>
                <a:lnTo>
                  <a:pt x="185" y="26"/>
                </a:lnTo>
                <a:lnTo>
                  <a:pt x="195" y="30"/>
                </a:lnTo>
                <a:lnTo>
                  <a:pt x="200" y="0"/>
                </a:lnTo>
                <a:lnTo>
                  <a:pt x="274" y="84"/>
                </a:lnTo>
                <a:lnTo>
                  <a:pt x="177" y="138"/>
                </a:lnTo>
                <a:lnTo>
                  <a:pt x="183" y="107"/>
                </a:lnTo>
                <a:lnTo>
                  <a:pt x="158" y="100"/>
                </a:lnTo>
                <a:lnTo>
                  <a:pt x="131" y="92"/>
                </a:lnTo>
                <a:lnTo>
                  <a:pt x="102" y="86"/>
                </a:lnTo>
                <a:lnTo>
                  <a:pt x="85" y="84"/>
                </a:lnTo>
                <a:lnTo>
                  <a:pt x="69" y="82"/>
                </a:lnTo>
                <a:lnTo>
                  <a:pt x="54" y="82"/>
                </a:lnTo>
                <a:lnTo>
                  <a:pt x="40" y="82"/>
                </a:lnTo>
                <a:lnTo>
                  <a:pt x="29" y="84"/>
                </a:lnTo>
                <a:lnTo>
                  <a:pt x="17" y="88"/>
                </a:lnTo>
                <a:lnTo>
                  <a:pt x="13" y="92"/>
                </a:lnTo>
                <a:lnTo>
                  <a:pt x="10" y="94"/>
                </a:lnTo>
                <a:lnTo>
                  <a:pt x="8" y="98"/>
                </a:lnTo>
                <a:lnTo>
                  <a:pt x="4" y="104"/>
                </a:lnTo>
                <a:lnTo>
                  <a:pt x="2" y="111"/>
                </a:lnTo>
                <a:close/>
              </a:path>
            </a:pathLst>
          </a:custGeom>
          <a:solidFill>
            <a:srgbClr val="C14632"/>
          </a:solidFill>
          <a:ln w="9525" algn="ctr">
            <a:solidFill>
              <a:srgbClr val="C34733"/>
            </a:solidFill>
            <a:round/>
            <a:headEnd/>
            <a:tailEnd/>
          </a:ln>
        </p:spPr>
        <p:txBody>
          <a:bodyPr/>
          <a:lstStyle/>
          <a:p>
            <a:endParaRPr lang="en-US"/>
          </a:p>
        </p:txBody>
      </p:sp>
      <p:sp>
        <p:nvSpPr>
          <p:cNvPr id="38" name="Freeform 24"/>
          <p:cNvSpPr>
            <a:spLocks noChangeAspect="1"/>
          </p:cNvSpPr>
          <p:nvPr userDrawn="1"/>
        </p:nvSpPr>
        <p:spPr bwMode="auto">
          <a:xfrm rot="1628237">
            <a:off x="4866514" y="3649663"/>
            <a:ext cx="544512" cy="274637"/>
          </a:xfrm>
          <a:custGeom>
            <a:avLst/>
            <a:gdLst>
              <a:gd name="T0" fmla="*/ 2147483647 w 274"/>
              <a:gd name="T1" fmla="*/ 2147483647 h 138"/>
              <a:gd name="T2" fmla="*/ 0 w 274"/>
              <a:gd name="T3" fmla="*/ 2147483647 h 138"/>
              <a:gd name="T4" fmla="*/ 0 w 274"/>
              <a:gd name="T5" fmla="*/ 2147483647 h 138"/>
              <a:gd name="T6" fmla="*/ 2147483647 w 274"/>
              <a:gd name="T7" fmla="*/ 2147483647 h 138"/>
              <a:gd name="T8" fmla="*/ 2147483647 w 274"/>
              <a:gd name="T9" fmla="*/ 2147483647 h 138"/>
              <a:gd name="T10" fmla="*/ 2147483647 w 274"/>
              <a:gd name="T11" fmla="*/ 2147483647 h 138"/>
              <a:gd name="T12" fmla="*/ 2147483647 w 274"/>
              <a:gd name="T13" fmla="*/ 2147483647 h 138"/>
              <a:gd name="T14" fmla="*/ 2147483647 w 274"/>
              <a:gd name="T15" fmla="*/ 2147483647 h 138"/>
              <a:gd name="T16" fmla="*/ 2147483647 w 274"/>
              <a:gd name="T17" fmla="*/ 2147483647 h 138"/>
              <a:gd name="T18" fmla="*/ 2147483647 w 274"/>
              <a:gd name="T19" fmla="*/ 2147483647 h 138"/>
              <a:gd name="T20" fmla="*/ 2147483647 w 274"/>
              <a:gd name="T21" fmla="*/ 2147483647 h 138"/>
              <a:gd name="T22" fmla="*/ 2147483647 w 274"/>
              <a:gd name="T23" fmla="*/ 2147483647 h 138"/>
              <a:gd name="T24" fmla="*/ 2147483647 w 274"/>
              <a:gd name="T25" fmla="*/ 2147483647 h 138"/>
              <a:gd name="T26" fmla="*/ 2147483647 w 274"/>
              <a:gd name="T27" fmla="*/ 2147483647 h 138"/>
              <a:gd name="T28" fmla="*/ 2147483647 w 274"/>
              <a:gd name="T29" fmla="*/ 2147483647 h 138"/>
              <a:gd name="T30" fmla="*/ 2147483647 w 274"/>
              <a:gd name="T31" fmla="*/ 2147483647 h 138"/>
              <a:gd name="T32" fmla="*/ 2147483647 w 274"/>
              <a:gd name="T33" fmla="*/ 2147483647 h 138"/>
              <a:gd name="T34" fmla="*/ 2147483647 w 274"/>
              <a:gd name="T35" fmla="*/ 2147483647 h 138"/>
              <a:gd name="T36" fmla="*/ 2147483647 w 274"/>
              <a:gd name="T37" fmla="*/ 2147483647 h 138"/>
              <a:gd name="T38" fmla="*/ 2147483647 w 274"/>
              <a:gd name="T39" fmla="*/ 2147483647 h 138"/>
              <a:gd name="T40" fmla="*/ 2147483647 w 274"/>
              <a:gd name="T41" fmla="*/ 0 h 138"/>
              <a:gd name="T42" fmla="*/ 2147483647 w 274"/>
              <a:gd name="T43" fmla="*/ 2147483647 h 138"/>
              <a:gd name="T44" fmla="*/ 2147483647 w 274"/>
              <a:gd name="T45" fmla="*/ 2147483647 h 138"/>
              <a:gd name="T46" fmla="*/ 2147483647 w 274"/>
              <a:gd name="T47" fmla="*/ 2147483647 h 138"/>
              <a:gd name="T48" fmla="*/ 2147483647 w 274"/>
              <a:gd name="T49" fmla="*/ 2147483647 h 138"/>
              <a:gd name="T50" fmla="*/ 2147483647 w 274"/>
              <a:gd name="T51" fmla="*/ 2147483647 h 138"/>
              <a:gd name="T52" fmla="*/ 2147483647 w 274"/>
              <a:gd name="T53" fmla="*/ 2147483647 h 138"/>
              <a:gd name="T54" fmla="*/ 2147483647 w 274"/>
              <a:gd name="T55" fmla="*/ 2147483647 h 138"/>
              <a:gd name="T56" fmla="*/ 2147483647 w 274"/>
              <a:gd name="T57" fmla="*/ 2147483647 h 138"/>
              <a:gd name="T58" fmla="*/ 2147483647 w 274"/>
              <a:gd name="T59" fmla="*/ 2147483647 h 138"/>
              <a:gd name="T60" fmla="*/ 2147483647 w 274"/>
              <a:gd name="T61" fmla="*/ 2147483647 h 138"/>
              <a:gd name="T62" fmla="*/ 2147483647 w 274"/>
              <a:gd name="T63" fmla="*/ 2147483647 h 138"/>
              <a:gd name="T64" fmla="*/ 2147483647 w 274"/>
              <a:gd name="T65" fmla="*/ 2147483647 h 138"/>
              <a:gd name="T66" fmla="*/ 2147483647 w 274"/>
              <a:gd name="T67" fmla="*/ 2147483647 h 138"/>
              <a:gd name="T68" fmla="*/ 2147483647 w 274"/>
              <a:gd name="T69" fmla="*/ 2147483647 h 138"/>
              <a:gd name="T70" fmla="*/ 2147483647 w 274"/>
              <a:gd name="T71" fmla="*/ 2147483647 h 138"/>
              <a:gd name="T72" fmla="*/ 2147483647 w 274"/>
              <a:gd name="T73" fmla="*/ 2147483647 h 138"/>
              <a:gd name="T74" fmla="*/ 2147483647 w 274"/>
              <a:gd name="T75" fmla="*/ 2147483647 h 13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74"/>
              <a:gd name="T115" fmla="*/ 0 h 138"/>
              <a:gd name="T116" fmla="*/ 274 w 274"/>
              <a:gd name="T117" fmla="*/ 138 h 13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74" h="138">
                <a:moveTo>
                  <a:pt x="2" y="111"/>
                </a:moveTo>
                <a:lnTo>
                  <a:pt x="0" y="104"/>
                </a:lnTo>
                <a:lnTo>
                  <a:pt x="0" y="96"/>
                </a:lnTo>
                <a:lnTo>
                  <a:pt x="2" y="86"/>
                </a:lnTo>
                <a:lnTo>
                  <a:pt x="4" y="82"/>
                </a:lnTo>
                <a:lnTo>
                  <a:pt x="6" y="79"/>
                </a:lnTo>
                <a:lnTo>
                  <a:pt x="15" y="63"/>
                </a:lnTo>
                <a:lnTo>
                  <a:pt x="25" y="52"/>
                </a:lnTo>
                <a:lnTo>
                  <a:pt x="37" y="42"/>
                </a:lnTo>
                <a:lnTo>
                  <a:pt x="50" y="34"/>
                </a:lnTo>
                <a:lnTo>
                  <a:pt x="65" y="28"/>
                </a:lnTo>
                <a:lnTo>
                  <a:pt x="81" y="25"/>
                </a:lnTo>
                <a:lnTo>
                  <a:pt x="94" y="21"/>
                </a:lnTo>
                <a:lnTo>
                  <a:pt x="110" y="21"/>
                </a:lnTo>
                <a:lnTo>
                  <a:pt x="125" y="21"/>
                </a:lnTo>
                <a:lnTo>
                  <a:pt x="139" y="21"/>
                </a:lnTo>
                <a:lnTo>
                  <a:pt x="152" y="23"/>
                </a:lnTo>
                <a:lnTo>
                  <a:pt x="166" y="23"/>
                </a:lnTo>
                <a:lnTo>
                  <a:pt x="185" y="26"/>
                </a:lnTo>
                <a:lnTo>
                  <a:pt x="195" y="30"/>
                </a:lnTo>
                <a:lnTo>
                  <a:pt x="200" y="0"/>
                </a:lnTo>
                <a:lnTo>
                  <a:pt x="274" y="84"/>
                </a:lnTo>
                <a:lnTo>
                  <a:pt x="177" y="138"/>
                </a:lnTo>
                <a:lnTo>
                  <a:pt x="183" y="107"/>
                </a:lnTo>
                <a:lnTo>
                  <a:pt x="158" y="100"/>
                </a:lnTo>
                <a:lnTo>
                  <a:pt x="131" y="92"/>
                </a:lnTo>
                <a:lnTo>
                  <a:pt x="102" y="86"/>
                </a:lnTo>
                <a:lnTo>
                  <a:pt x="85" y="84"/>
                </a:lnTo>
                <a:lnTo>
                  <a:pt x="69" y="82"/>
                </a:lnTo>
                <a:lnTo>
                  <a:pt x="54" y="82"/>
                </a:lnTo>
                <a:lnTo>
                  <a:pt x="40" y="82"/>
                </a:lnTo>
                <a:lnTo>
                  <a:pt x="29" y="84"/>
                </a:lnTo>
                <a:lnTo>
                  <a:pt x="17" y="88"/>
                </a:lnTo>
                <a:lnTo>
                  <a:pt x="13" y="92"/>
                </a:lnTo>
                <a:lnTo>
                  <a:pt x="10" y="94"/>
                </a:lnTo>
                <a:lnTo>
                  <a:pt x="8" y="98"/>
                </a:lnTo>
                <a:lnTo>
                  <a:pt x="4" y="104"/>
                </a:lnTo>
                <a:lnTo>
                  <a:pt x="2" y="111"/>
                </a:lnTo>
                <a:close/>
              </a:path>
            </a:pathLst>
          </a:custGeom>
          <a:solidFill>
            <a:srgbClr val="C14632"/>
          </a:solidFill>
          <a:ln w="9525" algn="ctr">
            <a:solidFill>
              <a:srgbClr val="C34733"/>
            </a:solidFill>
            <a:round/>
            <a:headEnd/>
            <a:tailEnd/>
          </a:ln>
        </p:spPr>
        <p:txBody>
          <a:bodyPr/>
          <a:lstStyle/>
          <a:p>
            <a:endParaRPr lang="en-US"/>
          </a:p>
        </p:txBody>
      </p:sp>
      <p:sp>
        <p:nvSpPr>
          <p:cNvPr id="39" name="Freeform 25"/>
          <p:cNvSpPr>
            <a:spLocks noChangeAspect="1"/>
          </p:cNvSpPr>
          <p:nvPr userDrawn="1"/>
        </p:nvSpPr>
        <p:spPr bwMode="auto">
          <a:xfrm rot="1628237">
            <a:off x="7271576" y="3648075"/>
            <a:ext cx="546100" cy="274638"/>
          </a:xfrm>
          <a:custGeom>
            <a:avLst/>
            <a:gdLst>
              <a:gd name="T0" fmla="*/ 2147483647 w 274"/>
              <a:gd name="T1" fmla="*/ 2147483647 h 138"/>
              <a:gd name="T2" fmla="*/ 0 w 274"/>
              <a:gd name="T3" fmla="*/ 2147483647 h 138"/>
              <a:gd name="T4" fmla="*/ 0 w 274"/>
              <a:gd name="T5" fmla="*/ 2147483647 h 138"/>
              <a:gd name="T6" fmla="*/ 2147483647 w 274"/>
              <a:gd name="T7" fmla="*/ 2147483647 h 138"/>
              <a:gd name="T8" fmla="*/ 2147483647 w 274"/>
              <a:gd name="T9" fmla="*/ 2147483647 h 138"/>
              <a:gd name="T10" fmla="*/ 2147483647 w 274"/>
              <a:gd name="T11" fmla="*/ 2147483647 h 138"/>
              <a:gd name="T12" fmla="*/ 2147483647 w 274"/>
              <a:gd name="T13" fmla="*/ 2147483647 h 138"/>
              <a:gd name="T14" fmla="*/ 2147483647 w 274"/>
              <a:gd name="T15" fmla="*/ 2147483647 h 138"/>
              <a:gd name="T16" fmla="*/ 2147483647 w 274"/>
              <a:gd name="T17" fmla="*/ 2147483647 h 138"/>
              <a:gd name="T18" fmla="*/ 2147483647 w 274"/>
              <a:gd name="T19" fmla="*/ 2147483647 h 138"/>
              <a:gd name="T20" fmla="*/ 2147483647 w 274"/>
              <a:gd name="T21" fmla="*/ 2147483647 h 138"/>
              <a:gd name="T22" fmla="*/ 2147483647 w 274"/>
              <a:gd name="T23" fmla="*/ 2147483647 h 138"/>
              <a:gd name="T24" fmla="*/ 2147483647 w 274"/>
              <a:gd name="T25" fmla="*/ 2147483647 h 138"/>
              <a:gd name="T26" fmla="*/ 2147483647 w 274"/>
              <a:gd name="T27" fmla="*/ 2147483647 h 138"/>
              <a:gd name="T28" fmla="*/ 2147483647 w 274"/>
              <a:gd name="T29" fmla="*/ 2147483647 h 138"/>
              <a:gd name="T30" fmla="*/ 2147483647 w 274"/>
              <a:gd name="T31" fmla="*/ 2147483647 h 138"/>
              <a:gd name="T32" fmla="*/ 2147483647 w 274"/>
              <a:gd name="T33" fmla="*/ 2147483647 h 138"/>
              <a:gd name="T34" fmla="*/ 2147483647 w 274"/>
              <a:gd name="T35" fmla="*/ 2147483647 h 138"/>
              <a:gd name="T36" fmla="*/ 2147483647 w 274"/>
              <a:gd name="T37" fmla="*/ 2147483647 h 138"/>
              <a:gd name="T38" fmla="*/ 2147483647 w 274"/>
              <a:gd name="T39" fmla="*/ 2147483647 h 138"/>
              <a:gd name="T40" fmla="*/ 2147483647 w 274"/>
              <a:gd name="T41" fmla="*/ 0 h 138"/>
              <a:gd name="T42" fmla="*/ 2147483647 w 274"/>
              <a:gd name="T43" fmla="*/ 2147483647 h 138"/>
              <a:gd name="T44" fmla="*/ 2147483647 w 274"/>
              <a:gd name="T45" fmla="*/ 2147483647 h 138"/>
              <a:gd name="T46" fmla="*/ 2147483647 w 274"/>
              <a:gd name="T47" fmla="*/ 2147483647 h 138"/>
              <a:gd name="T48" fmla="*/ 2147483647 w 274"/>
              <a:gd name="T49" fmla="*/ 2147483647 h 138"/>
              <a:gd name="T50" fmla="*/ 2147483647 w 274"/>
              <a:gd name="T51" fmla="*/ 2147483647 h 138"/>
              <a:gd name="T52" fmla="*/ 2147483647 w 274"/>
              <a:gd name="T53" fmla="*/ 2147483647 h 138"/>
              <a:gd name="T54" fmla="*/ 2147483647 w 274"/>
              <a:gd name="T55" fmla="*/ 2147483647 h 138"/>
              <a:gd name="T56" fmla="*/ 2147483647 w 274"/>
              <a:gd name="T57" fmla="*/ 2147483647 h 138"/>
              <a:gd name="T58" fmla="*/ 2147483647 w 274"/>
              <a:gd name="T59" fmla="*/ 2147483647 h 138"/>
              <a:gd name="T60" fmla="*/ 2147483647 w 274"/>
              <a:gd name="T61" fmla="*/ 2147483647 h 138"/>
              <a:gd name="T62" fmla="*/ 2147483647 w 274"/>
              <a:gd name="T63" fmla="*/ 2147483647 h 138"/>
              <a:gd name="T64" fmla="*/ 2147483647 w 274"/>
              <a:gd name="T65" fmla="*/ 2147483647 h 138"/>
              <a:gd name="T66" fmla="*/ 2147483647 w 274"/>
              <a:gd name="T67" fmla="*/ 2147483647 h 138"/>
              <a:gd name="T68" fmla="*/ 2147483647 w 274"/>
              <a:gd name="T69" fmla="*/ 2147483647 h 138"/>
              <a:gd name="T70" fmla="*/ 2147483647 w 274"/>
              <a:gd name="T71" fmla="*/ 2147483647 h 138"/>
              <a:gd name="T72" fmla="*/ 2147483647 w 274"/>
              <a:gd name="T73" fmla="*/ 2147483647 h 138"/>
              <a:gd name="T74" fmla="*/ 2147483647 w 274"/>
              <a:gd name="T75" fmla="*/ 2147483647 h 13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74"/>
              <a:gd name="T115" fmla="*/ 0 h 138"/>
              <a:gd name="T116" fmla="*/ 274 w 274"/>
              <a:gd name="T117" fmla="*/ 138 h 13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74" h="138">
                <a:moveTo>
                  <a:pt x="2" y="111"/>
                </a:moveTo>
                <a:lnTo>
                  <a:pt x="0" y="104"/>
                </a:lnTo>
                <a:lnTo>
                  <a:pt x="0" y="96"/>
                </a:lnTo>
                <a:lnTo>
                  <a:pt x="2" y="86"/>
                </a:lnTo>
                <a:lnTo>
                  <a:pt x="4" y="82"/>
                </a:lnTo>
                <a:lnTo>
                  <a:pt x="6" y="79"/>
                </a:lnTo>
                <a:lnTo>
                  <a:pt x="15" y="63"/>
                </a:lnTo>
                <a:lnTo>
                  <a:pt x="25" y="52"/>
                </a:lnTo>
                <a:lnTo>
                  <a:pt x="37" y="42"/>
                </a:lnTo>
                <a:lnTo>
                  <a:pt x="50" y="34"/>
                </a:lnTo>
                <a:lnTo>
                  <a:pt x="65" y="28"/>
                </a:lnTo>
                <a:lnTo>
                  <a:pt x="81" y="25"/>
                </a:lnTo>
                <a:lnTo>
                  <a:pt x="94" y="21"/>
                </a:lnTo>
                <a:lnTo>
                  <a:pt x="110" y="21"/>
                </a:lnTo>
                <a:lnTo>
                  <a:pt x="125" y="21"/>
                </a:lnTo>
                <a:lnTo>
                  <a:pt x="139" y="21"/>
                </a:lnTo>
                <a:lnTo>
                  <a:pt x="152" y="23"/>
                </a:lnTo>
                <a:lnTo>
                  <a:pt x="166" y="23"/>
                </a:lnTo>
                <a:lnTo>
                  <a:pt x="185" y="26"/>
                </a:lnTo>
                <a:lnTo>
                  <a:pt x="195" y="30"/>
                </a:lnTo>
                <a:lnTo>
                  <a:pt x="200" y="0"/>
                </a:lnTo>
                <a:lnTo>
                  <a:pt x="274" y="84"/>
                </a:lnTo>
                <a:lnTo>
                  <a:pt x="177" y="138"/>
                </a:lnTo>
                <a:lnTo>
                  <a:pt x="183" y="107"/>
                </a:lnTo>
                <a:lnTo>
                  <a:pt x="158" y="100"/>
                </a:lnTo>
                <a:lnTo>
                  <a:pt x="131" y="92"/>
                </a:lnTo>
                <a:lnTo>
                  <a:pt x="102" y="86"/>
                </a:lnTo>
                <a:lnTo>
                  <a:pt x="85" y="84"/>
                </a:lnTo>
                <a:lnTo>
                  <a:pt x="69" y="82"/>
                </a:lnTo>
                <a:lnTo>
                  <a:pt x="54" y="82"/>
                </a:lnTo>
                <a:lnTo>
                  <a:pt x="40" y="82"/>
                </a:lnTo>
                <a:lnTo>
                  <a:pt x="29" y="84"/>
                </a:lnTo>
                <a:lnTo>
                  <a:pt x="17" y="88"/>
                </a:lnTo>
                <a:lnTo>
                  <a:pt x="13" y="92"/>
                </a:lnTo>
                <a:lnTo>
                  <a:pt x="10" y="94"/>
                </a:lnTo>
                <a:lnTo>
                  <a:pt x="8" y="98"/>
                </a:lnTo>
                <a:lnTo>
                  <a:pt x="4" y="104"/>
                </a:lnTo>
                <a:lnTo>
                  <a:pt x="2" y="111"/>
                </a:lnTo>
                <a:close/>
              </a:path>
            </a:pathLst>
          </a:custGeom>
          <a:solidFill>
            <a:srgbClr val="C14632"/>
          </a:solidFill>
          <a:ln w="9525" algn="ctr">
            <a:solidFill>
              <a:srgbClr val="C34733"/>
            </a:solidFill>
            <a:round/>
            <a:headEnd/>
            <a:tailEnd/>
          </a:ln>
        </p:spPr>
        <p:txBody>
          <a:bodyPr/>
          <a:lstStyle/>
          <a:p>
            <a:endParaRPr lang="en-US"/>
          </a:p>
        </p:txBody>
      </p:sp>
      <p:sp>
        <p:nvSpPr>
          <p:cNvPr id="40" name="Text Box 21"/>
          <p:cNvSpPr txBox="1">
            <a:spLocks noChangeArrowheads="1"/>
          </p:cNvSpPr>
          <p:nvPr userDrawn="1"/>
        </p:nvSpPr>
        <p:spPr bwMode="auto">
          <a:xfrm>
            <a:off x="6226175" y="3984625"/>
            <a:ext cx="1393825" cy="228600"/>
          </a:xfrm>
          <a:prstGeom prst="rect">
            <a:avLst/>
          </a:prstGeom>
          <a:noFill/>
          <a:ln w="9525" algn="in">
            <a:noFill/>
            <a:miter lim="800000"/>
            <a:headEnd/>
            <a:tailEnd/>
          </a:ln>
        </p:spPr>
        <p:txBody>
          <a:bodyPr lIns="36576" tIns="36576" rIns="36576" bIns="36576"/>
          <a:lstStyle/>
          <a:p>
            <a:r>
              <a:rPr lang="en-US" b="1" dirty="0">
                <a:solidFill>
                  <a:schemeClr val="bg1"/>
                </a:solidFill>
                <a:latin typeface="Calibri" pitchFamily="34" charset="0"/>
                <a:ea typeface="Calibri" pitchFamily="34" charset="0"/>
                <a:cs typeface="Calibri" pitchFamily="34" charset="0"/>
              </a:rPr>
              <a:t>R&amp;D</a:t>
            </a:r>
            <a:endParaRPr lang="en-US" u="sng" dirty="0">
              <a:solidFill>
                <a:schemeClr val="bg1"/>
              </a:solidFill>
              <a:latin typeface="Calibri" pitchFamily="34" charset="0"/>
              <a:ea typeface="Calibri" pitchFamily="34" charset="0"/>
              <a:cs typeface="Calibri" pitchFamily="34" charset="0"/>
            </a:endParaRPr>
          </a:p>
        </p:txBody>
      </p:sp>
      <p:sp>
        <p:nvSpPr>
          <p:cNvPr id="41" name="Freeform 24"/>
          <p:cNvSpPr>
            <a:spLocks noChangeAspect="1"/>
          </p:cNvSpPr>
          <p:nvPr userDrawn="1"/>
        </p:nvSpPr>
        <p:spPr bwMode="auto">
          <a:xfrm rot="1628237">
            <a:off x="6085714" y="3643313"/>
            <a:ext cx="544512" cy="274637"/>
          </a:xfrm>
          <a:custGeom>
            <a:avLst/>
            <a:gdLst>
              <a:gd name="T0" fmla="*/ 2147483647 w 274"/>
              <a:gd name="T1" fmla="*/ 2147483647 h 138"/>
              <a:gd name="T2" fmla="*/ 0 w 274"/>
              <a:gd name="T3" fmla="*/ 2147483647 h 138"/>
              <a:gd name="T4" fmla="*/ 0 w 274"/>
              <a:gd name="T5" fmla="*/ 2147483647 h 138"/>
              <a:gd name="T6" fmla="*/ 2147483647 w 274"/>
              <a:gd name="T7" fmla="*/ 2147483647 h 138"/>
              <a:gd name="T8" fmla="*/ 2147483647 w 274"/>
              <a:gd name="T9" fmla="*/ 2147483647 h 138"/>
              <a:gd name="T10" fmla="*/ 2147483647 w 274"/>
              <a:gd name="T11" fmla="*/ 2147483647 h 138"/>
              <a:gd name="T12" fmla="*/ 2147483647 w 274"/>
              <a:gd name="T13" fmla="*/ 2147483647 h 138"/>
              <a:gd name="T14" fmla="*/ 2147483647 w 274"/>
              <a:gd name="T15" fmla="*/ 2147483647 h 138"/>
              <a:gd name="T16" fmla="*/ 2147483647 w 274"/>
              <a:gd name="T17" fmla="*/ 2147483647 h 138"/>
              <a:gd name="T18" fmla="*/ 2147483647 w 274"/>
              <a:gd name="T19" fmla="*/ 2147483647 h 138"/>
              <a:gd name="T20" fmla="*/ 2147483647 w 274"/>
              <a:gd name="T21" fmla="*/ 2147483647 h 138"/>
              <a:gd name="T22" fmla="*/ 2147483647 w 274"/>
              <a:gd name="T23" fmla="*/ 2147483647 h 138"/>
              <a:gd name="T24" fmla="*/ 2147483647 w 274"/>
              <a:gd name="T25" fmla="*/ 2147483647 h 138"/>
              <a:gd name="T26" fmla="*/ 2147483647 w 274"/>
              <a:gd name="T27" fmla="*/ 2147483647 h 138"/>
              <a:gd name="T28" fmla="*/ 2147483647 w 274"/>
              <a:gd name="T29" fmla="*/ 2147483647 h 138"/>
              <a:gd name="T30" fmla="*/ 2147483647 w 274"/>
              <a:gd name="T31" fmla="*/ 2147483647 h 138"/>
              <a:gd name="T32" fmla="*/ 2147483647 w 274"/>
              <a:gd name="T33" fmla="*/ 2147483647 h 138"/>
              <a:gd name="T34" fmla="*/ 2147483647 w 274"/>
              <a:gd name="T35" fmla="*/ 2147483647 h 138"/>
              <a:gd name="T36" fmla="*/ 2147483647 w 274"/>
              <a:gd name="T37" fmla="*/ 2147483647 h 138"/>
              <a:gd name="T38" fmla="*/ 2147483647 w 274"/>
              <a:gd name="T39" fmla="*/ 2147483647 h 138"/>
              <a:gd name="T40" fmla="*/ 2147483647 w 274"/>
              <a:gd name="T41" fmla="*/ 0 h 138"/>
              <a:gd name="T42" fmla="*/ 2147483647 w 274"/>
              <a:gd name="T43" fmla="*/ 2147483647 h 138"/>
              <a:gd name="T44" fmla="*/ 2147483647 w 274"/>
              <a:gd name="T45" fmla="*/ 2147483647 h 138"/>
              <a:gd name="T46" fmla="*/ 2147483647 w 274"/>
              <a:gd name="T47" fmla="*/ 2147483647 h 138"/>
              <a:gd name="T48" fmla="*/ 2147483647 w 274"/>
              <a:gd name="T49" fmla="*/ 2147483647 h 138"/>
              <a:gd name="T50" fmla="*/ 2147483647 w 274"/>
              <a:gd name="T51" fmla="*/ 2147483647 h 138"/>
              <a:gd name="T52" fmla="*/ 2147483647 w 274"/>
              <a:gd name="T53" fmla="*/ 2147483647 h 138"/>
              <a:gd name="T54" fmla="*/ 2147483647 w 274"/>
              <a:gd name="T55" fmla="*/ 2147483647 h 138"/>
              <a:gd name="T56" fmla="*/ 2147483647 w 274"/>
              <a:gd name="T57" fmla="*/ 2147483647 h 138"/>
              <a:gd name="T58" fmla="*/ 2147483647 w 274"/>
              <a:gd name="T59" fmla="*/ 2147483647 h 138"/>
              <a:gd name="T60" fmla="*/ 2147483647 w 274"/>
              <a:gd name="T61" fmla="*/ 2147483647 h 138"/>
              <a:gd name="T62" fmla="*/ 2147483647 w 274"/>
              <a:gd name="T63" fmla="*/ 2147483647 h 138"/>
              <a:gd name="T64" fmla="*/ 2147483647 w 274"/>
              <a:gd name="T65" fmla="*/ 2147483647 h 138"/>
              <a:gd name="T66" fmla="*/ 2147483647 w 274"/>
              <a:gd name="T67" fmla="*/ 2147483647 h 138"/>
              <a:gd name="T68" fmla="*/ 2147483647 w 274"/>
              <a:gd name="T69" fmla="*/ 2147483647 h 138"/>
              <a:gd name="T70" fmla="*/ 2147483647 w 274"/>
              <a:gd name="T71" fmla="*/ 2147483647 h 138"/>
              <a:gd name="T72" fmla="*/ 2147483647 w 274"/>
              <a:gd name="T73" fmla="*/ 2147483647 h 138"/>
              <a:gd name="T74" fmla="*/ 2147483647 w 274"/>
              <a:gd name="T75" fmla="*/ 2147483647 h 13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74"/>
              <a:gd name="T115" fmla="*/ 0 h 138"/>
              <a:gd name="T116" fmla="*/ 274 w 274"/>
              <a:gd name="T117" fmla="*/ 138 h 13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74" h="138">
                <a:moveTo>
                  <a:pt x="2" y="111"/>
                </a:moveTo>
                <a:lnTo>
                  <a:pt x="0" y="104"/>
                </a:lnTo>
                <a:lnTo>
                  <a:pt x="0" y="96"/>
                </a:lnTo>
                <a:lnTo>
                  <a:pt x="2" y="86"/>
                </a:lnTo>
                <a:lnTo>
                  <a:pt x="4" y="82"/>
                </a:lnTo>
                <a:lnTo>
                  <a:pt x="6" y="79"/>
                </a:lnTo>
                <a:lnTo>
                  <a:pt x="15" y="63"/>
                </a:lnTo>
                <a:lnTo>
                  <a:pt x="25" y="52"/>
                </a:lnTo>
                <a:lnTo>
                  <a:pt x="37" y="42"/>
                </a:lnTo>
                <a:lnTo>
                  <a:pt x="50" y="34"/>
                </a:lnTo>
                <a:lnTo>
                  <a:pt x="65" y="28"/>
                </a:lnTo>
                <a:lnTo>
                  <a:pt x="81" y="25"/>
                </a:lnTo>
                <a:lnTo>
                  <a:pt x="94" y="21"/>
                </a:lnTo>
                <a:lnTo>
                  <a:pt x="110" y="21"/>
                </a:lnTo>
                <a:lnTo>
                  <a:pt x="125" y="21"/>
                </a:lnTo>
                <a:lnTo>
                  <a:pt x="139" y="21"/>
                </a:lnTo>
                <a:lnTo>
                  <a:pt x="152" y="23"/>
                </a:lnTo>
                <a:lnTo>
                  <a:pt x="166" y="23"/>
                </a:lnTo>
                <a:lnTo>
                  <a:pt x="185" y="26"/>
                </a:lnTo>
                <a:lnTo>
                  <a:pt x="195" y="30"/>
                </a:lnTo>
                <a:lnTo>
                  <a:pt x="200" y="0"/>
                </a:lnTo>
                <a:lnTo>
                  <a:pt x="274" y="84"/>
                </a:lnTo>
                <a:lnTo>
                  <a:pt x="177" y="138"/>
                </a:lnTo>
                <a:lnTo>
                  <a:pt x="183" y="107"/>
                </a:lnTo>
                <a:lnTo>
                  <a:pt x="158" y="100"/>
                </a:lnTo>
                <a:lnTo>
                  <a:pt x="131" y="92"/>
                </a:lnTo>
                <a:lnTo>
                  <a:pt x="102" y="86"/>
                </a:lnTo>
                <a:lnTo>
                  <a:pt x="85" y="84"/>
                </a:lnTo>
                <a:lnTo>
                  <a:pt x="69" y="82"/>
                </a:lnTo>
                <a:lnTo>
                  <a:pt x="54" y="82"/>
                </a:lnTo>
                <a:lnTo>
                  <a:pt x="40" y="82"/>
                </a:lnTo>
                <a:lnTo>
                  <a:pt x="29" y="84"/>
                </a:lnTo>
                <a:lnTo>
                  <a:pt x="17" y="88"/>
                </a:lnTo>
                <a:lnTo>
                  <a:pt x="13" y="92"/>
                </a:lnTo>
                <a:lnTo>
                  <a:pt x="10" y="94"/>
                </a:lnTo>
                <a:lnTo>
                  <a:pt x="8" y="98"/>
                </a:lnTo>
                <a:lnTo>
                  <a:pt x="4" y="104"/>
                </a:lnTo>
                <a:lnTo>
                  <a:pt x="2" y="111"/>
                </a:lnTo>
                <a:close/>
              </a:path>
            </a:pathLst>
          </a:custGeom>
          <a:solidFill>
            <a:srgbClr val="C14632"/>
          </a:solidFill>
          <a:ln w="9525" algn="ctr">
            <a:solidFill>
              <a:srgbClr val="C34733"/>
            </a:solidFill>
            <a:round/>
            <a:headEnd/>
            <a:tailEnd/>
          </a:ln>
        </p:spPr>
        <p:txBody>
          <a:bodyPr/>
          <a:lstStyle/>
          <a:p>
            <a:endParaRPr lang="en-US"/>
          </a:p>
        </p:txBody>
      </p:sp>
      <p:pic>
        <p:nvPicPr>
          <p:cNvPr id="27" name="Picture 68" descr="iStock_000000657054Medium"/>
          <p:cNvPicPr>
            <a:picLocks noChangeAspect="1" noChangeArrowheads="1"/>
          </p:cNvPicPr>
          <p:nvPr userDrawn="1"/>
        </p:nvPicPr>
        <p:blipFill>
          <a:blip r:embed="rId3" cstate="print"/>
          <a:stretch>
            <a:fillRect/>
          </a:stretch>
        </p:blipFill>
        <p:spPr bwMode="auto">
          <a:xfrm>
            <a:off x="541533" y="2590801"/>
            <a:ext cx="2423666" cy="2438400"/>
          </a:xfrm>
          <a:prstGeom prst="rect">
            <a:avLst/>
          </a:prstGeom>
          <a:noFill/>
          <a:ln w="9525">
            <a:noFill/>
            <a:miter lim="800000"/>
            <a:headEnd/>
            <a:tailEnd/>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Rectangle 62"/>
          <p:cNvSpPr>
            <a:spLocks noChangeArrowheads="1"/>
          </p:cNvSpPr>
          <p:nvPr userDrawn="1"/>
        </p:nvSpPr>
        <p:spPr bwMode="auto">
          <a:xfrm>
            <a:off x="0" y="1"/>
            <a:ext cx="7391400" cy="761999"/>
          </a:xfrm>
          <a:prstGeom prst="rect">
            <a:avLst/>
          </a:prstGeom>
          <a:solidFill>
            <a:srgbClr val="5F5F5F"/>
          </a:solidFill>
          <a:ln w="9525">
            <a:noFill/>
            <a:miter lim="800000"/>
            <a:headEnd/>
            <a:tailEnd/>
          </a:ln>
        </p:spPr>
        <p:txBody>
          <a:bodyPr wrap="none" anchor="ctr"/>
          <a:lstStyle/>
          <a:p>
            <a:pPr>
              <a:defRPr/>
            </a:pPr>
            <a:endParaRPr lang="en-US"/>
          </a:p>
        </p:txBody>
      </p:sp>
      <p:sp>
        <p:nvSpPr>
          <p:cNvPr id="8" name="Rectangle 63"/>
          <p:cNvSpPr>
            <a:spLocks noChangeArrowheads="1"/>
          </p:cNvSpPr>
          <p:nvPr userDrawn="1"/>
        </p:nvSpPr>
        <p:spPr bwMode="auto">
          <a:xfrm>
            <a:off x="6400800" y="0"/>
            <a:ext cx="990600" cy="763546"/>
          </a:xfrm>
          <a:prstGeom prst="rect">
            <a:avLst/>
          </a:prstGeom>
          <a:solidFill>
            <a:srgbClr val="CC0000"/>
          </a:solidFill>
          <a:ln w="9525">
            <a:noFill/>
            <a:miter lim="800000"/>
            <a:headEnd/>
            <a:tailEnd/>
          </a:ln>
        </p:spPr>
        <p:txBody>
          <a:bodyPr wrap="none" anchor="ctr"/>
          <a:lstStyle/>
          <a:p>
            <a:pPr>
              <a:defRPr/>
            </a:pPr>
            <a:endParaRPr lang="en-US"/>
          </a:p>
        </p:txBody>
      </p:sp>
      <p:sp>
        <p:nvSpPr>
          <p:cNvPr id="9" name="Rectangle 64"/>
          <p:cNvSpPr>
            <a:spLocks noChangeArrowheads="1"/>
          </p:cNvSpPr>
          <p:nvPr userDrawn="1"/>
        </p:nvSpPr>
        <p:spPr bwMode="auto">
          <a:xfrm>
            <a:off x="8763000" y="0"/>
            <a:ext cx="381000" cy="763546"/>
          </a:xfrm>
          <a:prstGeom prst="rect">
            <a:avLst/>
          </a:prstGeom>
          <a:solidFill>
            <a:srgbClr val="969696"/>
          </a:solidFill>
          <a:ln w="9525">
            <a:noFill/>
            <a:miter lim="800000"/>
            <a:headEnd/>
            <a:tailEnd/>
          </a:ln>
        </p:spPr>
        <p:txBody>
          <a:bodyPr wrap="none" anchor="ctr"/>
          <a:lstStyle/>
          <a:p>
            <a:pPr>
              <a:defRPr/>
            </a:pPr>
            <a:endParaRPr lang="en-US"/>
          </a:p>
        </p:txBody>
      </p:sp>
      <p:sp>
        <p:nvSpPr>
          <p:cNvPr id="10" name="Rectangle 65"/>
          <p:cNvSpPr>
            <a:spLocks noChangeArrowheads="1"/>
          </p:cNvSpPr>
          <p:nvPr userDrawn="1"/>
        </p:nvSpPr>
        <p:spPr bwMode="auto">
          <a:xfrm>
            <a:off x="6781800" y="0"/>
            <a:ext cx="304800" cy="763546"/>
          </a:xfrm>
          <a:prstGeom prst="rect">
            <a:avLst/>
          </a:prstGeom>
          <a:solidFill>
            <a:srgbClr val="A50021"/>
          </a:solidFill>
          <a:ln w="9525">
            <a:noFill/>
            <a:miter lim="800000"/>
            <a:headEnd/>
            <a:tailEnd/>
          </a:ln>
        </p:spPr>
        <p:txBody>
          <a:bodyPr wrap="none" anchor="ctr"/>
          <a:lstStyle/>
          <a:p>
            <a:pPr>
              <a:defRPr/>
            </a:pPr>
            <a:endParaRPr lang="en-US"/>
          </a:p>
        </p:txBody>
      </p:sp>
      <p:pic>
        <p:nvPicPr>
          <p:cNvPr id="12" name="Picture 3"/>
          <p:cNvPicPr>
            <a:picLocks noChangeAspect="1" noChangeArrowheads="1"/>
          </p:cNvPicPr>
          <p:nvPr userDrawn="1"/>
        </p:nvPicPr>
        <p:blipFill>
          <a:blip r:embed="rId2" cstate="print"/>
          <a:srcRect/>
          <a:stretch>
            <a:fillRect/>
          </a:stretch>
        </p:blipFill>
        <p:spPr bwMode="auto">
          <a:xfrm>
            <a:off x="7467600" y="0"/>
            <a:ext cx="1150477" cy="783124"/>
          </a:xfrm>
          <a:prstGeom prst="rect">
            <a:avLst/>
          </a:prstGeom>
          <a:noFill/>
          <a:ln w="6350" algn="ctr">
            <a:noFill/>
            <a:miter lim="800000"/>
            <a:headEnd/>
            <a:tailEnd/>
          </a:ln>
        </p:spPr>
      </p:pic>
      <p:sp>
        <p:nvSpPr>
          <p:cNvPr id="13" name="Rectangle 67"/>
          <p:cNvSpPr>
            <a:spLocks noChangeArrowheads="1"/>
          </p:cNvSpPr>
          <p:nvPr userDrawn="1"/>
        </p:nvSpPr>
        <p:spPr bwMode="auto">
          <a:xfrm>
            <a:off x="0" y="762000"/>
            <a:ext cx="9144000" cy="76200"/>
          </a:xfrm>
          <a:prstGeom prst="rect">
            <a:avLst/>
          </a:prstGeom>
          <a:solidFill>
            <a:srgbClr val="000000"/>
          </a:solidFill>
          <a:ln w="9525">
            <a:noFill/>
            <a:miter lim="800000"/>
            <a:headEnd/>
            <a:tailEnd/>
          </a:ln>
        </p:spPr>
        <p:txBody>
          <a:bodyPr wrap="none" anchor="ctr"/>
          <a:lstStyle/>
          <a:p>
            <a:pPr>
              <a:defRPr/>
            </a:pPr>
            <a:endParaRPr lang="en-US"/>
          </a:p>
        </p:txBody>
      </p:sp>
      <p:sp>
        <p:nvSpPr>
          <p:cNvPr id="14" name="Text Box 46"/>
          <p:cNvSpPr txBox="1">
            <a:spLocks noChangeArrowheads="1"/>
          </p:cNvSpPr>
          <p:nvPr userDrawn="1"/>
        </p:nvSpPr>
        <p:spPr bwMode="auto">
          <a:xfrm>
            <a:off x="0" y="6629400"/>
            <a:ext cx="9067800" cy="228600"/>
          </a:xfrm>
          <a:prstGeom prst="rect">
            <a:avLst/>
          </a:prstGeom>
          <a:noFill/>
          <a:ln w="9525">
            <a:noFill/>
            <a:miter lim="800000"/>
            <a:headEnd/>
            <a:tailEnd/>
          </a:ln>
        </p:spPr>
        <p:txBody>
          <a:bodyPr>
            <a:spAutoFit/>
          </a:bodyPr>
          <a:lstStyle/>
          <a:p>
            <a:pPr algn="l" eaLnBrk="0" hangingPunct="0">
              <a:defRPr/>
            </a:pPr>
            <a:r>
              <a:rPr lang="en-US" altLang="en-US" sz="900" u="none" dirty="0">
                <a:solidFill>
                  <a:srgbClr val="5F5F5F"/>
                </a:solidFill>
                <a:latin typeface="Arial Narrow" pitchFamily="34" charset="0"/>
              </a:rPr>
              <a:t>NOTE: All information contained herein is Proprietary &amp; Confidential material of ValueMomentum Inc. All rights are reserved.</a:t>
            </a:r>
          </a:p>
        </p:txBody>
      </p:sp>
      <p:sp>
        <p:nvSpPr>
          <p:cNvPr id="15" name="Rectangle 63"/>
          <p:cNvSpPr>
            <a:spLocks noChangeArrowheads="1"/>
          </p:cNvSpPr>
          <p:nvPr userDrawn="1"/>
        </p:nvSpPr>
        <p:spPr bwMode="auto">
          <a:xfrm>
            <a:off x="8763000" y="0"/>
            <a:ext cx="76200" cy="763546"/>
          </a:xfrm>
          <a:prstGeom prst="rect">
            <a:avLst/>
          </a:prstGeom>
          <a:solidFill>
            <a:srgbClr val="CC0000"/>
          </a:solidFill>
          <a:ln w="9525">
            <a:noFill/>
            <a:miter lim="800000"/>
            <a:headEnd/>
            <a:tailEnd/>
          </a:ln>
        </p:spPr>
        <p:txBody>
          <a:bodyPr wrap="none" anchor="ctr"/>
          <a:lstStyle/>
          <a:p>
            <a:pPr>
              <a:defRPr/>
            </a:pP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5B121A-A758-4297-A882-A04DEEBB3AA4}" type="datetimeFigureOut">
              <a:rPr lang="en-US" smtClean="0"/>
              <a:pPr/>
              <a:t>1/18/2022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604409-2282-4E9A-B987-6256BA47096F}"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85B121A-A758-4297-A882-A04DEEBB3AA4}" type="datetimeFigureOut">
              <a:rPr lang="en-US" smtClean="0"/>
              <a:pPr/>
              <a:t>1/18/2022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4604409-2282-4E9A-B987-6256BA47096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85B121A-A758-4297-A882-A04DEEBB3AA4}" type="datetimeFigureOut">
              <a:rPr lang="en-US" smtClean="0"/>
              <a:pPr/>
              <a:t>1/18/2022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4604409-2282-4E9A-B987-6256BA47096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85B121A-A758-4297-A882-A04DEEBB3AA4}" type="datetimeFigureOut">
              <a:rPr lang="en-US" smtClean="0"/>
              <a:pPr/>
              <a:t>1/18/2022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4604409-2282-4E9A-B987-6256BA47096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5B121A-A758-4297-A882-A04DEEBB3AA4}" type="datetimeFigureOut">
              <a:rPr lang="en-US" smtClean="0"/>
              <a:pPr/>
              <a:t>1/18/2022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4604409-2282-4E9A-B987-6256BA47096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85B121A-A758-4297-A882-A04DEEBB3AA4}" type="datetimeFigureOut">
              <a:rPr lang="en-US" smtClean="0"/>
              <a:pPr/>
              <a:t>1/18/2022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4604409-2282-4E9A-B987-6256BA47096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85B121A-A758-4297-A882-A04DEEBB3AA4}" type="datetimeFigureOut">
              <a:rPr lang="en-US" smtClean="0"/>
              <a:pPr/>
              <a:t>1/18/2022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4604409-2282-4E9A-B987-6256BA47096F}"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85B121A-A758-4297-A882-A04DEEBB3AA4}" type="datetimeFigureOut">
              <a:rPr lang="en-US" smtClean="0"/>
              <a:pPr/>
              <a:t>1/18/2022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604409-2282-4E9A-B987-6256BA47096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85B121A-A758-4297-A882-A04DEEBB3AA4}" type="datetimeFigureOut">
              <a:rPr lang="en-US" smtClean="0"/>
              <a:pPr/>
              <a:t>1/18/2022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604409-2282-4E9A-B987-6256BA47096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5B121A-A758-4297-A882-A04DEEBB3AA4}" type="datetimeFigureOut">
              <a:rPr lang="en-US" smtClean="0"/>
              <a:pPr/>
              <a:t>1/18/2022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604409-2282-4E9A-B987-6256BA47096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7.wmf"/><Relationship Id="rId4"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6934200" y="6553200"/>
            <a:ext cx="2209800" cy="228600"/>
          </a:xfrm>
          <a:prstGeom prst="rect">
            <a:avLst/>
          </a:prstGeom>
        </p:spPr>
        <p:txBody>
          <a:bodyPr/>
          <a:lstStyle/>
          <a:p>
            <a:pPr algn="r" fontAlgn="auto">
              <a:spcBef>
                <a:spcPts val="0"/>
              </a:spcBef>
              <a:spcAft>
                <a:spcPts val="0"/>
              </a:spcAft>
              <a:defRPr/>
            </a:pPr>
            <a:fld id="{0F56061C-0A42-4038-98B8-AEE9439494E5}" type="slidenum">
              <a:rPr lang="en-US" sz="1400">
                <a:latin typeface="+mn-lt"/>
              </a:rPr>
              <a:pPr algn="r" fontAlgn="auto">
                <a:spcBef>
                  <a:spcPts val="0"/>
                </a:spcBef>
                <a:spcAft>
                  <a:spcPts val="0"/>
                </a:spcAft>
                <a:defRPr/>
              </a:pPr>
              <a:t>2</a:t>
            </a:fld>
            <a:endParaRPr lang="en-US" sz="1400" dirty="0">
              <a:latin typeface="+mn-lt"/>
            </a:endParaRPr>
          </a:p>
        </p:txBody>
      </p:sp>
      <p:sp>
        <p:nvSpPr>
          <p:cNvPr id="10" name="Rectangle 66"/>
          <p:cNvSpPr>
            <a:spLocks noChangeArrowheads="1"/>
          </p:cNvSpPr>
          <p:nvPr/>
        </p:nvSpPr>
        <p:spPr bwMode="auto">
          <a:xfrm>
            <a:off x="76200" y="152400"/>
            <a:ext cx="5867400" cy="400110"/>
          </a:xfrm>
          <a:prstGeom prst="rect">
            <a:avLst/>
          </a:prstGeom>
          <a:noFill/>
          <a:ln w="12700">
            <a:noFill/>
            <a:miter lim="800000"/>
            <a:headEnd/>
            <a:tailEnd/>
          </a:ln>
        </p:spPr>
        <p:txBody>
          <a:bodyPr wrap="square" anchor="ctr">
            <a:spAutoFit/>
          </a:bodyPr>
          <a:lstStyle/>
          <a:p>
            <a:pPr eaLnBrk="0" hangingPunct="0"/>
            <a:r>
              <a:rPr lang="en-US" sz="2000" dirty="0">
                <a:solidFill>
                  <a:schemeClr val="bg1"/>
                </a:solidFill>
              </a:rPr>
              <a:t> Business Owners Program</a:t>
            </a:r>
          </a:p>
        </p:txBody>
      </p:sp>
      <p:sp>
        <p:nvSpPr>
          <p:cNvPr id="12" name="Text Box 28"/>
          <p:cNvSpPr txBox="1">
            <a:spLocks noChangeArrowheads="1"/>
          </p:cNvSpPr>
          <p:nvPr/>
        </p:nvSpPr>
        <p:spPr bwMode="auto">
          <a:xfrm>
            <a:off x="381000" y="1600200"/>
            <a:ext cx="8305800" cy="1816524"/>
          </a:xfrm>
          <a:prstGeom prst="rect">
            <a:avLst/>
          </a:prstGeom>
          <a:noFill/>
          <a:ln w="12700" algn="ctr">
            <a:noFill/>
            <a:miter lim="800000"/>
            <a:headEnd/>
            <a:tailEnd/>
          </a:ln>
        </p:spPr>
        <p:txBody>
          <a:bodyPr lIns="92075" tIns="46038" rIns="92075" bIns="46038">
            <a:spAutoFit/>
          </a:bodyPr>
          <a:lstStyle/>
          <a:p>
            <a:r>
              <a:rPr lang="en-US" sz="1600" u="none" dirty="0">
                <a:solidFill>
                  <a:schemeClr val="tx1">
                    <a:lumMod val="75000"/>
                    <a:lumOff val="25000"/>
                  </a:schemeClr>
                </a:solidFill>
              </a:rPr>
              <a:t>Business Owners Program is designed to provide Insurance protection for Small business owners and proprietors</a:t>
            </a:r>
          </a:p>
          <a:p>
            <a:endParaRPr lang="en-US" sz="1600" u="none" dirty="0">
              <a:solidFill>
                <a:schemeClr val="tx1">
                  <a:lumMod val="75000"/>
                  <a:lumOff val="25000"/>
                </a:schemeClr>
              </a:solidFill>
            </a:endParaRPr>
          </a:p>
          <a:p>
            <a:r>
              <a:rPr lang="en-US" sz="1600" u="none" dirty="0">
                <a:solidFill>
                  <a:schemeClr val="tx1">
                    <a:lumMod val="75000"/>
                    <a:lumOff val="25000"/>
                  </a:schemeClr>
                </a:solidFill>
              </a:rPr>
              <a:t>BOP Program provides Property, Loss of Income and Liability </a:t>
            </a:r>
            <a:r>
              <a:rPr lang="en-US" sz="1600" u="none" dirty="0" err="1">
                <a:solidFill>
                  <a:schemeClr val="tx1">
                    <a:lumMod val="75000"/>
                    <a:lumOff val="25000"/>
                  </a:schemeClr>
                </a:solidFill>
              </a:rPr>
              <a:t>coverages</a:t>
            </a:r>
            <a:r>
              <a:rPr lang="en-US" sz="1600" u="none" dirty="0">
                <a:solidFill>
                  <a:schemeClr val="tx1">
                    <a:lumMod val="75000"/>
                    <a:lumOff val="25000"/>
                  </a:schemeClr>
                </a:solidFill>
              </a:rPr>
              <a:t> for Small Business Owners</a:t>
            </a:r>
          </a:p>
          <a:p>
            <a:endParaRPr lang="en-US" sz="1600" u="none" dirty="0">
              <a:solidFill>
                <a:schemeClr val="tx1">
                  <a:lumMod val="75000"/>
                  <a:lumOff val="25000"/>
                </a:schemeClr>
              </a:solidFill>
            </a:endParaRPr>
          </a:p>
          <a:p>
            <a:r>
              <a:rPr lang="en-US" sz="1600" u="none" dirty="0">
                <a:solidFill>
                  <a:schemeClr val="tx1">
                    <a:lumMod val="75000"/>
                    <a:lumOff val="25000"/>
                  </a:schemeClr>
                </a:solidFill>
              </a:rPr>
              <a:t>A Business owners policy provides coverage for all eligible buildings and business personal property owned by an insured and for all of the insured’s eligible business liability exposures</a:t>
            </a:r>
          </a:p>
        </p:txBody>
      </p:sp>
      <p:pic>
        <p:nvPicPr>
          <p:cNvPr id="5" name="Picture 4" descr="CB065693.jpg"/>
          <p:cNvPicPr>
            <a:picLocks noChangeAspect="1"/>
          </p:cNvPicPr>
          <p:nvPr/>
        </p:nvPicPr>
        <p:blipFill>
          <a:blip r:embed="rId3" cstate="print"/>
          <a:stretch>
            <a:fillRect/>
          </a:stretch>
        </p:blipFill>
        <p:spPr>
          <a:xfrm>
            <a:off x="2743200" y="3810000"/>
            <a:ext cx="3378200" cy="223805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6934200" y="6553200"/>
            <a:ext cx="2209800" cy="228600"/>
          </a:xfrm>
          <a:prstGeom prst="rect">
            <a:avLst/>
          </a:prstGeom>
        </p:spPr>
        <p:txBody>
          <a:bodyPr/>
          <a:lstStyle/>
          <a:p>
            <a:pPr algn="r" fontAlgn="auto">
              <a:spcBef>
                <a:spcPts val="0"/>
              </a:spcBef>
              <a:spcAft>
                <a:spcPts val="0"/>
              </a:spcAft>
              <a:defRPr/>
            </a:pPr>
            <a:fld id="{0F56061C-0A42-4038-98B8-AEE9439494E5}" type="slidenum">
              <a:rPr lang="en-US" sz="1400">
                <a:latin typeface="+mn-lt"/>
              </a:rPr>
              <a:pPr algn="r" fontAlgn="auto">
                <a:spcBef>
                  <a:spcPts val="0"/>
                </a:spcBef>
                <a:spcAft>
                  <a:spcPts val="0"/>
                </a:spcAft>
                <a:defRPr/>
              </a:pPr>
              <a:t>3</a:t>
            </a:fld>
            <a:endParaRPr lang="en-US" sz="1400" dirty="0">
              <a:latin typeface="+mn-lt"/>
            </a:endParaRPr>
          </a:p>
        </p:txBody>
      </p:sp>
      <p:sp>
        <p:nvSpPr>
          <p:cNvPr id="10" name="Rectangle 66"/>
          <p:cNvSpPr>
            <a:spLocks noChangeArrowheads="1"/>
          </p:cNvSpPr>
          <p:nvPr/>
        </p:nvSpPr>
        <p:spPr bwMode="auto">
          <a:xfrm>
            <a:off x="76200" y="152400"/>
            <a:ext cx="5867400" cy="400110"/>
          </a:xfrm>
          <a:prstGeom prst="rect">
            <a:avLst/>
          </a:prstGeom>
          <a:noFill/>
          <a:ln w="12700">
            <a:noFill/>
            <a:miter lim="800000"/>
            <a:headEnd/>
            <a:tailEnd/>
          </a:ln>
        </p:spPr>
        <p:txBody>
          <a:bodyPr wrap="square" anchor="ctr">
            <a:spAutoFit/>
          </a:bodyPr>
          <a:lstStyle/>
          <a:p>
            <a:pPr eaLnBrk="0" hangingPunct="0"/>
            <a:r>
              <a:rPr lang="en-US" sz="2000" dirty="0">
                <a:solidFill>
                  <a:schemeClr val="bg1"/>
                </a:solidFill>
              </a:rPr>
              <a:t> Business Owners Program</a:t>
            </a:r>
          </a:p>
        </p:txBody>
      </p:sp>
      <p:sp>
        <p:nvSpPr>
          <p:cNvPr id="5" name="Text Box 28"/>
          <p:cNvSpPr txBox="1">
            <a:spLocks noChangeArrowheads="1"/>
          </p:cNvSpPr>
          <p:nvPr/>
        </p:nvSpPr>
        <p:spPr bwMode="auto">
          <a:xfrm>
            <a:off x="381000" y="2415434"/>
            <a:ext cx="5715000" cy="2801409"/>
          </a:xfrm>
          <a:prstGeom prst="rect">
            <a:avLst/>
          </a:prstGeom>
          <a:noFill/>
          <a:ln w="12700" algn="ctr">
            <a:noFill/>
            <a:miter lim="800000"/>
            <a:headEnd/>
            <a:tailEnd/>
          </a:ln>
        </p:spPr>
        <p:txBody>
          <a:bodyPr wrap="square" lIns="92075" tIns="46038" rIns="92075" bIns="46038">
            <a:spAutoFit/>
          </a:bodyPr>
          <a:lstStyle/>
          <a:p>
            <a:r>
              <a:rPr lang="en-US" sz="1600" b="1" dirty="0">
                <a:solidFill>
                  <a:srgbClr val="C00000"/>
                </a:solidFill>
              </a:rPr>
              <a:t>BOP Program contains two forms:</a:t>
            </a:r>
          </a:p>
          <a:p>
            <a:endParaRPr lang="en-US" sz="1600" dirty="0">
              <a:solidFill>
                <a:schemeClr val="tx1">
                  <a:lumMod val="75000"/>
                  <a:lumOff val="25000"/>
                </a:schemeClr>
              </a:solidFill>
            </a:endParaRPr>
          </a:p>
          <a:p>
            <a:pPr>
              <a:buClr>
                <a:srgbClr val="C00000"/>
              </a:buClr>
              <a:buFont typeface="Wingdings" pitchFamily="2" charset="2"/>
              <a:buChar char="v"/>
            </a:pPr>
            <a:r>
              <a:rPr lang="en-US" sz="1600" u="none" dirty="0">
                <a:solidFill>
                  <a:schemeClr val="tx1">
                    <a:lumMod val="75000"/>
                    <a:lumOff val="25000"/>
                  </a:schemeClr>
                </a:solidFill>
              </a:rPr>
              <a:t> </a:t>
            </a:r>
            <a:r>
              <a:rPr lang="en-US" sz="1600" b="1" u="none" dirty="0">
                <a:solidFill>
                  <a:schemeClr val="tx1">
                    <a:lumMod val="75000"/>
                    <a:lumOff val="25000"/>
                  </a:schemeClr>
                </a:solidFill>
              </a:rPr>
              <a:t>Standard Form</a:t>
            </a:r>
            <a:r>
              <a:rPr lang="en-US" sz="1600" u="none" dirty="0">
                <a:solidFill>
                  <a:schemeClr val="tx1">
                    <a:lumMod val="75000"/>
                    <a:lumOff val="25000"/>
                  </a:schemeClr>
                </a:solidFill>
              </a:rPr>
              <a:t> that provides property coverage on a named peril basis</a:t>
            </a:r>
          </a:p>
          <a:p>
            <a:pPr>
              <a:buClr>
                <a:srgbClr val="C00000"/>
              </a:buClr>
              <a:buFont typeface="Wingdings" pitchFamily="2" charset="2"/>
              <a:buChar char="v"/>
            </a:pPr>
            <a:endParaRPr lang="en-US" sz="1600" u="none" dirty="0">
              <a:solidFill>
                <a:schemeClr val="tx1">
                  <a:lumMod val="75000"/>
                  <a:lumOff val="25000"/>
                </a:schemeClr>
              </a:solidFill>
            </a:endParaRPr>
          </a:p>
          <a:p>
            <a:pPr>
              <a:buClr>
                <a:srgbClr val="C00000"/>
              </a:buClr>
              <a:buFont typeface="Wingdings" pitchFamily="2" charset="2"/>
              <a:buChar char="v"/>
            </a:pPr>
            <a:r>
              <a:rPr lang="en-US" sz="1600" u="none" dirty="0">
                <a:solidFill>
                  <a:schemeClr val="tx1">
                    <a:lumMod val="75000"/>
                    <a:lumOff val="25000"/>
                  </a:schemeClr>
                </a:solidFill>
              </a:rPr>
              <a:t> </a:t>
            </a:r>
            <a:r>
              <a:rPr lang="en-US" sz="1600" b="1" u="none" dirty="0">
                <a:solidFill>
                  <a:schemeClr val="tx1">
                    <a:lumMod val="75000"/>
                    <a:lumOff val="25000"/>
                  </a:schemeClr>
                </a:solidFill>
              </a:rPr>
              <a:t>Special Form</a:t>
            </a:r>
            <a:r>
              <a:rPr lang="en-US" sz="1600" u="none" dirty="0">
                <a:solidFill>
                  <a:schemeClr val="tx1">
                    <a:lumMod val="75000"/>
                    <a:lumOff val="25000"/>
                  </a:schemeClr>
                </a:solidFill>
              </a:rPr>
              <a:t> that provides property coverage against all physical risks of loss with designated   </a:t>
            </a:r>
          </a:p>
          <a:p>
            <a:pPr>
              <a:buClr>
                <a:srgbClr val="C00000"/>
              </a:buClr>
            </a:pPr>
            <a:r>
              <a:rPr lang="en-US" sz="1600" dirty="0">
                <a:solidFill>
                  <a:schemeClr val="tx1">
                    <a:lumMod val="75000"/>
                    <a:lumOff val="25000"/>
                  </a:schemeClr>
                </a:solidFill>
              </a:rPr>
              <a:t>     </a:t>
            </a:r>
            <a:r>
              <a:rPr lang="en-US" sz="1600" u="none" dirty="0">
                <a:solidFill>
                  <a:schemeClr val="tx1">
                    <a:lumMod val="75000"/>
                    <a:lumOff val="25000"/>
                  </a:schemeClr>
                </a:solidFill>
              </a:rPr>
              <a:t>exclusions</a:t>
            </a:r>
          </a:p>
          <a:p>
            <a:pPr>
              <a:buClr>
                <a:srgbClr val="C00000"/>
              </a:buClr>
              <a:buFont typeface="Wingdings" pitchFamily="2" charset="2"/>
              <a:buChar char="v"/>
            </a:pPr>
            <a:endParaRPr lang="en-US" sz="1600" u="none" dirty="0">
              <a:solidFill>
                <a:schemeClr val="tx1">
                  <a:lumMod val="75000"/>
                  <a:lumOff val="25000"/>
                </a:schemeClr>
              </a:solidFill>
            </a:endParaRPr>
          </a:p>
          <a:p>
            <a:pPr>
              <a:buClr>
                <a:srgbClr val="C00000"/>
              </a:buClr>
              <a:buFont typeface="Wingdings" pitchFamily="2" charset="2"/>
              <a:buChar char="v"/>
            </a:pPr>
            <a:r>
              <a:rPr lang="en-US" sz="1600" u="none" dirty="0">
                <a:solidFill>
                  <a:schemeClr val="tx1">
                    <a:lumMod val="75000"/>
                    <a:lumOff val="25000"/>
                  </a:schemeClr>
                </a:solidFill>
              </a:rPr>
              <a:t> Both forms include Commercial Liability coverage</a:t>
            </a:r>
          </a:p>
          <a:p>
            <a:endParaRPr lang="en-US" sz="1600" u="none" dirty="0">
              <a:solidFill>
                <a:schemeClr val="tx1">
                  <a:lumMod val="75000"/>
                  <a:lumOff val="25000"/>
                </a:schemeClr>
              </a:solidFill>
            </a:endParaRPr>
          </a:p>
        </p:txBody>
      </p:sp>
      <p:pic>
        <p:nvPicPr>
          <p:cNvPr id="6" name="Picture 5" descr="42-24952869.jpg"/>
          <p:cNvPicPr>
            <a:picLocks noChangeAspect="1"/>
          </p:cNvPicPr>
          <p:nvPr/>
        </p:nvPicPr>
        <p:blipFill>
          <a:blip r:embed="rId3" cstate="print"/>
          <a:stretch>
            <a:fillRect/>
          </a:stretch>
        </p:blipFill>
        <p:spPr>
          <a:xfrm>
            <a:off x="6400800" y="2667000"/>
            <a:ext cx="1395984" cy="209922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6934200" y="6553200"/>
            <a:ext cx="2209800" cy="228600"/>
          </a:xfrm>
          <a:prstGeom prst="rect">
            <a:avLst/>
          </a:prstGeom>
        </p:spPr>
        <p:txBody>
          <a:bodyPr/>
          <a:lstStyle/>
          <a:p>
            <a:pPr algn="r" fontAlgn="auto">
              <a:spcBef>
                <a:spcPts val="0"/>
              </a:spcBef>
              <a:spcAft>
                <a:spcPts val="0"/>
              </a:spcAft>
              <a:defRPr/>
            </a:pPr>
            <a:fld id="{0F56061C-0A42-4038-98B8-AEE9439494E5}" type="slidenum">
              <a:rPr lang="en-US" sz="1400">
                <a:latin typeface="+mn-lt"/>
              </a:rPr>
              <a:pPr algn="r" fontAlgn="auto">
                <a:spcBef>
                  <a:spcPts val="0"/>
                </a:spcBef>
                <a:spcAft>
                  <a:spcPts val="0"/>
                </a:spcAft>
                <a:defRPr/>
              </a:pPr>
              <a:t>4</a:t>
            </a:fld>
            <a:endParaRPr lang="en-US" sz="1400" dirty="0">
              <a:latin typeface="+mn-lt"/>
            </a:endParaRPr>
          </a:p>
        </p:txBody>
      </p:sp>
      <p:sp>
        <p:nvSpPr>
          <p:cNvPr id="10" name="Rectangle 66"/>
          <p:cNvSpPr>
            <a:spLocks noChangeArrowheads="1"/>
          </p:cNvSpPr>
          <p:nvPr/>
        </p:nvSpPr>
        <p:spPr bwMode="auto">
          <a:xfrm>
            <a:off x="76200" y="152400"/>
            <a:ext cx="5867400" cy="400110"/>
          </a:xfrm>
          <a:prstGeom prst="rect">
            <a:avLst/>
          </a:prstGeom>
          <a:noFill/>
          <a:ln w="12700">
            <a:noFill/>
            <a:miter lim="800000"/>
            <a:headEnd/>
            <a:tailEnd/>
          </a:ln>
        </p:spPr>
        <p:txBody>
          <a:bodyPr wrap="square" anchor="ctr">
            <a:spAutoFit/>
          </a:bodyPr>
          <a:lstStyle/>
          <a:p>
            <a:pPr eaLnBrk="0" hangingPunct="0"/>
            <a:r>
              <a:rPr lang="en-US" sz="2000" dirty="0">
                <a:solidFill>
                  <a:schemeClr val="bg1"/>
                </a:solidFill>
              </a:rPr>
              <a:t>Named Perils in a Standard Form</a:t>
            </a:r>
          </a:p>
        </p:txBody>
      </p:sp>
      <p:graphicFrame>
        <p:nvGraphicFramePr>
          <p:cNvPr id="4" name="Group 43"/>
          <p:cNvGraphicFramePr>
            <a:graphicFrameLocks/>
          </p:cNvGraphicFramePr>
          <p:nvPr/>
        </p:nvGraphicFramePr>
        <p:xfrm>
          <a:off x="457200" y="1798635"/>
          <a:ext cx="8229600" cy="3521080"/>
        </p:xfrm>
        <a:graphic>
          <a:graphicData uri="http://schemas.openxmlformats.org/drawingml/2006/table">
            <a:tbl>
              <a:tblPr/>
              <a:tblGrid>
                <a:gridCol w="555625">
                  <a:extLst>
                    <a:ext uri="{9D8B030D-6E8A-4147-A177-3AD203B41FA5}">
                      <a16:colId xmlns:a16="http://schemas.microsoft.com/office/drawing/2014/main" val="20000"/>
                    </a:ext>
                  </a:extLst>
                </a:gridCol>
                <a:gridCol w="3446463">
                  <a:extLst>
                    <a:ext uri="{9D8B030D-6E8A-4147-A177-3AD203B41FA5}">
                      <a16:colId xmlns:a16="http://schemas.microsoft.com/office/drawing/2014/main" val="20001"/>
                    </a:ext>
                  </a:extLst>
                </a:gridCol>
                <a:gridCol w="493712">
                  <a:extLst>
                    <a:ext uri="{9D8B030D-6E8A-4147-A177-3AD203B41FA5}">
                      <a16:colId xmlns:a16="http://schemas.microsoft.com/office/drawing/2014/main" val="20002"/>
                    </a:ext>
                  </a:extLst>
                </a:gridCol>
                <a:gridCol w="3733800">
                  <a:extLst>
                    <a:ext uri="{9D8B030D-6E8A-4147-A177-3AD203B41FA5}">
                      <a16:colId xmlns:a16="http://schemas.microsoft.com/office/drawing/2014/main" val="20003"/>
                    </a:ext>
                  </a:extLst>
                </a:gridCol>
              </a:tblGrid>
              <a:tr h="639765">
                <a:tc>
                  <a:txBody>
                    <a:body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n-lt"/>
                          <a:cs typeface="Arial" charset="0"/>
                        </a:rPr>
                        <a:t>1</a:t>
                      </a:r>
                      <a:endParaRPr kumimoji="0" lang="en-US" sz="1600" b="0" i="0" u="sng" strike="noStrike" cap="none" normalizeH="0" baseline="0" dirty="0">
                        <a:ln>
                          <a:noFill/>
                        </a:ln>
                        <a:solidFill>
                          <a:schemeClr val="tx1"/>
                        </a:solidFill>
                        <a:effectLst/>
                        <a:latin typeface="+mn-lt"/>
                      </a:endParaRPr>
                    </a:p>
                  </a:txBody>
                  <a:tcPr marL="92075" marR="92075" marT="46038" marB="4603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solidFill>
                  </a:tcPr>
                </a:tc>
                <a:tc>
                  <a:txBody>
                    <a:body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n-lt"/>
                          <a:cs typeface="Arial" charset="0"/>
                        </a:rPr>
                        <a:t> Fire or Lightning </a:t>
                      </a:r>
                      <a:endParaRPr kumimoji="0" lang="en-US" sz="1600" b="0" i="0" u="sng" strike="noStrike" cap="none" normalizeH="0" baseline="0" dirty="0">
                        <a:ln>
                          <a:noFill/>
                        </a:ln>
                        <a:solidFill>
                          <a:schemeClr val="tx1"/>
                        </a:solidFill>
                        <a:effectLst/>
                        <a:latin typeface="+mn-lt"/>
                      </a:endParaRPr>
                    </a:p>
                  </a:txBody>
                  <a:tcPr marL="92075" marR="92075" marT="46038" marB="4603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n-lt"/>
                          <a:cs typeface="Arial" charset="0"/>
                        </a:rPr>
                        <a:t>7</a:t>
                      </a:r>
                      <a:endParaRPr kumimoji="0" lang="en-US" sz="1600" b="0" i="0" u="sng" strike="noStrike" cap="none" normalizeH="0" baseline="0" dirty="0">
                        <a:ln>
                          <a:noFill/>
                        </a:ln>
                        <a:solidFill>
                          <a:schemeClr val="tx1"/>
                        </a:solidFill>
                        <a:effectLst/>
                        <a:latin typeface="+mn-lt"/>
                      </a:endParaRPr>
                    </a:p>
                  </a:txBody>
                  <a:tcPr marL="92075" marR="92075" marT="46038" marB="4603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solidFill>
                  </a:tcPr>
                </a:tc>
                <a:tc>
                  <a:txBody>
                    <a:body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n-lt"/>
                          <a:cs typeface="Arial" charset="0"/>
                        </a:rPr>
                        <a:t> Riot or Civil commotion</a:t>
                      </a:r>
                      <a:endParaRPr kumimoji="0" lang="en-US" sz="1600" b="0" i="0" u="sng" strike="noStrike" cap="none" normalizeH="0" baseline="0" dirty="0">
                        <a:ln>
                          <a:noFill/>
                        </a:ln>
                        <a:solidFill>
                          <a:schemeClr val="tx1"/>
                        </a:solidFill>
                        <a:effectLst/>
                        <a:latin typeface="+mn-lt"/>
                      </a:endParaRPr>
                    </a:p>
                  </a:txBody>
                  <a:tcPr marL="92075" marR="92075" marT="46038" marB="4603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0"/>
                  </a:ext>
                </a:extLst>
              </a:tr>
              <a:tr h="576263">
                <a:tc>
                  <a:txBody>
                    <a:body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n-lt"/>
                          <a:cs typeface="Arial" charset="0"/>
                        </a:rPr>
                        <a:t>2</a:t>
                      </a:r>
                      <a:endParaRPr kumimoji="0" lang="en-US" sz="1600" b="0" i="0" u="sng" strike="noStrike" cap="none" normalizeH="0" baseline="0" dirty="0">
                        <a:ln>
                          <a:noFill/>
                        </a:ln>
                        <a:solidFill>
                          <a:schemeClr val="tx1"/>
                        </a:solidFill>
                        <a:effectLst/>
                        <a:latin typeface="+mn-lt"/>
                      </a:endParaRPr>
                    </a:p>
                  </a:txBody>
                  <a:tcPr marL="92075" marR="92075" marT="46038" marB="4603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solidFill>
                  </a:tcPr>
                </a:tc>
                <a:tc>
                  <a:txBody>
                    <a:body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n-lt"/>
                          <a:cs typeface="Arial" charset="0"/>
                        </a:rPr>
                        <a:t> Explosion</a:t>
                      </a:r>
                      <a:endParaRPr kumimoji="0" lang="en-US" sz="1600" b="0" i="0" u="sng" strike="noStrike" cap="none" normalizeH="0" baseline="0" dirty="0">
                        <a:ln>
                          <a:noFill/>
                        </a:ln>
                        <a:solidFill>
                          <a:schemeClr val="tx1"/>
                        </a:solidFill>
                        <a:effectLst/>
                        <a:latin typeface="+mn-lt"/>
                      </a:endParaRPr>
                    </a:p>
                  </a:txBody>
                  <a:tcPr marL="92075" marR="92075" marT="46038" marB="4603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n-lt"/>
                          <a:cs typeface="Arial" charset="0"/>
                        </a:rPr>
                        <a:t>8</a:t>
                      </a:r>
                      <a:endParaRPr kumimoji="0" lang="en-US" sz="1600" b="0" i="0" u="sng" strike="noStrike" cap="none" normalizeH="0" baseline="0" dirty="0">
                        <a:ln>
                          <a:noFill/>
                        </a:ln>
                        <a:solidFill>
                          <a:schemeClr val="tx1"/>
                        </a:solidFill>
                        <a:effectLst/>
                        <a:latin typeface="+mn-lt"/>
                      </a:endParaRPr>
                    </a:p>
                  </a:txBody>
                  <a:tcPr marL="92075" marR="92075" marT="46038" marB="4603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solidFill>
                  </a:tcPr>
                </a:tc>
                <a:tc>
                  <a:txBody>
                    <a:body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n-lt"/>
                          <a:cs typeface="Arial" charset="0"/>
                        </a:rPr>
                        <a:t>Vandalism</a:t>
                      </a:r>
                      <a:endParaRPr kumimoji="0" lang="en-US" sz="1600" b="0" i="0" u="sng" strike="noStrike" cap="none" normalizeH="0" baseline="0" dirty="0">
                        <a:ln>
                          <a:noFill/>
                        </a:ln>
                        <a:solidFill>
                          <a:schemeClr val="tx1"/>
                        </a:solidFill>
                        <a:effectLst/>
                        <a:latin typeface="+mn-lt"/>
                      </a:endParaRPr>
                    </a:p>
                  </a:txBody>
                  <a:tcPr marL="92075" marR="92075" marT="46038" marB="4603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1"/>
                  </a:ext>
                </a:extLst>
              </a:tr>
              <a:tr h="576263">
                <a:tc>
                  <a:txBody>
                    <a:body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n-lt"/>
                          <a:cs typeface="Arial" charset="0"/>
                        </a:rPr>
                        <a:t>3</a:t>
                      </a:r>
                      <a:endParaRPr kumimoji="0" lang="en-US" sz="1600" b="0" i="0" u="sng" strike="noStrike" cap="none" normalizeH="0" baseline="0" dirty="0">
                        <a:ln>
                          <a:noFill/>
                        </a:ln>
                        <a:solidFill>
                          <a:schemeClr val="tx1"/>
                        </a:solidFill>
                        <a:effectLst/>
                        <a:latin typeface="+mn-lt"/>
                      </a:endParaRPr>
                    </a:p>
                  </a:txBody>
                  <a:tcPr marL="92075" marR="92075" marT="46038" marB="4603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solidFill>
                  </a:tcPr>
                </a:tc>
                <a:tc>
                  <a:txBody>
                    <a:body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n-lt"/>
                          <a:cs typeface="Arial" charset="0"/>
                        </a:rPr>
                        <a:t> Sonic boom </a:t>
                      </a:r>
                      <a:endParaRPr kumimoji="0" lang="en-US" sz="1600" b="0" i="0" u="sng" strike="noStrike" cap="none" normalizeH="0" baseline="0" dirty="0">
                        <a:ln>
                          <a:noFill/>
                        </a:ln>
                        <a:solidFill>
                          <a:schemeClr val="tx1"/>
                        </a:solidFill>
                        <a:effectLst/>
                        <a:latin typeface="+mn-lt"/>
                      </a:endParaRPr>
                    </a:p>
                  </a:txBody>
                  <a:tcPr marL="92075" marR="92075" marT="46038" marB="4603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n-lt"/>
                          <a:cs typeface="Arial" charset="0"/>
                        </a:rPr>
                        <a:t>9</a:t>
                      </a:r>
                      <a:endParaRPr kumimoji="0" lang="en-US" sz="1600" b="0" i="0" u="sng" strike="noStrike" cap="none" normalizeH="0" baseline="0" dirty="0">
                        <a:ln>
                          <a:noFill/>
                        </a:ln>
                        <a:solidFill>
                          <a:schemeClr val="tx1"/>
                        </a:solidFill>
                        <a:effectLst/>
                        <a:latin typeface="+mn-lt"/>
                      </a:endParaRPr>
                    </a:p>
                  </a:txBody>
                  <a:tcPr marL="92075" marR="92075" marT="46038" marB="4603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solidFill>
                  </a:tcPr>
                </a:tc>
                <a:tc>
                  <a:txBody>
                    <a:body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n-lt"/>
                          <a:cs typeface="Arial" charset="0"/>
                        </a:rPr>
                        <a:t>Sprinkler leakage</a:t>
                      </a:r>
                      <a:endParaRPr kumimoji="0" lang="en-US" sz="1600" b="0" i="0" u="sng" strike="noStrike" cap="none" normalizeH="0" baseline="0" dirty="0">
                        <a:ln>
                          <a:noFill/>
                        </a:ln>
                        <a:solidFill>
                          <a:schemeClr val="tx1"/>
                        </a:solidFill>
                        <a:effectLst/>
                        <a:latin typeface="+mn-lt"/>
                      </a:endParaRPr>
                    </a:p>
                  </a:txBody>
                  <a:tcPr marL="92075" marR="92075" marT="46038" marB="4603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2"/>
                  </a:ext>
                </a:extLst>
              </a:tr>
              <a:tr h="576263">
                <a:tc>
                  <a:txBody>
                    <a:body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n-lt"/>
                          <a:cs typeface="Arial" charset="0"/>
                        </a:rPr>
                        <a:t>4</a:t>
                      </a:r>
                      <a:endParaRPr kumimoji="0" lang="en-US" sz="1600" b="0" i="0" u="sng" strike="noStrike" cap="none" normalizeH="0" baseline="0" dirty="0">
                        <a:ln>
                          <a:noFill/>
                        </a:ln>
                        <a:solidFill>
                          <a:schemeClr val="tx1"/>
                        </a:solidFill>
                        <a:effectLst/>
                        <a:latin typeface="+mn-lt"/>
                      </a:endParaRPr>
                    </a:p>
                  </a:txBody>
                  <a:tcPr marL="92075" marR="92075" marT="46038" marB="4603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solidFill>
                  </a:tcPr>
                </a:tc>
                <a:tc>
                  <a:txBody>
                    <a:body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n-lt"/>
                          <a:cs typeface="Arial" charset="0"/>
                        </a:rPr>
                        <a:t> Windstorm or Hail </a:t>
                      </a:r>
                      <a:endParaRPr kumimoji="0" lang="en-US" sz="1600" b="0" i="0" u="sng" strike="noStrike" cap="none" normalizeH="0" baseline="0" dirty="0">
                        <a:ln>
                          <a:noFill/>
                        </a:ln>
                        <a:solidFill>
                          <a:schemeClr val="tx1"/>
                        </a:solidFill>
                        <a:effectLst/>
                        <a:latin typeface="+mn-lt"/>
                      </a:endParaRPr>
                    </a:p>
                  </a:txBody>
                  <a:tcPr marL="92075" marR="92075" marT="46038" marB="4603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n-lt"/>
                          <a:cs typeface="Arial" charset="0"/>
                        </a:rPr>
                        <a:t>10</a:t>
                      </a:r>
                      <a:endParaRPr kumimoji="0" lang="en-US" sz="1600" b="0" i="0" u="sng" strike="noStrike" cap="none" normalizeH="0" baseline="0" dirty="0">
                        <a:ln>
                          <a:noFill/>
                        </a:ln>
                        <a:solidFill>
                          <a:schemeClr val="tx1"/>
                        </a:solidFill>
                        <a:effectLst/>
                        <a:latin typeface="+mn-lt"/>
                      </a:endParaRPr>
                    </a:p>
                  </a:txBody>
                  <a:tcPr marL="92075" marR="92075" marT="46038" marB="4603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solidFill>
                  </a:tcPr>
                </a:tc>
                <a:tc>
                  <a:txBody>
                    <a:body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n-lt"/>
                          <a:cs typeface="Arial" charset="0"/>
                        </a:rPr>
                        <a:t>Sinkhole collapse</a:t>
                      </a:r>
                      <a:endParaRPr kumimoji="0" lang="en-US" sz="1600" b="0" i="0" u="sng" strike="noStrike" cap="none" normalizeH="0" baseline="0" dirty="0">
                        <a:ln>
                          <a:noFill/>
                        </a:ln>
                        <a:solidFill>
                          <a:schemeClr val="tx1"/>
                        </a:solidFill>
                        <a:effectLst/>
                        <a:latin typeface="+mn-lt"/>
                      </a:endParaRPr>
                    </a:p>
                  </a:txBody>
                  <a:tcPr marL="92075" marR="92075" marT="46038" marB="4603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3"/>
                  </a:ext>
                </a:extLst>
              </a:tr>
              <a:tr h="576263">
                <a:tc>
                  <a:txBody>
                    <a:body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n-lt"/>
                          <a:cs typeface="Arial" charset="0"/>
                        </a:rPr>
                        <a:t>5</a:t>
                      </a:r>
                      <a:endParaRPr kumimoji="0" lang="en-US" sz="1600" b="0" i="0" u="sng" strike="noStrike" cap="none" normalizeH="0" baseline="0" dirty="0">
                        <a:ln>
                          <a:noFill/>
                        </a:ln>
                        <a:solidFill>
                          <a:schemeClr val="tx1"/>
                        </a:solidFill>
                        <a:effectLst/>
                        <a:latin typeface="+mn-lt"/>
                      </a:endParaRPr>
                    </a:p>
                  </a:txBody>
                  <a:tcPr marL="92075" marR="92075" marT="46038" marB="4603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solidFill>
                  </a:tcPr>
                </a:tc>
                <a:tc>
                  <a:txBody>
                    <a:body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n-lt"/>
                          <a:cs typeface="Arial" charset="0"/>
                        </a:rPr>
                        <a:t> Smoke </a:t>
                      </a:r>
                      <a:endParaRPr kumimoji="0" lang="en-US" sz="1600" b="0" i="0" u="sng" strike="noStrike" cap="none" normalizeH="0" baseline="0" dirty="0">
                        <a:ln>
                          <a:noFill/>
                        </a:ln>
                        <a:solidFill>
                          <a:schemeClr val="tx1"/>
                        </a:solidFill>
                        <a:effectLst/>
                        <a:latin typeface="+mn-lt"/>
                      </a:endParaRPr>
                    </a:p>
                  </a:txBody>
                  <a:tcPr marL="92075" marR="92075" marT="46038" marB="4603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n-lt"/>
                          <a:cs typeface="Arial" charset="0"/>
                        </a:rPr>
                        <a:t>11</a:t>
                      </a:r>
                      <a:endParaRPr kumimoji="0" lang="en-US" sz="1600" b="0" i="0" u="sng" strike="noStrike" cap="none" normalizeH="0" baseline="0" dirty="0">
                        <a:ln>
                          <a:noFill/>
                        </a:ln>
                        <a:solidFill>
                          <a:schemeClr val="tx1"/>
                        </a:solidFill>
                        <a:effectLst/>
                        <a:latin typeface="+mn-lt"/>
                      </a:endParaRPr>
                    </a:p>
                  </a:txBody>
                  <a:tcPr marL="92075" marR="92075" marT="46038" marB="4603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solidFill>
                  </a:tcPr>
                </a:tc>
                <a:tc>
                  <a:txBody>
                    <a:body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n-lt"/>
                          <a:cs typeface="Arial" charset="0"/>
                        </a:rPr>
                        <a:t>Volcanic action</a:t>
                      </a:r>
                      <a:endParaRPr kumimoji="0" lang="en-US" sz="1600" b="0" i="0" u="sng" strike="noStrike" cap="none" normalizeH="0" baseline="0" dirty="0">
                        <a:ln>
                          <a:noFill/>
                        </a:ln>
                        <a:solidFill>
                          <a:schemeClr val="tx1"/>
                        </a:solidFill>
                        <a:effectLst/>
                        <a:latin typeface="+mn-lt"/>
                      </a:endParaRPr>
                    </a:p>
                  </a:txBody>
                  <a:tcPr marL="92075" marR="92075" marT="46038" marB="4603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4"/>
                  </a:ext>
                </a:extLst>
              </a:tr>
              <a:tr h="576263">
                <a:tc>
                  <a:txBody>
                    <a:body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n-lt"/>
                          <a:cs typeface="Arial" charset="0"/>
                        </a:rPr>
                        <a:t>6</a:t>
                      </a:r>
                      <a:endParaRPr kumimoji="0" lang="en-US" sz="1600" b="0" i="0" u="sng" strike="noStrike" cap="none" normalizeH="0" baseline="0" dirty="0">
                        <a:ln>
                          <a:noFill/>
                        </a:ln>
                        <a:solidFill>
                          <a:schemeClr val="tx1"/>
                        </a:solidFill>
                        <a:effectLst/>
                        <a:latin typeface="+mn-lt"/>
                      </a:endParaRPr>
                    </a:p>
                  </a:txBody>
                  <a:tcPr marL="92075" marR="92075" marT="46038" marB="4603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solidFill>
                  </a:tcPr>
                </a:tc>
                <a:tc>
                  <a:txBody>
                    <a:body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n-lt"/>
                          <a:cs typeface="Arial" charset="0"/>
                        </a:rPr>
                        <a:t> Vehicles and Aircraft </a:t>
                      </a:r>
                      <a:endParaRPr kumimoji="0" lang="en-US" sz="1600" b="0" i="0" u="sng" strike="noStrike" cap="none" normalizeH="0" baseline="0" dirty="0">
                        <a:ln>
                          <a:noFill/>
                        </a:ln>
                        <a:solidFill>
                          <a:schemeClr val="tx1"/>
                        </a:solidFill>
                        <a:effectLst/>
                        <a:latin typeface="+mn-lt"/>
                      </a:endParaRPr>
                    </a:p>
                  </a:txBody>
                  <a:tcPr marL="92075" marR="92075" marT="46038" marB="4603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n-lt"/>
                          <a:cs typeface="Arial" charset="0"/>
                        </a:rPr>
                        <a:t>12</a:t>
                      </a:r>
                      <a:endParaRPr kumimoji="0" lang="en-US" sz="1600" b="0" i="0" u="sng" strike="noStrike" cap="none" normalizeH="0" baseline="0" dirty="0">
                        <a:ln>
                          <a:noFill/>
                        </a:ln>
                        <a:solidFill>
                          <a:schemeClr val="tx1"/>
                        </a:solidFill>
                        <a:effectLst/>
                        <a:latin typeface="+mn-lt"/>
                      </a:endParaRPr>
                    </a:p>
                  </a:txBody>
                  <a:tcPr marL="92075" marR="92075" marT="46038" marB="4603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solidFill>
                  </a:tcPr>
                </a:tc>
                <a:tc>
                  <a:txBody>
                    <a:body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n-lt"/>
                          <a:cs typeface="Arial" charset="0"/>
                        </a:rPr>
                        <a:t> Transportation</a:t>
                      </a:r>
                      <a:endParaRPr kumimoji="0" lang="en-US" sz="1600" b="0" i="0" u="sng" strike="noStrike" cap="none" normalizeH="0" baseline="0" dirty="0">
                        <a:ln>
                          <a:noFill/>
                        </a:ln>
                        <a:solidFill>
                          <a:schemeClr val="tx1"/>
                        </a:solidFill>
                        <a:effectLst/>
                        <a:latin typeface="+mn-lt"/>
                      </a:endParaRPr>
                    </a:p>
                  </a:txBody>
                  <a:tcPr marL="92075" marR="92075" marT="46038" marB="4603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6934200" y="6553200"/>
            <a:ext cx="2209800" cy="228600"/>
          </a:xfrm>
          <a:prstGeom prst="rect">
            <a:avLst/>
          </a:prstGeom>
        </p:spPr>
        <p:txBody>
          <a:bodyPr/>
          <a:lstStyle/>
          <a:p>
            <a:pPr algn="r" fontAlgn="auto">
              <a:spcBef>
                <a:spcPts val="0"/>
              </a:spcBef>
              <a:spcAft>
                <a:spcPts val="0"/>
              </a:spcAft>
              <a:defRPr/>
            </a:pPr>
            <a:fld id="{0F56061C-0A42-4038-98B8-AEE9439494E5}" type="slidenum">
              <a:rPr lang="en-US" sz="1400">
                <a:latin typeface="+mn-lt"/>
              </a:rPr>
              <a:pPr algn="r" fontAlgn="auto">
                <a:spcBef>
                  <a:spcPts val="0"/>
                </a:spcBef>
                <a:spcAft>
                  <a:spcPts val="0"/>
                </a:spcAft>
                <a:defRPr/>
              </a:pPr>
              <a:t>5</a:t>
            </a:fld>
            <a:endParaRPr lang="en-US" sz="1400" dirty="0">
              <a:latin typeface="+mn-lt"/>
            </a:endParaRPr>
          </a:p>
        </p:txBody>
      </p:sp>
      <p:sp>
        <p:nvSpPr>
          <p:cNvPr id="10" name="Rectangle 66"/>
          <p:cNvSpPr>
            <a:spLocks noChangeArrowheads="1"/>
          </p:cNvSpPr>
          <p:nvPr/>
        </p:nvSpPr>
        <p:spPr bwMode="auto">
          <a:xfrm>
            <a:off x="76200" y="152400"/>
            <a:ext cx="5867400" cy="400110"/>
          </a:xfrm>
          <a:prstGeom prst="rect">
            <a:avLst/>
          </a:prstGeom>
          <a:noFill/>
          <a:ln w="12700">
            <a:noFill/>
            <a:miter lim="800000"/>
            <a:headEnd/>
            <a:tailEnd/>
          </a:ln>
        </p:spPr>
        <p:txBody>
          <a:bodyPr wrap="square" anchor="ctr">
            <a:spAutoFit/>
          </a:bodyPr>
          <a:lstStyle/>
          <a:p>
            <a:pPr eaLnBrk="0" hangingPunct="0"/>
            <a:r>
              <a:rPr lang="en-US" sz="2000" dirty="0">
                <a:solidFill>
                  <a:schemeClr val="bg1"/>
                </a:solidFill>
              </a:rPr>
              <a:t>Damages</a:t>
            </a:r>
          </a:p>
        </p:txBody>
      </p:sp>
      <p:pic>
        <p:nvPicPr>
          <p:cNvPr id="4" name="Picture 4"/>
          <p:cNvPicPr>
            <a:picLocks noChangeAspect="1" noChangeArrowheads="1"/>
          </p:cNvPicPr>
          <p:nvPr/>
        </p:nvPicPr>
        <p:blipFill>
          <a:blip r:embed="rId3" cstate="print"/>
          <a:srcRect/>
          <a:stretch>
            <a:fillRect/>
          </a:stretch>
        </p:blipFill>
        <p:spPr bwMode="auto">
          <a:xfrm>
            <a:off x="457200" y="1276350"/>
            <a:ext cx="8001000" cy="4895850"/>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6934200" y="6553200"/>
            <a:ext cx="2209800" cy="228600"/>
          </a:xfrm>
          <a:prstGeom prst="rect">
            <a:avLst/>
          </a:prstGeom>
        </p:spPr>
        <p:txBody>
          <a:bodyPr/>
          <a:lstStyle/>
          <a:p>
            <a:pPr algn="r" fontAlgn="auto">
              <a:spcBef>
                <a:spcPts val="0"/>
              </a:spcBef>
              <a:spcAft>
                <a:spcPts val="0"/>
              </a:spcAft>
              <a:defRPr/>
            </a:pPr>
            <a:fld id="{0F56061C-0A42-4038-98B8-AEE9439494E5}" type="slidenum">
              <a:rPr lang="en-US" sz="1400">
                <a:latin typeface="+mn-lt"/>
              </a:rPr>
              <a:pPr algn="r" fontAlgn="auto">
                <a:spcBef>
                  <a:spcPts val="0"/>
                </a:spcBef>
                <a:spcAft>
                  <a:spcPts val="0"/>
                </a:spcAft>
                <a:defRPr/>
              </a:pPr>
              <a:t>6</a:t>
            </a:fld>
            <a:endParaRPr lang="en-US" sz="1400" dirty="0">
              <a:latin typeface="+mn-lt"/>
            </a:endParaRPr>
          </a:p>
        </p:txBody>
      </p:sp>
      <p:sp>
        <p:nvSpPr>
          <p:cNvPr id="10" name="Rectangle 66"/>
          <p:cNvSpPr>
            <a:spLocks noChangeArrowheads="1"/>
          </p:cNvSpPr>
          <p:nvPr/>
        </p:nvSpPr>
        <p:spPr bwMode="auto">
          <a:xfrm>
            <a:off x="76200" y="152400"/>
            <a:ext cx="5867400" cy="400110"/>
          </a:xfrm>
          <a:prstGeom prst="rect">
            <a:avLst/>
          </a:prstGeom>
          <a:noFill/>
          <a:ln w="12700">
            <a:noFill/>
            <a:miter lim="800000"/>
            <a:headEnd/>
            <a:tailEnd/>
          </a:ln>
        </p:spPr>
        <p:txBody>
          <a:bodyPr wrap="square" anchor="ctr">
            <a:spAutoFit/>
          </a:bodyPr>
          <a:lstStyle/>
          <a:p>
            <a:pPr eaLnBrk="0" hangingPunct="0"/>
            <a:r>
              <a:rPr lang="en-US" sz="2000" dirty="0">
                <a:solidFill>
                  <a:schemeClr val="bg1"/>
                </a:solidFill>
              </a:rPr>
              <a:t>Excluded Perils in a Special Form</a:t>
            </a:r>
          </a:p>
        </p:txBody>
      </p:sp>
      <p:graphicFrame>
        <p:nvGraphicFramePr>
          <p:cNvPr id="4" name="Group 113"/>
          <p:cNvGraphicFramePr>
            <a:graphicFrameLocks/>
          </p:cNvGraphicFramePr>
          <p:nvPr/>
        </p:nvGraphicFramePr>
        <p:xfrm>
          <a:off x="533400" y="1905000"/>
          <a:ext cx="8229600" cy="3089276"/>
        </p:xfrm>
        <a:graphic>
          <a:graphicData uri="http://schemas.openxmlformats.org/drawingml/2006/table">
            <a:tbl>
              <a:tblPr/>
              <a:tblGrid>
                <a:gridCol w="401638">
                  <a:extLst>
                    <a:ext uri="{9D8B030D-6E8A-4147-A177-3AD203B41FA5}">
                      <a16:colId xmlns:a16="http://schemas.microsoft.com/office/drawing/2014/main" val="20000"/>
                    </a:ext>
                  </a:extLst>
                </a:gridCol>
                <a:gridCol w="4398962">
                  <a:extLst>
                    <a:ext uri="{9D8B030D-6E8A-4147-A177-3AD203B41FA5}">
                      <a16:colId xmlns:a16="http://schemas.microsoft.com/office/drawing/2014/main" val="20001"/>
                    </a:ext>
                  </a:extLst>
                </a:gridCol>
                <a:gridCol w="381000">
                  <a:extLst>
                    <a:ext uri="{9D8B030D-6E8A-4147-A177-3AD203B41FA5}">
                      <a16:colId xmlns:a16="http://schemas.microsoft.com/office/drawing/2014/main" val="20002"/>
                    </a:ext>
                  </a:extLst>
                </a:gridCol>
                <a:gridCol w="3048000">
                  <a:extLst>
                    <a:ext uri="{9D8B030D-6E8A-4147-A177-3AD203B41FA5}">
                      <a16:colId xmlns:a16="http://schemas.microsoft.com/office/drawing/2014/main" val="20003"/>
                    </a:ext>
                  </a:extLst>
                </a:gridCol>
              </a:tblGrid>
              <a:tr h="609600">
                <a:tc>
                  <a:txBody>
                    <a:bodyPr/>
                    <a:lstStyle/>
                    <a:p>
                      <a:pPr marL="342900" marR="0" lvl="0" indent="-342900" algn="ctr" defTabSz="914400" rtl="0" eaLnBrk="0" fontAlgn="b"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n-lt"/>
                          <a:cs typeface="Arial" charset="0"/>
                        </a:rPr>
                        <a:t>1</a:t>
                      </a:r>
                      <a:endParaRPr kumimoji="0" lang="en-US" sz="1600" b="0" i="0" u="sng" strike="noStrike" cap="none" normalizeH="0" baseline="0" dirty="0">
                        <a:ln>
                          <a:noFill/>
                        </a:ln>
                        <a:solidFill>
                          <a:schemeClr val="tx1"/>
                        </a:solidFill>
                        <a:effectLst/>
                        <a:latin typeface="+mn-lt"/>
                      </a:endParaRPr>
                    </a:p>
                  </a:txBody>
                  <a:tcPr marL="92075" marR="92075" marT="46038" marB="4603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solidFill>
                  </a:tcPr>
                </a:tc>
                <a:tc>
                  <a:txBody>
                    <a:bodyPr/>
                    <a:lstStyle/>
                    <a:p>
                      <a:pPr marL="342900" marR="0" lvl="0" indent="-342900" algn="ctr" defTabSz="914400" rtl="0" eaLnBrk="0" fontAlgn="b"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n-lt"/>
                          <a:cs typeface="Arial" charset="0"/>
                        </a:rPr>
                        <a:t> Civil authority </a:t>
                      </a:r>
                      <a:endParaRPr kumimoji="0" lang="en-US" sz="1600" b="0" i="0" u="sng" strike="noStrike" cap="none" normalizeH="0" baseline="0" dirty="0">
                        <a:ln>
                          <a:noFill/>
                        </a:ln>
                        <a:solidFill>
                          <a:schemeClr val="tx1"/>
                        </a:solidFill>
                        <a:effectLst/>
                        <a:latin typeface="+mn-lt"/>
                      </a:endParaRPr>
                    </a:p>
                  </a:txBody>
                  <a:tcPr marL="92075" marR="92075" marT="46038" marB="4603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0" fontAlgn="b"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n-lt"/>
                          <a:cs typeface="Arial" charset="0"/>
                        </a:rPr>
                        <a:t>5</a:t>
                      </a:r>
                      <a:endParaRPr kumimoji="0" lang="en-US" sz="1600" b="0" i="0" u="sng" strike="noStrike" cap="none" normalizeH="0" baseline="0" dirty="0">
                        <a:ln>
                          <a:noFill/>
                        </a:ln>
                        <a:solidFill>
                          <a:schemeClr val="tx1"/>
                        </a:solidFill>
                        <a:effectLst/>
                        <a:latin typeface="+mn-lt"/>
                      </a:endParaRPr>
                    </a:p>
                  </a:txBody>
                  <a:tcPr marL="92075" marR="92075" marT="46038" marB="4603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solidFill>
                  </a:tcPr>
                </a:tc>
                <a:tc>
                  <a:txBody>
                    <a:bodyPr/>
                    <a:lstStyle/>
                    <a:p>
                      <a:pPr marL="342900" marR="0" lvl="0" indent="-342900" algn="ctr" defTabSz="914400" rtl="0" eaLnBrk="0" fontAlgn="b"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n-lt"/>
                          <a:cs typeface="Arial" charset="0"/>
                        </a:rPr>
                        <a:t> Utility failure</a:t>
                      </a:r>
                      <a:endParaRPr kumimoji="0" lang="en-US" sz="1600" b="0" i="0" u="sng" strike="noStrike" cap="none" normalizeH="0" baseline="0" dirty="0">
                        <a:ln>
                          <a:noFill/>
                        </a:ln>
                        <a:solidFill>
                          <a:schemeClr val="tx1"/>
                        </a:solidFill>
                        <a:effectLst/>
                        <a:latin typeface="+mn-lt"/>
                      </a:endParaRPr>
                    </a:p>
                  </a:txBody>
                  <a:tcPr marL="92075" marR="92075" marT="46038" marB="4603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0"/>
                  </a:ext>
                </a:extLst>
              </a:tr>
              <a:tr h="827088">
                <a:tc>
                  <a:txBody>
                    <a:bodyPr/>
                    <a:lstStyle/>
                    <a:p>
                      <a:pPr marL="342900" marR="0" lvl="0" indent="-342900" algn="ctr" defTabSz="914400" rtl="0" eaLnBrk="0" fontAlgn="b"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n-lt"/>
                          <a:cs typeface="Arial" charset="0"/>
                        </a:rPr>
                        <a:t>2</a:t>
                      </a:r>
                      <a:endParaRPr kumimoji="0" lang="en-US" sz="1600" b="0" i="0" u="sng" strike="noStrike" cap="none" normalizeH="0" baseline="0" dirty="0">
                        <a:ln>
                          <a:noFill/>
                        </a:ln>
                        <a:solidFill>
                          <a:schemeClr val="tx1"/>
                        </a:solidFill>
                        <a:effectLst/>
                        <a:latin typeface="+mn-lt"/>
                      </a:endParaRPr>
                    </a:p>
                  </a:txBody>
                  <a:tcPr marL="92075" marR="92075" marT="46038" marB="4603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solidFill>
                  </a:tcPr>
                </a:tc>
                <a:tc>
                  <a:txBody>
                    <a:bodyPr/>
                    <a:lstStyle/>
                    <a:p>
                      <a:pPr marL="342900" marR="0" lvl="0" indent="-342900" algn="ctr" defTabSz="914400" rtl="0" eaLnBrk="0" fontAlgn="b"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n-lt"/>
                          <a:cs typeface="Arial" charset="0"/>
                        </a:rPr>
                        <a:t> Earth Movement Or Volcanic Eruption </a:t>
                      </a:r>
                      <a:endParaRPr kumimoji="0" lang="en-US" sz="1600" b="0" i="0" u="sng" strike="noStrike" cap="none" normalizeH="0" baseline="0" dirty="0">
                        <a:ln>
                          <a:noFill/>
                        </a:ln>
                        <a:solidFill>
                          <a:schemeClr val="tx1"/>
                        </a:solidFill>
                        <a:effectLst/>
                        <a:latin typeface="+mn-lt"/>
                      </a:endParaRPr>
                    </a:p>
                  </a:txBody>
                  <a:tcPr marL="92075" marR="92075" marT="46038" marB="4603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0" fontAlgn="b"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n-lt"/>
                          <a:cs typeface="Arial" charset="0"/>
                        </a:rPr>
                        <a:t>6</a:t>
                      </a:r>
                      <a:endParaRPr kumimoji="0" lang="en-US" sz="1600" b="0" i="0" u="sng" strike="noStrike" cap="none" normalizeH="0" baseline="0" dirty="0">
                        <a:ln>
                          <a:noFill/>
                        </a:ln>
                        <a:solidFill>
                          <a:schemeClr val="tx1"/>
                        </a:solidFill>
                        <a:effectLst/>
                        <a:latin typeface="+mn-lt"/>
                      </a:endParaRPr>
                    </a:p>
                  </a:txBody>
                  <a:tcPr marL="92075" marR="92075" marT="46038" marB="4603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solidFill>
                  </a:tcPr>
                </a:tc>
                <a:tc>
                  <a:txBody>
                    <a:bodyPr/>
                    <a:lstStyle/>
                    <a:p>
                      <a:pPr marL="342900" marR="0" lvl="0" indent="-342900" algn="ctr" defTabSz="914400" rtl="0" eaLnBrk="0" fontAlgn="b"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n-lt"/>
                          <a:cs typeface="Arial" charset="0"/>
                        </a:rPr>
                        <a:t> Water</a:t>
                      </a:r>
                      <a:endParaRPr kumimoji="0" lang="en-US" sz="1600" b="0" i="0" u="sng" strike="noStrike" cap="none" normalizeH="0" baseline="0" dirty="0">
                        <a:ln>
                          <a:noFill/>
                        </a:ln>
                        <a:solidFill>
                          <a:schemeClr val="tx1"/>
                        </a:solidFill>
                        <a:effectLst/>
                        <a:latin typeface="+mn-lt"/>
                      </a:endParaRPr>
                    </a:p>
                  </a:txBody>
                  <a:tcPr marL="92075" marR="92075" marT="46038" marB="4603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1"/>
                  </a:ext>
                </a:extLst>
              </a:tr>
              <a:tr h="825500">
                <a:tc>
                  <a:txBody>
                    <a:bodyPr/>
                    <a:lstStyle/>
                    <a:p>
                      <a:pPr marL="342900" marR="0" lvl="0" indent="-342900" algn="ctr" defTabSz="914400" rtl="0" eaLnBrk="0" fontAlgn="b"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n-lt"/>
                          <a:cs typeface="Arial" charset="0"/>
                        </a:rPr>
                        <a:t>3</a:t>
                      </a:r>
                      <a:endParaRPr kumimoji="0" lang="en-US" sz="1600" b="0" i="0" u="sng" strike="noStrike" cap="none" normalizeH="0" baseline="0" dirty="0">
                        <a:ln>
                          <a:noFill/>
                        </a:ln>
                        <a:solidFill>
                          <a:schemeClr val="tx1"/>
                        </a:solidFill>
                        <a:effectLst/>
                        <a:latin typeface="+mn-lt"/>
                      </a:endParaRPr>
                    </a:p>
                  </a:txBody>
                  <a:tcPr marL="92075" marR="92075" marT="46038" marB="4603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solidFill>
                  </a:tcPr>
                </a:tc>
                <a:tc>
                  <a:txBody>
                    <a:bodyPr/>
                    <a:lstStyle/>
                    <a:p>
                      <a:pPr marL="342900" marR="0" lvl="0" indent="-342900" algn="ctr" defTabSz="914400" rtl="0" eaLnBrk="0" fontAlgn="b"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n-lt"/>
                          <a:cs typeface="Arial" charset="0"/>
                        </a:rPr>
                        <a:t> Nuclear Reaction, Radiation, Or Radioactive Contamination</a:t>
                      </a:r>
                      <a:endParaRPr kumimoji="0" lang="en-US" sz="1600" b="0" i="0" u="sng" strike="noStrike" cap="none" normalizeH="0" baseline="0" dirty="0">
                        <a:ln>
                          <a:noFill/>
                        </a:ln>
                        <a:solidFill>
                          <a:schemeClr val="tx1"/>
                        </a:solidFill>
                        <a:effectLst/>
                        <a:latin typeface="+mn-lt"/>
                      </a:endParaRPr>
                    </a:p>
                  </a:txBody>
                  <a:tcPr marL="92075" marR="92075" marT="46038" marB="4603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0" fontAlgn="b"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n-lt"/>
                          <a:cs typeface="Arial" charset="0"/>
                        </a:rPr>
                        <a:t>7</a:t>
                      </a:r>
                      <a:endParaRPr kumimoji="0" lang="en-US" sz="1600" b="0" i="0" u="sng" strike="noStrike" cap="none" normalizeH="0" baseline="0" dirty="0">
                        <a:ln>
                          <a:noFill/>
                        </a:ln>
                        <a:solidFill>
                          <a:schemeClr val="tx1"/>
                        </a:solidFill>
                        <a:effectLst/>
                        <a:latin typeface="+mn-lt"/>
                      </a:endParaRPr>
                    </a:p>
                  </a:txBody>
                  <a:tcPr marL="92075" marR="92075" marT="46038" marB="4603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solidFill>
                  </a:tcPr>
                </a:tc>
                <a:tc>
                  <a:txBody>
                    <a:bodyPr/>
                    <a:lstStyle/>
                    <a:p>
                      <a:pPr marL="342900" marR="0" lvl="0" indent="-342900" algn="ctr" defTabSz="914400" rtl="0" eaLnBrk="0" fontAlgn="b"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n-lt"/>
                          <a:cs typeface="Arial" charset="0"/>
                        </a:rPr>
                        <a:t> War</a:t>
                      </a:r>
                      <a:endParaRPr kumimoji="0" lang="en-US" sz="1600" b="0" i="0" u="sng" strike="noStrike" cap="none" normalizeH="0" baseline="0" dirty="0">
                        <a:ln>
                          <a:noFill/>
                        </a:ln>
                        <a:solidFill>
                          <a:schemeClr val="tx1"/>
                        </a:solidFill>
                        <a:effectLst/>
                        <a:latin typeface="+mn-lt"/>
                      </a:endParaRPr>
                    </a:p>
                  </a:txBody>
                  <a:tcPr marL="92075" marR="92075" marT="46038" marB="4603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2"/>
                  </a:ext>
                </a:extLst>
              </a:tr>
              <a:tr h="827088">
                <a:tc>
                  <a:txBody>
                    <a:bodyPr/>
                    <a:lstStyle/>
                    <a:p>
                      <a:pPr marL="342900" marR="0" lvl="0" indent="-342900" algn="ctr" defTabSz="914400" rtl="0" eaLnBrk="0" fontAlgn="b"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n-lt"/>
                          <a:cs typeface="Arial" charset="0"/>
                        </a:rPr>
                        <a:t>4</a:t>
                      </a:r>
                      <a:endParaRPr kumimoji="0" lang="en-US" sz="1600" b="0" i="0" u="sng" strike="noStrike" cap="none" normalizeH="0" baseline="0" dirty="0">
                        <a:ln>
                          <a:noFill/>
                        </a:ln>
                        <a:solidFill>
                          <a:schemeClr val="tx1"/>
                        </a:solidFill>
                        <a:effectLst/>
                        <a:latin typeface="+mn-lt"/>
                      </a:endParaRPr>
                    </a:p>
                  </a:txBody>
                  <a:tcPr marL="92075" marR="92075" marT="46038" marB="4603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solidFill>
                  </a:tcPr>
                </a:tc>
                <a:tc>
                  <a:txBody>
                    <a:bodyPr/>
                    <a:lstStyle/>
                    <a:p>
                      <a:pPr marL="342900" marR="0" lvl="0" indent="-342900" algn="ctr" defTabSz="914400" rtl="0" eaLnBrk="0" fontAlgn="b"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n-lt"/>
                          <a:cs typeface="Arial" charset="0"/>
                        </a:rPr>
                        <a:t> Ordinance or law</a:t>
                      </a:r>
                      <a:endParaRPr kumimoji="0" lang="en-US" sz="1600" b="0" i="0" u="sng" strike="noStrike" cap="none" normalizeH="0" baseline="0" dirty="0">
                        <a:ln>
                          <a:noFill/>
                        </a:ln>
                        <a:solidFill>
                          <a:schemeClr val="tx1"/>
                        </a:solidFill>
                        <a:effectLst/>
                        <a:latin typeface="+mn-lt"/>
                      </a:endParaRPr>
                    </a:p>
                  </a:txBody>
                  <a:tcPr marL="92075" marR="92075" marT="46038" marB="4603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0" fontAlgn="b"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n-lt"/>
                          <a:cs typeface="Arial" charset="0"/>
                        </a:rPr>
                        <a:t>8</a:t>
                      </a:r>
                      <a:endParaRPr kumimoji="0" lang="en-US" sz="1600" b="0" i="0" u="sng" strike="noStrike" cap="none" normalizeH="0" baseline="0" dirty="0">
                        <a:ln>
                          <a:noFill/>
                        </a:ln>
                        <a:solidFill>
                          <a:schemeClr val="tx1"/>
                        </a:solidFill>
                        <a:effectLst/>
                        <a:latin typeface="+mn-lt"/>
                      </a:endParaRPr>
                    </a:p>
                  </a:txBody>
                  <a:tcPr marL="92075" marR="92075" marT="46038" marB="4603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solidFill>
                  </a:tcPr>
                </a:tc>
                <a:tc>
                  <a:txBody>
                    <a:bodyPr/>
                    <a:lstStyle/>
                    <a:p>
                      <a:pPr marL="342900" marR="0" lvl="0" indent="-342900" algn="ctr" defTabSz="914400" rtl="0" eaLnBrk="0" fontAlgn="b"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n-lt"/>
                          <a:cs typeface="Arial" charset="0"/>
                        </a:rPr>
                        <a:t> Weather Conditions</a:t>
                      </a:r>
                      <a:endParaRPr kumimoji="0" lang="en-US" sz="1600" b="0" i="0" u="sng" strike="noStrike" cap="none" normalizeH="0" baseline="0" dirty="0">
                        <a:ln>
                          <a:noFill/>
                        </a:ln>
                        <a:solidFill>
                          <a:schemeClr val="tx1"/>
                        </a:solidFill>
                        <a:effectLst/>
                        <a:latin typeface="+mn-lt"/>
                      </a:endParaRPr>
                    </a:p>
                  </a:txBody>
                  <a:tcPr marL="92075" marR="92075" marT="46038" marB="4603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6934200" y="6553200"/>
            <a:ext cx="2209800" cy="228600"/>
          </a:xfrm>
          <a:prstGeom prst="rect">
            <a:avLst/>
          </a:prstGeom>
        </p:spPr>
        <p:txBody>
          <a:bodyPr/>
          <a:lstStyle/>
          <a:p>
            <a:pPr algn="r" fontAlgn="auto">
              <a:spcBef>
                <a:spcPts val="0"/>
              </a:spcBef>
              <a:spcAft>
                <a:spcPts val="0"/>
              </a:spcAft>
              <a:defRPr/>
            </a:pPr>
            <a:fld id="{0F56061C-0A42-4038-98B8-AEE9439494E5}" type="slidenum">
              <a:rPr lang="en-US" sz="1400">
                <a:latin typeface="+mn-lt"/>
              </a:rPr>
              <a:pPr algn="r" fontAlgn="auto">
                <a:spcBef>
                  <a:spcPts val="0"/>
                </a:spcBef>
                <a:spcAft>
                  <a:spcPts val="0"/>
                </a:spcAft>
                <a:defRPr/>
              </a:pPr>
              <a:t>7</a:t>
            </a:fld>
            <a:endParaRPr lang="en-US" sz="1400" dirty="0">
              <a:latin typeface="+mn-lt"/>
            </a:endParaRPr>
          </a:p>
        </p:txBody>
      </p:sp>
      <p:sp>
        <p:nvSpPr>
          <p:cNvPr id="10" name="Rectangle 66"/>
          <p:cNvSpPr>
            <a:spLocks noChangeArrowheads="1"/>
          </p:cNvSpPr>
          <p:nvPr/>
        </p:nvSpPr>
        <p:spPr bwMode="auto">
          <a:xfrm>
            <a:off x="76200" y="152400"/>
            <a:ext cx="5867400" cy="400110"/>
          </a:xfrm>
          <a:prstGeom prst="rect">
            <a:avLst/>
          </a:prstGeom>
          <a:noFill/>
          <a:ln w="12700">
            <a:noFill/>
            <a:miter lim="800000"/>
            <a:headEnd/>
            <a:tailEnd/>
          </a:ln>
        </p:spPr>
        <p:txBody>
          <a:bodyPr wrap="square" anchor="ctr">
            <a:spAutoFit/>
          </a:bodyPr>
          <a:lstStyle/>
          <a:p>
            <a:pPr eaLnBrk="0" hangingPunct="0"/>
            <a:r>
              <a:rPr lang="en-US" sz="2000" dirty="0">
                <a:solidFill>
                  <a:schemeClr val="bg1"/>
                </a:solidFill>
              </a:rPr>
              <a:t> BOP – Risk Eligibility</a:t>
            </a:r>
          </a:p>
        </p:txBody>
      </p:sp>
      <p:sp>
        <p:nvSpPr>
          <p:cNvPr id="4" name="Text Box 28"/>
          <p:cNvSpPr txBox="1">
            <a:spLocks noChangeArrowheads="1"/>
          </p:cNvSpPr>
          <p:nvPr/>
        </p:nvSpPr>
        <p:spPr bwMode="auto">
          <a:xfrm>
            <a:off x="381000" y="2567834"/>
            <a:ext cx="8305800" cy="3170741"/>
          </a:xfrm>
          <a:prstGeom prst="rect">
            <a:avLst/>
          </a:prstGeom>
          <a:noFill/>
          <a:ln w="12700" algn="ctr">
            <a:noFill/>
            <a:miter lim="800000"/>
            <a:headEnd/>
            <a:tailEnd/>
          </a:ln>
        </p:spPr>
        <p:txBody>
          <a:bodyPr lIns="92075" tIns="46038" rIns="92075" bIns="46038">
            <a:spAutoFit/>
          </a:bodyPr>
          <a:lstStyle/>
          <a:p>
            <a:r>
              <a:rPr lang="en-US" sz="1600" b="1" dirty="0">
                <a:solidFill>
                  <a:srgbClr val="C00000"/>
                </a:solidFill>
              </a:rPr>
              <a:t>BOP Program is limited to the following small and simple risks with similar exposure</a:t>
            </a:r>
          </a:p>
          <a:p>
            <a:pPr>
              <a:buClr>
                <a:srgbClr val="C00000"/>
              </a:buClr>
            </a:pPr>
            <a:endParaRPr lang="en-US" sz="1600" i="1" dirty="0"/>
          </a:p>
          <a:p>
            <a:pPr>
              <a:lnSpc>
                <a:spcPct val="150000"/>
              </a:lnSpc>
              <a:buClr>
                <a:srgbClr val="C00000"/>
              </a:buClr>
              <a:buFont typeface="Wingdings" pitchFamily="2" charset="2"/>
              <a:buChar char="v"/>
            </a:pPr>
            <a:r>
              <a:rPr lang="en-US" sz="1600" u="none" dirty="0"/>
              <a:t> </a:t>
            </a:r>
            <a:r>
              <a:rPr lang="en-US" sz="1600" u="none" dirty="0">
                <a:solidFill>
                  <a:schemeClr val="tx1">
                    <a:lumMod val="75000"/>
                    <a:lumOff val="25000"/>
                  </a:schemeClr>
                </a:solidFill>
              </a:rPr>
              <a:t>Apartments</a:t>
            </a:r>
          </a:p>
          <a:p>
            <a:pPr>
              <a:lnSpc>
                <a:spcPct val="150000"/>
              </a:lnSpc>
              <a:buClr>
                <a:srgbClr val="C00000"/>
              </a:buClr>
              <a:buFont typeface="Wingdings" pitchFamily="2" charset="2"/>
              <a:buChar char="v"/>
            </a:pPr>
            <a:r>
              <a:rPr lang="en-US" sz="1600" u="none" dirty="0">
                <a:solidFill>
                  <a:schemeClr val="tx1">
                    <a:lumMod val="75000"/>
                    <a:lumOff val="25000"/>
                  </a:schemeClr>
                </a:solidFill>
              </a:rPr>
              <a:t> Condominiums</a:t>
            </a:r>
          </a:p>
          <a:p>
            <a:pPr>
              <a:lnSpc>
                <a:spcPct val="150000"/>
              </a:lnSpc>
              <a:buClr>
                <a:srgbClr val="C00000"/>
              </a:buClr>
              <a:buFont typeface="Wingdings" pitchFamily="2" charset="2"/>
              <a:buChar char="v"/>
            </a:pPr>
            <a:r>
              <a:rPr lang="en-US" sz="1600" u="none" dirty="0">
                <a:solidFill>
                  <a:schemeClr val="tx1">
                    <a:lumMod val="75000"/>
                    <a:lumOff val="25000"/>
                  </a:schemeClr>
                </a:solidFill>
              </a:rPr>
              <a:t> Offices</a:t>
            </a:r>
          </a:p>
          <a:p>
            <a:pPr>
              <a:lnSpc>
                <a:spcPct val="150000"/>
              </a:lnSpc>
              <a:buClr>
                <a:srgbClr val="C00000"/>
              </a:buClr>
              <a:buFont typeface="Wingdings" pitchFamily="2" charset="2"/>
              <a:buChar char="v"/>
            </a:pPr>
            <a:r>
              <a:rPr lang="en-US" sz="1600" u="none" dirty="0">
                <a:solidFill>
                  <a:schemeClr val="tx1">
                    <a:lumMod val="75000"/>
                    <a:lumOff val="25000"/>
                  </a:schemeClr>
                </a:solidFill>
              </a:rPr>
              <a:t> Small retail, service and processing risks</a:t>
            </a:r>
          </a:p>
          <a:p>
            <a:pPr>
              <a:lnSpc>
                <a:spcPct val="150000"/>
              </a:lnSpc>
              <a:buClr>
                <a:srgbClr val="C00000"/>
              </a:buClr>
              <a:buFont typeface="Wingdings" pitchFamily="2" charset="2"/>
              <a:buChar char="v"/>
            </a:pPr>
            <a:r>
              <a:rPr lang="en-US" sz="1600" u="none" dirty="0">
                <a:solidFill>
                  <a:schemeClr val="tx1">
                    <a:lumMod val="75000"/>
                    <a:lumOff val="25000"/>
                  </a:schemeClr>
                </a:solidFill>
              </a:rPr>
              <a:t> Restaurants</a:t>
            </a:r>
          </a:p>
          <a:p>
            <a:pPr>
              <a:lnSpc>
                <a:spcPct val="150000"/>
              </a:lnSpc>
              <a:buClr>
                <a:srgbClr val="C00000"/>
              </a:buClr>
              <a:buFont typeface="Wingdings" pitchFamily="2" charset="2"/>
              <a:buChar char="v"/>
            </a:pPr>
            <a:r>
              <a:rPr lang="en-US" sz="1600" u="none" dirty="0">
                <a:solidFill>
                  <a:schemeClr val="tx1">
                    <a:lumMod val="75000"/>
                    <a:lumOff val="25000"/>
                  </a:schemeClr>
                </a:solidFill>
              </a:rPr>
              <a:t> Warehouses</a:t>
            </a:r>
          </a:p>
          <a:p>
            <a:pPr>
              <a:lnSpc>
                <a:spcPct val="150000"/>
              </a:lnSpc>
              <a:buClr>
                <a:srgbClr val="C00000"/>
              </a:buClr>
              <a:buFont typeface="Wingdings" pitchFamily="2" charset="2"/>
              <a:buChar char="v"/>
            </a:pPr>
            <a:r>
              <a:rPr lang="en-US" sz="1600" u="none" dirty="0">
                <a:solidFill>
                  <a:schemeClr val="tx1">
                    <a:lumMod val="75000"/>
                    <a:lumOff val="25000"/>
                  </a:schemeClr>
                </a:solidFill>
              </a:rPr>
              <a:t> Wholesale operations</a:t>
            </a:r>
            <a:endParaRPr lang="en-US" sz="1600" u="none" dirty="0"/>
          </a:p>
        </p:txBody>
      </p:sp>
      <p:pic>
        <p:nvPicPr>
          <p:cNvPr id="5" name="Picture 4" descr="42-24019324.jpg"/>
          <p:cNvPicPr>
            <a:picLocks noChangeAspect="1"/>
          </p:cNvPicPr>
          <p:nvPr/>
        </p:nvPicPr>
        <p:blipFill>
          <a:blip r:embed="rId3" cstate="print"/>
          <a:stretch>
            <a:fillRect/>
          </a:stretch>
        </p:blipFill>
        <p:spPr>
          <a:xfrm>
            <a:off x="5334000" y="3505200"/>
            <a:ext cx="2362200" cy="157086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6934200" y="6553200"/>
            <a:ext cx="2209800" cy="228600"/>
          </a:xfrm>
          <a:prstGeom prst="rect">
            <a:avLst/>
          </a:prstGeom>
        </p:spPr>
        <p:txBody>
          <a:bodyPr/>
          <a:lstStyle/>
          <a:p>
            <a:pPr algn="r" fontAlgn="auto">
              <a:spcBef>
                <a:spcPts val="0"/>
              </a:spcBef>
              <a:spcAft>
                <a:spcPts val="0"/>
              </a:spcAft>
              <a:defRPr/>
            </a:pPr>
            <a:fld id="{0F56061C-0A42-4038-98B8-AEE9439494E5}" type="slidenum">
              <a:rPr lang="en-US" sz="1400">
                <a:latin typeface="+mn-lt"/>
              </a:rPr>
              <a:pPr algn="r" fontAlgn="auto">
                <a:spcBef>
                  <a:spcPts val="0"/>
                </a:spcBef>
                <a:spcAft>
                  <a:spcPts val="0"/>
                </a:spcAft>
                <a:defRPr/>
              </a:pPr>
              <a:t>8</a:t>
            </a:fld>
            <a:endParaRPr lang="en-US" sz="1400" dirty="0">
              <a:latin typeface="+mn-lt"/>
            </a:endParaRPr>
          </a:p>
        </p:txBody>
      </p:sp>
      <p:sp>
        <p:nvSpPr>
          <p:cNvPr id="10" name="Rectangle 66"/>
          <p:cNvSpPr>
            <a:spLocks noChangeArrowheads="1"/>
          </p:cNvSpPr>
          <p:nvPr/>
        </p:nvSpPr>
        <p:spPr bwMode="auto">
          <a:xfrm>
            <a:off x="76200" y="152400"/>
            <a:ext cx="5867400" cy="400110"/>
          </a:xfrm>
          <a:prstGeom prst="rect">
            <a:avLst/>
          </a:prstGeom>
          <a:noFill/>
          <a:ln w="12700">
            <a:noFill/>
            <a:miter lim="800000"/>
            <a:headEnd/>
            <a:tailEnd/>
          </a:ln>
        </p:spPr>
        <p:txBody>
          <a:bodyPr wrap="square" anchor="ctr">
            <a:spAutoFit/>
          </a:bodyPr>
          <a:lstStyle/>
          <a:p>
            <a:pPr eaLnBrk="0" hangingPunct="0"/>
            <a:r>
              <a:rPr lang="en-US" sz="2000" dirty="0">
                <a:solidFill>
                  <a:schemeClr val="bg1"/>
                </a:solidFill>
              </a:rPr>
              <a:t> Risk Eligibility Criteria – BOP – An Example</a:t>
            </a:r>
          </a:p>
        </p:txBody>
      </p:sp>
      <p:sp>
        <p:nvSpPr>
          <p:cNvPr id="4" name="Text Box 28"/>
          <p:cNvSpPr txBox="1">
            <a:spLocks noChangeArrowheads="1"/>
          </p:cNvSpPr>
          <p:nvPr/>
        </p:nvSpPr>
        <p:spPr bwMode="auto">
          <a:xfrm>
            <a:off x="381000" y="2474012"/>
            <a:ext cx="8153400" cy="2555188"/>
          </a:xfrm>
          <a:prstGeom prst="rect">
            <a:avLst/>
          </a:prstGeom>
          <a:noFill/>
          <a:ln w="12700" algn="ctr">
            <a:noFill/>
            <a:miter lim="800000"/>
            <a:headEnd/>
            <a:tailEnd/>
          </a:ln>
        </p:spPr>
        <p:txBody>
          <a:bodyPr wrap="square" lIns="92075" tIns="46038" rIns="92075" bIns="46038">
            <a:spAutoFit/>
          </a:bodyPr>
          <a:lstStyle/>
          <a:p>
            <a:r>
              <a:rPr lang="en-US" sz="1600" b="1" u="none" dirty="0">
                <a:solidFill>
                  <a:srgbClr val="C00000"/>
                </a:solidFill>
              </a:rPr>
              <a:t>Each of the risks have specific eligibility criteria to be offered protection under BOP:</a:t>
            </a:r>
          </a:p>
          <a:p>
            <a:endParaRPr lang="en-US" sz="1600" u="none" dirty="0">
              <a:solidFill>
                <a:schemeClr val="tx1">
                  <a:lumMod val="75000"/>
                  <a:lumOff val="25000"/>
                </a:schemeClr>
              </a:solidFill>
            </a:endParaRPr>
          </a:p>
          <a:p>
            <a:r>
              <a:rPr lang="en-US" sz="1600" b="1" dirty="0">
                <a:solidFill>
                  <a:schemeClr val="tx1">
                    <a:lumMod val="75000"/>
                    <a:lumOff val="25000"/>
                  </a:schemeClr>
                </a:solidFill>
              </a:rPr>
              <a:t>Example: For Restaurants to be covered under BOP</a:t>
            </a:r>
          </a:p>
          <a:p>
            <a:endParaRPr lang="en-US" sz="1600" dirty="0">
              <a:solidFill>
                <a:schemeClr val="tx1">
                  <a:lumMod val="75000"/>
                  <a:lumOff val="25000"/>
                </a:schemeClr>
              </a:solidFill>
            </a:endParaRPr>
          </a:p>
          <a:p>
            <a:pPr marL="0" lvl="1">
              <a:lnSpc>
                <a:spcPct val="150000"/>
              </a:lnSpc>
              <a:buClr>
                <a:srgbClr val="C00000"/>
              </a:buClr>
              <a:buFont typeface="Wingdings" pitchFamily="2" charset="2"/>
              <a:buChar char="v"/>
            </a:pPr>
            <a:r>
              <a:rPr lang="en-US" sz="1600" u="none" dirty="0">
                <a:solidFill>
                  <a:schemeClr val="tx1">
                    <a:lumMod val="75000"/>
                    <a:lumOff val="25000"/>
                  </a:schemeClr>
                </a:solidFill>
              </a:rPr>
              <a:t> </a:t>
            </a:r>
            <a:r>
              <a:rPr lang="en-US" sz="1600" dirty="0">
                <a:solidFill>
                  <a:schemeClr val="tx1">
                    <a:lumMod val="75000"/>
                    <a:lumOff val="25000"/>
                  </a:schemeClr>
                </a:solidFill>
              </a:rPr>
              <a:t>Total area of restaurant not to exceed 15,000 s ft</a:t>
            </a:r>
          </a:p>
          <a:p>
            <a:pPr marL="0" lvl="1">
              <a:lnSpc>
                <a:spcPct val="150000"/>
              </a:lnSpc>
              <a:buClr>
                <a:srgbClr val="C00000"/>
              </a:buClr>
              <a:buFont typeface="Wingdings" pitchFamily="2" charset="2"/>
              <a:buChar char="v"/>
            </a:pPr>
            <a:r>
              <a:rPr lang="en-US" sz="1600" dirty="0">
                <a:solidFill>
                  <a:schemeClr val="tx1">
                    <a:lumMod val="75000"/>
                    <a:lumOff val="25000"/>
                  </a:schemeClr>
                </a:solidFill>
              </a:rPr>
              <a:t> Sale of alcoholic beverages not to exceed 25% of total sales</a:t>
            </a:r>
          </a:p>
          <a:p>
            <a:pPr marL="0" lvl="1">
              <a:lnSpc>
                <a:spcPct val="150000"/>
              </a:lnSpc>
              <a:buClr>
                <a:srgbClr val="C00000"/>
              </a:buClr>
              <a:buFont typeface="Wingdings" pitchFamily="2" charset="2"/>
              <a:buChar char="v"/>
            </a:pPr>
            <a:r>
              <a:rPr lang="en-US" sz="1600" dirty="0">
                <a:solidFill>
                  <a:schemeClr val="tx1">
                    <a:lumMod val="75000"/>
                    <a:lumOff val="25000"/>
                  </a:schemeClr>
                </a:solidFill>
              </a:rPr>
              <a:t> Seasonal operations can not be closed for more than 30 consecutive days</a:t>
            </a:r>
          </a:p>
          <a:p>
            <a:pPr marL="0" lvl="1">
              <a:lnSpc>
                <a:spcPct val="150000"/>
              </a:lnSpc>
              <a:buClr>
                <a:srgbClr val="C00000"/>
              </a:buClr>
              <a:buFont typeface="Wingdings" pitchFamily="2" charset="2"/>
              <a:buChar char="v"/>
            </a:pPr>
            <a:r>
              <a:rPr lang="en-US" sz="1600" dirty="0">
                <a:solidFill>
                  <a:schemeClr val="tx1">
                    <a:lumMod val="75000"/>
                    <a:lumOff val="25000"/>
                  </a:schemeClr>
                </a:solidFill>
              </a:rPr>
              <a:t> Annual gross sales not to exceed $3 million at any Insured location</a:t>
            </a:r>
            <a:endParaRPr lang="en-US" sz="1600" u="none" dirty="0">
              <a:solidFill>
                <a:schemeClr val="tx1">
                  <a:lumMod val="75000"/>
                  <a:lumOff val="25000"/>
                </a:schemeClr>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6934200" y="6553200"/>
            <a:ext cx="2209800" cy="228600"/>
          </a:xfrm>
          <a:prstGeom prst="rect">
            <a:avLst/>
          </a:prstGeom>
        </p:spPr>
        <p:txBody>
          <a:bodyPr/>
          <a:lstStyle/>
          <a:p>
            <a:pPr algn="r" fontAlgn="auto">
              <a:spcBef>
                <a:spcPts val="0"/>
              </a:spcBef>
              <a:spcAft>
                <a:spcPts val="0"/>
              </a:spcAft>
              <a:defRPr/>
            </a:pPr>
            <a:fld id="{0F56061C-0A42-4038-98B8-AEE9439494E5}" type="slidenum">
              <a:rPr lang="en-US" sz="1400">
                <a:latin typeface="+mn-lt"/>
              </a:rPr>
              <a:pPr algn="r" fontAlgn="auto">
                <a:spcBef>
                  <a:spcPts val="0"/>
                </a:spcBef>
                <a:spcAft>
                  <a:spcPts val="0"/>
                </a:spcAft>
                <a:defRPr/>
              </a:pPr>
              <a:t>9</a:t>
            </a:fld>
            <a:endParaRPr lang="en-US" sz="1400" dirty="0">
              <a:latin typeface="+mn-lt"/>
            </a:endParaRPr>
          </a:p>
        </p:txBody>
      </p:sp>
      <p:sp>
        <p:nvSpPr>
          <p:cNvPr id="10" name="Rectangle 66"/>
          <p:cNvSpPr>
            <a:spLocks noChangeArrowheads="1"/>
          </p:cNvSpPr>
          <p:nvPr/>
        </p:nvSpPr>
        <p:spPr bwMode="auto">
          <a:xfrm>
            <a:off x="76200" y="152400"/>
            <a:ext cx="5867400" cy="400110"/>
          </a:xfrm>
          <a:prstGeom prst="rect">
            <a:avLst/>
          </a:prstGeom>
          <a:noFill/>
          <a:ln w="12700">
            <a:noFill/>
            <a:miter lim="800000"/>
            <a:headEnd/>
            <a:tailEnd/>
          </a:ln>
        </p:spPr>
        <p:txBody>
          <a:bodyPr wrap="square" anchor="ctr">
            <a:spAutoFit/>
          </a:bodyPr>
          <a:lstStyle/>
          <a:p>
            <a:pPr eaLnBrk="0" hangingPunct="0"/>
            <a:r>
              <a:rPr lang="en-US" sz="2000" dirty="0">
                <a:solidFill>
                  <a:schemeClr val="bg1"/>
                </a:solidFill>
              </a:rPr>
              <a:t> Business Owners Principal </a:t>
            </a:r>
            <a:r>
              <a:rPr lang="en-US" sz="2000" dirty="0" err="1">
                <a:solidFill>
                  <a:schemeClr val="bg1"/>
                </a:solidFill>
              </a:rPr>
              <a:t>Coverages</a:t>
            </a:r>
            <a:endParaRPr lang="en-US" sz="2000" dirty="0">
              <a:solidFill>
                <a:schemeClr val="bg1"/>
              </a:solidFill>
            </a:endParaRPr>
          </a:p>
        </p:txBody>
      </p:sp>
      <p:sp>
        <p:nvSpPr>
          <p:cNvPr id="4" name="Text Box 28"/>
          <p:cNvSpPr txBox="1">
            <a:spLocks noChangeArrowheads="1"/>
          </p:cNvSpPr>
          <p:nvPr/>
        </p:nvSpPr>
        <p:spPr bwMode="auto">
          <a:xfrm>
            <a:off x="720505" y="1558"/>
            <a:ext cx="8077200" cy="4894290"/>
          </a:xfrm>
          <a:prstGeom prst="rect">
            <a:avLst/>
          </a:prstGeom>
          <a:noFill/>
          <a:ln w="12700" algn="ctr">
            <a:noFill/>
            <a:miter lim="800000"/>
            <a:headEnd/>
            <a:tailEnd/>
          </a:ln>
        </p:spPr>
        <p:txBody>
          <a:bodyPr lIns="92075" tIns="46038" rIns="92075" bIns="46038">
            <a:spAutoFit/>
          </a:bodyPr>
          <a:lstStyle/>
          <a:p>
            <a:r>
              <a:rPr lang="en-US" sz="1600" u="none" dirty="0"/>
              <a:t> Coverage A - Buildings</a:t>
            </a:r>
          </a:p>
          <a:p>
            <a:endParaRPr lang="en-US" sz="1600" u="none" dirty="0"/>
          </a:p>
          <a:p>
            <a:r>
              <a:rPr lang="en-US" sz="1600" u="none" dirty="0"/>
              <a:t> Coverage B – Business Personal Property</a:t>
            </a:r>
          </a:p>
          <a:p>
            <a:endParaRPr lang="en-US" sz="1600" u="none" dirty="0"/>
          </a:p>
          <a:p>
            <a:r>
              <a:rPr lang="en-US" sz="1600" u="none" dirty="0"/>
              <a:t> Coverage C – Loss Of Income</a:t>
            </a:r>
          </a:p>
          <a:p>
            <a:endParaRPr lang="en-US" sz="1600" u="none" dirty="0"/>
          </a:p>
          <a:p>
            <a:r>
              <a:rPr lang="en-US" sz="1600" u="none" dirty="0"/>
              <a:t> Coverage L – Bodily Injury and Property Damage Liability</a:t>
            </a:r>
          </a:p>
          <a:p>
            <a:endParaRPr lang="en-US" sz="1600" u="none" dirty="0"/>
          </a:p>
          <a:p>
            <a:r>
              <a:rPr lang="en-US" sz="1600" u="none" dirty="0"/>
              <a:t> Coverage M – Medical Payments</a:t>
            </a:r>
          </a:p>
          <a:p>
            <a:endParaRPr lang="en-US" sz="1600" u="none" dirty="0"/>
          </a:p>
          <a:p>
            <a:r>
              <a:rPr lang="en-US" sz="1600" u="none" dirty="0"/>
              <a:t> Coverage N – Products and Completed Work</a:t>
            </a:r>
          </a:p>
          <a:p>
            <a:endParaRPr lang="en-US" sz="1600" u="none" dirty="0"/>
          </a:p>
          <a:p>
            <a:r>
              <a:rPr lang="en-US" sz="1600" u="none" dirty="0"/>
              <a:t> Coverage O – Fire Legal Liability</a:t>
            </a:r>
          </a:p>
          <a:p>
            <a:endParaRPr lang="en-US" sz="1600" u="none" dirty="0"/>
          </a:p>
          <a:p>
            <a:r>
              <a:rPr lang="en-US" sz="1600" u="none" dirty="0"/>
              <a:t> Coverage P – Personal and Advertising Injury Liability</a:t>
            </a:r>
          </a:p>
          <a:p>
            <a:endParaRPr lang="en-US" sz="1600" dirty="0"/>
          </a:p>
          <a:p>
            <a:r>
              <a:rPr lang="en-US" sz="1600" dirty="0">
                <a:latin typeface="Times New Roman" pitchFamily="18" charset="0"/>
              </a:rPr>
              <a:t>One of the ways to determine premium for Buildings, Business Personal Property Coverages can be referred to pages 27 to 34 of the doc.  </a:t>
            </a:r>
          </a:p>
          <a:p>
            <a:endParaRPr lang="en-US" sz="1600" dirty="0"/>
          </a:p>
        </p:txBody>
      </p:sp>
      <p:graphicFrame>
        <p:nvGraphicFramePr>
          <p:cNvPr id="1026" name="Object 2"/>
          <p:cNvGraphicFramePr>
            <a:graphicFrameLocks noChangeAspect="1"/>
          </p:cNvGraphicFramePr>
          <p:nvPr>
            <p:extLst>
              <p:ext uri="{D42A27DB-BD31-4B8C-83A1-F6EECF244321}">
                <p14:modId xmlns:p14="http://schemas.microsoft.com/office/powerpoint/2010/main" val="1750337919"/>
              </p:ext>
            </p:extLst>
          </p:nvPr>
        </p:nvGraphicFramePr>
        <p:xfrm>
          <a:off x="5604850" y="4896511"/>
          <a:ext cx="1910281" cy="1495236"/>
        </p:xfrm>
        <a:graphic>
          <a:graphicData uri="http://schemas.openxmlformats.org/presentationml/2006/ole">
            <mc:AlternateContent xmlns:mc="http://schemas.openxmlformats.org/markup-compatibility/2006">
              <mc:Choice xmlns:v="urn:schemas-microsoft-com:vml" Requires="v">
                <p:oleObj spid="_x0000_s1034" name="Acrobat Document" showAsIcon="1" r:id="rId4" imgW="914400" imgH="714240" progId="AcroExch.Document.11">
                  <p:embed/>
                </p:oleObj>
              </mc:Choice>
              <mc:Fallback>
                <p:oleObj name="Acrobat Document" showAsIcon="1" r:id="rId4" imgW="914400" imgH="714240" progId="AcroExch.Document.11">
                  <p:embed/>
                  <p:pic>
                    <p:nvPicPr>
                      <p:cNvPr id="0" name="Picture 2"/>
                      <p:cNvPicPr>
                        <a:picLocks noChangeAspect="1" noChangeArrowheads="1"/>
                      </p:cNvPicPr>
                      <p:nvPr/>
                    </p:nvPicPr>
                    <p:blipFill>
                      <a:blip r:embed="rId5"/>
                      <a:srcRect/>
                      <a:stretch>
                        <a:fillRect/>
                      </a:stretch>
                    </p:blipFill>
                    <p:spPr bwMode="auto">
                      <a:xfrm>
                        <a:off x="5604850" y="4896511"/>
                        <a:ext cx="1910281" cy="1495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6934200" y="6553200"/>
            <a:ext cx="2209800" cy="228600"/>
          </a:xfrm>
          <a:prstGeom prst="rect">
            <a:avLst/>
          </a:prstGeom>
        </p:spPr>
        <p:txBody>
          <a:bodyPr/>
          <a:lstStyle/>
          <a:p>
            <a:pPr algn="r" fontAlgn="auto">
              <a:spcBef>
                <a:spcPts val="0"/>
              </a:spcBef>
              <a:spcAft>
                <a:spcPts val="0"/>
              </a:spcAft>
              <a:defRPr/>
            </a:pPr>
            <a:fld id="{0F56061C-0A42-4038-98B8-AEE9439494E5}" type="slidenum">
              <a:rPr lang="en-US" sz="1400">
                <a:latin typeface="+mn-lt"/>
              </a:rPr>
              <a:pPr algn="r" fontAlgn="auto">
                <a:spcBef>
                  <a:spcPts val="0"/>
                </a:spcBef>
                <a:spcAft>
                  <a:spcPts val="0"/>
                </a:spcAft>
                <a:defRPr/>
              </a:pPr>
              <a:t>10</a:t>
            </a:fld>
            <a:endParaRPr lang="en-US" sz="1400" dirty="0">
              <a:latin typeface="+mn-lt"/>
            </a:endParaRPr>
          </a:p>
        </p:txBody>
      </p:sp>
      <p:sp>
        <p:nvSpPr>
          <p:cNvPr id="10" name="Rectangle 66"/>
          <p:cNvSpPr>
            <a:spLocks noChangeArrowheads="1"/>
          </p:cNvSpPr>
          <p:nvPr/>
        </p:nvSpPr>
        <p:spPr bwMode="auto">
          <a:xfrm>
            <a:off x="76200" y="152400"/>
            <a:ext cx="5867400" cy="400110"/>
          </a:xfrm>
          <a:prstGeom prst="rect">
            <a:avLst/>
          </a:prstGeom>
          <a:noFill/>
          <a:ln w="12700">
            <a:noFill/>
            <a:miter lim="800000"/>
            <a:headEnd/>
            <a:tailEnd/>
          </a:ln>
        </p:spPr>
        <p:txBody>
          <a:bodyPr wrap="square" anchor="ctr">
            <a:spAutoFit/>
          </a:bodyPr>
          <a:lstStyle/>
          <a:p>
            <a:pPr eaLnBrk="0" hangingPunct="0"/>
            <a:r>
              <a:rPr lang="en-US" sz="2000" dirty="0">
                <a:solidFill>
                  <a:schemeClr val="bg1"/>
                </a:solidFill>
              </a:rPr>
              <a:t> Business Owners Limits</a:t>
            </a:r>
          </a:p>
        </p:txBody>
      </p:sp>
      <p:sp>
        <p:nvSpPr>
          <p:cNvPr id="4" name="Text Box 28"/>
          <p:cNvSpPr txBox="1">
            <a:spLocks noChangeArrowheads="1"/>
          </p:cNvSpPr>
          <p:nvPr/>
        </p:nvSpPr>
        <p:spPr bwMode="auto">
          <a:xfrm>
            <a:off x="609600" y="1219200"/>
            <a:ext cx="7086600" cy="1816524"/>
          </a:xfrm>
          <a:prstGeom prst="rect">
            <a:avLst/>
          </a:prstGeom>
          <a:noFill/>
          <a:ln w="12700" algn="ctr">
            <a:noFill/>
            <a:miter lim="800000"/>
            <a:headEnd/>
            <a:tailEnd/>
          </a:ln>
        </p:spPr>
        <p:txBody>
          <a:bodyPr wrap="square" lIns="92075" tIns="46038" rIns="92075" bIns="46038">
            <a:spAutoFit/>
          </a:bodyPr>
          <a:lstStyle/>
          <a:p>
            <a:r>
              <a:rPr lang="en-US" sz="1600" b="1" u="none" dirty="0">
                <a:solidFill>
                  <a:srgbClr val="C00000"/>
                </a:solidFill>
              </a:rPr>
              <a:t>Property Damage Limits:</a:t>
            </a:r>
          </a:p>
          <a:p>
            <a:endParaRPr lang="en-US" sz="1600" b="1" u="none" dirty="0"/>
          </a:p>
          <a:p>
            <a:r>
              <a:rPr lang="en-US" sz="1600" u="none" dirty="0"/>
              <a:t>Coverage A – Full replacement value of the insured buildings</a:t>
            </a:r>
          </a:p>
          <a:p>
            <a:endParaRPr lang="en-US" sz="1600" u="none" dirty="0"/>
          </a:p>
          <a:p>
            <a:r>
              <a:rPr lang="en-US" sz="1600" u="none" dirty="0"/>
              <a:t>Coverage B – Full replacement value of the insured business personal property</a:t>
            </a:r>
          </a:p>
          <a:p>
            <a:endParaRPr lang="en-US" sz="1600" u="none" dirty="0"/>
          </a:p>
          <a:p>
            <a:r>
              <a:rPr lang="en-US" sz="1600" u="none" dirty="0"/>
              <a:t>Coverage C –  20% of Coverage A limit + 100% of Coverage B limit</a:t>
            </a:r>
            <a:endParaRPr lang="en-US" sz="1600" dirty="0"/>
          </a:p>
        </p:txBody>
      </p:sp>
      <p:pic>
        <p:nvPicPr>
          <p:cNvPr id="5" name="Picture 4" descr="42-19755524.jpg"/>
          <p:cNvPicPr>
            <a:picLocks noChangeAspect="1"/>
          </p:cNvPicPr>
          <p:nvPr/>
        </p:nvPicPr>
        <p:blipFill>
          <a:blip r:embed="rId3" cstate="print"/>
          <a:stretch>
            <a:fillRect/>
          </a:stretch>
        </p:blipFill>
        <p:spPr>
          <a:xfrm>
            <a:off x="6324600" y="3352800"/>
            <a:ext cx="1219200" cy="183338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6" name="Rectangle 5"/>
          <p:cNvSpPr/>
          <p:nvPr/>
        </p:nvSpPr>
        <p:spPr>
          <a:xfrm>
            <a:off x="762000" y="3657600"/>
            <a:ext cx="4572000" cy="1354217"/>
          </a:xfrm>
          <a:prstGeom prst="rect">
            <a:avLst/>
          </a:prstGeom>
        </p:spPr>
        <p:txBody>
          <a:bodyPr>
            <a:spAutoFit/>
          </a:bodyPr>
          <a:lstStyle/>
          <a:p>
            <a:pPr>
              <a:buFont typeface="Arial" pitchFamily="34" charset="0"/>
              <a:buChar char="•"/>
            </a:pPr>
            <a:r>
              <a:rPr lang="en-US" dirty="0"/>
              <a:t> </a:t>
            </a:r>
            <a:r>
              <a:rPr lang="en-US" sz="1600" dirty="0"/>
              <a:t>Each Occurrence Limit – $300,000</a:t>
            </a:r>
          </a:p>
          <a:p>
            <a:pPr>
              <a:buFont typeface="Arial" pitchFamily="34" charset="0"/>
              <a:buChar char="•"/>
            </a:pPr>
            <a:endParaRPr lang="en-US" sz="1600" dirty="0"/>
          </a:p>
          <a:p>
            <a:pPr>
              <a:buFont typeface="Arial" pitchFamily="34" charset="0"/>
              <a:buChar char="•"/>
            </a:pPr>
            <a:r>
              <a:rPr lang="en-US" sz="1600" dirty="0"/>
              <a:t>  Medical Payments – $5,000/each person</a:t>
            </a:r>
          </a:p>
          <a:p>
            <a:pPr>
              <a:buFont typeface="Arial" pitchFamily="34" charset="0"/>
              <a:buChar char="•"/>
            </a:pPr>
            <a:endParaRPr lang="en-US" sz="1600" dirty="0"/>
          </a:p>
          <a:p>
            <a:pPr>
              <a:buFont typeface="Arial" pitchFamily="34" charset="0"/>
              <a:buChar char="•"/>
            </a:pPr>
            <a:r>
              <a:rPr lang="en-US" sz="1600" dirty="0"/>
              <a:t>  Fire Legal Liability – $50,000/each occurrence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6934200" y="6553200"/>
            <a:ext cx="2209800" cy="228600"/>
          </a:xfrm>
          <a:prstGeom prst="rect">
            <a:avLst/>
          </a:prstGeom>
        </p:spPr>
        <p:txBody>
          <a:bodyPr/>
          <a:lstStyle/>
          <a:p>
            <a:pPr algn="r" fontAlgn="auto">
              <a:spcBef>
                <a:spcPts val="0"/>
              </a:spcBef>
              <a:spcAft>
                <a:spcPts val="0"/>
              </a:spcAft>
              <a:defRPr/>
            </a:pPr>
            <a:fld id="{0F56061C-0A42-4038-98B8-AEE9439494E5}" type="slidenum">
              <a:rPr lang="en-US" sz="1400">
                <a:latin typeface="+mn-lt"/>
              </a:rPr>
              <a:pPr algn="r" fontAlgn="auto">
                <a:spcBef>
                  <a:spcPts val="0"/>
                </a:spcBef>
                <a:spcAft>
                  <a:spcPts val="0"/>
                </a:spcAft>
                <a:defRPr/>
              </a:pPr>
              <a:t>11</a:t>
            </a:fld>
            <a:endParaRPr lang="en-US" sz="1400" dirty="0">
              <a:latin typeface="+mn-lt"/>
            </a:endParaRPr>
          </a:p>
        </p:txBody>
      </p:sp>
      <p:sp>
        <p:nvSpPr>
          <p:cNvPr id="10" name="Rectangle 66"/>
          <p:cNvSpPr>
            <a:spLocks noChangeArrowheads="1"/>
          </p:cNvSpPr>
          <p:nvPr/>
        </p:nvSpPr>
        <p:spPr bwMode="auto">
          <a:xfrm>
            <a:off x="76200" y="152400"/>
            <a:ext cx="5867400" cy="400110"/>
          </a:xfrm>
          <a:prstGeom prst="rect">
            <a:avLst/>
          </a:prstGeom>
          <a:noFill/>
          <a:ln w="12700">
            <a:noFill/>
            <a:miter lim="800000"/>
            <a:headEnd/>
            <a:tailEnd/>
          </a:ln>
        </p:spPr>
        <p:txBody>
          <a:bodyPr wrap="square" anchor="ctr">
            <a:spAutoFit/>
          </a:bodyPr>
          <a:lstStyle/>
          <a:p>
            <a:pPr eaLnBrk="0" hangingPunct="0"/>
            <a:r>
              <a:rPr lang="en-US" sz="2000" dirty="0">
                <a:solidFill>
                  <a:schemeClr val="bg1"/>
                </a:solidFill>
              </a:rPr>
              <a:t>Construction Types</a:t>
            </a:r>
          </a:p>
        </p:txBody>
      </p:sp>
      <p:sp>
        <p:nvSpPr>
          <p:cNvPr id="4" name="Rectangle 2"/>
          <p:cNvSpPr txBox="1">
            <a:spLocks noChangeArrowheads="1"/>
          </p:cNvSpPr>
          <p:nvPr/>
        </p:nvSpPr>
        <p:spPr bwMode="auto">
          <a:xfrm>
            <a:off x="228600" y="2057400"/>
            <a:ext cx="8686800" cy="3505200"/>
          </a:xfrm>
          <a:prstGeom prst="rect">
            <a:avLst/>
          </a:prstGeom>
          <a:noFill/>
          <a:ln>
            <a:miter lim="800000"/>
            <a:headEnd/>
            <a:tailEnd/>
          </a:ln>
        </p:spPr>
        <p:txBody>
          <a:bodyPr vert="horz" lIns="91440" tIns="45720" rIns="91440" bIns="45720" rtlCol="0">
            <a:noAutofit/>
          </a:bodyPr>
          <a:lstStyle/>
          <a:p>
            <a:pPr marL="342900" marR="0" lvl="0" indent="-342900" algn="l" defTabSz="914400" rtl="0" eaLnBrk="1" fontAlgn="auto" latinLnBrk="0" hangingPunct="1">
              <a:lnSpc>
                <a:spcPct val="120000"/>
              </a:lnSpc>
              <a:spcBef>
                <a:spcPct val="20000"/>
              </a:spcBef>
              <a:spcAft>
                <a:spcPts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mn-lt"/>
                <a:ea typeface="+mn-ea"/>
                <a:cs typeface="+mn-cs"/>
              </a:rPr>
              <a:t>Frame </a:t>
            </a:r>
          </a:p>
          <a:p>
            <a:pPr marL="342900" marR="0" lvl="0" indent="-342900" algn="l" defTabSz="914400" rtl="0" eaLnBrk="1" fontAlgn="auto" latinLnBrk="0" hangingPunct="1">
              <a:lnSpc>
                <a:spcPct val="120000"/>
              </a:lnSpc>
              <a:spcBef>
                <a:spcPct val="20000"/>
              </a:spcBef>
              <a:spcAft>
                <a:spcPts val="0"/>
              </a:spcAft>
              <a:buClrTx/>
              <a:buSzTx/>
              <a:buFontTx/>
              <a:buNone/>
              <a:tabLst/>
              <a:defRPr/>
            </a:pP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	Exterior walls of wood or other combustible materials</a:t>
            </a:r>
          </a:p>
          <a:p>
            <a:pPr marL="342900" marR="0" lvl="0" indent="-342900" algn="l" defTabSz="914400" rtl="0" eaLnBrk="1" fontAlgn="auto" latinLnBrk="0" hangingPunct="1">
              <a:lnSpc>
                <a:spcPct val="120000"/>
              </a:lnSpc>
              <a:spcBef>
                <a:spcPct val="20000"/>
              </a:spcBef>
              <a:spcAft>
                <a:spcPts val="0"/>
              </a:spcAft>
              <a:buClrTx/>
              <a:buSzTx/>
              <a:buFontTx/>
              <a:buNone/>
              <a:tabLst/>
              <a:defRPr/>
            </a:pPr>
            <a:endPar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a:p>
            <a:pPr marL="342900" marR="0" lvl="0" indent="-342900" algn="l" defTabSz="914400" rtl="0" eaLnBrk="1" fontAlgn="auto" latinLnBrk="0" hangingPunct="1">
              <a:lnSpc>
                <a:spcPct val="120000"/>
              </a:lnSpc>
              <a:spcBef>
                <a:spcPct val="20000"/>
              </a:spcBef>
              <a:spcAft>
                <a:spcPts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mn-lt"/>
                <a:ea typeface="+mn-ea"/>
                <a:cs typeface="+mn-cs"/>
              </a:rPr>
              <a:t>Joisted Masonry </a:t>
            </a:r>
          </a:p>
          <a:p>
            <a:pPr marL="342900" marR="0" lvl="0" indent="-342900" algn="l" defTabSz="914400" rtl="0" eaLnBrk="1" fontAlgn="auto" latinLnBrk="0" hangingPunct="1">
              <a:lnSpc>
                <a:spcPct val="120000"/>
              </a:lnSpc>
              <a:spcBef>
                <a:spcPct val="20000"/>
              </a:spcBef>
              <a:spcAft>
                <a:spcPts val="0"/>
              </a:spcAft>
              <a:buClrTx/>
              <a:buSzTx/>
              <a:buFontTx/>
              <a:buNone/>
              <a:tabLst/>
              <a:defRPr/>
            </a:pP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	Exterior walls are constructed of masonry materials such as brick, concrete or similar material, and the floors and roof are combustible</a:t>
            </a:r>
          </a:p>
          <a:p>
            <a:pPr marL="342900" marR="0" lvl="0" indent="-342900" algn="l" defTabSz="914400" rtl="0" eaLnBrk="1" fontAlgn="auto" latinLnBrk="0" hangingPunct="1">
              <a:lnSpc>
                <a:spcPct val="120000"/>
              </a:lnSpc>
              <a:spcBef>
                <a:spcPct val="20000"/>
              </a:spcBef>
              <a:spcAft>
                <a:spcPts val="0"/>
              </a:spcAft>
              <a:buClrTx/>
              <a:buSzTx/>
              <a:buFontTx/>
              <a:buNone/>
              <a:tabLst/>
              <a:defRPr/>
            </a:pPr>
            <a:endPar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a:p>
            <a:pPr marL="342900" marR="0" lvl="0" indent="-342900" algn="l" defTabSz="914400" rtl="0" eaLnBrk="1" fontAlgn="auto" latinLnBrk="0" hangingPunct="1">
              <a:lnSpc>
                <a:spcPct val="120000"/>
              </a:lnSpc>
              <a:spcBef>
                <a:spcPct val="20000"/>
              </a:spcBef>
              <a:spcAft>
                <a:spcPts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mn-lt"/>
                <a:ea typeface="+mn-ea"/>
                <a:cs typeface="+mn-cs"/>
              </a:rPr>
              <a:t>Non-Combustible </a:t>
            </a:r>
          </a:p>
          <a:p>
            <a:pPr marL="342900" marR="0" lvl="0" indent="-342900" algn="l" defTabSz="914400" rtl="0" eaLnBrk="1" fontAlgn="auto" latinLnBrk="0" hangingPunct="1">
              <a:lnSpc>
                <a:spcPct val="120000"/>
              </a:lnSpc>
              <a:spcBef>
                <a:spcPct val="20000"/>
              </a:spcBef>
              <a:spcAft>
                <a:spcPts val="0"/>
              </a:spcAft>
              <a:buClrTx/>
              <a:buSzTx/>
              <a:buFontTx/>
              <a:buNone/>
              <a:tabLst/>
              <a:defRPr/>
            </a:pP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	Exterior walls and the floors and roof are constructed of and supported by metal, asbestos, gypsum or other non-combustible materials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6934200" y="6553200"/>
            <a:ext cx="2209800" cy="228600"/>
          </a:xfrm>
          <a:prstGeom prst="rect">
            <a:avLst/>
          </a:prstGeom>
        </p:spPr>
        <p:txBody>
          <a:bodyPr/>
          <a:lstStyle/>
          <a:p>
            <a:pPr algn="r" fontAlgn="auto">
              <a:spcBef>
                <a:spcPts val="0"/>
              </a:spcBef>
              <a:spcAft>
                <a:spcPts val="0"/>
              </a:spcAft>
              <a:defRPr/>
            </a:pPr>
            <a:fld id="{0F56061C-0A42-4038-98B8-AEE9439494E5}" type="slidenum">
              <a:rPr lang="en-US" sz="1400">
                <a:latin typeface="+mn-lt"/>
              </a:rPr>
              <a:pPr algn="r" fontAlgn="auto">
                <a:spcBef>
                  <a:spcPts val="0"/>
                </a:spcBef>
                <a:spcAft>
                  <a:spcPts val="0"/>
                </a:spcAft>
                <a:defRPr/>
              </a:pPr>
              <a:t>12</a:t>
            </a:fld>
            <a:endParaRPr lang="en-US" sz="1400" dirty="0">
              <a:latin typeface="+mn-lt"/>
            </a:endParaRPr>
          </a:p>
        </p:txBody>
      </p:sp>
      <p:sp>
        <p:nvSpPr>
          <p:cNvPr id="10" name="Rectangle 66"/>
          <p:cNvSpPr>
            <a:spLocks noChangeArrowheads="1"/>
          </p:cNvSpPr>
          <p:nvPr/>
        </p:nvSpPr>
        <p:spPr bwMode="auto">
          <a:xfrm>
            <a:off x="76200" y="152400"/>
            <a:ext cx="5867400" cy="400110"/>
          </a:xfrm>
          <a:prstGeom prst="rect">
            <a:avLst/>
          </a:prstGeom>
          <a:noFill/>
          <a:ln w="12700">
            <a:noFill/>
            <a:miter lim="800000"/>
            <a:headEnd/>
            <a:tailEnd/>
          </a:ln>
        </p:spPr>
        <p:txBody>
          <a:bodyPr wrap="square" anchor="ctr">
            <a:spAutoFit/>
          </a:bodyPr>
          <a:lstStyle/>
          <a:p>
            <a:pPr eaLnBrk="0" hangingPunct="0"/>
            <a:r>
              <a:rPr lang="en-US" sz="2000" dirty="0">
                <a:solidFill>
                  <a:schemeClr val="bg1"/>
                </a:solidFill>
              </a:rPr>
              <a:t>Construction Types</a:t>
            </a:r>
          </a:p>
        </p:txBody>
      </p:sp>
      <p:sp>
        <p:nvSpPr>
          <p:cNvPr id="4" name="Rectangle 3"/>
          <p:cNvSpPr txBox="1">
            <a:spLocks noChangeArrowheads="1"/>
          </p:cNvSpPr>
          <p:nvPr/>
        </p:nvSpPr>
        <p:spPr bwMode="auto">
          <a:xfrm>
            <a:off x="304800" y="2286000"/>
            <a:ext cx="8229600" cy="2819400"/>
          </a:xfrm>
          <a:prstGeom prst="rect">
            <a:avLst/>
          </a:prstGeom>
          <a:noFill/>
          <a:ln>
            <a:miter lim="800000"/>
            <a:headEnd/>
            <a:tailEnd/>
          </a:ln>
        </p:spPr>
        <p:txBody>
          <a:bodyPr vert="horz" lIns="91440" tIns="45720" rIns="91440" bIns="45720" rtlCol="0">
            <a:normAutofit/>
          </a:bodyPr>
          <a:lstStyle/>
          <a:p>
            <a:pPr marL="342900" marR="0" lvl="0" indent="-342900" algn="l" defTabSz="914400" rtl="0" eaLnBrk="1" fontAlgn="auto" latinLnBrk="0" hangingPunct="1">
              <a:lnSpc>
                <a:spcPct val="80000"/>
              </a:lnSpc>
              <a:spcBef>
                <a:spcPct val="20000"/>
              </a:spcBef>
              <a:spcAft>
                <a:spcPts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mn-lt"/>
                <a:ea typeface="+mn-ea"/>
                <a:cs typeface="+mn-cs"/>
              </a:rPr>
              <a:t>Masonry Non-Combustible </a:t>
            </a:r>
          </a:p>
          <a:p>
            <a:pPr marL="342900" marR="0" lvl="0" indent="-342900" algn="l" defTabSz="914400" rtl="0" eaLnBrk="1" fontAlgn="auto" latinLnBrk="0" hangingPunct="1">
              <a:lnSpc>
                <a:spcPct val="80000"/>
              </a:lnSpc>
              <a:spcBef>
                <a:spcPct val="20000"/>
              </a:spcBef>
              <a:spcAft>
                <a:spcPts val="0"/>
              </a:spcAft>
              <a:buClrTx/>
              <a:buSzTx/>
              <a:buFontTx/>
              <a:buNone/>
              <a:tabLst/>
              <a:defRPr/>
            </a:pP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	Exterior walls are constructed of masonry materials such as adobe, brick, concrete, gypsum block, hollow concrete block, stone, tile or similar material, with the floors and roof of metal or other non-combustible materials</a:t>
            </a:r>
          </a:p>
          <a:p>
            <a:pPr marL="342900" marR="0" lvl="0" indent="-342900" algn="l" defTabSz="914400" rtl="0" eaLnBrk="1" fontAlgn="auto" latinLnBrk="0" hangingPunct="1">
              <a:lnSpc>
                <a:spcPct val="80000"/>
              </a:lnSpc>
              <a:spcBef>
                <a:spcPct val="20000"/>
              </a:spcBef>
              <a:spcAft>
                <a:spcPts val="0"/>
              </a:spcAft>
              <a:buClrTx/>
              <a:buSzTx/>
              <a:buFontTx/>
              <a:buNone/>
              <a:tabLst/>
              <a:defRPr/>
            </a:pPr>
            <a:endPar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a:p>
            <a:pPr marL="342900" marR="0" lvl="0" indent="-342900" algn="l" defTabSz="914400" rtl="0" eaLnBrk="1" fontAlgn="auto" latinLnBrk="0" hangingPunct="1">
              <a:lnSpc>
                <a:spcPct val="80000"/>
              </a:lnSpc>
              <a:spcBef>
                <a:spcPct val="20000"/>
              </a:spcBef>
              <a:spcAft>
                <a:spcPts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mn-lt"/>
                <a:ea typeface="+mn-ea"/>
                <a:cs typeface="+mn-cs"/>
              </a:rPr>
              <a:t>Modified Fire Resistive </a:t>
            </a:r>
          </a:p>
          <a:p>
            <a:pPr marL="342900" marR="0" lvl="0" indent="-342900" algn="l" defTabSz="914400" rtl="0" eaLnBrk="1" fontAlgn="auto" latinLnBrk="0" hangingPunct="1">
              <a:lnSpc>
                <a:spcPct val="80000"/>
              </a:lnSpc>
              <a:spcBef>
                <a:spcPct val="20000"/>
              </a:spcBef>
              <a:spcAft>
                <a:spcPts val="0"/>
              </a:spcAft>
              <a:buClrTx/>
              <a:buSzTx/>
              <a:buFontTx/>
              <a:buNone/>
              <a:tabLst/>
              <a:defRPr/>
            </a:pP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	Exterior walls, floors and roof are constructed of masonry or fire resistive materials, with a fire resistance rating of one hour or more but less than two hours</a:t>
            </a:r>
          </a:p>
          <a:p>
            <a:pPr marL="342900" marR="0" lvl="0" indent="-342900" algn="l" defTabSz="914400" rtl="0" eaLnBrk="1" fontAlgn="auto" latinLnBrk="0" hangingPunct="1">
              <a:lnSpc>
                <a:spcPct val="80000"/>
              </a:lnSpc>
              <a:spcBef>
                <a:spcPct val="20000"/>
              </a:spcBef>
              <a:spcAft>
                <a:spcPts val="0"/>
              </a:spcAft>
              <a:buClrTx/>
              <a:buSzTx/>
              <a:buFontTx/>
              <a:buNone/>
              <a:tabLst/>
              <a:defRPr/>
            </a:pPr>
            <a:endPar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a:p>
            <a:pPr marL="342900" marR="0" lvl="0" indent="-342900" algn="l" defTabSz="914400" rtl="0" eaLnBrk="1" fontAlgn="auto" latinLnBrk="0" hangingPunct="1">
              <a:lnSpc>
                <a:spcPct val="80000"/>
              </a:lnSpc>
              <a:spcBef>
                <a:spcPct val="20000"/>
              </a:spcBef>
              <a:spcAft>
                <a:spcPts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mn-lt"/>
                <a:ea typeface="+mn-ea"/>
                <a:cs typeface="+mn-cs"/>
              </a:rPr>
              <a:t>Fire Resistive </a:t>
            </a:r>
          </a:p>
          <a:p>
            <a:pPr marL="342900" marR="0" lvl="0" indent="-342900" algn="l" defTabSz="914400" rtl="0" eaLnBrk="1" fontAlgn="auto" latinLnBrk="0" hangingPunct="1">
              <a:lnSpc>
                <a:spcPct val="80000"/>
              </a:lnSpc>
              <a:spcBef>
                <a:spcPct val="20000"/>
              </a:spcBef>
              <a:spcAft>
                <a:spcPts val="0"/>
              </a:spcAft>
              <a:buClrTx/>
              <a:buSzTx/>
              <a:buFontTx/>
              <a:buNone/>
              <a:tabLst/>
              <a:defRPr/>
            </a:pP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	Exterior walls, floors and roof are constructed of masonry or other fire resistive materials, with a fire resistance rating of not less than two hours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6934200" y="6553200"/>
            <a:ext cx="2209800" cy="228600"/>
          </a:xfrm>
          <a:prstGeom prst="rect">
            <a:avLst/>
          </a:prstGeom>
        </p:spPr>
        <p:txBody>
          <a:bodyPr/>
          <a:lstStyle/>
          <a:p>
            <a:pPr algn="r" fontAlgn="auto">
              <a:spcBef>
                <a:spcPts val="0"/>
              </a:spcBef>
              <a:spcAft>
                <a:spcPts val="0"/>
              </a:spcAft>
              <a:defRPr/>
            </a:pPr>
            <a:fld id="{0F56061C-0A42-4038-98B8-AEE9439494E5}" type="slidenum">
              <a:rPr lang="en-US" sz="1400">
                <a:latin typeface="+mn-lt"/>
              </a:rPr>
              <a:pPr algn="r" fontAlgn="auto">
                <a:spcBef>
                  <a:spcPts val="0"/>
                </a:spcBef>
                <a:spcAft>
                  <a:spcPts val="0"/>
                </a:spcAft>
                <a:defRPr/>
              </a:pPr>
              <a:t>13</a:t>
            </a:fld>
            <a:endParaRPr lang="en-US" sz="1400" dirty="0">
              <a:latin typeface="+mn-lt"/>
            </a:endParaRPr>
          </a:p>
        </p:txBody>
      </p:sp>
      <p:sp>
        <p:nvSpPr>
          <p:cNvPr id="10" name="Rectangle 66"/>
          <p:cNvSpPr>
            <a:spLocks noChangeArrowheads="1"/>
          </p:cNvSpPr>
          <p:nvPr/>
        </p:nvSpPr>
        <p:spPr bwMode="auto">
          <a:xfrm>
            <a:off x="76200" y="152400"/>
            <a:ext cx="5867400" cy="400110"/>
          </a:xfrm>
          <a:prstGeom prst="rect">
            <a:avLst/>
          </a:prstGeom>
          <a:noFill/>
          <a:ln w="12700">
            <a:noFill/>
            <a:miter lim="800000"/>
            <a:headEnd/>
            <a:tailEnd/>
          </a:ln>
        </p:spPr>
        <p:txBody>
          <a:bodyPr wrap="square" anchor="ctr">
            <a:spAutoFit/>
          </a:bodyPr>
          <a:lstStyle/>
          <a:p>
            <a:pPr eaLnBrk="0" hangingPunct="0"/>
            <a:r>
              <a:rPr lang="en-US" sz="2000" dirty="0">
                <a:solidFill>
                  <a:schemeClr val="bg1"/>
                </a:solidFill>
              </a:rPr>
              <a:t>Grading and Risk Classification</a:t>
            </a:r>
          </a:p>
        </p:txBody>
      </p:sp>
      <p:sp>
        <p:nvSpPr>
          <p:cNvPr id="4" name="Rectangle 2"/>
          <p:cNvSpPr txBox="1">
            <a:spLocks noChangeArrowheads="1"/>
          </p:cNvSpPr>
          <p:nvPr/>
        </p:nvSpPr>
        <p:spPr bwMode="auto">
          <a:xfrm>
            <a:off x="304800" y="2514600"/>
            <a:ext cx="8229600" cy="2514600"/>
          </a:xfrm>
          <a:prstGeom prst="rect">
            <a:avLst/>
          </a:prstGeom>
          <a:noFill/>
          <a:ln>
            <a:miter lim="800000"/>
            <a:headEnd/>
            <a:tailEnd/>
          </a:ln>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mn-lt"/>
                <a:ea typeface="+mn-ea"/>
                <a:cs typeface="+mn-cs"/>
              </a:rPr>
              <a:t>Building Code Effectiveness Grading</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The Building Code Effectiveness Grading Schedule develops grades of 1 to 10 for a community</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based on the adequacy of its building code and the effectiveness of its enforcement of that code. </a:t>
            </a:r>
          </a:p>
          <a:p>
            <a:pPr marL="342900" marR="0" lvl="0" indent="-342900" algn="l" defTabSz="914400" rtl="0" eaLnBrk="1" fontAlgn="auto" latinLnBrk="0" hangingPunct="1">
              <a:lnSpc>
                <a:spcPct val="100000"/>
              </a:lnSpc>
              <a:spcBef>
                <a:spcPct val="20000"/>
              </a:spcBef>
              <a:spcAft>
                <a:spcPts val="0"/>
              </a:spcAft>
              <a:buClrTx/>
              <a:buSzTx/>
              <a:buFontTx/>
              <a:buNone/>
              <a:tabLst/>
              <a:defRPr/>
            </a:pPr>
            <a:endPar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mn-lt"/>
                <a:ea typeface="+mn-ea"/>
                <a:cs typeface="+mn-cs"/>
              </a:rPr>
              <a:t>Public Protection (Fire) Classification</a:t>
            </a:r>
            <a:r>
              <a:rPr kumimoji="0" lang="en-US" sz="1600" b="0" i="0" u="none" strike="noStrike" kern="1200" cap="none" spc="0" normalizeH="0" baseline="0" noProof="0" dirty="0">
                <a:ln>
                  <a:noFill/>
                </a:ln>
                <a:solidFill>
                  <a:srgbClr val="C00000"/>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Class 1 - Represents exemplary public protection</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Class 10 - indicates that the area's fire-suppression program doesn't meet ISO's minimum criteria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6934200" y="6553200"/>
            <a:ext cx="2209800" cy="228600"/>
          </a:xfrm>
          <a:prstGeom prst="rect">
            <a:avLst/>
          </a:prstGeom>
        </p:spPr>
        <p:txBody>
          <a:bodyPr/>
          <a:lstStyle/>
          <a:p>
            <a:pPr algn="r" fontAlgn="auto">
              <a:spcBef>
                <a:spcPts val="0"/>
              </a:spcBef>
              <a:spcAft>
                <a:spcPts val="0"/>
              </a:spcAft>
              <a:defRPr/>
            </a:pPr>
            <a:fld id="{0F56061C-0A42-4038-98B8-AEE9439494E5}" type="slidenum">
              <a:rPr lang="en-US" sz="1400">
                <a:latin typeface="+mn-lt"/>
              </a:rPr>
              <a:pPr algn="r" fontAlgn="auto">
                <a:spcBef>
                  <a:spcPts val="0"/>
                </a:spcBef>
                <a:spcAft>
                  <a:spcPts val="0"/>
                </a:spcAft>
                <a:defRPr/>
              </a:pPr>
              <a:t>14</a:t>
            </a:fld>
            <a:endParaRPr lang="en-US" sz="1400" dirty="0">
              <a:latin typeface="+mn-lt"/>
            </a:endParaRPr>
          </a:p>
        </p:txBody>
      </p:sp>
      <p:sp>
        <p:nvSpPr>
          <p:cNvPr id="10" name="Rectangle 66"/>
          <p:cNvSpPr>
            <a:spLocks noChangeArrowheads="1"/>
          </p:cNvSpPr>
          <p:nvPr/>
        </p:nvSpPr>
        <p:spPr bwMode="auto">
          <a:xfrm>
            <a:off x="76200" y="152400"/>
            <a:ext cx="5867400" cy="400110"/>
          </a:xfrm>
          <a:prstGeom prst="rect">
            <a:avLst/>
          </a:prstGeom>
          <a:noFill/>
          <a:ln w="12700">
            <a:noFill/>
            <a:miter lim="800000"/>
            <a:headEnd/>
            <a:tailEnd/>
          </a:ln>
        </p:spPr>
        <p:txBody>
          <a:bodyPr wrap="square" anchor="ctr">
            <a:spAutoFit/>
          </a:bodyPr>
          <a:lstStyle/>
          <a:p>
            <a:pPr eaLnBrk="0" hangingPunct="0"/>
            <a:r>
              <a:rPr lang="en-US" sz="2000" dirty="0">
                <a:solidFill>
                  <a:schemeClr val="bg1"/>
                </a:solidFill>
              </a:rPr>
              <a:t>Liability Coverage</a:t>
            </a:r>
          </a:p>
        </p:txBody>
      </p:sp>
      <p:sp>
        <p:nvSpPr>
          <p:cNvPr id="4" name="Rectangle 3"/>
          <p:cNvSpPr txBox="1">
            <a:spLocks noChangeArrowheads="1"/>
          </p:cNvSpPr>
          <p:nvPr/>
        </p:nvSpPr>
        <p:spPr bwMode="auto">
          <a:xfrm>
            <a:off x="304800" y="2667000"/>
            <a:ext cx="8153400" cy="2209800"/>
          </a:xfrm>
          <a:prstGeom prst="rect">
            <a:avLst/>
          </a:prstGeom>
          <a:noFill/>
          <a:ln>
            <a:miter lim="800000"/>
            <a:headEnd/>
            <a:tailEnd/>
          </a:ln>
        </p:spPr>
        <p:txBody>
          <a:bodyPr vert="horz" lIns="91440" tIns="45720" rIns="91440" bIns="45720" rtlCol="0">
            <a:normAutofit lnSpcReduction="10000"/>
          </a:bodyPr>
          <a:lstStyle/>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1" strike="noStrike" kern="1200" cap="none" spc="0" normalizeH="0" baseline="0" noProof="0" dirty="0">
                <a:ln>
                  <a:noFill/>
                </a:ln>
                <a:solidFill>
                  <a:srgbClr val="C00000"/>
                </a:solidFill>
                <a:effectLst/>
                <a:uLnTx/>
                <a:uFillTx/>
                <a:ea typeface="+mn-ea"/>
                <a:cs typeface="+mn-cs"/>
              </a:rPr>
              <a:t>Commercial Liability</a:t>
            </a:r>
            <a:r>
              <a:rPr kumimoji="0" lang="en-US" sz="1600" b="0" strike="noStrike" kern="1200" cap="none" spc="0" normalizeH="0" baseline="0" noProof="0" dirty="0">
                <a:ln>
                  <a:noFill/>
                </a:ln>
                <a:solidFill>
                  <a:srgbClr val="C00000"/>
                </a:solidFill>
                <a:effectLst/>
                <a:uLnTx/>
                <a:uFillTx/>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0" i="0" u="none" strike="noStrike" kern="1200" cap="none" spc="0" normalizeH="0" baseline="0" noProof="0" dirty="0">
                <a:ln>
                  <a:noFill/>
                </a:ln>
                <a:solidFill>
                  <a:schemeClr val="tx1">
                    <a:lumMod val="75000"/>
                    <a:lumOff val="25000"/>
                  </a:schemeClr>
                </a:solidFill>
                <a:effectLst/>
                <a:uLnTx/>
                <a:uFillTx/>
                <a:ea typeface="+mn-ea"/>
                <a:cs typeface="+mn-cs"/>
              </a:rPr>
              <a:t>Coverage you are legally obligated to pay due to bodily injury or property damage caused by an </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0" i="0" u="none" strike="noStrike" kern="1200" cap="none" spc="0" normalizeH="0" baseline="0" noProof="0" dirty="0">
                <a:ln>
                  <a:noFill/>
                </a:ln>
                <a:solidFill>
                  <a:schemeClr val="tx1">
                    <a:lumMod val="75000"/>
                    <a:lumOff val="25000"/>
                  </a:schemeClr>
                </a:solidFill>
                <a:effectLst/>
                <a:uLnTx/>
                <a:uFillTx/>
                <a:ea typeface="+mn-ea"/>
                <a:cs typeface="+mn-cs"/>
              </a:rPr>
              <a:t>occurrence and arising out of the ownership, maintenance or use of your premises and </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0" i="0" u="none" strike="noStrike" kern="1200" cap="none" spc="0" normalizeH="0" baseline="0" noProof="0" dirty="0">
                <a:ln>
                  <a:noFill/>
                </a:ln>
                <a:solidFill>
                  <a:schemeClr val="tx1">
                    <a:lumMod val="75000"/>
                    <a:lumOff val="25000"/>
                  </a:schemeClr>
                </a:solidFill>
                <a:effectLst/>
                <a:uLnTx/>
                <a:uFillTx/>
                <a:ea typeface="+mn-ea"/>
                <a:cs typeface="+mn-cs"/>
              </a:rPr>
              <a:t>operations</a:t>
            </a:r>
          </a:p>
          <a:p>
            <a:pPr marL="342900" marR="0" lvl="0" indent="-342900" algn="l" defTabSz="914400" rtl="0" eaLnBrk="1" fontAlgn="auto" latinLnBrk="0" hangingPunct="1">
              <a:lnSpc>
                <a:spcPct val="100000"/>
              </a:lnSpc>
              <a:spcBef>
                <a:spcPct val="20000"/>
              </a:spcBef>
              <a:spcAft>
                <a:spcPts val="0"/>
              </a:spcAft>
              <a:buClrTx/>
              <a:buSzTx/>
              <a:buFontTx/>
              <a:buNone/>
              <a:tabLst/>
              <a:defRPr/>
            </a:pPr>
            <a:endParaRPr lang="en-US" sz="1600" dirty="0">
              <a:solidFill>
                <a:schemeClr val="tx1">
                  <a:lumMod val="75000"/>
                  <a:lumOff val="25000"/>
                </a:schemeClr>
              </a:solidFill>
            </a:endParaRPr>
          </a:p>
          <a:p>
            <a:pPr marL="342900" indent="-342900" eaLnBrk="0" hangingPunct="0">
              <a:lnSpc>
                <a:spcPct val="80000"/>
              </a:lnSpc>
              <a:spcBef>
                <a:spcPct val="20000"/>
              </a:spcBef>
            </a:pPr>
            <a:r>
              <a:rPr lang="en-US" sz="1600" b="1" dirty="0">
                <a:solidFill>
                  <a:srgbClr val="C00000"/>
                </a:solidFill>
              </a:rPr>
              <a:t>Inland Marine Coverage</a:t>
            </a:r>
            <a:r>
              <a:rPr lang="en-US" sz="1600" dirty="0">
                <a:solidFill>
                  <a:srgbClr val="C00000"/>
                </a:solidFill>
              </a:rPr>
              <a:t> </a:t>
            </a:r>
          </a:p>
          <a:p>
            <a:pPr marL="342900" indent="-342900" eaLnBrk="0" hangingPunct="0">
              <a:lnSpc>
                <a:spcPct val="80000"/>
              </a:lnSpc>
              <a:spcBef>
                <a:spcPct val="20000"/>
              </a:spcBef>
            </a:pPr>
            <a:r>
              <a:rPr lang="en-US" sz="1600" dirty="0">
                <a:solidFill>
                  <a:schemeClr val="tx1">
                    <a:lumMod val="75000"/>
                    <a:lumOff val="25000"/>
                  </a:schemeClr>
                </a:solidFill>
              </a:rPr>
              <a:t>Provides coverage for items such as tools and equipment that are mobile and may be taken off-</a:t>
            </a:r>
          </a:p>
          <a:p>
            <a:pPr marL="342900" indent="-342900" eaLnBrk="0" hangingPunct="0">
              <a:lnSpc>
                <a:spcPct val="80000"/>
              </a:lnSpc>
              <a:spcBef>
                <a:spcPct val="20000"/>
              </a:spcBef>
            </a:pPr>
            <a:r>
              <a:rPr lang="en-US" sz="1600" dirty="0">
                <a:solidFill>
                  <a:schemeClr val="tx1">
                    <a:lumMod val="75000"/>
                    <a:lumOff val="25000"/>
                  </a:schemeClr>
                </a:solidFill>
              </a:rPr>
              <a:t>site from your place of business</a:t>
            </a:r>
            <a:endParaRPr kumimoji="0" lang="en-US" sz="1600" b="0" i="0" u="none" strike="noStrike" kern="1200" cap="none" spc="0" normalizeH="0" baseline="0" noProof="0" dirty="0">
              <a:ln>
                <a:noFill/>
              </a:ln>
              <a:solidFill>
                <a:schemeClr val="tx1">
                  <a:lumMod val="75000"/>
                  <a:lumOff val="25000"/>
                </a:schemeClr>
              </a:solidFill>
              <a:effectLst/>
              <a:uLnTx/>
              <a:uFillTx/>
              <a:ea typeface="+mn-ea"/>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6934200" y="6553200"/>
            <a:ext cx="2209800" cy="228600"/>
          </a:xfrm>
          <a:prstGeom prst="rect">
            <a:avLst/>
          </a:prstGeom>
        </p:spPr>
        <p:txBody>
          <a:bodyPr/>
          <a:lstStyle/>
          <a:p>
            <a:pPr algn="r" fontAlgn="auto">
              <a:spcBef>
                <a:spcPts val="0"/>
              </a:spcBef>
              <a:spcAft>
                <a:spcPts val="0"/>
              </a:spcAft>
              <a:defRPr/>
            </a:pPr>
            <a:fld id="{0F56061C-0A42-4038-98B8-AEE9439494E5}" type="slidenum">
              <a:rPr lang="en-US" sz="1400">
                <a:latin typeface="+mn-lt"/>
              </a:rPr>
              <a:pPr algn="r" fontAlgn="auto">
                <a:spcBef>
                  <a:spcPts val="0"/>
                </a:spcBef>
                <a:spcAft>
                  <a:spcPts val="0"/>
                </a:spcAft>
                <a:defRPr/>
              </a:pPr>
              <a:t>15</a:t>
            </a:fld>
            <a:endParaRPr lang="en-US" sz="1400" dirty="0">
              <a:latin typeface="+mn-lt"/>
            </a:endParaRPr>
          </a:p>
        </p:txBody>
      </p:sp>
      <p:sp>
        <p:nvSpPr>
          <p:cNvPr id="10" name="Rectangle 66"/>
          <p:cNvSpPr>
            <a:spLocks noChangeArrowheads="1"/>
          </p:cNvSpPr>
          <p:nvPr/>
        </p:nvSpPr>
        <p:spPr bwMode="auto">
          <a:xfrm>
            <a:off x="76200" y="152400"/>
            <a:ext cx="5867400" cy="400110"/>
          </a:xfrm>
          <a:prstGeom prst="rect">
            <a:avLst/>
          </a:prstGeom>
          <a:noFill/>
          <a:ln w="12700">
            <a:noFill/>
            <a:miter lim="800000"/>
            <a:headEnd/>
            <a:tailEnd/>
          </a:ln>
        </p:spPr>
        <p:txBody>
          <a:bodyPr wrap="square" anchor="ctr">
            <a:spAutoFit/>
          </a:bodyPr>
          <a:lstStyle/>
          <a:p>
            <a:pPr eaLnBrk="0" hangingPunct="0"/>
            <a:r>
              <a:rPr lang="en-US" sz="2000" dirty="0">
                <a:solidFill>
                  <a:schemeClr val="bg1"/>
                </a:solidFill>
              </a:rPr>
              <a:t>Liability </a:t>
            </a:r>
            <a:r>
              <a:rPr lang="en-US" sz="2000" dirty="0" err="1">
                <a:solidFill>
                  <a:schemeClr val="bg1"/>
                </a:solidFill>
              </a:rPr>
              <a:t>Coverages</a:t>
            </a:r>
            <a:r>
              <a:rPr lang="en-US" sz="2000" dirty="0">
                <a:solidFill>
                  <a:schemeClr val="bg1"/>
                </a:solidFill>
              </a:rPr>
              <a:t> </a:t>
            </a:r>
          </a:p>
        </p:txBody>
      </p:sp>
      <p:sp>
        <p:nvSpPr>
          <p:cNvPr id="4" name="Rectangle 3"/>
          <p:cNvSpPr txBox="1">
            <a:spLocks noChangeArrowheads="1"/>
          </p:cNvSpPr>
          <p:nvPr/>
        </p:nvSpPr>
        <p:spPr bwMode="auto">
          <a:xfrm>
            <a:off x="228600" y="2263521"/>
            <a:ext cx="8229600" cy="914399"/>
          </a:xfrm>
          <a:prstGeom prst="rect">
            <a:avLst/>
          </a:prstGeom>
          <a:noFill/>
          <a:ln>
            <a:miter lim="800000"/>
            <a:headEnd/>
            <a:tailEnd/>
          </a:ln>
        </p:spPr>
        <p:txBody>
          <a:bodyPr vert="horz" lIns="91440" tIns="45720" rIns="91440" bIns="45720" rtlCol="0">
            <a:normAutofit lnSpcReduction="10000"/>
          </a:bodyPr>
          <a:lstStyle/>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mn-lt"/>
                <a:ea typeface="+mn-ea"/>
                <a:cs typeface="+mn-cs"/>
              </a:rPr>
              <a:t>Hired Auto And Non-Owned Auto Liability </a:t>
            </a: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Coverage is available for both exposures, except </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coverage is </a:t>
            </a:r>
            <a:r>
              <a:rPr kumimoji="0" lang="en-US" sz="1600" b="1" i="0" u="none" strike="noStrike" kern="1200" cap="none" spc="0" normalizeH="0" baseline="0" noProof="0" dirty="0">
                <a:ln>
                  <a:noFill/>
                </a:ln>
                <a:solidFill>
                  <a:srgbClr val="C00000"/>
                </a:solidFill>
                <a:effectLst/>
                <a:uLnTx/>
                <a:uFillTx/>
                <a:latin typeface="+mn-lt"/>
                <a:ea typeface="+mn-ea"/>
                <a:cs typeface="+mn-cs"/>
              </a:rPr>
              <a:t>not </a:t>
            </a: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available when </a:t>
            </a:r>
            <a:r>
              <a:rPr kumimoji="0" lang="en-US" sz="1600" b="0" i="0" u="none" strike="noStrike" kern="1200" cap="none" spc="0" normalizeH="0" baseline="0" noProof="0" dirty="0" err="1">
                <a:ln>
                  <a:noFill/>
                </a:ln>
                <a:solidFill>
                  <a:schemeClr val="tx1">
                    <a:lumMod val="75000"/>
                    <a:lumOff val="25000"/>
                  </a:schemeClr>
                </a:solidFill>
                <a:effectLst/>
                <a:uLnTx/>
                <a:uFillTx/>
                <a:latin typeface="+mn-lt"/>
                <a:ea typeface="+mn-ea"/>
                <a:cs typeface="+mn-cs"/>
              </a:rPr>
              <a:t>insureds</a:t>
            </a: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 have a policy covering other commercial auto liability </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exposures. </a:t>
            </a:r>
          </a:p>
        </p:txBody>
      </p:sp>
      <p:pic>
        <p:nvPicPr>
          <p:cNvPr id="5" name="Picture 4" descr="42-19748579.jpg"/>
          <p:cNvPicPr>
            <a:picLocks noChangeAspect="1"/>
          </p:cNvPicPr>
          <p:nvPr/>
        </p:nvPicPr>
        <p:blipFill>
          <a:blip r:embed="rId3" cstate="print"/>
          <a:stretch>
            <a:fillRect/>
          </a:stretch>
        </p:blipFill>
        <p:spPr>
          <a:xfrm>
            <a:off x="3276600" y="3330321"/>
            <a:ext cx="1752600" cy="116547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6" name="Rectangle 5"/>
          <p:cNvSpPr/>
          <p:nvPr/>
        </p:nvSpPr>
        <p:spPr>
          <a:xfrm>
            <a:off x="304800" y="4777026"/>
            <a:ext cx="7848600" cy="861774"/>
          </a:xfrm>
          <a:prstGeom prst="rect">
            <a:avLst/>
          </a:prstGeom>
        </p:spPr>
        <p:txBody>
          <a:bodyPr wrap="square">
            <a:spAutoFit/>
          </a:bodyPr>
          <a:lstStyle/>
          <a:p>
            <a:pPr>
              <a:buNone/>
            </a:pPr>
            <a:r>
              <a:rPr lang="en-US" sz="1600" b="1" dirty="0">
                <a:solidFill>
                  <a:srgbClr val="C00000"/>
                </a:solidFill>
              </a:rPr>
              <a:t>Asbestos Exclusion</a:t>
            </a:r>
          </a:p>
          <a:p>
            <a:pPr>
              <a:buNone/>
            </a:pPr>
            <a:r>
              <a:rPr lang="en-US" sz="1600" dirty="0">
                <a:solidFill>
                  <a:schemeClr val="tx1">
                    <a:lumMod val="75000"/>
                    <a:lumOff val="25000"/>
                  </a:schemeClr>
                </a:solidFill>
              </a:rPr>
              <a:t>Coverage to exclude injury or damage that arises out of asbestos, asbestos products, asbestos fibers, or asbestos dust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6934200" y="6553200"/>
            <a:ext cx="2209800" cy="228600"/>
          </a:xfrm>
          <a:prstGeom prst="rect">
            <a:avLst/>
          </a:prstGeom>
        </p:spPr>
        <p:txBody>
          <a:bodyPr/>
          <a:lstStyle/>
          <a:p>
            <a:pPr algn="r" fontAlgn="auto">
              <a:spcBef>
                <a:spcPts val="0"/>
              </a:spcBef>
              <a:spcAft>
                <a:spcPts val="0"/>
              </a:spcAft>
              <a:defRPr/>
            </a:pPr>
            <a:fld id="{0F56061C-0A42-4038-98B8-AEE9439494E5}" type="slidenum">
              <a:rPr lang="en-US" sz="1400">
                <a:latin typeface="+mn-lt"/>
              </a:rPr>
              <a:pPr algn="r" fontAlgn="auto">
                <a:spcBef>
                  <a:spcPts val="0"/>
                </a:spcBef>
                <a:spcAft>
                  <a:spcPts val="0"/>
                </a:spcAft>
                <a:defRPr/>
              </a:pPr>
              <a:t>16</a:t>
            </a:fld>
            <a:endParaRPr lang="en-US" sz="1400" dirty="0">
              <a:latin typeface="+mn-lt"/>
            </a:endParaRPr>
          </a:p>
        </p:txBody>
      </p:sp>
      <p:sp>
        <p:nvSpPr>
          <p:cNvPr id="10" name="Rectangle 66"/>
          <p:cNvSpPr>
            <a:spLocks noChangeArrowheads="1"/>
          </p:cNvSpPr>
          <p:nvPr/>
        </p:nvSpPr>
        <p:spPr bwMode="auto">
          <a:xfrm>
            <a:off x="76200" y="152400"/>
            <a:ext cx="5867400" cy="400110"/>
          </a:xfrm>
          <a:prstGeom prst="rect">
            <a:avLst/>
          </a:prstGeom>
          <a:noFill/>
          <a:ln w="12700">
            <a:noFill/>
            <a:miter lim="800000"/>
            <a:headEnd/>
            <a:tailEnd/>
          </a:ln>
        </p:spPr>
        <p:txBody>
          <a:bodyPr wrap="square" anchor="ctr">
            <a:spAutoFit/>
          </a:bodyPr>
          <a:lstStyle/>
          <a:p>
            <a:pPr eaLnBrk="0" hangingPunct="0"/>
            <a:r>
              <a:rPr lang="en-US" sz="2000" dirty="0">
                <a:solidFill>
                  <a:schemeClr val="bg1"/>
                </a:solidFill>
              </a:rPr>
              <a:t>Liability </a:t>
            </a:r>
            <a:r>
              <a:rPr lang="en-US" sz="2000" dirty="0" err="1">
                <a:solidFill>
                  <a:schemeClr val="bg1"/>
                </a:solidFill>
              </a:rPr>
              <a:t>Coverages</a:t>
            </a:r>
            <a:r>
              <a:rPr lang="en-US" sz="2000" dirty="0">
                <a:solidFill>
                  <a:schemeClr val="bg1"/>
                </a:solidFill>
              </a:rPr>
              <a:t> </a:t>
            </a:r>
          </a:p>
        </p:txBody>
      </p:sp>
      <p:sp>
        <p:nvSpPr>
          <p:cNvPr id="4" name="Rectangle 3"/>
          <p:cNvSpPr txBox="1">
            <a:spLocks noChangeArrowheads="1"/>
          </p:cNvSpPr>
          <p:nvPr/>
        </p:nvSpPr>
        <p:spPr bwMode="auto">
          <a:xfrm>
            <a:off x="228600" y="2819400"/>
            <a:ext cx="8458200" cy="1600200"/>
          </a:xfrm>
          <a:prstGeom prst="rect">
            <a:avLst/>
          </a:prstGeom>
          <a:noFill/>
          <a:ln>
            <a:miter lim="800000"/>
            <a:headEnd/>
            <a:tailEnd/>
          </a:ln>
        </p:spPr>
        <p:txBody>
          <a:bodyPr vert="horz" lIns="91440" tIns="45720" rIns="91440" bIns="45720" rtlCol="0">
            <a:normAutofit lnSpcReduction="10000"/>
          </a:bodyPr>
          <a:lstStyle/>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mn-lt"/>
                <a:ea typeface="+mn-ea"/>
                <a:cs typeface="+mn-cs"/>
              </a:rPr>
              <a:t>Employment Practices Liability Insurance (EPLI)</a:t>
            </a:r>
            <a:r>
              <a:rPr kumimoji="0" lang="en-US" sz="1600" b="0" i="0" u="none" strike="noStrike" kern="1200" cap="none" spc="0" normalizeH="0" baseline="0" noProof="0" dirty="0">
                <a:ln>
                  <a:noFill/>
                </a:ln>
                <a:solidFill>
                  <a:srgbClr val="C00000"/>
                </a:solidFill>
                <a:effectLst/>
                <a:uLnTx/>
                <a:uFillTx/>
                <a:latin typeface="+mn-lt"/>
                <a:ea typeface="+mn-ea"/>
                <a:cs typeface="+mn-cs"/>
              </a:rPr>
              <a:t> </a:t>
            </a: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protects businesses against legal defense  expenses </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and damages resulting from wrongful employment practices including discrimination, harassment, </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wrongful termination and other related workplace issues</a:t>
            </a:r>
          </a:p>
          <a:p>
            <a:pPr marL="342900" marR="0" lvl="0" indent="-342900" algn="l" defTabSz="914400" rtl="0" eaLnBrk="1" fontAlgn="auto" latinLnBrk="0" hangingPunct="1">
              <a:lnSpc>
                <a:spcPct val="100000"/>
              </a:lnSpc>
              <a:spcBef>
                <a:spcPct val="20000"/>
              </a:spcBef>
              <a:spcAft>
                <a:spcPts val="0"/>
              </a:spcAft>
              <a:buClrTx/>
              <a:buSzTx/>
              <a:buFontTx/>
              <a:buNone/>
              <a:tabLst/>
              <a:defRPr/>
            </a:pPr>
            <a:endParaRPr kumimoji="0" lang="en-US" sz="16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80000"/>
              </a:lnSpc>
              <a:spcBef>
                <a:spcPct val="20000"/>
              </a:spcBef>
              <a:spcAft>
                <a:spcPts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mn-lt"/>
                <a:ea typeface="+mn-ea"/>
                <a:cs typeface="+mn-cs"/>
              </a:rPr>
              <a:t>Employee Benefits Liability Coverage </a:t>
            </a:r>
            <a:r>
              <a:rPr kumimoji="0" lang="en-US" sz="1600" i="0" u="none" strike="noStrike" kern="1200" cap="none" spc="0" normalizeH="0" baseline="0" noProof="0" dirty="0">
                <a:ln>
                  <a:noFill/>
                </a:ln>
                <a:solidFill>
                  <a:schemeClr val="tx1">
                    <a:lumMod val="75000"/>
                    <a:lumOff val="25000"/>
                  </a:schemeClr>
                </a:solidFill>
                <a:effectLst/>
                <a:uLnTx/>
                <a:uFillTx/>
                <a:latin typeface="+mn-lt"/>
                <a:ea typeface="+mn-ea"/>
                <a:cs typeface="+mn-cs"/>
              </a:rPr>
              <a:t>C</a:t>
            </a: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overs Errors &amp; Omissions which occur in the administration </a:t>
            </a:r>
          </a:p>
          <a:p>
            <a:pPr marL="342900" marR="0" lvl="0" indent="-342900" algn="l" defTabSz="914400" rtl="0" eaLnBrk="1" fontAlgn="auto" latinLnBrk="0" hangingPunct="1">
              <a:lnSpc>
                <a:spcPct val="80000"/>
              </a:lnSpc>
              <a:spcBef>
                <a:spcPct val="20000"/>
              </a:spcBef>
              <a:spcAft>
                <a:spcPts val="0"/>
              </a:spcAft>
              <a:buClrTx/>
              <a:buSzTx/>
              <a:buFontTx/>
              <a:buNone/>
              <a:tabLst/>
              <a:defRPr/>
            </a:pP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of employee benefit programs</a:t>
            </a:r>
          </a:p>
          <a:p>
            <a:pPr marL="342900" marR="0" lvl="0" indent="-342900" algn="l" defTabSz="914400" rtl="0" eaLnBrk="1" fontAlgn="auto" latinLnBrk="0" hangingPunct="1">
              <a:lnSpc>
                <a:spcPct val="100000"/>
              </a:lnSpc>
              <a:spcBef>
                <a:spcPct val="20000"/>
              </a:spcBef>
              <a:spcAft>
                <a:spcPts val="0"/>
              </a:spcAft>
              <a:buClrTx/>
              <a:buSzTx/>
              <a:buFontTx/>
              <a:buNone/>
              <a:tabLst/>
              <a:defRPr/>
            </a:pPr>
            <a:endParaRPr kumimoji="0" lang="en-US" sz="16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1600" b="0" i="0" u="none" strike="noStrike" kern="120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16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Tx/>
              <a:buNone/>
              <a:tabLst/>
              <a:defRPr/>
            </a:pPr>
            <a:endParaRPr kumimoji="0" lang="en-US" sz="16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6934200" y="6553200"/>
            <a:ext cx="2209800" cy="228600"/>
          </a:xfrm>
          <a:prstGeom prst="rect">
            <a:avLst/>
          </a:prstGeom>
        </p:spPr>
        <p:txBody>
          <a:bodyPr/>
          <a:lstStyle/>
          <a:p>
            <a:pPr algn="r" fontAlgn="auto">
              <a:spcBef>
                <a:spcPts val="0"/>
              </a:spcBef>
              <a:spcAft>
                <a:spcPts val="0"/>
              </a:spcAft>
              <a:defRPr/>
            </a:pPr>
            <a:fld id="{0F56061C-0A42-4038-98B8-AEE9439494E5}" type="slidenum">
              <a:rPr lang="en-US" sz="1400">
                <a:latin typeface="+mn-lt"/>
              </a:rPr>
              <a:pPr algn="r" fontAlgn="auto">
                <a:spcBef>
                  <a:spcPts val="0"/>
                </a:spcBef>
                <a:spcAft>
                  <a:spcPts val="0"/>
                </a:spcAft>
                <a:defRPr/>
              </a:pPr>
              <a:t>17</a:t>
            </a:fld>
            <a:endParaRPr lang="en-US" sz="1400" dirty="0">
              <a:latin typeface="+mn-lt"/>
            </a:endParaRPr>
          </a:p>
        </p:txBody>
      </p:sp>
      <p:sp>
        <p:nvSpPr>
          <p:cNvPr id="10" name="Rectangle 66"/>
          <p:cNvSpPr>
            <a:spLocks noChangeArrowheads="1"/>
          </p:cNvSpPr>
          <p:nvPr/>
        </p:nvSpPr>
        <p:spPr bwMode="auto">
          <a:xfrm>
            <a:off x="76200" y="152400"/>
            <a:ext cx="5867400" cy="400110"/>
          </a:xfrm>
          <a:prstGeom prst="rect">
            <a:avLst/>
          </a:prstGeom>
          <a:noFill/>
          <a:ln w="12700">
            <a:noFill/>
            <a:miter lim="800000"/>
            <a:headEnd/>
            <a:tailEnd/>
          </a:ln>
        </p:spPr>
        <p:txBody>
          <a:bodyPr wrap="square" anchor="ctr">
            <a:spAutoFit/>
          </a:bodyPr>
          <a:lstStyle/>
          <a:p>
            <a:pPr eaLnBrk="0" hangingPunct="0"/>
            <a:r>
              <a:rPr lang="en-US" sz="2000" dirty="0">
                <a:solidFill>
                  <a:schemeClr val="bg1"/>
                </a:solidFill>
              </a:rPr>
              <a:t>Liability Policy Level Optional </a:t>
            </a:r>
            <a:r>
              <a:rPr lang="en-US" sz="2000" dirty="0" err="1">
                <a:solidFill>
                  <a:schemeClr val="bg1"/>
                </a:solidFill>
              </a:rPr>
              <a:t>Coverages</a:t>
            </a:r>
            <a:endParaRPr lang="en-US" sz="2000" dirty="0">
              <a:solidFill>
                <a:schemeClr val="bg1"/>
              </a:solidFill>
            </a:endParaRPr>
          </a:p>
        </p:txBody>
      </p:sp>
      <p:sp>
        <p:nvSpPr>
          <p:cNvPr id="4" name="Rectangle 3"/>
          <p:cNvSpPr txBox="1">
            <a:spLocks noChangeArrowheads="1"/>
          </p:cNvSpPr>
          <p:nvPr/>
        </p:nvSpPr>
        <p:spPr bwMode="auto">
          <a:xfrm>
            <a:off x="228600" y="2133600"/>
            <a:ext cx="8610600" cy="2514600"/>
          </a:xfrm>
          <a:prstGeom prst="rect">
            <a:avLst/>
          </a:prstGeom>
          <a:noFill/>
          <a:ln>
            <a:miter lim="800000"/>
            <a:headEnd/>
            <a:tailEnd/>
          </a:ln>
        </p:spPr>
        <p:txBody>
          <a:bodyPr vert="horz" lIns="91440" tIns="45720" rIns="91440" bIns="45720" rtlCol="0">
            <a:normAutofit/>
          </a:bodyPr>
          <a:lstStyle/>
          <a:p>
            <a:pPr marL="342900" marR="0" lvl="0" indent="-342900" algn="l" defTabSz="914400" rtl="0" eaLnBrk="1" fontAlgn="auto" latinLnBrk="0" hangingPunct="1">
              <a:lnSpc>
                <a:spcPct val="90000"/>
              </a:lnSpc>
              <a:spcBef>
                <a:spcPct val="20000"/>
              </a:spcBef>
              <a:spcAft>
                <a:spcPts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mn-lt"/>
                <a:ea typeface="+mn-ea"/>
                <a:cs typeface="+mn-cs"/>
              </a:rPr>
              <a:t>Condominium Association Directors and Officers Liability</a:t>
            </a:r>
            <a:r>
              <a:rPr kumimoji="0" lang="en-US" sz="1600" b="0" i="0" u="none" strike="noStrike" kern="1200" cap="none" spc="0" normalizeH="0" baseline="0" noProof="0" dirty="0">
                <a:ln>
                  <a:noFill/>
                </a:ln>
                <a:solidFill>
                  <a:srgbClr val="C00000"/>
                </a:solidFill>
                <a:effectLst/>
                <a:uLnTx/>
                <a:uFillTx/>
                <a:latin typeface="+mn-lt"/>
                <a:ea typeface="+mn-ea"/>
                <a:cs typeface="+mn-cs"/>
              </a:rPr>
              <a:t> </a:t>
            </a:r>
          </a:p>
          <a:p>
            <a:pPr marL="342900" marR="0" lvl="0" indent="-342900" algn="l" defTabSz="914400" rtl="0" eaLnBrk="1" fontAlgn="auto" latinLnBrk="0" hangingPunct="1">
              <a:lnSpc>
                <a:spcPct val="90000"/>
              </a:lnSpc>
              <a:spcBef>
                <a:spcPct val="20000"/>
              </a:spcBef>
              <a:spcAft>
                <a:spcPts val="0"/>
              </a:spcAft>
              <a:buClrTx/>
              <a:buSzTx/>
              <a:buFontTx/>
              <a:buNone/>
              <a:tabLst/>
              <a:defRPr/>
            </a:pP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Provides coverage for any sums the insured becomes legally obligated to pay as damages because </a:t>
            </a:r>
          </a:p>
          <a:p>
            <a:pPr marL="342900" marR="0" lvl="0" indent="-342900" algn="l" defTabSz="914400" rtl="0" eaLnBrk="1" fontAlgn="auto" latinLnBrk="0" hangingPunct="1">
              <a:lnSpc>
                <a:spcPct val="90000"/>
              </a:lnSpc>
              <a:spcBef>
                <a:spcPct val="20000"/>
              </a:spcBef>
              <a:spcAft>
                <a:spcPts val="0"/>
              </a:spcAft>
              <a:buClrTx/>
              <a:buSzTx/>
              <a:buFontTx/>
              <a:buNone/>
              <a:tabLst/>
              <a:defRPr/>
            </a:pP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of any “wrongful act” of Directors and Officers of Named Insured while acting in their capacity as such</a:t>
            </a:r>
          </a:p>
          <a:p>
            <a:pPr marL="342900" marR="0" lvl="0" indent="-342900" algn="l" defTabSz="914400" rtl="0" eaLnBrk="1" fontAlgn="auto" latinLnBrk="0" hangingPunct="1">
              <a:lnSpc>
                <a:spcPct val="90000"/>
              </a:lnSpc>
              <a:spcBef>
                <a:spcPct val="20000"/>
              </a:spcBef>
              <a:spcAft>
                <a:spcPts val="0"/>
              </a:spcAft>
              <a:buClrTx/>
              <a:buSzTx/>
              <a:buFontTx/>
              <a:buNone/>
              <a:tabLst/>
              <a:defRPr/>
            </a:pPr>
            <a:endParaRPr kumimoji="0" lang="en-US" sz="16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90000"/>
              </a:lnSpc>
              <a:spcBef>
                <a:spcPct val="20000"/>
              </a:spcBef>
              <a:spcAft>
                <a:spcPts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mn-lt"/>
                <a:ea typeface="+mn-ea"/>
                <a:cs typeface="+mn-cs"/>
              </a:rPr>
              <a:t>Contractors Limited Property of Others </a:t>
            </a:r>
          </a:p>
          <a:p>
            <a:pPr marL="342900" marR="0" lvl="0" indent="-342900" defTabSz="914400" rtl="0" eaLnBrk="1" fontAlgn="auto" latinLnBrk="0" hangingPunct="1">
              <a:lnSpc>
                <a:spcPct val="90000"/>
              </a:lnSpc>
              <a:spcBef>
                <a:spcPct val="20000"/>
              </a:spcBef>
              <a:spcAft>
                <a:spcPts val="0"/>
              </a:spcAft>
              <a:buClrTx/>
              <a:buSzTx/>
              <a:buFontTx/>
              <a:buNone/>
              <a:tabLst/>
              <a:defRPr/>
            </a:pP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Provides a limit of insurance for property damage to property of others including faulty workmanship</a:t>
            </a:r>
          </a:p>
          <a:p>
            <a:pPr marL="342900" marR="0" lvl="0" indent="-342900" defTabSz="914400" rtl="0" eaLnBrk="1" fontAlgn="auto" latinLnBrk="0" hangingPunct="1">
              <a:lnSpc>
                <a:spcPct val="90000"/>
              </a:lnSpc>
              <a:spcBef>
                <a:spcPct val="20000"/>
              </a:spcBef>
              <a:spcAft>
                <a:spcPts val="0"/>
              </a:spcAft>
              <a:buClrTx/>
              <a:buSzTx/>
              <a:buFontTx/>
              <a:buNone/>
              <a:tabLst/>
              <a:defRPr/>
            </a:pPr>
            <a:endParaRPr kumimoji="0" lang="en-US" sz="16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defTabSz="914400" rtl="0" eaLnBrk="1" fontAlgn="auto" latinLnBrk="0" hangingPunct="1">
              <a:lnSpc>
                <a:spcPct val="90000"/>
              </a:lnSpc>
              <a:spcBef>
                <a:spcPct val="20000"/>
              </a:spcBef>
              <a:spcAft>
                <a:spcPts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mn-lt"/>
                <a:ea typeface="+mn-ea"/>
                <a:cs typeface="+mn-cs"/>
              </a:rPr>
              <a:t>Contractors Work Site Limited Short-Term Pollution Event - </a:t>
            </a: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Provides limited “short-term pollution </a:t>
            </a:r>
          </a:p>
          <a:p>
            <a:pPr marL="342900" marR="0" lvl="0" indent="-342900" algn="l" defTabSz="914400" rtl="0" eaLnBrk="1" fontAlgn="auto" latinLnBrk="0" hangingPunct="1">
              <a:lnSpc>
                <a:spcPct val="90000"/>
              </a:lnSpc>
              <a:spcBef>
                <a:spcPct val="20000"/>
              </a:spcBef>
              <a:spcAft>
                <a:spcPts val="0"/>
              </a:spcAft>
              <a:buClrTx/>
              <a:buSzTx/>
              <a:buFontTx/>
              <a:buNone/>
              <a:tabLst/>
              <a:defRPr/>
            </a:pP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event” coverage arising out of pollutants from a contractor’s job site</a:t>
            </a:r>
          </a:p>
          <a:p>
            <a:pPr marL="342900" marR="0" lvl="0" indent="-342900" algn="l" defTabSz="914400" rtl="0" eaLnBrk="1" fontAlgn="auto" latinLnBrk="0" hangingPunct="1">
              <a:lnSpc>
                <a:spcPct val="90000"/>
              </a:lnSpc>
              <a:spcBef>
                <a:spcPct val="20000"/>
              </a:spcBef>
              <a:spcAft>
                <a:spcPts val="0"/>
              </a:spcAft>
              <a:buClrTx/>
              <a:buSzTx/>
              <a:buFont typeface="Arial" pitchFamily="34" charset="0"/>
              <a:buChar char="•"/>
              <a:tabLst/>
              <a:defRPr/>
            </a:pPr>
            <a:endParaRPr kumimoji="0" lang="en-US" sz="16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90000"/>
              </a:lnSpc>
              <a:spcBef>
                <a:spcPct val="20000"/>
              </a:spcBef>
              <a:spcAft>
                <a:spcPts val="0"/>
              </a:spcAft>
              <a:buClrTx/>
              <a:buSzTx/>
              <a:buFontTx/>
              <a:buNone/>
              <a:tabLst/>
              <a:defRPr/>
            </a:pPr>
            <a:endParaRPr kumimoji="0" lang="en-US" sz="16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6934200" y="6553200"/>
            <a:ext cx="2209800" cy="228600"/>
          </a:xfrm>
          <a:prstGeom prst="rect">
            <a:avLst/>
          </a:prstGeom>
        </p:spPr>
        <p:txBody>
          <a:bodyPr/>
          <a:lstStyle/>
          <a:p>
            <a:pPr algn="r" fontAlgn="auto">
              <a:spcBef>
                <a:spcPts val="0"/>
              </a:spcBef>
              <a:spcAft>
                <a:spcPts val="0"/>
              </a:spcAft>
              <a:defRPr/>
            </a:pPr>
            <a:fld id="{0F56061C-0A42-4038-98B8-AEE9439494E5}" type="slidenum">
              <a:rPr lang="en-US" sz="1400">
                <a:latin typeface="+mn-lt"/>
              </a:rPr>
              <a:pPr algn="r" fontAlgn="auto">
                <a:spcBef>
                  <a:spcPts val="0"/>
                </a:spcBef>
                <a:spcAft>
                  <a:spcPts val="0"/>
                </a:spcAft>
                <a:defRPr/>
              </a:pPr>
              <a:t>18</a:t>
            </a:fld>
            <a:endParaRPr lang="en-US" sz="1400" dirty="0">
              <a:latin typeface="+mn-lt"/>
            </a:endParaRPr>
          </a:p>
        </p:txBody>
      </p:sp>
      <p:sp>
        <p:nvSpPr>
          <p:cNvPr id="10" name="Rectangle 66"/>
          <p:cNvSpPr>
            <a:spLocks noChangeArrowheads="1"/>
          </p:cNvSpPr>
          <p:nvPr/>
        </p:nvSpPr>
        <p:spPr bwMode="auto">
          <a:xfrm>
            <a:off x="76200" y="152400"/>
            <a:ext cx="5867400" cy="400110"/>
          </a:xfrm>
          <a:prstGeom prst="rect">
            <a:avLst/>
          </a:prstGeom>
          <a:noFill/>
          <a:ln w="12700">
            <a:noFill/>
            <a:miter lim="800000"/>
            <a:headEnd/>
            <a:tailEnd/>
          </a:ln>
        </p:spPr>
        <p:txBody>
          <a:bodyPr wrap="square" anchor="ctr">
            <a:spAutoFit/>
          </a:bodyPr>
          <a:lstStyle/>
          <a:p>
            <a:pPr eaLnBrk="0" hangingPunct="0"/>
            <a:r>
              <a:rPr lang="en-US" sz="2000" dirty="0">
                <a:solidFill>
                  <a:schemeClr val="bg1"/>
                </a:solidFill>
              </a:rPr>
              <a:t>Liability Policy Level Optional Coverage</a:t>
            </a:r>
          </a:p>
        </p:txBody>
      </p:sp>
      <p:sp>
        <p:nvSpPr>
          <p:cNvPr id="4" name="Rectangle 3"/>
          <p:cNvSpPr txBox="1">
            <a:spLocks noChangeArrowheads="1"/>
          </p:cNvSpPr>
          <p:nvPr/>
        </p:nvSpPr>
        <p:spPr bwMode="auto">
          <a:xfrm>
            <a:off x="381000" y="2667000"/>
            <a:ext cx="8229600" cy="2133600"/>
          </a:xfrm>
          <a:prstGeom prst="rect">
            <a:avLst/>
          </a:prstGeom>
          <a:noFill/>
          <a:ln>
            <a:miter lim="800000"/>
            <a:headEnd/>
            <a:tailEnd/>
          </a:ln>
        </p:spPr>
        <p:txBody>
          <a:bodyPr vert="horz" lIns="91440" tIns="45720" rIns="91440" bIns="45720" rtlCol="0">
            <a:normAutofit lnSpcReduction="10000"/>
          </a:bodyPr>
          <a:lstStyle/>
          <a:p>
            <a:pPr marL="342900" marR="0" lvl="0" indent="-342900" algn="l" defTabSz="914400" rtl="0" eaLnBrk="1" fontAlgn="auto" latinLnBrk="0" hangingPunct="1">
              <a:lnSpc>
                <a:spcPct val="80000"/>
              </a:lnSpc>
              <a:spcBef>
                <a:spcPct val="20000"/>
              </a:spcBef>
              <a:spcAft>
                <a:spcPts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mn-lt"/>
                <a:ea typeface="+mn-ea"/>
                <a:cs typeface="+mn-cs"/>
              </a:rPr>
              <a:t>Electronic Data Liability – Limited Coverage </a:t>
            </a:r>
          </a:p>
          <a:p>
            <a:pPr marL="342900" marR="0" lvl="0" indent="-342900" algn="l" defTabSz="914400" rtl="0" eaLnBrk="1" fontAlgn="auto" latinLnBrk="0" hangingPunct="1">
              <a:lnSpc>
                <a:spcPct val="80000"/>
              </a:lnSpc>
              <a:spcBef>
                <a:spcPct val="20000"/>
              </a:spcBef>
              <a:spcAft>
                <a:spcPts val="0"/>
              </a:spcAft>
              <a:buClrTx/>
              <a:buSzTx/>
              <a:buFontTx/>
              <a:buNone/>
              <a:tabLst/>
              <a:defRPr/>
            </a:pP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Provides coverage for loss of computerized or electronically stored data or software, which </a:t>
            </a:r>
          </a:p>
          <a:p>
            <a:pPr marL="342900" marR="0" lvl="0" indent="-342900" algn="l" defTabSz="914400" rtl="0" eaLnBrk="1" fontAlgn="auto" latinLnBrk="0" hangingPunct="1">
              <a:lnSpc>
                <a:spcPct val="80000"/>
              </a:lnSpc>
              <a:spcBef>
                <a:spcPct val="20000"/>
              </a:spcBef>
              <a:spcAft>
                <a:spcPts val="0"/>
              </a:spcAft>
              <a:buClrTx/>
              <a:buSzTx/>
              <a:buFontTx/>
              <a:buNone/>
              <a:tabLst/>
              <a:defRPr/>
            </a:pP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results from physical injury to tangible property</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1600" b="0" i="0" u="none" strike="noStrike" kern="1200" cap="none" spc="0" normalizeH="0" baseline="0" noProof="0" dirty="0">
              <a:ln>
                <a:noFill/>
              </a:ln>
              <a:solidFill>
                <a:srgbClr val="C00000"/>
              </a:solidFill>
              <a:effectLst/>
              <a:uLnTx/>
              <a:uFillTx/>
              <a:latin typeface="+mn-lt"/>
              <a:ea typeface="+mn-ea"/>
              <a:cs typeface="+mn-cs"/>
            </a:endParaRPr>
          </a:p>
          <a:p>
            <a:pPr marL="342900" marR="0" lvl="0" indent="-342900" algn="l" defTabSz="914400" rtl="0" eaLnBrk="1" fontAlgn="auto" latinLnBrk="0" hangingPunct="1">
              <a:lnSpc>
                <a:spcPct val="80000"/>
              </a:lnSpc>
              <a:spcBef>
                <a:spcPct val="20000"/>
              </a:spcBef>
              <a:spcAft>
                <a:spcPts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mn-lt"/>
                <a:ea typeface="+mn-ea"/>
                <a:cs typeface="+mn-cs"/>
              </a:rPr>
              <a:t>Limited Personal Property And Lost Keys Of Others </a:t>
            </a: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Provides for loss or damage of personal </a:t>
            </a:r>
          </a:p>
          <a:p>
            <a:pPr marL="342900" marR="0" lvl="0" indent="-342900" algn="l" defTabSz="914400" rtl="0" eaLnBrk="1" fontAlgn="auto" latinLnBrk="0" hangingPunct="1">
              <a:lnSpc>
                <a:spcPct val="80000"/>
              </a:lnSpc>
              <a:spcBef>
                <a:spcPct val="20000"/>
              </a:spcBef>
              <a:spcAft>
                <a:spcPts val="0"/>
              </a:spcAft>
              <a:buClrTx/>
              <a:buSzTx/>
              <a:buFontTx/>
              <a:buNone/>
              <a:tabLst/>
              <a:defRPr/>
            </a:pP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property of others while in the insured’s care, custody or control</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a:p>
            <a:pPr marL="342900" marR="0" lvl="0" indent="-342900" algn="l" defTabSz="914400" rtl="0" eaLnBrk="1" fontAlgn="auto" latinLnBrk="0" hangingPunct="1">
              <a:lnSpc>
                <a:spcPct val="80000"/>
              </a:lnSpc>
              <a:spcBef>
                <a:spcPct val="20000"/>
              </a:spcBef>
              <a:spcAft>
                <a:spcPts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mn-lt"/>
                <a:ea typeface="+mn-ea"/>
                <a:cs typeface="+mn-cs"/>
              </a:rPr>
              <a:t>Limited Product Withdrawal Expense Endorsement </a:t>
            </a: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Provides for reimbursement of product recall </a:t>
            </a:r>
          </a:p>
          <a:p>
            <a:pPr marL="342900" marR="0" lvl="0" indent="-342900" algn="l" defTabSz="914400" rtl="0" eaLnBrk="1" fontAlgn="auto" latinLnBrk="0" hangingPunct="1">
              <a:lnSpc>
                <a:spcPct val="80000"/>
              </a:lnSpc>
              <a:spcBef>
                <a:spcPct val="20000"/>
              </a:spcBef>
              <a:spcAft>
                <a:spcPts val="0"/>
              </a:spcAft>
              <a:buClrTx/>
              <a:buSzTx/>
              <a:buFontTx/>
              <a:buNone/>
              <a:tabLst/>
              <a:defRPr/>
            </a:pP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expenses incurred during the policy year. Ex. Nokia 6030 battery recall</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6934200" y="6553200"/>
            <a:ext cx="2209800" cy="228600"/>
          </a:xfrm>
          <a:prstGeom prst="rect">
            <a:avLst/>
          </a:prstGeom>
        </p:spPr>
        <p:txBody>
          <a:bodyPr/>
          <a:lstStyle/>
          <a:p>
            <a:pPr algn="r" fontAlgn="auto">
              <a:spcBef>
                <a:spcPts val="0"/>
              </a:spcBef>
              <a:spcAft>
                <a:spcPts val="0"/>
              </a:spcAft>
              <a:defRPr/>
            </a:pPr>
            <a:fld id="{0F56061C-0A42-4038-98B8-AEE9439494E5}" type="slidenum">
              <a:rPr lang="en-US" sz="1400">
                <a:latin typeface="+mn-lt"/>
              </a:rPr>
              <a:pPr algn="r" fontAlgn="auto">
                <a:spcBef>
                  <a:spcPts val="0"/>
                </a:spcBef>
                <a:spcAft>
                  <a:spcPts val="0"/>
                </a:spcAft>
                <a:defRPr/>
              </a:pPr>
              <a:t>19</a:t>
            </a:fld>
            <a:endParaRPr lang="en-US" sz="1400" dirty="0">
              <a:latin typeface="+mn-lt"/>
            </a:endParaRPr>
          </a:p>
        </p:txBody>
      </p:sp>
      <p:sp>
        <p:nvSpPr>
          <p:cNvPr id="10" name="Rectangle 66"/>
          <p:cNvSpPr>
            <a:spLocks noChangeArrowheads="1"/>
          </p:cNvSpPr>
          <p:nvPr/>
        </p:nvSpPr>
        <p:spPr bwMode="auto">
          <a:xfrm>
            <a:off x="76200" y="152400"/>
            <a:ext cx="5867400" cy="400110"/>
          </a:xfrm>
          <a:prstGeom prst="rect">
            <a:avLst/>
          </a:prstGeom>
          <a:noFill/>
          <a:ln w="12700">
            <a:noFill/>
            <a:miter lim="800000"/>
            <a:headEnd/>
            <a:tailEnd/>
          </a:ln>
        </p:spPr>
        <p:txBody>
          <a:bodyPr wrap="square" anchor="ctr">
            <a:spAutoFit/>
          </a:bodyPr>
          <a:lstStyle/>
          <a:p>
            <a:pPr eaLnBrk="0" hangingPunct="0"/>
            <a:r>
              <a:rPr lang="en-US" sz="2000" dirty="0">
                <a:solidFill>
                  <a:schemeClr val="bg1"/>
                </a:solidFill>
              </a:rPr>
              <a:t>Liability Policy Level Optional </a:t>
            </a:r>
            <a:r>
              <a:rPr lang="en-US" sz="2000" dirty="0" err="1">
                <a:solidFill>
                  <a:schemeClr val="bg1"/>
                </a:solidFill>
              </a:rPr>
              <a:t>Coverages</a:t>
            </a:r>
            <a:endParaRPr lang="en-US" sz="2000" dirty="0">
              <a:solidFill>
                <a:schemeClr val="bg1"/>
              </a:solidFill>
            </a:endParaRPr>
          </a:p>
        </p:txBody>
      </p:sp>
      <p:sp>
        <p:nvSpPr>
          <p:cNvPr id="4" name="Rectangle 3"/>
          <p:cNvSpPr txBox="1">
            <a:spLocks noChangeArrowheads="1"/>
          </p:cNvSpPr>
          <p:nvPr/>
        </p:nvSpPr>
        <p:spPr bwMode="auto">
          <a:xfrm>
            <a:off x="304800" y="2293620"/>
            <a:ext cx="8229600" cy="1143000"/>
          </a:xfrm>
          <a:prstGeom prst="rect">
            <a:avLst/>
          </a:prstGeom>
          <a:noFill/>
          <a:ln>
            <a:miter lim="800000"/>
            <a:headEnd/>
            <a:tailEnd/>
          </a:ln>
        </p:spPr>
        <p:txBody>
          <a:bodyPr vert="horz" lIns="91440" tIns="45720" rIns="91440" bIns="45720" rtlCol="0">
            <a:normAutofit lnSpcReduction="10000"/>
          </a:bodyPr>
          <a:lstStyle/>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mn-lt"/>
                <a:ea typeface="+mn-ea"/>
                <a:cs typeface="+mn-cs"/>
              </a:rPr>
              <a:t>Professional Liability Coverage </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Provides protection for defense costs, regardless of fault, and protection for judgments and court </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costs for any individual or business rendering an opinion, making recommendations, designing </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solutions or offering a service</a:t>
            </a:r>
          </a:p>
          <a:p>
            <a:pPr marL="342900" marR="0" lvl="0" indent="-342900" algn="l" defTabSz="914400" rtl="0" eaLnBrk="1" fontAlgn="auto" latinLnBrk="0" hangingPunct="1">
              <a:lnSpc>
                <a:spcPct val="100000"/>
              </a:lnSpc>
              <a:spcBef>
                <a:spcPct val="20000"/>
              </a:spcBef>
              <a:spcAft>
                <a:spcPts val="0"/>
              </a:spcAft>
              <a:buClrTx/>
              <a:buSzTx/>
              <a:buFontTx/>
              <a:buNone/>
              <a:tabLst/>
              <a:defRPr/>
            </a:pPr>
            <a:endPar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Tx/>
              <a:buNone/>
              <a:tabLst/>
              <a:defRPr/>
            </a:pPr>
            <a:endPar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p:txBody>
      </p:sp>
      <p:pic>
        <p:nvPicPr>
          <p:cNvPr id="5" name="Picture 4" descr="42-21522899.jpg"/>
          <p:cNvPicPr>
            <a:picLocks noChangeAspect="1"/>
          </p:cNvPicPr>
          <p:nvPr/>
        </p:nvPicPr>
        <p:blipFill>
          <a:blip r:embed="rId3" cstate="print"/>
          <a:stretch>
            <a:fillRect/>
          </a:stretch>
        </p:blipFill>
        <p:spPr>
          <a:xfrm>
            <a:off x="3124200" y="3741420"/>
            <a:ext cx="2057400" cy="144018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6934200" y="6553200"/>
            <a:ext cx="2209800" cy="228600"/>
          </a:xfrm>
          <a:prstGeom prst="rect">
            <a:avLst/>
          </a:prstGeom>
        </p:spPr>
        <p:txBody>
          <a:bodyPr/>
          <a:lstStyle/>
          <a:p>
            <a:pPr algn="r" fontAlgn="auto">
              <a:spcBef>
                <a:spcPts val="0"/>
              </a:spcBef>
              <a:spcAft>
                <a:spcPts val="0"/>
              </a:spcAft>
              <a:defRPr/>
            </a:pPr>
            <a:fld id="{0F56061C-0A42-4038-98B8-AEE9439494E5}" type="slidenum">
              <a:rPr lang="en-US" sz="1400">
                <a:latin typeface="+mn-lt"/>
              </a:rPr>
              <a:pPr algn="r" fontAlgn="auto">
                <a:spcBef>
                  <a:spcPts val="0"/>
                </a:spcBef>
                <a:spcAft>
                  <a:spcPts val="0"/>
                </a:spcAft>
                <a:defRPr/>
              </a:pPr>
              <a:t>20</a:t>
            </a:fld>
            <a:endParaRPr lang="en-US" sz="1400" dirty="0">
              <a:latin typeface="+mn-lt"/>
            </a:endParaRPr>
          </a:p>
        </p:txBody>
      </p:sp>
      <p:sp>
        <p:nvSpPr>
          <p:cNvPr id="10" name="Rectangle 66"/>
          <p:cNvSpPr>
            <a:spLocks noChangeArrowheads="1"/>
          </p:cNvSpPr>
          <p:nvPr/>
        </p:nvSpPr>
        <p:spPr bwMode="auto">
          <a:xfrm>
            <a:off x="76200" y="152400"/>
            <a:ext cx="5867400" cy="400110"/>
          </a:xfrm>
          <a:prstGeom prst="rect">
            <a:avLst/>
          </a:prstGeom>
          <a:noFill/>
          <a:ln w="12700">
            <a:noFill/>
            <a:miter lim="800000"/>
            <a:headEnd/>
            <a:tailEnd/>
          </a:ln>
        </p:spPr>
        <p:txBody>
          <a:bodyPr wrap="square" anchor="ctr">
            <a:spAutoFit/>
          </a:bodyPr>
          <a:lstStyle/>
          <a:p>
            <a:pPr eaLnBrk="0" hangingPunct="0"/>
            <a:r>
              <a:rPr lang="en-US" sz="2000" dirty="0">
                <a:solidFill>
                  <a:schemeClr val="bg1"/>
                </a:solidFill>
              </a:rPr>
              <a:t>Liability Policy Level Optional </a:t>
            </a:r>
            <a:r>
              <a:rPr lang="en-US" sz="2000" dirty="0" err="1">
                <a:solidFill>
                  <a:schemeClr val="bg1"/>
                </a:solidFill>
              </a:rPr>
              <a:t>Coverages</a:t>
            </a:r>
            <a:endParaRPr lang="en-US" sz="2000" dirty="0">
              <a:solidFill>
                <a:schemeClr val="bg1"/>
              </a:solidFill>
            </a:endParaRPr>
          </a:p>
        </p:txBody>
      </p:sp>
      <p:sp>
        <p:nvSpPr>
          <p:cNvPr id="5" name="Text Box 5"/>
          <p:cNvSpPr txBox="1">
            <a:spLocks noChangeArrowheads="1"/>
          </p:cNvSpPr>
          <p:nvPr/>
        </p:nvSpPr>
        <p:spPr bwMode="auto">
          <a:xfrm>
            <a:off x="533400" y="2316945"/>
            <a:ext cx="6248400" cy="2407455"/>
          </a:xfrm>
          <a:prstGeom prst="rect">
            <a:avLst/>
          </a:prstGeom>
          <a:noFill/>
          <a:ln w="12700" algn="ctr">
            <a:noFill/>
            <a:miter lim="800000"/>
            <a:headEnd/>
            <a:tailEnd/>
          </a:ln>
        </p:spPr>
        <p:txBody>
          <a:bodyPr wrap="square" lIns="92075" tIns="46038" rIns="92075" bIns="46038">
            <a:spAutoFit/>
          </a:bodyPr>
          <a:lstStyle/>
          <a:p>
            <a:pPr eaLnBrk="0" hangingPunct="0">
              <a:spcBef>
                <a:spcPct val="20000"/>
              </a:spcBef>
            </a:pPr>
            <a:r>
              <a:rPr lang="en-US" sz="1600" b="1" u="none" dirty="0">
                <a:solidFill>
                  <a:srgbClr val="C00000"/>
                </a:solidFill>
              </a:rPr>
              <a:t>Professional Liability </a:t>
            </a:r>
            <a:r>
              <a:rPr lang="en-US" sz="1600" b="1" u="none" dirty="0" err="1">
                <a:solidFill>
                  <a:srgbClr val="C00000"/>
                </a:solidFill>
              </a:rPr>
              <a:t>Coverages</a:t>
            </a:r>
            <a:endParaRPr lang="en-US" sz="1600" b="1" u="none" dirty="0">
              <a:solidFill>
                <a:srgbClr val="C00000"/>
              </a:solidFill>
            </a:endParaRPr>
          </a:p>
          <a:p>
            <a:pPr marL="342900" lvl="0" indent="-342900">
              <a:spcBef>
                <a:spcPct val="20000"/>
              </a:spcBef>
              <a:buClr>
                <a:srgbClr val="C00000"/>
              </a:buClr>
              <a:buFont typeface="Wingdings" pitchFamily="2" charset="2"/>
              <a:buChar char="v"/>
              <a:defRPr/>
            </a:pPr>
            <a:r>
              <a:rPr lang="en-US" sz="1600" dirty="0"/>
              <a:t>Barbers &amp; Beauticians</a:t>
            </a:r>
          </a:p>
          <a:p>
            <a:pPr marL="342900" lvl="0" indent="-342900">
              <a:spcBef>
                <a:spcPct val="20000"/>
              </a:spcBef>
              <a:buClr>
                <a:srgbClr val="C00000"/>
              </a:buClr>
              <a:buFont typeface="Wingdings" pitchFamily="2" charset="2"/>
              <a:buChar char="v"/>
              <a:defRPr/>
            </a:pPr>
            <a:r>
              <a:rPr lang="en-US" sz="1600" dirty="0"/>
              <a:t>Funeral Directors</a:t>
            </a:r>
          </a:p>
          <a:p>
            <a:pPr marL="342900" lvl="0" indent="-342900">
              <a:spcBef>
                <a:spcPct val="20000"/>
              </a:spcBef>
              <a:buClr>
                <a:srgbClr val="C00000"/>
              </a:buClr>
              <a:buFont typeface="Wingdings" pitchFamily="2" charset="2"/>
              <a:buChar char="v"/>
              <a:defRPr/>
            </a:pPr>
            <a:r>
              <a:rPr lang="en-US" sz="1600" dirty="0"/>
              <a:t>Optical &amp; Hearing Aid Establishments</a:t>
            </a:r>
          </a:p>
          <a:p>
            <a:pPr marL="342900" lvl="0" indent="-342900">
              <a:spcBef>
                <a:spcPct val="20000"/>
              </a:spcBef>
              <a:buClr>
                <a:srgbClr val="C00000"/>
              </a:buClr>
              <a:buFont typeface="Wingdings" pitchFamily="2" charset="2"/>
              <a:buChar char="v"/>
              <a:defRPr/>
            </a:pPr>
            <a:r>
              <a:rPr lang="en-US" sz="1600" dirty="0"/>
              <a:t>Pet Grooming</a:t>
            </a:r>
          </a:p>
          <a:p>
            <a:pPr marL="342900" lvl="0" indent="-342900">
              <a:spcBef>
                <a:spcPct val="20000"/>
              </a:spcBef>
              <a:buClr>
                <a:srgbClr val="C00000"/>
              </a:buClr>
              <a:buFont typeface="Wingdings" pitchFamily="2" charset="2"/>
              <a:buChar char="v"/>
              <a:defRPr/>
            </a:pPr>
            <a:r>
              <a:rPr lang="en-US" sz="1600" dirty="0"/>
              <a:t>Pharmacists</a:t>
            </a:r>
          </a:p>
          <a:p>
            <a:pPr marL="342900" lvl="0" indent="-342900">
              <a:spcBef>
                <a:spcPct val="20000"/>
              </a:spcBef>
              <a:buClr>
                <a:srgbClr val="C00000"/>
              </a:buClr>
              <a:buFont typeface="Wingdings" pitchFamily="2" charset="2"/>
              <a:buChar char="v"/>
              <a:defRPr/>
            </a:pPr>
            <a:r>
              <a:rPr lang="en-US" sz="1600" dirty="0"/>
              <a:t>Printers Errors &amp; Omissions</a:t>
            </a:r>
          </a:p>
          <a:p>
            <a:pPr marL="342900" lvl="0" indent="-342900">
              <a:spcBef>
                <a:spcPct val="20000"/>
              </a:spcBef>
              <a:buClr>
                <a:srgbClr val="C00000"/>
              </a:buClr>
              <a:buFont typeface="Wingdings" pitchFamily="2" charset="2"/>
              <a:buChar char="v"/>
              <a:defRPr/>
            </a:pPr>
            <a:r>
              <a:rPr lang="en-US" sz="1600" dirty="0"/>
              <a:t>Veterinarians</a:t>
            </a:r>
            <a:endParaRPr lang="en-US" sz="2400" dirty="0">
              <a:latin typeface="Times New Roman"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6934200" y="6553200"/>
            <a:ext cx="2209800" cy="228600"/>
          </a:xfrm>
          <a:prstGeom prst="rect">
            <a:avLst/>
          </a:prstGeom>
        </p:spPr>
        <p:txBody>
          <a:bodyPr/>
          <a:lstStyle/>
          <a:p>
            <a:pPr algn="r" fontAlgn="auto">
              <a:spcBef>
                <a:spcPts val="0"/>
              </a:spcBef>
              <a:spcAft>
                <a:spcPts val="0"/>
              </a:spcAft>
              <a:defRPr/>
            </a:pPr>
            <a:fld id="{0F56061C-0A42-4038-98B8-AEE9439494E5}" type="slidenum">
              <a:rPr lang="en-US" sz="1400">
                <a:latin typeface="+mn-lt"/>
              </a:rPr>
              <a:pPr algn="r" fontAlgn="auto">
                <a:spcBef>
                  <a:spcPts val="0"/>
                </a:spcBef>
                <a:spcAft>
                  <a:spcPts val="0"/>
                </a:spcAft>
                <a:defRPr/>
              </a:pPr>
              <a:t>21</a:t>
            </a:fld>
            <a:endParaRPr lang="en-US" sz="1400" dirty="0">
              <a:latin typeface="+mn-lt"/>
            </a:endParaRPr>
          </a:p>
        </p:txBody>
      </p:sp>
      <p:sp>
        <p:nvSpPr>
          <p:cNvPr id="10" name="Rectangle 66"/>
          <p:cNvSpPr>
            <a:spLocks noChangeArrowheads="1"/>
          </p:cNvSpPr>
          <p:nvPr/>
        </p:nvSpPr>
        <p:spPr bwMode="auto">
          <a:xfrm>
            <a:off x="76200" y="152400"/>
            <a:ext cx="5867400" cy="400110"/>
          </a:xfrm>
          <a:prstGeom prst="rect">
            <a:avLst/>
          </a:prstGeom>
          <a:noFill/>
          <a:ln w="12700">
            <a:noFill/>
            <a:miter lim="800000"/>
            <a:headEnd/>
            <a:tailEnd/>
          </a:ln>
        </p:spPr>
        <p:txBody>
          <a:bodyPr wrap="square" anchor="ctr">
            <a:spAutoFit/>
          </a:bodyPr>
          <a:lstStyle/>
          <a:p>
            <a:pPr eaLnBrk="0" hangingPunct="0"/>
            <a:r>
              <a:rPr lang="en-US" sz="2000" dirty="0">
                <a:solidFill>
                  <a:schemeClr val="bg1"/>
                </a:solidFill>
              </a:rPr>
              <a:t>Liability Location Level Optional </a:t>
            </a:r>
            <a:r>
              <a:rPr lang="en-US" sz="2000" dirty="0" err="1">
                <a:solidFill>
                  <a:schemeClr val="bg1"/>
                </a:solidFill>
              </a:rPr>
              <a:t>Coverages</a:t>
            </a:r>
            <a:endParaRPr lang="en-US" sz="2000" dirty="0">
              <a:solidFill>
                <a:schemeClr val="bg1"/>
              </a:solidFill>
            </a:endParaRPr>
          </a:p>
        </p:txBody>
      </p:sp>
      <p:sp>
        <p:nvSpPr>
          <p:cNvPr id="4" name="Text Box 5"/>
          <p:cNvSpPr txBox="1">
            <a:spLocks noChangeArrowheads="1"/>
          </p:cNvSpPr>
          <p:nvPr/>
        </p:nvSpPr>
        <p:spPr bwMode="auto">
          <a:xfrm>
            <a:off x="457200" y="2447057"/>
            <a:ext cx="8229600" cy="2505943"/>
          </a:xfrm>
          <a:prstGeom prst="rect">
            <a:avLst/>
          </a:prstGeom>
          <a:noFill/>
          <a:ln w="12700" algn="ctr">
            <a:noFill/>
            <a:miter lim="800000"/>
            <a:headEnd/>
            <a:tailEnd/>
          </a:ln>
        </p:spPr>
        <p:txBody>
          <a:bodyPr wrap="square" lIns="92075" tIns="46038" rIns="92075" bIns="46038">
            <a:spAutoFit/>
          </a:bodyPr>
          <a:lstStyle/>
          <a:p>
            <a:pPr eaLnBrk="0" hangingPunct="0">
              <a:spcBef>
                <a:spcPct val="20000"/>
              </a:spcBef>
            </a:pPr>
            <a:r>
              <a:rPr lang="en-US" sz="1600" b="1" u="none" dirty="0" err="1">
                <a:solidFill>
                  <a:srgbClr val="C00000"/>
                </a:solidFill>
              </a:rPr>
              <a:t>Garagekeepers</a:t>
            </a:r>
            <a:r>
              <a:rPr lang="en-US" sz="1600" b="1" u="none" dirty="0">
                <a:solidFill>
                  <a:srgbClr val="C00000"/>
                </a:solidFill>
              </a:rPr>
              <a:t> Broad Coverage </a:t>
            </a:r>
            <a:r>
              <a:rPr lang="en-US" sz="1600" u="none" dirty="0">
                <a:solidFill>
                  <a:schemeClr val="tx1">
                    <a:lumMod val="75000"/>
                    <a:lumOff val="25000"/>
                  </a:schemeClr>
                </a:solidFill>
              </a:rPr>
              <a:t>Provides Comprehensive and Collision coverage on a Legal Liability or Direct Primary basis for loss to a customer’s auto including audio, visual and data electronic equipment</a:t>
            </a:r>
          </a:p>
          <a:p>
            <a:pPr eaLnBrk="0" hangingPunct="0">
              <a:spcBef>
                <a:spcPct val="20000"/>
              </a:spcBef>
            </a:pPr>
            <a:endParaRPr lang="en-US" sz="1600" dirty="0">
              <a:solidFill>
                <a:schemeClr val="tx1">
                  <a:lumMod val="75000"/>
                  <a:lumOff val="25000"/>
                </a:schemeClr>
              </a:solidFill>
            </a:endParaRPr>
          </a:p>
          <a:p>
            <a:pPr eaLnBrk="0" hangingPunct="0">
              <a:spcBef>
                <a:spcPct val="20000"/>
              </a:spcBef>
            </a:pPr>
            <a:r>
              <a:rPr lang="en-US" sz="1600" b="1" dirty="0">
                <a:solidFill>
                  <a:srgbClr val="C00000"/>
                </a:solidFill>
              </a:rPr>
              <a:t>Liquor Liability Coverage - </a:t>
            </a:r>
            <a:r>
              <a:rPr lang="en-US" sz="1600" dirty="0">
                <a:solidFill>
                  <a:schemeClr val="tx1">
                    <a:lumMod val="75000"/>
                    <a:lumOff val="25000"/>
                  </a:schemeClr>
                </a:solidFill>
              </a:rPr>
              <a:t>covers the legal liability imposed on a business that sells, distributes or serves alcoholic beverages. </a:t>
            </a:r>
          </a:p>
          <a:p>
            <a:pPr eaLnBrk="0" hangingPunct="0">
              <a:spcBef>
                <a:spcPct val="20000"/>
              </a:spcBef>
            </a:pPr>
            <a:endParaRPr lang="en-US" sz="1600" dirty="0">
              <a:solidFill>
                <a:schemeClr val="tx1">
                  <a:lumMod val="75000"/>
                  <a:lumOff val="25000"/>
                </a:schemeClr>
              </a:solidFill>
            </a:endParaRPr>
          </a:p>
          <a:p>
            <a:pPr eaLnBrk="0" hangingPunct="0">
              <a:spcBef>
                <a:spcPct val="20000"/>
              </a:spcBef>
            </a:pPr>
            <a:r>
              <a:rPr lang="en-US" sz="1600" dirty="0">
                <a:solidFill>
                  <a:schemeClr val="tx1">
                    <a:lumMod val="75000"/>
                    <a:lumOff val="25000"/>
                  </a:schemeClr>
                </a:solidFill>
              </a:rPr>
              <a:t>The types of businesses that should carry Liquor Liability include bars, restaurants, hotels, motels, liquor stores, convenience and grocery stores that sell liquor</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6934200" y="6553200"/>
            <a:ext cx="2209800" cy="228600"/>
          </a:xfrm>
          <a:prstGeom prst="rect">
            <a:avLst/>
          </a:prstGeom>
        </p:spPr>
        <p:txBody>
          <a:bodyPr/>
          <a:lstStyle/>
          <a:p>
            <a:pPr algn="r" fontAlgn="auto">
              <a:spcBef>
                <a:spcPts val="0"/>
              </a:spcBef>
              <a:spcAft>
                <a:spcPts val="0"/>
              </a:spcAft>
              <a:defRPr/>
            </a:pPr>
            <a:fld id="{0F56061C-0A42-4038-98B8-AEE9439494E5}" type="slidenum">
              <a:rPr lang="en-US" sz="1400">
                <a:latin typeface="+mn-lt"/>
              </a:rPr>
              <a:pPr algn="r" fontAlgn="auto">
                <a:spcBef>
                  <a:spcPts val="0"/>
                </a:spcBef>
                <a:spcAft>
                  <a:spcPts val="0"/>
                </a:spcAft>
                <a:defRPr/>
              </a:pPr>
              <a:t>22</a:t>
            </a:fld>
            <a:endParaRPr lang="en-US" sz="1400" dirty="0">
              <a:latin typeface="+mn-lt"/>
            </a:endParaRPr>
          </a:p>
        </p:txBody>
      </p:sp>
      <p:sp>
        <p:nvSpPr>
          <p:cNvPr id="10" name="Rectangle 66"/>
          <p:cNvSpPr>
            <a:spLocks noChangeArrowheads="1"/>
          </p:cNvSpPr>
          <p:nvPr/>
        </p:nvSpPr>
        <p:spPr bwMode="auto">
          <a:xfrm>
            <a:off x="76200" y="152400"/>
            <a:ext cx="5867400" cy="400110"/>
          </a:xfrm>
          <a:prstGeom prst="rect">
            <a:avLst/>
          </a:prstGeom>
          <a:noFill/>
          <a:ln w="12700">
            <a:noFill/>
            <a:miter lim="800000"/>
            <a:headEnd/>
            <a:tailEnd/>
          </a:ln>
        </p:spPr>
        <p:txBody>
          <a:bodyPr wrap="square" anchor="ctr">
            <a:spAutoFit/>
          </a:bodyPr>
          <a:lstStyle/>
          <a:p>
            <a:pPr eaLnBrk="0" hangingPunct="0"/>
            <a:r>
              <a:rPr lang="en-US" sz="2000" dirty="0">
                <a:solidFill>
                  <a:schemeClr val="bg1"/>
                </a:solidFill>
              </a:rPr>
              <a:t>Property Policy Level Optional </a:t>
            </a:r>
            <a:r>
              <a:rPr lang="en-US" sz="2000" dirty="0" err="1">
                <a:solidFill>
                  <a:schemeClr val="bg1"/>
                </a:solidFill>
              </a:rPr>
              <a:t>Coverages</a:t>
            </a:r>
            <a:endParaRPr lang="en-US" sz="2000" dirty="0">
              <a:solidFill>
                <a:schemeClr val="bg1"/>
              </a:solidFill>
            </a:endParaRPr>
          </a:p>
        </p:txBody>
      </p:sp>
      <p:sp>
        <p:nvSpPr>
          <p:cNvPr id="4" name="Rectangle 4"/>
          <p:cNvSpPr txBox="1">
            <a:spLocks noChangeArrowheads="1"/>
          </p:cNvSpPr>
          <p:nvPr/>
        </p:nvSpPr>
        <p:spPr bwMode="auto">
          <a:xfrm>
            <a:off x="457200" y="3048001"/>
            <a:ext cx="8229600" cy="1219199"/>
          </a:xfrm>
          <a:prstGeom prst="rect">
            <a:avLst/>
          </a:prstGeom>
          <a:noFill/>
          <a:ln>
            <a:miter lim="800000"/>
            <a:headEnd/>
            <a:tailEnd/>
          </a:ln>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mn-lt"/>
                <a:ea typeface="+mn-ea"/>
                <a:cs typeface="+mn-cs"/>
              </a:rPr>
              <a:t>Computer Fraud &amp; Funds Transfer Fraud </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Provides coverage for loss resulting from the fraudulent transfer</a:t>
            </a:r>
            <a:r>
              <a:rPr kumimoji="0" lang="en-US" sz="1600" b="0" i="0" u="none" strike="noStrike" kern="1200" cap="none" spc="0" normalizeH="0" noProof="0" dirty="0">
                <a:ln>
                  <a:noFill/>
                </a:ln>
                <a:solidFill>
                  <a:schemeClr val="tx1">
                    <a:lumMod val="75000"/>
                    <a:lumOff val="25000"/>
                  </a:schemeClr>
                </a:solidFill>
                <a:effectLst/>
                <a:uLnTx/>
                <a:uFillTx/>
                <a:latin typeface="+mn-lt"/>
                <a:ea typeface="+mn-ea"/>
                <a:cs typeface="+mn-cs"/>
              </a:rPr>
              <a:t> </a:t>
            </a: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of money, securities or other </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property from inside the described premises, bank or savings institution to a person or place </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outside those premises by the use of any computer to cause the transfer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6934200" y="6553200"/>
            <a:ext cx="2209800" cy="228600"/>
          </a:xfrm>
          <a:prstGeom prst="rect">
            <a:avLst/>
          </a:prstGeom>
        </p:spPr>
        <p:txBody>
          <a:bodyPr/>
          <a:lstStyle/>
          <a:p>
            <a:pPr algn="r" fontAlgn="auto">
              <a:spcBef>
                <a:spcPts val="0"/>
              </a:spcBef>
              <a:spcAft>
                <a:spcPts val="0"/>
              </a:spcAft>
              <a:defRPr/>
            </a:pPr>
            <a:fld id="{0F56061C-0A42-4038-98B8-AEE9439494E5}" type="slidenum">
              <a:rPr lang="en-US" sz="1400">
                <a:latin typeface="+mn-lt"/>
              </a:rPr>
              <a:pPr algn="r" fontAlgn="auto">
                <a:spcBef>
                  <a:spcPts val="0"/>
                </a:spcBef>
                <a:spcAft>
                  <a:spcPts val="0"/>
                </a:spcAft>
                <a:defRPr/>
              </a:pPr>
              <a:t>23</a:t>
            </a:fld>
            <a:endParaRPr lang="en-US" sz="1400" dirty="0">
              <a:latin typeface="+mn-lt"/>
            </a:endParaRPr>
          </a:p>
        </p:txBody>
      </p:sp>
      <p:sp>
        <p:nvSpPr>
          <p:cNvPr id="10" name="Rectangle 66"/>
          <p:cNvSpPr>
            <a:spLocks noChangeArrowheads="1"/>
          </p:cNvSpPr>
          <p:nvPr/>
        </p:nvSpPr>
        <p:spPr bwMode="auto">
          <a:xfrm>
            <a:off x="76200" y="152400"/>
            <a:ext cx="6858000" cy="400110"/>
          </a:xfrm>
          <a:prstGeom prst="rect">
            <a:avLst/>
          </a:prstGeom>
          <a:noFill/>
          <a:ln w="12700">
            <a:noFill/>
            <a:miter lim="800000"/>
            <a:headEnd/>
            <a:tailEnd/>
          </a:ln>
        </p:spPr>
        <p:txBody>
          <a:bodyPr wrap="square" anchor="ctr">
            <a:spAutoFit/>
          </a:bodyPr>
          <a:lstStyle/>
          <a:p>
            <a:pPr eaLnBrk="0" hangingPunct="0"/>
            <a:r>
              <a:rPr lang="en-US" sz="2000" dirty="0">
                <a:solidFill>
                  <a:schemeClr val="bg1"/>
                </a:solidFill>
              </a:rPr>
              <a:t> Employee Dishonesty – Including ERISA, Forgery &amp; Alterations</a:t>
            </a:r>
          </a:p>
        </p:txBody>
      </p:sp>
      <p:sp>
        <p:nvSpPr>
          <p:cNvPr id="4" name="Rectangle 3"/>
          <p:cNvSpPr txBox="1">
            <a:spLocks noChangeArrowheads="1"/>
          </p:cNvSpPr>
          <p:nvPr/>
        </p:nvSpPr>
        <p:spPr bwMode="auto">
          <a:xfrm>
            <a:off x="457200" y="2362200"/>
            <a:ext cx="8458200" cy="2286000"/>
          </a:xfrm>
          <a:prstGeom prst="rect">
            <a:avLst/>
          </a:prstGeom>
          <a:noFill/>
          <a:ln>
            <a:miter lim="800000"/>
            <a:headEnd/>
            <a:tailEnd/>
          </a:ln>
        </p:spPr>
        <p:txBody>
          <a:bodyPr vert="horz" lIns="91440" tIns="45720" rIns="91440" bIns="45720" rtlCol="0">
            <a:normAutofit/>
          </a:bodyPr>
          <a:lstStyle/>
          <a:p>
            <a:pPr marL="342900" marR="0" lvl="0" indent="-342900" defTabSz="914400" rtl="0" eaLnBrk="1" fontAlgn="auto" latinLnBrk="0" hangingPunct="1">
              <a:lnSpc>
                <a:spcPct val="80000"/>
              </a:lnSpc>
              <a:spcBef>
                <a:spcPct val="20000"/>
              </a:spcBef>
              <a:spcAft>
                <a:spcPts val="0"/>
              </a:spcAft>
              <a:buClrTx/>
              <a:buSzTx/>
              <a:buFontTx/>
              <a:buNone/>
              <a:tabLst/>
              <a:defRPr/>
            </a:pPr>
            <a:r>
              <a:rPr kumimoji="0" lang="en-US" sz="1600" b="1" u="none" strike="noStrike" kern="1200" cap="none" spc="0" normalizeH="0" baseline="0" noProof="0" dirty="0">
                <a:ln>
                  <a:noFill/>
                </a:ln>
                <a:solidFill>
                  <a:srgbClr val="C00000"/>
                </a:solidFill>
                <a:effectLst/>
                <a:uLnTx/>
                <a:uFillTx/>
                <a:latin typeface="+mn-lt"/>
                <a:ea typeface="+mn-ea"/>
                <a:cs typeface="+mn-cs"/>
              </a:rPr>
              <a:t>Employee Dishonesty</a:t>
            </a:r>
            <a:r>
              <a:rPr kumimoji="0" lang="en-US" sz="1600" b="0" u="none" strike="noStrike" kern="1200" cap="none" spc="0" normalizeH="0" baseline="0" noProof="0" dirty="0">
                <a:ln>
                  <a:noFill/>
                </a:ln>
                <a:solidFill>
                  <a:srgbClr val="C00000"/>
                </a:solidFill>
                <a:effectLst/>
                <a:uLnTx/>
                <a:uFillTx/>
                <a:latin typeface="+mn-lt"/>
                <a:ea typeface="+mn-ea"/>
                <a:cs typeface="+mn-cs"/>
              </a:rPr>
              <a:t> - </a:t>
            </a: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This insurance protects the employer</a:t>
            </a:r>
            <a:r>
              <a:rPr kumimoji="0" lang="en-US" sz="1600" b="0" u="none" strike="noStrike" kern="1200" cap="none" spc="0" normalizeH="0" noProof="0" dirty="0">
                <a:ln>
                  <a:noFill/>
                </a:ln>
                <a:solidFill>
                  <a:schemeClr val="tx1">
                    <a:lumMod val="75000"/>
                    <a:lumOff val="25000"/>
                  </a:schemeClr>
                </a:solidFill>
                <a:effectLst/>
                <a:uLnTx/>
                <a:uFillTx/>
                <a:latin typeface="+mn-lt"/>
                <a:ea typeface="+mn-ea"/>
                <a:cs typeface="+mn-cs"/>
              </a:rPr>
              <a:t> </a:t>
            </a: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from financial loss due to the </a:t>
            </a:r>
          </a:p>
          <a:p>
            <a:pPr marL="342900" marR="0" lvl="0" indent="-342900" defTabSz="914400" rtl="0" eaLnBrk="1" fontAlgn="auto" latinLnBrk="0" hangingPunct="1">
              <a:lnSpc>
                <a:spcPct val="80000"/>
              </a:lnSpc>
              <a:spcBef>
                <a:spcPct val="20000"/>
              </a:spcBef>
              <a:spcAft>
                <a:spcPts val="0"/>
              </a:spcAft>
              <a:buClrTx/>
              <a:buSzTx/>
              <a:buFontTx/>
              <a:buNone/>
              <a:tabLst/>
              <a:defRPr/>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fraudulent activities of an employee or group of employees. The loss can be the result of the </a:t>
            </a:r>
          </a:p>
          <a:p>
            <a:pPr marL="342900" marR="0" lvl="0" indent="-342900" defTabSz="914400" rtl="0" eaLnBrk="1" fontAlgn="auto" latinLnBrk="0" hangingPunct="1">
              <a:lnSpc>
                <a:spcPct val="80000"/>
              </a:lnSpc>
              <a:spcBef>
                <a:spcPct val="20000"/>
              </a:spcBef>
              <a:spcAft>
                <a:spcPts val="0"/>
              </a:spcAft>
              <a:buClrTx/>
              <a:buSzTx/>
              <a:buFontTx/>
              <a:buNone/>
              <a:tabLst/>
              <a:defRPr/>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employee’s theft of money, securities or other property of the employer. Coverage can also </a:t>
            </a:r>
          </a:p>
          <a:p>
            <a:pPr marL="342900" marR="0" lvl="0" indent="-342900" defTabSz="914400" rtl="0" eaLnBrk="1" fontAlgn="auto" latinLnBrk="0" hangingPunct="1">
              <a:lnSpc>
                <a:spcPct val="80000"/>
              </a:lnSpc>
              <a:spcBef>
                <a:spcPct val="20000"/>
              </a:spcBef>
              <a:spcAft>
                <a:spcPts val="0"/>
              </a:spcAft>
              <a:buClrTx/>
              <a:buSzTx/>
              <a:buFontTx/>
              <a:buNone/>
              <a:tabLst/>
              <a:defRPr/>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include:</a:t>
            </a:r>
          </a:p>
          <a:p>
            <a:pPr marL="342900" marR="0" lvl="0" indent="-342900" algn="l" defTabSz="914400" rtl="0" eaLnBrk="1" fontAlgn="auto" latinLnBrk="0" hangingPunct="1">
              <a:lnSpc>
                <a:spcPct val="80000"/>
              </a:lnSpc>
              <a:spcBef>
                <a:spcPct val="20000"/>
              </a:spcBef>
              <a:spcAft>
                <a:spcPts val="0"/>
              </a:spcAft>
              <a:buClrTx/>
              <a:buSzTx/>
              <a:buFontTx/>
              <a:buNone/>
              <a:tabLst/>
              <a:defRPr/>
            </a:pPr>
            <a:endPar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a:p>
            <a:pPr marL="342900" marR="0" lvl="0" indent="-342900" algn="l" defTabSz="914400" rtl="0" eaLnBrk="1" fontAlgn="auto" latinLnBrk="0" hangingPunct="1">
              <a:lnSpc>
                <a:spcPct val="80000"/>
              </a:lnSpc>
              <a:spcBef>
                <a:spcPct val="20000"/>
              </a:spcBef>
              <a:spcAft>
                <a:spcPts val="0"/>
              </a:spcAft>
              <a:buClrTx/>
              <a:buSzTx/>
              <a:buFontTx/>
              <a:buNone/>
              <a:tabLst/>
              <a:defRPr/>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 1. Forgery or alteration</a:t>
            </a:r>
          </a:p>
          <a:p>
            <a:pPr marL="342900" marR="0" lvl="0" indent="-342900" algn="l" defTabSz="914400" rtl="0" eaLnBrk="1" fontAlgn="auto" latinLnBrk="0" hangingPunct="1">
              <a:lnSpc>
                <a:spcPct val="80000"/>
              </a:lnSpc>
              <a:spcBef>
                <a:spcPct val="20000"/>
              </a:spcBef>
              <a:spcAft>
                <a:spcPts val="0"/>
              </a:spcAft>
              <a:buClrTx/>
              <a:buSzTx/>
              <a:buFontTx/>
              <a:buNone/>
              <a:tabLst/>
              <a:defRPr/>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 2.  Credit card fraud</a:t>
            </a:r>
          </a:p>
          <a:p>
            <a:pPr marL="342900" marR="0" lvl="0" indent="-342900" algn="l" defTabSz="914400" rtl="0" eaLnBrk="1" fontAlgn="auto" latinLnBrk="0" hangingPunct="1">
              <a:lnSpc>
                <a:spcPct val="80000"/>
              </a:lnSpc>
              <a:spcBef>
                <a:spcPct val="20000"/>
              </a:spcBef>
              <a:spcAft>
                <a:spcPts val="0"/>
              </a:spcAft>
              <a:buClrTx/>
              <a:buSzTx/>
              <a:buFontTx/>
              <a:buNone/>
              <a:tabLst/>
              <a:defRPr/>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 </a:t>
            </a:r>
          </a:p>
          <a:p>
            <a:pPr marL="342900" marR="0" lvl="0" indent="-342900" algn="l" defTabSz="914400" rtl="0" eaLnBrk="1" fontAlgn="auto" latinLnBrk="0" hangingPunct="1">
              <a:lnSpc>
                <a:spcPct val="80000"/>
              </a:lnSpc>
              <a:spcBef>
                <a:spcPct val="20000"/>
              </a:spcBef>
              <a:spcAft>
                <a:spcPts val="0"/>
              </a:spcAft>
              <a:buClrTx/>
              <a:buSzTx/>
              <a:buFont typeface="Wingdings" pitchFamily="2" charset="2"/>
              <a:buChar char="v"/>
              <a:tabLst/>
              <a:defRPr/>
            </a:pPr>
            <a:r>
              <a:rPr kumimoji="0" lang="en-US" sz="1600" b="1" u="none" strike="noStrike" kern="1200" cap="none" spc="0" normalizeH="0" baseline="0" noProof="0" dirty="0">
                <a:ln>
                  <a:noFill/>
                </a:ln>
                <a:solidFill>
                  <a:srgbClr val="C00000"/>
                </a:solidFill>
                <a:effectLst/>
                <a:uLnTx/>
                <a:uFillTx/>
                <a:latin typeface="+mn-lt"/>
                <a:ea typeface="+mn-ea"/>
                <a:cs typeface="+mn-cs"/>
              </a:rPr>
              <a:t>Employee Retirement Income Security Act (ERISA) bond</a:t>
            </a:r>
            <a:r>
              <a:rPr kumimoji="0" lang="en-US" sz="1600" b="0" u="none" strike="noStrike" kern="1200" cap="none" spc="0" normalizeH="0" baseline="0" noProof="0" dirty="0">
                <a:ln>
                  <a:noFill/>
                </a:ln>
                <a:solidFill>
                  <a:srgbClr val="C00000"/>
                </a:solidFill>
                <a:effectLst/>
                <a:uLnTx/>
                <a:uFillTx/>
                <a:latin typeface="+mn-lt"/>
                <a:ea typeface="+mn-ea"/>
                <a:cs typeface="+mn-cs"/>
              </a:rPr>
              <a: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6934200" y="6553200"/>
            <a:ext cx="2209800" cy="228600"/>
          </a:xfrm>
          <a:prstGeom prst="rect">
            <a:avLst/>
          </a:prstGeom>
        </p:spPr>
        <p:txBody>
          <a:bodyPr/>
          <a:lstStyle/>
          <a:p>
            <a:pPr algn="r" fontAlgn="auto">
              <a:spcBef>
                <a:spcPts val="0"/>
              </a:spcBef>
              <a:spcAft>
                <a:spcPts val="0"/>
              </a:spcAft>
              <a:defRPr/>
            </a:pPr>
            <a:fld id="{0F56061C-0A42-4038-98B8-AEE9439494E5}" type="slidenum">
              <a:rPr lang="en-US" sz="1400">
                <a:latin typeface="+mn-lt"/>
              </a:rPr>
              <a:pPr algn="r" fontAlgn="auto">
                <a:spcBef>
                  <a:spcPts val="0"/>
                </a:spcBef>
                <a:spcAft>
                  <a:spcPts val="0"/>
                </a:spcAft>
                <a:defRPr/>
              </a:pPr>
              <a:t>24</a:t>
            </a:fld>
            <a:endParaRPr lang="en-US" sz="1400" dirty="0">
              <a:latin typeface="+mn-lt"/>
            </a:endParaRPr>
          </a:p>
        </p:txBody>
      </p:sp>
      <p:sp>
        <p:nvSpPr>
          <p:cNvPr id="10" name="Rectangle 66"/>
          <p:cNvSpPr>
            <a:spLocks noChangeArrowheads="1"/>
          </p:cNvSpPr>
          <p:nvPr/>
        </p:nvSpPr>
        <p:spPr bwMode="auto">
          <a:xfrm>
            <a:off x="76200" y="152400"/>
            <a:ext cx="5867400" cy="400110"/>
          </a:xfrm>
          <a:prstGeom prst="rect">
            <a:avLst/>
          </a:prstGeom>
          <a:noFill/>
          <a:ln w="12700">
            <a:noFill/>
            <a:miter lim="800000"/>
            <a:headEnd/>
            <a:tailEnd/>
          </a:ln>
        </p:spPr>
        <p:txBody>
          <a:bodyPr wrap="square" anchor="ctr">
            <a:spAutoFit/>
          </a:bodyPr>
          <a:lstStyle/>
          <a:p>
            <a:pPr eaLnBrk="0" hangingPunct="0"/>
            <a:r>
              <a:rPr lang="en-US" sz="2000" dirty="0">
                <a:solidFill>
                  <a:schemeClr val="bg1"/>
                </a:solidFill>
              </a:rPr>
              <a:t>Property Policy Level Optional </a:t>
            </a:r>
            <a:r>
              <a:rPr lang="en-US" sz="2000" dirty="0" err="1">
                <a:solidFill>
                  <a:schemeClr val="bg1"/>
                </a:solidFill>
              </a:rPr>
              <a:t>Coverages</a:t>
            </a:r>
            <a:endParaRPr lang="en-US" sz="2000" dirty="0">
              <a:solidFill>
                <a:schemeClr val="bg1"/>
              </a:solidFill>
            </a:endParaRPr>
          </a:p>
        </p:txBody>
      </p:sp>
      <p:sp>
        <p:nvSpPr>
          <p:cNvPr id="4" name="Rectangle 3"/>
          <p:cNvSpPr txBox="1">
            <a:spLocks noChangeArrowheads="1"/>
          </p:cNvSpPr>
          <p:nvPr/>
        </p:nvSpPr>
        <p:spPr bwMode="auto">
          <a:xfrm>
            <a:off x="457200" y="2819401"/>
            <a:ext cx="8229600" cy="1523999"/>
          </a:xfrm>
          <a:prstGeom prst="rect">
            <a:avLst/>
          </a:prstGeom>
          <a:noFill/>
          <a:ln>
            <a:miter lim="800000"/>
            <a:headEnd/>
            <a:tailEnd/>
          </a:ln>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1" u="none" strike="noStrike" kern="1200" cap="none" spc="0" normalizeH="0" baseline="0" noProof="0" dirty="0">
                <a:ln>
                  <a:noFill/>
                </a:ln>
                <a:solidFill>
                  <a:srgbClr val="C00000"/>
                </a:solidFill>
                <a:effectLst/>
                <a:uLnTx/>
                <a:uFillTx/>
                <a:latin typeface="+mn-lt"/>
                <a:ea typeface="+mn-ea"/>
                <a:cs typeface="+mn-cs"/>
              </a:rPr>
              <a:t>Limited Fungi or Bacteria Coverage</a:t>
            </a:r>
            <a:endParaRPr lang="en-US" sz="1600" dirty="0">
              <a:solidFill>
                <a:srgbClr val="C00000"/>
              </a:solidFill>
            </a:endParaRP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The coverage described in applies when the "fungi", wet or dry rot or bacteria are the result of a </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"specified cause of loss" that occurs during the policy period</a:t>
            </a:r>
            <a:endParaRPr lang="en-US" sz="1600" b="1" dirty="0">
              <a:solidFill>
                <a:schemeClr val="tx1">
                  <a:lumMod val="75000"/>
                  <a:lumOff val="25000"/>
                </a:schemeClr>
              </a:solidFill>
            </a:endParaRPr>
          </a:p>
          <a:p>
            <a:pPr marL="342900" marR="0" lvl="0" indent="-342900" algn="l" defTabSz="914400" rtl="0" eaLnBrk="1" fontAlgn="auto" latinLnBrk="0" hangingPunct="1">
              <a:lnSpc>
                <a:spcPct val="100000"/>
              </a:lnSpc>
              <a:spcBef>
                <a:spcPct val="20000"/>
              </a:spcBef>
              <a:spcAft>
                <a:spcPts val="0"/>
              </a:spcAft>
              <a:buClrTx/>
              <a:buSzTx/>
              <a:buFontTx/>
              <a:buNone/>
              <a:tabLst/>
              <a:defRPr/>
            </a:pPr>
            <a:endParaRPr kumimoji="0" lang="en-US" sz="1600" b="1" u="none" strike="noStrike" kern="1200" cap="none" spc="0" normalizeH="0" baseline="0" noProof="0" dirty="0">
              <a:ln>
                <a:noFill/>
              </a:ln>
              <a:solidFill>
                <a:schemeClr val="tx1">
                  <a:lumMod val="75000"/>
                  <a:lumOff val="25000"/>
                </a:schemeClr>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1" u="none" strike="noStrike" kern="1200" cap="none" spc="0" normalizeH="0" baseline="0" noProof="0" dirty="0">
                <a:ln>
                  <a:noFill/>
                </a:ln>
                <a:solidFill>
                  <a:srgbClr val="C00000"/>
                </a:solidFill>
                <a:effectLst/>
                <a:uLnTx/>
                <a:uFillTx/>
                <a:latin typeface="+mn-lt"/>
                <a:ea typeface="+mn-ea"/>
                <a:cs typeface="+mn-cs"/>
              </a:rPr>
              <a:t>Equipment Breakdown Exclusion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6934200" y="6553200"/>
            <a:ext cx="2209800" cy="228600"/>
          </a:xfrm>
          <a:prstGeom prst="rect">
            <a:avLst/>
          </a:prstGeom>
        </p:spPr>
        <p:txBody>
          <a:bodyPr/>
          <a:lstStyle/>
          <a:p>
            <a:pPr algn="r" fontAlgn="auto">
              <a:spcBef>
                <a:spcPts val="0"/>
              </a:spcBef>
              <a:spcAft>
                <a:spcPts val="0"/>
              </a:spcAft>
              <a:defRPr/>
            </a:pPr>
            <a:fld id="{0F56061C-0A42-4038-98B8-AEE9439494E5}" type="slidenum">
              <a:rPr lang="en-US" sz="1400">
                <a:latin typeface="+mn-lt"/>
              </a:rPr>
              <a:pPr algn="r" fontAlgn="auto">
                <a:spcBef>
                  <a:spcPts val="0"/>
                </a:spcBef>
                <a:spcAft>
                  <a:spcPts val="0"/>
                </a:spcAft>
                <a:defRPr/>
              </a:pPr>
              <a:t>25</a:t>
            </a:fld>
            <a:endParaRPr lang="en-US" sz="1400" dirty="0">
              <a:latin typeface="+mn-lt"/>
            </a:endParaRPr>
          </a:p>
        </p:txBody>
      </p:sp>
      <p:sp>
        <p:nvSpPr>
          <p:cNvPr id="10" name="Rectangle 66"/>
          <p:cNvSpPr>
            <a:spLocks noChangeArrowheads="1"/>
          </p:cNvSpPr>
          <p:nvPr/>
        </p:nvSpPr>
        <p:spPr bwMode="auto">
          <a:xfrm>
            <a:off x="76200" y="152400"/>
            <a:ext cx="5867400" cy="400110"/>
          </a:xfrm>
          <a:prstGeom prst="rect">
            <a:avLst/>
          </a:prstGeom>
          <a:noFill/>
          <a:ln w="12700">
            <a:noFill/>
            <a:miter lim="800000"/>
            <a:headEnd/>
            <a:tailEnd/>
          </a:ln>
        </p:spPr>
        <p:txBody>
          <a:bodyPr wrap="square" anchor="ctr">
            <a:spAutoFit/>
          </a:bodyPr>
          <a:lstStyle/>
          <a:p>
            <a:pPr eaLnBrk="0" hangingPunct="0"/>
            <a:r>
              <a:rPr lang="en-US" sz="2000" dirty="0">
                <a:solidFill>
                  <a:schemeClr val="bg1"/>
                </a:solidFill>
              </a:rPr>
              <a:t>Property Location Level </a:t>
            </a:r>
            <a:r>
              <a:rPr lang="en-US" sz="2000" dirty="0" err="1">
                <a:solidFill>
                  <a:schemeClr val="bg1"/>
                </a:solidFill>
              </a:rPr>
              <a:t>Coverages</a:t>
            </a:r>
            <a:endParaRPr lang="en-US" sz="2000" dirty="0">
              <a:solidFill>
                <a:schemeClr val="bg1"/>
              </a:solidFill>
            </a:endParaRPr>
          </a:p>
        </p:txBody>
      </p:sp>
      <p:sp>
        <p:nvSpPr>
          <p:cNvPr id="4" name="Rectangle 3"/>
          <p:cNvSpPr txBox="1">
            <a:spLocks noChangeArrowheads="1"/>
          </p:cNvSpPr>
          <p:nvPr/>
        </p:nvSpPr>
        <p:spPr bwMode="auto">
          <a:xfrm>
            <a:off x="381000" y="2408238"/>
            <a:ext cx="8229600" cy="2697162"/>
          </a:xfrm>
          <a:prstGeom prst="rect">
            <a:avLst/>
          </a:prstGeom>
          <a:noFill/>
          <a:ln>
            <a:miter lim="800000"/>
            <a:headEnd/>
            <a:tailEnd/>
          </a:ln>
        </p:spPr>
        <p:txBody>
          <a:bodyPr vert="horz" lIns="91440" tIns="45720" rIns="91440" bIns="45720" rtlCol="0">
            <a:normAutofit fontScale="92500" lnSpcReduction="20000"/>
          </a:bodyPr>
          <a:lstStyle/>
          <a:p>
            <a:pPr marL="342900" marR="0" lvl="0" indent="-342900" algn="l" defTabSz="914400" rtl="0" eaLnBrk="1" fontAlgn="auto" latinLnBrk="0" hangingPunct="1">
              <a:spcBef>
                <a:spcPct val="20000"/>
              </a:spcBef>
              <a:spcAft>
                <a:spcPts val="0"/>
              </a:spcAft>
              <a:buClrTx/>
              <a:buSzTx/>
              <a:buFontTx/>
              <a:buNone/>
              <a:tabLst/>
              <a:defRPr/>
            </a:pPr>
            <a:r>
              <a:rPr kumimoji="0" lang="en-US" sz="1600" b="1" u="none" strike="noStrike" kern="1200" cap="none" spc="0" normalizeH="0" baseline="0" noProof="0" dirty="0">
                <a:ln>
                  <a:noFill/>
                </a:ln>
                <a:solidFill>
                  <a:srgbClr val="C00000"/>
                </a:solidFill>
                <a:effectLst/>
                <a:uLnTx/>
                <a:uFillTx/>
                <a:latin typeface="+mn-lt"/>
                <a:ea typeface="+mn-ea"/>
                <a:cs typeface="+mn-cs"/>
              </a:rPr>
              <a:t>Building Property Coverage </a:t>
            </a:r>
          </a:p>
          <a:p>
            <a:pPr marL="342900" marR="0" lvl="0" indent="-342900" algn="l" defTabSz="914400" rtl="0" eaLnBrk="1" fontAlgn="auto" latinLnBrk="0" hangingPunct="1">
              <a:spcBef>
                <a:spcPct val="20000"/>
              </a:spcBef>
              <a:spcAft>
                <a:spcPts val="0"/>
              </a:spcAft>
              <a:buClrTx/>
              <a:buSzTx/>
              <a:buFontTx/>
              <a:buNone/>
              <a:tabLst/>
              <a:defRPr/>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Protects your building and on-site structures, machinery, equipment, floor coverings, outdoor furniture, </a:t>
            </a:r>
          </a:p>
          <a:p>
            <a:pPr marL="342900" marR="0" lvl="0" indent="-342900" algn="l" defTabSz="914400" rtl="0" eaLnBrk="1" fontAlgn="auto" latinLnBrk="0" hangingPunct="1">
              <a:spcBef>
                <a:spcPct val="20000"/>
              </a:spcBef>
              <a:spcAft>
                <a:spcPts val="0"/>
              </a:spcAft>
              <a:buClrTx/>
              <a:buSzTx/>
              <a:buFontTx/>
              <a:buNone/>
              <a:tabLst/>
              <a:defRPr/>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garages, fences and additions under construction</a:t>
            </a:r>
          </a:p>
          <a:p>
            <a:pPr marL="342900" marR="0" lvl="0" indent="-342900" algn="l" defTabSz="914400" rtl="0" eaLnBrk="1" fontAlgn="auto" latinLnBrk="0" hangingPunct="1">
              <a:spcBef>
                <a:spcPct val="20000"/>
              </a:spcBef>
              <a:spcAft>
                <a:spcPts val="0"/>
              </a:spcAft>
              <a:buClrTx/>
              <a:buSzTx/>
              <a:buFontTx/>
              <a:buNone/>
              <a:tabLst/>
              <a:defRPr/>
            </a:pPr>
            <a:r>
              <a:rPr kumimoji="0" lang="en-US" sz="1600" b="1" u="none" strike="noStrike" kern="1200" cap="none" spc="0" normalizeH="0" baseline="0" noProof="0" dirty="0">
                <a:ln>
                  <a:noFill/>
                </a:ln>
                <a:solidFill>
                  <a:schemeClr val="tx1">
                    <a:lumMod val="75000"/>
                    <a:lumOff val="25000"/>
                  </a:schemeClr>
                </a:solidFill>
                <a:effectLst/>
                <a:uLnTx/>
                <a:uFillTx/>
                <a:latin typeface="+mn-lt"/>
                <a:ea typeface="+mn-ea"/>
                <a:cs typeface="+mn-cs"/>
              </a:rPr>
              <a:t>	</a:t>
            </a:r>
          </a:p>
          <a:p>
            <a:pPr marL="342900" marR="0" lvl="0" indent="-342900" algn="l" defTabSz="914400" rtl="0" eaLnBrk="1" fontAlgn="auto" latinLnBrk="0" hangingPunct="1">
              <a:spcBef>
                <a:spcPct val="20000"/>
              </a:spcBef>
              <a:spcAft>
                <a:spcPts val="0"/>
              </a:spcAft>
              <a:buClrTx/>
              <a:buSzTx/>
              <a:buFontTx/>
              <a:buNone/>
              <a:tabLst/>
              <a:defRPr/>
            </a:pPr>
            <a:r>
              <a:rPr kumimoji="0" lang="en-US" sz="1600" b="1" u="none" strike="noStrike" kern="1200" cap="none" spc="0" normalizeH="0" baseline="0" noProof="0" dirty="0">
                <a:ln>
                  <a:noFill/>
                </a:ln>
                <a:solidFill>
                  <a:srgbClr val="C00000"/>
                </a:solidFill>
                <a:effectLst/>
                <a:uLnTx/>
                <a:uFillTx/>
                <a:latin typeface="+mn-lt"/>
                <a:ea typeface="+mn-ea"/>
                <a:cs typeface="+mn-cs"/>
              </a:rPr>
              <a:t>Business Personal Property Coverage </a:t>
            </a:r>
          </a:p>
          <a:p>
            <a:pPr marL="342900" marR="0" lvl="0" indent="-342900" algn="l" defTabSz="914400" rtl="0" eaLnBrk="1" fontAlgn="auto" latinLnBrk="0" hangingPunct="1">
              <a:spcBef>
                <a:spcPct val="20000"/>
              </a:spcBef>
              <a:spcAft>
                <a:spcPts val="0"/>
              </a:spcAft>
              <a:buClrTx/>
              <a:buSzTx/>
              <a:buFontTx/>
              <a:buNone/>
              <a:tabLst/>
              <a:defRPr/>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Protects business personal property, such as furniture, fixtures, machinery or personal property of </a:t>
            </a:r>
          </a:p>
          <a:p>
            <a:pPr marL="342900" marR="0" lvl="0" indent="-342900" algn="l" defTabSz="914400" rtl="0" eaLnBrk="1" fontAlgn="auto" latinLnBrk="0" hangingPunct="1">
              <a:spcBef>
                <a:spcPct val="20000"/>
              </a:spcBef>
              <a:spcAft>
                <a:spcPts val="0"/>
              </a:spcAft>
              <a:buClrTx/>
              <a:buSzTx/>
              <a:buFontTx/>
              <a:buNone/>
              <a:tabLst/>
              <a:defRPr/>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others that is in your care</a:t>
            </a:r>
          </a:p>
          <a:p>
            <a:pPr marL="342900" marR="0" lvl="0" indent="-342900" algn="l" defTabSz="914400" rtl="0" eaLnBrk="1" fontAlgn="auto" latinLnBrk="0" hangingPunct="1">
              <a:spcBef>
                <a:spcPct val="20000"/>
              </a:spcBef>
              <a:spcAft>
                <a:spcPts val="0"/>
              </a:spcAft>
              <a:buClrTx/>
              <a:buSzTx/>
              <a:buFontTx/>
              <a:buNone/>
              <a:tabLst/>
              <a:defRPr/>
            </a:pPr>
            <a:endPar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a:p>
            <a:pPr marL="342900" marR="0" lvl="0" indent="-342900" algn="l" defTabSz="914400" rtl="0" eaLnBrk="1" fontAlgn="auto" latinLnBrk="0" hangingPunct="1">
              <a:spcBef>
                <a:spcPct val="20000"/>
              </a:spcBef>
              <a:spcAft>
                <a:spcPts val="0"/>
              </a:spcAft>
              <a:buClrTx/>
              <a:buSzTx/>
              <a:buFontTx/>
              <a:buNone/>
              <a:tabLst/>
              <a:defRPr/>
            </a:pPr>
            <a:r>
              <a:rPr kumimoji="0" lang="en-US" sz="1600" b="1" u="none" strike="noStrike" kern="1200" cap="none" spc="0" normalizeH="0" baseline="0" noProof="0" dirty="0">
                <a:ln>
                  <a:noFill/>
                </a:ln>
                <a:solidFill>
                  <a:srgbClr val="C00000"/>
                </a:solidFill>
                <a:effectLst/>
                <a:uLnTx/>
                <a:uFillTx/>
                <a:latin typeface="+mn-lt"/>
                <a:ea typeface="+mn-ea"/>
                <a:cs typeface="+mn-cs"/>
              </a:rPr>
              <a:t>Personal Property of Others</a:t>
            </a:r>
          </a:p>
          <a:p>
            <a:pPr marL="342900" marR="0" lvl="0" indent="-342900" algn="l" defTabSz="914400" rtl="0" eaLnBrk="1" fontAlgn="auto" latinLnBrk="0" hangingPunct="1">
              <a:spcBef>
                <a:spcPct val="20000"/>
              </a:spcBef>
              <a:spcAft>
                <a:spcPts val="0"/>
              </a:spcAft>
              <a:buClrTx/>
              <a:buSzTx/>
              <a:buFontTx/>
              <a:buNone/>
              <a:tabLst/>
              <a:defRPr/>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Provides replacement cost for loss of personal property of others in the care, custody and control of the </a:t>
            </a:r>
          </a:p>
          <a:p>
            <a:pPr marL="342900" marR="0" lvl="0" indent="-342900" algn="l" defTabSz="914400" rtl="0" eaLnBrk="1" fontAlgn="auto" latinLnBrk="0" hangingPunct="1">
              <a:spcBef>
                <a:spcPct val="20000"/>
              </a:spcBef>
              <a:spcAft>
                <a:spcPts val="0"/>
              </a:spcAft>
              <a:buClrTx/>
              <a:buSzTx/>
              <a:buFontTx/>
              <a:buNone/>
              <a:tabLst/>
              <a:defRPr/>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insured without regard to legal liability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6934200" y="6553200"/>
            <a:ext cx="2209800" cy="228600"/>
          </a:xfrm>
          <a:prstGeom prst="rect">
            <a:avLst/>
          </a:prstGeom>
        </p:spPr>
        <p:txBody>
          <a:bodyPr/>
          <a:lstStyle/>
          <a:p>
            <a:pPr algn="r" fontAlgn="auto">
              <a:spcBef>
                <a:spcPts val="0"/>
              </a:spcBef>
              <a:spcAft>
                <a:spcPts val="0"/>
              </a:spcAft>
              <a:defRPr/>
            </a:pPr>
            <a:fld id="{0F56061C-0A42-4038-98B8-AEE9439494E5}" type="slidenum">
              <a:rPr lang="en-US" sz="1400">
                <a:latin typeface="+mn-lt"/>
              </a:rPr>
              <a:pPr algn="r" fontAlgn="auto">
                <a:spcBef>
                  <a:spcPts val="0"/>
                </a:spcBef>
                <a:spcAft>
                  <a:spcPts val="0"/>
                </a:spcAft>
                <a:defRPr/>
              </a:pPr>
              <a:t>26</a:t>
            </a:fld>
            <a:endParaRPr lang="en-US" sz="1400" dirty="0">
              <a:latin typeface="+mn-lt"/>
            </a:endParaRPr>
          </a:p>
        </p:txBody>
      </p:sp>
      <p:sp>
        <p:nvSpPr>
          <p:cNvPr id="10" name="Rectangle 66"/>
          <p:cNvSpPr>
            <a:spLocks noChangeArrowheads="1"/>
          </p:cNvSpPr>
          <p:nvPr/>
        </p:nvSpPr>
        <p:spPr bwMode="auto">
          <a:xfrm>
            <a:off x="76200" y="152400"/>
            <a:ext cx="5867400" cy="400110"/>
          </a:xfrm>
          <a:prstGeom prst="rect">
            <a:avLst/>
          </a:prstGeom>
          <a:noFill/>
          <a:ln w="12700">
            <a:noFill/>
            <a:miter lim="800000"/>
            <a:headEnd/>
            <a:tailEnd/>
          </a:ln>
        </p:spPr>
        <p:txBody>
          <a:bodyPr wrap="square" anchor="ctr">
            <a:spAutoFit/>
          </a:bodyPr>
          <a:lstStyle/>
          <a:p>
            <a:pPr eaLnBrk="0" hangingPunct="0"/>
            <a:r>
              <a:rPr lang="en-US" sz="2000" dirty="0">
                <a:solidFill>
                  <a:schemeClr val="bg1"/>
                </a:solidFill>
              </a:rPr>
              <a:t>Property Location Level Optional </a:t>
            </a:r>
            <a:r>
              <a:rPr lang="en-US" sz="2000" dirty="0" err="1">
                <a:solidFill>
                  <a:schemeClr val="bg1"/>
                </a:solidFill>
              </a:rPr>
              <a:t>Coverages</a:t>
            </a:r>
            <a:endParaRPr lang="en-US" sz="2000" dirty="0">
              <a:solidFill>
                <a:schemeClr val="bg1"/>
              </a:solidFill>
            </a:endParaRPr>
          </a:p>
        </p:txBody>
      </p:sp>
      <p:sp>
        <p:nvSpPr>
          <p:cNvPr id="4" name="Rectangle 5"/>
          <p:cNvSpPr txBox="1">
            <a:spLocks noChangeArrowheads="1"/>
          </p:cNvSpPr>
          <p:nvPr/>
        </p:nvSpPr>
        <p:spPr bwMode="auto">
          <a:xfrm>
            <a:off x="228600" y="1143000"/>
            <a:ext cx="8229600" cy="944562"/>
          </a:xfrm>
          <a:prstGeom prst="rect">
            <a:avLst/>
          </a:prstGeom>
          <a:noFill/>
          <a:ln>
            <a:miter lim="800000"/>
            <a:headEnd/>
            <a:tailEnd/>
          </a:ln>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1" u="none" strike="noStrike" kern="1200" cap="none" spc="0" normalizeH="0" baseline="0" noProof="0" dirty="0">
                <a:ln>
                  <a:noFill/>
                </a:ln>
                <a:solidFill>
                  <a:srgbClr val="C00000"/>
                </a:solidFill>
                <a:effectLst/>
                <a:uLnTx/>
                <a:uFillTx/>
                <a:latin typeface="+mn-lt"/>
                <a:ea typeface="+mn-ea"/>
                <a:cs typeface="+mn-cs"/>
              </a:rPr>
              <a:t>Accounts Receivable Coverage</a:t>
            </a:r>
            <a:r>
              <a:rPr kumimoji="0" lang="en-US" sz="1600" b="0" u="none" strike="noStrike" kern="1200" cap="none" spc="0" normalizeH="0" baseline="0" noProof="0" dirty="0">
                <a:ln>
                  <a:noFill/>
                </a:ln>
                <a:solidFill>
                  <a:srgbClr val="C00000"/>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Pays the increased costs of collecting accounts, re-establishing the accounts receivable records </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and any amounts uncollectible as a result of the destruction of accounts receivable records. </a:t>
            </a:r>
          </a:p>
        </p:txBody>
      </p:sp>
      <p:pic>
        <p:nvPicPr>
          <p:cNvPr id="5" name="Picture 4" descr="42-258654071.jpg"/>
          <p:cNvPicPr>
            <a:picLocks noChangeAspect="1"/>
          </p:cNvPicPr>
          <p:nvPr/>
        </p:nvPicPr>
        <p:blipFill>
          <a:blip r:embed="rId3" cstate="print"/>
          <a:stretch>
            <a:fillRect/>
          </a:stretch>
        </p:blipFill>
        <p:spPr>
          <a:xfrm>
            <a:off x="3124200" y="2209800"/>
            <a:ext cx="1828800" cy="121615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6" name="Rectangle 5"/>
          <p:cNvSpPr/>
          <p:nvPr/>
        </p:nvSpPr>
        <p:spPr>
          <a:xfrm>
            <a:off x="381000" y="3962400"/>
            <a:ext cx="8382000" cy="1908215"/>
          </a:xfrm>
          <a:prstGeom prst="rect">
            <a:avLst/>
          </a:prstGeom>
        </p:spPr>
        <p:txBody>
          <a:bodyPr wrap="square">
            <a:spAutoFit/>
          </a:bodyPr>
          <a:lstStyle/>
          <a:p>
            <a:pPr>
              <a:buNone/>
            </a:pPr>
            <a:r>
              <a:rPr lang="en-US" sz="1600" b="1" dirty="0">
                <a:solidFill>
                  <a:srgbClr val="C00000"/>
                </a:solidFill>
              </a:rPr>
              <a:t>Burglary And Robbery Coverage</a:t>
            </a:r>
          </a:p>
          <a:p>
            <a:pPr>
              <a:buNone/>
            </a:pPr>
            <a:r>
              <a:rPr lang="en-US" sz="1600" dirty="0">
                <a:solidFill>
                  <a:schemeClr val="tx1">
                    <a:lumMod val="75000"/>
                    <a:lumOff val="25000"/>
                  </a:schemeClr>
                </a:solidFill>
              </a:rPr>
              <a:t>Coverage can be provided for loss to business personal property (other than money and securities) resulting from burglary and from robbery</a:t>
            </a:r>
          </a:p>
          <a:p>
            <a:pPr>
              <a:buNone/>
            </a:pPr>
            <a:r>
              <a:rPr lang="en-US" b="1" dirty="0"/>
              <a:t> </a:t>
            </a:r>
          </a:p>
          <a:p>
            <a:r>
              <a:rPr lang="en-US" sz="1600" b="1" dirty="0">
                <a:solidFill>
                  <a:srgbClr val="C00000"/>
                </a:solidFill>
              </a:rPr>
              <a:t>Theft Coverage</a:t>
            </a:r>
          </a:p>
          <a:p>
            <a:pPr>
              <a:buNone/>
            </a:pPr>
            <a:r>
              <a:rPr lang="en-US" sz="1600" dirty="0">
                <a:solidFill>
                  <a:schemeClr val="tx1">
                    <a:lumMod val="75000"/>
                    <a:lumOff val="25000"/>
                  </a:schemeClr>
                </a:solidFill>
              </a:rPr>
              <a:t>Coverage can be provided for loss to business personal property (other than money and securities) resulting from theft.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6934200" y="6553200"/>
            <a:ext cx="2209800" cy="228600"/>
          </a:xfrm>
          <a:prstGeom prst="rect">
            <a:avLst/>
          </a:prstGeom>
        </p:spPr>
        <p:txBody>
          <a:bodyPr/>
          <a:lstStyle/>
          <a:p>
            <a:pPr algn="r" fontAlgn="auto">
              <a:spcBef>
                <a:spcPts val="0"/>
              </a:spcBef>
              <a:spcAft>
                <a:spcPts val="0"/>
              </a:spcAft>
              <a:defRPr/>
            </a:pPr>
            <a:fld id="{0F56061C-0A42-4038-98B8-AEE9439494E5}" type="slidenum">
              <a:rPr lang="en-US" sz="1400">
                <a:latin typeface="+mn-lt"/>
              </a:rPr>
              <a:pPr algn="r" fontAlgn="auto">
                <a:spcBef>
                  <a:spcPts val="0"/>
                </a:spcBef>
                <a:spcAft>
                  <a:spcPts val="0"/>
                </a:spcAft>
                <a:defRPr/>
              </a:pPr>
              <a:t>27</a:t>
            </a:fld>
            <a:endParaRPr lang="en-US" sz="1400" dirty="0">
              <a:latin typeface="+mn-lt"/>
            </a:endParaRPr>
          </a:p>
        </p:txBody>
      </p:sp>
      <p:sp>
        <p:nvSpPr>
          <p:cNvPr id="10" name="Rectangle 66"/>
          <p:cNvSpPr>
            <a:spLocks noChangeArrowheads="1"/>
          </p:cNvSpPr>
          <p:nvPr/>
        </p:nvSpPr>
        <p:spPr bwMode="auto">
          <a:xfrm>
            <a:off x="76200" y="152400"/>
            <a:ext cx="5867400" cy="400110"/>
          </a:xfrm>
          <a:prstGeom prst="rect">
            <a:avLst/>
          </a:prstGeom>
          <a:noFill/>
          <a:ln w="12700">
            <a:noFill/>
            <a:miter lim="800000"/>
            <a:headEnd/>
            <a:tailEnd/>
          </a:ln>
        </p:spPr>
        <p:txBody>
          <a:bodyPr wrap="square" anchor="ctr">
            <a:spAutoFit/>
          </a:bodyPr>
          <a:lstStyle/>
          <a:p>
            <a:pPr eaLnBrk="0" hangingPunct="0"/>
            <a:r>
              <a:rPr lang="en-US" sz="2000" dirty="0">
                <a:solidFill>
                  <a:schemeClr val="bg1"/>
                </a:solidFill>
              </a:rPr>
              <a:t>Property - Location Level Optional </a:t>
            </a:r>
            <a:r>
              <a:rPr lang="en-US" sz="2000" dirty="0" err="1">
                <a:solidFill>
                  <a:schemeClr val="bg1"/>
                </a:solidFill>
              </a:rPr>
              <a:t>Coverages</a:t>
            </a:r>
            <a:endParaRPr lang="en-US" sz="2000" dirty="0">
              <a:solidFill>
                <a:schemeClr val="bg1"/>
              </a:solidFill>
            </a:endParaRPr>
          </a:p>
        </p:txBody>
      </p:sp>
      <p:sp>
        <p:nvSpPr>
          <p:cNvPr id="4" name="Rectangle 3"/>
          <p:cNvSpPr txBox="1">
            <a:spLocks noChangeArrowheads="1"/>
          </p:cNvSpPr>
          <p:nvPr/>
        </p:nvSpPr>
        <p:spPr bwMode="auto">
          <a:xfrm>
            <a:off x="457200" y="1600200"/>
            <a:ext cx="8153400" cy="914400"/>
          </a:xfrm>
          <a:prstGeom prst="rect">
            <a:avLst/>
          </a:prstGeom>
          <a:noFill/>
          <a:ln>
            <a:miter lim="800000"/>
            <a:headEnd/>
            <a:tailEnd/>
          </a:ln>
        </p:spPr>
        <p:txBody>
          <a:bodyPr vert="horz" lIns="91440" tIns="45720" rIns="91440" bIns="45720" rtlCol="0">
            <a:normAutofit lnSpcReduction="10000"/>
          </a:bodyPr>
          <a:lstStyle/>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1" u="none" strike="noStrike" kern="1200" cap="none" spc="0" normalizeH="0" baseline="0" noProof="0" dirty="0">
                <a:ln>
                  <a:noFill/>
                </a:ln>
                <a:solidFill>
                  <a:srgbClr val="C00000"/>
                </a:solidFill>
                <a:effectLst/>
                <a:uLnTx/>
                <a:uFillTx/>
                <a:latin typeface="+mn-lt"/>
                <a:ea typeface="+mn-ea"/>
                <a:cs typeface="+mn-cs"/>
              </a:rPr>
              <a:t>Business Income Coverage – Business Interruption Coverage – Time Element Coverage </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Reimburses the actual loss of income for up to 12 months due to a covered loss as well as </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necessary</a:t>
            </a:r>
            <a:r>
              <a:rPr kumimoji="0" lang="en-US" sz="1600" b="0" u="none" strike="noStrike" kern="1200" cap="none" spc="0" normalizeH="0" noProof="0" dirty="0">
                <a:ln>
                  <a:noFill/>
                </a:ln>
                <a:solidFill>
                  <a:schemeClr val="tx1">
                    <a:lumMod val="75000"/>
                    <a:lumOff val="25000"/>
                  </a:schemeClr>
                </a:solidFill>
                <a:effectLst/>
                <a:uLnTx/>
                <a:uFillTx/>
                <a:latin typeface="+mn-lt"/>
                <a:ea typeface="+mn-ea"/>
                <a:cs typeface="+mn-cs"/>
              </a:rPr>
              <a:t> </a:t>
            </a: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extra expenses needed to continue operations while working to reopen the business</a:t>
            </a:r>
          </a:p>
        </p:txBody>
      </p:sp>
      <p:sp>
        <p:nvSpPr>
          <p:cNvPr id="5" name="Rectangle 4"/>
          <p:cNvSpPr/>
          <p:nvPr/>
        </p:nvSpPr>
        <p:spPr>
          <a:xfrm>
            <a:off x="533400" y="2971800"/>
            <a:ext cx="7467600" cy="1323439"/>
          </a:xfrm>
          <a:prstGeom prst="rect">
            <a:avLst/>
          </a:prstGeom>
        </p:spPr>
        <p:txBody>
          <a:bodyPr wrap="square">
            <a:spAutoFit/>
          </a:bodyPr>
          <a:lstStyle/>
          <a:p>
            <a:pPr>
              <a:buNone/>
            </a:pPr>
            <a:r>
              <a:rPr lang="en-US" sz="1600" b="1" dirty="0">
                <a:solidFill>
                  <a:srgbClr val="C00000"/>
                </a:solidFill>
              </a:rPr>
              <a:t>Condominium Loss Assessment</a:t>
            </a:r>
          </a:p>
          <a:p>
            <a:pPr>
              <a:buNone/>
            </a:pPr>
            <a:r>
              <a:rPr lang="en-US" sz="1600" dirty="0">
                <a:solidFill>
                  <a:schemeClr val="tx1">
                    <a:lumMod val="75000"/>
                    <a:lumOff val="25000"/>
                  </a:schemeClr>
                </a:solidFill>
              </a:rPr>
              <a:t>Condominium loss assessment coverage can be provided for loss or damage to property which is owned indivisibly by all condominium unit-owners. Coverage is limited to $1,000, $5,000, $10,000. However, additional limits in the multiples of $5,000 are available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6934200" y="6553200"/>
            <a:ext cx="2209800" cy="228600"/>
          </a:xfrm>
          <a:prstGeom prst="rect">
            <a:avLst/>
          </a:prstGeom>
        </p:spPr>
        <p:txBody>
          <a:bodyPr/>
          <a:lstStyle/>
          <a:p>
            <a:pPr algn="r" fontAlgn="auto">
              <a:spcBef>
                <a:spcPts val="0"/>
              </a:spcBef>
              <a:spcAft>
                <a:spcPts val="0"/>
              </a:spcAft>
              <a:defRPr/>
            </a:pPr>
            <a:fld id="{0F56061C-0A42-4038-98B8-AEE9439494E5}" type="slidenum">
              <a:rPr lang="en-US" sz="1400">
                <a:latin typeface="+mn-lt"/>
              </a:rPr>
              <a:pPr algn="r" fontAlgn="auto">
                <a:spcBef>
                  <a:spcPts val="0"/>
                </a:spcBef>
                <a:spcAft>
                  <a:spcPts val="0"/>
                </a:spcAft>
                <a:defRPr/>
              </a:pPr>
              <a:t>28</a:t>
            </a:fld>
            <a:endParaRPr lang="en-US" sz="1400" dirty="0">
              <a:latin typeface="+mn-lt"/>
            </a:endParaRPr>
          </a:p>
        </p:txBody>
      </p:sp>
      <p:sp>
        <p:nvSpPr>
          <p:cNvPr id="10" name="Rectangle 66"/>
          <p:cNvSpPr>
            <a:spLocks noChangeArrowheads="1"/>
          </p:cNvSpPr>
          <p:nvPr/>
        </p:nvSpPr>
        <p:spPr bwMode="auto">
          <a:xfrm>
            <a:off x="76200" y="152400"/>
            <a:ext cx="5867400" cy="400110"/>
          </a:xfrm>
          <a:prstGeom prst="rect">
            <a:avLst/>
          </a:prstGeom>
          <a:noFill/>
          <a:ln w="12700">
            <a:noFill/>
            <a:miter lim="800000"/>
            <a:headEnd/>
            <a:tailEnd/>
          </a:ln>
        </p:spPr>
        <p:txBody>
          <a:bodyPr wrap="square" anchor="ctr">
            <a:spAutoFit/>
          </a:bodyPr>
          <a:lstStyle/>
          <a:p>
            <a:pPr eaLnBrk="0" hangingPunct="0"/>
            <a:r>
              <a:rPr lang="en-US" sz="2000" dirty="0">
                <a:solidFill>
                  <a:schemeClr val="bg1"/>
                </a:solidFill>
              </a:rPr>
              <a:t>Property - Location Level Optional </a:t>
            </a:r>
            <a:r>
              <a:rPr lang="en-US" sz="2000" dirty="0" err="1">
                <a:solidFill>
                  <a:schemeClr val="bg1"/>
                </a:solidFill>
              </a:rPr>
              <a:t>Coverages</a:t>
            </a:r>
            <a:endParaRPr lang="en-US" sz="2000" dirty="0">
              <a:solidFill>
                <a:schemeClr val="bg1"/>
              </a:solidFill>
            </a:endParaRPr>
          </a:p>
        </p:txBody>
      </p:sp>
      <p:sp>
        <p:nvSpPr>
          <p:cNvPr id="4" name="Rectangle 2"/>
          <p:cNvSpPr txBox="1">
            <a:spLocks noChangeArrowheads="1"/>
          </p:cNvSpPr>
          <p:nvPr/>
        </p:nvSpPr>
        <p:spPr bwMode="auto">
          <a:xfrm>
            <a:off x="304800" y="2895600"/>
            <a:ext cx="8610600" cy="1828800"/>
          </a:xfrm>
          <a:prstGeom prst="rect">
            <a:avLst/>
          </a:prstGeom>
          <a:noFill/>
          <a:ln>
            <a:miter lim="800000"/>
            <a:headEnd/>
            <a:tailEnd/>
          </a:ln>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1" u="none" strike="noStrike" kern="1200" cap="none" spc="0" normalizeH="0" baseline="0" noProof="0" dirty="0">
                <a:ln>
                  <a:noFill/>
                </a:ln>
                <a:solidFill>
                  <a:srgbClr val="C00000"/>
                </a:solidFill>
                <a:effectLst/>
                <a:uLnTx/>
                <a:uFillTx/>
                <a:latin typeface="+mn-lt"/>
                <a:ea typeface="+mn-ea"/>
                <a:cs typeface="+mn-cs"/>
              </a:rPr>
              <a:t>Business Income and Extra Expense</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The Policy provides:</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1" u="none" strike="noStrike" kern="1200" cap="none" spc="0" normalizeH="0" baseline="0" noProof="0" dirty="0">
                <a:ln>
                  <a:noFill/>
                </a:ln>
                <a:solidFill>
                  <a:schemeClr val="tx1">
                    <a:lumMod val="75000"/>
                    <a:lumOff val="25000"/>
                  </a:schemeClr>
                </a:solidFill>
                <a:effectLst/>
                <a:uLnTx/>
                <a:uFillTx/>
                <a:latin typeface="+mn-lt"/>
                <a:ea typeface="+mn-ea"/>
                <a:cs typeface="+mn-cs"/>
              </a:rPr>
              <a:t>	</a:t>
            </a: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Actual loss for 12 consecutive months</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1" u="none" strike="noStrike" kern="1200" cap="none" spc="0" normalizeH="0" baseline="0" noProof="0" dirty="0">
                <a:ln>
                  <a:noFill/>
                </a:ln>
                <a:solidFill>
                  <a:srgbClr val="C00000"/>
                </a:solidFill>
                <a:effectLst/>
                <a:uLnTx/>
                <a:uFillTx/>
                <a:latin typeface="+mn-lt"/>
                <a:ea typeface="+mn-ea"/>
                <a:cs typeface="+mn-cs"/>
              </a:rPr>
              <a:t>Business Income – Time Period Deductible ("Period of Restoration")</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Option to select a 72-hour Business Income deductible.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6934200" y="6553200"/>
            <a:ext cx="2209800" cy="228600"/>
          </a:xfrm>
          <a:prstGeom prst="rect">
            <a:avLst/>
          </a:prstGeom>
        </p:spPr>
        <p:txBody>
          <a:bodyPr/>
          <a:lstStyle/>
          <a:p>
            <a:pPr algn="r" fontAlgn="auto">
              <a:spcBef>
                <a:spcPts val="0"/>
              </a:spcBef>
              <a:spcAft>
                <a:spcPts val="0"/>
              </a:spcAft>
              <a:defRPr/>
            </a:pPr>
            <a:fld id="{0F56061C-0A42-4038-98B8-AEE9439494E5}" type="slidenum">
              <a:rPr lang="en-US" sz="1400">
                <a:latin typeface="+mn-lt"/>
              </a:rPr>
              <a:pPr algn="r" fontAlgn="auto">
                <a:spcBef>
                  <a:spcPts val="0"/>
                </a:spcBef>
                <a:spcAft>
                  <a:spcPts val="0"/>
                </a:spcAft>
                <a:defRPr/>
              </a:pPr>
              <a:t>29</a:t>
            </a:fld>
            <a:endParaRPr lang="en-US" sz="1400" dirty="0">
              <a:latin typeface="+mn-lt"/>
            </a:endParaRPr>
          </a:p>
        </p:txBody>
      </p:sp>
      <p:sp>
        <p:nvSpPr>
          <p:cNvPr id="10" name="Rectangle 66"/>
          <p:cNvSpPr>
            <a:spLocks noChangeArrowheads="1"/>
          </p:cNvSpPr>
          <p:nvPr/>
        </p:nvSpPr>
        <p:spPr bwMode="auto">
          <a:xfrm>
            <a:off x="76200" y="152400"/>
            <a:ext cx="5867400" cy="400110"/>
          </a:xfrm>
          <a:prstGeom prst="rect">
            <a:avLst/>
          </a:prstGeom>
          <a:noFill/>
          <a:ln w="12700">
            <a:noFill/>
            <a:miter lim="800000"/>
            <a:headEnd/>
            <a:tailEnd/>
          </a:ln>
        </p:spPr>
        <p:txBody>
          <a:bodyPr wrap="square" anchor="ctr">
            <a:spAutoFit/>
          </a:bodyPr>
          <a:lstStyle/>
          <a:p>
            <a:pPr eaLnBrk="0" hangingPunct="0"/>
            <a:r>
              <a:rPr lang="en-US" sz="2000" dirty="0">
                <a:solidFill>
                  <a:schemeClr val="bg1"/>
                </a:solidFill>
              </a:rPr>
              <a:t>Property - Location Level Optional </a:t>
            </a:r>
            <a:r>
              <a:rPr lang="en-US" sz="2000" dirty="0" err="1">
                <a:solidFill>
                  <a:schemeClr val="bg1"/>
                </a:solidFill>
              </a:rPr>
              <a:t>Coverages</a:t>
            </a:r>
            <a:endParaRPr lang="en-US" sz="2000" dirty="0">
              <a:solidFill>
                <a:schemeClr val="bg1"/>
              </a:solidFill>
            </a:endParaRPr>
          </a:p>
        </p:txBody>
      </p:sp>
      <p:sp>
        <p:nvSpPr>
          <p:cNvPr id="4" name="Rectangle 3"/>
          <p:cNvSpPr txBox="1">
            <a:spLocks noChangeArrowheads="1"/>
          </p:cNvSpPr>
          <p:nvPr/>
        </p:nvSpPr>
        <p:spPr bwMode="auto">
          <a:xfrm>
            <a:off x="457200" y="2514600"/>
            <a:ext cx="8229600" cy="2590800"/>
          </a:xfrm>
          <a:prstGeom prst="rect">
            <a:avLst/>
          </a:prstGeom>
          <a:noFill/>
          <a:ln>
            <a:miter lim="800000"/>
            <a:headEnd/>
            <a:tailEnd/>
          </a:ln>
        </p:spPr>
        <p:txBody>
          <a:bodyPr vert="horz" lIns="91440" tIns="45720" rIns="91440" bIns="45720" rtlCol="0">
            <a:normAutofit/>
          </a:bodyPr>
          <a:lstStyle/>
          <a:p>
            <a:pPr marL="342900" marR="0" lvl="0" indent="-342900" algn="l" defTabSz="914400" rtl="0" eaLnBrk="1" fontAlgn="auto" latinLnBrk="0" hangingPunct="1">
              <a:lnSpc>
                <a:spcPct val="80000"/>
              </a:lnSpc>
              <a:spcBef>
                <a:spcPct val="20000"/>
              </a:spcBef>
              <a:spcAft>
                <a:spcPts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mn-lt"/>
                <a:ea typeface="+mn-ea"/>
                <a:cs typeface="+mn-cs"/>
              </a:rPr>
              <a:t>Business Income and Extra Expense - Dollar Limit</a:t>
            </a:r>
          </a:p>
          <a:p>
            <a:pPr marL="342900" marR="0" lvl="0" indent="-342900" algn="l" defTabSz="914400" rtl="0" eaLnBrk="1" fontAlgn="auto" latinLnBrk="0" hangingPunct="1">
              <a:lnSpc>
                <a:spcPct val="80000"/>
              </a:lnSpc>
              <a:spcBef>
                <a:spcPct val="20000"/>
              </a:spcBef>
              <a:spcAft>
                <a:spcPts val="0"/>
              </a:spcAft>
              <a:buClrTx/>
              <a:buSzTx/>
              <a:buFontTx/>
              <a:buNone/>
              <a:tabLst/>
              <a:defRPr/>
            </a:pP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Option to replace actual loss for 12 consecutive months with actual loss for 12 consecutive </a:t>
            </a:r>
          </a:p>
          <a:p>
            <a:pPr marL="342900" marR="0" lvl="0" indent="-342900" algn="l" defTabSz="914400" rtl="0" eaLnBrk="1" fontAlgn="auto" latinLnBrk="0" hangingPunct="1">
              <a:lnSpc>
                <a:spcPct val="80000"/>
              </a:lnSpc>
              <a:spcBef>
                <a:spcPct val="20000"/>
              </a:spcBef>
              <a:spcAft>
                <a:spcPts val="0"/>
              </a:spcAft>
              <a:buClrTx/>
              <a:buSzTx/>
              <a:buFontTx/>
              <a:buNone/>
              <a:tabLst/>
              <a:defRPr/>
            </a:pP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months, subject to a selected Dollar Limit.</a:t>
            </a:r>
          </a:p>
          <a:p>
            <a:pPr marL="342900" marR="0" lvl="0" indent="-342900" algn="l" defTabSz="914400" rtl="0" eaLnBrk="1" fontAlgn="auto" latinLnBrk="0" hangingPunct="1">
              <a:lnSpc>
                <a:spcPct val="80000"/>
              </a:lnSpc>
              <a:spcBef>
                <a:spcPct val="20000"/>
              </a:spcBef>
              <a:spcAft>
                <a:spcPts val="0"/>
              </a:spcAft>
              <a:buClrTx/>
              <a:buSzTx/>
              <a:buFontTx/>
              <a:buNone/>
              <a:tabLst/>
              <a:defRPr/>
            </a:pPr>
            <a:endPar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a:p>
            <a:pPr marL="342900" marR="0" lvl="0" indent="-342900" algn="l" defTabSz="914400" rtl="0" eaLnBrk="1" fontAlgn="auto" latinLnBrk="0" hangingPunct="1">
              <a:lnSpc>
                <a:spcPct val="80000"/>
              </a:lnSpc>
              <a:spcBef>
                <a:spcPct val="20000"/>
              </a:spcBef>
              <a:spcAft>
                <a:spcPts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mn-lt"/>
                <a:ea typeface="+mn-ea"/>
                <a:cs typeface="+mn-cs"/>
              </a:rPr>
              <a:t>Business Income - Extended Period of Indemnity</a:t>
            </a:r>
          </a:p>
          <a:p>
            <a:pPr marL="342900" marR="0" lvl="0" indent="-342900" algn="l" defTabSz="914400" rtl="0" eaLnBrk="1" fontAlgn="auto" latinLnBrk="0" hangingPunct="1">
              <a:lnSpc>
                <a:spcPct val="80000"/>
              </a:lnSpc>
              <a:spcBef>
                <a:spcPct val="20000"/>
              </a:spcBef>
              <a:spcAft>
                <a:spcPts val="0"/>
              </a:spcAft>
              <a:buClrTx/>
              <a:buSzTx/>
              <a:buFontTx/>
              <a:buNone/>
              <a:tabLst/>
              <a:defRPr/>
            </a:pP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Policy provides 60 consecutive days unless greater number of days is shown on the Declarations.</a:t>
            </a:r>
          </a:p>
          <a:p>
            <a:pPr marL="342900" marR="0" lvl="0" indent="-342900" algn="l" defTabSz="914400" rtl="0" eaLnBrk="1" fontAlgn="auto" latinLnBrk="0" hangingPunct="1">
              <a:lnSpc>
                <a:spcPct val="80000"/>
              </a:lnSpc>
              <a:spcBef>
                <a:spcPct val="20000"/>
              </a:spcBef>
              <a:spcAft>
                <a:spcPts val="0"/>
              </a:spcAft>
              <a:buClrTx/>
              <a:buSzTx/>
              <a:buFontTx/>
              <a:buNone/>
              <a:tabLst/>
              <a:defRPr/>
            </a:pPr>
            <a:endPar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a:p>
            <a:pPr marL="342900" marR="0" lvl="0" indent="-342900" algn="l" defTabSz="914400" rtl="0" eaLnBrk="1" fontAlgn="auto" latinLnBrk="0" hangingPunct="1">
              <a:lnSpc>
                <a:spcPct val="80000"/>
              </a:lnSpc>
              <a:spcBef>
                <a:spcPct val="20000"/>
              </a:spcBef>
              <a:spcAft>
                <a:spcPts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mn-lt"/>
                <a:ea typeface="+mn-ea"/>
                <a:cs typeface="+mn-cs"/>
              </a:rPr>
              <a:t>Business Income From Dependent Properties</a:t>
            </a:r>
          </a:p>
          <a:p>
            <a:pPr marL="342900" marR="0" lvl="0" indent="-342900" algn="l" defTabSz="914400" rtl="0" eaLnBrk="1" fontAlgn="auto" latinLnBrk="0" hangingPunct="1">
              <a:lnSpc>
                <a:spcPct val="80000"/>
              </a:lnSpc>
              <a:spcBef>
                <a:spcPct val="20000"/>
              </a:spcBef>
              <a:spcAft>
                <a:spcPts val="0"/>
              </a:spcAft>
              <a:buClrTx/>
              <a:buSzTx/>
              <a:buFontTx/>
              <a:buNone/>
              <a:tabLst/>
              <a:defRPr/>
            </a:pP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Policy provides a $10,000 Limit, unless a higher Limit of Insurance is shown on the Declarations. </a:t>
            </a:r>
          </a:p>
          <a:p>
            <a:pPr marL="342900" marR="0" lvl="0" indent="-342900" algn="l" defTabSz="914400" rtl="0" eaLnBrk="1" fontAlgn="auto" latinLnBrk="0" hangingPunct="1">
              <a:lnSpc>
                <a:spcPct val="80000"/>
              </a:lnSpc>
              <a:spcBef>
                <a:spcPct val="20000"/>
              </a:spcBef>
              <a:spcAft>
                <a:spcPts val="0"/>
              </a:spcAft>
              <a:buClrTx/>
              <a:buSzTx/>
              <a:buFontTx/>
              <a:buNone/>
              <a:tabLst/>
              <a:defRPr/>
            </a:pP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The maximum Limit is $100,000.</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6934200" y="6553200"/>
            <a:ext cx="2209800" cy="228600"/>
          </a:xfrm>
          <a:prstGeom prst="rect">
            <a:avLst/>
          </a:prstGeom>
        </p:spPr>
        <p:txBody>
          <a:bodyPr/>
          <a:lstStyle/>
          <a:p>
            <a:pPr algn="r" fontAlgn="auto">
              <a:spcBef>
                <a:spcPts val="0"/>
              </a:spcBef>
              <a:spcAft>
                <a:spcPts val="0"/>
              </a:spcAft>
              <a:defRPr/>
            </a:pPr>
            <a:fld id="{0F56061C-0A42-4038-98B8-AEE9439494E5}" type="slidenum">
              <a:rPr lang="en-US" sz="1400">
                <a:latin typeface="+mn-lt"/>
              </a:rPr>
              <a:pPr algn="r" fontAlgn="auto">
                <a:spcBef>
                  <a:spcPts val="0"/>
                </a:spcBef>
                <a:spcAft>
                  <a:spcPts val="0"/>
                </a:spcAft>
                <a:defRPr/>
              </a:pPr>
              <a:t>30</a:t>
            </a:fld>
            <a:endParaRPr lang="en-US" sz="1400" dirty="0">
              <a:latin typeface="+mn-lt"/>
            </a:endParaRPr>
          </a:p>
        </p:txBody>
      </p:sp>
      <p:sp>
        <p:nvSpPr>
          <p:cNvPr id="10" name="Rectangle 66"/>
          <p:cNvSpPr>
            <a:spLocks noChangeArrowheads="1"/>
          </p:cNvSpPr>
          <p:nvPr/>
        </p:nvSpPr>
        <p:spPr bwMode="auto">
          <a:xfrm>
            <a:off x="76200" y="152400"/>
            <a:ext cx="5867400" cy="400110"/>
          </a:xfrm>
          <a:prstGeom prst="rect">
            <a:avLst/>
          </a:prstGeom>
          <a:noFill/>
          <a:ln w="12700">
            <a:noFill/>
            <a:miter lim="800000"/>
            <a:headEnd/>
            <a:tailEnd/>
          </a:ln>
        </p:spPr>
        <p:txBody>
          <a:bodyPr wrap="square" anchor="ctr">
            <a:spAutoFit/>
          </a:bodyPr>
          <a:lstStyle/>
          <a:p>
            <a:pPr eaLnBrk="0" hangingPunct="0"/>
            <a:r>
              <a:rPr lang="en-US" sz="2000" dirty="0">
                <a:solidFill>
                  <a:schemeClr val="bg1"/>
                </a:solidFill>
              </a:rPr>
              <a:t>Property - Location Level Optional </a:t>
            </a:r>
            <a:r>
              <a:rPr lang="en-US" sz="2000" dirty="0" err="1">
                <a:solidFill>
                  <a:schemeClr val="bg1"/>
                </a:solidFill>
              </a:rPr>
              <a:t>Coverages</a:t>
            </a:r>
            <a:endParaRPr lang="en-US" sz="2000" dirty="0">
              <a:solidFill>
                <a:schemeClr val="bg1"/>
              </a:solidFill>
            </a:endParaRPr>
          </a:p>
        </p:txBody>
      </p:sp>
      <p:sp>
        <p:nvSpPr>
          <p:cNvPr id="4" name="Rectangle 3"/>
          <p:cNvSpPr txBox="1">
            <a:spLocks noChangeArrowheads="1"/>
          </p:cNvSpPr>
          <p:nvPr/>
        </p:nvSpPr>
        <p:spPr bwMode="auto">
          <a:xfrm>
            <a:off x="304800" y="1371600"/>
            <a:ext cx="8382000" cy="4800600"/>
          </a:xfrm>
          <a:prstGeom prst="rect">
            <a:avLst/>
          </a:prstGeom>
          <a:noFill/>
          <a:ln>
            <a:miter lim="800000"/>
            <a:headEnd/>
            <a:tailEnd/>
          </a:ln>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mn-lt"/>
                <a:ea typeface="+mn-ea"/>
                <a:cs typeface="+mn-cs"/>
              </a:rPr>
              <a:t>Business Personal Property – Seasonal Increase</a:t>
            </a:r>
            <a:r>
              <a:rPr kumimoji="0" lang="en-US" sz="1600" b="0" i="0" u="none" strike="noStrike" kern="1200" cap="none" spc="0" normalizeH="0" baseline="0" noProof="0" dirty="0">
                <a:ln>
                  <a:noFill/>
                </a:ln>
                <a:solidFill>
                  <a:srgbClr val="C00000"/>
                </a:solidFill>
                <a:effectLst/>
                <a:uLnTx/>
                <a:uFillTx/>
                <a:latin typeface="+mn-lt"/>
                <a:ea typeface="+mn-ea"/>
                <a:cs typeface="+mn-cs"/>
              </a:rPr>
              <a:t> </a:t>
            </a:r>
            <a:endParaRPr kumimoji="0" lang="en-US" sz="1600" b="0" i="1" u="none" strike="noStrike" kern="1200" cap="none" spc="0" normalizeH="0" baseline="0" noProof="0" dirty="0">
              <a:ln>
                <a:noFill/>
              </a:ln>
              <a:solidFill>
                <a:srgbClr val="C0000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Protects business personal property during predictable inventory increases during specific periods </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of the year</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A specific limit of insurance for a specific time period may be purchased in addition to the </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automatic 25% increase included in the Policy</a:t>
            </a:r>
          </a:p>
          <a:p>
            <a:pPr marL="342900" marR="0" lvl="0" indent="-342900" algn="l" defTabSz="914400" rtl="0" eaLnBrk="1" fontAlgn="auto" latinLnBrk="0" hangingPunct="1">
              <a:lnSpc>
                <a:spcPct val="100000"/>
              </a:lnSpc>
              <a:spcBef>
                <a:spcPct val="20000"/>
              </a:spcBef>
              <a:spcAft>
                <a:spcPts val="0"/>
              </a:spcAft>
              <a:buClrTx/>
              <a:buSzTx/>
              <a:buFontTx/>
              <a:buNone/>
              <a:tabLst/>
              <a:defRPr/>
            </a:pPr>
            <a:endParaRPr kumimoji="0" lang="en-US" sz="1600" b="1"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mn-lt"/>
                <a:ea typeface="+mn-ea"/>
                <a:cs typeface="+mn-cs"/>
              </a:rPr>
              <a:t>Illustration – </a:t>
            </a:r>
          </a:p>
          <a:p>
            <a:pPr marL="342900" marR="0" lvl="0" indent="-342900" algn="l" defTabSz="914400" rtl="0" eaLnBrk="1" fontAlgn="auto" latinLnBrk="0" hangingPunct="1">
              <a:lnSpc>
                <a:spcPct val="100000"/>
              </a:lnSpc>
              <a:spcBef>
                <a:spcPct val="20000"/>
              </a:spcBef>
              <a:spcAft>
                <a:spcPts val="0"/>
              </a:spcAft>
              <a:buClrTx/>
              <a:buSzTx/>
              <a:buFontTx/>
              <a:buNone/>
              <a:tabLst/>
              <a:defRPr/>
            </a:pPr>
            <a:endPar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The Keller Children's Store has a tremendous peak period in the month before the start of school. </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Keller uses a peak season period of July 15 through September 1 because school “always starts” the </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day after Labor Day. However, the school board changed the school starting date this year to </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August 15. Keller ordered inventory and scheduled it to arrive before the 4</a:t>
            </a:r>
            <a:r>
              <a:rPr kumimoji="0" lang="en-US" sz="1600" b="0" i="0" u="none" strike="noStrike" kern="1200" cap="none" spc="0" normalizeH="0" baseline="30000" noProof="0" dirty="0">
                <a:ln>
                  <a:noFill/>
                </a:ln>
                <a:solidFill>
                  <a:schemeClr val="tx1">
                    <a:lumMod val="75000"/>
                    <a:lumOff val="25000"/>
                  </a:schemeClr>
                </a:solidFill>
                <a:effectLst/>
                <a:uLnTx/>
                <a:uFillTx/>
                <a:latin typeface="+mn-lt"/>
                <a:ea typeface="+mn-ea"/>
                <a:cs typeface="+mn-cs"/>
              </a:rPr>
              <a:t>th</a:t>
            </a: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 of July so parents </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could have a nice holiday shopping weekend. Unfortunately, it forgot to adjust and change the peak </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season period. When a tornado severely damaged Keller's store on July 10, it was underinsured </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and also incurred a coinsurance penalty because of inadequate business personal property limits.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6934200" y="6553200"/>
            <a:ext cx="2209800" cy="228600"/>
          </a:xfrm>
          <a:prstGeom prst="rect">
            <a:avLst/>
          </a:prstGeom>
        </p:spPr>
        <p:txBody>
          <a:bodyPr/>
          <a:lstStyle/>
          <a:p>
            <a:pPr algn="r" fontAlgn="auto">
              <a:spcBef>
                <a:spcPts val="0"/>
              </a:spcBef>
              <a:spcAft>
                <a:spcPts val="0"/>
              </a:spcAft>
              <a:defRPr/>
            </a:pPr>
            <a:fld id="{0F56061C-0A42-4038-98B8-AEE9439494E5}" type="slidenum">
              <a:rPr lang="en-US" sz="1400">
                <a:latin typeface="+mn-lt"/>
              </a:rPr>
              <a:pPr algn="r" fontAlgn="auto">
                <a:spcBef>
                  <a:spcPts val="0"/>
                </a:spcBef>
                <a:spcAft>
                  <a:spcPts val="0"/>
                </a:spcAft>
                <a:defRPr/>
              </a:pPr>
              <a:t>31</a:t>
            </a:fld>
            <a:endParaRPr lang="en-US" sz="1400" dirty="0">
              <a:latin typeface="+mn-lt"/>
            </a:endParaRPr>
          </a:p>
        </p:txBody>
      </p:sp>
      <p:sp>
        <p:nvSpPr>
          <p:cNvPr id="10" name="Rectangle 66"/>
          <p:cNvSpPr>
            <a:spLocks noChangeArrowheads="1"/>
          </p:cNvSpPr>
          <p:nvPr/>
        </p:nvSpPr>
        <p:spPr bwMode="auto">
          <a:xfrm>
            <a:off x="76200" y="152400"/>
            <a:ext cx="5867400" cy="400110"/>
          </a:xfrm>
          <a:prstGeom prst="rect">
            <a:avLst/>
          </a:prstGeom>
          <a:noFill/>
          <a:ln w="12700">
            <a:noFill/>
            <a:miter lim="800000"/>
            <a:headEnd/>
            <a:tailEnd/>
          </a:ln>
        </p:spPr>
        <p:txBody>
          <a:bodyPr wrap="square" anchor="ctr">
            <a:spAutoFit/>
          </a:bodyPr>
          <a:lstStyle/>
          <a:p>
            <a:pPr eaLnBrk="0" hangingPunct="0"/>
            <a:r>
              <a:rPr lang="en-US" sz="2000" dirty="0">
                <a:solidFill>
                  <a:schemeClr val="bg1"/>
                </a:solidFill>
              </a:rPr>
              <a:t>Property - Location Level Optional </a:t>
            </a:r>
            <a:r>
              <a:rPr lang="en-US" sz="2000" dirty="0" err="1">
                <a:solidFill>
                  <a:schemeClr val="bg1"/>
                </a:solidFill>
              </a:rPr>
              <a:t>Coverages</a:t>
            </a:r>
            <a:endParaRPr lang="en-US" sz="2000" dirty="0">
              <a:solidFill>
                <a:schemeClr val="bg1"/>
              </a:solidFill>
            </a:endParaRPr>
          </a:p>
        </p:txBody>
      </p:sp>
      <p:sp>
        <p:nvSpPr>
          <p:cNvPr id="4" name="Rectangle 2"/>
          <p:cNvSpPr txBox="1">
            <a:spLocks noChangeArrowheads="1"/>
          </p:cNvSpPr>
          <p:nvPr/>
        </p:nvSpPr>
        <p:spPr bwMode="auto">
          <a:xfrm>
            <a:off x="381000" y="1905000"/>
            <a:ext cx="8229600" cy="3505200"/>
          </a:xfrm>
          <a:prstGeom prst="rect">
            <a:avLst/>
          </a:prstGeom>
          <a:noFill/>
          <a:ln>
            <a:miter lim="800000"/>
            <a:headEnd/>
            <a:tailEnd/>
          </a:ln>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1" u="none" strike="noStrike" kern="1200" cap="none" spc="0" normalizeH="0" baseline="0" noProof="0" dirty="0">
                <a:ln>
                  <a:noFill/>
                </a:ln>
                <a:solidFill>
                  <a:srgbClr val="C00000"/>
                </a:solidFill>
                <a:effectLst/>
                <a:uLnTx/>
                <a:uFillTx/>
                <a:ea typeface="+mn-ea"/>
                <a:cs typeface="+mn-cs"/>
              </a:rPr>
              <a:t>Electronic Data and Computers On Premises</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0" u="none" strike="noStrike" kern="1200" cap="none" spc="0" normalizeH="0" baseline="0" noProof="0" dirty="0">
                <a:ln>
                  <a:noFill/>
                </a:ln>
                <a:solidFill>
                  <a:schemeClr val="tx1">
                    <a:lumMod val="75000"/>
                    <a:lumOff val="25000"/>
                  </a:schemeClr>
                </a:solidFill>
                <a:effectLst/>
                <a:uLnTx/>
                <a:uFillTx/>
                <a:ea typeface="+mn-ea"/>
                <a:cs typeface="+mn-cs"/>
              </a:rPr>
              <a:t>Insures against loss or damage to electronic data processing equipment and media owned, leased </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0" u="none" strike="noStrike" kern="1200" cap="none" spc="0" normalizeH="0" baseline="0" noProof="0" dirty="0">
                <a:ln>
                  <a:noFill/>
                </a:ln>
                <a:solidFill>
                  <a:schemeClr val="tx1">
                    <a:lumMod val="75000"/>
                    <a:lumOff val="25000"/>
                  </a:schemeClr>
                </a:solidFill>
                <a:effectLst/>
                <a:uLnTx/>
                <a:uFillTx/>
                <a:ea typeface="+mn-ea"/>
                <a:cs typeface="+mn-cs"/>
              </a:rPr>
              <a:t>or used by the insured </a:t>
            </a:r>
          </a:p>
          <a:p>
            <a:pPr marL="342900" marR="0" lvl="0" indent="-342900" algn="l" defTabSz="914400" rtl="0" eaLnBrk="1" fontAlgn="auto" latinLnBrk="0" hangingPunct="1">
              <a:lnSpc>
                <a:spcPct val="100000"/>
              </a:lnSpc>
              <a:spcBef>
                <a:spcPct val="20000"/>
              </a:spcBef>
              <a:spcAft>
                <a:spcPts val="0"/>
              </a:spcAft>
              <a:buClrTx/>
              <a:buSzTx/>
              <a:buFontTx/>
              <a:buNone/>
              <a:tabLst/>
              <a:defRPr/>
            </a:pPr>
            <a:endParaRPr lang="en-US" sz="1600" dirty="0">
              <a:solidFill>
                <a:schemeClr val="tx1">
                  <a:lumMod val="75000"/>
                  <a:lumOff val="25000"/>
                </a:schemeClr>
              </a:solidFill>
            </a:endParaRPr>
          </a:p>
          <a:p>
            <a:pPr marL="342900" lvl="0" indent="-342900">
              <a:spcBef>
                <a:spcPct val="20000"/>
              </a:spcBef>
            </a:pPr>
            <a:r>
              <a:rPr lang="en-US" sz="1600" b="1" dirty="0">
                <a:solidFill>
                  <a:srgbClr val="C00000"/>
                </a:solidFill>
              </a:rPr>
              <a:t>Fine Arts Coverage </a:t>
            </a:r>
          </a:p>
          <a:p>
            <a:pPr marL="342900" lvl="0" indent="-342900">
              <a:spcBef>
                <a:spcPct val="20000"/>
              </a:spcBef>
            </a:pPr>
            <a:r>
              <a:rPr lang="en-US" sz="1600" dirty="0">
                <a:solidFill>
                  <a:schemeClr val="tx1">
                    <a:lumMod val="75000"/>
                    <a:lumOff val="25000"/>
                  </a:schemeClr>
                </a:solidFill>
              </a:rPr>
              <a:t>Provides coverage for pictures and other decorative items that serve a solely aesthetic purpose </a:t>
            </a:r>
          </a:p>
          <a:p>
            <a:pPr marL="342900" lvl="0" indent="-342900">
              <a:spcBef>
                <a:spcPct val="20000"/>
              </a:spcBef>
            </a:pPr>
            <a:r>
              <a:rPr lang="en-US" sz="1600" dirty="0">
                <a:solidFill>
                  <a:schemeClr val="tx1">
                    <a:lumMod val="75000"/>
                    <a:lumOff val="25000"/>
                  </a:schemeClr>
                </a:solidFill>
              </a:rPr>
              <a:t>rather than a practical</a:t>
            </a:r>
          </a:p>
          <a:p>
            <a:pPr marL="342900" indent="-342900" eaLnBrk="0" hangingPunct="0">
              <a:spcBef>
                <a:spcPct val="20000"/>
              </a:spcBef>
            </a:pPr>
            <a:r>
              <a:rPr lang="en-US" sz="1600" b="1" dirty="0">
                <a:solidFill>
                  <a:schemeClr val="tx1">
                    <a:lumMod val="75000"/>
                    <a:lumOff val="25000"/>
                  </a:schemeClr>
                </a:solidFill>
              </a:rPr>
              <a:t>	</a:t>
            </a:r>
          </a:p>
          <a:p>
            <a:pPr marL="342900" indent="-342900" eaLnBrk="0" hangingPunct="0">
              <a:spcBef>
                <a:spcPct val="20000"/>
              </a:spcBef>
            </a:pPr>
            <a:r>
              <a:rPr lang="en-US" sz="1600" b="1" dirty="0">
                <a:solidFill>
                  <a:srgbClr val="C00000"/>
                </a:solidFill>
              </a:rPr>
              <a:t>Food Contamination </a:t>
            </a:r>
          </a:p>
          <a:p>
            <a:pPr marL="342900" indent="-342900" eaLnBrk="0" hangingPunct="0">
              <a:spcBef>
                <a:spcPct val="20000"/>
              </a:spcBef>
            </a:pPr>
            <a:r>
              <a:rPr lang="en-US" sz="1600" dirty="0">
                <a:solidFill>
                  <a:schemeClr val="tx1">
                    <a:lumMod val="75000"/>
                    <a:lumOff val="25000"/>
                  </a:schemeClr>
                </a:solidFill>
              </a:rPr>
              <a:t>Provides coverage for certain expenses and Business Income losses sustained as a result of a </a:t>
            </a:r>
          </a:p>
          <a:p>
            <a:pPr marL="342900" indent="-342900" eaLnBrk="0" hangingPunct="0">
              <a:spcBef>
                <a:spcPct val="20000"/>
              </a:spcBef>
            </a:pPr>
            <a:r>
              <a:rPr lang="en-US" sz="1600" dirty="0">
                <a:solidFill>
                  <a:schemeClr val="tx1">
                    <a:lumMod val="75000"/>
                    <a:lumOff val="25000"/>
                  </a:schemeClr>
                </a:solidFill>
              </a:rPr>
              <a:t>described premises being closed by the Board of Health or any other government authority as a </a:t>
            </a:r>
          </a:p>
          <a:p>
            <a:pPr marL="342900" indent="-342900" eaLnBrk="0" hangingPunct="0">
              <a:spcBef>
                <a:spcPct val="20000"/>
              </a:spcBef>
            </a:pPr>
            <a:r>
              <a:rPr lang="en-US" sz="1600" dirty="0">
                <a:solidFill>
                  <a:schemeClr val="tx1">
                    <a:lumMod val="75000"/>
                    <a:lumOff val="25000"/>
                  </a:schemeClr>
                </a:solidFill>
              </a:rPr>
              <a:t>result of the discovery or suspicion of food contamination</a:t>
            </a:r>
            <a:endParaRPr kumimoji="0" lang="en-US" sz="1600" b="0" u="none" strike="noStrike" kern="1200" cap="none" spc="0" normalizeH="0" baseline="0" noProof="0" dirty="0">
              <a:ln>
                <a:noFill/>
              </a:ln>
              <a:solidFill>
                <a:schemeClr val="tx1">
                  <a:lumMod val="75000"/>
                  <a:lumOff val="25000"/>
                </a:schemeClr>
              </a:solidFill>
              <a:effectLst/>
              <a:uLnTx/>
              <a:uFillTx/>
              <a:ea typeface="+mn-ea"/>
              <a:cs typeface="+mn-c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6934200" y="6553200"/>
            <a:ext cx="2209800" cy="228600"/>
          </a:xfrm>
          <a:prstGeom prst="rect">
            <a:avLst/>
          </a:prstGeom>
        </p:spPr>
        <p:txBody>
          <a:bodyPr/>
          <a:lstStyle/>
          <a:p>
            <a:pPr algn="r" fontAlgn="auto">
              <a:spcBef>
                <a:spcPts val="0"/>
              </a:spcBef>
              <a:spcAft>
                <a:spcPts val="0"/>
              </a:spcAft>
              <a:defRPr/>
            </a:pPr>
            <a:fld id="{0F56061C-0A42-4038-98B8-AEE9439494E5}" type="slidenum">
              <a:rPr lang="en-US" sz="1400">
                <a:latin typeface="+mn-lt"/>
              </a:rPr>
              <a:pPr algn="r" fontAlgn="auto">
                <a:spcBef>
                  <a:spcPts val="0"/>
                </a:spcBef>
                <a:spcAft>
                  <a:spcPts val="0"/>
                </a:spcAft>
                <a:defRPr/>
              </a:pPr>
              <a:t>32</a:t>
            </a:fld>
            <a:endParaRPr lang="en-US" sz="1400" dirty="0">
              <a:latin typeface="+mn-lt"/>
            </a:endParaRPr>
          </a:p>
        </p:txBody>
      </p:sp>
      <p:sp>
        <p:nvSpPr>
          <p:cNvPr id="10" name="Rectangle 66"/>
          <p:cNvSpPr>
            <a:spLocks noChangeArrowheads="1"/>
          </p:cNvSpPr>
          <p:nvPr/>
        </p:nvSpPr>
        <p:spPr bwMode="auto">
          <a:xfrm>
            <a:off x="76200" y="152400"/>
            <a:ext cx="5867400" cy="400110"/>
          </a:xfrm>
          <a:prstGeom prst="rect">
            <a:avLst/>
          </a:prstGeom>
          <a:noFill/>
          <a:ln w="12700">
            <a:noFill/>
            <a:miter lim="800000"/>
            <a:headEnd/>
            <a:tailEnd/>
          </a:ln>
        </p:spPr>
        <p:txBody>
          <a:bodyPr wrap="square" anchor="ctr">
            <a:spAutoFit/>
          </a:bodyPr>
          <a:lstStyle/>
          <a:p>
            <a:pPr eaLnBrk="0" hangingPunct="0"/>
            <a:r>
              <a:rPr lang="en-US" sz="2000" dirty="0">
                <a:solidFill>
                  <a:schemeClr val="bg1"/>
                </a:solidFill>
              </a:rPr>
              <a:t>Property - Location Level Optional </a:t>
            </a:r>
            <a:r>
              <a:rPr lang="en-US" sz="2000" dirty="0" err="1">
                <a:solidFill>
                  <a:schemeClr val="bg1"/>
                </a:solidFill>
              </a:rPr>
              <a:t>Coverages</a:t>
            </a:r>
            <a:endParaRPr lang="en-US" sz="2000" dirty="0">
              <a:solidFill>
                <a:schemeClr val="bg1"/>
              </a:solidFill>
            </a:endParaRPr>
          </a:p>
        </p:txBody>
      </p:sp>
      <p:sp>
        <p:nvSpPr>
          <p:cNvPr id="4" name="Rectangle 2"/>
          <p:cNvSpPr txBox="1">
            <a:spLocks noChangeArrowheads="1"/>
          </p:cNvSpPr>
          <p:nvPr/>
        </p:nvSpPr>
        <p:spPr bwMode="auto">
          <a:xfrm>
            <a:off x="381000" y="1295400"/>
            <a:ext cx="8534400" cy="1981200"/>
          </a:xfrm>
          <a:prstGeom prst="rect">
            <a:avLst/>
          </a:prstGeom>
          <a:noFill/>
          <a:ln>
            <a:miter lim="800000"/>
            <a:headEnd/>
            <a:tailEnd/>
          </a:ln>
        </p:spPr>
        <p:txBody>
          <a:bodyPr vert="horz" lIns="91440" tIns="45720" rIns="91440" bIns="45720" rtlCol="0">
            <a:normAutofit/>
          </a:bodyPr>
          <a:lstStyle/>
          <a:p>
            <a:pPr marL="342900" marR="0" lvl="0" indent="-342900" algn="l" defTabSz="914400" rtl="0" eaLnBrk="1" fontAlgn="auto" latinLnBrk="0" hangingPunct="1">
              <a:lnSpc>
                <a:spcPct val="90000"/>
              </a:lnSpc>
              <a:spcBef>
                <a:spcPct val="20000"/>
              </a:spcBef>
              <a:spcAft>
                <a:spcPts val="0"/>
              </a:spcAft>
              <a:buClrTx/>
              <a:buSzTx/>
              <a:buFontTx/>
              <a:buNone/>
              <a:tabLst/>
              <a:defRPr/>
            </a:pPr>
            <a:r>
              <a:rPr kumimoji="0" lang="en-US" sz="1600" b="1" u="none" strike="noStrike" kern="1200" cap="none" spc="0" normalizeH="0" baseline="0" noProof="0" dirty="0">
                <a:ln>
                  <a:noFill/>
                </a:ln>
                <a:solidFill>
                  <a:srgbClr val="C00000"/>
                </a:solidFill>
                <a:effectLst/>
                <a:uLnTx/>
                <a:uFillTx/>
                <a:latin typeface="+mn-lt"/>
                <a:ea typeface="+mn-ea"/>
                <a:cs typeface="+mn-cs"/>
              </a:rPr>
              <a:t>Ordinance or Law Coverage</a:t>
            </a:r>
            <a:r>
              <a:rPr kumimoji="0" lang="en-US" sz="1600" b="0" u="none" strike="noStrike" kern="1200" cap="none" spc="0" normalizeH="0" baseline="0" noProof="0" dirty="0">
                <a:ln>
                  <a:noFill/>
                </a:ln>
                <a:solidFill>
                  <a:srgbClr val="C00000"/>
                </a:solidFill>
                <a:effectLst/>
                <a:uLnTx/>
                <a:uFillTx/>
                <a:latin typeface="+mn-lt"/>
                <a:ea typeface="+mn-ea"/>
                <a:cs typeface="+mn-cs"/>
              </a:rPr>
              <a:t> </a:t>
            </a:r>
          </a:p>
          <a:p>
            <a:pPr marL="342900" marR="0" lvl="0" indent="-342900" algn="l" defTabSz="914400" rtl="0" eaLnBrk="1" fontAlgn="auto" latinLnBrk="0" hangingPunct="1">
              <a:lnSpc>
                <a:spcPct val="90000"/>
              </a:lnSpc>
              <a:spcBef>
                <a:spcPct val="20000"/>
              </a:spcBef>
              <a:spcAft>
                <a:spcPts val="0"/>
              </a:spcAft>
              <a:buClrTx/>
              <a:buSzTx/>
              <a:buFontTx/>
              <a:buNone/>
              <a:tabLst/>
              <a:defRPr/>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Protects losses that result from the enforcement of ordinances or laws that do not permit restoring a </a:t>
            </a:r>
          </a:p>
          <a:p>
            <a:pPr marL="342900" marR="0" lvl="0" indent="-342900" algn="l" defTabSz="914400" rtl="0" eaLnBrk="1" fontAlgn="auto" latinLnBrk="0" hangingPunct="1">
              <a:lnSpc>
                <a:spcPct val="90000"/>
              </a:lnSpc>
              <a:spcBef>
                <a:spcPct val="20000"/>
              </a:spcBef>
              <a:spcAft>
                <a:spcPts val="0"/>
              </a:spcAft>
              <a:buClrTx/>
              <a:buSzTx/>
              <a:buFontTx/>
              <a:buNone/>
              <a:tabLst/>
              <a:defRPr/>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building to the same condition as existed prior to damage</a:t>
            </a:r>
          </a:p>
          <a:p>
            <a:pPr marL="342900" marR="0" lvl="0" indent="-342900" algn="l" defTabSz="914400" rtl="0" eaLnBrk="1" fontAlgn="auto" latinLnBrk="0" hangingPunct="1">
              <a:lnSpc>
                <a:spcPct val="90000"/>
              </a:lnSpc>
              <a:spcBef>
                <a:spcPct val="20000"/>
              </a:spcBef>
              <a:spcAft>
                <a:spcPts val="0"/>
              </a:spcAft>
              <a:buClrTx/>
              <a:buSzTx/>
              <a:buFontTx/>
              <a:buNone/>
              <a:tabLst/>
              <a:defRPr/>
            </a:pPr>
            <a:endPar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a:p>
            <a:pPr marL="742950" marR="0" lvl="1" indent="-285750" algn="l" defTabSz="914400" rtl="0" eaLnBrk="1" fontAlgn="auto" latinLnBrk="0" hangingPunct="1">
              <a:lnSpc>
                <a:spcPct val="90000"/>
              </a:lnSpc>
              <a:spcBef>
                <a:spcPct val="20000"/>
              </a:spcBef>
              <a:spcAft>
                <a:spcPts val="0"/>
              </a:spcAft>
              <a:buClrTx/>
              <a:buSzTx/>
              <a:buFontTx/>
              <a:buNone/>
              <a:tabLst/>
              <a:defRPr/>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	Coverage 1 - Loss to the undamaged portion of the building</a:t>
            </a:r>
          </a:p>
          <a:p>
            <a:pPr marL="742950" marR="0" lvl="1" indent="-285750" algn="l" defTabSz="914400" rtl="0" eaLnBrk="1" fontAlgn="auto" latinLnBrk="0" hangingPunct="1">
              <a:lnSpc>
                <a:spcPct val="90000"/>
              </a:lnSpc>
              <a:spcBef>
                <a:spcPct val="20000"/>
              </a:spcBef>
              <a:spcAft>
                <a:spcPts val="0"/>
              </a:spcAft>
              <a:buClrTx/>
              <a:buSzTx/>
              <a:buFontTx/>
              <a:buNone/>
              <a:tabLst/>
              <a:defRPr/>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	Coverage 2 - Demolition cost coverage</a:t>
            </a:r>
          </a:p>
          <a:p>
            <a:pPr marL="742950" marR="0" lvl="1" indent="-285750" algn="l" defTabSz="914400" rtl="0" eaLnBrk="1" fontAlgn="auto" latinLnBrk="0" hangingPunct="1">
              <a:lnSpc>
                <a:spcPct val="90000"/>
              </a:lnSpc>
              <a:spcBef>
                <a:spcPct val="20000"/>
              </a:spcBef>
              <a:spcAft>
                <a:spcPts val="0"/>
              </a:spcAft>
              <a:buClrTx/>
              <a:buSzTx/>
              <a:buFontTx/>
              <a:buNone/>
              <a:tabLst/>
              <a:defRPr/>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	Coverage 3 - Increased cost of construction</a:t>
            </a:r>
          </a:p>
        </p:txBody>
      </p:sp>
      <p:sp>
        <p:nvSpPr>
          <p:cNvPr id="5" name="Rectangle 4"/>
          <p:cNvSpPr/>
          <p:nvPr/>
        </p:nvSpPr>
        <p:spPr>
          <a:xfrm>
            <a:off x="228600" y="3352800"/>
            <a:ext cx="8382000" cy="1107996"/>
          </a:xfrm>
          <a:prstGeom prst="rect">
            <a:avLst/>
          </a:prstGeom>
        </p:spPr>
        <p:txBody>
          <a:bodyPr wrap="square">
            <a:spAutoFit/>
          </a:bodyPr>
          <a:lstStyle/>
          <a:p>
            <a:pPr>
              <a:buNone/>
            </a:pPr>
            <a:r>
              <a:rPr lang="en-US" b="1" dirty="0"/>
              <a:t> </a:t>
            </a:r>
            <a:r>
              <a:rPr lang="en-US" sz="1600" b="1" dirty="0">
                <a:solidFill>
                  <a:srgbClr val="C00000"/>
                </a:solidFill>
              </a:rPr>
              <a:t>Computer Coverage</a:t>
            </a:r>
          </a:p>
          <a:p>
            <a:pPr>
              <a:buNone/>
            </a:pPr>
            <a:r>
              <a:rPr lang="en-US" sz="1600" dirty="0">
                <a:solidFill>
                  <a:schemeClr val="tx1">
                    <a:lumMod val="75000"/>
                    <a:lumOff val="25000"/>
                  </a:schemeClr>
                </a:solidFill>
              </a:rPr>
              <a:t>Coverage for risks of direct physical loss that are not excluded can be provided for computers used in the operation of the insured business. This option includes coverage for loss caused by mechanical breakdown, earthquake, flood, and water damage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6934200" y="6553200"/>
            <a:ext cx="2209800" cy="228600"/>
          </a:xfrm>
          <a:prstGeom prst="rect">
            <a:avLst/>
          </a:prstGeom>
        </p:spPr>
        <p:txBody>
          <a:bodyPr/>
          <a:lstStyle/>
          <a:p>
            <a:pPr algn="r" fontAlgn="auto">
              <a:spcBef>
                <a:spcPts val="0"/>
              </a:spcBef>
              <a:spcAft>
                <a:spcPts val="0"/>
              </a:spcAft>
              <a:defRPr/>
            </a:pPr>
            <a:fld id="{0F56061C-0A42-4038-98B8-AEE9439494E5}" type="slidenum">
              <a:rPr lang="en-US" sz="1400">
                <a:latin typeface="+mn-lt"/>
              </a:rPr>
              <a:pPr algn="r" fontAlgn="auto">
                <a:spcBef>
                  <a:spcPts val="0"/>
                </a:spcBef>
                <a:spcAft>
                  <a:spcPts val="0"/>
                </a:spcAft>
                <a:defRPr/>
              </a:pPr>
              <a:t>33</a:t>
            </a:fld>
            <a:endParaRPr lang="en-US" sz="1400" dirty="0">
              <a:latin typeface="+mn-lt"/>
            </a:endParaRPr>
          </a:p>
        </p:txBody>
      </p:sp>
      <p:sp>
        <p:nvSpPr>
          <p:cNvPr id="10" name="Rectangle 66"/>
          <p:cNvSpPr>
            <a:spLocks noChangeArrowheads="1"/>
          </p:cNvSpPr>
          <p:nvPr/>
        </p:nvSpPr>
        <p:spPr bwMode="auto">
          <a:xfrm>
            <a:off x="76200" y="152400"/>
            <a:ext cx="5867400" cy="400110"/>
          </a:xfrm>
          <a:prstGeom prst="rect">
            <a:avLst/>
          </a:prstGeom>
          <a:noFill/>
          <a:ln w="12700">
            <a:noFill/>
            <a:miter lim="800000"/>
            <a:headEnd/>
            <a:tailEnd/>
          </a:ln>
        </p:spPr>
        <p:txBody>
          <a:bodyPr wrap="square" anchor="ctr">
            <a:spAutoFit/>
          </a:bodyPr>
          <a:lstStyle/>
          <a:p>
            <a:pPr eaLnBrk="0" hangingPunct="0"/>
            <a:r>
              <a:rPr lang="en-US" sz="2000" dirty="0">
                <a:solidFill>
                  <a:schemeClr val="bg1"/>
                </a:solidFill>
              </a:rPr>
              <a:t>Property - Location Level Optional </a:t>
            </a:r>
            <a:r>
              <a:rPr lang="en-US" sz="2000" dirty="0" err="1">
                <a:solidFill>
                  <a:schemeClr val="bg1"/>
                </a:solidFill>
              </a:rPr>
              <a:t>Coverages</a:t>
            </a:r>
            <a:endParaRPr lang="en-US" sz="2000" dirty="0">
              <a:solidFill>
                <a:schemeClr val="bg1"/>
              </a:solidFill>
            </a:endParaRPr>
          </a:p>
        </p:txBody>
      </p:sp>
      <p:sp>
        <p:nvSpPr>
          <p:cNvPr id="4" name="Rectangle 3"/>
          <p:cNvSpPr txBox="1">
            <a:spLocks noChangeArrowheads="1"/>
          </p:cNvSpPr>
          <p:nvPr/>
        </p:nvSpPr>
        <p:spPr bwMode="auto">
          <a:xfrm>
            <a:off x="381000" y="1219200"/>
            <a:ext cx="8229600" cy="990600"/>
          </a:xfrm>
          <a:prstGeom prst="rect">
            <a:avLst/>
          </a:prstGeom>
          <a:noFill/>
          <a:ln>
            <a:miter lim="800000"/>
            <a:headEnd/>
            <a:tailEnd/>
          </a:ln>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mn-lt"/>
                <a:ea typeface="+mn-ea"/>
                <a:cs typeface="+mn-cs"/>
              </a:rPr>
              <a:t>Outdoor Signs</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Provides broadened Covered Causes of Loss for all outdoor signs owned by or in the care, custody </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or control of the insured at the premises</a:t>
            </a:r>
          </a:p>
        </p:txBody>
      </p:sp>
      <p:pic>
        <p:nvPicPr>
          <p:cNvPr id="5" name="Picture 4" descr="AAEA001040.jpg"/>
          <p:cNvPicPr>
            <a:picLocks noChangeAspect="1"/>
          </p:cNvPicPr>
          <p:nvPr/>
        </p:nvPicPr>
        <p:blipFill>
          <a:blip r:embed="rId3" cstate="print"/>
          <a:stretch>
            <a:fillRect/>
          </a:stretch>
        </p:blipFill>
        <p:spPr>
          <a:xfrm>
            <a:off x="2895600" y="2362200"/>
            <a:ext cx="2057400" cy="139517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6" name="Rectangle 5"/>
          <p:cNvSpPr/>
          <p:nvPr/>
        </p:nvSpPr>
        <p:spPr>
          <a:xfrm>
            <a:off x="304800" y="4114800"/>
            <a:ext cx="8305800" cy="1354217"/>
          </a:xfrm>
          <a:prstGeom prst="rect">
            <a:avLst/>
          </a:prstGeom>
        </p:spPr>
        <p:txBody>
          <a:bodyPr wrap="square">
            <a:spAutoFit/>
          </a:bodyPr>
          <a:lstStyle/>
          <a:p>
            <a:pPr marL="342900" indent="-342900">
              <a:spcBef>
                <a:spcPct val="20000"/>
              </a:spcBef>
              <a:defRPr/>
            </a:pPr>
            <a:r>
              <a:rPr lang="en-US" sz="1600" b="1" dirty="0">
                <a:solidFill>
                  <a:srgbClr val="C00000"/>
                </a:solidFill>
              </a:rPr>
              <a:t>Earnings From Dependent Locations</a:t>
            </a:r>
          </a:p>
          <a:p>
            <a:pPr>
              <a:buNone/>
            </a:pPr>
            <a:r>
              <a:rPr lang="en-US" sz="1600" dirty="0">
                <a:solidFill>
                  <a:schemeClr val="tx1">
                    <a:lumMod val="75000"/>
                    <a:lumOff val="25000"/>
                  </a:schemeClr>
                </a:solidFill>
              </a:rPr>
              <a:t>Limited Loss of Income Coverage is provided for the insured's lost earnings and/or additional expenses that result from direct physical damage by a covered peril to businesses that are not operated or controlled by the insured, but that otherwise play a supporting role in the insured's business. Coverage is provided at a $5,000 limit unless a higher limit is shown on the declarations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6934200" y="6553200"/>
            <a:ext cx="2209800" cy="228600"/>
          </a:xfrm>
          <a:prstGeom prst="rect">
            <a:avLst/>
          </a:prstGeom>
        </p:spPr>
        <p:txBody>
          <a:bodyPr/>
          <a:lstStyle/>
          <a:p>
            <a:pPr algn="r" fontAlgn="auto">
              <a:spcBef>
                <a:spcPts val="0"/>
              </a:spcBef>
              <a:spcAft>
                <a:spcPts val="0"/>
              </a:spcAft>
              <a:defRPr/>
            </a:pPr>
            <a:fld id="{0F56061C-0A42-4038-98B8-AEE9439494E5}" type="slidenum">
              <a:rPr lang="en-US" sz="1400">
                <a:latin typeface="+mn-lt"/>
              </a:rPr>
              <a:pPr algn="r" fontAlgn="auto">
                <a:spcBef>
                  <a:spcPts val="0"/>
                </a:spcBef>
                <a:spcAft>
                  <a:spcPts val="0"/>
                </a:spcAft>
                <a:defRPr/>
              </a:pPr>
              <a:t>34</a:t>
            </a:fld>
            <a:endParaRPr lang="en-US" sz="1400" dirty="0">
              <a:latin typeface="+mn-lt"/>
            </a:endParaRPr>
          </a:p>
        </p:txBody>
      </p:sp>
      <p:sp>
        <p:nvSpPr>
          <p:cNvPr id="10" name="Rectangle 66"/>
          <p:cNvSpPr>
            <a:spLocks noChangeArrowheads="1"/>
          </p:cNvSpPr>
          <p:nvPr/>
        </p:nvSpPr>
        <p:spPr bwMode="auto">
          <a:xfrm>
            <a:off x="76200" y="152400"/>
            <a:ext cx="5867400" cy="400110"/>
          </a:xfrm>
          <a:prstGeom prst="rect">
            <a:avLst/>
          </a:prstGeom>
          <a:noFill/>
          <a:ln w="12700">
            <a:noFill/>
            <a:miter lim="800000"/>
            <a:headEnd/>
            <a:tailEnd/>
          </a:ln>
        </p:spPr>
        <p:txBody>
          <a:bodyPr wrap="square" anchor="ctr">
            <a:spAutoFit/>
          </a:bodyPr>
          <a:lstStyle/>
          <a:p>
            <a:pPr eaLnBrk="0" hangingPunct="0"/>
            <a:r>
              <a:rPr lang="en-US" sz="2000" dirty="0">
                <a:solidFill>
                  <a:schemeClr val="bg1"/>
                </a:solidFill>
              </a:rPr>
              <a:t>Property - Location Level Optional </a:t>
            </a:r>
            <a:r>
              <a:rPr lang="en-US" sz="2000" dirty="0" err="1">
                <a:solidFill>
                  <a:schemeClr val="bg1"/>
                </a:solidFill>
              </a:rPr>
              <a:t>Coverages</a:t>
            </a:r>
            <a:endParaRPr lang="en-US" sz="2000" dirty="0">
              <a:solidFill>
                <a:schemeClr val="bg1"/>
              </a:solidFill>
            </a:endParaRPr>
          </a:p>
        </p:txBody>
      </p:sp>
      <p:sp>
        <p:nvSpPr>
          <p:cNvPr id="4" name="Rectangle 3"/>
          <p:cNvSpPr txBox="1">
            <a:spLocks noChangeArrowheads="1"/>
          </p:cNvSpPr>
          <p:nvPr/>
        </p:nvSpPr>
        <p:spPr bwMode="auto">
          <a:xfrm>
            <a:off x="304800" y="3886200"/>
            <a:ext cx="8229600" cy="1828800"/>
          </a:xfrm>
          <a:prstGeom prst="rect">
            <a:avLst/>
          </a:prstGeom>
          <a:noFill/>
          <a:ln>
            <a:miter lim="800000"/>
            <a:headEnd/>
            <a:tailEnd/>
          </a:ln>
        </p:spPr>
        <p:txBody>
          <a:bodyPr vert="horz" lIns="91440" tIns="45720" rIns="91440" bIns="45720" rtlCol="0">
            <a:normAutofit/>
          </a:bodyPr>
          <a:lstStyle/>
          <a:p>
            <a:pPr marL="342900" marR="0" lvl="0" indent="-342900" algn="l" defTabSz="914400" rtl="0" eaLnBrk="1" fontAlgn="auto" latinLnBrk="0" hangingPunct="1">
              <a:lnSpc>
                <a:spcPct val="80000"/>
              </a:lnSpc>
              <a:spcBef>
                <a:spcPct val="20000"/>
              </a:spcBef>
              <a:spcAft>
                <a:spcPts val="0"/>
              </a:spcAft>
              <a:buClrTx/>
              <a:buSzTx/>
              <a:buFontTx/>
              <a:buNone/>
              <a:tabLst/>
              <a:defRPr/>
            </a:pPr>
            <a:r>
              <a:rPr kumimoji="0" lang="en-US" sz="1600" b="1" u="none" strike="noStrike" kern="1200" cap="none" spc="0" normalizeH="0" baseline="0" noProof="0" dirty="0">
                <a:ln>
                  <a:noFill/>
                </a:ln>
                <a:solidFill>
                  <a:srgbClr val="C00000"/>
                </a:solidFill>
                <a:effectLst/>
                <a:uLnTx/>
                <a:uFillTx/>
                <a:latin typeface="+mn-lt"/>
                <a:ea typeface="+mn-ea"/>
                <a:cs typeface="+mn-cs"/>
              </a:rPr>
              <a:t>Spoilage Coverage</a:t>
            </a:r>
          </a:p>
          <a:p>
            <a:pPr marL="342900" marR="0" lvl="0" indent="-342900" algn="l" defTabSz="914400" rtl="0" eaLnBrk="1" fontAlgn="auto" latinLnBrk="0" hangingPunct="1">
              <a:lnSpc>
                <a:spcPct val="80000"/>
              </a:lnSpc>
              <a:spcBef>
                <a:spcPct val="20000"/>
              </a:spcBef>
              <a:spcAft>
                <a:spcPts val="0"/>
              </a:spcAft>
              <a:buClrTx/>
              <a:buSzTx/>
              <a:buFontTx/>
              <a:buNone/>
              <a:tabLst/>
              <a:defRPr/>
            </a:pPr>
            <a:endParaRPr kumimoji="0" lang="en-US" sz="1600" b="1" u="none" strike="noStrike" kern="1200" cap="none" spc="0" normalizeH="0" baseline="0" noProof="0" dirty="0">
              <a:ln>
                <a:noFill/>
              </a:ln>
              <a:solidFill>
                <a:schemeClr val="tx1">
                  <a:lumMod val="75000"/>
                  <a:lumOff val="25000"/>
                </a:schemeClr>
              </a:solidFill>
              <a:effectLst/>
              <a:uLnTx/>
              <a:uFillTx/>
              <a:latin typeface="+mn-lt"/>
              <a:ea typeface="+mn-ea"/>
              <a:cs typeface="+mn-cs"/>
            </a:endParaRPr>
          </a:p>
          <a:p>
            <a:pPr marL="342900" marR="0" lvl="0" indent="-342900" algn="l" defTabSz="914400" rtl="0" eaLnBrk="1" fontAlgn="auto" latinLnBrk="0" hangingPunct="1">
              <a:lnSpc>
                <a:spcPct val="80000"/>
              </a:lnSpc>
              <a:spcBef>
                <a:spcPct val="20000"/>
              </a:spcBef>
              <a:spcAft>
                <a:spcPts val="0"/>
              </a:spcAft>
              <a:buClrTx/>
              <a:buSzTx/>
              <a:buFontTx/>
              <a:buNone/>
              <a:tabLst/>
              <a:defRPr/>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Direct damage coverage for spoilage of perishables caused by Breakdown or Contamination </a:t>
            </a:r>
          </a:p>
          <a:p>
            <a:pPr marL="342900" marR="0" lvl="0" indent="-342900" algn="l" defTabSz="914400" rtl="0" eaLnBrk="1" fontAlgn="auto" latinLnBrk="0" hangingPunct="1">
              <a:lnSpc>
                <a:spcPct val="80000"/>
              </a:lnSpc>
              <a:spcBef>
                <a:spcPct val="20000"/>
              </a:spcBef>
              <a:spcAft>
                <a:spcPts val="0"/>
              </a:spcAft>
              <a:buClrTx/>
              <a:buSzTx/>
              <a:buFontTx/>
              <a:buNone/>
              <a:tabLst/>
              <a:defRPr/>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and/or Power Outage Coverage. </a:t>
            </a:r>
          </a:p>
          <a:p>
            <a:pPr marL="342900" marR="0" lvl="0" indent="-342900" algn="l" defTabSz="914400" rtl="0" eaLnBrk="1" fontAlgn="auto" latinLnBrk="0" hangingPunct="1">
              <a:lnSpc>
                <a:spcPct val="80000"/>
              </a:lnSpc>
              <a:spcBef>
                <a:spcPct val="20000"/>
              </a:spcBef>
              <a:spcAft>
                <a:spcPts val="0"/>
              </a:spcAft>
              <a:buClrTx/>
              <a:buSzTx/>
              <a:buFontTx/>
              <a:buNone/>
              <a:tabLst/>
              <a:defRPr/>
            </a:pPr>
            <a:endPar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a:p>
            <a:pPr marL="342900" marR="0" lvl="0" indent="-342900" algn="l" defTabSz="914400" rtl="0" eaLnBrk="1" fontAlgn="auto" latinLnBrk="0" hangingPunct="1">
              <a:lnSpc>
                <a:spcPct val="80000"/>
              </a:lnSpc>
              <a:spcBef>
                <a:spcPct val="20000"/>
              </a:spcBef>
              <a:spcAft>
                <a:spcPts val="0"/>
              </a:spcAft>
              <a:buClrTx/>
              <a:buSzTx/>
              <a:buFontTx/>
              <a:buNone/>
              <a:tabLst/>
              <a:defRPr/>
            </a:pPr>
            <a:r>
              <a:rPr kumimoji="0" lang="en-US" sz="1600" b="1" u="none" strike="noStrike" kern="1200" cap="none" spc="0" normalizeH="0" baseline="0" noProof="0" dirty="0">
                <a:ln>
                  <a:noFill/>
                </a:ln>
                <a:solidFill>
                  <a:srgbClr val="C00000"/>
                </a:solidFill>
                <a:effectLst/>
                <a:uLnTx/>
                <a:uFillTx/>
                <a:latin typeface="+mn-lt"/>
                <a:ea typeface="+mn-ea"/>
                <a:cs typeface="+mn-cs"/>
              </a:rPr>
              <a:t>Examples:</a:t>
            </a:r>
          </a:p>
          <a:p>
            <a:pPr marL="342900" marR="0" lvl="0" indent="-342900" algn="l" defTabSz="914400" rtl="0" eaLnBrk="1" fontAlgn="auto" latinLnBrk="0" hangingPunct="1">
              <a:lnSpc>
                <a:spcPct val="80000"/>
              </a:lnSpc>
              <a:spcBef>
                <a:spcPct val="20000"/>
              </a:spcBef>
              <a:spcAft>
                <a:spcPts val="0"/>
              </a:spcAft>
              <a:buClrTx/>
              <a:buSzTx/>
              <a:buFontTx/>
              <a:buNone/>
              <a:tabLst/>
              <a:defRPr/>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Bakery Goods Convenience Stores, Dairy products etc.</a:t>
            </a:r>
          </a:p>
          <a:p>
            <a:pPr marL="342900" marR="0" lvl="0" indent="-342900" algn="l" defTabSz="914400" rtl="0" eaLnBrk="1" fontAlgn="auto" latinLnBrk="0" hangingPunct="1">
              <a:lnSpc>
                <a:spcPct val="80000"/>
              </a:lnSpc>
              <a:spcBef>
                <a:spcPct val="20000"/>
              </a:spcBef>
              <a:spcAft>
                <a:spcPts val="0"/>
              </a:spcAft>
              <a:buClrTx/>
              <a:buSzTx/>
              <a:buFontTx/>
              <a:buNone/>
              <a:tabLst/>
              <a:defRPr/>
            </a:pPr>
            <a:endPar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a:p>
            <a:pPr marL="342900" marR="0" lvl="0" indent="-342900" algn="l" defTabSz="914400" rtl="0" eaLnBrk="1" fontAlgn="auto" latinLnBrk="0" hangingPunct="1">
              <a:lnSpc>
                <a:spcPct val="80000"/>
              </a:lnSpc>
              <a:spcBef>
                <a:spcPct val="20000"/>
              </a:spcBef>
              <a:spcAft>
                <a:spcPts val="0"/>
              </a:spcAft>
              <a:buClrTx/>
              <a:buSzTx/>
              <a:buFontTx/>
              <a:buNone/>
              <a:tabLst/>
              <a:defRPr/>
            </a:pPr>
            <a:endParaRPr lang="en-US" sz="1600" dirty="0">
              <a:solidFill>
                <a:schemeClr val="tx1">
                  <a:lumMod val="75000"/>
                  <a:lumOff val="25000"/>
                </a:schemeClr>
              </a:solidFill>
            </a:endParaRPr>
          </a:p>
          <a:p>
            <a:pPr marL="342900" marR="0" lvl="0" indent="-342900" algn="l" defTabSz="914400" rtl="0" eaLnBrk="1" fontAlgn="auto" latinLnBrk="0" hangingPunct="1">
              <a:lnSpc>
                <a:spcPct val="80000"/>
              </a:lnSpc>
              <a:spcBef>
                <a:spcPct val="20000"/>
              </a:spcBef>
              <a:spcAft>
                <a:spcPts val="0"/>
              </a:spcAft>
              <a:buClrTx/>
              <a:buSzTx/>
              <a:buFontTx/>
              <a:buNone/>
              <a:tabLst/>
              <a:defRPr/>
            </a:pPr>
            <a:endPar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a:p>
            <a:pPr marL="342900" marR="0" lvl="0" indent="-342900" algn="l" defTabSz="914400" rtl="0" eaLnBrk="1" fontAlgn="auto" latinLnBrk="0" hangingPunct="1">
              <a:lnSpc>
                <a:spcPct val="80000"/>
              </a:lnSpc>
              <a:spcBef>
                <a:spcPct val="20000"/>
              </a:spcBef>
              <a:spcAft>
                <a:spcPts val="0"/>
              </a:spcAft>
              <a:buClrTx/>
              <a:buSzTx/>
              <a:buFontTx/>
              <a:buNone/>
              <a:tabLst/>
              <a:defRPr/>
            </a:pPr>
            <a:endPar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p:txBody>
      </p:sp>
      <p:sp>
        <p:nvSpPr>
          <p:cNvPr id="5" name="Rectangle 4"/>
          <p:cNvSpPr/>
          <p:nvPr/>
        </p:nvSpPr>
        <p:spPr>
          <a:xfrm>
            <a:off x="304800" y="1219200"/>
            <a:ext cx="8305800" cy="2616101"/>
          </a:xfrm>
          <a:prstGeom prst="rect">
            <a:avLst/>
          </a:prstGeom>
        </p:spPr>
        <p:txBody>
          <a:bodyPr wrap="square">
            <a:spAutoFit/>
          </a:bodyPr>
          <a:lstStyle/>
          <a:p>
            <a:pPr>
              <a:buNone/>
            </a:pPr>
            <a:r>
              <a:rPr lang="en-US" b="1" dirty="0"/>
              <a:t> </a:t>
            </a:r>
            <a:r>
              <a:rPr lang="en-US" sz="1600" b="1" dirty="0">
                <a:solidFill>
                  <a:srgbClr val="C00000"/>
                </a:solidFill>
              </a:rPr>
              <a:t>Earthquake Coverage</a:t>
            </a:r>
          </a:p>
          <a:p>
            <a:pPr>
              <a:buNone/>
            </a:pPr>
            <a:endParaRPr lang="en-US" sz="1600" b="1" dirty="0">
              <a:solidFill>
                <a:srgbClr val="C00000"/>
              </a:solidFill>
            </a:endParaRPr>
          </a:p>
          <a:p>
            <a:pPr>
              <a:buNone/>
            </a:pPr>
            <a:r>
              <a:rPr lang="en-US" sz="1600" dirty="0">
                <a:solidFill>
                  <a:schemeClr val="tx1">
                    <a:lumMod val="75000"/>
                    <a:lumOff val="25000"/>
                  </a:schemeClr>
                </a:solidFill>
              </a:rPr>
              <a:t>Coverage for loss caused by earthquake and volcanic eruption can be added. When purchased, earthquake coverage applies to all property covered under Coverages A and B, and to the Loss of Income coverage provided under Coverage C</a:t>
            </a:r>
          </a:p>
          <a:p>
            <a:pPr>
              <a:buNone/>
            </a:pPr>
            <a:endParaRPr lang="en-US" dirty="0"/>
          </a:p>
          <a:p>
            <a:pPr marL="342900" indent="-342900">
              <a:lnSpc>
                <a:spcPct val="80000"/>
              </a:lnSpc>
              <a:spcBef>
                <a:spcPct val="20000"/>
              </a:spcBef>
              <a:defRPr/>
            </a:pPr>
            <a:r>
              <a:rPr lang="en-US" sz="1600" b="1" dirty="0">
                <a:solidFill>
                  <a:srgbClr val="C00000"/>
                </a:solidFill>
              </a:rPr>
              <a:t>Money and Securities Coverage</a:t>
            </a:r>
          </a:p>
          <a:p>
            <a:pPr marL="342900" indent="-342900">
              <a:lnSpc>
                <a:spcPct val="80000"/>
              </a:lnSpc>
              <a:spcBef>
                <a:spcPct val="20000"/>
              </a:spcBef>
              <a:defRPr/>
            </a:pPr>
            <a:endParaRPr lang="en-US" sz="1600" b="1" dirty="0">
              <a:solidFill>
                <a:srgbClr val="C00000"/>
              </a:solidFill>
            </a:endParaRPr>
          </a:p>
          <a:p>
            <a:pPr>
              <a:buNone/>
            </a:pPr>
            <a:r>
              <a:rPr lang="en-US" sz="1600" dirty="0">
                <a:solidFill>
                  <a:schemeClr val="tx1">
                    <a:lumMod val="75000"/>
                    <a:lumOff val="25000"/>
                  </a:schemeClr>
                </a:solidFill>
              </a:rPr>
              <a:t>Coverage can be provided for loss to money and securities resulting from theft, disappearance,    or destruction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6934200" y="6553200"/>
            <a:ext cx="2209800" cy="228600"/>
          </a:xfrm>
          <a:prstGeom prst="rect">
            <a:avLst/>
          </a:prstGeom>
        </p:spPr>
        <p:txBody>
          <a:bodyPr/>
          <a:lstStyle/>
          <a:p>
            <a:pPr algn="r" fontAlgn="auto">
              <a:spcBef>
                <a:spcPts val="0"/>
              </a:spcBef>
              <a:spcAft>
                <a:spcPts val="0"/>
              </a:spcAft>
              <a:defRPr/>
            </a:pPr>
            <a:fld id="{0F56061C-0A42-4038-98B8-AEE9439494E5}" type="slidenum">
              <a:rPr lang="en-US" sz="1400">
                <a:latin typeface="+mn-lt"/>
              </a:rPr>
              <a:pPr algn="r" fontAlgn="auto">
                <a:spcBef>
                  <a:spcPts val="0"/>
                </a:spcBef>
                <a:spcAft>
                  <a:spcPts val="0"/>
                </a:spcAft>
                <a:defRPr/>
              </a:pPr>
              <a:t>35</a:t>
            </a:fld>
            <a:endParaRPr lang="en-US" sz="1400" dirty="0">
              <a:latin typeface="+mn-lt"/>
            </a:endParaRPr>
          </a:p>
        </p:txBody>
      </p:sp>
      <p:sp>
        <p:nvSpPr>
          <p:cNvPr id="10" name="Rectangle 66"/>
          <p:cNvSpPr>
            <a:spLocks noChangeArrowheads="1"/>
          </p:cNvSpPr>
          <p:nvPr/>
        </p:nvSpPr>
        <p:spPr bwMode="auto">
          <a:xfrm>
            <a:off x="76200" y="152400"/>
            <a:ext cx="5867400" cy="400110"/>
          </a:xfrm>
          <a:prstGeom prst="rect">
            <a:avLst/>
          </a:prstGeom>
          <a:noFill/>
          <a:ln w="12700">
            <a:noFill/>
            <a:miter lim="800000"/>
            <a:headEnd/>
            <a:tailEnd/>
          </a:ln>
        </p:spPr>
        <p:txBody>
          <a:bodyPr wrap="square" anchor="ctr">
            <a:spAutoFit/>
          </a:bodyPr>
          <a:lstStyle/>
          <a:p>
            <a:pPr eaLnBrk="0" hangingPunct="0"/>
            <a:r>
              <a:rPr lang="en-US" sz="2000" dirty="0">
                <a:solidFill>
                  <a:schemeClr val="bg1"/>
                </a:solidFill>
              </a:rPr>
              <a:t>Property - Location Level Optional </a:t>
            </a:r>
            <a:r>
              <a:rPr lang="en-US" sz="2000" dirty="0" err="1">
                <a:solidFill>
                  <a:schemeClr val="bg1"/>
                </a:solidFill>
              </a:rPr>
              <a:t>Coverages</a:t>
            </a:r>
            <a:endParaRPr lang="en-US" sz="2000" dirty="0">
              <a:solidFill>
                <a:schemeClr val="bg1"/>
              </a:solidFill>
            </a:endParaRPr>
          </a:p>
        </p:txBody>
      </p:sp>
      <p:sp>
        <p:nvSpPr>
          <p:cNvPr id="4" name="Rectangle 2"/>
          <p:cNvSpPr txBox="1">
            <a:spLocks noChangeArrowheads="1"/>
          </p:cNvSpPr>
          <p:nvPr/>
        </p:nvSpPr>
        <p:spPr bwMode="auto">
          <a:xfrm>
            <a:off x="304800" y="2362200"/>
            <a:ext cx="8305800" cy="2743200"/>
          </a:xfrm>
          <a:prstGeom prst="rect">
            <a:avLst/>
          </a:prstGeom>
          <a:noFill/>
          <a:ln>
            <a:miter lim="800000"/>
            <a:headEnd/>
            <a:tailEnd/>
          </a:ln>
        </p:spPr>
        <p:txBody>
          <a:bodyPr vert="horz" lIns="91440" tIns="45720" rIns="91440" bIns="45720" rtlCol="0">
            <a:normAutofit/>
          </a:bodyPr>
          <a:lstStyle/>
          <a:p>
            <a:pPr marL="342900" marR="0" lvl="0" indent="-342900" algn="l" defTabSz="914400" rtl="0" eaLnBrk="1" fontAlgn="auto" latinLnBrk="0" hangingPunct="1">
              <a:lnSpc>
                <a:spcPct val="90000"/>
              </a:lnSpc>
              <a:spcBef>
                <a:spcPct val="20000"/>
              </a:spcBef>
              <a:spcAft>
                <a:spcPts val="0"/>
              </a:spcAft>
              <a:buClrTx/>
              <a:buSzTx/>
              <a:buFontTx/>
              <a:buNone/>
              <a:tabLst/>
              <a:defRPr/>
            </a:pPr>
            <a:r>
              <a:rPr kumimoji="0" lang="en-US" sz="1600" b="1" u="none" strike="noStrike" kern="1200" cap="none" spc="0" normalizeH="0" baseline="0" noProof="0" dirty="0">
                <a:ln>
                  <a:noFill/>
                </a:ln>
                <a:solidFill>
                  <a:srgbClr val="C00000"/>
                </a:solidFill>
                <a:effectLst/>
                <a:uLnTx/>
                <a:uFillTx/>
                <a:latin typeface="+mn-lt"/>
                <a:ea typeface="+mn-ea"/>
                <a:cs typeface="+mn-cs"/>
              </a:rPr>
              <a:t>Utility Services – Direct Damage </a:t>
            </a:r>
          </a:p>
          <a:p>
            <a:pPr marL="342900" marR="0" lvl="0" indent="-342900" algn="l" defTabSz="914400" rtl="0" eaLnBrk="1" fontAlgn="auto" latinLnBrk="0" hangingPunct="1">
              <a:lnSpc>
                <a:spcPct val="90000"/>
              </a:lnSpc>
              <a:spcBef>
                <a:spcPct val="20000"/>
              </a:spcBef>
              <a:spcAft>
                <a:spcPts val="0"/>
              </a:spcAft>
              <a:buClrTx/>
              <a:buSzTx/>
              <a:buFontTx/>
              <a:buNone/>
              <a:tabLst/>
              <a:defRPr/>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Provides coverage for loss or damage to Covered Property caused by the interruption of service to </a:t>
            </a:r>
          </a:p>
          <a:p>
            <a:pPr marL="342900" marR="0" lvl="0" indent="-342900" algn="l" defTabSz="914400" rtl="0" eaLnBrk="1" fontAlgn="auto" latinLnBrk="0" hangingPunct="1">
              <a:lnSpc>
                <a:spcPct val="90000"/>
              </a:lnSpc>
              <a:spcBef>
                <a:spcPct val="20000"/>
              </a:spcBef>
              <a:spcAft>
                <a:spcPts val="0"/>
              </a:spcAft>
              <a:buClrTx/>
              <a:buSzTx/>
              <a:buFontTx/>
              <a:buNone/>
              <a:tabLst/>
              <a:defRPr/>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the described premises resulting from direct physical loss or damage to Utility Services (Water, </a:t>
            </a:r>
          </a:p>
          <a:p>
            <a:pPr marL="342900" marR="0" lvl="0" indent="-342900" algn="l" defTabSz="914400" rtl="0" eaLnBrk="1" fontAlgn="auto" latinLnBrk="0" hangingPunct="1">
              <a:lnSpc>
                <a:spcPct val="90000"/>
              </a:lnSpc>
              <a:spcBef>
                <a:spcPct val="20000"/>
              </a:spcBef>
              <a:spcAft>
                <a:spcPts val="0"/>
              </a:spcAft>
              <a:buClrTx/>
              <a:buSzTx/>
              <a:buFontTx/>
              <a:buNone/>
              <a:tabLst/>
              <a:defRPr/>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Communications, Power Supply Services) by a Covered Cause of Loss. Coverage may also be </a:t>
            </a:r>
          </a:p>
          <a:p>
            <a:pPr marL="342900" marR="0" lvl="0" indent="-342900" algn="l" defTabSz="914400" rtl="0" eaLnBrk="1" fontAlgn="auto" latinLnBrk="0" hangingPunct="1">
              <a:lnSpc>
                <a:spcPct val="90000"/>
              </a:lnSpc>
              <a:spcBef>
                <a:spcPct val="20000"/>
              </a:spcBef>
              <a:spcAft>
                <a:spcPts val="0"/>
              </a:spcAft>
              <a:buClrTx/>
              <a:buSzTx/>
              <a:buFontTx/>
              <a:buNone/>
              <a:tabLst/>
              <a:defRPr/>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extended to cover overhead transmission and communication lines.</a:t>
            </a:r>
          </a:p>
          <a:p>
            <a:pPr marL="342900" marR="0" lvl="0" indent="-342900" algn="l" defTabSz="914400" rtl="0" eaLnBrk="1" fontAlgn="auto" latinLnBrk="0" hangingPunct="1">
              <a:lnSpc>
                <a:spcPct val="90000"/>
              </a:lnSpc>
              <a:spcBef>
                <a:spcPct val="20000"/>
              </a:spcBef>
              <a:spcAft>
                <a:spcPts val="0"/>
              </a:spcAft>
              <a:buClrTx/>
              <a:buSzTx/>
              <a:buFontTx/>
              <a:buNone/>
              <a:tabLst/>
              <a:defRPr/>
            </a:pPr>
            <a:endPar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a:p>
            <a:pPr marL="342900" marR="0" lvl="0" indent="-342900" algn="l" defTabSz="914400" rtl="0" eaLnBrk="1" fontAlgn="auto" latinLnBrk="0" hangingPunct="1">
              <a:lnSpc>
                <a:spcPct val="90000"/>
              </a:lnSpc>
              <a:spcBef>
                <a:spcPct val="20000"/>
              </a:spcBef>
              <a:spcAft>
                <a:spcPts val="0"/>
              </a:spcAft>
              <a:buClrTx/>
              <a:buSzTx/>
              <a:buFontTx/>
              <a:buNone/>
              <a:tabLst/>
              <a:defRPr/>
            </a:pPr>
            <a:r>
              <a:rPr kumimoji="0" lang="en-US" sz="1600" b="1" u="none" strike="noStrike" kern="1200" cap="none" spc="0" normalizeH="0" baseline="0" noProof="0" dirty="0">
                <a:ln>
                  <a:noFill/>
                </a:ln>
                <a:solidFill>
                  <a:srgbClr val="C00000"/>
                </a:solidFill>
                <a:effectLst/>
                <a:uLnTx/>
                <a:uFillTx/>
                <a:latin typeface="+mn-lt"/>
                <a:ea typeface="+mn-ea"/>
                <a:cs typeface="+mn-cs"/>
              </a:rPr>
              <a:t>Utility Services – Time Element </a:t>
            </a:r>
          </a:p>
          <a:p>
            <a:pPr marL="342900" marR="0" lvl="0" indent="-342900" algn="l" defTabSz="914400" rtl="0" eaLnBrk="1" fontAlgn="auto" latinLnBrk="0" hangingPunct="1">
              <a:lnSpc>
                <a:spcPct val="90000"/>
              </a:lnSpc>
              <a:spcBef>
                <a:spcPct val="20000"/>
              </a:spcBef>
              <a:spcAft>
                <a:spcPts val="0"/>
              </a:spcAft>
              <a:buClrTx/>
              <a:buSzTx/>
              <a:buFontTx/>
              <a:buNone/>
              <a:tabLst/>
              <a:defRPr/>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Time element coverage may be extended to cover loss at insured premises resulting from the </a:t>
            </a:r>
          </a:p>
          <a:p>
            <a:pPr marL="342900" marR="0" lvl="0" indent="-342900" algn="l" defTabSz="914400" rtl="0" eaLnBrk="1" fontAlgn="auto" latinLnBrk="0" hangingPunct="1">
              <a:lnSpc>
                <a:spcPct val="90000"/>
              </a:lnSpc>
              <a:spcBef>
                <a:spcPct val="20000"/>
              </a:spcBef>
              <a:spcAft>
                <a:spcPts val="0"/>
              </a:spcAft>
              <a:buClrTx/>
              <a:buSzTx/>
              <a:buFontTx/>
              <a:buNone/>
              <a:tabLst/>
              <a:defRPr/>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failure of utility property located outside of a covered building. Coverage and Covered Cause of </a:t>
            </a:r>
          </a:p>
          <a:p>
            <a:pPr marL="342900" marR="0" lvl="0" indent="-342900" algn="l" defTabSz="914400" rtl="0" eaLnBrk="1" fontAlgn="auto" latinLnBrk="0" hangingPunct="1">
              <a:lnSpc>
                <a:spcPct val="90000"/>
              </a:lnSpc>
              <a:spcBef>
                <a:spcPct val="20000"/>
              </a:spcBef>
              <a:spcAft>
                <a:spcPts val="0"/>
              </a:spcAft>
              <a:buClrTx/>
              <a:buSzTx/>
              <a:buFontTx/>
              <a:buNone/>
              <a:tabLst/>
              <a:defRPr/>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Loss must be the same as Utility Services – Direct Damage</a:t>
            </a:r>
          </a:p>
        </p:txBody>
      </p:sp>
      <p:sp>
        <p:nvSpPr>
          <p:cNvPr id="5" name="Rectangle 4"/>
          <p:cNvSpPr/>
          <p:nvPr/>
        </p:nvSpPr>
        <p:spPr>
          <a:xfrm>
            <a:off x="304800" y="1195626"/>
            <a:ext cx="8458200" cy="861774"/>
          </a:xfrm>
          <a:prstGeom prst="rect">
            <a:avLst/>
          </a:prstGeom>
        </p:spPr>
        <p:txBody>
          <a:bodyPr wrap="square">
            <a:spAutoFit/>
          </a:bodyPr>
          <a:lstStyle/>
          <a:p>
            <a:pPr>
              <a:buNone/>
            </a:pPr>
            <a:r>
              <a:rPr lang="en-US" sz="1600" b="1" dirty="0">
                <a:solidFill>
                  <a:srgbClr val="C00000"/>
                </a:solidFill>
              </a:rPr>
              <a:t>Automatic Increase -- Coverages A and/or B </a:t>
            </a:r>
          </a:p>
          <a:p>
            <a:pPr>
              <a:buNone/>
            </a:pPr>
            <a:r>
              <a:rPr lang="en-US" sz="1600" dirty="0">
                <a:solidFill>
                  <a:schemeClr val="tx1">
                    <a:lumMod val="75000"/>
                    <a:lumOff val="25000"/>
                  </a:schemeClr>
                </a:solidFill>
              </a:rPr>
              <a:t>The Coverage A and/or Coverage B limit(s) can be automatically increased during the policy period. The amount of increase applies proportionately throughout each annual term</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6934200" y="6553200"/>
            <a:ext cx="2209800" cy="228600"/>
          </a:xfrm>
          <a:prstGeom prst="rect">
            <a:avLst/>
          </a:prstGeom>
        </p:spPr>
        <p:txBody>
          <a:bodyPr/>
          <a:lstStyle/>
          <a:p>
            <a:pPr algn="r" fontAlgn="auto">
              <a:spcBef>
                <a:spcPts val="0"/>
              </a:spcBef>
              <a:spcAft>
                <a:spcPts val="0"/>
              </a:spcAft>
              <a:defRPr/>
            </a:pPr>
            <a:fld id="{0F56061C-0A42-4038-98B8-AEE9439494E5}" type="slidenum">
              <a:rPr lang="en-US" sz="1400">
                <a:latin typeface="+mn-lt"/>
              </a:rPr>
              <a:pPr algn="r" fontAlgn="auto">
                <a:spcBef>
                  <a:spcPts val="0"/>
                </a:spcBef>
                <a:spcAft>
                  <a:spcPts val="0"/>
                </a:spcAft>
                <a:defRPr/>
              </a:pPr>
              <a:t>36</a:t>
            </a:fld>
            <a:endParaRPr lang="en-US" sz="1400" dirty="0">
              <a:latin typeface="+mn-lt"/>
            </a:endParaRPr>
          </a:p>
        </p:txBody>
      </p:sp>
      <p:sp>
        <p:nvSpPr>
          <p:cNvPr id="10" name="Rectangle 66"/>
          <p:cNvSpPr>
            <a:spLocks noChangeArrowheads="1"/>
          </p:cNvSpPr>
          <p:nvPr/>
        </p:nvSpPr>
        <p:spPr bwMode="auto">
          <a:xfrm>
            <a:off x="76200" y="152400"/>
            <a:ext cx="5867400" cy="400110"/>
          </a:xfrm>
          <a:prstGeom prst="rect">
            <a:avLst/>
          </a:prstGeom>
          <a:noFill/>
          <a:ln w="12700">
            <a:noFill/>
            <a:miter lim="800000"/>
            <a:headEnd/>
            <a:tailEnd/>
          </a:ln>
        </p:spPr>
        <p:txBody>
          <a:bodyPr wrap="square" anchor="ctr">
            <a:spAutoFit/>
          </a:bodyPr>
          <a:lstStyle/>
          <a:p>
            <a:pPr eaLnBrk="0" hangingPunct="0"/>
            <a:r>
              <a:rPr lang="en-US" sz="2000" dirty="0">
                <a:solidFill>
                  <a:schemeClr val="bg1"/>
                </a:solidFill>
              </a:rPr>
              <a:t>Property - Location Level Optional </a:t>
            </a:r>
            <a:r>
              <a:rPr lang="en-US" sz="2000" dirty="0" err="1">
                <a:solidFill>
                  <a:schemeClr val="bg1"/>
                </a:solidFill>
              </a:rPr>
              <a:t>Coverages</a:t>
            </a:r>
            <a:endParaRPr lang="en-US" sz="2000" dirty="0">
              <a:solidFill>
                <a:schemeClr val="bg1"/>
              </a:solidFill>
            </a:endParaRPr>
          </a:p>
        </p:txBody>
      </p:sp>
      <p:sp>
        <p:nvSpPr>
          <p:cNvPr id="4" name="Rectangle 3"/>
          <p:cNvSpPr txBox="1">
            <a:spLocks noChangeArrowheads="1"/>
          </p:cNvSpPr>
          <p:nvPr/>
        </p:nvSpPr>
        <p:spPr bwMode="auto">
          <a:xfrm>
            <a:off x="457200" y="2590800"/>
            <a:ext cx="8229600" cy="2057400"/>
          </a:xfrm>
          <a:prstGeom prst="rect">
            <a:avLst/>
          </a:prstGeom>
          <a:noFill/>
          <a:ln>
            <a:miter lim="800000"/>
            <a:headEnd/>
            <a:tailEnd/>
          </a:ln>
        </p:spPr>
        <p:txBody>
          <a:bodyPr vert="horz" lIns="91440" tIns="45720" rIns="91440" bIns="45720" rtlCol="0">
            <a:normAutofit/>
          </a:bodyPr>
          <a:lstStyle/>
          <a:p>
            <a:pPr marL="342900" marR="0" lvl="0" indent="-342900" algn="l" defTabSz="914400" rtl="0" eaLnBrk="1" fontAlgn="auto" latinLnBrk="0" hangingPunct="1">
              <a:lnSpc>
                <a:spcPct val="80000"/>
              </a:lnSpc>
              <a:spcBef>
                <a:spcPct val="20000"/>
              </a:spcBef>
              <a:spcAft>
                <a:spcPts val="0"/>
              </a:spcAft>
              <a:buClrTx/>
              <a:buSzTx/>
              <a:buFontTx/>
              <a:buNone/>
              <a:tabLst/>
              <a:defRPr/>
            </a:pPr>
            <a:r>
              <a:rPr kumimoji="0" lang="en-US" sz="1600" b="1" u="none" strike="noStrike" kern="1200" cap="none" spc="0" normalizeH="0" baseline="0" noProof="0" dirty="0">
                <a:ln>
                  <a:noFill/>
                </a:ln>
                <a:solidFill>
                  <a:srgbClr val="C00000"/>
                </a:solidFill>
                <a:effectLst/>
                <a:uLnTx/>
                <a:uFillTx/>
                <a:latin typeface="+mn-lt"/>
                <a:ea typeface="+mn-ea"/>
                <a:cs typeface="+mn-cs"/>
              </a:rPr>
              <a:t>Valuable Papers &amp; Records Coverage</a:t>
            </a:r>
            <a:r>
              <a:rPr kumimoji="0" lang="en-US" sz="1600" b="0" u="none" strike="noStrike" kern="1200" cap="none" spc="0" normalizeH="0" baseline="0" noProof="0" dirty="0">
                <a:ln>
                  <a:noFill/>
                </a:ln>
                <a:solidFill>
                  <a:srgbClr val="C00000"/>
                </a:solidFill>
                <a:effectLst/>
                <a:uLnTx/>
                <a:uFillTx/>
                <a:latin typeface="+mn-lt"/>
                <a:ea typeface="+mn-ea"/>
                <a:cs typeface="+mn-cs"/>
              </a:rPr>
              <a:t> </a:t>
            </a:r>
          </a:p>
          <a:p>
            <a:pPr marL="342900" marR="0" lvl="0" indent="-342900" algn="l" defTabSz="914400" rtl="0" eaLnBrk="1" fontAlgn="auto" latinLnBrk="0" hangingPunct="1">
              <a:lnSpc>
                <a:spcPct val="80000"/>
              </a:lnSpc>
              <a:spcBef>
                <a:spcPct val="20000"/>
              </a:spcBef>
              <a:spcAft>
                <a:spcPts val="0"/>
              </a:spcAft>
              <a:buClrTx/>
              <a:buSzTx/>
              <a:buFontTx/>
              <a:buNone/>
              <a:tabLst/>
              <a:defRPr/>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Protects your valuable papers and records in case they are damaged. It can also cover the cost of </a:t>
            </a:r>
          </a:p>
          <a:p>
            <a:pPr marL="342900" marR="0" lvl="0" indent="-342900" algn="l" defTabSz="914400" rtl="0" eaLnBrk="1" fontAlgn="auto" latinLnBrk="0" hangingPunct="1">
              <a:lnSpc>
                <a:spcPct val="80000"/>
              </a:lnSpc>
              <a:spcBef>
                <a:spcPct val="20000"/>
              </a:spcBef>
              <a:spcAft>
                <a:spcPts val="0"/>
              </a:spcAft>
              <a:buClrTx/>
              <a:buSzTx/>
              <a:buFontTx/>
              <a:buNone/>
              <a:tabLst/>
              <a:defRPr/>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reproducing them</a:t>
            </a:r>
          </a:p>
          <a:p>
            <a:pPr marL="342900" marR="0" lvl="0" indent="-342900" algn="l" defTabSz="914400" rtl="0" eaLnBrk="1" fontAlgn="auto" latinLnBrk="0" hangingPunct="1">
              <a:lnSpc>
                <a:spcPct val="80000"/>
              </a:lnSpc>
              <a:spcBef>
                <a:spcPct val="20000"/>
              </a:spcBef>
              <a:spcAft>
                <a:spcPts val="0"/>
              </a:spcAft>
              <a:buClrTx/>
              <a:buSzTx/>
              <a:buFontTx/>
              <a:buNone/>
              <a:tabLst/>
              <a:defRPr/>
            </a:pPr>
            <a:endPar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a:p>
            <a:pPr marL="342900" marR="0" lvl="0" indent="-342900" algn="l" defTabSz="914400" rtl="0" eaLnBrk="1" fontAlgn="auto" latinLnBrk="0" hangingPunct="1">
              <a:lnSpc>
                <a:spcPct val="80000"/>
              </a:lnSpc>
              <a:spcBef>
                <a:spcPct val="20000"/>
              </a:spcBef>
              <a:spcAft>
                <a:spcPts val="0"/>
              </a:spcAft>
              <a:buClrTx/>
              <a:buSzTx/>
              <a:buFontTx/>
              <a:buNone/>
              <a:tabLst/>
              <a:defRPr/>
            </a:pPr>
            <a:r>
              <a:rPr kumimoji="0" lang="en-US" sz="1600" b="1" u="none" strike="noStrike" kern="1200" cap="none" spc="0" normalizeH="0" baseline="0" noProof="0" dirty="0">
                <a:ln>
                  <a:noFill/>
                </a:ln>
                <a:solidFill>
                  <a:srgbClr val="C00000"/>
                </a:solidFill>
                <a:effectLst/>
                <a:uLnTx/>
                <a:uFillTx/>
                <a:latin typeface="+mn-lt"/>
                <a:ea typeface="+mn-ea"/>
                <a:cs typeface="+mn-cs"/>
              </a:rPr>
              <a:t>Water Backup and Sump Overflow</a:t>
            </a:r>
            <a:r>
              <a:rPr kumimoji="0" lang="en-US" sz="1600" b="0" u="none" strike="noStrike" kern="1200" cap="none" spc="0" normalizeH="0" baseline="0" noProof="0" dirty="0">
                <a:ln>
                  <a:noFill/>
                </a:ln>
                <a:solidFill>
                  <a:srgbClr val="C00000"/>
                </a:solidFill>
                <a:effectLst/>
                <a:uLnTx/>
                <a:uFillTx/>
                <a:latin typeface="+mn-lt"/>
                <a:ea typeface="+mn-ea"/>
                <a:cs typeface="+mn-cs"/>
              </a:rPr>
              <a:t> </a:t>
            </a:r>
          </a:p>
          <a:p>
            <a:pPr marL="342900" marR="0" lvl="0" indent="-342900" algn="l" defTabSz="914400" rtl="0" eaLnBrk="1" fontAlgn="auto" latinLnBrk="0" hangingPunct="1">
              <a:lnSpc>
                <a:spcPct val="80000"/>
              </a:lnSpc>
              <a:spcBef>
                <a:spcPct val="20000"/>
              </a:spcBef>
              <a:spcAft>
                <a:spcPts val="0"/>
              </a:spcAft>
              <a:buClrTx/>
              <a:buSzTx/>
              <a:buFontTx/>
              <a:buNone/>
              <a:tabLst/>
              <a:defRPr/>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Provides coverage for direct and indirect loss or damage to covered property caused by or </a:t>
            </a:r>
          </a:p>
          <a:p>
            <a:pPr marL="342900" marR="0" lvl="0" indent="-342900" algn="l" defTabSz="914400" rtl="0" eaLnBrk="1" fontAlgn="auto" latinLnBrk="0" hangingPunct="1">
              <a:lnSpc>
                <a:spcPct val="80000"/>
              </a:lnSpc>
              <a:spcBef>
                <a:spcPct val="20000"/>
              </a:spcBef>
              <a:spcAft>
                <a:spcPts val="0"/>
              </a:spcAft>
              <a:buClrTx/>
              <a:buSzTx/>
              <a:buFontTx/>
              <a:buNone/>
              <a:tabLst/>
              <a:defRPr/>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resulting from water which backs up through or overflows from a sewer or drain; or water which </a:t>
            </a:r>
          </a:p>
          <a:p>
            <a:pPr marL="342900" marR="0" lvl="0" indent="-342900" algn="l" defTabSz="914400" rtl="0" eaLnBrk="1" fontAlgn="auto" latinLnBrk="0" hangingPunct="1">
              <a:lnSpc>
                <a:spcPct val="80000"/>
              </a:lnSpc>
              <a:spcBef>
                <a:spcPct val="20000"/>
              </a:spcBef>
              <a:spcAft>
                <a:spcPts val="0"/>
              </a:spcAft>
              <a:buClrTx/>
              <a:buSzTx/>
              <a:buFontTx/>
              <a:buNone/>
              <a:tabLst/>
              <a:defRPr/>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overflows from a sump.</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6934200" y="6553200"/>
            <a:ext cx="2209800" cy="228600"/>
          </a:xfrm>
          <a:prstGeom prst="rect">
            <a:avLst/>
          </a:prstGeom>
        </p:spPr>
        <p:txBody>
          <a:bodyPr/>
          <a:lstStyle/>
          <a:p>
            <a:pPr algn="r" fontAlgn="auto">
              <a:spcBef>
                <a:spcPts val="0"/>
              </a:spcBef>
              <a:spcAft>
                <a:spcPts val="0"/>
              </a:spcAft>
              <a:defRPr/>
            </a:pPr>
            <a:fld id="{0F56061C-0A42-4038-98B8-AEE9439494E5}" type="slidenum">
              <a:rPr lang="en-US" sz="1400">
                <a:latin typeface="+mn-lt"/>
              </a:rPr>
              <a:pPr algn="r" fontAlgn="auto">
                <a:spcBef>
                  <a:spcPts val="0"/>
                </a:spcBef>
                <a:spcAft>
                  <a:spcPts val="0"/>
                </a:spcAft>
                <a:defRPr/>
              </a:pPr>
              <a:t>37</a:t>
            </a:fld>
            <a:endParaRPr lang="en-US" sz="1400" dirty="0">
              <a:latin typeface="+mn-lt"/>
            </a:endParaRPr>
          </a:p>
        </p:txBody>
      </p:sp>
      <p:sp>
        <p:nvSpPr>
          <p:cNvPr id="10" name="Rectangle 66"/>
          <p:cNvSpPr>
            <a:spLocks noChangeArrowheads="1"/>
          </p:cNvSpPr>
          <p:nvPr/>
        </p:nvSpPr>
        <p:spPr bwMode="auto">
          <a:xfrm>
            <a:off x="76200" y="152400"/>
            <a:ext cx="5867400" cy="400110"/>
          </a:xfrm>
          <a:prstGeom prst="rect">
            <a:avLst/>
          </a:prstGeom>
          <a:noFill/>
          <a:ln w="12700">
            <a:noFill/>
            <a:miter lim="800000"/>
            <a:headEnd/>
            <a:tailEnd/>
          </a:ln>
        </p:spPr>
        <p:txBody>
          <a:bodyPr wrap="square" anchor="ctr">
            <a:spAutoFit/>
          </a:bodyPr>
          <a:lstStyle/>
          <a:p>
            <a:pPr eaLnBrk="0" hangingPunct="0"/>
            <a:r>
              <a:rPr lang="en-US" sz="2000" dirty="0">
                <a:solidFill>
                  <a:schemeClr val="bg1"/>
                </a:solidFill>
              </a:rPr>
              <a:t>Inland Marine Policy Level Optional </a:t>
            </a:r>
            <a:r>
              <a:rPr lang="en-US" sz="2000" dirty="0" err="1">
                <a:solidFill>
                  <a:schemeClr val="bg1"/>
                </a:solidFill>
              </a:rPr>
              <a:t>Coverages</a:t>
            </a:r>
            <a:endParaRPr lang="en-US" sz="2000" dirty="0">
              <a:solidFill>
                <a:schemeClr val="bg1"/>
              </a:solidFill>
            </a:endParaRPr>
          </a:p>
        </p:txBody>
      </p:sp>
      <p:sp>
        <p:nvSpPr>
          <p:cNvPr id="4" name="Rectangle 3"/>
          <p:cNvSpPr txBox="1">
            <a:spLocks noChangeArrowheads="1"/>
          </p:cNvSpPr>
          <p:nvPr/>
        </p:nvSpPr>
        <p:spPr bwMode="auto">
          <a:xfrm>
            <a:off x="304800" y="2133600"/>
            <a:ext cx="8229600" cy="3048000"/>
          </a:xfrm>
          <a:prstGeom prst="rect">
            <a:avLst/>
          </a:prstGeom>
          <a:noFill/>
          <a:ln>
            <a:miter lim="800000"/>
            <a:headEnd/>
            <a:tailEnd/>
          </a:ln>
        </p:spPr>
        <p:txBody>
          <a:bodyPr vert="horz" lIns="91440" tIns="45720" rIns="91440" bIns="45720" rtlCol="0">
            <a:normAutofit/>
          </a:bodyPr>
          <a:lstStyle/>
          <a:p>
            <a:pPr marL="342900" indent="-342900">
              <a:lnSpc>
                <a:spcPct val="80000"/>
              </a:lnSpc>
              <a:spcBef>
                <a:spcPct val="20000"/>
              </a:spcBef>
            </a:pPr>
            <a:r>
              <a:rPr kumimoji="0" lang="en-US" sz="1600" b="1" u="none" strike="noStrike" kern="1200" cap="none" spc="0" normalizeH="0" baseline="0" noProof="0" dirty="0">
                <a:ln>
                  <a:noFill/>
                </a:ln>
                <a:solidFill>
                  <a:srgbClr val="C00000"/>
                </a:solidFill>
                <a:effectLst/>
                <a:uLnTx/>
                <a:uFillTx/>
                <a:latin typeface="+mn-lt"/>
                <a:ea typeface="+mn-ea"/>
                <a:cs typeface="+mn-cs"/>
              </a:rPr>
              <a:t>Builders Risk &amp; Rental Income</a:t>
            </a:r>
          </a:p>
          <a:p>
            <a:pPr marL="342900" indent="-342900">
              <a:lnSpc>
                <a:spcPct val="80000"/>
              </a:lnSpc>
              <a:spcBef>
                <a:spcPct val="20000"/>
              </a:spcBef>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Covers a building in the course of construction or renovation. </a:t>
            </a:r>
          </a:p>
          <a:p>
            <a:pPr marL="342900" indent="-342900">
              <a:lnSpc>
                <a:spcPct val="80000"/>
              </a:lnSpc>
              <a:spcBef>
                <a:spcPct val="20000"/>
              </a:spcBef>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Covered property includes the building, building materials in transit or at a temporary location, </a:t>
            </a:r>
          </a:p>
          <a:p>
            <a:pPr marL="342900" indent="-342900">
              <a:lnSpc>
                <a:spcPct val="80000"/>
              </a:lnSpc>
              <a:spcBef>
                <a:spcPct val="20000"/>
              </a:spcBef>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soft costs and rental income.</a:t>
            </a:r>
          </a:p>
          <a:p>
            <a:pPr marL="342900" indent="-342900">
              <a:lnSpc>
                <a:spcPct val="80000"/>
              </a:lnSpc>
              <a:spcBef>
                <a:spcPct val="20000"/>
              </a:spcBef>
            </a:pPr>
            <a:endPar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a:p>
            <a:pPr marL="342900" indent="-342900">
              <a:lnSpc>
                <a:spcPct val="80000"/>
              </a:lnSpc>
              <a:spcBef>
                <a:spcPct val="20000"/>
              </a:spcBef>
            </a:pPr>
            <a:r>
              <a:rPr kumimoji="0" lang="en-US" sz="1600" b="1" u="none" strike="noStrike" kern="1200" cap="none" spc="0" normalizeH="0" baseline="0" noProof="0" dirty="0">
                <a:ln>
                  <a:noFill/>
                </a:ln>
                <a:solidFill>
                  <a:srgbClr val="C00000"/>
                </a:solidFill>
                <a:effectLst/>
                <a:uLnTx/>
                <a:uFillTx/>
                <a:latin typeface="+mn-lt"/>
                <a:ea typeface="+mn-ea"/>
                <a:cs typeface="+mn-cs"/>
              </a:rPr>
              <a:t>Transportation Coverage</a:t>
            </a:r>
          </a:p>
          <a:p>
            <a:pPr marL="342900" indent="-342900">
              <a:lnSpc>
                <a:spcPct val="80000"/>
              </a:lnSpc>
              <a:spcBef>
                <a:spcPct val="20000"/>
              </a:spcBef>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This coverage provides protection to your property and merchandise while being transported by </a:t>
            </a:r>
          </a:p>
          <a:p>
            <a:pPr marL="342900" indent="-342900">
              <a:lnSpc>
                <a:spcPct val="80000"/>
              </a:lnSpc>
              <a:spcBef>
                <a:spcPct val="20000"/>
              </a:spcBef>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carrier. </a:t>
            </a:r>
          </a:p>
          <a:p>
            <a:pPr marL="342900" indent="-342900">
              <a:lnSpc>
                <a:spcPct val="80000"/>
              </a:lnSpc>
              <a:spcBef>
                <a:spcPct val="20000"/>
              </a:spcBef>
            </a:pPr>
            <a:endPar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a:p>
            <a:pPr marL="342900" indent="-342900">
              <a:lnSpc>
                <a:spcPct val="80000"/>
              </a:lnSpc>
              <a:spcBef>
                <a:spcPct val="20000"/>
              </a:spcBef>
            </a:pPr>
            <a:r>
              <a:rPr kumimoji="0" lang="en-US" sz="1600" b="1" u="none" strike="noStrike" kern="1200" cap="none" spc="0" normalizeH="0" baseline="0" noProof="0" dirty="0">
                <a:ln>
                  <a:noFill/>
                </a:ln>
                <a:solidFill>
                  <a:srgbClr val="C00000"/>
                </a:solidFill>
                <a:effectLst/>
                <a:uLnTx/>
                <a:uFillTx/>
                <a:latin typeface="+mn-lt"/>
                <a:ea typeface="+mn-ea"/>
                <a:cs typeface="+mn-cs"/>
              </a:rPr>
              <a:t>Installation Coverage</a:t>
            </a:r>
          </a:p>
          <a:p>
            <a:pPr marL="342900" indent="-342900">
              <a:lnSpc>
                <a:spcPct val="80000"/>
              </a:lnSpc>
              <a:spcBef>
                <a:spcPct val="20000"/>
              </a:spcBef>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This coverage provides "ALL RISKS" protection on property in transit or at a customer's premises </a:t>
            </a:r>
          </a:p>
          <a:p>
            <a:pPr marL="342900" indent="-342900">
              <a:lnSpc>
                <a:spcPct val="80000"/>
              </a:lnSpc>
              <a:spcBef>
                <a:spcPct val="20000"/>
              </a:spcBef>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that is to be installed. Once the equipment or supply has been installed, coverage ceases.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6934200" y="6553200"/>
            <a:ext cx="2209800" cy="228600"/>
          </a:xfrm>
          <a:prstGeom prst="rect">
            <a:avLst/>
          </a:prstGeom>
        </p:spPr>
        <p:txBody>
          <a:bodyPr/>
          <a:lstStyle/>
          <a:p>
            <a:pPr algn="r" fontAlgn="auto">
              <a:spcBef>
                <a:spcPts val="0"/>
              </a:spcBef>
              <a:spcAft>
                <a:spcPts val="0"/>
              </a:spcAft>
              <a:defRPr/>
            </a:pPr>
            <a:fld id="{0F56061C-0A42-4038-98B8-AEE9439494E5}" type="slidenum">
              <a:rPr lang="en-US" sz="1400">
                <a:latin typeface="+mn-lt"/>
              </a:rPr>
              <a:pPr algn="r" fontAlgn="auto">
                <a:spcBef>
                  <a:spcPts val="0"/>
                </a:spcBef>
                <a:spcAft>
                  <a:spcPts val="0"/>
                </a:spcAft>
                <a:defRPr/>
              </a:pPr>
              <a:t>38</a:t>
            </a:fld>
            <a:endParaRPr lang="en-US" sz="1400" dirty="0">
              <a:latin typeface="+mn-lt"/>
            </a:endParaRPr>
          </a:p>
        </p:txBody>
      </p:sp>
      <p:sp>
        <p:nvSpPr>
          <p:cNvPr id="10" name="Rectangle 66"/>
          <p:cNvSpPr>
            <a:spLocks noChangeArrowheads="1"/>
          </p:cNvSpPr>
          <p:nvPr/>
        </p:nvSpPr>
        <p:spPr bwMode="auto">
          <a:xfrm>
            <a:off x="76200" y="152400"/>
            <a:ext cx="5867400" cy="400110"/>
          </a:xfrm>
          <a:prstGeom prst="rect">
            <a:avLst/>
          </a:prstGeom>
          <a:noFill/>
          <a:ln w="12700">
            <a:noFill/>
            <a:miter lim="800000"/>
            <a:headEnd/>
            <a:tailEnd/>
          </a:ln>
        </p:spPr>
        <p:txBody>
          <a:bodyPr wrap="square" anchor="ctr">
            <a:spAutoFit/>
          </a:bodyPr>
          <a:lstStyle/>
          <a:p>
            <a:pPr eaLnBrk="0" hangingPunct="0"/>
            <a:r>
              <a:rPr lang="en-US" sz="2000" dirty="0">
                <a:solidFill>
                  <a:schemeClr val="bg1"/>
                </a:solidFill>
              </a:rPr>
              <a:t>Inland Marine Policy Level Optional </a:t>
            </a:r>
            <a:r>
              <a:rPr lang="en-US" sz="2000" dirty="0" err="1">
                <a:solidFill>
                  <a:schemeClr val="bg1"/>
                </a:solidFill>
              </a:rPr>
              <a:t>Coverages</a:t>
            </a:r>
            <a:endParaRPr lang="en-US" sz="2000" dirty="0">
              <a:solidFill>
                <a:schemeClr val="bg1"/>
              </a:solidFill>
            </a:endParaRPr>
          </a:p>
        </p:txBody>
      </p:sp>
      <p:sp>
        <p:nvSpPr>
          <p:cNvPr id="4" name="Rectangle 3"/>
          <p:cNvSpPr txBox="1">
            <a:spLocks noChangeArrowheads="1"/>
          </p:cNvSpPr>
          <p:nvPr/>
        </p:nvSpPr>
        <p:spPr bwMode="auto">
          <a:xfrm>
            <a:off x="457200" y="2438400"/>
            <a:ext cx="8229600" cy="2438400"/>
          </a:xfrm>
          <a:prstGeom prst="rect">
            <a:avLst/>
          </a:prstGeom>
          <a:noFill/>
          <a:ln>
            <a:miter lim="800000"/>
            <a:headEnd/>
            <a:tailEnd/>
          </a:ln>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1" u="none" strike="noStrike" kern="1200" cap="none" spc="0" normalizeH="0" baseline="0" noProof="0" dirty="0">
                <a:ln>
                  <a:noFill/>
                </a:ln>
                <a:solidFill>
                  <a:srgbClr val="C00000"/>
                </a:solidFill>
                <a:effectLst/>
                <a:uLnTx/>
                <a:uFillTx/>
                <a:latin typeface="+mn-lt"/>
                <a:ea typeface="+mn-ea"/>
                <a:cs typeface="+mn-cs"/>
              </a:rPr>
              <a:t>Contractors equipment</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Provides coverage for damage to mobile equipment, including tools and machinery, used in </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construction as well as in a variety of other activities.</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This coverage insures the equipment and tools of a contractor that are normally excluded under </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typical builder's risk coverage</a:t>
            </a:r>
          </a:p>
          <a:p>
            <a:pPr marL="342900" marR="0" lvl="0" indent="-342900" algn="l" defTabSz="914400" rtl="0" eaLnBrk="1" fontAlgn="auto" latinLnBrk="0" hangingPunct="1">
              <a:lnSpc>
                <a:spcPct val="100000"/>
              </a:lnSpc>
              <a:spcBef>
                <a:spcPct val="20000"/>
              </a:spcBef>
              <a:spcAft>
                <a:spcPts val="0"/>
              </a:spcAft>
              <a:buClrTx/>
              <a:buSzTx/>
              <a:buFontTx/>
              <a:buNone/>
              <a:tabLst/>
              <a:defRPr/>
            </a:pPr>
            <a:endPar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1" u="none" strike="noStrike" kern="1200" cap="none" spc="0" normalizeH="0" baseline="0" noProof="0" dirty="0">
                <a:ln>
                  <a:noFill/>
                </a:ln>
                <a:solidFill>
                  <a:srgbClr val="C00000"/>
                </a:solidFill>
                <a:effectLst/>
                <a:uLnTx/>
                <a:uFillTx/>
                <a:latin typeface="+mn-lt"/>
                <a:ea typeface="+mn-ea"/>
                <a:cs typeface="+mn-cs"/>
              </a:rPr>
              <a:t>Trip Transit Coverage</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Coverage on a single shipment of property while in temporary storage or in transit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6934200" y="6553200"/>
            <a:ext cx="2209800" cy="228600"/>
          </a:xfrm>
          <a:prstGeom prst="rect">
            <a:avLst/>
          </a:prstGeom>
        </p:spPr>
        <p:txBody>
          <a:bodyPr/>
          <a:lstStyle/>
          <a:p>
            <a:pPr algn="r" fontAlgn="auto">
              <a:spcBef>
                <a:spcPts val="0"/>
              </a:spcBef>
              <a:spcAft>
                <a:spcPts val="0"/>
              </a:spcAft>
              <a:defRPr/>
            </a:pPr>
            <a:fld id="{0F56061C-0A42-4038-98B8-AEE9439494E5}" type="slidenum">
              <a:rPr lang="en-US" sz="1400">
                <a:latin typeface="+mn-lt"/>
              </a:rPr>
              <a:pPr algn="r" fontAlgn="auto">
                <a:spcBef>
                  <a:spcPts val="0"/>
                </a:spcBef>
                <a:spcAft>
                  <a:spcPts val="0"/>
                </a:spcAft>
                <a:defRPr/>
              </a:pPr>
              <a:t>39</a:t>
            </a:fld>
            <a:endParaRPr lang="en-US" sz="1400" dirty="0">
              <a:latin typeface="+mn-lt"/>
            </a:endParaRPr>
          </a:p>
        </p:txBody>
      </p:sp>
      <p:sp>
        <p:nvSpPr>
          <p:cNvPr id="10" name="Rectangle 66"/>
          <p:cNvSpPr>
            <a:spLocks noChangeArrowheads="1"/>
          </p:cNvSpPr>
          <p:nvPr/>
        </p:nvSpPr>
        <p:spPr bwMode="auto">
          <a:xfrm>
            <a:off x="76200" y="152400"/>
            <a:ext cx="5867400" cy="400110"/>
          </a:xfrm>
          <a:prstGeom prst="rect">
            <a:avLst/>
          </a:prstGeom>
          <a:noFill/>
          <a:ln w="12700">
            <a:noFill/>
            <a:miter lim="800000"/>
            <a:headEnd/>
            <a:tailEnd/>
          </a:ln>
        </p:spPr>
        <p:txBody>
          <a:bodyPr wrap="square" anchor="ctr">
            <a:spAutoFit/>
          </a:bodyPr>
          <a:lstStyle/>
          <a:p>
            <a:pPr eaLnBrk="0" hangingPunct="0"/>
            <a:r>
              <a:rPr lang="en-US" sz="2000" dirty="0">
                <a:solidFill>
                  <a:schemeClr val="bg1"/>
                </a:solidFill>
              </a:rPr>
              <a:t>Inland Marine Policy Level Optional </a:t>
            </a:r>
            <a:r>
              <a:rPr lang="en-US" sz="2000" dirty="0" err="1">
                <a:solidFill>
                  <a:schemeClr val="bg1"/>
                </a:solidFill>
              </a:rPr>
              <a:t>Coverages</a:t>
            </a:r>
            <a:endParaRPr lang="en-US" sz="2000" dirty="0">
              <a:solidFill>
                <a:schemeClr val="bg1"/>
              </a:solidFill>
            </a:endParaRPr>
          </a:p>
        </p:txBody>
      </p:sp>
      <p:sp>
        <p:nvSpPr>
          <p:cNvPr id="4" name="Rectangle 3"/>
          <p:cNvSpPr txBox="1">
            <a:spLocks noChangeArrowheads="1"/>
          </p:cNvSpPr>
          <p:nvPr/>
        </p:nvSpPr>
        <p:spPr bwMode="auto">
          <a:xfrm>
            <a:off x="304800" y="1143000"/>
            <a:ext cx="8534400" cy="1524000"/>
          </a:xfrm>
          <a:prstGeom prst="rect">
            <a:avLst/>
          </a:prstGeom>
          <a:noFill/>
          <a:ln>
            <a:miter lim="800000"/>
            <a:headEnd/>
            <a:tailEnd/>
          </a:ln>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1" u="none" strike="noStrike" kern="1200" cap="none" spc="0" normalizeH="0" baseline="0" noProof="0" dirty="0">
                <a:ln>
                  <a:noFill/>
                </a:ln>
                <a:solidFill>
                  <a:srgbClr val="C00000"/>
                </a:solidFill>
                <a:effectLst/>
                <a:uLnTx/>
                <a:uFillTx/>
                <a:latin typeface="+mn-lt"/>
                <a:ea typeface="+mn-ea"/>
                <a:cs typeface="+mn-cs"/>
              </a:rPr>
              <a:t>Trucker Cargo Liability</a:t>
            </a:r>
            <a:r>
              <a:rPr kumimoji="0" lang="en-US" sz="1600" b="0" u="none" strike="noStrike" kern="1200" cap="none" spc="0" normalizeH="0" baseline="0" noProof="0" dirty="0">
                <a:ln>
                  <a:noFill/>
                </a:ln>
                <a:solidFill>
                  <a:srgbClr val="C00000"/>
                </a:solidFill>
                <a:effectLst/>
                <a:uLnTx/>
                <a:uFillTx/>
                <a:latin typeface="+mn-lt"/>
                <a:ea typeface="+mn-ea"/>
                <a:cs typeface="+mn-cs"/>
              </a:rPr>
              <a:t> </a:t>
            </a: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insurance is intended to provide legal liability coverage for truckers while they </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are transporting property of others (cargo)</a:t>
            </a:r>
          </a:p>
          <a:p>
            <a:pPr marL="342900" marR="0" lvl="0" indent="-342900" algn="l" defTabSz="914400" rtl="0" eaLnBrk="1" fontAlgn="auto" latinLnBrk="0" hangingPunct="1">
              <a:lnSpc>
                <a:spcPct val="100000"/>
              </a:lnSpc>
              <a:spcBef>
                <a:spcPct val="20000"/>
              </a:spcBef>
              <a:spcAft>
                <a:spcPts val="0"/>
              </a:spcAft>
              <a:buClrTx/>
              <a:buSzTx/>
              <a:buFontTx/>
              <a:buNone/>
              <a:tabLst/>
              <a:defRPr/>
            </a:pPr>
            <a:endPar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Under this coverage the insured is the trucker and the covered property is the property of others </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1600" b="0" u="none" strike="noStrike" kern="1200" cap="none" spc="0" normalizeH="0" baseline="0" noProof="0" dirty="0">
                <a:ln>
                  <a:noFill/>
                </a:ln>
                <a:solidFill>
                  <a:schemeClr val="tx1">
                    <a:lumMod val="75000"/>
                    <a:lumOff val="25000"/>
                  </a:schemeClr>
                </a:solidFill>
                <a:effectLst/>
                <a:uLnTx/>
                <a:uFillTx/>
                <a:latin typeface="+mn-lt"/>
                <a:ea typeface="+mn-ea"/>
                <a:cs typeface="+mn-cs"/>
              </a:rPr>
              <a:t>that is being transported by the insured</a:t>
            </a:r>
          </a:p>
        </p:txBody>
      </p:sp>
      <p:pic>
        <p:nvPicPr>
          <p:cNvPr id="5" name="Picture 4" descr="42-18376904.jpg"/>
          <p:cNvPicPr>
            <a:picLocks noChangeAspect="1"/>
          </p:cNvPicPr>
          <p:nvPr/>
        </p:nvPicPr>
        <p:blipFill>
          <a:blip r:embed="rId3" cstate="print"/>
          <a:stretch>
            <a:fillRect/>
          </a:stretch>
        </p:blipFill>
        <p:spPr>
          <a:xfrm>
            <a:off x="3200400" y="2743200"/>
            <a:ext cx="1925053" cy="129640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6" name="Rectangle 5"/>
          <p:cNvSpPr/>
          <p:nvPr/>
        </p:nvSpPr>
        <p:spPr>
          <a:xfrm>
            <a:off x="381000" y="4495800"/>
            <a:ext cx="8382000" cy="911019"/>
          </a:xfrm>
          <a:prstGeom prst="rect">
            <a:avLst/>
          </a:prstGeom>
        </p:spPr>
        <p:txBody>
          <a:bodyPr wrap="square">
            <a:spAutoFit/>
          </a:bodyPr>
          <a:lstStyle/>
          <a:p>
            <a:pPr>
              <a:buNone/>
            </a:pPr>
            <a:r>
              <a:rPr lang="en-US" sz="1600" b="1" dirty="0">
                <a:solidFill>
                  <a:srgbClr val="C00000"/>
                </a:solidFill>
              </a:rPr>
              <a:t>Computer Virus And Computer Hacking Coverage</a:t>
            </a:r>
          </a:p>
          <a:p>
            <a:pPr marL="342900" indent="-342900">
              <a:spcBef>
                <a:spcPct val="20000"/>
              </a:spcBef>
              <a:defRPr/>
            </a:pPr>
            <a:r>
              <a:rPr lang="en-US" sz="1600" dirty="0">
                <a:solidFill>
                  <a:schemeClr val="tx1">
                    <a:lumMod val="75000"/>
                    <a:lumOff val="25000"/>
                  </a:schemeClr>
                </a:solidFill>
              </a:rPr>
              <a:t> 	Coverage can be provided for direct physical damage and/or loss of income due to a computer virus or computer hacking incident. The limits can be taken in multiples of $1,000</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descr="E:\bg.jpg"/>
          <p:cNvPicPr>
            <a:picLocks noChangeAspect="1" noChangeArrowheads="1"/>
          </p:cNvPicPr>
          <p:nvPr/>
        </p:nvPicPr>
        <p:blipFill>
          <a:blip r:embed="rId3" cstate="print"/>
          <a:srcRect/>
          <a:stretch>
            <a:fillRect/>
          </a:stretch>
        </p:blipFill>
        <p:spPr bwMode="auto">
          <a:xfrm>
            <a:off x="0" y="838200"/>
            <a:ext cx="9144000" cy="6019800"/>
          </a:xfrm>
          <a:prstGeom prst="rect">
            <a:avLst/>
          </a:prstGeom>
          <a:noFill/>
          <a:ln w="9525">
            <a:noFill/>
            <a:miter lim="800000"/>
            <a:headEnd/>
            <a:tailEnd/>
          </a:ln>
        </p:spPr>
      </p:pic>
      <p:sp>
        <p:nvSpPr>
          <p:cNvPr id="37891" name="Rectangle 14"/>
          <p:cNvSpPr>
            <a:spLocks noChangeArrowheads="1"/>
          </p:cNvSpPr>
          <p:nvPr/>
        </p:nvSpPr>
        <p:spPr bwMode="auto">
          <a:xfrm>
            <a:off x="1524000" y="3810000"/>
            <a:ext cx="6248400" cy="892175"/>
          </a:xfrm>
          <a:prstGeom prst="rect">
            <a:avLst/>
          </a:prstGeom>
          <a:noFill/>
          <a:ln w="12700">
            <a:noFill/>
            <a:miter lim="800000"/>
            <a:headEnd/>
            <a:tailEnd/>
          </a:ln>
        </p:spPr>
        <p:txBody>
          <a:bodyPr anchor="ctr">
            <a:spAutoFit/>
          </a:bodyPr>
          <a:lstStyle/>
          <a:p>
            <a:pPr algn="ctr" eaLnBrk="0" hangingPunct="0">
              <a:buSzPct val="120000"/>
            </a:pPr>
            <a:r>
              <a:rPr lang="en-US" sz="3200" b="1">
                <a:solidFill>
                  <a:srgbClr val="C00000"/>
                </a:solidFill>
                <a:latin typeface="Tw Cen MT" pitchFamily="34" charset="0"/>
                <a:ea typeface="Calibri" pitchFamily="34" charset="0"/>
                <a:cs typeface="Calibri" pitchFamily="34" charset="0"/>
              </a:rPr>
              <a:t>Thank you. </a:t>
            </a:r>
            <a:br>
              <a:rPr lang="en-US" sz="2000" b="1">
                <a:solidFill>
                  <a:srgbClr val="C00000"/>
                </a:solidFill>
                <a:latin typeface="Tw Cen MT" pitchFamily="34" charset="0"/>
                <a:ea typeface="Calibri" pitchFamily="34" charset="0"/>
                <a:cs typeface="Calibri" pitchFamily="34" charset="0"/>
              </a:rPr>
            </a:br>
            <a:r>
              <a:rPr lang="en-US" sz="2000" b="1">
                <a:solidFill>
                  <a:srgbClr val="C00000"/>
                </a:solidFill>
                <a:latin typeface="Tw Cen MT" pitchFamily="34" charset="0"/>
                <a:ea typeface="Calibri" pitchFamily="34" charset="0"/>
                <a:cs typeface="Calibri" pitchFamily="34" charset="0"/>
              </a:rPr>
              <a:t>Hope the presentation has been of value to you.</a:t>
            </a:r>
          </a:p>
        </p:txBody>
      </p:sp>
      <p:grpSp>
        <p:nvGrpSpPr>
          <p:cNvPr id="2" name="Group 33"/>
          <p:cNvGrpSpPr>
            <a:grpSpLocks/>
          </p:cNvGrpSpPr>
          <p:nvPr/>
        </p:nvGrpSpPr>
        <p:grpSpPr bwMode="auto">
          <a:xfrm>
            <a:off x="1905000" y="2862263"/>
            <a:ext cx="6629400" cy="766762"/>
            <a:chOff x="2286000" y="3608388"/>
            <a:chExt cx="6629400" cy="766727"/>
          </a:xfrm>
        </p:grpSpPr>
        <p:sp>
          <p:nvSpPr>
            <p:cNvPr id="7" name="Text Box 20"/>
            <p:cNvSpPr txBox="1">
              <a:spLocks noChangeArrowheads="1"/>
            </p:cNvSpPr>
            <p:nvPr/>
          </p:nvSpPr>
          <p:spPr bwMode="auto">
            <a:xfrm>
              <a:off x="2286000" y="4022706"/>
              <a:ext cx="1371600" cy="161918"/>
            </a:xfrm>
            <a:prstGeom prst="rect">
              <a:avLst/>
            </a:prstGeom>
            <a:noFill/>
            <a:ln w="9525" algn="in">
              <a:noFill/>
              <a:miter lim="800000"/>
              <a:headEnd/>
              <a:tailEnd/>
            </a:ln>
          </p:spPr>
          <p:txBody>
            <a:bodyPr lIns="36576" tIns="36576" rIns="36576" bIns="36576"/>
            <a:lstStyle/>
            <a:p>
              <a:pPr algn="ctr" fontAlgn="auto">
                <a:spcBef>
                  <a:spcPts val="0"/>
                </a:spcBef>
                <a:spcAft>
                  <a:spcPts val="0"/>
                </a:spcAft>
                <a:defRPr/>
              </a:pPr>
              <a:r>
                <a:rPr lang="en-US" b="1" dirty="0">
                  <a:solidFill>
                    <a:schemeClr val="tx2">
                      <a:lumMod val="50000"/>
                    </a:schemeClr>
                  </a:solidFill>
                  <a:latin typeface="Tw Cen MT" pitchFamily="34" charset="0"/>
                  <a:ea typeface="Calibri" pitchFamily="34" charset="0"/>
                  <a:cs typeface="Calibri" pitchFamily="34" charset="0"/>
                </a:rPr>
                <a:t>EXPERIENCE</a:t>
              </a:r>
              <a:endParaRPr lang="en-US" u="sng" dirty="0">
                <a:solidFill>
                  <a:schemeClr val="tx2">
                    <a:lumMod val="50000"/>
                  </a:schemeClr>
                </a:solidFill>
                <a:latin typeface="Tw Cen MT" pitchFamily="34" charset="0"/>
                <a:ea typeface="Calibri" pitchFamily="34" charset="0"/>
                <a:cs typeface="Calibri" pitchFamily="34" charset="0"/>
              </a:endParaRPr>
            </a:p>
          </p:txBody>
        </p:sp>
        <p:sp>
          <p:nvSpPr>
            <p:cNvPr id="37894" name="Text Box 21"/>
            <p:cNvSpPr txBox="1">
              <a:spLocks noChangeArrowheads="1"/>
            </p:cNvSpPr>
            <p:nvPr/>
          </p:nvSpPr>
          <p:spPr bwMode="auto">
            <a:xfrm>
              <a:off x="3635375" y="4022723"/>
              <a:ext cx="1393825" cy="228600"/>
            </a:xfrm>
            <a:prstGeom prst="rect">
              <a:avLst/>
            </a:prstGeom>
            <a:noFill/>
            <a:ln w="9525" algn="in">
              <a:noFill/>
              <a:miter lim="800000"/>
              <a:headEnd/>
              <a:tailEnd/>
            </a:ln>
          </p:spPr>
          <p:txBody>
            <a:bodyPr lIns="36576" tIns="36576" rIns="36576" bIns="36576"/>
            <a:lstStyle/>
            <a:p>
              <a:pPr algn="ctr"/>
              <a:r>
                <a:rPr lang="en-US" b="1">
                  <a:solidFill>
                    <a:srgbClr val="333333"/>
                  </a:solidFill>
                  <a:latin typeface="Tw Cen MT" pitchFamily="34" charset="0"/>
                  <a:ea typeface="Calibri" pitchFamily="34" charset="0"/>
                  <a:cs typeface="Calibri" pitchFamily="34" charset="0"/>
                </a:rPr>
                <a:t>EXPERTISE</a:t>
              </a:r>
              <a:endParaRPr lang="en-US" u="sng">
                <a:solidFill>
                  <a:srgbClr val="333333"/>
                </a:solidFill>
                <a:latin typeface="Tw Cen MT" pitchFamily="34" charset="0"/>
                <a:ea typeface="Calibri" pitchFamily="34" charset="0"/>
                <a:cs typeface="Calibri" pitchFamily="34" charset="0"/>
              </a:endParaRPr>
            </a:p>
          </p:txBody>
        </p:sp>
        <p:sp>
          <p:nvSpPr>
            <p:cNvPr id="37895" name="Text Box 22"/>
            <p:cNvSpPr txBox="1">
              <a:spLocks noChangeArrowheads="1"/>
            </p:cNvSpPr>
            <p:nvPr/>
          </p:nvSpPr>
          <p:spPr bwMode="auto">
            <a:xfrm>
              <a:off x="6172200" y="4022689"/>
              <a:ext cx="2743200" cy="352426"/>
            </a:xfrm>
            <a:prstGeom prst="rect">
              <a:avLst/>
            </a:prstGeom>
            <a:noFill/>
            <a:ln w="9525" algn="in">
              <a:noFill/>
              <a:miter lim="800000"/>
              <a:headEnd/>
              <a:tailEnd/>
            </a:ln>
          </p:spPr>
          <p:txBody>
            <a:bodyPr lIns="36576" tIns="36576" rIns="36576" bIns="36576"/>
            <a:lstStyle/>
            <a:p>
              <a:r>
                <a:rPr lang="en-US" b="1">
                  <a:solidFill>
                    <a:srgbClr val="333333"/>
                  </a:solidFill>
                  <a:latin typeface="Tw Cen MT" pitchFamily="34" charset="0"/>
                  <a:ea typeface="Calibri" pitchFamily="34" charset="0"/>
                  <a:cs typeface="Calibri" pitchFamily="34" charset="0"/>
                </a:rPr>
                <a:t>APPROACH</a:t>
              </a:r>
              <a:br>
                <a:rPr lang="en-US" b="1">
                  <a:solidFill>
                    <a:srgbClr val="333333"/>
                  </a:solidFill>
                  <a:latin typeface="Tw Cen MT" pitchFamily="34" charset="0"/>
                  <a:ea typeface="Calibri" pitchFamily="34" charset="0"/>
                  <a:cs typeface="Calibri" pitchFamily="34" charset="0"/>
                </a:rPr>
              </a:br>
              <a:r>
                <a:rPr lang="en-US" sz="900" b="1">
                  <a:solidFill>
                    <a:srgbClr val="333333"/>
                  </a:solidFill>
                  <a:latin typeface="Tw Cen MT" pitchFamily="34" charset="0"/>
                  <a:ea typeface="Calibri" pitchFamily="34" charset="0"/>
                  <a:cs typeface="Calibri" pitchFamily="34" charset="0"/>
                </a:rPr>
                <a:t>(KEEP-CUSTOMER-FOR-LIFE approach)</a:t>
              </a:r>
              <a:endParaRPr lang="en-US" u="sng">
                <a:solidFill>
                  <a:srgbClr val="333333"/>
                </a:solidFill>
                <a:latin typeface="Tw Cen MT" pitchFamily="34" charset="0"/>
                <a:ea typeface="Calibri" pitchFamily="34" charset="0"/>
                <a:cs typeface="Calibri" pitchFamily="34" charset="0"/>
              </a:endParaRPr>
            </a:p>
          </p:txBody>
        </p:sp>
        <p:sp>
          <p:nvSpPr>
            <p:cNvPr id="37896" name="Freeform 23"/>
            <p:cNvSpPr>
              <a:spLocks noChangeAspect="1"/>
            </p:cNvSpPr>
            <p:nvPr/>
          </p:nvSpPr>
          <p:spPr bwMode="auto">
            <a:xfrm rot="1628237">
              <a:off x="2586038" y="3619500"/>
              <a:ext cx="546100" cy="274638"/>
            </a:xfrm>
            <a:custGeom>
              <a:avLst/>
              <a:gdLst>
                <a:gd name="T0" fmla="*/ 2147483647 w 274"/>
                <a:gd name="T1" fmla="*/ 2147483647 h 138"/>
                <a:gd name="T2" fmla="*/ 0 w 274"/>
                <a:gd name="T3" fmla="*/ 2147483647 h 138"/>
                <a:gd name="T4" fmla="*/ 0 w 274"/>
                <a:gd name="T5" fmla="*/ 2147483647 h 138"/>
                <a:gd name="T6" fmla="*/ 2147483647 w 274"/>
                <a:gd name="T7" fmla="*/ 2147483647 h 138"/>
                <a:gd name="T8" fmla="*/ 2147483647 w 274"/>
                <a:gd name="T9" fmla="*/ 2147483647 h 138"/>
                <a:gd name="T10" fmla="*/ 2147483647 w 274"/>
                <a:gd name="T11" fmla="*/ 2147483647 h 138"/>
                <a:gd name="T12" fmla="*/ 2147483647 w 274"/>
                <a:gd name="T13" fmla="*/ 2147483647 h 138"/>
                <a:gd name="T14" fmla="*/ 2147483647 w 274"/>
                <a:gd name="T15" fmla="*/ 2147483647 h 138"/>
                <a:gd name="T16" fmla="*/ 2147483647 w 274"/>
                <a:gd name="T17" fmla="*/ 2147483647 h 138"/>
                <a:gd name="T18" fmla="*/ 2147483647 w 274"/>
                <a:gd name="T19" fmla="*/ 2147483647 h 138"/>
                <a:gd name="T20" fmla="*/ 2147483647 w 274"/>
                <a:gd name="T21" fmla="*/ 2147483647 h 138"/>
                <a:gd name="T22" fmla="*/ 2147483647 w 274"/>
                <a:gd name="T23" fmla="*/ 2147483647 h 138"/>
                <a:gd name="T24" fmla="*/ 2147483647 w 274"/>
                <a:gd name="T25" fmla="*/ 2147483647 h 138"/>
                <a:gd name="T26" fmla="*/ 2147483647 w 274"/>
                <a:gd name="T27" fmla="*/ 2147483647 h 138"/>
                <a:gd name="T28" fmla="*/ 2147483647 w 274"/>
                <a:gd name="T29" fmla="*/ 2147483647 h 138"/>
                <a:gd name="T30" fmla="*/ 2147483647 w 274"/>
                <a:gd name="T31" fmla="*/ 2147483647 h 138"/>
                <a:gd name="T32" fmla="*/ 2147483647 w 274"/>
                <a:gd name="T33" fmla="*/ 2147483647 h 138"/>
                <a:gd name="T34" fmla="*/ 2147483647 w 274"/>
                <a:gd name="T35" fmla="*/ 2147483647 h 138"/>
                <a:gd name="T36" fmla="*/ 2147483647 w 274"/>
                <a:gd name="T37" fmla="*/ 2147483647 h 138"/>
                <a:gd name="T38" fmla="*/ 2147483647 w 274"/>
                <a:gd name="T39" fmla="*/ 2147483647 h 138"/>
                <a:gd name="T40" fmla="*/ 2147483647 w 274"/>
                <a:gd name="T41" fmla="*/ 0 h 138"/>
                <a:gd name="T42" fmla="*/ 2147483647 w 274"/>
                <a:gd name="T43" fmla="*/ 2147483647 h 138"/>
                <a:gd name="T44" fmla="*/ 2147483647 w 274"/>
                <a:gd name="T45" fmla="*/ 2147483647 h 138"/>
                <a:gd name="T46" fmla="*/ 2147483647 w 274"/>
                <a:gd name="T47" fmla="*/ 2147483647 h 138"/>
                <a:gd name="T48" fmla="*/ 2147483647 w 274"/>
                <a:gd name="T49" fmla="*/ 2147483647 h 138"/>
                <a:gd name="T50" fmla="*/ 2147483647 w 274"/>
                <a:gd name="T51" fmla="*/ 2147483647 h 138"/>
                <a:gd name="T52" fmla="*/ 2147483647 w 274"/>
                <a:gd name="T53" fmla="*/ 2147483647 h 138"/>
                <a:gd name="T54" fmla="*/ 2147483647 w 274"/>
                <a:gd name="T55" fmla="*/ 2147483647 h 138"/>
                <a:gd name="T56" fmla="*/ 2147483647 w 274"/>
                <a:gd name="T57" fmla="*/ 2147483647 h 138"/>
                <a:gd name="T58" fmla="*/ 2147483647 w 274"/>
                <a:gd name="T59" fmla="*/ 2147483647 h 138"/>
                <a:gd name="T60" fmla="*/ 2147483647 w 274"/>
                <a:gd name="T61" fmla="*/ 2147483647 h 138"/>
                <a:gd name="T62" fmla="*/ 2147483647 w 274"/>
                <a:gd name="T63" fmla="*/ 2147483647 h 138"/>
                <a:gd name="T64" fmla="*/ 2147483647 w 274"/>
                <a:gd name="T65" fmla="*/ 2147483647 h 138"/>
                <a:gd name="T66" fmla="*/ 2147483647 w 274"/>
                <a:gd name="T67" fmla="*/ 2147483647 h 138"/>
                <a:gd name="T68" fmla="*/ 2147483647 w 274"/>
                <a:gd name="T69" fmla="*/ 2147483647 h 138"/>
                <a:gd name="T70" fmla="*/ 2147483647 w 274"/>
                <a:gd name="T71" fmla="*/ 2147483647 h 138"/>
                <a:gd name="T72" fmla="*/ 2147483647 w 274"/>
                <a:gd name="T73" fmla="*/ 2147483647 h 138"/>
                <a:gd name="T74" fmla="*/ 2147483647 w 274"/>
                <a:gd name="T75" fmla="*/ 2147483647 h 13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74"/>
                <a:gd name="T115" fmla="*/ 0 h 138"/>
                <a:gd name="T116" fmla="*/ 274 w 274"/>
                <a:gd name="T117" fmla="*/ 138 h 13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74" h="138">
                  <a:moveTo>
                    <a:pt x="2" y="111"/>
                  </a:moveTo>
                  <a:lnTo>
                    <a:pt x="0" y="104"/>
                  </a:lnTo>
                  <a:lnTo>
                    <a:pt x="0" y="96"/>
                  </a:lnTo>
                  <a:lnTo>
                    <a:pt x="2" y="86"/>
                  </a:lnTo>
                  <a:lnTo>
                    <a:pt x="4" y="82"/>
                  </a:lnTo>
                  <a:lnTo>
                    <a:pt x="6" y="79"/>
                  </a:lnTo>
                  <a:lnTo>
                    <a:pt x="15" y="63"/>
                  </a:lnTo>
                  <a:lnTo>
                    <a:pt x="25" y="52"/>
                  </a:lnTo>
                  <a:lnTo>
                    <a:pt x="37" y="42"/>
                  </a:lnTo>
                  <a:lnTo>
                    <a:pt x="50" y="34"/>
                  </a:lnTo>
                  <a:lnTo>
                    <a:pt x="65" y="28"/>
                  </a:lnTo>
                  <a:lnTo>
                    <a:pt x="81" y="25"/>
                  </a:lnTo>
                  <a:lnTo>
                    <a:pt x="94" y="21"/>
                  </a:lnTo>
                  <a:lnTo>
                    <a:pt x="110" y="21"/>
                  </a:lnTo>
                  <a:lnTo>
                    <a:pt x="125" y="21"/>
                  </a:lnTo>
                  <a:lnTo>
                    <a:pt x="139" y="21"/>
                  </a:lnTo>
                  <a:lnTo>
                    <a:pt x="152" y="23"/>
                  </a:lnTo>
                  <a:lnTo>
                    <a:pt x="166" y="23"/>
                  </a:lnTo>
                  <a:lnTo>
                    <a:pt x="185" y="26"/>
                  </a:lnTo>
                  <a:lnTo>
                    <a:pt x="195" y="30"/>
                  </a:lnTo>
                  <a:lnTo>
                    <a:pt x="200" y="0"/>
                  </a:lnTo>
                  <a:lnTo>
                    <a:pt x="274" y="84"/>
                  </a:lnTo>
                  <a:lnTo>
                    <a:pt x="177" y="138"/>
                  </a:lnTo>
                  <a:lnTo>
                    <a:pt x="183" y="107"/>
                  </a:lnTo>
                  <a:lnTo>
                    <a:pt x="158" y="100"/>
                  </a:lnTo>
                  <a:lnTo>
                    <a:pt x="131" y="92"/>
                  </a:lnTo>
                  <a:lnTo>
                    <a:pt x="102" y="86"/>
                  </a:lnTo>
                  <a:lnTo>
                    <a:pt x="85" y="84"/>
                  </a:lnTo>
                  <a:lnTo>
                    <a:pt x="69" y="82"/>
                  </a:lnTo>
                  <a:lnTo>
                    <a:pt x="54" y="82"/>
                  </a:lnTo>
                  <a:lnTo>
                    <a:pt x="40" y="82"/>
                  </a:lnTo>
                  <a:lnTo>
                    <a:pt x="29" y="84"/>
                  </a:lnTo>
                  <a:lnTo>
                    <a:pt x="17" y="88"/>
                  </a:lnTo>
                  <a:lnTo>
                    <a:pt x="13" y="92"/>
                  </a:lnTo>
                  <a:lnTo>
                    <a:pt x="10" y="94"/>
                  </a:lnTo>
                  <a:lnTo>
                    <a:pt x="8" y="98"/>
                  </a:lnTo>
                  <a:lnTo>
                    <a:pt x="4" y="104"/>
                  </a:lnTo>
                  <a:lnTo>
                    <a:pt x="2" y="111"/>
                  </a:lnTo>
                  <a:close/>
                </a:path>
              </a:pathLst>
            </a:custGeom>
            <a:solidFill>
              <a:srgbClr val="990000"/>
            </a:solidFill>
            <a:ln w="9525" algn="ctr">
              <a:solidFill>
                <a:srgbClr val="C34733"/>
              </a:solidFill>
              <a:round/>
              <a:headEnd/>
              <a:tailEnd/>
            </a:ln>
          </p:spPr>
          <p:txBody>
            <a:bodyPr/>
            <a:lstStyle/>
            <a:p>
              <a:endParaRPr lang="en-US"/>
            </a:p>
          </p:txBody>
        </p:sp>
        <p:sp>
          <p:nvSpPr>
            <p:cNvPr id="37897" name="Freeform 24"/>
            <p:cNvSpPr>
              <a:spLocks noChangeAspect="1"/>
            </p:cNvSpPr>
            <p:nvPr/>
          </p:nvSpPr>
          <p:spPr bwMode="auto">
            <a:xfrm rot="1628237">
              <a:off x="3830638" y="3614738"/>
              <a:ext cx="544512" cy="274637"/>
            </a:xfrm>
            <a:custGeom>
              <a:avLst/>
              <a:gdLst>
                <a:gd name="T0" fmla="*/ 2147483647 w 274"/>
                <a:gd name="T1" fmla="*/ 2147483647 h 138"/>
                <a:gd name="T2" fmla="*/ 0 w 274"/>
                <a:gd name="T3" fmla="*/ 2147483647 h 138"/>
                <a:gd name="T4" fmla="*/ 0 w 274"/>
                <a:gd name="T5" fmla="*/ 2147483647 h 138"/>
                <a:gd name="T6" fmla="*/ 2147483647 w 274"/>
                <a:gd name="T7" fmla="*/ 2147483647 h 138"/>
                <a:gd name="T8" fmla="*/ 2147483647 w 274"/>
                <a:gd name="T9" fmla="*/ 2147483647 h 138"/>
                <a:gd name="T10" fmla="*/ 2147483647 w 274"/>
                <a:gd name="T11" fmla="*/ 2147483647 h 138"/>
                <a:gd name="T12" fmla="*/ 2147483647 w 274"/>
                <a:gd name="T13" fmla="*/ 2147483647 h 138"/>
                <a:gd name="T14" fmla="*/ 2147483647 w 274"/>
                <a:gd name="T15" fmla="*/ 2147483647 h 138"/>
                <a:gd name="T16" fmla="*/ 2147483647 w 274"/>
                <a:gd name="T17" fmla="*/ 2147483647 h 138"/>
                <a:gd name="T18" fmla="*/ 2147483647 w 274"/>
                <a:gd name="T19" fmla="*/ 2147483647 h 138"/>
                <a:gd name="T20" fmla="*/ 2147483647 w 274"/>
                <a:gd name="T21" fmla="*/ 2147483647 h 138"/>
                <a:gd name="T22" fmla="*/ 2147483647 w 274"/>
                <a:gd name="T23" fmla="*/ 2147483647 h 138"/>
                <a:gd name="T24" fmla="*/ 2147483647 w 274"/>
                <a:gd name="T25" fmla="*/ 2147483647 h 138"/>
                <a:gd name="T26" fmla="*/ 2147483647 w 274"/>
                <a:gd name="T27" fmla="*/ 2147483647 h 138"/>
                <a:gd name="T28" fmla="*/ 2147483647 w 274"/>
                <a:gd name="T29" fmla="*/ 2147483647 h 138"/>
                <a:gd name="T30" fmla="*/ 2147483647 w 274"/>
                <a:gd name="T31" fmla="*/ 2147483647 h 138"/>
                <a:gd name="T32" fmla="*/ 2147483647 w 274"/>
                <a:gd name="T33" fmla="*/ 2147483647 h 138"/>
                <a:gd name="T34" fmla="*/ 2147483647 w 274"/>
                <a:gd name="T35" fmla="*/ 2147483647 h 138"/>
                <a:gd name="T36" fmla="*/ 2147483647 w 274"/>
                <a:gd name="T37" fmla="*/ 2147483647 h 138"/>
                <a:gd name="T38" fmla="*/ 2147483647 w 274"/>
                <a:gd name="T39" fmla="*/ 2147483647 h 138"/>
                <a:gd name="T40" fmla="*/ 2147483647 w 274"/>
                <a:gd name="T41" fmla="*/ 0 h 138"/>
                <a:gd name="T42" fmla="*/ 2147483647 w 274"/>
                <a:gd name="T43" fmla="*/ 2147483647 h 138"/>
                <a:gd name="T44" fmla="*/ 2147483647 w 274"/>
                <a:gd name="T45" fmla="*/ 2147483647 h 138"/>
                <a:gd name="T46" fmla="*/ 2147483647 w 274"/>
                <a:gd name="T47" fmla="*/ 2147483647 h 138"/>
                <a:gd name="T48" fmla="*/ 2147483647 w 274"/>
                <a:gd name="T49" fmla="*/ 2147483647 h 138"/>
                <a:gd name="T50" fmla="*/ 2147483647 w 274"/>
                <a:gd name="T51" fmla="*/ 2147483647 h 138"/>
                <a:gd name="T52" fmla="*/ 2147483647 w 274"/>
                <a:gd name="T53" fmla="*/ 2147483647 h 138"/>
                <a:gd name="T54" fmla="*/ 2147483647 w 274"/>
                <a:gd name="T55" fmla="*/ 2147483647 h 138"/>
                <a:gd name="T56" fmla="*/ 2147483647 w 274"/>
                <a:gd name="T57" fmla="*/ 2147483647 h 138"/>
                <a:gd name="T58" fmla="*/ 2147483647 w 274"/>
                <a:gd name="T59" fmla="*/ 2147483647 h 138"/>
                <a:gd name="T60" fmla="*/ 2147483647 w 274"/>
                <a:gd name="T61" fmla="*/ 2147483647 h 138"/>
                <a:gd name="T62" fmla="*/ 2147483647 w 274"/>
                <a:gd name="T63" fmla="*/ 2147483647 h 138"/>
                <a:gd name="T64" fmla="*/ 2147483647 w 274"/>
                <a:gd name="T65" fmla="*/ 2147483647 h 138"/>
                <a:gd name="T66" fmla="*/ 2147483647 w 274"/>
                <a:gd name="T67" fmla="*/ 2147483647 h 138"/>
                <a:gd name="T68" fmla="*/ 2147483647 w 274"/>
                <a:gd name="T69" fmla="*/ 2147483647 h 138"/>
                <a:gd name="T70" fmla="*/ 2147483647 w 274"/>
                <a:gd name="T71" fmla="*/ 2147483647 h 138"/>
                <a:gd name="T72" fmla="*/ 2147483647 w 274"/>
                <a:gd name="T73" fmla="*/ 2147483647 h 138"/>
                <a:gd name="T74" fmla="*/ 2147483647 w 274"/>
                <a:gd name="T75" fmla="*/ 2147483647 h 13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74"/>
                <a:gd name="T115" fmla="*/ 0 h 138"/>
                <a:gd name="T116" fmla="*/ 274 w 274"/>
                <a:gd name="T117" fmla="*/ 138 h 13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74" h="138">
                  <a:moveTo>
                    <a:pt x="2" y="111"/>
                  </a:moveTo>
                  <a:lnTo>
                    <a:pt x="0" y="104"/>
                  </a:lnTo>
                  <a:lnTo>
                    <a:pt x="0" y="96"/>
                  </a:lnTo>
                  <a:lnTo>
                    <a:pt x="2" y="86"/>
                  </a:lnTo>
                  <a:lnTo>
                    <a:pt x="4" y="82"/>
                  </a:lnTo>
                  <a:lnTo>
                    <a:pt x="6" y="79"/>
                  </a:lnTo>
                  <a:lnTo>
                    <a:pt x="15" y="63"/>
                  </a:lnTo>
                  <a:lnTo>
                    <a:pt x="25" y="52"/>
                  </a:lnTo>
                  <a:lnTo>
                    <a:pt x="37" y="42"/>
                  </a:lnTo>
                  <a:lnTo>
                    <a:pt x="50" y="34"/>
                  </a:lnTo>
                  <a:lnTo>
                    <a:pt x="65" y="28"/>
                  </a:lnTo>
                  <a:lnTo>
                    <a:pt x="81" y="25"/>
                  </a:lnTo>
                  <a:lnTo>
                    <a:pt x="94" y="21"/>
                  </a:lnTo>
                  <a:lnTo>
                    <a:pt x="110" y="21"/>
                  </a:lnTo>
                  <a:lnTo>
                    <a:pt x="125" y="21"/>
                  </a:lnTo>
                  <a:lnTo>
                    <a:pt x="139" y="21"/>
                  </a:lnTo>
                  <a:lnTo>
                    <a:pt x="152" y="23"/>
                  </a:lnTo>
                  <a:lnTo>
                    <a:pt x="166" y="23"/>
                  </a:lnTo>
                  <a:lnTo>
                    <a:pt x="185" y="26"/>
                  </a:lnTo>
                  <a:lnTo>
                    <a:pt x="195" y="30"/>
                  </a:lnTo>
                  <a:lnTo>
                    <a:pt x="200" y="0"/>
                  </a:lnTo>
                  <a:lnTo>
                    <a:pt x="274" y="84"/>
                  </a:lnTo>
                  <a:lnTo>
                    <a:pt x="177" y="138"/>
                  </a:lnTo>
                  <a:lnTo>
                    <a:pt x="183" y="107"/>
                  </a:lnTo>
                  <a:lnTo>
                    <a:pt x="158" y="100"/>
                  </a:lnTo>
                  <a:lnTo>
                    <a:pt x="131" y="92"/>
                  </a:lnTo>
                  <a:lnTo>
                    <a:pt x="102" y="86"/>
                  </a:lnTo>
                  <a:lnTo>
                    <a:pt x="85" y="84"/>
                  </a:lnTo>
                  <a:lnTo>
                    <a:pt x="69" y="82"/>
                  </a:lnTo>
                  <a:lnTo>
                    <a:pt x="54" y="82"/>
                  </a:lnTo>
                  <a:lnTo>
                    <a:pt x="40" y="82"/>
                  </a:lnTo>
                  <a:lnTo>
                    <a:pt x="29" y="84"/>
                  </a:lnTo>
                  <a:lnTo>
                    <a:pt x="17" y="88"/>
                  </a:lnTo>
                  <a:lnTo>
                    <a:pt x="13" y="92"/>
                  </a:lnTo>
                  <a:lnTo>
                    <a:pt x="10" y="94"/>
                  </a:lnTo>
                  <a:lnTo>
                    <a:pt x="8" y="98"/>
                  </a:lnTo>
                  <a:lnTo>
                    <a:pt x="4" y="104"/>
                  </a:lnTo>
                  <a:lnTo>
                    <a:pt x="2" y="111"/>
                  </a:lnTo>
                  <a:close/>
                </a:path>
              </a:pathLst>
            </a:custGeom>
            <a:solidFill>
              <a:srgbClr val="990000"/>
            </a:solidFill>
            <a:ln w="9525" algn="ctr">
              <a:solidFill>
                <a:srgbClr val="C34733"/>
              </a:solidFill>
              <a:round/>
              <a:headEnd/>
              <a:tailEnd/>
            </a:ln>
          </p:spPr>
          <p:txBody>
            <a:bodyPr/>
            <a:lstStyle/>
            <a:p>
              <a:endParaRPr lang="en-US"/>
            </a:p>
          </p:txBody>
        </p:sp>
        <p:sp>
          <p:nvSpPr>
            <p:cNvPr id="37898" name="Freeform 25"/>
            <p:cNvSpPr>
              <a:spLocks noChangeAspect="1"/>
            </p:cNvSpPr>
            <p:nvPr/>
          </p:nvSpPr>
          <p:spPr bwMode="auto">
            <a:xfrm rot="1628237">
              <a:off x="6280976" y="3638601"/>
              <a:ext cx="546100" cy="274637"/>
            </a:xfrm>
            <a:custGeom>
              <a:avLst/>
              <a:gdLst>
                <a:gd name="T0" fmla="*/ 2147483647 w 274"/>
                <a:gd name="T1" fmla="*/ 2147483647 h 138"/>
                <a:gd name="T2" fmla="*/ 0 w 274"/>
                <a:gd name="T3" fmla="*/ 2147483647 h 138"/>
                <a:gd name="T4" fmla="*/ 0 w 274"/>
                <a:gd name="T5" fmla="*/ 2147483647 h 138"/>
                <a:gd name="T6" fmla="*/ 2147483647 w 274"/>
                <a:gd name="T7" fmla="*/ 2147483647 h 138"/>
                <a:gd name="T8" fmla="*/ 2147483647 w 274"/>
                <a:gd name="T9" fmla="*/ 2147483647 h 138"/>
                <a:gd name="T10" fmla="*/ 2147483647 w 274"/>
                <a:gd name="T11" fmla="*/ 2147483647 h 138"/>
                <a:gd name="T12" fmla="*/ 2147483647 w 274"/>
                <a:gd name="T13" fmla="*/ 2147483647 h 138"/>
                <a:gd name="T14" fmla="*/ 2147483647 w 274"/>
                <a:gd name="T15" fmla="*/ 2147483647 h 138"/>
                <a:gd name="T16" fmla="*/ 2147483647 w 274"/>
                <a:gd name="T17" fmla="*/ 2147483647 h 138"/>
                <a:gd name="T18" fmla="*/ 2147483647 w 274"/>
                <a:gd name="T19" fmla="*/ 2147483647 h 138"/>
                <a:gd name="T20" fmla="*/ 2147483647 w 274"/>
                <a:gd name="T21" fmla="*/ 2147483647 h 138"/>
                <a:gd name="T22" fmla="*/ 2147483647 w 274"/>
                <a:gd name="T23" fmla="*/ 2147483647 h 138"/>
                <a:gd name="T24" fmla="*/ 2147483647 w 274"/>
                <a:gd name="T25" fmla="*/ 2147483647 h 138"/>
                <a:gd name="T26" fmla="*/ 2147483647 w 274"/>
                <a:gd name="T27" fmla="*/ 2147483647 h 138"/>
                <a:gd name="T28" fmla="*/ 2147483647 w 274"/>
                <a:gd name="T29" fmla="*/ 2147483647 h 138"/>
                <a:gd name="T30" fmla="*/ 2147483647 w 274"/>
                <a:gd name="T31" fmla="*/ 2147483647 h 138"/>
                <a:gd name="T32" fmla="*/ 2147483647 w 274"/>
                <a:gd name="T33" fmla="*/ 2147483647 h 138"/>
                <a:gd name="T34" fmla="*/ 2147483647 w 274"/>
                <a:gd name="T35" fmla="*/ 2147483647 h 138"/>
                <a:gd name="T36" fmla="*/ 2147483647 w 274"/>
                <a:gd name="T37" fmla="*/ 2147483647 h 138"/>
                <a:gd name="T38" fmla="*/ 2147483647 w 274"/>
                <a:gd name="T39" fmla="*/ 2147483647 h 138"/>
                <a:gd name="T40" fmla="*/ 2147483647 w 274"/>
                <a:gd name="T41" fmla="*/ 0 h 138"/>
                <a:gd name="T42" fmla="*/ 2147483647 w 274"/>
                <a:gd name="T43" fmla="*/ 2147483647 h 138"/>
                <a:gd name="T44" fmla="*/ 2147483647 w 274"/>
                <a:gd name="T45" fmla="*/ 2147483647 h 138"/>
                <a:gd name="T46" fmla="*/ 2147483647 w 274"/>
                <a:gd name="T47" fmla="*/ 2147483647 h 138"/>
                <a:gd name="T48" fmla="*/ 2147483647 w 274"/>
                <a:gd name="T49" fmla="*/ 2147483647 h 138"/>
                <a:gd name="T50" fmla="*/ 2147483647 w 274"/>
                <a:gd name="T51" fmla="*/ 2147483647 h 138"/>
                <a:gd name="T52" fmla="*/ 2147483647 w 274"/>
                <a:gd name="T53" fmla="*/ 2147483647 h 138"/>
                <a:gd name="T54" fmla="*/ 2147483647 w 274"/>
                <a:gd name="T55" fmla="*/ 2147483647 h 138"/>
                <a:gd name="T56" fmla="*/ 2147483647 w 274"/>
                <a:gd name="T57" fmla="*/ 2147483647 h 138"/>
                <a:gd name="T58" fmla="*/ 2147483647 w 274"/>
                <a:gd name="T59" fmla="*/ 2147483647 h 138"/>
                <a:gd name="T60" fmla="*/ 2147483647 w 274"/>
                <a:gd name="T61" fmla="*/ 2147483647 h 138"/>
                <a:gd name="T62" fmla="*/ 2147483647 w 274"/>
                <a:gd name="T63" fmla="*/ 2147483647 h 138"/>
                <a:gd name="T64" fmla="*/ 2147483647 w 274"/>
                <a:gd name="T65" fmla="*/ 2147483647 h 138"/>
                <a:gd name="T66" fmla="*/ 2147483647 w 274"/>
                <a:gd name="T67" fmla="*/ 2147483647 h 138"/>
                <a:gd name="T68" fmla="*/ 2147483647 w 274"/>
                <a:gd name="T69" fmla="*/ 2147483647 h 138"/>
                <a:gd name="T70" fmla="*/ 2147483647 w 274"/>
                <a:gd name="T71" fmla="*/ 2147483647 h 138"/>
                <a:gd name="T72" fmla="*/ 2147483647 w 274"/>
                <a:gd name="T73" fmla="*/ 2147483647 h 138"/>
                <a:gd name="T74" fmla="*/ 2147483647 w 274"/>
                <a:gd name="T75" fmla="*/ 2147483647 h 13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74"/>
                <a:gd name="T115" fmla="*/ 0 h 138"/>
                <a:gd name="T116" fmla="*/ 274 w 274"/>
                <a:gd name="T117" fmla="*/ 138 h 13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74" h="138">
                  <a:moveTo>
                    <a:pt x="2" y="111"/>
                  </a:moveTo>
                  <a:lnTo>
                    <a:pt x="0" y="104"/>
                  </a:lnTo>
                  <a:lnTo>
                    <a:pt x="0" y="96"/>
                  </a:lnTo>
                  <a:lnTo>
                    <a:pt x="2" y="86"/>
                  </a:lnTo>
                  <a:lnTo>
                    <a:pt x="4" y="82"/>
                  </a:lnTo>
                  <a:lnTo>
                    <a:pt x="6" y="79"/>
                  </a:lnTo>
                  <a:lnTo>
                    <a:pt x="15" y="63"/>
                  </a:lnTo>
                  <a:lnTo>
                    <a:pt x="25" y="52"/>
                  </a:lnTo>
                  <a:lnTo>
                    <a:pt x="37" y="42"/>
                  </a:lnTo>
                  <a:lnTo>
                    <a:pt x="50" y="34"/>
                  </a:lnTo>
                  <a:lnTo>
                    <a:pt x="65" y="28"/>
                  </a:lnTo>
                  <a:lnTo>
                    <a:pt x="81" y="25"/>
                  </a:lnTo>
                  <a:lnTo>
                    <a:pt x="94" y="21"/>
                  </a:lnTo>
                  <a:lnTo>
                    <a:pt x="110" y="21"/>
                  </a:lnTo>
                  <a:lnTo>
                    <a:pt x="125" y="21"/>
                  </a:lnTo>
                  <a:lnTo>
                    <a:pt x="139" y="21"/>
                  </a:lnTo>
                  <a:lnTo>
                    <a:pt x="152" y="23"/>
                  </a:lnTo>
                  <a:lnTo>
                    <a:pt x="166" y="23"/>
                  </a:lnTo>
                  <a:lnTo>
                    <a:pt x="185" y="26"/>
                  </a:lnTo>
                  <a:lnTo>
                    <a:pt x="195" y="30"/>
                  </a:lnTo>
                  <a:lnTo>
                    <a:pt x="200" y="0"/>
                  </a:lnTo>
                  <a:lnTo>
                    <a:pt x="274" y="84"/>
                  </a:lnTo>
                  <a:lnTo>
                    <a:pt x="177" y="138"/>
                  </a:lnTo>
                  <a:lnTo>
                    <a:pt x="183" y="107"/>
                  </a:lnTo>
                  <a:lnTo>
                    <a:pt x="158" y="100"/>
                  </a:lnTo>
                  <a:lnTo>
                    <a:pt x="131" y="92"/>
                  </a:lnTo>
                  <a:lnTo>
                    <a:pt x="102" y="86"/>
                  </a:lnTo>
                  <a:lnTo>
                    <a:pt x="85" y="84"/>
                  </a:lnTo>
                  <a:lnTo>
                    <a:pt x="69" y="82"/>
                  </a:lnTo>
                  <a:lnTo>
                    <a:pt x="54" y="82"/>
                  </a:lnTo>
                  <a:lnTo>
                    <a:pt x="40" y="82"/>
                  </a:lnTo>
                  <a:lnTo>
                    <a:pt x="29" y="84"/>
                  </a:lnTo>
                  <a:lnTo>
                    <a:pt x="17" y="88"/>
                  </a:lnTo>
                  <a:lnTo>
                    <a:pt x="13" y="92"/>
                  </a:lnTo>
                  <a:lnTo>
                    <a:pt x="10" y="94"/>
                  </a:lnTo>
                  <a:lnTo>
                    <a:pt x="8" y="98"/>
                  </a:lnTo>
                  <a:lnTo>
                    <a:pt x="4" y="104"/>
                  </a:lnTo>
                  <a:lnTo>
                    <a:pt x="2" y="111"/>
                  </a:lnTo>
                  <a:close/>
                </a:path>
              </a:pathLst>
            </a:custGeom>
            <a:solidFill>
              <a:srgbClr val="990000"/>
            </a:solidFill>
            <a:ln w="9525" algn="ctr">
              <a:solidFill>
                <a:srgbClr val="C34733"/>
              </a:solidFill>
              <a:round/>
              <a:headEnd/>
              <a:tailEnd/>
            </a:ln>
          </p:spPr>
          <p:txBody>
            <a:bodyPr/>
            <a:lstStyle/>
            <a:p>
              <a:endParaRPr lang="en-US"/>
            </a:p>
          </p:txBody>
        </p:sp>
        <p:sp>
          <p:nvSpPr>
            <p:cNvPr id="37899" name="Text Box 21"/>
            <p:cNvSpPr txBox="1">
              <a:spLocks noChangeArrowheads="1"/>
            </p:cNvSpPr>
            <p:nvPr/>
          </p:nvSpPr>
          <p:spPr bwMode="auto">
            <a:xfrm>
              <a:off x="5029200" y="4035424"/>
              <a:ext cx="990600" cy="215900"/>
            </a:xfrm>
            <a:prstGeom prst="rect">
              <a:avLst/>
            </a:prstGeom>
            <a:noFill/>
            <a:ln w="9525" algn="in">
              <a:noFill/>
              <a:miter lim="800000"/>
              <a:headEnd/>
              <a:tailEnd/>
            </a:ln>
          </p:spPr>
          <p:txBody>
            <a:bodyPr lIns="36576" tIns="36576" rIns="36576" bIns="36576"/>
            <a:lstStyle/>
            <a:p>
              <a:pPr algn="ctr"/>
              <a:r>
                <a:rPr lang="en-US" b="1">
                  <a:solidFill>
                    <a:srgbClr val="333333"/>
                  </a:solidFill>
                  <a:latin typeface="Tw Cen MT" pitchFamily="34" charset="0"/>
                  <a:ea typeface="Calibri" pitchFamily="34" charset="0"/>
                  <a:cs typeface="Calibri" pitchFamily="34" charset="0"/>
                </a:rPr>
                <a:t>R&amp;D</a:t>
              </a:r>
              <a:endParaRPr lang="en-US" u="sng">
                <a:solidFill>
                  <a:srgbClr val="333333"/>
                </a:solidFill>
                <a:latin typeface="Tw Cen MT" pitchFamily="34" charset="0"/>
                <a:ea typeface="Calibri" pitchFamily="34" charset="0"/>
                <a:cs typeface="Calibri" pitchFamily="34" charset="0"/>
              </a:endParaRPr>
            </a:p>
          </p:txBody>
        </p:sp>
        <p:sp>
          <p:nvSpPr>
            <p:cNvPr id="37900" name="Freeform 24"/>
            <p:cNvSpPr>
              <a:spLocks noChangeAspect="1"/>
            </p:cNvSpPr>
            <p:nvPr/>
          </p:nvSpPr>
          <p:spPr bwMode="auto">
            <a:xfrm rot="1628237">
              <a:off x="5049838" y="3608388"/>
              <a:ext cx="544512" cy="274637"/>
            </a:xfrm>
            <a:custGeom>
              <a:avLst/>
              <a:gdLst>
                <a:gd name="T0" fmla="*/ 2147483647 w 274"/>
                <a:gd name="T1" fmla="*/ 2147483647 h 138"/>
                <a:gd name="T2" fmla="*/ 0 w 274"/>
                <a:gd name="T3" fmla="*/ 2147483647 h 138"/>
                <a:gd name="T4" fmla="*/ 0 w 274"/>
                <a:gd name="T5" fmla="*/ 2147483647 h 138"/>
                <a:gd name="T6" fmla="*/ 2147483647 w 274"/>
                <a:gd name="T7" fmla="*/ 2147483647 h 138"/>
                <a:gd name="T8" fmla="*/ 2147483647 w 274"/>
                <a:gd name="T9" fmla="*/ 2147483647 h 138"/>
                <a:gd name="T10" fmla="*/ 2147483647 w 274"/>
                <a:gd name="T11" fmla="*/ 2147483647 h 138"/>
                <a:gd name="T12" fmla="*/ 2147483647 w 274"/>
                <a:gd name="T13" fmla="*/ 2147483647 h 138"/>
                <a:gd name="T14" fmla="*/ 2147483647 w 274"/>
                <a:gd name="T15" fmla="*/ 2147483647 h 138"/>
                <a:gd name="T16" fmla="*/ 2147483647 w 274"/>
                <a:gd name="T17" fmla="*/ 2147483647 h 138"/>
                <a:gd name="T18" fmla="*/ 2147483647 w 274"/>
                <a:gd name="T19" fmla="*/ 2147483647 h 138"/>
                <a:gd name="T20" fmla="*/ 2147483647 w 274"/>
                <a:gd name="T21" fmla="*/ 2147483647 h 138"/>
                <a:gd name="T22" fmla="*/ 2147483647 w 274"/>
                <a:gd name="T23" fmla="*/ 2147483647 h 138"/>
                <a:gd name="T24" fmla="*/ 2147483647 w 274"/>
                <a:gd name="T25" fmla="*/ 2147483647 h 138"/>
                <a:gd name="T26" fmla="*/ 2147483647 w 274"/>
                <a:gd name="T27" fmla="*/ 2147483647 h 138"/>
                <a:gd name="T28" fmla="*/ 2147483647 w 274"/>
                <a:gd name="T29" fmla="*/ 2147483647 h 138"/>
                <a:gd name="T30" fmla="*/ 2147483647 w 274"/>
                <a:gd name="T31" fmla="*/ 2147483647 h 138"/>
                <a:gd name="T32" fmla="*/ 2147483647 w 274"/>
                <a:gd name="T33" fmla="*/ 2147483647 h 138"/>
                <a:gd name="T34" fmla="*/ 2147483647 w 274"/>
                <a:gd name="T35" fmla="*/ 2147483647 h 138"/>
                <a:gd name="T36" fmla="*/ 2147483647 w 274"/>
                <a:gd name="T37" fmla="*/ 2147483647 h 138"/>
                <a:gd name="T38" fmla="*/ 2147483647 w 274"/>
                <a:gd name="T39" fmla="*/ 2147483647 h 138"/>
                <a:gd name="T40" fmla="*/ 2147483647 w 274"/>
                <a:gd name="T41" fmla="*/ 0 h 138"/>
                <a:gd name="T42" fmla="*/ 2147483647 w 274"/>
                <a:gd name="T43" fmla="*/ 2147483647 h 138"/>
                <a:gd name="T44" fmla="*/ 2147483647 w 274"/>
                <a:gd name="T45" fmla="*/ 2147483647 h 138"/>
                <a:gd name="T46" fmla="*/ 2147483647 w 274"/>
                <a:gd name="T47" fmla="*/ 2147483647 h 138"/>
                <a:gd name="T48" fmla="*/ 2147483647 w 274"/>
                <a:gd name="T49" fmla="*/ 2147483647 h 138"/>
                <a:gd name="T50" fmla="*/ 2147483647 w 274"/>
                <a:gd name="T51" fmla="*/ 2147483647 h 138"/>
                <a:gd name="T52" fmla="*/ 2147483647 w 274"/>
                <a:gd name="T53" fmla="*/ 2147483647 h 138"/>
                <a:gd name="T54" fmla="*/ 2147483647 w 274"/>
                <a:gd name="T55" fmla="*/ 2147483647 h 138"/>
                <a:gd name="T56" fmla="*/ 2147483647 w 274"/>
                <a:gd name="T57" fmla="*/ 2147483647 h 138"/>
                <a:gd name="T58" fmla="*/ 2147483647 w 274"/>
                <a:gd name="T59" fmla="*/ 2147483647 h 138"/>
                <a:gd name="T60" fmla="*/ 2147483647 w 274"/>
                <a:gd name="T61" fmla="*/ 2147483647 h 138"/>
                <a:gd name="T62" fmla="*/ 2147483647 w 274"/>
                <a:gd name="T63" fmla="*/ 2147483647 h 138"/>
                <a:gd name="T64" fmla="*/ 2147483647 w 274"/>
                <a:gd name="T65" fmla="*/ 2147483647 h 138"/>
                <a:gd name="T66" fmla="*/ 2147483647 w 274"/>
                <a:gd name="T67" fmla="*/ 2147483647 h 138"/>
                <a:gd name="T68" fmla="*/ 2147483647 w 274"/>
                <a:gd name="T69" fmla="*/ 2147483647 h 138"/>
                <a:gd name="T70" fmla="*/ 2147483647 w 274"/>
                <a:gd name="T71" fmla="*/ 2147483647 h 138"/>
                <a:gd name="T72" fmla="*/ 2147483647 w 274"/>
                <a:gd name="T73" fmla="*/ 2147483647 h 138"/>
                <a:gd name="T74" fmla="*/ 2147483647 w 274"/>
                <a:gd name="T75" fmla="*/ 2147483647 h 13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74"/>
                <a:gd name="T115" fmla="*/ 0 h 138"/>
                <a:gd name="T116" fmla="*/ 274 w 274"/>
                <a:gd name="T117" fmla="*/ 138 h 13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74" h="138">
                  <a:moveTo>
                    <a:pt x="2" y="111"/>
                  </a:moveTo>
                  <a:lnTo>
                    <a:pt x="0" y="104"/>
                  </a:lnTo>
                  <a:lnTo>
                    <a:pt x="0" y="96"/>
                  </a:lnTo>
                  <a:lnTo>
                    <a:pt x="2" y="86"/>
                  </a:lnTo>
                  <a:lnTo>
                    <a:pt x="4" y="82"/>
                  </a:lnTo>
                  <a:lnTo>
                    <a:pt x="6" y="79"/>
                  </a:lnTo>
                  <a:lnTo>
                    <a:pt x="15" y="63"/>
                  </a:lnTo>
                  <a:lnTo>
                    <a:pt x="25" y="52"/>
                  </a:lnTo>
                  <a:lnTo>
                    <a:pt x="37" y="42"/>
                  </a:lnTo>
                  <a:lnTo>
                    <a:pt x="50" y="34"/>
                  </a:lnTo>
                  <a:lnTo>
                    <a:pt x="65" y="28"/>
                  </a:lnTo>
                  <a:lnTo>
                    <a:pt x="81" y="25"/>
                  </a:lnTo>
                  <a:lnTo>
                    <a:pt x="94" y="21"/>
                  </a:lnTo>
                  <a:lnTo>
                    <a:pt x="110" y="21"/>
                  </a:lnTo>
                  <a:lnTo>
                    <a:pt x="125" y="21"/>
                  </a:lnTo>
                  <a:lnTo>
                    <a:pt x="139" y="21"/>
                  </a:lnTo>
                  <a:lnTo>
                    <a:pt x="152" y="23"/>
                  </a:lnTo>
                  <a:lnTo>
                    <a:pt x="166" y="23"/>
                  </a:lnTo>
                  <a:lnTo>
                    <a:pt x="185" y="26"/>
                  </a:lnTo>
                  <a:lnTo>
                    <a:pt x="195" y="30"/>
                  </a:lnTo>
                  <a:lnTo>
                    <a:pt x="200" y="0"/>
                  </a:lnTo>
                  <a:lnTo>
                    <a:pt x="274" y="84"/>
                  </a:lnTo>
                  <a:lnTo>
                    <a:pt x="177" y="138"/>
                  </a:lnTo>
                  <a:lnTo>
                    <a:pt x="183" y="107"/>
                  </a:lnTo>
                  <a:lnTo>
                    <a:pt x="158" y="100"/>
                  </a:lnTo>
                  <a:lnTo>
                    <a:pt x="131" y="92"/>
                  </a:lnTo>
                  <a:lnTo>
                    <a:pt x="102" y="86"/>
                  </a:lnTo>
                  <a:lnTo>
                    <a:pt x="85" y="84"/>
                  </a:lnTo>
                  <a:lnTo>
                    <a:pt x="69" y="82"/>
                  </a:lnTo>
                  <a:lnTo>
                    <a:pt x="54" y="82"/>
                  </a:lnTo>
                  <a:lnTo>
                    <a:pt x="40" y="82"/>
                  </a:lnTo>
                  <a:lnTo>
                    <a:pt x="29" y="84"/>
                  </a:lnTo>
                  <a:lnTo>
                    <a:pt x="17" y="88"/>
                  </a:lnTo>
                  <a:lnTo>
                    <a:pt x="13" y="92"/>
                  </a:lnTo>
                  <a:lnTo>
                    <a:pt x="10" y="94"/>
                  </a:lnTo>
                  <a:lnTo>
                    <a:pt x="8" y="98"/>
                  </a:lnTo>
                  <a:lnTo>
                    <a:pt x="4" y="104"/>
                  </a:lnTo>
                  <a:lnTo>
                    <a:pt x="2" y="111"/>
                  </a:lnTo>
                  <a:close/>
                </a:path>
              </a:pathLst>
            </a:custGeom>
            <a:solidFill>
              <a:srgbClr val="990000"/>
            </a:solidFill>
            <a:ln w="9525" algn="ctr">
              <a:solidFill>
                <a:srgbClr val="C34733"/>
              </a:solidFill>
              <a:round/>
              <a:headEnd/>
              <a:tailEnd/>
            </a:ln>
          </p:spPr>
          <p:txBody>
            <a:bodyPr/>
            <a:lstStyle/>
            <a:p>
              <a:endParaRPr lang="en-US"/>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haredContentType xmlns="Microsoft.SharePoint.Taxonomy.ContentTypeSync" SourceId="41087d73-5bfe-4c6e-a130-3d602495565a" ContentTypeId="0x010100F7548365F7A28B41B9A685ED46C1AC26" PreviousValue="false"/>
</file>

<file path=customXml/item2.xml><?xml version="1.0" encoding="utf-8"?>
<p:properties xmlns:p="http://schemas.microsoft.com/office/2006/metadata/properties" xmlns:xsi="http://www.w3.org/2001/XMLSchema-instance">
  <documentManagement>
    <Departments xmlns="09339d3a-aaa0-497d-ae73-d8a5832d420d">Insurance P&amp;C</Departments>
    <Classification xmlns="09339d3a-aaa0-497d-ae73-d8a5832d420d">Internal Use</Classification>
    <SubCategory xmlns="09339d3a-aaa0-497d-ae73-d8a5832d420d">Best Practice</SubCategory>
    <Tags xmlns="09339d3a-aaa0-497d-ae73-d8a5832d420d">BOP coverage</Tags>
    <Contributors xmlns="09339d3a-aaa0-497d-ae73-d8a5832d420d">
      <UserInfo>
        <DisplayName>Alok Bharati</DisplayName>
        <AccountId>26</AccountId>
        <AccountType/>
      </UserInfo>
    </Contributors>
  </documentManagement>
</p:properties>
</file>

<file path=customXml/item3.xml><?xml version="1.0" encoding="utf-8"?>
<ct:contentTypeSchema xmlns:ct="http://schemas.microsoft.com/office/2006/metadata/contentType" xmlns:ma="http://schemas.microsoft.com/office/2006/metadata/properties/metaAttributes" ct:_="" ma:_="" ma:contentTypeName="VIKI New Document" ma:contentTypeID="0x010100F7548365F7A28B41B9A685ED46C1AC26001AB29883D45E2C4E9CA6FE95A9034FC3" ma:contentTypeVersion="5" ma:contentTypeDescription="" ma:contentTypeScope="" ma:versionID="bc1a5864616262670162eb204ab13928">
  <xsd:schema xmlns:xsd="http://www.w3.org/2001/XMLSchema" xmlns:xs="http://www.w3.org/2001/XMLSchema" xmlns:p="http://schemas.microsoft.com/office/2006/metadata/properties" xmlns:ns2="09339d3a-aaa0-497d-ae73-d8a5832d420d" targetNamespace="http://schemas.microsoft.com/office/2006/metadata/properties" ma:root="true" ma:fieldsID="86592b75fc3d2fa65ab3e34efd39cedb" ns2:_="">
    <xsd:import namespace="09339d3a-aaa0-497d-ae73-d8a5832d420d"/>
    <xsd:element name="properties">
      <xsd:complexType>
        <xsd:sequence>
          <xsd:element name="documentManagement">
            <xsd:complexType>
              <xsd:all>
                <xsd:element ref="ns2:Classification"/>
                <xsd:element ref="ns2:Contributors"/>
                <xsd:element ref="ns2:Departments"/>
                <xsd:element ref="ns2:SubCategory"/>
                <xsd:element ref="ns2:Tags"/>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339d3a-aaa0-497d-ae73-d8a5832d420d" elementFormDefault="qualified">
    <xsd:import namespace="http://schemas.microsoft.com/office/2006/documentManagement/types"/>
    <xsd:import namespace="http://schemas.microsoft.com/office/infopath/2007/PartnerControls"/>
    <xsd:element name="Classification" ma:index="8" ma:displayName="Classification" ma:description="Refer Help &gt; Guidelines" ma:format="Dropdown" ma:internalName="Classification">
      <xsd:simpleType>
        <xsd:restriction base="dms:Choice">
          <xsd:enumeration value="Sensitive"/>
          <xsd:enumeration value="Confidential"/>
          <xsd:enumeration value="Internally Restricted"/>
          <xsd:enumeration value="Internal Use"/>
        </xsd:restriction>
      </xsd:simpleType>
    </xsd:element>
    <xsd:element name="Contributors" ma:index="9" ma:displayName="Contributors" ma:list="UserInfo" ma:SharePointGroup="0" ma:internalName="Contributors" ma:showField="Department">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Departments" ma:index="10" ma:displayName="Departments" ma:format="Dropdown" ma:internalName="Departments">
      <xsd:simpleType>
        <xsd:restriction base="dms:Choice">
          <xsd:enumeration value="Accounts"/>
          <xsd:enumeration value="Banking"/>
          <xsd:enumeration value="BizDynamics"/>
          <xsd:enumeration value="CCM"/>
          <xsd:enumeration value="Client Services"/>
          <xsd:enumeration value="Core Leverage"/>
          <xsd:enumeration value="Data Leverage"/>
          <xsd:enumeration value="Digital &amp; Cloud"/>
          <xsd:enumeration value="Facilities"/>
          <xsd:enumeration value="Finance"/>
          <xsd:enumeration value="Financial Services"/>
          <xsd:enumeration value="GRC Operations"/>
          <xsd:enumeration value="HR"/>
          <xsd:enumeration value="Insurance Health Care"/>
          <xsd:enumeration value="Insurance Life"/>
          <xsd:enumeration value="Insurance P&amp;C"/>
          <xsd:enumeration value="IT Operations"/>
          <xsd:enumeration value="Learning &amp; Development"/>
          <xsd:enumeration value="Management System"/>
          <xsd:enumeration value="Marketing"/>
          <xsd:enumeration value="Network Operations"/>
          <xsd:enumeration value="Operations"/>
          <xsd:enumeration value="Organization"/>
          <xsd:enumeration value="PMO"/>
          <xsd:enumeration value="Quality Leap"/>
          <xsd:enumeration value="Sales"/>
          <xsd:enumeration value="Security Operations"/>
          <xsd:enumeration value="WhiteCoats"/>
        </xsd:restriction>
      </xsd:simpleType>
    </xsd:element>
    <xsd:element name="SubCategory" ma:index="11" ma:displayName="SubCategory" ma:format="Dropdown" ma:internalName="SubCategory" ma:readOnly="false">
      <xsd:simpleType>
        <xsd:restriction base="dms:Choice">
          <xsd:enumeration value="Accelerator"/>
          <xsd:enumeration value="Analysis"/>
          <xsd:enumeration value="Architecture"/>
          <xsd:enumeration value="Best Practice"/>
          <xsd:enumeration value="Case Study"/>
          <xsd:enumeration value="Change Management"/>
          <xsd:enumeration value="Checklist"/>
          <xsd:enumeration value="Design Patterns"/>
          <xsd:enumeration value="Form"/>
          <xsd:enumeration value="Guideline"/>
          <xsd:enumeration value="Learning"/>
          <xsd:enumeration value="Market Research"/>
          <xsd:enumeration value="Methodology"/>
          <xsd:enumeration value="Policy"/>
          <xsd:enumeration value="Presales"/>
          <xsd:enumeration value="Presentation"/>
          <xsd:enumeration value="Procedure"/>
          <xsd:enumeration value="Process"/>
          <xsd:enumeration value="Program Management"/>
          <xsd:enumeration value="Project Closure"/>
          <xsd:enumeration value="Project Proposal"/>
          <xsd:enumeration value="Quality Management"/>
          <xsd:enumeration value="Report"/>
          <xsd:enumeration value="Risk Management"/>
          <xsd:enumeration value="SOW"/>
          <xsd:enumeration value="Standards"/>
          <xsd:enumeration value="Training"/>
          <xsd:enumeration value="Value Addition"/>
          <xsd:enumeration value="White Paper"/>
        </xsd:restriction>
      </xsd:simpleType>
    </xsd:element>
    <xsd:element name="Tags" ma:index="12" ma:displayName="Tags" ma:internalName="Tags">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0880327-19C2-4A82-9516-04BB3B350905}"/>
</file>

<file path=customXml/itemProps2.xml><?xml version="1.0" encoding="utf-8"?>
<ds:datastoreItem xmlns:ds="http://schemas.openxmlformats.org/officeDocument/2006/customXml" ds:itemID="{98149004-1E5A-4B46-90BE-F5C0C7AF4798}">
  <ds:schemaRefs>
    <ds:schemaRef ds:uri="http://schemas.openxmlformats.org/package/2006/metadata/core-properties"/>
    <ds:schemaRef ds:uri="http://purl.org/dc/dcmitype/"/>
    <ds:schemaRef ds:uri="http://schemas.microsoft.com/office/2006/documentManagement/types"/>
    <ds:schemaRef ds:uri="http://purl.org/dc/elements/1.1/"/>
    <ds:schemaRef ds:uri="http://schemas.microsoft.com/office/2006/metadata/properties"/>
    <ds:schemaRef ds:uri="9cb6d7bc-cb15-42b5-a8df-adcc0f71b619"/>
    <ds:schemaRef ds:uri="http://purl.org/dc/terms/"/>
    <ds:schemaRef ds:uri="http://schemas.microsoft.com/office/infopath/2007/PartnerControls"/>
    <ds:schemaRef ds:uri="http://www.w3.org/XML/1998/namespace"/>
    <ds:schemaRef ds:uri="09339d3a-aaa0-497d-ae73-d8a5832d420d"/>
  </ds:schemaRefs>
</ds:datastoreItem>
</file>

<file path=customXml/itemProps3.xml><?xml version="1.0" encoding="utf-8"?>
<ds:datastoreItem xmlns:ds="http://schemas.openxmlformats.org/officeDocument/2006/customXml" ds:itemID="{7D4C997D-B12D-4FE2-841A-5D072687124B}"/>
</file>

<file path=customXml/itemProps4.xml><?xml version="1.0" encoding="utf-8"?>
<ds:datastoreItem xmlns:ds="http://schemas.openxmlformats.org/officeDocument/2006/customXml" ds:itemID="{CBF7575E-8ECF-4E69-BD1B-A88C52D4E6A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1165</TotalTime>
  <Words>7622</Words>
  <Application>Microsoft Office PowerPoint</Application>
  <PresentationFormat>On-screen Show (4:3)</PresentationFormat>
  <Paragraphs>713</Paragraphs>
  <Slides>40</Slides>
  <Notes>40</Notes>
  <HiddenSlides>0</HiddenSlides>
  <MMClips>0</MMClips>
  <ScaleCrop>false</ScaleCrop>
  <HeadingPairs>
    <vt:vector size="4" baseType="variant">
      <vt:variant>
        <vt:lpstr>Theme</vt:lpstr>
      </vt:variant>
      <vt:variant>
        <vt:i4>1</vt:i4>
      </vt:variant>
      <vt:variant>
        <vt:lpstr>Slide Titles</vt:lpstr>
      </vt:variant>
      <vt:variant>
        <vt:i4>40</vt:i4>
      </vt:variant>
    </vt:vector>
  </HeadingPairs>
  <TitlesOfParts>
    <vt:vector size="4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VAM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issac</dc:creator>
  <cp:lastModifiedBy>Alok Bharati</cp:lastModifiedBy>
  <cp:revision>222</cp:revision>
  <dcterms:created xsi:type="dcterms:W3CDTF">2010-11-19T06:53:04Z</dcterms:created>
  <dcterms:modified xsi:type="dcterms:W3CDTF">2022-01-18T13:41:37Z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0x010100F7548365F7A28B41B9A685ED46C1AC26001AB29883D45E2C4E9CA6FE95A9034FC3</vt:lpwstr>
  </property>
  <property fmtid="{D5CDD505-2E9C-101B-9397-08002B2CF9AE}" pid="3" name="Order">
    <vt:r8>6800</vt:r8>
  </property>
  <property fmtid="{D5CDD505-2E9C-101B-9397-08002B2CF9AE}" pid="4" name="xd_Signature">
    <vt:bool>false</vt:bool>
  </property>
  <property fmtid="{D5CDD505-2E9C-101B-9397-08002B2CF9AE}" pid="5" name="xd_ProgID">
    <vt:lpwstr/>
  </property>
  <property fmtid="{D5CDD505-2E9C-101B-9397-08002B2CF9AE}" pid="6" name="_ExtendedDescription">
    <vt:lpwstr/>
  </property>
  <property fmtid="{D5CDD505-2E9C-101B-9397-08002B2CF9AE}" pid="7" name="TriggerFlowInfo">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ies>
</file>
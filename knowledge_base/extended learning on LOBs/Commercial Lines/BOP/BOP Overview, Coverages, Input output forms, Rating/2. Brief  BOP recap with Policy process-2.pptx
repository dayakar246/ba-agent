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slides/slide15.xml" ContentType="application/vnd.openxmlformats-officedocument.presentationml.slide+xml"/>
  <Override PartName="/ppt/slides/slide16.xml" ContentType="application/vnd.openxmlformats-officedocument.presentationml.slide+xml"/>
  <Override PartName="/ppt/presentation.xml" ContentType="application/vnd.openxmlformats-officedocument.presentationml.presentation.main+xml"/>
  <Override PartName="/ppt/slides/slide1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3.xml" ContentType="application/vnd.openxmlformats-officedocument.presentationml.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notesSlides/notesSlide12.xml" ContentType="application/vnd.openxmlformats-officedocument.presentationml.notesSlide+xml"/>
  <Override PartName="/ppt/slideLayouts/slideLayout10.xml" ContentType="application/vnd.openxmlformats-officedocument.presentationml.slideLayout+xml"/>
  <Override PartName="/ppt/notesSlides/notesSlide3.xml" ContentType="application/vnd.openxmlformats-officedocument.presentationml.notesSlide+xml"/>
  <Override PartName="/ppt/slideLayouts/slideLayout5.xml" ContentType="application/vnd.openxmlformats-officedocument.presentationml.slideLayout+xml"/>
  <Override PartName="/ppt/notesSlides/notesSlide4.xml" ContentType="application/vnd.openxmlformats-officedocument.presentationml.notes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5.xml" ContentType="application/vnd.openxmlformats-officedocument.presentationml.notesSlide+xml"/>
  <Override PartName="/ppt/slideLayouts/slideLayout3.xml" ContentType="application/vnd.openxmlformats-officedocument.presentationml.slideLayout+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slideLayouts/slideLayout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5"/>
    <p:sldId id="311" r:id="rId6"/>
    <p:sldId id="310" r:id="rId7"/>
    <p:sldId id="275" r:id="rId8"/>
    <p:sldId id="312" r:id="rId9"/>
    <p:sldId id="314" r:id="rId10"/>
    <p:sldId id="315" r:id="rId11"/>
    <p:sldId id="316" r:id="rId12"/>
    <p:sldId id="317" r:id="rId13"/>
    <p:sldId id="318" r:id="rId14"/>
    <p:sldId id="319" r:id="rId15"/>
    <p:sldId id="323" r:id="rId16"/>
    <p:sldId id="320" r:id="rId17"/>
    <p:sldId id="321" r:id="rId18"/>
    <p:sldId id="322" r:id="rId19"/>
    <p:sldId id="31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99C1"/>
    <a:srgbClr val="859B98"/>
    <a:srgbClr val="F07846"/>
    <a:srgbClr val="94888C"/>
    <a:srgbClr val="4DA0EE"/>
    <a:srgbClr val="AEAD6F"/>
    <a:srgbClr val="854856"/>
    <a:srgbClr val="F2C90D"/>
    <a:srgbClr val="7EA846"/>
    <a:srgbClr val="0457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03" autoAdjust="0"/>
    <p:restoredTop sz="83816" autoAdjust="0"/>
  </p:normalViewPr>
  <p:slideViewPr>
    <p:cSldViewPr>
      <p:cViewPr varScale="1">
        <p:scale>
          <a:sx n="66" d="100"/>
          <a:sy n="66" d="100"/>
        </p:scale>
        <p:origin x="1170" y="54"/>
      </p:cViewPr>
      <p:guideLst>
        <p:guide orient="horz" pos="2160"/>
        <p:guide pos="2880"/>
      </p:guideLst>
    </p:cSldViewPr>
  </p:slideViewPr>
  <p:notesTextViewPr>
    <p:cViewPr>
      <p:scale>
        <a:sx n="100" d="100"/>
        <a:sy n="100" d="100"/>
      </p:scale>
      <p:origin x="0" y="0"/>
    </p:cViewPr>
  </p:notesTextViewPr>
  <p:notesViewPr>
    <p:cSldViewPr>
      <p:cViewPr varScale="1">
        <p:scale>
          <a:sx n="70" d="100"/>
          <a:sy n="70" d="100"/>
        </p:scale>
        <p:origin x="-281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ustomXml" Target="../customXml/item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3DA7D6-147C-400C-A35F-2169931AA8B6}" type="datetimeFigureOut">
              <a:rPr lang="en-US" smtClean="0"/>
              <a:pPr/>
              <a:t>1/13/2016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B4AD5B4-0444-431F-910B-BA532084FB7B}" type="slidenum">
              <a:rPr lang="en-US" smtClean="0"/>
              <a:pPr/>
              <a:t>‹#›</a:t>
            </a:fld>
            <a:endParaRPr lang="en-US"/>
          </a:p>
        </p:txBody>
      </p:sp>
    </p:spTree>
    <p:extLst>
      <p:ext uri="{BB962C8B-B14F-4D97-AF65-F5344CB8AC3E}">
        <p14:creationId xmlns:p14="http://schemas.microsoft.com/office/powerpoint/2010/main" val="3104101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dirty="0" smtClean="0"/>
              <a:t>The Business owners Policy (BOP) is designed for small to medium size businesses. BOP policies are structured and priced to fill the need of a multitude of businesses which have similar risk characteristics. The basic concept is that small businesses of all kinds have more in common with each other than they do with large risks in the same kind of business. </a:t>
            </a:r>
          </a:p>
          <a:p>
            <a:r>
              <a:rPr lang="en-US" sz="1000" dirty="0" smtClean="0"/>
              <a:t>BOP policies may be written for eligible retail, apartment, office, service, and processing risks and are available for owners of buildings and tenants of retail, service, and processing operations. In addition to the type of business for which coverage is being sought, the building height, area square footage, number of units and annual gross sales are determining factors for acceptability under the BOP program</a:t>
            </a:r>
          </a:p>
          <a:p>
            <a:endParaRPr lang="en-US" sz="1000" dirty="0" smtClean="0"/>
          </a:p>
        </p:txBody>
      </p:sp>
      <p:sp>
        <p:nvSpPr>
          <p:cNvPr id="4" name="Slide Number Placeholder 3"/>
          <p:cNvSpPr>
            <a:spLocks noGrp="1"/>
          </p:cNvSpPr>
          <p:nvPr>
            <p:ph type="sldNum" sz="quarter" idx="10"/>
          </p:nvPr>
        </p:nvSpPr>
        <p:spPr/>
        <p:txBody>
          <a:bodyPr/>
          <a:lstStyle/>
          <a:p>
            <a:fld id="{7B4AD5B4-0444-431F-910B-BA532084FB7B}" type="slidenum">
              <a:rPr lang="en-US" smtClean="0"/>
              <a:pPr/>
              <a:t>3</a:t>
            </a:fld>
            <a:endParaRPr lang="en-US"/>
          </a:p>
        </p:txBody>
      </p:sp>
    </p:spTree>
    <p:extLst>
      <p:ext uri="{BB962C8B-B14F-4D97-AF65-F5344CB8AC3E}">
        <p14:creationId xmlns:p14="http://schemas.microsoft.com/office/powerpoint/2010/main" val="1371148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latin typeface="+mn-lt"/>
              </a:rPr>
              <a:t>The standard form includes Building coverage and Business Personal Property on a replacement cost basis, with an ACV (actual cash value) option for building coverage. Business Income and Extra Expense coverage is included on an “Actual Loss Sustained” basis. Perils covered are fire, lightning, explosion, windstorm or hail, smoke, aircraft or vehicles, riot or civil commotion, vandalism, sprinkler leakage, sinkhole collapse, volcanic action, and transportation. In addition, the liability portion of the policy includes protection for business liability and medical expenses. </a:t>
            </a:r>
          </a:p>
          <a:p>
            <a:endParaRPr lang="en-US"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4</a:t>
            </a:fld>
            <a:endParaRPr lang="en-US"/>
          </a:p>
        </p:txBody>
      </p:sp>
    </p:spTree>
    <p:extLst>
      <p:ext uri="{BB962C8B-B14F-4D97-AF65-F5344CB8AC3E}">
        <p14:creationId xmlns:p14="http://schemas.microsoft.com/office/powerpoint/2010/main" val="3633213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5</a:t>
            </a:fld>
            <a:endParaRPr lang="en-US"/>
          </a:p>
        </p:txBody>
      </p:sp>
    </p:spTree>
    <p:extLst>
      <p:ext uri="{BB962C8B-B14F-4D97-AF65-F5344CB8AC3E}">
        <p14:creationId xmlns:p14="http://schemas.microsoft.com/office/powerpoint/2010/main" val="3596106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Times New Roman" pitchFamily="18" charset="0"/>
                <a:ea typeface="+mn-ea"/>
                <a:cs typeface="+mn-cs"/>
              </a:rPr>
              <a:t>The following requirements must be met in order for processing, servicing, and retail risks to be eligible for coverage under the BOP Policy: </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smtClean="0">
                <a:ln>
                  <a:noFill/>
                </a:ln>
                <a:solidFill>
                  <a:srgbClr val="000000"/>
                </a:solidFill>
                <a:effectLst/>
                <a:uLnTx/>
                <a:uFillTx/>
                <a:latin typeface="Times New Roman" pitchFamily="18" charset="0"/>
                <a:ea typeface="+mn-ea"/>
                <a:cs typeface="+mn-cs"/>
              </a:rPr>
              <a:t>(1) No more than 25% of gross sales may be from off-premises operations. </a:t>
            </a:r>
            <a:br>
              <a:rPr kumimoji="0" lang="en-US" sz="1200" b="0" i="0" u="none" strike="noStrike" kern="1200" cap="none" spc="0" normalizeH="0" baseline="0" noProof="0" dirty="0" smtClean="0">
                <a:ln>
                  <a:noFill/>
                </a:ln>
                <a:solidFill>
                  <a:srgbClr val="000000"/>
                </a:solidFill>
                <a:effectLst/>
                <a:uLnTx/>
                <a:uFillTx/>
                <a:latin typeface="Times New Roman" pitchFamily="18" charset="0"/>
                <a:ea typeface="+mn-ea"/>
                <a:cs typeface="+mn-cs"/>
              </a:rPr>
            </a:br>
            <a:r>
              <a:rPr kumimoji="0" lang="en-US" sz="1200" b="0" i="0" u="none" strike="noStrike" kern="1200" cap="none" spc="0" normalizeH="0" baseline="0" noProof="0" dirty="0" smtClean="0">
                <a:ln>
                  <a:noFill/>
                </a:ln>
                <a:solidFill>
                  <a:srgbClr val="000000"/>
                </a:solidFill>
                <a:effectLst/>
                <a:uLnTx/>
                <a:uFillTx/>
                <a:latin typeface="Times New Roman" pitchFamily="18" charset="0"/>
                <a:ea typeface="+mn-ea"/>
                <a:cs typeface="+mn-cs"/>
              </a:rPr>
              <a:t>(2) The risk cannot occupy more than 15,000 square feet in total area, and </a:t>
            </a:r>
            <a:br>
              <a:rPr kumimoji="0" lang="en-US" sz="1200" b="0" i="0" u="none" strike="noStrike" kern="1200" cap="none" spc="0" normalizeH="0" baseline="0" noProof="0" dirty="0" smtClean="0">
                <a:ln>
                  <a:noFill/>
                </a:ln>
                <a:solidFill>
                  <a:srgbClr val="000000"/>
                </a:solidFill>
                <a:effectLst/>
                <a:uLnTx/>
                <a:uFillTx/>
                <a:latin typeface="Times New Roman" pitchFamily="18" charset="0"/>
                <a:ea typeface="+mn-ea"/>
                <a:cs typeface="+mn-cs"/>
              </a:rPr>
            </a:br>
            <a:r>
              <a:rPr kumimoji="0" lang="en-US" sz="1200" b="0" i="0" u="none" strike="noStrike" kern="1200" cap="none" spc="0" normalizeH="0" baseline="0" noProof="0" dirty="0" smtClean="0">
                <a:ln>
                  <a:noFill/>
                </a:ln>
                <a:solidFill>
                  <a:srgbClr val="000000"/>
                </a:solidFill>
                <a:effectLst/>
                <a:uLnTx/>
                <a:uFillTx/>
                <a:latin typeface="Times New Roman" pitchFamily="18" charset="0"/>
                <a:ea typeface="+mn-ea"/>
                <a:cs typeface="+mn-cs"/>
              </a:rPr>
              <a:t>(3) The annual gross sales per location do not exceed $3 million. </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6</a:t>
            </a:fld>
            <a:endParaRPr lang="en-US"/>
          </a:p>
        </p:txBody>
      </p:sp>
    </p:spTree>
    <p:extLst>
      <p:ext uri="{BB962C8B-B14F-4D97-AF65-F5344CB8AC3E}">
        <p14:creationId xmlns:p14="http://schemas.microsoft.com/office/powerpoint/2010/main" val="106965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7</a:t>
            </a:fld>
            <a:endParaRPr lang="en-US"/>
          </a:p>
        </p:txBody>
      </p:sp>
    </p:spTree>
    <p:extLst>
      <p:ext uri="{BB962C8B-B14F-4D97-AF65-F5344CB8AC3E}">
        <p14:creationId xmlns:p14="http://schemas.microsoft.com/office/powerpoint/2010/main" val="99603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b="1" dirty="0" smtClean="0"/>
              <a:t>Building</a:t>
            </a:r>
            <a:r>
              <a:rPr lang="en-US" sz="1000" dirty="0" smtClean="0"/>
              <a:t> – Includes coverage for the building, completed additions, permanently installed fixtures, machinery, and equipment, outdoor fixtures and furniture, floor coverings, and other similar property typically used to maintain the building.</a:t>
            </a:r>
          </a:p>
          <a:p>
            <a:endParaRPr lang="en-US" sz="1000" b="1" dirty="0" smtClean="0"/>
          </a:p>
          <a:p>
            <a:r>
              <a:rPr lang="en-US" sz="1000" b="1" dirty="0" smtClean="0"/>
              <a:t>Business Personal Property</a:t>
            </a:r>
            <a:r>
              <a:rPr lang="en-US" sz="1000" dirty="0" smtClean="0"/>
              <a:t> – Covers business personal property (as defined in the policy) in or on the building or in the open within 100 feet of the described premises.</a:t>
            </a:r>
            <a:br>
              <a:rPr lang="en-US" sz="1000" dirty="0" smtClean="0"/>
            </a:br>
            <a:endParaRPr lang="en-US" sz="1000" b="1" dirty="0" smtClean="0"/>
          </a:p>
          <a:p>
            <a:r>
              <a:rPr lang="en-US" sz="1000" b="1" dirty="0" smtClean="0"/>
              <a:t>Personal Property of Others</a:t>
            </a:r>
            <a:r>
              <a:rPr lang="en-US" sz="1000" dirty="0" smtClean="0"/>
              <a:t> – Covers personal property of others in the care, custody, and control of the insured within the described premises or within 100 feet of the described premises.</a:t>
            </a:r>
          </a:p>
          <a:p>
            <a:endParaRPr lang="en-US" sz="1000" b="1" dirty="0" smtClean="0"/>
          </a:p>
          <a:p>
            <a:r>
              <a:rPr lang="en-US" sz="1000" b="1" dirty="0" smtClean="0"/>
              <a:t>Business Liability</a:t>
            </a:r>
            <a:r>
              <a:rPr lang="en-US" sz="1000" dirty="0" smtClean="0"/>
              <a:t> – Includes coverage for bodily injury, property damage, personal injury and/or advertising injury. Coverage applies only to those premises and operations designated in the Declarations.</a:t>
            </a:r>
          </a:p>
          <a:p>
            <a:endParaRPr lang="en-US" sz="1000" b="1" dirty="0" smtClean="0"/>
          </a:p>
          <a:p>
            <a:r>
              <a:rPr lang="en-US" sz="1000" b="1" dirty="0" smtClean="0"/>
              <a:t>Medical Expenses </a:t>
            </a:r>
            <a:r>
              <a:rPr lang="en-US" sz="1000" dirty="0" smtClean="0"/>
              <a:t>– Covers medical expenses for bodily injury caused by a covered loss</a:t>
            </a:r>
          </a:p>
          <a:p>
            <a:endParaRPr lang="en-US" sz="1000" dirty="0" smtClean="0"/>
          </a:p>
          <a:p>
            <a:r>
              <a:rPr lang="en-US" sz="1000" b="1" dirty="0" smtClean="0"/>
              <a:t>Business Income</a:t>
            </a:r>
            <a:r>
              <a:rPr lang="en-US" sz="1000" dirty="0" smtClean="0"/>
              <a:t> – Coverage for the actual loss of business income sustained due to the necessary suspension of operations caused by a covered property loss during the period of restoration, as defined by the policy. </a:t>
            </a:r>
            <a:br>
              <a:rPr lang="en-US" sz="1000" dirty="0" smtClean="0"/>
            </a:br>
            <a:endParaRPr lang="en-US" sz="1000" dirty="0" smtClean="0"/>
          </a:p>
        </p:txBody>
      </p:sp>
      <p:sp>
        <p:nvSpPr>
          <p:cNvPr id="4" name="Slide Number Placeholder 3"/>
          <p:cNvSpPr>
            <a:spLocks noGrp="1"/>
          </p:cNvSpPr>
          <p:nvPr>
            <p:ph type="sldNum" sz="quarter" idx="10"/>
          </p:nvPr>
        </p:nvSpPr>
        <p:spPr/>
        <p:txBody>
          <a:bodyPr/>
          <a:lstStyle/>
          <a:p>
            <a:fld id="{7B4AD5B4-0444-431F-910B-BA532084FB7B}" type="slidenum">
              <a:rPr lang="en-US" smtClean="0"/>
              <a:pPr/>
              <a:t>8</a:t>
            </a:fld>
            <a:endParaRPr lang="en-US"/>
          </a:p>
        </p:txBody>
      </p:sp>
    </p:spTree>
    <p:extLst>
      <p:ext uri="{BB962C8B-B14F-4D97-AF65-F5344CB8AC3E}">
        <p14:creationId xmlns:p14="http://schemas.microsoft.com/office/powerpoint/2010/main" val="850666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dirty="0" smtClean="0"/>
              <a:t>BOP typically provides the following two major types of coverage for your business:</a:t>
            </a:r>
          </a:p>
          <a:p>
            <a:endParaRPr lang="en-US" sz="1000" dirty="0" smtClean="0"/>
          </a:p>
          <a:p>
            <a:r>
              <a:rPr lang="en-US" sz="1000" dirty="0" smtClean="0"/>
              <a:t>These are the names</a:t>
            </a:r>
            <a:r>
              <a:rPr lang="en-US" sz="1000" baseline="0" dirty="0" smtClean="0"/>
              <a:t> given by ISOS / ASIS</a:t>
            </a:r>
          </a:p>
          <a:p>
            <a:endParaRPr lang="en-US" sz="1000" dirty="0" smtClean="0"/>
          </a:p>
          <a:p>
            <a:r>
              <a:rPr lang="en-US" sz="1000" b="1" dirty="0" smtClean="0"/>
              <a:t>Coverage A (buildings): </a:t>
            </a:r>
            <a:r>
              <a:rPr lang="en-US" sz="1000" dirty="0" smtClean="0"/>
              <a:t>This coverage includes the buildings and structures described in the declarations section. Among other things, this coverage also protects completed additions, indoor and outdoor fixtures, personal property furnished by you as landlord, and personal property used for service or maintenance of the buildings or premises. It may also include additions under construction and costs associated with building alterations or repairs. You don't need this coverage if you're a tenant in someone else's building.</a:t>
            </a:r>
          </a:p>
          <a:p>
            <a:endParaRPr lang="en-US" sz="1000" dirty="0" smtClean="0"/>
          </a:p>
          <a:p>
            <a:r>
              <a:rPr lang="en-US" sz="1000" b="1" dirty="0" smtClean="0"/>
              <a:t>Coverage B</a:t>
            </a:r>
            <a:r>
              <a:rPr lang="en-US" sz="1000" dirty="0" smtClean="0"/>
              <a:t> (business personal property): This coverage includes property owned by you and used in your business operations. Your property is generally covered if it's in or on the described buildings, or within 100 feet of your business premises while in a vehicle or out in the open. You're also covered for the property of others while it's in your care, custody, or control (up to your legal liability, plus the costs of your labor, materials, and services).</a:t>
            </a:r>
          </a:p>
          <a:p>
            <a:endParaRPr lang="en-US" sz="1000" dirty="0" smtClean="0"/>
          </a:p>
          <a:p>
            <a:r>
              <a:rPr lang="en-US" sz="1000" dirty="0" smtClean="0"/>
              <a:t>A standard deductible is often $250 per loss, though higher amounts may be available and will usually lower your premium.</a:t>
            </a:r>
          </a:p>
        </p:txBody>
      </p:sp>
      <p:sp>
        <p:nvSpPr>
          <p:cNvPr id="4" name="Slide Number Placeholder 3"/>
          <p:cNvSpPr>
            <a:spLocks noGrp="1"/>
          </p:cNvSpPr>
          <p:nvPr>
            <p:ph type="sldNum" sz="quarter" idx="10"/>
          </p:nvPr>
        </p:nvSpPr>
        <p:spPr/>
        <p:txBody>
          <a:bodyPr/>
          <a:lstStyle/>
          <a:p>
            <a:fld id="{7B4AD5B4-0444-431F-910B-BA532084FB7B}" type="slidenum">
              <a:rPr lang="en-US" smtClean="0"/>
              <a:pPr/>
              <a:t>9</a:t>
            </a:fld>
            <a:endParaRPr lang="en-US"/>
          </a:p>
        </p:txBody>
      </p:sp>
    </p:spTree>
    <p:extLst>
      <p:ext uri="{BB962C8B-B14F-4D97-AF65-F5344CB8AC3E}">
        <p14:creationId xmlns:p14="http://schemas.microsoft.com/office/powerpoint/2010/main" val="4159068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dirty="0" smtClean="0"/>
              <a:t>General liability is also covered within a BOP up to $1,000,000 per occurrence.  Some insurers will allow you to lower your occurrence level coverage to $500,000 or increase it to $2,000,000.  They will also give you an aggregate level of coverage that may increase your total coverage for the year to include multiple occurrences.  Often the aggregate limit is twice the maximum occurrence limit.  A simple way to understand the difference between aggregate limits and occurrence limits is that for each claim you are limited to your occurrence limit, however, you can have as many claims during your policy as your aggregate can handle.</a:t>
            </a:r>
          </a:p>
          <a:p>
            <a:endParaRPr lang="en-US" sz="1000" dirty="0" smtClean="0"/>
          </a:p>
          <a:p>
            <a:r>
              <a:rPr lang="en-US" sz="1000" dirty="0" smtClean="0"/>
              <a:t>Keep in mind that your aggregate limit is your total amount of insurance for the policy period. You will want this number to be a realistic reflection of your company's exposure to risk.</a:t>
            </a:r>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10</a:t>
            </a:fld>
            <a:endParaRPr lang="en-US"/>
          </a:p>
        </p:txBody>
      </p:sp>
    </p:spTree>
    <p:extLst>
      <p:ext uri="{BB962C8B-B14F-4D97-AF65-F5344CB8AC3E}">
        <p14:creationId xmlns:p14="http://schemas.microsoft.com/office/powerpoint/2010/main" val="3534236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smtClean="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11</a:t>
            </a:fld>
            <a:endParaRPr lang="en-US"/>
          </a:p>
        </p:txBody>
      </p:sp>
    </p:spTree>
    <p:extLst>
      <p:ext uri="{BB962C8B-B14F-4D97-AF65-F5344CB8AC3E}">
        <p14:creationId xmlns:p14="http://schemas.microsoft.com/office/powerpoint/2010/main" val="355212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000" dirty="0" smtClean="0"/>
              <a:t>Various class of operations and Class codes are used for premium calculation. This can be seen from the above list.</a:t>
            </a:r>
          </a:p>
          <a:p>
            <a:r>
              <a:rPr lang="en-US" sz="1000" dirty="0" smtClean="0"/>
              <a:t>The</a:t>
            </a:r>
            <a:r>
              <a:rPr lang="en-US" sz="1000" baseline="0" dirty="0" smtClean="0"/>
              <a:t> risk is classified in various groups as listed above, these risk are then subject to various rates which determine the premium. </a:t>
            </a:r>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12</a:t>
            </a:fld>
            <a:endParaRPr lang="en-US"/>
          </a:p>
        </p:txBody>
      </p:sp>
    </p:spTree>
    <p:extLst>
      <p:ext uri="{BB962C8B-B14F-4D97-AF65-F5344CB8AC3E}">
        <p14:creationId xmlns:p14="http://schemas.microsoft.com/office/powerpoint/2010/main" val="23729578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13</a:t>
            </a:fld>
            <a:endParaRPr lang="en-US"/>
          </a:p>
        </p:txBody>
      </p:sp>
    </p:spTree>
    <p:extLst>
      <p:ext uri="{BB962C8B-B14F-4D97-AF65-F5344CB8AC3E}">
        <p14:creationId xmlns:p14="http://schemas.microsoft.com/office/powerpoint/2010/main" val="2862912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sz="1000" b="1" dirty="0" smtClean="0"/>
              <a:t>Replacement cost" </a:t>
            </a:r>
            <a:r>
              <a:rPr lang="en-US" sz="1000" dirty="0" smtClean="0"/>
              <a:t>is defined or explained in the policy. Simply stated, it means the cost to replace the property on the same premises with other property of comparable material and quality used for the same purpose. This applies unless the limit of insurance or the cost actually spent to repair or replace the damaged property is less. </a:t>
            </a:r>
          </a:p>
          <a:p>
            <a:pPr>
              <a:defRPr/>
            </a:pPr>
            <a:endParaRPr lang="en-US" sz="1000" dirty="0" smtClean="0"/>
          </a:p>
          <a:p>
            <a:pPr>
              <a:defRPr/>
            </a:pPr>
            <a:r>
              <a:rPr lang="en-US" sz="1000" dirty="0" smtClean="0"/>
              <a:t>The only difference between replacement cost and actual cash value is a deduction for depreciation. However, both are based on the cost today to replace the damaged property with new property.</a:t>
            </a:r>
          </a:p>
          <a:p>
            <a:pPr>
              <a:defRPr/>
            </a:pPr>
            <a:endParaRPr lang="en-US" sz="1000" dirty="0" smtClean="0"/>
          </a:p>
          <a:p>
            <a:pPr>
              <a:defRPr/>
            </a:pPr>
            <a:r>
              <a:rPr lang="en-US" sz="1000" b="1" dirty="0" smtClean="0"/>
              <a:t>Functional value - </a:t>
            </a:r>
            <a:r>
              <a:rPr lang="en-US" sz="1000" dirty="0" smtClean="0"/>
              <a:t>A property insurance provision changing the valuation basis otherwise applicable (actual cash value or replacement cost value) to valuation at the cost to replace the damaged or destroyed property with property that serves the same function. Used when replacement of damaged property with substantially identical property is either impossible (perhaps due to technological change) or unnecessary.</a:t>
            </a:r>
            <a:br>
              <a:rPr lang="en-US" sz="1000" dirty="0" smtClean="0"/>
            </a:br>
            <a:endParaRPr lang="en-US" sz="1000" dirty="0" smtClean="0"/>
          </a:p>
          <a:p>
            <a:pPr>
              <a:defRPr/>
            </a:pPr>
            <a:r>
              <a:rPr lang="en-US" sz="1000" b="1" dirty="0" smtClean="0"/>
              <a:t>“Actual cash value" </a:t>
            </a:r>
            <a:r>
              <a:rPr lang="en-US" sz="1000" dirty="0" smtClean="0"/>
              <a:t>is not as easily defined. Some courts have interpreted the term to mean "fair market value," which is the amount a buyer would pay a seller if neither were under undue time constraints. Most courts, however, have upheld the insurance industry's traditional definition: the cost to replace with new property of like kind and quality, less depreciation</a:t>
            </a:r>
          </a:p>
          <a:p>
            <a:pPr>
              <a:defRPr/>
            </a:pPr>
            <a:endParaRPr lang="en-US" sz="1000" dirty="0" smtClean="0"/>
          </a:p>
          <a:p>
            <a:pPr>
              <a:defRPr/>
            </a:pPr>
            <a:r>
              <a:rPr lang="en-US" sz="1000" b="1" dirty="0" smtClean="0"/>
              <a:t>Extended Value Replacement Cost</a:t>
            </a:r>
          </a:p>
          <a:p>
            <a:pPr>
              <a:defRPr/>
            </a:pPr>
            <a:endParaRPr lang="en-US" sz="1000" dirty="0" smtClean="0"/>
          </a:p>
          <a:p>
            <a:pPr>
              <a:defRPr/>
            </a:pPr>
            <a:r>
              <a:rPr lang="en-US" sz="1000" dirty="0" smtClean="0"/>
              <a:t>Pays a certain amount above the policy limit to replace a damaged home, generally 120 percent or 125 percent. Similar to a guaranteed replacement cost policy, which has no percentage limits. Most homeowner policy limits track inflation in building costs. Guaranteed and extended replacement cost policies are designed to protect the policyholder after a major disaster when the high demand for building contractors and materials can push up the normal cost of reconstruction</a:t>
            </a:r>
            <a:r>
              <a:rPr lang="en-US" sz="1000" smtClean="0"/>
              <a:t>. </a:t>
            </a:r>
            <a:endParaRPr lang="en-US" sz="1000" dirty="0" smtClean="0"/>
          </a:p>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14</a:t>
            </a:fld>
            <a:endParaRPr lang="en-US"/>
          </a:p>
        </p:txBody>
      </p:sp>
    </p:spTree>
    <p:extLst>
      <p:ext uri="{BB962C8B-B14F-4D97-AF65-F5344CB8AC3E}">
        <p14:creationId xmlns:p14="http://schemas.microsoft.com/office/powerpoint/2010/main" val="1467589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000" dirty="0"/>
          </a:p>
        </p:txBody>
      </p:sp>
      <p:sp>
        <p:nvSpPr>
          <p:cNvPr id="4" name="Slide Number Placeholder 3"/>
          <p:cNvSpPr>
            <a:spLocks noGrp="1"/>
          </p:cNvSpPr>
          <p:nvPr>
            <p:ph type="sldNum" sz="quarter" idx="10"/>
          </p:nvPr>
        </p:nvSpPr>
        <p:spPr/>
        <p:txBody>
          <a:bodyPr/>
          <a:lstStyle/>
          <a:p>
            <a:fld id="{7B4AD5B4-0444-431F-910B-BA532084FB7B}" type="slidenum">
              <a:rPr lang="en-US" smtClean="0"/>
              <a:pPr/>
              <a:t>15</a:t>
            </a:fld>
            <a:endParaRPr lang="en-US"/>
          </a:p>
        </p:txBody>
      </p:sp>
    </p:spTree>
    <p:extLst>
      <p:ext uri="{BB962C8B-B14F-4D97-AF65-F5344CB8AC3E}">
        <p14:creationId xmlns:p14="http://schemas.microsoft.com/office/powerpoint/2010/main" val="32176583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0"/>
          <p:cNvSpPr>
            <a:spLocks noChangeArrowheads="1"/>
          </p:cNvSpPr>
          <p:nvPr userDrawn="1"/>
        </p:nvSpPr>
        <p:spPr bwMode="auto">
          <a:xfrm>
            <a:off x="0" y="2546309"/>
            <a:ext cx="533400" cy="2484438"/>
          </a:xfrm>
          <a:prstGeom prst="rect">
            <a:avLst/>
          </a:prstGeom>
          <a:solidFill>
            <a:srgbClr val="969696"/>
          </a:solidFill>
          <a:ln w="9525">
            <a:noFill/>
            <a:miter lim="800000"/>
            <a:headEnd/>
            <a:tailEnd/>
          </a:ln>
        </p:spPr>
        <p:txBody>
          <a:bodyPr wrap="none" anchor="ctr"/>
          <a:lstStyle/>
          <a:p>
            <a:pPr>
              <a:defRPr/>
            </a:pPr>
            <a:endParaRPr lang="en-US"/>
          </a:p>
        </p:txBody>
      </p:sp>
      <p:sp>
        <p:nvSpPr>
          <p:cNvPr id="9" name="Rectangle 62"/>
          <p:cNvSpPr>
            <a:spLocks noChangeArrowheads="1"/>
          </p:cNvSpPr>
          <p:nvPr userDrawn="1"/>
        </p:nvSpPr>
        <p:spPr bwMode="auto">
          <a:xfrm>
            <a:off x="0" y="1754147"/>
            <a:ext cx="7391400" cy="761999"/>
          </a:xfrm>
          <a:prstGeom prst="rect">
            <a:avLst/>
          </a:prstGeom>
          <a:solidFill>
            <a:srgbClr val="5F5F5F"/>
          </a:solidFill>
          <a:ln w="9525">
            <a:noFill/>
            <a:miter lim="800000"/>
            <a:headEnd/>
            <a:tailEnd/>
          </a:ln>
        </p:spPr>
        <p:txBody>
          <a:bodyPr wrap="none" anchor="ctr"/>
          <a:lstStyle/>
          <a:p>
            <a:pPr>
              <a:defRPr/>
            </a:pPr>
            <a:endParaRPr lang="en-US"/>
          </a:p>
        </p:txBody>
      </p:sp>
      <p:sp>
        <p:nvSpPr>
          <p:cNvPr id="10" name="Rectangle 63"/>
          <p:cNvSpPr>
            <a:spLocks noChangeArrowheads="1"/>
          </p:cNvSpPr>
          <p:nvPr userDrawn="1"/>
        </p:nvSpPr>
        <p:spPr bwMode="auto">
          <a:xfrm>
            <a:off x="6400800" y="1754146"/>
            <a:ext cx="990600" cy="763546"/>
          </a:xfrm>
          <a:prstGeom prst="rect">
            <a:avLst/>
          </a:prstGeom>
          <a:solidFill>
            <a:srgbClr val="CC0000"/>
          </a:solidFill>
          <a:ln w="9525">
            <a:noFill/>
            <a:miter lim="800000"/>
            <a:headEnd/>
            <a:tailEnd/>
          </a:ln>
        </p:spPr>
        <p:txBody>
          <a:bodyPr wrap="none" anchor="ctr"/>
          <a:lstStyle/>
          <a:p>
            <a:pPr>
              <a:defRPr/>
            </a:pPr>
            <a:endParaRPr lang="en-US"/>
          </a:p>
        </p:txBody>
      </p:sp>
      <p:sp>
        <p:nvSpPr>
          <p:cNvPr id="11" name="Rectangle 64"/>
          <p:cNvSpPr>
            <a:spLocks noChangeArrowheads="1"/>
          </p:cNvSpPr>
          <p:nvPr userDrawn="1"/>
        </p:nvSpPr>
        <p:spPr bwMode="auto">
          <a:xfrm>
            <a:off x="8763000" y="1754146"/>
            <a:ext cx="381000" cy="763546"/>
          </a:xfrm>
          <a:prstGeom prst="rect">
            <a:avLst/>
          </a:prstGeom>
          <a:solidFill>
            <a:srgbClr val="969696"/>
          </a:solidFill>
          <a:ln w="9525">
            <a:noFill/>
            <a:miter lim="800000"/>
            <a:headEnd/>
            <a:tailEnd/>
          </a:ln>
        </p:spPr>
        <p:txBody>
          <a:bodyPr wrap="none" anchor="ctr"/>
          <a:lstStyle/>
          <a:p>
            <a:pPr>
              <a:defRPr/>
            </a:pPr>
            <a:endParaRPr lang="en-US"/>
          </a:p>
        </p:txBody>
      </p:sp>
      <p:sp>
        <p:nvSpPr>
          <p:cNvPr id="12" name="Rectangle 65"/>
          <p:cNvSpPr>
            <a:spLocks noChangeArrowheads="1"/>
          </p:cNvSpPr>
          <p:nvPr userDrawn="1"/>
        </p:nvSpPr>
        <p:spPr bwMode="auto">
          <a:xfrm>
            <a:off x="6781800" y="1754146"/>
            <a:ext cx="304800" cy="763546"/>
          </a:xfrm>
          <a:prstGeom prst="rect">
            <a:avLst/>
          </a:prstGeom>
          <a:solidFill>
            <a:srgbClr val="A50021"/>
          </a:solidFill>
          <a:ln w="9525">
            <a:noFill/>
            <a:miter lim="800000"/>
            <a:headEnd/>
            <a:tailEnd/>
          </a:ln>
        </p:spPr>
        <p:txBody>
          <a:bodyPr wrap="none" anchor="ctr"/>
          <a:lstStyle/>
          <a:p>
            <a:pPr>
              <a:defRPr/>
            </a:pPr>
            <a:endParaRPr lang="en-US"/>
          </a:p>
        </p:txBody>
      </p:sp>
      <p:sp>
        <p:nvSpPr>
          <p:cNvPr id="21" name="Text Box 75"/>
          <p:cNvSpPr txBox="1">
            <a:spLocks noChangeArrowheads="1"/>
          </p:cNvSpPr>
          <p:nvPr userDrawn="1"/>
        </p:nvSpPr>
        <p:spPr bwMode="auto">
          <a:xfrm>
            <a:off x="3200400" y="2774908"/>
            <a:ext cx="5943600" cy="381000"/>
          </a:xfrm>
          <a:prstGeom prst="rect">
            <a:avLst/>
          </a:prstGeom>
          <a:noFill/>
          <a:ln w="9525" algn="in">
            <a:noFill/>
            <a:miter lim="800000"/>
            <a:headEnd/>
            <a:tailEnd/>
          </a:ln>
        </p:spPr>
        <p:txBody>
          <a:bodyPr lIns="36576" tIns="36576" rIns="36576" bIns="36576"/>
          <a:lstStyle/>
          <a:p>
            <a:pPr>
              <a:defRPr/>
            </a:pPr>
            <a:r>
              <a:rPr lang="en-US" b="1" u="none" dirty="0">
                <a:solidFill>
                  <a:schemeClr val="bg1"/>
                </a:solidFill>
              </a:rPr>
              <a:t>POWERED BY VALUEMOMENTUM’S SMART SOLUTIONS FOR:</a:t>
            </a:r>
            <a:endParaRPr lang="en-US" dirty="0">
              <a:solidFill>
                <a:schemeClr val="bg1"/>
              </a:solidFill>
            </a:endParaRPr>
          </a:p>
        </p:txBody>
      </p:sp>
      <p:sp>
        <p:nvSpPr>
          <p:cNvPr id="23" name="Rectangle 66"/>
          <p:cNvSpPr>
            <a:spLocks noChangeArrowheads="1"/>
          </p:cNvSpPr>
          <p:nvPr userDrawn="1"/>
        </p:nvSpPr>
        <p:spPr bwMode="auto">
          <a:xfrm>
            <a:off x="0" y="1830346"/>
            <a:ext cx="6400800" cy="523220"/>
          </a:xfrm>
          <a:prstGeom prst="rect">
            <a:avLst/>
          </a:prstGeom>
          <a:noFill/>
          <a:ln w="12700">
            <a:noFill/>
            <a:miter lim="800000"/>
            <a:headEnd/>
            <a:tailEnd/>
          </a:ln>
        </p:spPr>
        <p:txBody>
          <a:bodyPr wrap="square" anchor="ctr">
            <a:spAutoFit/>
          </a:bodyPr>
          <a:lstStyle/>
          <a:p>
            <a:pPr algn="ctr" eaLnBrk="0" hangingPunct="0">
              <a:buSzPct val="120000"/>
              <a:tabLst>
                <a:tab pos="1828800" algn="l"/>
              </a:tabLst>
              <a:defRPr/>
            </a:pPr>
            <a:r>
              <a:rPr lang="en-US" sz="2800" b="0" u="none" kern="1200" dirty="0" smtClean="0">
                <a:solidFill>
                  <a:schemeClr val="bg1"/>
                </a:solidFill>
                <a:latin typeface="+mn-lt"/>
                <a:ea typeface="+mn-ea"/>
                <a:cs typeface="+mn-cs"/>
              </a:rPr>
              <a:t>Business Owners Policy Basics</a:t>
            </a:r>
          </a:p>
        </p:txBody>
      </p:sp>
      <p:pic>
        <p:nvPicPr>
          <p:cNvPr id="24" name="Picture 3"/>
          <p:cNvPicPr>
            <a:picLocks noChangeAspect="1" noChangeArrowheads="1"/>
          </p:cNvPicPr>
          <p:nvPr userDrawn="1"/>
        </p:nvPicPr>
        <p:blipFill>
          <a:blip r:embed="rId2" cstate="print"/>
          <a:srcRect/>
          <a:stretch>
            <a:fillRect/>
          </a:stretch>
        </p:blipFill>
        <p:spPr bwMode="auto">
          <a:xfrm>
            <a:off x="7467600" y="1754146"/>
            <a:ext cx="1150477" cy="783124"/>
          </a:xfrm>
          <a:prstGeom prst="rect">
            <a:avLst/>
          </a:prstGeom>
          <a:noFill/>
          <a:ln w="6350" algn="ctr">
            <a:noFill/>
            <a:miter lim="800000"/>
            <a:headEnd/>
            <a:tailEnd/>
          </a:ln>
        </p:spPr>
      </p:pic>
      <p:sp>
        <p:nvSpPr>
          <p:cNvPr id="13" name="Rectangle 67"/>
          <p:cNvSpPr>
            <a:spLocks noChangeArrowheads="1"/>
          </p:cNvSpPr>
          <p:nvPr userDrawn="1"/>
        </p:nvSpPr>
        <p:spPr bwMode="auto">
          <a:xfrm>
            <a:off x="0" y="2516146"/>
            <a:ext cx="9144000" cy="76200"/>
          </a:xfrm>
          <a:prstGeom prst="rect">
            <a:avLst/>
          </a:prstGeom>
          <a:solidFill>
            <a:srgbClr val="000000"/>
          </a:solidFill>
          <a:ln w="9525">
            <a:noFill/>
            <a:miter lim="800000"/>
            <a:headEnd/>
            <a:tailEnd/>
          </a:ln>
        </p:spPr>
        <p:txBody>
          <a:bodyPr wrap="none" anchor="ctr"/>
          <a:lstStyle/>
          <a:p>
            <a:pPr>
              <a:defRPr/>
            </a:pPr>
            <a:endParaRPr lang="en-US"/>
          </a:p>
        </p:txBody>
      </p:sp>
      <p:sp>
        <p:nvSpPr>
          <p:cNvPr id="25" name="Rectangle 63"/>
          <p:cNvSpPr>
            <a:spLocks noChangeArrowheads="1"/>
          </p:cNvSpPr>
          <p:nvPr userDrawn="1"/>
        </p:nvSpPr>
        <p:spPr bwMode="auto">
          <a:xfrm>
            <a:off x="8763000" y="1752600"/>
            <a:ext cx="76200" cy="763546"/>
          </a:xfrm>
          <a:prstGeom prst="rect">
            <a:avLst/>
          </a:prstGeom>
          <a:solidFill>
            <a:srgbClr val="CC0000"/>
          </a:solidFill>
          <a:ln w="9525">
            <a:noFill/>
            <a:miter lim="800000"/>
            <a:headEnd/>
            <a:tailEnd/>
          </a:ln>
        </p:spPr>
        <p:txBody>
          <a:bodyPr wrap="none" anchor="ctr"/>
          <a:lstStyle/>
          <a:p>
            <a:pPr>
              <a:defRPr/>
            </a:pPr>
            <a:endParaRPr lang="en-US"/>
          </a:p>
        </p:txBody>
      </p:sp>
      <p:sp>
        <p:nvSpPr>
          <p:cNvPr id="22" name="Rectangle 45"/>
          <p:cNvSpPr>
            <a:spLocks noChangeArrowheads="1"/>
          </p:cNvSpPr>
          <p:nvPr userDrawn="1"/>
        </p:nvSpPr>
        <p:spPr bwMode="auto">
          <a:xfrm>
            <a:off x="2895601" y="2592347"/>
            <a:ext cx="6248400" cy="2438400"/>
          </a:xfrm>
          <a:prstGeom prst="rect">
            <a:avLst/>
          </a:prstGeom>
          <a:solidFill>
            <a:srgbClr val="5F5F5F"/>
          </a:solidFill>
          <a:ln w="9525">
            <a:noFill/>
            <a:miter lim="800000"/>
            <a:headEnd/>
            <a:tailEnd/>
          </a:ln>
          <a:effectLst/>
        </p:spPr>
        <p:txBody>
          <a:bodyPr wrap="none" anchor="ctr"/>
          <a:lstStyle/>
          <a:p>
            <a:pPr>
              <a:defRPr/>
            </a:pPr>
            <a:endParaRPr lang="en-US"/>
          </a:p>
        </p:txBody>
      </p:sp>
      <p:sp>
        <p:nvSpPr>
          <p:cNvPr id="30" name="Rectangle 66"/>
          <p:cNvSpPr>
            <a:spLocks noChangeArrowheads="1"/>
          </p:cNvSpPr>
          <p:nvPr userDrawn="1"/>
        </p:nvSpPr>
        <p:spPr bwMode="auto">
          <a:xfrm>
            <a:off x="152400" y="304800"/>
            <a:ext cx="5867400" cy="646331"/>
          </a:xfrm>
          <a:prstGeom prst="rect">
            <a:avLst/>
          </a:prstGeom>
          <a:noFill/>
          <a:ln w="12700">
            <a:noFill/>
            <a:miter lim="800000"/>
            <a:headEnd/>
            <a:tailEnd/>
          </a:ln>
        </p:spPr>
        <p:txBody>
          <a:bodyPr wrap="square" anchor="ctr">
            <a:spAutoFit/>
          </a:bodyPr>
          <a:lstStyle/>
          <a:p>
            <a:pPr algn="ctr" eaLnBrk="0" hangingPunct="0">
              <a:buSzPct val="120000"/>
              <a:tabLst>
                <a:tab pos="1828800" algn="l"/>
              </a:tabLst>
              <a:defRPr/>
            </a:pPr>
            <a:r>
              <a:rPr lang="en-US" sz="3600" u="none" dirty="0" smtClean="0">
                <a:solidFill>
                  <a:schemeClr val="bg1"/>
                </a:solidFill>
              </a:rPr>
              <a:t>Corporate Overview</a:t>
            </a:r>
            <a:endParaRPr lang="en-US" sz="3600" u="none" dirty="0">
              <a:solidFill>
                <a:schemeClr val="bg1"/>
              </a:solidFill>
            </a:endParaRPr>
          </a:p>
        </p:txBody>
      </p:sp>
      <p:sp>
        <p:nvSpPr>
          <p:cNvPr id="34" name="Text Box 20"/>
          <p:cNvSpPr txBox="1">
            <a:spLocks noChangeArrowheads="1"/>
          </p:cNvSpPr>
          <p:nvPr userDrawn="1"/>
        </p:nvSpPr>
        <p:spPr bwMode="auto">
          <a:xfrm>
            <a:off x="3702876" y="3990975"/>
            <a:ext cx="1257300" cy="228600"/>
          </a:xfrm>
          <a:prstGeom prst="rect">
            <a:avLst/>
          </a:prstGeom>
          <a:noFill/>
          <a:ln w="9525" algn="in">
            <a:noFill/>
            <a:miter lim="800000"/>
            <a:headEnd/>
            <a:tailEnd/>
          </a:ln>
        </p:spPr>
        <p:txBody>
          <a:bodyPr lIns="36576" tIns="36576" rIns="36576" bIns="36576"/>
          <a:lstStyle/>
          <a:p>
            <a:r>
              <a:rPr lang="en-US" b="1">
                <a:solidFill>
                  <a:schemeClr val="bg1"/>
                </a:solidFill>
                <a:latin typeface="Calibri" pitchFamily="34" charset="0"/>
                <a:ea typeface="Calibri" pitchFamily="34" charset="0"/>
                <a:cs typeface="Calibri" pitchFamily="34" charset="0"/>
              </a:rPr>
              <a:t>EXPERIENCE</a:t>
            </a:r>
            <a:endParaRPr lang="en-US" u="sng">
              <a:solidFill>
                <a:schemeClr val="bg1"/>
              </a:solidFill>
              <a:latin typeface="Calibri" pitchFamily="34" charset="0"/>
              <a:ea typeface="Calibri" pitchFamily="34" charset="0"/>
              <a:cs typeface="Calibri" pitchFamily="34" charset="0"/>
            </a:endParaRPr>
          </a:p>
        </p:txBody>
      </p:sp>
      <p:sp>
        <p:nvSpPr>
          <p:cNvPr id="35" name="Text Box 21"/>
          <p:cNvSpPr txBox="1">
            <a:spLocks noChangeArrowheads="1"/>
          </p:cNvSpPr>
          <p:nvPr userDrawn="1"/>
        </p:nvSpPr>
        <p:spPr bwMode="auto">
          <a:xfrm>
            <a:off x="5159375" y="3990975"/>
            <a:ext cx="1393825" cy="228600"/>
          </a:xfrm>
          <a:prstGeom prst="rect">
            <a:avLst/>
          </a:prstGeom>
          <a:noFill/>
          <a:ln w="9525" algn="in">
            <a:noFill/>
            <a:miter lim="800000"/>
            <a:headEnd/>
            <a:tailEnd/>
          </a:ln>
        </p:spPr>
        <p:txBody>
          <a:bodyPr lIns="36576" tIns="36576" rIns="36576" bIns="36576"/>
          <a:lstStyle/>
          <a:p>
            <a:r>
              <a:rPr lang="en-US" b="1" dirty="0">
                <a:solidFill>
                  <a:schemeClr val="bg1"/>
                </a:solidFill>
                <a:latin typeface="Calibri" pitchFamily="34" charset="0"/>
                <a:ea typeface="Calibri" pitchFamily="34" charset="0"/>
                <a:cs typeface="Calibri" pitchFamily="34" charset="0"/>
              </a:rPr>
              <a:t>EXPERTISE</a:t>
            </a:r>
            <a:endParaRPr lang="en-US" u="sng" dirty="0">
              <a:solidFill>
                <a:schemeClr val="bg1"/>
              </a:solidFill>
              <a:latin typeface="Calibri" pitchFamily="34" charset="0"/>
              <a:ea typeface="Calibri" pitchFamily="34" charset="0"/>
              <a:cs typeface="Calibri" pitchFamily="34" charset="0"/>
            </a:endParaRPr>
          </a:p>
        </p:txBody>
      </p:sp>
      <p:sp>
        <p:nvSpPr>
          <p:cNvPr id="36" name="Text Box 22"/>
          <p:cNvSpPr txBox="1">
            <a:spLocks noChangeArrowheads="1"/>
          </p:cNvSpPr>
          <p:nvPr userDrawn="1"/>
        </p:nvSpPr>
        <p:spPr bwMode="auto">
          <a:xfrm>
            <a:off x="7391400" y="3990975"/>
            <a:ext cx="1447800" cy="352425"/>
          </a:xfrm>
          <a:prstGeom prst="rect">
            <a:avLst/>
          </a:prstGeom>
          <a:noFill/>
          <a:ln w="9525" algn="in">
            <a:noFill/>
            <a:miter lim="800000"/>
            <a:headEnd/>
            <a:tailEnd/>
          </a:ln>
        </p:spPr>
        <p:txBody>
          <a:bodyPr lIns="36576" tIns="36576" rIns="36576" bIns="36576"/>
          <a:lstStyle/>
          <a:p>
            <a:r>
              <a:rPr lang="en-US" b="1" dirty="0">
                <a:solidFill>
                  <a:schemeClr val="bg1"/>
                </a:solidFill>
                <a:latin typeface="Calibri" pitchFamily="34" charset="0"/>
                <a:ea typeface="Calibri" pitchFamily="34" charset="0"/>
                <a:cs typeface="Calibri" pitchFamily="34" charset="0"/>
              </a:rPr>
              <a:t>APPROACH</a:t>
            </a:r>
            <a:br>
              <a:rPr lang="en-US" b="1" dirty="0">
                <a:solidFill>
                  <a:schemeClr val="bg1"/>
                </a:solidFill>
                <a:latin typeface="Calibri" pitchFamily="34" charset="0"/>
                <a:ea typeface="Calibri" pitchFamily="34" charset="0"/>
                <a:cs typeface="Calibri" pitchFamily="34" charset="0"/>
              </a:rPr>
            </a:br>
            <a:endParaRPr lang="en-US" u="sng" dirty="0">
              <a:solidFill>
                <a:schemeClr val="bg1"/>
              </a:solidFill>
              <a:latin typeface="Calibri" pitchFamily="34" charset="0"/>
              <a:ea typeface="Calibri" pitchFamily="34" charset="0"/>
              <a:cs typeface="Calibri" pitchFamily="34" charset="0"/>
            </a:endParaRPr>
          </a:p>
        </p:txBody>
      </p:sp>
      <p:sp>
        <p:nvSpPr>
          <p:cNvPr id="37" name="Freeform 23"/>
          <p:cNvSpPr>
            <a:spLocks noChangeAspect="1"/>
          </p:cNvSpPr>
          <p:nvPr userDrawn="1"/>
        </p:nvSpPr>
        <p:spPr bwMode="auto">
          <a:xfrm rot="1628237">
            <a:off x="4002914" y="3654425"/>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14632"/>
          </a:solidFill>
          <a:ln w="9525" algn="ctr">
            <a:solidFill>
              <a:srgbClr val="C34733"/>
            </a:solidFill>
            <a:round/>
            <a:headEnd/>
            <a:tailEnd/>
          </a:ln>
        </p:spPr>
        <p:txBody>
          <a:bodyPr/>
          <a:lstStyle/>
          <a:p>
            <a:endParaRPr lang="en-US"/>
          </a:p>
        </p:txBody>
      </p:sp>
      <p:sp>
        <p:nvSpPr>
          <p:cNvPr id="38" name="Freeform 24"/>
          <p:cNvSpPr>
            <a:spLocks noChangeAspect="1"/>
          </p:cNvSpPr>
          <p:nvPr userDrawn="1"/>
        </p:nvSpPr>
        <p:spPr bwMode="auto">
          <a:xfrm rot="1628237">
            <a:off x="5247514" y="3649663"/>
            <a:ext cx="544512"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14632"/>
          </a:solidFill>
          <a:ln w="9525" algn="ctr">
            <a:solidFill>
              <a:srgbClr val="C34733"/>
            </a:solidFill>
            <a:round/>
            <a:headEnd/>
            <a:tailEnd/>
          </a:ln>
        </p:spPr>
        <p:txBody>
          <a:bodyPr/>
          <a:lstStyle/>
          <a:p>
            <a:endParaRPr lang="en-US"/>
          </a:p>
        </p:txBody>
      </p:sp>
      <p:sp>
        <p:nvSpPr>
          <p:cNvPr id="39" name="Freeform 25"/>
          <p:cNvSpPr>
            <a:spLocks noChangeAspect="1"/>
          </p:cNvSpPr>
          <p:nvPr userDrawn="1"/>
        </p:nvSpPr>
        <p:spPr bwMode="auto">
          <a:xfrm rot="1628237">
            <a:off x="7652576" y="3648075"/>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14632"/>
          </a:solidFill>
          <a:ln w="9525" algn="ctr">
            <a:solidFill>
              <a:srgbClr val="C34733"/>
            </a:solidFill>
            <a:round/>
            <a:headEnd/>
            <a:tailEnd/>
          </a:ln>
        </p:spPr>
        <p:txBody>
          <a:bodyPr/>
          <a:lstStyle/>
          <a:p>
            <a:endParaRPr lang="en-US"/>
          </a:p>
        </p:txBody>
      </p:sp>
      <p:sp>
        <p:nvSpPr>
          <p:cNvPr id="40" name="Text Box 21"/>
          <p:cNvSpPr txBox="1">
            <a:spLocks noChangeArrowheads="1"/>
          </p:cNvSpPr>
          <p:nvPr userDrawn="1"/>
        </p:nvSpPr>
        <p:spPr bwMode="auto">
          <a:xfrm>
            <a:off x="6607175" y="3984625"/>
            <a:ext cx="1393825" cy="228600"/>
          </a:xfrm>
          <a:prstGeom prst="rect">
            <a:avLst/>
          </a:prstGeom>
          <a:noFill/>
          <a:ln w="9525" algn="in">
            <a:noFill/>
            <a:miter lim="800000"/>
            <a:headEnd/>
            <a:tailEnd/>
          </a:ln>
        </p:spPr>
        <p:txBody>
          <a:bodyPr lIns="36576" tIns="36576" rIns="36576" bIns="36576"/>
          <a:lstStyle/>
          <a:p>
            <a:r>
              <a:rPr lang="en-US" b="1" dirty="0">
                <a:solidFill>
                  <a:schemeClr val="bg1"/>
                </a:solidFill>
                <a:latin typeface="Calibri" pitchFamily="34" charset="0"/>
                <a:ea typeface="Calibri" pitchFamily="34" charset="0"/>
                <a:cs typeface="Calibri" pitchFamily="34" charset="0"/>
              </a:rPr>
              <a:t>R&amp;D</a:t>
            </a:r>
            <a:endParaRPr lang="en-US" u="sng" dirty="0">
              <a:solidFill>
                <a:schemeClr val="bg1"/>
              </a:solidFill>
              <a:latin typeface="Calibri" pitchFamily="34" charset="0"/>
              <a:ea typeface="Calibri" pitchFamily="34" charset="0"/>
              <a:cs typeface="Calibri" pitchFamily="34" charset="0"/>
            </a:endParaRPr>
          </a:p>
        </p:txBody>
      </p:sp>
      <p:sp>
        <p:nvSpPr>
          <p:cNvPr id="41" name="Freeform 24"/>
          <p:cNvSpPr>
            <a:spLocks noChangeAspect="1"/>
          </p:cNvSpPr>
          <p:nvPr userDrawn="1"/>
        </p:nvSpPr>
        <p:spPr bwMode="auto">
          <a:xfrm rot="1628237">
            <a:off x="6466714" y="3643313"/>
            <a:ext cx="544512"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C14632"/>
          </a:solidFill>
          <a:ln w="9525" algn="ctr">
            <a:solidFill>
              <a:srgbClr val="C34733"/>
            </a:solidFill>
            <a:round/>
            <a:headEnd/>
            <a:tailEnd/>
          </a:ln>
        </p:spPr>
        <p:txBody>
          <a:bodyPr/>
          <a:lstStyle/>
          <a:p>
            <a:endParaRPr lang="en-US"/>
          </a:p>
        </p:txBody>
      </p:sp>
      <p:pic>
        <p:nvPicPr>
          <p:cNvPr id="27" name="Picture 68" descr="iStock_000000657054Medium"/>
          <p:cNvPicPr>
            <a:picLocks noChangeAspect="1" noChangeArrowheads="1"/>
          </p:cNvPicPr>
          <p:nvPr userDrawn="1"/>
        </p:nvPicPr>
        <p:blipFill>
          <a:blip r:embed="rId3" cstate="print"/>
          <a:stretch>
            <a:fillRect/>
          </a:stretch>
        </p:blipFill>
        <p:spPr bwMode="auto">
          <a:xfrm>
            <a:off x="0" y="2590800"/>
            <a:ext cx="3657600" cy="2432303"/>
          </a:xfrm>
          <a:prstGeom prst="rect">
            <a:avLst/>
          </a:prstGeom>
          <a:noFill/>
          <a:ln w="9525">
            <a:noFill/>
            <a:miter lim="800000"/>
            <a:headEnd/>
            <a:tailEnd/>
          </a:ln>
        </p:spPr>
      </p:pic>
      <p:sp>
        <p:nvSpPr>
          <p:cNvPr id="26" name="Rectangle 25"/>
          <p:cNvSpPr/>
          <p:nvPr userDrawn="1"/>
        </p:nvSpPr>
        <p:spPr>
          <a:xfrm>
            <a:off x="6946821" y="4267200"/>
            <a:ext cx="2273379" cy="253916"/>
          </a:xfrm>
          <a:prstGeom prst="rect">
            <a:avLst/>
          </a:prstGeom>
        </p:spPr>
        <p:txBody>
          <a:bodyPr wrap="none">
            <a:spAutoFit/>
          </a:bodyPr>
          <a:lstStyle/>
          <a:p>
            <a:r>
              <a:rPr lang="en-US" sz="1050" b="1" dirty="0" smtClean="0">
                <a:solidFill>
                  <a:schemeClr val="bg1"/>
                </a:solidFill>
                <a:latin typeface="Calibri" pitchFamily="34" charset="0"/>
                <a:ea typeface="Calibri" pitchFamily="34" charset="0"/>
                <a:cs typeface="Calibri" pitchFamily="34" charset="0"/>
              </a:rPr>
              <a:t>KEEP-CUSTOMER-FOR-LIFE approach)</a:t>
            </a:r>
            <a:endParaRPr lang="en-US" sz="1050" u="sng" dirty="0">
              <a:solidFill>
                <a:schemeClr val="bg1"/>
              </a:solidFill>
              <a:latin typeface="Calibri" pitchFamily="34" charset="0"/>
              <a:ea typeface="Calibri" pitchFamily="34" charset="0"/>
              <a:cs typeface="Calibri"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2"/>
          <p:cNvSpPr>
            <a:spLocks noChangeArrowheads="1"/>
          </p:cNvSpPr>
          <p:nvPr userDrawn="1"/>
        </p:nvSpPr>
        <p:spPr bwMode="auto">
          <a:xfrm>
            <a:off x="0" y="1"/>
            <a:ext cx="7391400" cy="761999"/>
          </a:xfrm>
          <a:prstGeom prst="rect">
            <a:avLst/>
          </a:prstGeom>
          <a:solidFill>
            <a:srgbClr val="5F5F5F"/>
          </a:solidFill>
          <a:ln w="9525">
            <a:noFill/>
            <a:miter lim="800000"/>
            <a:headEnd/>
            <a:tailEnd/>
          </a:ln>
        </p:spPr>
        <p:txBody>
          <a:bodyPr wrap="none" anchor="ctr"/>
          <a:lstStyle/>
          <a:p>
            <a:pPr>
              <a:defRPr/>
            </a:pPr>
            <a:endParaRPr lang="en-US"/>
          </a:p>
        </p:txBody>
      </p:sp>
      <p:sp>
        <p:nvSpPr>
          <p:cNvPr id="8" name="Rectangle 63"/>
          <p:cNvSpPr>
            <a:spLocks noChangeArrowheads="1"/>
          </p:cNvSpPr>
          <p:nvPr userDrawn="1"/>
        </p:nvSpPr>
        <p:spPr bwMode="auto">
          <a:xfrm>
            <a:off x="6400800" y="0"/>
            <a:ext cx="990600" cy="763546"/>
          </a:xfrm>
          <a:prstGeom prst="rect">
            <a:avLst/>
          </a:prstGeom>
          <a:solidFill>
            <a:srgbClr val="CC0000"/>
          </a:solidFill>
          <a:ln w="9525">
            <a:noFill/>
            <a:miter lim="800000"/>
            <a:headEnd/>
            <a:tailEnd/>
          </a:ln>
        </p:spPr>
        <p:txBody>
          <a:bodyPr wrap="none" anchor="ctr"/>
          <a:lstStyle/>
          <a:p>
            <a:pPr>
              <a:defRPr/>
            </a:pPr>
            <a:endParaRPr lang="en-US"/>
          </a:p>
        </p:txBody>
      </p:sp>
      <p:sp>
        <p:nvSpPr>
          <p:cNvPr id="9" name="Rectangle 64"/>
          <p:cNvSpPr>
            <a:spLocks noChangeArrowheads="1"/>
          </p:cNvSpPr>
          <p:nvPr userDrawn="1"/>
        </p:nvSpPr>
        <p:spPr bwMode="auto">
          <a:xfrm>
            <a:off x="8763000" y="0"/>
            <a:ext cx="381000" cy="763546"/>
          </a:xfrm>
          <a:prstGeom prst="rect">
            <a:avLst/>
          </a:prstGeom>
          <a:solidFill>
            <a:srgbClr val="969696"/>
          </a:solidFill>
          <a:ln w="9525">
            <a:noFill/>
            <a:miter lim="800000"/>
            <a:headEnd/>
            <a:tailEnd/>
          </a:ln>
        </p:spPr>
        <p:txBody>
          <a:bodyPr wrap="none" anchor="ctr"/>
          <a:lstStyle/>
          <a:p>
            <a:pPr>
              <a:defRPr/>
            </a:pPr>
            <a:endParaRPr lang="en-US"/>
          </a:p>
        </p:txBody>
      </p:sp>
      <p:sp>
        <p:nvSpPr>
          <p:cNvPr id="10" name="Rectangle 65"/>
          <p:cNvSpPr>
            <a:spLocks noChangeArrowheads="1"/>
          </p:cNvSpPr>
          <p:nvPr userDrawn="1"/>
        </p:nvSpPr>
        <p:spPr bwMode="auto">
          <a:xfrm>
            <a:off x="6781800" y="0"/>
            <a:ext cx="304800" cy="763546"/>
          </a:xfrm>
          <a:prstGeom prst="rect">
            <a:avLst/>
          </a:prstGeom>
          <a:solidFill>
            <a:srgbClr val="A50021"/>
          </a:solidFill>
          <a:ln w="9525">
            <a:noFill/>
            <a:miter lim="800000"/>
            <a:headEnd/>
            <a:tailEnd/>
          </a:ln>
        </p:spPr>
        <p:txBody>
          <a:bodyPr wrap="none" anchor="ctr"/>
          <a:lstStyle/>
          <a:p>
            <a:pPr>
              <a:defRPr/>
            </a:pPr>
            <a:endParaRPr lang="en-US"/>
          </a:p>
        </p:txBody>
      </p:sp>
      <p:pic>
        <p:nvPicPr>
          <p:cNvPr id="12" name="Picture 3"/>
          <p:cNvPicPr>
            <a:picLocks noChangeAspect="1" noChangeArrowheads="1"/>
          </p:cNvPicPr>
          <p:nvPr userDrawn="1"/>
        </p:nvPicPr>
        <p:blipFill>
          <a:blip r:embed="rId2" cstate="print"/>
          <a:srcRect/>
          <a:stretch>
            <a:fillRect/>
          </a:stretch>
        </p:blipFill>
        <p:spPr bwMode="auto">
          <a:xfrm>
            <a:off x="7467600" y="0"/>
            <a:ext cx="1150477" cy="783124"/>
          </a:xfrm>
          <a:prstGeom prst="rect">
            <a:avLst/>
          </a:prstGeom>
          <a:noFill/>
          <a:ln w="6350" algn="ctr">
            <a:noFill/>
            <a:miter lim="800000"/>
            <a:headEnd/>
            <a:tailEnd/>
          </a:ln>
        </p:spPr>
      </p:pic>
      <p:sp>
        <p:nvSpPr>
          <p:cNvPr id="13" name="Rectangle 67"/>
          <p:cNvSpPr>
            <a:spLocks noChangeArrowheads="1"/>
          </p:cNvSpPr>
          <p:nvPr userDrawn="1"/>
        </p:nvSpPr>
        <p:spPr bwMode="auto">
          <a:xfrm>
            <a:off x="0" y="762000"/>
            <a:ext cx="9144000" cy="76200"/>
          </a:xfrm>
          <a:prstGeom prst="rect">
            <a:avLst/>
          </a:prstGeom>
          <a:solidFill>
            <a:srgbClr val="000000"/>
          </a:solidFill>
          <a:ln w="9525">
            <a:noFill/>
            <a:miter lim="800000"/>
            <a:headEnd/>
            <a:tailEnd/>
          </a:ln>
        </p:spPr>
        <p:txBody>
          <a:bodyPr wrap="none" anchor="ctr"/>
          <a:lstStyle/>
          <a:p>
            <a:pPr>
              <a:defRPr/>
            </a:pPr>
            <a:endParaRPr lang="en-US"/>
          </a:p>
        </p:txBody>
      </p:sp>
      <p:sp>
        <p:nvSpPr>
          <p:cNvPr id="14" name="Text Box 46"/>
          <p:cNvSpPr txBox="1">
            <a:spLocks noChangeArrowheads="1"/>
          </p:cNvSpPr>
          <p:nvPr userDrawn="1"/>
        </p:nvSpPr>
        <p:spPr bwMode="auto">
          <a:xfrm>
            <a:off x="0" y="6629400"/>
            <a:ext cx="9067800" cy="228600"/>
          </a:xfrm>
          <a:prstGeom prst="rect">
            <a:avLst/>
          </a:prstGeom>
          <a:noFill/>
          <a:ln w="9525">
            <a:noFill/>
            <a:miter lim="800000"/>
            <a:headEnd/>
            <a:tailEnd/>
          </a:ln>
        </p:spPr>
        <p:txBody>
          <a:bodyPr>
            <a:spAutoFit/>
          </a:bodyPr>
          <a:lstStyle/>
          <a:p>
            <a:pPr algn="l" eaLnBrk="0" hangingPunct="0">
              <a:defRPr/>
            </a:pPr>
            <a:r>
              <a:rPr lang="en-US" altLang="en-US" sz="900" u="none" dirty="0">
                <a:solidFill>
                  <a:srgbClr val="5F5F5F"/>
                </a:solidFill>
                <a:latin typeface="Arial Narrow" pitchFamily="34" charset="0"/>
              </a:rPr>
              <a:t>NOTE: All information contained herein is Proprietary &amp; Confidential material of ValueMomentum Inc. All rights are reserved.</a:t>
            </a:r>
          </a:p>
        </p:txBody>
      </p:sp>
      <p:sp>
        <p:nvSpPr>
          <p:cNvPr id="15" name="Rectangle 63"/>
          <p:cNvSpPr>
            <a:spLocks noChangeArrowheads="1"/>
          </p:cNvSpPr>
          <p:nvPr userDrawn="1"/>
        </p:nvSpPr>
        <p:spPr bwMode="auto">
          <a:xfrm>
            <a:off x="8763000" y="0"/>
            <a:ext cx="76200" cy="763546"/>
          </a:xfrm>
          <a:prstGeom prst="rect">
            <a:avLst/>
          </a:prstGeom>
          <a:solidFill>
            <a:srgbClr val="CC0000"/>
          </a:solidFill>
          <a:ln w="9525">
            <a:noFill/>
            <a:miter lim="800000"/>
            <a:headEnd/>
            <a:tailEnd/>
          </a:ln>
        </p:spPr>
        <p:txBody>
          <a:bodyPr wrap="none" anchor="ct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85B121A-A758-4297-A882-A04DEEBB3AA4}" type="datetimeFigureOut">
              <a:rPr lang="en-US" smtClean="0"/>
              <a:pPr/>
              <a:t>1/13/2016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85B121A-A758-4297-A882-A04DEEBB3AA4}" type="datetimeFigureOut">
              <a:rPr lang="en-US" smtClean="0"/>
              <a:pPr/>
              <a:t>1/13/2016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85B121A-A758-4297-A882-A04DEEBB3AA4}" type="datetimeFigureOut">
              <a:rPr lang="en-US" smtClean="0"/>
              <a:pPr/>
              <a:t>1/13/2016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85B121A-A758-4297-A882-A04DEEBB3AA4}" type="datetimeFigureOut">
              <a:rPr lang="en-US" smtClean="0"/>
              <a:pPr/>
              <a:t>1/13/2016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5B121A-A758-4297-A882-A04DEEBB3AA4}" type="datetimeFigureOut">
              <a:rPr lang="en-US" smtClean="0"/>
              <a:pPr/>
              <a:t>1/13/2016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5B121A-A758-4297-A882-A04DEEBB3AA4}" type="datetimeFigureOut">
              <a:rPr lang="en-US" smtClean="0"/>
              <a:pPr/>
              <a:t>1/13/2016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5B121A-A758-4297-A882-A04DEEBB3AA4}" type="datetimeFigureOut">
              <a:rPr lang="en-US" smtClean="0"/>
              <a:pPr/>
              <a:t>1/13/2016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5B121A-A758-4297-A882-A04DEEBB3AA4}" type="datetimeFigureOut">
              <a:rPr lang="en-US" smtClean="0"/>
              <a:pPr/>
              <a:t>1/13/2016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5B121A-A758-4297-A882-A04DEEBB3AA4}" type="datetimeFigureOut">
              <a:rPr lang="en-US" smtClean="0"/>
              <a:pPr/>
              <a:t>1/13/2016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604409-2282-4E9A-B987-6256BA47096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B121A-A758-4297-A882-A04DEEBB3AA4}" type="datetimeFigureOut">
              <a:rPr lang="en-US" smtClean="0"/>
              <a:pPr/>
              <a:t>1/13/2016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604409-2282-4E9A-B987-6256BA47096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buSzPct val="120000"/>
              <a:tabLst>
                <a:tab pos="1828800" algn="l"/>
              </a:tabLst>
              <a:defRPr/>
            </a:pPr>
            <a:r>
              <a:rPr lang="en-US" sz="2000" dirty="0" smtClean="0">
                <a:solidFill>
                  <a:schemeClr val="bg1"/>
                </a:solidFill>
              </a:rPr>
              <a:t>Agenda</a:t>
            </a:r>
          </a:p>
        </p:txBody>
      </p:sp>
      <p:sp>
        <p:nvSpPr>
          <p:cNvPr id="23" name="Rectangle 3"/>
          <p:cNvSpPr>
            <a:spLocks noChangeArrowheads="1"/>
          </p:cNvSpPr>
          <p:nvPr/>
        </p:nvSpPr>
        <p:spPr bwMode="auto">
          <a:xfrm>
            <a:off x="3657600" y="2000780"/>
            <a:ext cx="4495800" cy="3333220"/>
          </a:xfrm>
          <a:prstGeom prst="rect">
            <a:avLst/>
          </a:prstGeom>
          <a:noFill/>
          <a:ln w="12700">
            <a:noFill/>
            <a:miter lim="800000"/>
            <a:headEnd/>
            <a:tailEnd/>
          </a:ln>
        </p:spPr>
        <p:txBody>
          <a:bodyPr wrap="square" anchor="ctr">
            <a:spAutoFit/>
          </a:bodyPr>
          <a:lstStyle/>
          <a:p>
            <a:pPr eaLnBrk="0" hangingPunct="0">
              <a:lnSpc>
                <a:spcPct val="90000"/>
              </a:lnSpc>
              <a:buClr>
                <a:srgbClr val="C00000"/>
              </a:buClr>
              <a:buSzPct val="90000"/>
              <a:buFont typeface="Wingdings" pitchFamily="2" charset="2"/>
              <a:buChar char="v"/>
            </a:pPr>
            <a:r>
              <a:rPr lang="en-US" dirty="0" smtClean="0">
                <a:solidFill>
                  <a:schemeClr val="tx1">
                    <a:lumMod val="75000"/>
                    <a:lumOff val="25000"/>
                  </a:schemeClr>
                </a:solidFill>
              </a:rPr>
              <a:t> BOP Overview</a:t>
            </a:r>
          </a:p>
          <a:p>
            <a:pPr eaLnBrk="0" hangingPunct="0">
              <a:lnSpc>
                <a:spcPct val="90000"/>
              </a:lnSpc>
              <a:buClr>
                <a:srgbClr val="C00000"/>
              </a:buClr>
              <a:buSzPct val="90000"/>
              <a:buFont typeface="Wingdings" pitchFamily="2" charset="2"/>
              <a:buChar char="v"/>
            </a:pPr>
            <a:endParaRPr lang="en-US" dirty="0" smtClean="0">
              <a:solidFill>
                <a:schemeClr val="tx1">
                  <a:lumMod val="75000"/>
                  <a:lumOff val="25000"/>
                </a:schemeClr>
              </a:solidFill>
            </a:endParaRPr>
          </a:p>
          <a:p>
            <a:pPr eaLnBrk="0" hangingPunct="0">
              <a:lnSpc>
                <a:spcPct val="90000"/>
              </a:lnSpc>
              <a:buClr>
                <a:srgbClr val="C00000"/>
              </a:buClr>
              <a:buSzPct val="90000"/>
              <a:buFont typeface="Wingdings" pitchFamily="2" charset="2"/>
              <a:buChar char="v"/>
            </a:pPr>
            <a:r>
              <a:rPr lang="en-US" dirty="0" smtClean="0">
                <a:solidFill>
                  <a:schemeClr val="tx1">
                    <a:lumMod val="75000"/>
                    <a:lumOff val="25000"/>
                  </a:schemeClr>
                </a:solidFill>
              </a:rPr>
              <a:t> BOP Eligible Risks</a:t>
            </a:r>
          </a:p>
          <a:p>
            <a:pPr eaLnBrk="0" hangingPunct="0">
              <a:lnSpc>
                <a:spcPct val="90000"/>
              </a:lnSpc>
              <a:buClr>
                <a:srgbClr val="C00000"/>
              </a:buClr>
              <a:buSzPct val="90000"/>
              <a:buFont typeface="Wingdings" pitchFamily="2" charset="2"/>
              <a:buChar char="v"/>
            </a:pPr>
            <a:endParaRPr lang="en-US" dirty="0" smtClean="0">
              <a:solidFill>
                <a:schemeClr val="tx1">
                  <a:lumMod val="75000"/>
                  <a:lumOff val="25000"/>
                </a:schemeClr>
              </a:solidFill>
            </a:endParaRPr>
          </a:p>
          <a:p>
            <a:pPr eaLnBrk="0" hangingPunct="0">
              <a:lnSpc>
                <a:spcPct val="90000"/>
              </a:lnSpc>
              <a:buClr>
                <a:srgbClr val="C00000"/>
              </a:buClr>
              <a:buSzPct val="90000"/>
              <a:buFont typeface="Wingdings" pitchFamily="2" charset="2"/>
              <a:buChar char="v"/>
            </a:pPr>
            <a:r>
              <a:rPr lang="en-US" dirty="0" smtClean="0">
                <a:solidFill>
                  <a:schemeClr val="tx1">
                    <a:lumMod val="75000"/>
                    <a:lumOff val="25000"/>
                  </a:schemeClr>
                </a:solidFill>
              </a:rPr>
              <a:t> Types of Liability </a:t>
            </a:r>
          </a:p>
          <a:p>
            <a:pPr eaLnBrk="0" hangingPunct="0">
              <a:lnSpc>
                <a:spcPct val="90000"/>
              </a:lnSpc>
              <a:buClr>
                <a:srgbClr val="C00000"/>
              </a:buClr>
              <a:buSzPct val="90000"/>
              <a:buFont typeface="Wingdings" pitchFamily="2" charset="2"/>
              <a:buChar char="v"/>
            </a:pPr>
            <a:endParaRPr lang="en-US" dirty="0" smtClean="0">
              <a:solidFill>
                <a:schemeClr val="tx1">
                  <a:lumMod val="75000"/>
                  <a:lumOff val="25000"/>
                </a:schemeClr>
              </a:solidFill>
            </a:endParaRPr>
          </a:p>
          <a:p>
            <a:pPr eaLnBrk="0" hangingPunct="0">
              <a:lnSpc>
                <a:spcPct val="90000"/>
              </a:lnSpc>
              <a:buClr>
                <a:srgbClr val="C00000"/>
              </a:buClr>
              <a:buSzPct val="90000"/>
              <a:buFont typeface="Wingdings" pitchFamily="2" charset="2"/>
              <a:buChar char="v"/>
            </a:pPr>
            <a:r>
              <a:rPr lang="en-US" dirty="0" smtClean="0">
                <a:solidFill>
                  <a:schemeClr val="tx1">
                    <a:lumMod val="75000"/>
                    <a:lumOff val="25000"/>
                  </a:schemeClr>
                </a:solidFill>
              </a:rPr>
              <a:t> What is covered under BOP</a:t>
            </a:r>
          </a:p>
          <a:p>
            <a:pPr eaLnBrk="0" hangingPunct="0">
              <a:lnSpc>
                <a:spcPct val="90000"/>
              </a:lnSpc>
              <a:buClr>
                <a:srgbClr val="C00000"/>
              </a:buClr>
              <a:buSzPct val="90000"/>
              <a:buFont typeface="Wingdings" pitchFamily="2" charset="2"/>
              <a:buChar char="v"/>
            </a:pPr>
            <a:endParaRPr lang="en-US" dirty="0" smtClean="0">
              <a:solidFill>
                <a:schemeClr val="tx1">
                  <a:lumMod val="75000"/>
                  <a:lumOff val="25000"/>
                </a:schemeClr>
              </a:solidFill>
            </a:endParaRPr>
          </a:p>
          <a:p>
            <a:pPr eaLnBrk="0" hangingPunct="0">
              <a:lnSpc>
                <a:spcPct val="90000"/>
              </a:lnSpc>
              <a:buClr>
                <a:srgbClr val="C00000"/>
              </a:buClr>
              <a:buSzPct val="90000"/>
              <a:buFont typeface="Wingdings" pitchFamily="2" charset="2"/>
              <a:buChar char="v"/>
            </a:pPr>
            <a:r>
              <a:rPr lang="en-US" dirty="0" smtClean="0">
                <a:solidFill>
                  <a:schemeClr val="tx1">
                    <a:lumMod val="75000"/>
                    <a:lumOff val="25000"/>
                  </a:schemeClr>
                </a:solidFill>
              </a:rPr>
              <a:t> Premium Criteria</a:t>
            </a:r>
          </a:p>
          <a:p>
            <a:pPr eaLnBrk="0" hangingPunct="0">
              <a:lnSpc>
                <a:spcPct val="90000"/>
              </a:lnSpc>
              <a:buClr>
                <a:srgbClr val="C00000"/>
              </a:buClr>
              <a:buSzPct val="90000"/>
              <a:buFont typeface="Wingdings" pitchFamily="2" charset="2"/>
              <a:buChar char="v"/>
            </a:pPr>
            <a:endParaRPr lang="en-US" dirty="0" smtClean="0">
              <a:solidFill>
                <a:schemeClr val="tx1">
                  <a:lumMod val="75000"/>
                  <a:lumOff val="25000"/>
                </a:schemeClr>
              </a:solidFill>
            </a:endParaRPr>
          </a:p>
          <a:p>
            <a:pPr eaLnBrk="0" hangingPunct="0">
              <a:lnSpc>
                <a:spcPct val="90000"/>
              </a:lnSpc>
              <a:buClr>
                <a:srgbClr val="C00000"/>
              </a:buClr>
              <a:buSzPct val="90000"/>
              <a:buFont typeface="Wingdings" pitchFamily="2" charset="2"/>
              <a:buChar char="v"/>
            </a:pPr>
            <a:r>
              <a:rPr lang="en-US" dirty="0" smtClean="0">
                <a:solidFill>
                  <a:schemeClr val="tx1">
                    <a:lumMod val="75000"/>
                    <a:lumOff val="25000"/>
                  </a:schemeClr>
                </a:solidFill>
              </a:rPr>
              <a:t> Valuation Method</a:t>
            </a:r>
          </a:p>
          <a:p>
            <a:pPr eaLnBrk="0" hangingPunct="0">
              <a:lnSpc>
                <a:spcPct val="90000"/>
              </a:lnSpc>
              <a:buClr>
                <a:srgbClr val="C00000"/>
              </a:buClr>
              <a:buSzPct val="90000"/>
              <a:buFont typeface="Wingdings" pitchFamily="2" charset="2"/>
              <a:buChar char="v"/>
            </a:pPr>
            <a:endParaRPr lang="en-US" dirty="0" smtClean="0">
              <a:solidFill>
                <a:schemeClr val="tx1">
                  <a:lumMod val="75000"/>
                  <a:lumOff val="25000"/>
                </a:schemeClr>
              </a:solidFill>
            </a:endParaRPr>
          </a:p>
          <a:p>
            <a:pPr eaLnBrk="0" hangingPunct="0">
              <a:lnSpc>
                <a:spcPct val="90000"/>
              </a:lnSpc>
              <a:buClr>
                <a:srgbClr val="C00000"/>
              </a:buClr>
              <a:buSzPct val="90000"/>
              <a:buFont typeface="Wingdings" pitchFamily="2" charset="2"/>
              <a:buChar char="v"/>
            </a:pPr>
            <a:r>
              <a:rPr lang="en-US" dirty="0" smtClean="0">
                <a:solidFill>
                  <a:schemeClr val="tx1">
                    <a:lumMod val="75000"/>
                    <a:lumOff val="25000"/>
                  </a:schemeClr>
                </a:solidFill>
              </a:rPr>
              <a:t> Policy issuance life cycle</a:t>
            </a:r>
          </a:p>
        </p:txBody>
      </p:sp>
      <p:pic>
        <p:nvPicPr>
          <p:cNvPr id="24" name="Picture 23" descr="HyperModelInUse.jpg"/>
          <p:cNvPicPr>
            <a:picLocks noChangeAspect="1"/>
          </p:cNvPicPr>
          <p:nvPr/>
        </p:nvPicPr>
        <p:blipFill>
          <a:blip r:embed="rId2" cstate="print"/>
          <a:stretch>
            <a:fillRect/>
          </a:stretch>
        </p:blipFill>
        <p:spPr>
          <a:xfrm>
            <a:off x="1219200" y="2209800"/>
            <a:ext cx="2057400" cy="280873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3</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 Business Owners Program</a:t>
            </a:r>
            <a:endParaRPr lang="en-US" sz="2000" dirty="0">
              <a:solidFill>
                <a:schemeClr val="bg1"/>
              </a:solidFill>
            </a:endParaRPr>
          </a:p>
        </p:txBody>
      </p:sp>
      <p:sp>
        <p:nvSpPr>
          <p:cNvPr id="11" name="Text Box 28"/>
          <p:cNvSpPr txBox="1">
            <a:spLocks noChangeArrowheads="1"/>
          </p:cNvSpPr>
          <p:nvPr/>
        </p:nvSpPr>
        <p:spPr bwMode="auto">
          <a:xfrm>
            <a:off x="381000" y="1828800"/>
            <a:ext cx="8305800" cy="1816524"/>
          </a:xfrm>
          <a:prstGeom prst="rect">
            <a:avLst/>
          </a:prstGeom>
          <a:noFill/>
          <a:ln w="12700" algn="ctr">
            <a:noFill/>
            <a:miter lim="800000"/>
            <a:headEnd/>
            <a:tailEnd/>
          </a:ln>
        </p:spPr>
        <p:txBody>
          <a:bodyPr lIns="92075" tIns="46038" rIns="92075" bIns="46038">
            <a:spAutoFit/>
          </a:bodyPr>
          <a:lstStyle/>
          <a:p>
            <a:r>
              <a:rPr lang="en-US" sz="1600" u="none" dirty="0" smtClean="0">
                <a:solidFill>
                  <a:schemeClr val="tx1">
                    <a:lumMod val="75000"/>
                    <a:lumOff val="25000"/>
                  </a:schemeClr>
                </a:solidFill>
              </a:rPr>
              <a:t>Business </a:t>
            </a:r>
            <a:r>
              <a:rPr lang="en-US" sz="1600" u="none" dirty="0">
                <a:solidFill>
                  <a:schemeClr val="tx1">
                    <a:lumMod val="75000"/>
                    <a:lumOff val="25000"/>
                  </a:schemeClr>
                </a:solidFill>
              </a:rPr>
              <a:t>Owners Program is designed to provide Insurance protection for Small business owners and proprietors</a:t>
            </a:r>
          </a:p>
          <a:p>
            <a:endParaRPr lang="en-US" sz="1600" u="none" dirty="0">
              <a:solidFill>
                <a:schemeClr val="tx1">
                  <a:lumMod val="75000"/>
                  <a:lumOff val="25000"/>
                </a:schemeClr>
              </a:solidFill>
            </a:endParaRPr>
          </a:p>
          <a:p>
            <a:r>
              <a:rPr lang="en-US" sz="1600" u="none" dirty="0">
                <a:solidFill>
                  <a:schemeClr val="tx1">
                    <a:lumMod val="75000"/>
                    <a:lumOff val="25000"/>
                  </a:schemeClr>
                </a:solidFill>
              </a:rPr>
              <a:t>BOP Program provides Property, Loss of Income and Liability coverage for Small Business Owners</a:t>
            </a:r>
          </a:p>
          <a:p>
            <a:endParaRPr lang="en-US" sz="1600" u="none" dirty="0">
              <a:solidFill>
                <a:schemeClr val="tx1">
                  <a:lumMod val="75000"/>
                  <a:lumOff val="25000"/>
                </a:schemeClr>
              </a:solidFill>
            </a:endParaRPr>
          </a:p>
          <a:p>
            <a:r>
              <a:rPr lang="en-US" sz="1600" u="none" dirty="0">
                <a:solidFill>
                  <a:schemeClr val="tx1">
                    <a:lumMod val="75000"/>
                    <a:lumOff val="25000"/>
                  </a:schemeClr>
                </a:solidFill>
              </a:rPr>
              <a:t>A Business owners policy provides coverage for all eligible buildings and business personal property owned by an insured and for all of the insured’s eligible business liability exposures</a:t>
            </a:r>
          </a:p>
        </p:txBody>
      </p:sp>
      <p:pic>
        <p:nvPicPr>
          <p:cNvPr id="5" name="Picture 4" descr="1271330458.gif"/>
          <p:cNvPicPr>
            <a:picLocks noChangeAspect="1"/>
          </p:cNvPicPr>
          <p:nvPr/>
        </p:nvPicPr>
        <p:blipFill>
          <a:blip r:embed="rId3" cstate="print"/>
          <a:stretch>
            <a:fillRect/>
          </a:stretch>
        </p:blipFill>
        <p:spPr>
          <a:xfrm>
            <a:off x="3124200" y="3946274"/>
            <a:ext cx="2433638" cy="16163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 Business Owners Program</a:t>
            </a:r>
            <a:endParaRPr lang="en-US" sz="2000" dirty="0">
              <a:solidFill>
                <a:schemeClr val="bg1"/>
              </a:solidFill>
            </a:endParaRPr>
          </a:p>
        </p:txBody>
      </p:sp>
      <p:sp>
        <p:nvSpPr>
          <p:cNvPr id="5"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4</a:t>
            </a:fld>
            <a:endParaRPr lang="en-US" sz="1400" dirty="0">
              <a:latin typeface="+mn-lt"/>
            </a:endParaRPr>
          </a:p>
        </p:txBody>
      </p:sp>
      <p:sp>
        <p:nvSpPr>
          <p:cNvPr id="6" name="Text Box 28"/>
          <p:cNvSpPr txBox="1">
            <a:spLocks noChangeArrowheads="1"/>
          </p:cNvSpPr>
          <p:nvPr/>
        </p:nvSpPr>
        <p:spPr bwMode="auto">
          <a:xfrm>
            <a:off x="381000" y="1371600"/>
            <a:ext cx="8458200" cy="2062745"/>
          </a:xfrm>
          <a:prstGeom prst="rect">
            <a:avLst/>
          </a:prstGeom>
          <a:noFill/>
          <a:ln w="12700" algn="ctr">
            <a:noFill/>
            <a:miter lim="800000"/>
            <a:headEnd/>
            <a:tailEnd/>
          </a:ln>
        </p:spPr>
        <p:txBody>
          <a:bodyPr lIns="92075" tIns="46038" rIns="92075" bIns="46038">
            <a:spAutoFit/>
          </a:bodyPr>
          <a:lstStyle/>
          <a:p>
            <a:r>
              <a:rPr lang="en-US" sz="1600" b="1" dirty="0">
                <a:solidFill>
                  <a:srgbClr val="C00000"/>
                </a:solidFill>
              </a:rPr>
              <a:t>BOP Program contains two forms:</a:t>
            </a:r>
          </a:p>
          <a:p>
            <a:pPr>
              <a:buClr>
                <a:srgbClr val="C00000"/>
              </a:buClr>
              <a:buFont typeface="Wingdings" pitchFamily="2" charset="2"/>
              <a:buChar char="v"/>
            </a:pPr>
            <a:endParaRPr lang="en-US" sz="1600" dirty="0"/>
          </a:p>
          <a:p>
            <a:pPr>
              <a:buClr>
                <a:srgbClr val="C00000"/>
              </a:buClr>
              <a:buFont typeface="Wingdings" pitchFamily="2" charset="2"/>
              <a:buChar char="v"/>
            </a:pPr>
            <a:r>
              <a:rPr lang="en-US" sz="1600" u="none" dirty="0"/>
              <a:t> </a:t>
            </a:r>
            <a:r>
              <a:rPr lang="en-US" sz="1600" b="1" u="none" dirty="0">
                <a:solidFill>
                  <a:srgbClr val="C00000"/>
                </a:solidFill>
              </a:rPr>
              <a:t>Standard Form</a:t>
            </a:r>
            <a:r>
              <a:rPr lang="en-US" sz="1600" u="none" dirty="0">
                <a:solidFill>
                  <a:srgbClr val="C00000"/>
                </a:solidFill>
              </a:rPr>
              <a:t> </a:t>
            </a:r>
            <a:r>
              <a:rPr lang="en-US" sz="1600" u="none" dirty="0">
                <a:solidFill>
                  <a:schemeClr val="tx1">
                    <a:lumMod val="75000"/>
                    <a:lumOff val="25000"/>
                  </a:schemeClr>
                </a:solidFill>
              </a:rPr>
              <a:t>that provides property coverage on a named peril basis</a:t>
            </a:r>
          </a:p>
          <a:p>
            <a:pPr>
              <a:buClr>
                <a:srgbClr val="C00000"/>
              </a:buClr>
              <a:buFont typeface="Wingdings" pitchFamily="2" charset="2"/>
              <a:buChar char="v"/>
            </a:pPr>
            <a:endParaRPr lang="en-US" sz="1600" u="none" dirty="0"/>
          </a:p>
          <a:p>
            <a:pPr>
              <a:buClr>
                <a:srgbClr val="C00000"/>
              </a:buClr>
              <a:buFont typeface="Wingdings" pitchFamily="2" charset="2"/>
              <a:buChar char="v"/>
            </a:pPr>
            <a:r>
              <a:rPr lang="en-US" sz="1600" u="none" dirty="0"/>
              <a:t> </a:t>
            </a:r>
            <a:r>
              <a:rPr lang="en-US" sz="1600" b="1" u="none" dirty="0">
                <a:solidFill>
                  <a:srgbClr val="C00000"/>
                </a:solidFill>
              </a:rPr>
              <a:t>Special Form</a:t>
            </a:r>
            <a:r>
              <a:rPr lang="en-US" sz="1600" u="none" dirty="0">
                <a:solidFill>
                  <a:srgbClr val="C00000"/>
                </a:solidFill>
              </a:rPr>
              <a:t> </a:t>
            </a:r>
            <a:r>
              <a:rPr lang="en-US" sz="1600" u="none" dirty="0">
                <a:solidFill>
                  <a:schemeClr val="tx1">
                    <a:lumMod val="75000"/>
                    <a:lumOff val="25000"/>
                  </a:schemeClr>
                </a:solidFill>
              </a:rPr>
              <a:t>that provides property coverage against all physical risks of loss with designated </a:t>
            </a:r>
            <a:r>
              <a:rPr lang="en-US" sz="1600" u="none" dirty="0" smtClean="0">
                <a:solidFill>
                  <a:schemeClr val="tx1">
                    <a:lumMod val="75000"/>
                    <a:lumOff val="25000"/>
                  </a:schemeClr>
                </a:solidFill>
              </a:rPr>
              <a:t>  </a:t>
            </a:r>
          </a:p>
          <a:p>
            <a:pPr>
              <a:buClr>
                <a:srgbClr val="C00000"/>
              </a:buClr>
            </a:pPr>
            <a:r>
              <a:rPr lang="en-US" sz="1600" dirty="0" smtClean="0">
                <a:solidFill>
                  <a:schemeClr val="tx1">
                    <a:lumMod val="75000"/>
                    <a:lumOff val="25000"/>
                  </a:schemeClr>
                </a:solidFill>
              </a:rPr>
              <a:t>     </a:t>
            </a:r>
            <a:r>
              <a:rPr lang="en-US" sz="1600" u="none" dirty="0" smtClean="0">
                <a:solidFill>
                  <a:schemeClr val="tx1">
                    <a:lumMod val="75000"/>
                    <a:lumOff val="25000"/>
                  </a:schemeClr>
                </a:solidFill>
              </a:rPr>
              <a:t>exclusions</a:t>
            </a:r>
            <a:endParaRPr lang="en-US" sz="1600" u="none" dirty="0">
              <a:solidFill>
                <a:schemeClr val="tx1">
                  <a:lumMod val="75000"/>
                  <a:lumOff val="25000"/>
                </a:schemeClr>
              </a:solidFill>
            </a:endParaRPr>
          </a:p>
          <a:p>
            <a:pPr>
              <a:buClr>
                <a:srgbClr val="C00000"/>
              </a:buClr>
              <a:buFont typeface="Wingdings" pitchFamily="2" charset="2"/>
              <a:buChar char="v"/>
            </a:pPr>
            <a:endParaRPr lang="en-US" sz="1600" u="none" dirty="0">
              <a:solidFill>
                <a:schemeClr val="tx1">
                  <a:lumMod val="75000"/>
                  <a:lumOff val="25000"/>
                </a:schemeClr>
              </a:solidFill>
            </a:endParaRPr>
          </a:p>
          <a:p>
            <a:pPr>
              <a:buClr>
                <a:srgbClr val="C00000"/>
              </a:buClr>
              <a:buFont typeface="Wingdings" pitchFamily="2" charset="2"/>
              <a:buChar char="v"/>
            </a:pPr>
            <a:r>
              <a:rPr lang="en-US" sz="1600" u="none" dirty="0">
                <a:solidFill>
                  <a:schemeClr val="tx1">
                    <a:lumMod val="75000"/>
                    <a:lumOff val="25000"/>
                  </a:schemeClr>
                </a:solidFill>
              </a:rPr>
              <a:t> Both forms include Commercial Liability </a:t>
            </a:r>
            <a:r>
              <a:rPr lang="en-US" sz="1600" u="none" dirty="0" smtClean="0">
                <a:solidFill>
                  <a:schemeClr val="tx1">
                    <a:lumMod val="75000"/>
                    <a:lumOff val="25000"/>
                  </a:schemeClr>
                </a:solidFill>
              </a:rPr>
              <a:t>coverage</a:t>
            </a:r>
            <a:endParaRPr lang="en-US" sz="1600" u="none" dirty="0">
              <a:solidFill>
                <a:schemeClr val="tx1">
                  <a:lumMod val="75000"/>
                  <a:lumOff val="25000"/>
                </a:schemeClr>
              </a:solidFill>
            </a:endParaRPr>
          </a:p>
        </p:txBody>
      </p:sp>
      <p:pic>
        <p:nvPicPr>
          <p:cNvPr id="7" name="Picture 6" descr="travelinsurance.jpg"/>
          <p:cNvPicPr>
            <a:picLocks noChangeAspect="1"/>
          </p:cNvPicPr>
          <p:nvPr/>
        </p:nvPicPr>
        <p:blipFill>
          <a:blip r:embed="rId3" cstate="print"/>
          <a:stretch>
            <a:fillRect/>
          </a:stretch>
        </p:blipFill>
        <p:spPr>
          <a:xfrm>
            <a:off x="4419600" y="3810000"/>
            <a:ext cx="2362200" cy="15681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descr="Life-Insurance-Policies.jpg"/>
          <p:cNvPicPr>
            <a:picLocks noChangeAspect="1"/>
          </p:cNvPicPr>
          <p:nvPr/>
        </p:nvPicPr>
        <p:blipFill>
          <a:blip r:embed="rId4" cstate="print"/>
          <a:stretch>
            <a:fillRect/>
          </a:stretch>
        </p:blipFill>
        <p:spPr>
          <a:xfrm>
            <a:off x="1295400" y="3810000"/>
            <a:ext cx="2286000" cy="153480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5</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 BOP – Risk Eligibility</a:t>
            </a:r>
          </a:p>
        </p:txBody>
      </p:sp>
      <p:sp>
        <p:nvSpPr>
          <p:cNvPr id="5" name="Text Box 28"/>
          <p:cNvSpPr txBox="1">
            <a:spLocks noChangeArrowheads="1"/>
          </p:cNvSpPr>
          <p:nvPr/>
        </p:nvSpPr>
        <p:spPr bwMode="auto">
          <a:xfrm>
            <a:off x="381000" y="2069438"/>
            <a:ext cx="8305800" cy="3047630"/>
          </a:xfrm>
          <a:prstGeom prst="rect">
            <a:avLst/>
          </a:prstGeom>
          <a:noFill/>
          <a:ln w="12700" algn="ctr">
            <a:noFill/>
            <a:miter lim="800000"/>
            <a:headEnd/>
            <a:tailEnd/>
          </a:ln>
        </p:spPr>
        <p:txBody>
          <a:bodyPr lIns="92075" tIns="46038" rIns="92075" bIns="46038">
            <a:spAutoFit/>
          </a:bodyPr>
          <a:lstStyle/>
          <a:p>
            <a:pPr>
              <a:lnSpc>
                <a:spcPct val="150000"/>
              </a:lnSpc>
            </a:pPr>
            <a:r>
              <a:rPr lang="en-US" sz="1600" b="1" dirty="0">
                <a:solidFill>
                  <a:srgbClr val="C00000"/>
                </a:solidFill>
              </a:rPr>
              <a:t>BOP Program is limited to the following small and simple risks with similar exposure</a:t>
            </a:r>
          </a:p>
          <a:p>
            <a:pPr>
              <a:lnSpc>
                <a:spcPct val="150000"/>
              </a:lnSpc>
              <a:buClr>
                <a:srgbClr val="C00000"/>
              </a:buClr>
              <a:buFont typeface="Wingdings" pitchFamily="2" charset="2"/>
              <a:buChar char="v"/>
            </a:pPr>
            <a:r>
              <a:rPr lang="en-US" sz="1600" u="none" dirty="0" smtClean="0"/>
              <a:t> </a:t>
            </a:r>
            <a:r>
              <a:rPr lang="en-US" sz="1600" u="none" dirty="0">
                <a:solidFill>
                  <a:schemeClr val="tx1">
                    <a:lumMod val="75000"/>
                    <a:lumOff val="25000"/>
                  </a:schemeClr>
                </a:solidFill>
              </a:rPr>
              <a:t>Apartments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Condominiums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Offices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Small retail, service and processing risks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Restaurants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Warehouses</a:t>
            </a:r>
          </a:p>
          <a:p>
            <a:pPr>
              <a:lnSpc>
                <a:spcPct val="150000"/>
              </a:lnSpc>
              <a:buClr>
                <a:srgbClr val="C00000"/>
              </a:buClr>
              <a:buFont typeface="Wingdings" pitchFamily="2" charset="2"/>
              <a:buChar char="v"/>
            </a:pPr>
            <a:r>
              <a:rPr lang="en-US" sz="1600" u="none" dirty="0">
                <a:solidFill>
                  <a:schemeClr val="tx1">
                    <a:lumMod val="75000"/>
                    <a:lumOff val="25000"/>
                  </a:schemeClr>
                </a:solidFill>
              </a:rPr>
              <a:t> Wholesale </a:t>
            </a:r>
            <a:r>
              <a:rPr lang="en-US" sz="1600" u="none" dirty="0" smtClean="0">
                <a:solidFill>
                  <a:schemeClr val="tx1">
                    <a:lumMod val="75000"/>
                    <a:lumOff val="25000"/>
                  </a:schemeClr>
                </a:solidFill>
              </a:rPr>
              <a:t>operations</a:t>
            </a:r>
            <a:endParaRPr lang="en-US" sz="1600" u="none" dirty="0">
              <a:solidFill>
                <a:schemeClr val="tx1">
                  <a:lumMod val="75000"/>
                  <a:lumOff val="25000"/>
                </a:schemeClr>
              </a:solidFill>
            </a:endParaRPr>
          </a:p>
        </p:txBody>
      </p:sp>
      <p:pic>
        <p:nvPicPr>
          <p:cNvPr id="6" name="Picture 5" descr="42-24471188.jpg"/>
          <p:cNvPicPr>
            <a:picLocks noChangeAspect="1"/>
          </p:cNvPicPr>
          <p:nvPr/>
        </p:nvPicPr>
        <p:blipFill>
          <a:blip r:embed="rId3" cstate="print"/>
          <a:stretch>
            <a:fillRect/>
          </a:stretch>
        </p:blipFill>
        <p:spPr>
          <a:xfrm>
            <a:off x="5257800" y="2819400"/>
            <a:ext cx="1950720" cy="18440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6</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 Risk Eligibility Criteria – BOP – An Example</a:t>
            </a:r>
          </a:p>
        </p:txBody>
      </p:sp>
      <p:sp>
        <p:nvSpPr>
          <p:cNvPr id="4" name="Text Box 28"/>
          <p:cNvSpPr txBox="1">
            <a:spLocks noChangeArrowheads="1"/>
          </p:cNvSpPr>
          <p:nvPr/>
        </p:nvSpPr>
        <p:spPr bwMode="auto">
          <a:xfrm>
            <a:off x="381000" y="1447800"/>
            <a:ext cx="8153400" cy="2555188"/>
          </a:xfrm>
          <a:prstGeom prst="rect">
            <a:avLst/>
          </a:prstGeom>
          <a:noFill/>
          <a:ln w="12700" algn="ctr">
            <a:noFill/>
            <a:miter lim="800000"/>
            <a:headEnd/>
            <a:tailEnd/>
          </a:ln>
        </p:spPr>
        <p:txBody>
          <a:bodyPr lIns="92075" tIns="46038" rIns="92075" bIns="46038">
            <a:spAutoFit/>
          </a:bodyPr>
          <a:lstStyle/>
          <a:p>
            <a:r>
              <a:rPr lang="en-US" sz="1600" b="1" u="none" dirty="0" smtClean="0">
                <a:solidFill>
                  <a:srgbClr val="C00000"/>
                </a:solidFill>
              </a:rPr>
              <a:t>Each </a:t>
            </a:r>
            <a:r>
              <a:rPr lang="en-US" sz="1600" b="1" u="none" dirty="0">
                <a:solidFill>
                  <a:srgbClr val="C00000"/>
                </a:solidFill>
              </a:rPr>
              <a:t>of the risks have specific eligibility criteria to be offered protection under BOP:</a:t>
            </a:r>
          </a:p>
          <a:p>
            <a:endParaRPr lang="en-US" sz="1600" u="none" dirty="0"/>
          </a:p>
          <a:p>
            <a:r>
              <a:rPr lang="en-US" sz="1600" b="1" dirty="0">
                <a:solidFill>
                  <a:schemeClr val="tx1">
                    <a:lumMod val="75000"/>
                    <a:lumOff val="25000"/>
                  </a:schemeClr>
                </a:solidFill>
              </a:rPr>
              <a:t>Example: For Restaurants to be covered under BOP</a:t>
            </a:r>
          </a:p>
          <a:p>
            <a:endParaRPr lang="en-US" sz="1600" dirty="0"/>
          </a:p>
          <a:p>
            <a:pPr marL="0" lvl="1">
              <a:lnSpc>
                <a:spcPct val="150000"/>
              </a:lnSpc>
              <a:buClr>
                <a:srgbClr val="C00000"/>
              </a:buClr>
              <a:buFont typeface="Wingdings" pitchFamily="2" charset="2"/>
              <a:buChar char="v"/>
            </a:pPr>
            <a:r>
              <a:rPr lang="en-US" sz="1600" dirty="0"/>
              <a:t> </a:t>
            </a:r>
            <a:r>
              <a:rPr lang="en-US" sz="1600" dirty="0">
                <a:solidFill>
                  <a:schemeClr val="tx1">
                    <a:lumMod val="75000"/>
                    <a:lumOff val="25000"/>
                  </a:schemeClr>
                </a:solidFill>
              </a:rPr>
              <a:t>Total area of restaurant not to exceed  7,500 s ft</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Sale of alcoholic beverages not to exceed 25% of total sales</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Seasonal operations can not be closed for more than 30 consecutive days</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Annual gross sales not to exceed $1 million at any Insured </a:t>
            </a:r>
            <a:r>
              <a:rPr lang="en-US" sz="1600" dirty="0" smtClean="0">
                <a:solidFill>
                  <a:schemeClr val="tx1">
                    <a:lumMod val="75000"/>
                    <a:lumOff val="25000"/>
                  </a:schemeClr>
                </a:solidFill>
              </a:rPr>
              <a:t>location</a:t>
            </a:r>
            <a:endParaRPr lang="en-US" sz="1600" dirty="0">
              <a:solidFill>
                <a:schemeClr val="tx1">
                  <a:lumMod val="75000"/>
                  <a:lumOff val="25000"/>
                </a:schemeClr>
              </a:solidFill>
            </a:endParaRPr>
          </a:p>
        </p:txBody>
      </p:sp>
      <p:pic>
        <p:nvPicPr>
          <p:cNvPr id="5" name="Picture 4" descr="howdoinsuranceproviders.jpg"/>
          <p:cNvPicPr>
            <a:picLocks noChangeAspect="1"/>
          </p:cNvPicPr>
          <p:nvPr/>
        </p:nvPicPr>
        <p:blipFill>
          <a:blip r:embed="rId3" cstate="print"/>
          <a:stretch>
            <a:fillRect/>
          </a:stretch>
        </p:blipFill>
        <p:spPr>
          <a:xfrm>
            <a:off x="2819400" y="4114800"/>
            <a:ext cx="2095500" cy="1905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7</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Types of Liability</a:t>
            </a:r>
            <a:endParaRPr lang="en-US" sz="2000" dirty="0">
              <a:solidFill>
                <a:schemeClr val="bg1"/>
              </a:solidFill>
            </a:endParaRPr>
          </a:p>
        </p:txBody>
      </p:sp>
      <p:sp>
        <p:nvSpPr>
          <p:cNvPr id="4" name="TextBox 3"/>
          <p:cNvSpPr txBox="1"/>
          <p:nvPr/>
        </p:nvSpPr>
        <p:spPr>
          <a:xfrm>
            <a:off x="533400" y="1307842"/>
            <a:ext cx="7924800" cy="5016758"/>
          </a:xfrm>
          <a:prstGeom prst="rect">
            <a:avLst/>
          </a:prstGeom>
          <a:noFill/>
        </p:spPr>
        <p:txBody>
          <a:bodyPr>
            <a:spAutoFit/>
          </a:bodyPr>
          <a:lstStyle/>
          <a:p>
            <a:pPr>
              <a:defRPr/>
            </a:pPr>
            <a:r>
              <a:rPr lang="en-US" sz="1600" b="1" u="none" dirty="0">
                <a:solidFill>
                  <a:srgbClr val="C00000"/>
                </a:solidFill>
              </a:rPr>
              <a:t>Types of Business Liability Insurance </a:t>
            </a:r>
          </a:p>
          <a:p>
            <a:pPr>
              <a:defRPr/>
            </a:pPr>
            <a:endParaRPr lang="en-US" sz="1600" u="none" dirty="0">
              <a:solidFill>
                <a:srgbClr val="C00000"/>
              </a:solidFill>
            </a:endParaRPr>
          </a:p>
          <a:p>
            <a:pPr>
              <a:defRPr/>
            </a:pPr>
            <a:r>
              <a:rPr lang="en-US" sz="1600" b="1" u="none" dirty="0">
                <a:solidFill>
                  <a:srgbClr val="C00000"/>
                </a:solidFill>
              </a:rPr>
              <a:t>General Liability Insurance: </a:t>
            </a:r>
            <a:r>
              <a:rPr lang="en-US" sz="1600" u="none" dirty="0">
                <a:solidFill>
                  <a:schemeClr val="tx1">
                    <a:lumMod val="75000"/>
                    <a:lumOff val="25000"/>
                  </a:schemeClr>
                </a:solidFill>
              </a:rPr>
              <a:t>Talking about this form of business liability insurance it can be termed as the main coverage to protect your business from: injury claims, property damages, and advertising claims. General liability insurance also known as Commercial General Liability (CGL) in some parlance may be the only type of business liability insurance you need depending on your business situation. </a:t>
            </a:r>
          </a:p>
          <a:p>
            <a:pPr>
              <a:defRPr/>
            </a:pPr>
            <a:endParaRPr lang="en-US" sz="1600" u="none" dirty="0">
              <a:solidFill>
                <a:schemeClr val="tx1">
                  <a:lumMod val="75000"/>
                  <a:lumOff val="25000"/>
                </a:schemeClr>
              </a:solidFill>
            </a:endParaRPr>
          </a:p>
          <a:p>
            <a:pPr>
              <a:defRPr/>
            </a:pPr>
            <a:r>
              <a:rPr lang="en-US" sz="1600" b="1" u="none" dirty="0">
                <a:solidFill>
                  <a:srgbClr val="C00000"/>
                </a:solidFill>
              </a:rPr>
              <a:t>Professional Liability Insurance:</a:t>
            </a:r>
            <a:r>
              <a:rPr lang="en-US" sz="1600" u="none" dirty="0">
                <a:solidFill>
                  <a:srgbClr val="C00000"/>
                </a:solidFill>
              </a:rPr>
              <a:t> </a:t>
            </a:r>
            <a:r>
              <a:rPr lang="en-US" sz="1600" u="none" dirty="0">
                <a:solidFill>
                  <a:schemeClr val="tx1">
                    <a:lumMod val="75000"/>
                    <a:lumOff val="25000"/>
                  </a:schemeClr>
                </a:solidFill>
              </a:rPr>
              <a:t>Business owners providing services will certainly require taking into perspective having professional liability insurance known as errors and omissions. This sort of coverage protects your business against malpractice, errors, negligence and omissions. On the basis of your profession, it may be a legal requirement to carry such a policy. Doctors need coverage to practice in certain states. On the other hand technology consultants often need coverage in independent contractor work arrangements. </a:t>
            </a:r>
          </a:p>
          <a:p>
            <a:pPr>
              <a:defRPr/>
            </a:pPr>
            <a:endParaRPr lang="en-US" sz="1600" u="none" dirty="0">
              <a:solidFill>
                <a:schemeClr val="tx1">
                  <a:lumMod val="75000"/>
                  <a:lumOff val="25000"/>
                </a:schemeClr>
              </a:solidFill>
            </a:endParaRPr>
          </a:p>
          <a:p>
            <a:pPr>
              <a:defRPr/>
            </a:pPr>
            <a:r>
              <a:rPr lang="en-US" sz="1600" b="1" u="none" dirty="0">
                <a:solidFill>
                  <a:srgbClr val="C00000"/>
                </a:solidFill>
              </a:rPr>
              <a:t>Product Liability Insurance: </a:t>
            </a:r>
            <a:r>
              <a:rPr lang="en-US" sz="1600" u="none" dirty="0">
                <a:solidFill>
                  <a:schemeClr val="tx1">
                    <a:lumMod val="75000"/>
                    <a:lumOff val="25000"/>
                  </a:schemeClr>
                </a:solidFill>
              </a:rPr>
              <a:t>Small businesses selling or in other word manufacturing products should be protected in the event of a person becoming injured as a result of using the product. Furthermore the amount of coverage and the level of risk depend on your business type. Whereas a retailer of scrap book supplies will have far less risks than a wood stove builder. </a:t>
            </a:r>
            <a:endParaRPr lang="en-US" sz="1600" dirty="0">
              <a:solidFill>
                <a:schemeClr val="tx1">
                  <a:lumMod val="75000"/>
                  <a:lumOff val="25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8</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 Business Owners Principal </a:t>
            </a:r>
            <a:r>
              <a:rPr lang="en-US" sz="2000" dirty="0" err="1" smtClean="0">
                <a:solidFill>
                  <a:schemeClr val="bg1"/>
                </a:solidFill>
              </a:rPr>
              <a:t>Coverages</a:t>
            </a:r>
            <a:endParaRPr lang="en-US" sz="2000" dirty="0">
              <a:solidFill>
                <a:schemeClr val="bg1"/>
              </a:solidFill>
            </a:endParaRPr>
          </a:p>
        </p:txBody>
      </p:sp>
      <p:sp>
        <p:nvSpPr>
          <p:cNvPr id="4" name="Text Box 28"/>
          <p:cNvSpPr txBox="1">
            <a:spLocks noChangeArrowheads="1"/>
          </p:cNvSpPr>
          <p:nvPr/>
        </p:nvSpPr>
        <p:spPr bwMode="auto">
          <a:xfrm>
            <a:off x="381000" y="2396324"/>
            <a:ext cx="8077200" cy="3047630"/>
          </a:xfrm>
          <a:prstGeom prst="rect">
            <a:avLst/>
          </a:prstGeom>
          <a:noFill/>
          <a:ln w="12700" algn="ctr">
            <a:noFill/>
            <a:miter lim="800000"/>
            <a:headEnd/>
            <a:tailEnd/>
          </a:ln>
        </p:spPr>
        <p:txBody>
          <a:bodyPr lIns="92075" tIns="46038" rIns="92075" bIns="46038">
            <a:spAutoFit/>
          </a:bodyPr>
          <a:lstStyle/>
          <a:p>
            <a:pPr>
              <a:lnSpc>
                <a:spcPct val="150000"/>
              </a:lnSpc>
            </a:pPr>
            <a:r>
              <a:rPr lang="en-US" sz="1600" u="none" dirty="0" smtClean="0"/>
              <a:t>Buildings Coverage</a:t>
            </a:r>
            <a:endParaRPr lang="en-US" sz="1600" u="none" dirty="0"/>
          </a:p>
          <a:p>
            <a:pPr>
              <a:lnSpc>
                <a:spcPct val="150000"/>
              </a:lnSpc>
            </a:pPr>
            <a:r>
              <a:rPr lang="en-US" sz="1600" u="none" dirty="0" smtClean="0"/>
              <a:t>Business </a:t>
            </a:r>
            <a:r>
              <a:rPr lang="en-US" sz="1600" u="none" dirty="0"/>
              <a:t>Personal </a:t>
            </a:r>
            <a:r>
              <a:rPr lang="en-US" sz="1600" dirty="0" smtClean="0"/>
              <a:t>Property  Coverage </a:t>
            </a:r>
            <a:endParaRPr lang="en-US" sz="1600" u="none" dirty="0"/>
          </a:p>
          <a:p>
            <a:pPr>
              <a:lnSpc>
                <a:spcPct val="150000"/>
              </a:lnSpc>
            </a:pPr>
            <a:r>
              <a:rPr lang="en-US" sz="1600" u="none" dirty="0" smtClean="0"/>
              <a:t>Loss </a:t>
            </a:r>
            <a:r>
              <a:rPr lang="en-US" sz="1600" u="none" dirty="0"/>
              <a:t>Of </a:t>
            </a:r>
            <a:r>
              <a:rPr lang="en-US" sz="1600" dirty="0" smtClean="0"/>
              <a:t>Income  Coverage</a:t>
            </a:r>
            <a:endParaRPr lang="en-US" sz="1600" u="none" dirty="0"/>
          </a:p>
          <a:p>
            <a:pPr>
              <a:lnSpc>
                <a:spcPct val="150000"/>
              </a:lnSpc>
            </a:pPr>
            <a:r>
              <a:rPr lang="en-US" sz="1600" u="none" dirty="0" smtClean="0"/>
              <a:t>Bodily </a:t>
            </a:r>
            <a:r>
              <a:rPr lang="en-US" sz="1600" u="none" dirty="0"/>
              <a:t>Injury and Property Damage </a:t>
            </a:r>
            <a:r>
              <a:rPr lang="en-US" sz="1600" dirty="0" smtClean="0"/>
              <a:t>Liability  Coverage</a:t>
            </a:r>
            <a:endParaRPr lang="en-US" sz="1600" u="none" dirty="0"/>
          </a:p>
          <a:p>
            <a:pPr>
              <a:lnSpc>
                <a:spcPct val="150000"/>
              </a:lnSpc>
            </a:pPr>
            <a:r>
              <a:rPr lang="en-US" sz="1600" u="none" dirty="0" smtClean="0"/>
              <a:t>Medical </a:t>
            </a:r>
            <a:r>
              <a:rPr lang="en-US" sz="1600" dirty="0" smtClean="0"/>
              <a:t>Payments Coverage</a:t>
            </a:r>
            <a:endParaRPr lang="en-US" sz="1600" u="none" dirty="0"/>
          </a:p>
          <a:p>
            <a:pPr>
              <a:lnSpc>
                <a:spcPct val="150000"/>
              </a:lnSpc>
            </a:pPr>
            <a:r>
              <a:rPr lang="en-US" sz="1600" u="none" dirty="0" smtClean="0"/>
              <a:t>Products </a:t>
            </a:r>
            <a:r>
              <a:rPr lang="en-US" sz="1600" u="none" dirty="0"/>
              <a:t>and Completed </a:t>
            </a:r>
            <a:r>
              <a:rPr lang="en-US" sz="1600" dirty="0" smtClean="0"/>
              <a:t>Work Coverage</a:t>
            </a:r>
            <a:endParaRPr lang="en-US" sz="1600" u="none" dirty="0"/>
          </a:p>
          <a:p>
            <a:pPr>
              <a:lnSpc>
                <a:spcPct val="150000"/>
              </a:lnSpc>
            </a:pPr>
            <a:r>
              <a:rPr lang="en-US" sz="1600" u="none" dirty="0" smtClean="0"/>
              <a:t>Fire </a:t>
            </a:r>
            <a:r>
              <a:rPr lang="en-US" sz="1600" u="none" dirty="0"/>
              <a:t>Legal </a:t>
            </a:r>
            <a:r>
              <a:rPr lang="en-US" sz="1600" dirty="0" smtClean="0"/>
              <a:t>Liability Coverage</a:t>
            </a:r>
            <a:endParaRPr lang="en-US" sz="1600" u="none" dirty="0"/>
          </a:p>
          <a:p>
            <a:pPr>
              <a:lnSpc>
                <a:spcPct val="150000"/>
              </a:lnSpc>
            </a:pPr>
            <a:r>
              <a:rPr lang="en-US" sz="1600" u="none" dirty="0" smtClean="0"/>
              <a:t>Personal </a:t>
            </a:r>
            <a:r>
              <a:rPr lang="en-US" sz="1600" u="none" dirty="0"/>
              <a:t>and Advertising Injury </a:t>
            </a:r>
            <a:r>
              <a:rPr lang="en-US" sz="1600" dirty="0" smtClean="0"/>
              <a:t>Liability Coverage</a:t>
            </a:r>
            <a:endParaRPr lang="en-US" sz="1600" u="none" dirty="0"/>
          </a:p>
        </p:txBody>
      </p:sp>
      <p:pic>
        <p:nvPicPr>
          <p:cNvPr id="5" name="Picture 4" descr="42-25270445.jpg"/>
          <p:cNvPicPr>
            <a:picLocks noChangeAspect="1"/>
          </p:cNvPicPr>
          <p:nvPr/>
        </p:nvPicPr>
        <p:blipFill>
          <a:blip r:embed="rId3" cstate="print"/>
          <a:stretch>
            <a:fillRect/>
          </a:stretch>
        </p:blipFill>
        <p:spPr>
          <a:xfrm>
            <a:off x="5715000" y="3124200"/>
            <a:ext cx="2133600" cy="15361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9</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 Business Owners Limits</a:t>
            </a:r>
            <a:endParaRPr lang="en-US" sz="2000" dirty="0">
              <a:solidFill>
                <a:schemeClr val="bg1"/>
              </a:solidFill>
            </a:endParaRPr>
          </a:p>
        </p:txBody>
      </p:sp>
      <p:sp>
        <p:nvSpPr>
          <p:cNvPr id="4" name="Text Box 28"/>
          <p:cNvSpPr txBox="1">
            <a:spLocks noChangeArrowheads="1"/>
          </p:cNvSpPr>
          <p:nvPr/>
        </p:nvSpPr>
        <p:spPr bwMode="auto">
          <a:xfrm>
            <a:off x="152400" y="2667000"/>
            <a:ext cx="7620000" cy="1816524"/>
          </a:xfrm>
          <a:prstGeom prst="rect">
            <a:avLst/>
          </a:prstGeom>
          <a:noFill/>
          <a:ln w="12700" algn="ctr">
            <a:noFill/>
            <a:miter lim="800000"/>
            <a:headEnd/>
            <a:tailEnd/>
          </a:ln>
        </p:spPr>
        <p:txBody>
          <a:bodyPr wrap="square" lIns="92075" tIns="46038" rIns="92075" bIns="46038">
            <a:spAutoFit/>
          </a:bodyPr>
          <a:lstStyle/>
          <a:p>
            <a:r>
              <a:rPr lang="en-US" sz="1600" b="1" u="none" dirty="0">
                <a:solidFill>
                  <a:srgbClr val="C00000"/>
                </a:solidFill>
              </a:rPr>
              <a:t>Property Damage Limits</a:t>
            </a:r>
            <a:r>
              <a:rPr lang="en-US" sz="1600" b="1" u="none" dirty="0" smtClean="0">
                <a:solidFill>
                  <a:srgbClr val="C00000"/>
                </a:solidFill>
              </a:rPr>
              <a:t>: Building is covered under either of any valuation method</a:t>
            </a:r>
            <a:endParaRPr lang="en-US" sz="1600" b="1" u="none" dirty="0">
              <a:solidFill>
                <a:srgbClr val="C00000"/>
              </a:solidFill>
            </a:endParaRPr>
          </a:p>
          <a:p>
            <a:endParaRPr lang="en-US" sz="1600" b="1" u="none" dirty="0"/>
          </a:p>
          <a:p>
            <a:pPr>
              <a:buClr>
                <a:srgbClr val="C00000"/>
              </a:buClr>
              <a:buFont typeface="Wingdings" pitchFamily="2" charset="2"/>
              <a:buChar char="v"/>
            </a:pPr>
            <a:r>
              <a:rPr lang="en-US" sz="1600" u="none" dirty="0" smtClean="0"/>
              <a:t> Full </a:t>
            </a:r>
            <a:r>
              <a:rPr lang="en-US" sz="1600" u="none" dirty="0"/>
              <a:t>replacement value of the insured buildings</a:t>
            </a:r>
          </a:p>
          <a:p>
            <a:pPr>
              <a:buClr>
                <a:srgbClr val="C00000"/>
              </a:buClr>
              <a:buFont typeface="Wingdings" pitchFamily="2" charset="2"/>
              <a:buChar char="v"/>
            </a:pPr>
            <a:endParaRPr lang="en-US" sz="1600" u="none" dirty="0"/>
          </a:p>
          <a:p>
            <a:pPr>
              <a:buClr>
                <a:srgbClr val="C00000"/>
              </a:buClr>
              <a:buFont typeface="Wingdings" pitchFamily="2" charset="2"/>
              <a:buChar char="v"/>
            </a:pPr>
            <a:r>
              <a:rPr lang="en-US" sz="1600" u="none" dirty="0" smtClean="0"/>
              <a:t> Full </a:t>
            </a:r>
            <a:r>
              <a:rPr lang="en-US" sz="1600" u="none" dirty="0"/>
              <a:t>replacement value of the insured business </a:t>
            </a:r>
            <a:r>
              <a:rPr lang="en-US" sz="1600" u="none" dirty="0" smtClean="0"/>
              <a:t>personal </a:t>
            </a:r>
            <a:r>
              <a:rPr lang="en-US" sz="1600" u="none" dirty="0"/>
              <a:t>property</a:t>
            </a:r>
          </a:p>
          <a:p>
            <a:pPr>
              <a:buClr>
                <a:srgbClr val="C00000"/>
              </a:buClr>
              <a:buFont typeface="Wingdings" pitchFamily="2" charset="2"/>
              <a:buChar char="v"/>
            </a:pPr>
            <a:endParaRPr lang="en-US" sz="1600" u="none" dirty="0"/>
          </a:p>
          <a:p>
            <a:pPr>
              <a:buClr>
                <a:srgbClr val="C00000"/>
              </a:buClr>
              <a:buFont typeface="Wingdings" pitchFamily="2" charset="2"/>
              <a:buChar char="v"/>
            </a:pPr>
            <a:r>
              <a:rPr lang="en-US" sz="1600" u="none" dirty="0" smtClean="0"/>
              <a:t> 20</a:t>
            </a:r>
            <a:r>
              <a:rPr lang="en-US" sz="1600" u="none" dirty="0"/>
              <a:t>% of Coverage A limit + 100% of Coverage </a:t>
            </a:r>
            <a:r>
              <a:rPr lang="en-US" sz="1600" u="none" dirty="0" smtClean="0"/>
              <a:t>B limit</a:t>
            </a:r>
            <a:endParaRPr lang="en-US" sz="1600" dirty="0"/>
          </a:p>
        </p:txBody>
      </p:sp>
      <p:pic>
        <p:nvPicPr>
          <p:cNvPr id="5" name="Picture 4" descr="image_thumb_384CFA05.png"/>
          <p:cNvPicPr>
            <a:picLocks noChangeAspect="1"/>
          </p:cNvPicPr>
          <p:nvPr/>
        </p:nvPicPr>
        <p:blipFill>
          <a:blip r:embed="rId3" cstate="print"/>
          <a:stretch>
            <a:fillRect/>
          </a:stretch>
        </p:blipFill>
        <p:spPr>
          <a:xfrm>
            <a:off x="7162800" y="2883324"/>
            <a:ext cx="1514687" cy="15242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10</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Liability Limits</a:t>
            </a:r>
            <a:endParaRPr lang="en-US" sz="2000" dirty="0">
              <a:solidFill>
                <a:schemeClr val="bg1"/>
              </a:solidFill>
            </a:endParaRPr>
          </a:p>
        </p:txBody>
      </p:sp>
      <p:sp>
        <p:nvSpPr>
          <p:cNvPr id="4" name="Rectangle 3"/>
          <p:cNvSpPr txBox="1">
            <a:spLocks noChangeArrowheads="1"/>
          </p:cNvSpPr>
          <p:nvPr/>
        </p:nvSpPr>
        <p:spPr bwMode="auto">
          <a:xfrm>
            <a:off x="1600200" y="2362200"/>
            <a:ext cx="5029200" cy="457200"/>
          </a:xfrm>
          <a:prstGeom prst="rect">
            <a:avLst/>
          </a:prstGeom>
          <a:noFill/>
          <a:ln>
            <a:miter lim="800000"/>
            <a:headEnd/>
            <a:tailEnd/>
          </a:ln>
        </p:spPr>
        <p:txBody>
          <a:bodyPr vert="horz" lIns="91440" tIns="45720" rIns="91440" bIns="45720" rtlCol="0">
            <a:normAutofit/>
          </a:bodyPr>
          <a:lstStyle/>
          <a:p>
            <a:pPr marL="342900" marR="0" lvl="0" indent="-342900" algn="ctr" defTabSz="914400" rtl="0" eaLnBrk="1" fontAlgn="auto" latinLnBrk="0" hangingPunct="1">
              <a:lnSpc>
                <a:spcPct val="80000"/>
              </a:lnSpc>
              <a:spcBef>
                <a:spcPct val="20000"/>
              </a:spcBef>
              <a:spcAft>
                <a:spcPts val="0"/>
              </a:spcAft>
              <a:buClrTx/>
              <a:buSzTx/>
              <a:buFontTx/>
              <a:buNone/>
              <a:tabLst/>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500,000/10,00,000</a:t>
            </a:r>
            <a:endParaRPr kumimoji="0" lang="en-US" sz="2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Line 4"/>
          <p:cNvSpPr>
            <a:spLocks noChangeShapeType="1"/>
          </p:cNvSpPr>
          <p:nvPr/>
        </p:nvSpPr>
        <p:spPr bwMode="auto">
          <a:xfrm flipH="1">
            <a:off x="2590800" y="2819400"/>
            <a:ext cx="381000" cy="381000"/>
          </a:xfrm>
          <a:prstGeom prst="line">
            <a:avLst/>
          </a:prstGeom>
          <a:noFill/>
          <a:ln w="28575">
            <a:solidFill>
              <a:schemeClr val="tx1"/>
            </a:solidFill>
            <a:round/>
            <a:headEnd/>
            <a:tailEnd type="triangle" w="med" len="med"/>
          </a:ln>
        </p:spPr>
        <p:txBody>
          <a:bodyPr wrap="none" lIns="92075" tIns="46038" rIns="92075" bIns="46038" anchor="ctr" anchorCtr="1"/>
          <a:lstStyle/>
          <a:p>
            <a:endParaRPr lang="en-US"/>
          </a:p>
        </p:txBody>
      </p:sp>
      <p:sp>
        <p:nvSpPr>
          <p:cNvPr id="6" name="Line 5"/>
          <p:cNvSpPr>
            <a:spLocks noChangeShapeType="1"/>
          </p:cNvSpPr>
          <p:nvPr/>
        </p:nvSpPr>
        <p:spPr bwMode="auto">
          <a:xfrm>
            <a:off x="4419600" y="2743200"/>
            <a:ext cx="685800" cy="457200"/>
          </a:xfrm>
          <a:prstGeom prst="line">
            <a:avLst/>
          </a:prstGeom>
          <a:noFill/>
          <a:ln w="28575">
            <a:solidFill>
              <a:schemeClr val="tx1"/>
            </a:solidFill>
            <a:round/>
            <a:headEnd/>
            <a:tailEnd type="triangle" w="med" len="med"/>
          </a:ln>
        </p:spPr>
        <p:txBody>
          <a:bodyPr wrap="none" lIns="92075" tIns="46038" rIns="92075" bIns="46038" anchor="ctr" anchorCtr="1"/>
          <a:lstStyle/>
          <a:p>
            <a:endParaRPr lang="en-US"/>
          </a:p>
        </p:txBody>
      </p:sp>
      <p:sp>
        <p:nvSpPr>
          <p:cNvPr id="7" name="Text Box 7"/>
          <p:cNvSpPr txBox="1">
            <a:spLocks noChangeArrowheads="1"/>
          </p:cNvSpPr>
          <p:nvPr/>
        </p:nvSpPr>
        <p:spPr bwMode="auto">
          <a:xfrm>
            <a:off x="838200" y="3276600"/>
            <a:ext cx="2133600" cy="369974"/>
          </a:xfrm>
          <a:prstGeom prst="rect">
            <a:avLst/>
          </a:prstGeom>
          <a:ln>
            <a:headEnd/>
            <a:tailEnd/>
          </a:ln>
        </p:spPr>
        <p:style>
          <a:lnRef idx="1">
            <a:schemeClr val="accent1"/>
          </a:lnRef>
          <a:fillRef idx="3">
            <a:schemeClr val="accent1"/>
          </a:fillRef>
          <a:effectRef idx="2">
            <a:schemeClr val="accent1"/>
          </a:effectRef>
          <a:fontRef idx="minor">
            <a:schemeClr val="lt1"/>
          </a:fontRef>
        </p:style>
        <p:txBody>
          <a:bodyPr lIns="92075" tIns="46038" rIns="92075" bIns="46038" anchorCtr="1">
            <a:spAutoFit/>
          </a:bodyPr>
          <a:lstStyle/>
          <a:p>
            <a:pPr algn="ctr" fontAlgn="base">
              <a:spcBef>
                <a:spcPct val="50000"/>
              </a:spcBef>
              <a:spcAft>
                <a:spcPct val="0"/>
              </a:spcAft>
            </a:pPr>
            <a:r>
              <a:rPr lang="en-US" dirty="0">
                <a:solidFill>
                  <a:schemeClr val="bg1"/>
                </a:solidFill>
              </a:rPr>
              <a:t>Per Occurrence</a:t>
            </a:r>
          </a:p>
        </p:txBody>
      </p:sp>
      <p:sp>
        <p:nvSpPr>
          <p:cNvPr id="8" name="Text Box 8"/>
          <p:cNvSpPr txBox="1">
            <a:spLocks noChangeArrowheads="1"/>
          </p:cNvSpPr>
          <p:nvPr/>
        </p:nvSpPr>
        <p:spPr bwMode="auto">
          <a:xfrm>
            <a:off x="5181600" y="3200400"/>
            <a:ext cx="2514600" cy="369974"/>
          </a:xfrm>
          <a:prstGeom prst="rect">
            <a:avLst/>
          </a:prstGeom>
          <a:ln>
            <a:headEnd/>
            <a:tailEnd/>
          </a:ln>
        </p:spPr>
        <p:style>
          <a:lnRef idx="1">
            <a:schemeClr val="accent4"/>
          </a:lnRef>
          <a:fillRef idx="3">
            <a:schemeClr val="accent4"/>
          </a:fillRef>
          <a:effectRef idx="2">
            <a:schemeClr val="accent4"/>
          </a:effectRef>
          <a:fontRef idx="minor">
            <a:schemeClr val="lt1"/>
          </a:fontRef>
        </p:style>
        <p:txBody>
          <a:bodyPr lIns="92075" tIns="46038" rIns="92075" bIns="46038" anchorCtr="1"/>
          <a:lstStyle/>
          <a:p>
            <a:pPr algn="ctr" fontAlgn="base">
              <a:spcBef>
                <a:spcPct val="50000"/>
              </a:spcBef>
              <a:spcAft>
                <a:spcPct val="0"/>
              </a:spcAft>
            </a:pPr>
            <a:r>
              <a:rPr lang="en-US" dirty="0">
                <a:solidFill>
                  <a:schemeClr val="bg1"/>
                </a:solidFill>
              </a:rPr>
              <a:t>Policy Aggregate</a:t>
            </a:r>
          </a:p>
        </p:txBody>
      </p:sp>
      <p:sp>
        <p:nvSpPr>
          <p:cNvPr id="11" name="Text Box 10"/>
          <p:cNvSpPr txBox="1">
            <a:spLocks noChangeArrowheads="1"/>
          </p:cNvSpPr>
          <p:nvPr/>
        </p:nvSpPr>
        <p:spPr bwMode="auto">
          <a:xfrm>
            <a:off x="5943600" y="2667000"/>
            <a:ext cx="609600" cy="369974"/>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lIns="92075" tIns="46038" rIns="92075" bIns="46038">
            <a:spAutoFit/>
          </a:bodyPr>
          <a:lstStyle/>
          <a:p>
            <a:pPr algn="ctr" fontAlgn="base">
              <a:spcBef>
                <a:spcPct val="50000"/>
              </a:spcBef>
              <a:spcAft>
                <a:spcPct val="0"/>
              </a:spcAft>
            </a:pPr>
            <a:r>
              <a:rPr lang="en-US" dirty="0"/>
              <a:t>2X</a:t>
            </a:r>
          </a:p>
        </p:txBody>
      </p:sp>
      <p:sp>
        <p:nvSpPr>
          <p:cNvPr id="12" name="TextBox 8"/>
          <p:cNvSpPr txBox="1">
            <a:spLocks noChangeArrowheads="1"/>
          </p:cNvSpPr>
          <p:nvPr/>
        </p:nvSpPr>
        <p:spPr bwMode="auto">
          <a:xfrm>
            <a:off x="762000" y="3950236"/>
            <a:ext cx="7696200" cy="1323439"/>
          </a:xfrm>
          <a:prstGeom prst="rect">
            <a:avLst/>
          </a:prstGeom>
          <a:noFill/>
          <a:ln w="9525">
            <a:noFill/>
            <a:miter lim="800000"/>
            <a:headEnd/>
            <a:tailEnd/>
          </a:ln>
        </p:spPr>
        <p:txBody>
          <a:bodyPr>
            <a:spAutoFit/>
          </a:bodyPr>
          <a:lstStyle/>
          <a:p>
            <a:pPr>
              <a:buClr>
                <a:srgbClr val="C00000"/>
              </a:buClr>
              <a:buFont typeface="Wingdings" pitchFamily="2" charset="2"/>
              <a:buChar char="v"/>
            </a:pPr>
            <a:r>
              <a:rPr lang="en-US" sz="1600" b="1" u="none" dirty="0">
                <a:solidFill>
                  <a:srgbClr val="C00000"/>
                </a:solidFill>
              </a:rPr>
              <a:t> Single Occurrence Limit – </a:t>
            </a:r>
            <a:r>
              <a:rPr lang="en-US" sz="1600" u="none" dirty="0">
                <a:solidFill>
                  <a:schemeClr val="tx1">
                    <a:lumMod val="75000"/>
                    <a:lumOff val="25000"/>
                  </a:schemeClr>
                </a:solidFill>
              </a:rPr>
              <a:t>This is the limit the insurer will pay on one occurrence</a:t>
            </a:r>
            <a:br>
              <a:rPr lang="en-US" sz="1600" u="none" dirty="0">
                <a:solidFill>
                  <a:schemeClr val="tx1">
                    <a:lumMod val="75000"/>
                    <a:lumOff val="25000"/>
                  </a:schemeClr>
                </a:solidFill>
              </a:rPr>
            </a:br>
            <a:endParaRPr lang="en-US" sz="1600" u="none" dirty="0">
              <a:solidFill>
                <a:schemeClr val="tx1">
                  <a:lumMod val="75000"/>
                  <a:lumOff val="25000"/>
                </a:schemeClr>
              </a:solidFill>
            </a:endParaRPr>
          </a:p>
          <a:p>
            <a:pPr>
              <a:buClr>
                <a:srgbClr val="C00000"/>
              </a:buClr>
              <a:buFont typeface="Wingdings" pitchFamily="2" charset="2"/>
              <a:buChar char="v"/>
            </a:pPr>
            <a:r>
              <a:rPr lang="en-US" sz="1600" b="1" u="none" dirty="0">
                <a:solidFill>
                  <a:srgbClr val="C00000"/>
                </a:solidFill>
              </a:rPr>
              <a:t> Aggregate Limit – </a:t>
            </a:r>
            <a:r>
              <a:rPr lang="en-US" sz="1600" u="none" dirty="0">
                <a:solidFill>
                  <a:schemeClr val="tx1">
                    <a:lumMod val="75000"/>
                    <a:lumOff val="25000"/>
                  </a:schemeClr>
                </a:solidFill>
              </a:rPr>
              <a:t>This is the maximum amount the insurer will pay during any policy period for all of the occurrences in the policy period. Generally, this is two times the single occurrence </a:t>
            </a:r>
            <a:r>
              <a:rPr lang="en-US" sz="1600" u="none" dirty="0" smtClean="0">
                <a:solidFill>
                  <a:schemeClr val="tx1">
                    <a:lumMod val="75000"/>
                    <a:lumOff val="25000"/>
                  </a:schemeClr>
                </a:solidFill>
              </a:rPr>
              <a:t>limit</a:t>
            </a:r>
            <a:endParaRPr lang="en-US" sz="1600" u="none" dirty="0">
              <a:solidFill>
                <a:schemeClr val="tx1">
                  <a:lumMod val="75000"/>
                  <a:lumOff val="25000"/>
                </a:schemeClr>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11</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Premium Criteria</a:t>
            </a:r>
            <a:endParaRPr lang="en-US" sz="2000" dirty="0">
              <a:solidFill>
                <a:schemeClr val="bg1"/>
              </a:solidFill>
            </a:endParaRPr>
          </a:p>
        </p:txBody>
      </p:sp>
      <p:sp>
        <p:nvSpPr>
          <p:cNvPr id="4" name="TextBox 8"/>
          <p:cNvSpPr txBox="1">
            <a:spLocks noChangeArrowheads="1"/>
          </p:cNvSpPr>
          <p:nvPr/>
        </p:nvSpPr>
        <p:spPr bwMode="auto">
          <a:xfrm>
            <a:off x="457200" y="1260931"/>
            <a:ext cx="8305800" cy="5139869"/>
          </a:xfrm>
          <a:prstGeom prst="rect">
            <a:avLst/>
          </a:prstGeom>
          <a:noFill/>
          <a:ln w="9525">
            <a:noFill/>
            <a:miter lim="800000"/>
            <a:headEnd/>
            <a:tailEnd/>
          </a:ln>
        </p:spPr>
        <p:txBody>
          <a:bodyPr wrap="square">
            <a:spAutoFit/>
          </a:bodyPr>
          <a:lstStyle/>
          <a:p>
            <a:r>
              <a:rPr lang="en-US" sz="1600" u="none" dirty="0">
                <a:solidFill>
                  <a:schemeClr val="tx1">
                    <a:lumMod val="75000"/>
                    <a:lumOff val="25000"/>
                  </a:schemeClr>
                </a:solidFill>
              </a:rPr>
              <a:t>The premium of the Business Owner's Insurance Policy may vary according to the insurance company, but the premiums are based on some common factors that include all the criteria mentioned below – </a:t>
            </a:r>
          </a:p>
          <a:p>
            <a:endParaRPr lang="en-US" sz="1600" u="none" dirty="0">
              <a:solidFill>
                <a:schemeClr val="tx1">
                  <a:lumMod val="75000"/>
                  <a:lumOff val="25000"/>
                </a:schemeClr>
              </a:solidFill>
            </a:endParaRPr>
          </a:p>
          <a:p>
            <a:pPr marL="0" lvl="1">
              <a:lnSpc>
                <a:spcPct val="150000"/>
              </a:lnSpc>
              <a:buClr>
                <a:srgbClr val="C00000"/>
              </a:buClr>
              <a:buFont typeface="Wingdings" pitchFamily="2" charset="2"/>
              <a:buChar char="v"/>
            </a:pPr>
            <a:r>
              <a:rPr lang="en-US" sz="1600" dirty="0"/>
              <a:t> </a:t>
            </a:r>
            <a:r>
              <a:rPr lang="en-US" sz="1600" dirty="0">
                <a:solidFill>
                  <a:schemeClr val="tx1">
                    <a:lumMod val="75000"/>
                    <a:lumOff val="25000"/>
                  </a:schemeClr>
                </a:solidFill>
              </a:rPr>
              <a:t>Size of the Business Premises </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Type of Business </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Extent of Offsite Activity </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Required Limits of Liability </a:t>
            </a:r>
          </a:p>
          <a:p>
            <a:r>
              <a:rPr lang="en-US" sz="1600" u="none" dirty="0">
                <a:solidFill>
                  <a:srgbClr val="C00000"/>
                </a:solidFill>
              </a:rPr>
              <a:t/>
            </a:r>
            <a:br>
              <a:rPr lang="en-US" sz="1600" u="none" dirty="0">
                <a:solidFill>
                  <a:srgbClr val="C00000"/>
                </a:solidFill>
              </a:rPr>
            </a:br>
            <a:r>
              <a:rPr lang="en-US" sz="1600" b="1" u="none" dirty="0">
                <a:solidFill>
                  <a:srgbClr val="C00000"/>
                </a:solidFill>
              </a:rPr>
              <a:t>Additionally, the following factors are also considered for determining the BOP premiums:</a:t>
            </a:r>
            <a:r>
              <a:rPr lang="en-US" sz="1600" u="none" dirty="0">
                <a:solidFill>
                  <a:srgbClr val="C00000"/>
                </a:solidFill>
              </a:rPr>
              <a:t> </a:t>
            </a:r>
          </a:p>
          <a:p>
            <a:endParaRPr lang="en-US" sz="1600" u="none" dirty="0">
              <a:solidFill>
                <a:schemeClr val="tx1">
                  <a:lumMod val="75000"/>
                  <a:lumOff val="25000"/>
                </a:schemeClr>
              </a:solidFill>
            </a:endParaRPr>
          </a:p>
          <a:p>
            <a:pPr marL="0" lvl="1">
              <a:lnSpc>
                <a:spcPct val="150000"/>
              </a:lnSpc>
              <a:buClr>
                <a:srgbClr val="C00000"/>
              </a:buClr>
              <a:buFont typeface="Wingdings" pitchFamily="2" charset="2"/>
              <a:buChar char="v"/>
            </a:pPr>
            <a:r>
              <a:rPr lang="en-US" sz="1600" dirty="0"/>
              <a:t> </a:t>
            </a:r>
            <a:r>
              <a:rPr lang="en-US" sz="1600" dirty="0">
                <a:solidFill>
                  <a:schemeClr val="tx1">
                    <a:lumMod val="75000"/>
                    <a:lumOff val="25000"/>
                  </a:schemeClr>
                </a:solidFill>
              </a:rPr>
              <a:t>Business Locations </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Financial Stability </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Security Features </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Building Construction </a:t>
            </a:r>
          </a:p>
          <a:p>
            <a:pPr marL="0" lvl="1">
              <a:lnSpc>
                <a:spcPct val="150000"/>
              </a:lnSpc>
              <a:buClr>
                <a:srgbClr val="C00000"/>
              </a:buClr>
              <a:buFont typeface="Wingdings" pitchFamily="2" charset="2"/>
              <a:buChar char="v"/>
            </a:pPr>
            <a:r>
              <a:rPr lang="en-US" sz="1600" dirty="0">
                <a:solidFill>
                  <a:schemeClr val="tx1">
                    <a:lumMod val="75000"/>
                    <a:lumOff val="25000"/>
                  </a:schemeClr>
                </a:solidFill>
              </a:rPr>
              <a:t> Risk of </a:t>
            </a:r>
            <a:r>
              <a:rPr lang="en-US" sz="1600" dirty="0" smtClean="0">
                <a:solidFill>
                  <a:schemeClr val="tx1">
                    <a:lumMod val="75000"/>
                    <a:lumOff val="25000"/>
                  </a:schemeClr>
                </a:solidFill>
              </a:rPr>
              <a:t>Fire</a:t>
            </a:r>
            <a:endParaRPr lang="en-US" sz="1600" dirty="0">
              <a:solidFill>
                <a:schemeClr val="tx1">
                  <a:lumMod val="75000"/>
                  <a:lumOff val="25000"/>
                </a:schemeClr>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12</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Premium Criteria – Class Codes</a:t>
            </a:r>
            <a:endParaRPr lang="en-US" sz="2000" dirty="0">
              <a:solidFill>
                <a:schemeClr val="bg1"/>
              </a:solidFill>
            </a:endParaRPr>
          </a:p>
        </p:txBody>
      </p:sp>
      <p:graphicFrame>
        <p:nvGraphicFramePr>
          <p:cNvPr id="5" name="Table 4"/>
          <p:cNvGraphicFramePr>
            <a:graphicFrameLocks noGrp="1"/>
          </p:cNvGraphicFramePr>
          <p:nvPr/>
        </p:nvGraphicFramePr>
        <p:xfrm>
          <a:off x="685801" y="1371596"/>
          <a:ext cx="7146676" cy="4067186"/>
        </p:xfrm>
        <a:graphic>
          <a:graphicData uri="http://schemas.openxmlformats.org/drawingml/2006/table">
            <a:tbl>
              <a:tblPr/>
              <a:tblGrid>
                <a:gridCol w="2670344"/>
                <a:gridCol w="2484307"/>
                <a:gridCol w="1110497"/>
                <a:gridCol w="881528"/>
              </a:tblGrid>
              <a:tr h="304346">
                <a:tc>
                  <a:txBody>
                    <a:bodyPr/>
                    <a:lstStyle/>
                    <a:p>
                      <a:pPr algn="l" fontAlgn="b"/>
                      <a:r>
                        <a:rPr lang="en-US" sz="900" b="1" i="0" u="none" strike="noStrike" dirty="0">
                          <a:latin typeface="Arial"/>
                        </a:rPr>
                        <a:t>DESC</a:t>
                      </a:r>
                    </a:p>
                  </a:txBody>
                  <a:tcPr marL="6804" marR="6804" marT="6804" marB="0" anchor="b">
                    <a:lnL>
                      <a:noFill/>
                    </a:lnL>
                    <a:lnR>
                      <a:noFill/>
                    </a:lnR>
                    <a:lnT>
                      <a:noFill/>
                    </a:lnT>
                    <a:lnB>
                      <a:noFill/>
                    </a:lnB>
                    <a:noFill/>
                  </a:tcPr>
                </a:tc>
                <a:tc>
                  <a:txBody>
                    <a:bodyPr/>
                    <a:lstStyle/>
                    <a:p>
                      <a:pPr algn="l" fontAlgn="b"/>
                      <a:r>
                        <a:rPr lang="en-US" sz="900" b="1" i="0" u="none" strike="noStrike">
                          <a:latin typeface="Arial"/>
                        </a:rPr>
                        <a:t>Code</a:t>
                      </a:r>
                    </a:p>
                  </a:txBody>
                  <a:tcPr marL="6804" marR="6804" marT="6804" marB="0" anchor="b">
                    <a:lnL>
                      <a:noFill/>
                    </a:lnL>
                    <a:lnR>
                      <a:noFill/>
                    </a:lnR>
                    <a:lnT>
                      <a:noFill/>
                    </a:lnT>
                    <a:lnB>
                      <a:noFill/>
                    </a:lnB>
                    <a:noFill/>
                  </a:tcPr>
                </a:tc>
                <a:tc>
                  <a:txBody>
                    <a:bodyPr/>
                    <a:lstStyle/>
                    <a:p>
                      <a:pPr algn="l" fontAlgn="b"/>
                      <a:r>
                        <a:rPr lang="en-US" sz="900" b="1" i="0" u="sng" strike="noStrike" dirty="0">
                          <a:solidFill>
                            <a:srgbClr val="0000FF"/>
                          </a:solidFill>
                          <a:latin typeface="Arial"/>
                        </a:rPr>
                        <a:t>Classification</a:t>
                      </a:r>
                    </a:p>
                  </a:txBody>
                  <a:tcPr marL="6804" marR="6804" marT="6804" marB="0" anchor="b">
                    <a:lnL>
                      <a:noFill/>
                    </a:lnL>
                    <a:lnR>
                      <a:noFill/>
                    </a:lnR>
                    <a:lnT>
                      <a:noFill/>
                    </a:lnT>
                    <a:lnB>
                      <a:noFill/>
                    </a:lnB>
                    <a:noFill/>
                  </a:tcPr>
                </a:tc>
                <a:tc>
                  <a:txBody>
                    <a:bodyPr/>
                    <a:lstStyle/>
                    <a:p>
                      <a:pPr algn="l" fontAlgn="b"/>
                      <a:r>
                        <a:rPr lang="en-US" sz="900" b="1" i="0" u="none" strike="noStrike">
                          <a:latin typeface="Arial"/>
                        </a:rPr>
                        <a:t>Entprrise Code (Enum)</a:t>
                      </a:r>
                    </a:p>
                  </a:txBody>
                  <a:tcPr marL="6804" marR="6804" marT="6804" marB="0" anchor="b">
                    <a:lnL>
                      <a:noFill/>
                    </a:lnL>
                    <a:lnR>
                      <a:noFill/>
                    </a:lnR>
                    <a:lnT>
                      <a:noFill/>
                    </a:lnT>
                    <a:lnB>
                      <a:noFill/>
                    </a:lnB>
                    <a:noFill/>
                  </a:tcPr>
                </a:tc>
              </a:tr>
              <a:tr h="156785">
                <a:tc>
                  <a:txBody>
                    <a:bodyPr/>
                    <a:lstStyle/>
                    <a:p>
                      <a:pPr algn="l" fontAlgn="b"/>
                      <a:r>
                        <a:rPr lang="en-US" sz="900" b="0" i="0" u="none" strike="noStrike" dirty="0">
                          <a:latin typeface="Arial"/>
                        </a:rPr>
                        <a:t>AC and Heating Distributor/Wholesaler</a:t>
                      </a:r>
                    </a:p>
                  </a:txBody>
                  <a:tcPr marL="6804" marR="6804" marT="6804" marB="0" anchor="b">
                    <a:lnL>
                      <a:noFill/>
                    </a:lnL>
                    <a:lnR>
                      <a:noFill/>
                    </a:lnR>
                    <a:lnT>
                      <a:noFill/>
                    </a:lnT>
                    <a:lnB>
                      <a:noFill/>
                    </a:lnB>
                    <a:noFill/>
                  </a:tcPr>
                </a:tc>
                <a:tc>
                  <a:txBody>
                    <a:bodyPr/>
                    <a:lstStyle/>
                    <a:p>
                      <a:pPr algn="l" fontAlgn="b"/>
                      <a:r>
                        <a:rPr lang="en-US" sz="900" b="0" i="0" u="none" strike="noStrike" dirty="0" err="1">
                          <a:latin typeface="Arial"/>
                        </a:rPr>
                        <a:t>ACHeatingDistrWholesaler</a:t>
                      </a:r>
                      <a:endParaRPr lang="en-US" sz="900" b="0" i="0" u="none" strike="noStrike" dirty="0">
                        <a:latin typeface="Arial"/>
                      </a:endParaRP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Wholesale</a:t>
                      </a:r>
                    </a:p>
                  </a:txBody>
                  <a:tcPr marL="6804" marR="6804" marT="6804" marB="0" anchor="b">
                    <a:lnL>
                      <a:noFill/>
                    </a:lnL>
                    <a:lnR>
                      <a:noFill/>
                    </a:lnR>
                    <a:lnT>
                      <a:noFill/>
                    </a:lnT>
                    <a:lnB>
                      <a:noFill/>
                    </a:lnB>
                    <a:noFill/>
                  </a:tcPr>
                </a:tc>
                <a:tc>
                  <a:txBody>
                    <a:bodyPr/>
                    <a:lstStyle/>
                    <a:p>
                      <a:pPr algn="r" fontAlgn="b"/>
                      <a:r>
                        <a:rPr lang="en-US" sz="900" b="0" i="0" u="none" strike="noStrike">
                          <a:latin typeface="Arial"/>
                        </a:rPr>
                        <a:t>8465</a:t>
                      </a:r>
                    </a:p>
                  </a:txBody>
                  <a:tcPr marL="6804" marR="6804" marT="6804" marB="0" anchor="b">
                    <a:lnL>
                      <a:noFill/>
                    </a:lnL>
                    <a:lnR>
                      <a:noFill/>
                    </a:lnR>
                    <a:lnT>
                      <a:noFill/>
                    </a:lnT>
                    <a:lnB>
                      <a:noFill/>
                    </a:lnB>
                    <a:noFill/>
                  </a:tcPr>
                </a:tc>
              </a:tr>
              <a:tr h="156785">
                <a:tc>
                  <a:txBody>
                    <a:bodyPr/>
                    <a:lstStyle/>
                    <a:p>
                      <a:pPr algn="l" fontAlgn="b"/>
                      <a:r>
                        <a:rPr lang="en-US" sz="900" b="0" i="0" u="none" strike="noStrike" dirty="0">
                          <a:latin typeface="Arial"/>
                        </a:rPr>
                        <a:t>AC and Heating Equipment/Supplies Retail</a:t>
                      </a:r>
                    </a:p>
                  </a:txBody>
                  <a:tcPr marL="6804" marR="6804" marT="6804" marB="0" anchor="b">
                    <a:lnL>
                      <a:noFill/>
                    </a:lnL>
                    <a:lnR>
                      <a:noFill/>
                    </a:lnR>
                    <a:lnT>
                      <a:noFill/>
                    </a:lnT>
                    <a:lnB>
                      <a:noFill/>
                    </a:lnB>
                    <a:noFill/>
                  </a:tcPr>
                </a:tc>
                <a:tc>
                  <a:txBody>
                    <a:bodyPr/>
                    <a:lstStyle/>
                    <a:p>
                      <a:pPr algn="l" fontAlgn="b"/>
                      <a:r>
                        <a:rPr lang="en-US" sz="900" b="0" i="0" u="none" strike="noStrike" dirty="0" err="1">
                          <a:latin typeface="Arial"/>
                        </a:rPr>
                        <a:t>ACHeatingEquipSupplyRtl</a:t>
                      </a:r>
                      <a:endParaRPr lang="en-US" sz="900" b="0" i="0" u="none" strike="noStrike" dirty="0">
                        <a:latin typeface="Arial"/>
                      </a:endParaRP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Mercantile</a:t>
                      </a:r>
                    </a:p>
                  </a:txBody>
                  <a:tcPr marL="6804" marR="6804" marT="6804" marB="0" anchor="b">
                    <a:lnL>
                      <a:noFill/>
                    </a:lnL>
                    <a:lnR>
                      <a:noFill/>
                    </a:lnR>
                    <a:lnT>
                      <a:noFill/>
                    </a:lnT>
                    <a:lnB>
                      <a:noFill/>
                    </a:lnB>
                    <a:noFill/>
                  </a:tcPr>
                </a:tc>
                <a:tc>
                  <a:txBody>
                    <a:bodyPr/>
                    <a:lstStyle/>
                    <a:p>
                      <a:pPr algn="r" fontAlgn="b"/>
                      <a:r>
                        <a:rPr lang="en-US" sz="900" b="0" i="0" u="none" strike="noStrike">
                          <a:latin typeface="Arial"/>
                        </a:rPr>
                        <a:t>8466</a:t>
                      </a:r>
                    </a:p>
                  </a:txBody>
                  <a:tcPr marL="6804" marR="6804" marT="6804" marB="0" anchor="b">
                    <a:lnL>
                      <a:noFill/>
                    </a:lnL>
                    <a:lnR>
                      <a:noFill/>
                    </a:lnR>
                    <a:lnT>
                      <a:noFill/>
                    </a:lnT>
                    <a:lnB>
                      <a:noFill/>
                    </a:lnB>
                    <a:noFill/>
                  </a:tcPr>
                </a:tc>
              </a:tr>
              <a:tr h="156785">
                <a:tc>
                  <a:txBody>
                    <a:bodyPr/>
                    <a:lstStyle/>
                    <a:p>
                      <a:pPr algn="l" fontAlgn="b"/>
                      <a:r>
                        <a:rPr lang="en-US" sz="900" b="0" i="0" u="none" strike="noStrike" dirty="0">
                          <a:latin typeface="Arial"/>
                        </a:rPr>
                        <a:t>Accounting &amp; Auditing Office</a:t>
                      </a:r>
                    </a:p>
                  </a:txBody>
                  <a:tcPr marL="6804" marR="6804" marT="6804" marB="0" anchor="b">
                    <a:lnL>
                      <a:noFill/>
                    </a:lnL>
                    <a:lnR>
                      <a:noFill/>
                    </a:lnR>
                    <a:lnT>
                      <a:noFill/>
                    </a:lnT>
                    <a:lnB>
                      <a:noFill/>
                    </a:lnB>
                    <a:noFill/>
                  </a:tcPr>
                </a:tc>
                <a:tc>
                  <a:txBody>
                    <a:bodyPr/>
                    <a:lstStyle/>
                    <a:p>
                      <a:pPr algn="l" fontAlgn="b"/>
                      <a:r>
                        <a:rPr lang="en-US" sz="900" b="0" i="0" u="none" strike="noStrike" dirty="0" err="1">
                          <a:latin typeface="Arial"/>
                        </a:rPr>
                        <a:t>AccountingAuditingOffice</a:t>
                      </a:r>
                      <a:endParaRPr lang="en-US" sz="900" b="0" i="0" u="none" strike="noStrike" dirty="0">
                        <a:latin typeface="Arial"/>
                      </a:endParaRP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Office</a:t>
                      </a:r>
                    </a:p>
                  </a:txBody>
                  <a:tcPr marL="6804" marR="6804" marT="6804" marB="0" anchor="b">
                    <a:lnL>
                      <a:noFill/>
                    </a:lnL>
                    <a:lnR>
                      <a:noFill/>
                    </a:lnR>
                    <a:lnT>
                      <a:noFill/>
                    </a:lnT>
                    <a:lnB>
                      <a:noFill/>
                    </a:lnB>
                    <a:noFill/>
                  </a:tcPr>
                </a:tc>
                <a:tc>
                  <a:txBody>
                    <a:bodyPr/>
                    <a:lstStyle/>
                    <a:p>
                      <a:pPr algn="r" fontAlgn="b"/>
                      <a:r>
                        <a:rPr lang="en-US" sz="900" b="0" i="0" u="none" strike="noStrike">
                          <a:latin typeface="Arial"/>
                        </a:rPr>
                        <a:t>8467</a:t>
                      </a:r>
                    </a:p>
                  </a:txBody>
                  <a:tcPr marL="6804" marR="6804" marT="6804" marB="0" anchor="b">
                    <a:lnL>
                      <a:noFill/>
                    </a:lnL>
                    <a:lnR>
                      <a:noFill/>
                    </a:lnR>
                    <a:lnT>
                      <a:noFill/>
                    </a:lnT>
                    <a:lnB>
                      <a:noFill/>
                    </a:lnB>
                    <a:noFill/>
                  </a:tcPr>
                </a:tc>
              </a:tr>
              <a:tr h="156785">
                <a:tc>
                  <a:txBody>
                    <a:bodyPr/>
                    <a:lstStyle/>
                    <a:p>
                      <a:pPr algn="l" fontAlgn="b"/>
                      <a:r>
                        <a:rPr lang="en-US" sz="900" b="0" i="0" u="none" strike="noStrike" dirty="0">
                          <a:latin typeface="Arial"/>
                        </a:rPr>
                        <a:t>Advertising Office</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AdvertisingOffice</a:t>
                      </a:r>
                    </a:p>
                  </a:txBody>
                  <a:tcPr marL="6804" marR="6804" marT="6804" marB="0" anchor="b">
                    <a:lnL>
                      <a:noFill/>
                    </a:lnL>
                    <a:lnR>
                      <a:noFill/>
                    </a:lnR>
                    <a:lnT>
                      <a:noFill/>
                    </a:lnT>
                    <a:lnB>
                      <a:noFill/>
                    </a:lnB>
                    <a:noFill/>
                  </a:tcPr>
                </a:tc>
                <a:tc>
                  <a:txBody>
                    <a:bodyPr/>
                    <a:lstStyle/>
                    <a:p>
                      <a:pPr algn="l" fontAlgn="b"/>
                      <a:r>
                        <a:rPr lang="en-US" sz="900" b="0" i="0" u="none" strike="noStrike" dirty="0">
                          <a:solidFill>
                            <a:srgbClr val="0000FF"/>
                          </a:solidFill>
                          <a:latin typeface="Arial"/>
                        </a:rPr>
                        <a:t>Office</a:t>
                      </a:r>
                    </a:p>
                  </a:txBody>
                  <a:tcPr marL="6804" marR="6804" marT="6804" marB="0" anchor="b">
                    <a:lnL>
                      <a:noFill/>
                    </a:lnL>
                    <a:lnR>
                      <a:noFill/>
                    </a:lnR>
                    <a:lnT>
                      <a:noFill/>
                    </a:lnT>
                    <a:lnB>
                      <a:noFill/>
                    </a:lnB>
                    <a:noFill/>
                  </a:tcPr>
                </a:tc>
                <a:tc>
                  <a:txBody>
                    <a:bodyPr/>
                    <a:lstStyle/>
                    <a:p>
                      <a:pPr algn="r" fontAlgn="b"/>
                      <a:r>
                        <a:rPr lang="en-US" sz="900" b="0" i="0" u="none" strike="noStrike">
                          <a:latin typeface="Arial"/>
                        </a:rPr>
                        <a:t>8468</a:t>
                      </a:r>
                    </a:p>
                  </a:txBody>
                  <a:tcPr marL="6804" marR="6804" marT="6804" marB="0" anchor="b">
                    <a:lnL>
                      <a:noFill/>
                    </a:lnL>
                    <a:lnR>
                      <a:noFill/>
                    </a:lnR>
                    <a:lnT>
                      <a:noFill/>
                    </a:lnT>
                    <a:lnB>
                      <a:noFill/>
                    </a:lnB>
                    <a:noFill/>
                  </a:tcPr>
                </a:tc>
              </a:tr>
              <a:tr h="156785">
                <a:tc>
                  <a:txBody>
                    <a:bodyPr/>
                    <a:lstStyle/>
                    <a:p>
                      <a:pPr algn="l" fontAlgn="b"/>
                      <a:r>
                        <a:rPr lang="en-US" sz="900" b="0" i="0" u="none" strike="noStrike" dirty="0">
                          <a:latin typeface="Arial"/>
                        </a:rPr>
                        <a:t>Animal Hospital Office</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AnimalHospitalOffice</a:t>
                      </a:r>
                    </a:p>
                  </a:txBody>
                  <a:tcPr marL="6804" marR="6804" marT="6804" marB="0" anchor="b">
                    <a:lnL>
                      <a:noFill/>
                    </a:lnL>
                    <a:lnR>
                      <a:noFill/>
                    </a:lnR>
                    <a:lnT>
                      <a:noFill/>
                    </a:lnT>
                    <a:lnB>
                      <a:noFill/>
                    </a:lnB>
                    <a:noFill/>
                  </a:tcPr>
                </a:tc>
                <a:tc>
                  <a:txBody>
                    <a:bodyPr/>
                    <a:lstStyle/>
                    <a:p>
                      <a:pPr algn="l" fontAlgn="b"/>
                      <a:r>
                        <a:rPr lang="en-US" sz="900" b="0" i="0" u="none" strike="noStrike" dirty="0">
                          <a:solidFill>
                            <a:srgbClr val="0000FF"/>
                          </a:solidFill>
                          <a:latin typeface="Arial"/>
                        </a:rPr>
                        <a:t>Office</a:t>
                      </a:r>
                    </a:p>
                  </a:txBody>
                  <a:tcPr marL="6804" marR="6804" marT="6804" marB="0" anchor="b">
                    <a:lnL>
                      <a:noFill/>
                    </a:lnL>
                    <a:lnR>
                      <a:noFill/>
                    </a:lnR>
                    <a:lnT>
                      <a:noFill/>
                    </a:lnT>
                    <a:lnB>
                      <a:noFill/>
                    </a:lnB>
                    <a:noFill/>
                  </a:tcPr>
                </a:tc>
                <a:tc>
                  <a:txBody>
                    <a:bodyPr/>
                    <a:lstStyle/>
                    <a:p>
                      <a:pPr algn="r" fontAlgn="b"/>
                      <a:r>
                        <a:rPr lang="en-US" sz="900" b="0" i="0" u="none" strike="noStrike">
                          <a:latin typeface="Arial"/>
                        </a:rPr>
                        <a:t>8469</a:t>
                      </a:r>
                    </a:p>
                  </a:txBody>
                  <a:tcPr marL="6804" marR="6804" marT="6804" marB="0" anchor="b">
                    <a:lnL>
                      <a:noFill/>
                    </a:lnL>
                    <a:lnR>
                      <a:noFill/>
                    </a:lnR>
                    <a:lnT>
                      <a:noFill/>
                    </a:lnT>
                    <a:lnB>
                      <a:noFill/>
                    </a:lnB>
                    <a:noFill/>
                  </a:tcPr>
                </a:tc>
              </a:tr>
              <a:tr h="156785">
                <a:tc>
                  <a:txBody>
                    <a:bodyPr/>
                    <a:lstStyle/>
                    <a:p>
                      <a:pPr algn="l" fontAlgn="b"/>
                      <a:r>
                        <a:rPr lang="en-US" sz="900" b="0" i="0" u="none" strike="noStrike" dirty="0">
                          <a:latin typeface="Arial"/>
                        </a:rPr>
                        <a:t>Appliances - Sales and Service Retail</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ApplianceSalesSvcRetail</a:t>
                      </a:r>
                    </a:p>
                  </a:txBody>
                  <a:tcPr marL="6804" marR="6804" marT="6804" marB="0" anchor="b">
                    <a:lnL>
                      <a:noFill/>
                    </a:lnL>
                    <a:lnR>
                      <a:noFill/>
                    </a:lnR>
                    <a:lnT>
                      <a:noFill/>
                    </a:lnT>
                    <a:lnB>
                      <a:noFill/>
                    </a:lnB>
                    <a:noFill/>
                  </a:tcPr>
                </a:tc>
                <a:tc>
                  <a:txBody>
                    <a:bodyPr/>
                    <a:lstStyle/>
                    <a:p>
                      <a:pPr algn="l" fontAlgn="b"/>
                      <a:r>
                        <a:rPr lang="en-US" sz="900" b="0" i="0" u="none" strike="noStrike" dirty="0">
                          <a:solidFill>
                            <a:srgbClr val="0000FF"/>
                          </a:solidFill>
                          <a:latin typeface="Arial"/>
                        </a:rPr>
                        <a:t>Mercantile</a:t>
                      </a:r>
                    </a:p>
                  </a:txBody>
                  <a:tcPr marL="6804" marR="6804" marT="6804" marB="0" anchor="b">
                    <a:lnL>
                      <a:noFill/>
                    </a:lnL>
                    <a:lnR>
                      <a:noFill/>
                    </a:lnR>
                    <a:lnT>
                      <a:noFill/>
                    </a:lnT>
                    <a:lnB>
                      <a:noFill/>
                    </a:lnB>
                    <a:noFill/>
                  </a:tcPr>
                </a:tc>
                <a:tc>
                  <a:txBody>
                    <a:bodyPr/>
                    <a:lstStyle/>
                    <a:p>
                      <a:pPr algn="r" fontAlgn="b"/>
                      <a:r>
                        <a:rPr lang="en-US" sz="900" b="0" i="0" u="none" strike="noStrike">
                          <a:latin typeface="Arial"/>
                        </a:rPr>
                        <a:t>8470</a:t>
                      </a:r>
                    </a:p>
                  </a:txBody>
                  <a:tcPr marL="6804" marR="6804" marT="6804" marB="0" anchor="b">
                    <a:lnL>
                      <a:noFill/>
                    </a:lnL>
                    <a:lnR>
                      <a:noFill/>
                    </a:lnR>
                    <a:lnT>
                      <a:noFill/>
                    </a:lnT>
                    <a:lnB>
                      <a:noFill/>
                    </a:lnB>
                    <a:noFill/>
                  </a:tcPr>
                </a:tc>
              </a:tr>
              <a:tr h="156785">
                <a:tc>
                  <a:txBody>
                    <a:bodyPr/>
                    <a:lstStyle/>
                    <a:p>
                      <a:pPr algn="l" fontAlgn="b"/>
                      <a:r>
                        <a:rPr lang="en-US" sz="900" b="0" i="0" u="none" strike="noStrike" dirty="0">
                          <a:latin typeface="Arial"/>
                        </a:rPr>
                        <a:t>Appliances-Household-Sales &amp; Service Wholesale</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ApplianceHshldSalesSvcWsl</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Wholesale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8471</a:t>
                      </a:r>
                    </a:p>
                  </a:txBody>
                  <a:tcPr marL="6804" marR="6804" marT="6804" marB="0" anchor="b">
                    <a:lnL>
                      <a:noFill/>
                    </a:lnL>
                    <a:lnR>
                      <a:noFill/>
                    </a:lnR>
                    <a:lnT>
                      <a:noFill/>
                    </a:lnT>
                    <a:lnB>
                      <a:noFill/>
                    </a:lnB>
                    <a:noFill/>
                  </a:tcPr>
                </a:tc>
              </a:tr>
              <a:tr h="156785">
                <a:tc>
                  <a:txBody>
                    <a:bodyPr/>
                    <a:lstStyle/>
                    <a:p>
                      <a:pPr algn="l" fontAlgn="b"/>
                      <a:r>
                        <a:rPr lang="en-US" sz="900" b="0" i="0" u="none" strike="noStrike" dirty="0">
                          <a:latin typeface="Arial"/>
                        </a:rPr>
                        <a:t>Appraiser Office</a:t>
                      </a:r>
                    </a:p>
                  </a:txBody>
                  <a:tcPr marL="6804" marR="6804" marT="6804" marB="0" anchor="b">
                    <a:lnL>
                      <a:noFill/>
                    </a:lnL>
                    <a:lnR>
                      <a:noFill/>
                    </a:lnR>
                    <a:lnT>
                      <a:noFill/>
                    </a:lnT>
                    <a:lnB>
                      <a:noFill/>
                    </a:lnB>
                    <a:noFill/>
                  </a:tcPr>
                </a:tc>
                <a:tc>
                  <a:txBody>
                    <a:bodyPr/>
                    <a:lstStyle/>
                    <a:p>
                      <a:pPr algn="l" fontAlgn="b"/>
                      <a:r>
                        <a:rPr lang="en-US" sz="900" b="0" i="0" u="none" strike="noStrike" dirty="0" err="1">
                          <a:latin typeface="Arial"/>
                        </a:rPr>
                        <a:t>AppraiserOffice</a:t>
                      </a:r>
                      <a:endParaRPr lang="en-US" sz="900" b="0" i="0" u="none" strike="noStrike" dirty="0">
                        <a:latin typeface="Arial"/>
                      </a:endParaRPr>
                    </a:p>
                  </a:txBody>
                  <a:tcPr marL="6804" marR="6804" marT="6804" marB="0" anchor="b">
                    <a:lnL>
                      <a:noFill/>
                    </a:lnL>
                    <a:lnR>
                      <a:noFill/>
                    </a:lnR>
                    <a:lnT>
                      <a:noFill/>
                    </a:lnT>
                    <a:lnB>
                      <a:noFill/>
                    </a:lnB>
                    <a:noFill/>
                  </a:tcPr>
                </a:tc>
                <a:tc>
                  <a:txBody>
                    <a:bodyPr/>
                    <a:lstStyle/>
                    <a:p>
                      <a:pPr algn="l" fontAlgn="b"/>
                      <a:r>
                        <a:rPr lang="en-US" sz="900" b="0" i="0" u="none" strike="noStrike" dirty="0">
                          <a:solidFill>
                            <a:srgbClr val="0000FF"/>
                          </a:solidFill>
                          <a:latin typeface="Arial"/>
                        </a:rPr>
                        <a:t>Office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8472</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Architect Office</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ArchitectOffice</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Office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8473</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Arts &amp; Craft Store Retail</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ArtsCraftsStoreRetail</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Mercantile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8474</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Arts &amp; Craft Store Wholesale</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ArtsCraftsStoreWholesale</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Wholesale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8475</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Attorney</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Attorney</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Office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8476</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Automotive Parts &amp; Accessories Retail</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AutoPartsAccessRetail</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Mercantile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8477</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Automotive Parts &amp; Accessories Wholesale</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AutoPartsAccessWholesale</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Wholesale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8478</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Bakery-No Comml Cooking on Premises Retail</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BakryWOCommlCookOnPremRtl</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Mercantile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8479</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Bakery-No Comml Cooking on Premises Whsle</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BakryWOCommlCook</a:t>
                      </a:r>
                      <a:r>
                        <a:rPr lang="en-US" sz="900" b="0" i="0" u="none" strike="noStrike">
                          <a:solidFill>
                            <a:srgbClr val="FF0000"/>
                          </a:solidFill>
                          <a:latin typeface="Arial"/>
                        </a:rPr>
                        <a:t>On</a:t>
                      </a:r>
                      <a:r>
                        <a:rPr lang="en-US" sz="900" b="0" i="0" u="none" strike="noStrike">
                          <a:latin typeface="Arial"/>
                        </a:rPr>
                        <a:t>PremWsl</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Wholesale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8480</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Balloons Retail</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BalloonsRetail</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Mercantile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8481</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Balloons Wholesale</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BalloonsWholesale</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Wholesale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8482</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Barber &amp; Beauty Supplies Retail only</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BarberBeautySupplyRetail</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Mercantile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8483</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Barber Shop</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BarberShop</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Service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8484</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Baseball Cards, Stamps/Other Collectibles Retail</a:t>
                      </a:r>
                    </a:p>
                  </a:txBody>
                  <a:tcPr marL="6804" marR="6804" marT="6804" marB="0" anchor="b">
                    <a:lnL>
                      <a:noFill/>
                    </a:lnL>
                    <a:lnR>
                      <a:noFill/>
                    </a:lnR>
                    <a:lnT>
                      <a:noFill/>
                    </a:lnT>
                    <a:lnB>
                      <a:noFill/>
                    </a:lnB>
                    <a:noFill/>
                  </a:tcPr>
                </a:tc>
                <a:tc>
                  <a:txBody>
                    <a:bodyPr/>
                    <a:lstStyle/>
                    <a:p>
                      <a:pPr algn="l" fontAlgn="b"/>
                      <a:r>
                        <a:rPr lang="en-US" sz="900" b="0" i="0" u="none" strike="noStrike" dirty="0" err="1">
                          <a:latin typeface="Arial"/>
                        </a:rPr>
                        <a:t>BasballCardStampsCllctRtl</a:t>
                      </a:r>
                      <a:endParaRPr lang="en-US" sz="900" b="0" i="0" u="none" strike="noStrike" dirty="0">
                        <a:latin typeface="Arial"/>
                      </a:endParaRP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Mercantile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8485</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Baskets Retail</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BasketsRetail</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Mercantile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8486</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Baskets Wholesale</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BasketsWholesale</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Wholesale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8487</a:t>
                      </a:r>
                    </a:p>
                  </a:txBody>
                  <a:tcPr marL="6804" marR="6804" marT="6804" marB="0" anchor="b">
                    <a:lnL>
                      <a:noFill/>
                    </a:lnL>
                    <a:lnR>
                      <a:noFill/>
                    </a:lnR>
                    <a:lnT>
                      <a:noFill/>
                    </a:lnT>
                    <a:lnB>
                      <a:noFill/>
                    </a:lnB>
                    <a:noFill/>
                  </a:tcPr>
                </a:tc>
              </a:tr>
              <a:tr h="156785">
                <a:tc>
                  <a:txBody>
                    <a:bodyPr/>
                    <a:lstStyle/>
                    <a:p>
                      <a:pPr algn="l" fontAlgn="b"/>
                      <a:r>
                        <a:rPr lang="en-US" sz="900" b="0" i="0" u="none" strike="noStrike">
                          <a:latin typeface="Arial"/>
                        </a:rPr>
                        <a:t>Beauty Shop</a:t>
                      </a:r>
                    </a:p>
                  </a:txBody>
                  <a:tcPr marL="6804" marR="6804" marT="6804" marB="0" anchor="b">
                    <a:lnL>
                      <a:noFill/>
                    </a:lnL>
                    <a:lnR>
                      <a:noFill/>
                    </a:lnR>
                    <a:lnT>
                      <a:noFill/>
                    </a:lnT>
                    <a:lnB>
                      <a:noFill/>
                    </a:lnB>
                    <a:noFill/>
                  </a:tcPr>
                </a:tc>
                <a:tc>
                  <a:txBody>
                    <a:bodyPr/>
                    <a:lstStyle/>
                    <a:p>
                      <a:pPr algn="l" fontAlgn="b"/>
                      <a:r>
                        <a:rPr lang="en-US" sz="900" b="0" i="0" u="none" strike="noStrike">
                          <a:latin typeface="Arial"/>
                        </a:rPr>
                        <a:t>BeautyShop</a:t>
                      </a:r>
                    </a:p>
                  </a:txBody>
                  <a:tcPr marL="6804" marR="6804" marT="6804" marB="0" anchor="b">
                    <a:lnL>
                      <a:noFill/>
                    </a:lnL>
                    <a:lnR>
                      <a:noFill/>
                    </a:lnR>
                    <a:lnT>
                      <a:noFill/>
                    </a:lnT>
                    <a:lnB>
                      <a:noFill/>
                    </a:lnB>
                    <a:noFill/>
                  </a:tcPr>
                </a:tc>
                <a:tc>
                  <a:txBody>
                    <a:bodyPr/>
                    <a:lstStyle/>
                    <a:p>
                      <a:pPr algn="l" fontAlgn="b"/>
                      <a:r>
                        <a:rPr lang="en-US" sz="900" b="0" i="0" u="none" strike="noStrike">
                          <a:solidFill>
                            <a:srgbClr val="0000FF"/>
                          </a:solidFill>
                          <a:latin typeface="Arial"/>
                        </a:rPr>
                        <a:t>Service</a:t>
                      </a:r>
                    </a:p>
                  </a:txBody>
                  <a:tcPr marL="6804" marR="6804" marT="6804" marB="0" anchor="b">
                    <a:lnL>
                      <a:noFill/>
                    </a:lnL>
                    <a:lnR>
                      <a:noFill/>
                    </a:lnR>
                    <a:lnT>
                      <a:noFill/>
                    </a:lnT>
                    <a:lnB>
                      <a:noFill/>
                    </a:lnB>
                    <a:noFill/>
                  </a:tcPr>
                </a:tc>
                <a:tc>
                  <a:txBody>
                    <a:bodyPr/>
                    <a:lstStyle/>
                    <a:p>
                      <a:pPr algn="r" fontAlgn="b"/>
                      <a:r>
                        <a:rPr lang="en-US" sz="900" b="0" i="0" u="none" strike="noStrike" dirty="0">
                          <a:latin typeface="Arial"/>
                        </a:rPr>
                        <a:t>8488</a:t>
                      </a:r>
                    </a:p>
                  </a:txBody>
                  <a:tcPr marL="6804" marR="6804" marT="6804" marB="0" anchor="b">
                    <a:lnL>
                      <a:noFill/>
                    </a:lnL>
                    <a:lnR>
                      <a:noFill/>
                    </a:lnR>
                    <a:lnT>
                      <a:noFill/>
                    </a:lnT>
                    <a:lnB>
                      <a:noFill/>
                    </a:lnB>
                    <a:no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13</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 Business Owners Policy Term</a:t>
            </a:r>
            <a:endParaRPr lang="en-US" sz="2000" dirty="0">
              <a:solidFill>
                <a:schemeClr val="bg1"/>
              </a:solidFill>
            </a:endParaRPr>
          </a:p>
        </p:txBody>
      </p:sp>
      <p:sp>
        <p:nvSpPr>
          <p:cNvPr id="4" name="Text Box 28"/>
          <p:cNvSpPr txBox="1">
            <a:spLocks noChangeArrowheads="1"/>
          </p:cNvSpPr>
          <p:nvPr/>
        </p:nvSpPr>
        <p:spPr bwMode="auto">
          <a:xfrm>
            <a:off x="381000" y="2819400"/>
            <a:ext cx="6629400" cy="1816524"/>
          </a:xfrm>
          <a:prstGeom prst="rect">
            <a:avLst/>
          </a:prstGeom>
          <a:noFill/>
          <a:ln w="12700" algn="ctr">
            <a:noFill/>
            <a:miter lim="800000"/>
            <a:headEnd/>
            <a:tailEnd/>
          </a:ln>
        </p:spPr>
        <p:txBody>
          <a:bodyPr lIns="92075" tIns="46038" rIns="92075" bIns="46038">
            <a:spAutoFit/>
          </a:bodyPr>
          <a:lstStyle/>
          <a:p>
            <a:r>
              <a:rPr lang="en-US" sz="1600" b="1" dirty="0">
                <a:solidFill>
                  <a:srgbClr val="C00000"/>
                </a:solidFill>
              </a:rPr>
              <a:t>Policies can be written </a:t>
            </a:r>
          </a:p>
          <a:p>
            <a:pPr>
              <a:buFontTx/>
              <a:buChar char="•"/>
            </a:pPr>
            <a:endParaRPr lang="en-US" sz="1600" dirty="0">
              <a:solidFill>
                <a:schemeClr val="tx1">
                  <a:lumMod val="75000"/>
                  <a:lumOff val="25000"/>
                </a:schemeClr>
              </a:solidFill>
            </a:endParaRPr>
          </a:p>
          <a:p>
            <a:pPr lvl="1">
              <a:buClr>
                <a:srgbClr val="C00000"/>
              </a:buClr>
              <a:buFont typeface="Wingdings" pitchFamily="2" charset="2"/>
              <a:buChar char="v"/>
            </a:pPr>
            <a:r>
              <a:rPr lang="en-US" sz="1600" u="none" dirty="0">
                <a:solidFill>
                  <a:schemeClr val="tx1">
                    <a:lumMod val="75000"/>
                    <a:lumOff val="25000"/>
                  </a:schemeClr>
                </a:solidFill>
              </a:rPr>
              <a:t> for a term of one year and  renewed annually </a:t>
            </a:r>
          </a:p>
          <a:p>
            <a:pPr>
              <a:buClr>
                <a:srgbClr val="C00000"/>
              </a:buClr>
              <a:buFont typeface="Wingdings" pitchFamily="2" charset="2"/>
              <a:buChar char="v"/>
            </a:pPr>
            <a:endParaRPr lang="en-US" sz="1600" u="none" dirty="0" smtClean="0">
              <a:solidFill>
                <a:schemeClr val="tx1">
                  <a:lumMod val="75000"/>
                  <a:lumOff val="25000"/>
                </a:schemeClr>
              </a:solidFill>
            </a:endParaRPr>
          </a:p>
          <a:p>
            <a:pPr lvl="4">
              <a:buClr>
                <a:srgbClr val="C00000"/>
              </a:buClr>
            </a:pPr>
            <a:r>
              <a:rPr lang="en-US" sz="1600" u="none" dirty="0" smtClean="0">
                <a:solidFill>
                  <a:schemeClr val="tx1">
                    <a:lumMod val="75000"/>
                    <a:lumOff val="25000"/>
                  </a:schemeClr>
                </a:solidFill>
              </a:rPr>
              <a:t>or</a:t>
            </a:r>
          </a:p>
          <a:p>
            <a:pPr lvl="4">
              <a:buClr>
                <a:srgbClr val="C00000"/>
              </a:buClr>
            </a:pPr>
            <a:endParaRPr lang="en-US" sz="1600" u="none" dirty="0">
              <a:solidFill>
                <a:schemeClr val="tx1">
                  <a:lumMod val="75000"/>
                  <a:lumOff val="25000"/>
                </a:schemeClr>
              </a:solidFill>
            </a:endParaRPr>
          </a:p>
          <a:p>
            <a:pPr lvl="1">
              <a:buClr>
                <a:srgbClr val="C00000"/>
              </a:buClr>
              <a:buFont typeface="Wingdings" pitchFamily="2" charset="2"/>
              <a:buChar char="v"/>
            </a:pPr>
            <a:r>
              <a:rPr lang="en-US" sz="1600" u="none" dirty="0" smtClean="0">
                <a:solidFill>
                  <a:schemeClr val="tx1">
                    <a:lumMod val="75000"/>
                    <a:lumOff val="25000"/>
                  </a:schemeClr>
                </a:solidFill>
              </a:rPr>
              <a:t> </a:t>
            </a:r>
            <a:r>
              <a:rPr lang="en-US" sz="1600" u="none" dirty="0">
                <a:solidFill>
                  <a:schemeClr val="tx1">
                    <a:lumMod val="75000"/>
                    <a:lumOff val="25000"/>
                  </a:schemeClr>
                </a:solidFill>
              </a:rPr>
              <a:t>on a continuous </a:t>
            </a:r>
            <a:r>
              <a:rPr lang="en-US" sz="1600" u="none" dirty="0" smtClean="0">
                <a:solidFill>
                  <a:schemeClr val="tx1">
                    <a:lumMod val="75000"/>
                    <a:lumOff val="25000"/>
                  </a:schemeClr>
                </a:solidFill>
              </a:rPr>
              <a:t>basis</a:t>
            </a:r>
            <a:endParaRPr lang="en-US" sz="1600" dirty="0">
              <a:solidFill>
                <a:schemeClr val="tx1">
                  <a:lumMod val="75000"/>
                  <a:lumOff val="25000"/>
                </a:schemeClr>
              </a:solidFill>
            </a:endParaRPr>
          </a:p>
        </p:txBody>
      </p:sp>
      <p:pic>
        <p:nvPicPr>
          <p:cNvPr id="5" name="Picture 4" descr="1_2.png"/>
          <p:cNvPicPr>
            <a:picLocks noChangeAspect="1"/>
          </p:cNvPicPr>
          <p:nvPr/>
        </p:nvPicPr>
        <p:blipFill>
          <a:blip r:embed="rId3" cstate="print"/>
          <a:stretch>
            <a:fillRect/>
          </a:stretch>
        </p:blipFill>
        <p:spPr>
          <a:xfrm>
            <a:off x="5257800" y="3352800"/>
            <a:ext cx="3276600" cy="10239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14</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Valuation Methods</a:t>
            </a:r>
            <a:endParaRPr lang="en-US" sz="2000" dirty="0">
              <a:solidFill>
                <a:schemeClr val="bg1"/>
              </a:solidFill>
            </a:endParaRPr>
          </a:p>
        </p:txBody>
      </p:sp>
      <p:sp>
        <p:nvSpPr>
          <p:cNvPr id="4" name="Rectangle 3"/>
          <p:cNvSpPr txBox="1">
            <a:spLocks noChangeArrowheads="1"/>
          </p:cNvSpPr>
          <p:nvPr/>
        </p:nvSpPr>
        <p:spPr bwMode="auto">
          <a:xfrm>
            <a:off x="457200" y="2895601"/>
            <a:ext cx="4800600" cy="2133599"/>
          </a:xfrm>
          <a:prstGeom prst="rect">
            <a:avLst/>
          </a:prstGeom>
          <a:noFill/>
          <a:ln>
            <a:miter lim="800000"/>
            <a:headEnd/>
            <a:tailEnd/>
          </a:ln>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
                <a:srgbClr val="C00000"/>
              </a:buClr>
              <a:buSzTx/>
              <a:buFont typeface="Wingdings" pitchFamily="2" charset="2"/>
              <a:buChar char="v"/>
              <a:tabLst/>
              <a:defRPr/>
            </a:pPr>
            <a:r>
              <a:rPr kumimoji="0" lang="en-US" sz="16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rPr>
              <a:t>ACV</a:t>
            </a:r>
          </a:p>
          <a:p>
            <a:pPr marL="342900" marR="0" lvl="0" indent="-342900" algn="l" defTabSz="914400" rtl="0" eaLnBrk="1" fontAlgn="auto" latinLnBrk="0" hangingPunct="1">
              <a:lnSpc>
                <a:spcPct val="100000"/>
              </a:lnSpc>
              <a:spcBef>
                <a:spcPct val="20000"/>
              </a:spcBef>
              <a:spcAft>
                <a:spcPts val="0"/>
              </a:spcAft>
              <a:buClr>
                <a:srgbClr val="C00000"/>
              </a:buClr>
              <a:buSzTx/>
              <a:buFont typeface="Wingdings" pitchFamily="2" charset="2"/>
              <a:buChar char="v"/>
              <a:tabLst/>
              <a:defRPr/>
            </a:pPr>
            <a:endParaRPr kumimoji="0" lang="en-US" sz="16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rgbClr val="C00000"/>
              </a:buClr>
              <a:buSzTx/>
              <a:buFont typeface="Wingdings" pitchFamily="2" charset="2"/>
              <a:buChar char="v"/>
              <a:tabLst/>
              <a:defRPr/>
            </a:pPr>
            <a:r>
              <a:rPr kumimoji="0" lang="en-US" sz="16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rPr>
              <a:t>Replacement Cost</a:t>
            </a:r>
          </a:p>
          <a:p>
            <a:pPr marL="342900" marR="0" lvl="0" indent="-342900" algn="l" defTabSz="914400" rtl="0" eaLnBrk="1" fontAlgn="auto" latinLnBrk="0" hangingPunct="1">
              <a:lnSpc>
                <a:spcPct val="100000"/>
              </a:lnSpc>
              <a:spcBef>
                <a:spcPct val="20000"/>
              </a:spcBef>
              <a:spcAft>
                <a:spcPts val="0"/>
              </a:spcAft>
              <a:buClr>
                <a:srgbClr val="C00000"/>
              </a:buClr>
              <a:buSzTx/>
              <a:buFont typeface="Wingdings" pitchFamily="2" charset="2"/>
              <a:buChar char="v"/>
              <a:tabLst/>
              <a:defRPr/>
            </a:pPr>
            <a:endParaRPr kumimoji="0" lang="en-US" sz="16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rgbClr val="C00000"/>
              </a:buClr>
              <a:buSzTx/>
              <a:buFont typeface="Wingdings" pitchFamily="2" charset="2"/>
              <a:buChar char="v"/>
              <a:tabLst/>
              <a:defRPr/>
            </a:pPr>
            <a:r>
              <a:rPr kumimoji="0" lang="en-US" sz="16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rPr>
              <a:t>Extended Value Replacement Cost</a:t>
            </a:r>
          </a:p>
          <a:p>
            <a:pPr marL="342900" marR="0" lvl="0" indent="-342900" algn="l" defTabSz="914400" rtl="0" eaLnBrk="1" fontAlgn="auto" latinLnBrk="0" hangingPunct="1">
              <a:lnSpc>
                <a:spcPct val="100000"/>
              </a:lnSpc>
              <a:spcBef>
                <a:spcPct val="20000"/>
              </a:spcBef>
              <a:spcAft>
                <a:spcPts val="0"/>
              </a:spcAft>
              <a:buClr>
                <a:srgbClr val="C00000"/>
              </a:buClr>
              <a:buSzTx/>
              <a:buFont typeface="Wingdings" pitchFamily="2" charset="2"/>
              <a:buChar char="v"/>
              <a:tabLst/>
              <a:defRPr/>
            </a:pPr>
            <a:endParaRPr kumimoji="0" lang="en-US" sz="16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rgbClr val="C00000"/>
              </a:buClr>
              <a:buSzTx/>
              <a:buFont typeface="Wingdings" pitchFamily="2" charset="2"/>
              <a:buChar char="v"/>
              <a:tabLst/>
              <a:defRPr/>
            </a:pPr>
            <a:r>
              <a:rPr kumimoji="0" lang="en-US" sz="16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rPr>
              <a:t>Functional Value</a:t>
            </a:r>
          </a:p>
        </p:txBody>
      </p:sp>
      <p:pic>
        <p:nvPicPr>
          <p:cNvPr id="5" name="Picture 4" descr="6955916_1.jpg"/>
          <p:cNvPicPr>
            <a:picLocks noChangeAspect="1"/>
          </p:cNvPicPr>
          <p:nvPr/>
        </p:nvPicPr>
        <p:blipFill>
          <a:blip r:embed="rId3" cstate="print"/>
          <a:stretch>
            <a:fillRect/>
          </a:stretch>
        </p:blipFill>
        <p:spPr>
          <a:xfrm>
            <a:off x="5334000" y="2971800"/>
            <a:ext cx="2438400" cy="18288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txBox="1">
            <a:spLocks/>
          </p:cNvSpPr>
          <p:nvPr/>
        </p:nvSpPr>
        <p:spPr>
          <a:xfrm>
            <a:off x="6934200" y="6553200"/>
            <a:ext cx="2209800" cy="228600"/>
          </a:xfrm>
          <a:prstGeom prst="rect">
            <a:avLst/>
          </a:prstGeom>
        </p:spPr>
        <p:txBody>
          <a:bodyPr/>
          <a:lstStyle/>
          <a:p>
            <a:pPr algn="r" fontAlgn="auto">
              <a:spcBef>
                <a:spcPts val="0"/>
              </a:spcBef>
              <a:spcAft>
                <a:spcPts val="0"/>
              </a:spcAft>
              <a:defRPr/>
            </a:pPr>
            <a:fld id="{0F56061C-0A42-4038-98B8-AEE9439494E5}" type="slidenum">
              <a:rPr lang="en-US" sz="1400">
                <a:latin typeface="+mn-lt"/>
              </a:rPr>
              <a:pPr algn="r" fontAlgn="auto">
                <a:spcBef>
                  <a:spcPts val="0"/>
                </a:spcBef>
                <a:spcAft>
                  <a:spcPts val="0"/>
                </a:spcAft>
                <a:defRPr/>
              </a:pPr>
              <a:t>15</a:t>
            </a:fld>
            <a:endParaRPr lang="en-US" sz="1400" dirty="0">
              <a:latin typeface="+mn-lt"/>
            </a:endParaRPr>
          </a:p>
        </p:txBody>
      </p:sp>
      <p:sp>
        <p:nvSpPr>
          <p:cNvPr id="10" name="Rectangle 66"/>
          <p:cNvSpPr>
            <a:spLocks noChangeArrowheads="1"/>
          </p:cNvSpPr>
          <p:nvPr/>
        </p:nvSpPr>
        <p:spPr bwMode="auto">
          <a:xfrm>
            <a:off x="76200" y="152400"/>
            <a:ext cx="5867400" cy="400110"/>
          </a:xfrm>
          <a:prstGeom prst="rect">
            <a:avLst/>
          </a:prstGeom>
          <a:noFill/>
          <a:ln w="12700">
            <a:noFill/>
            <a:miter lim="800000"/>
            <a:headEnd/>
            <a:tailEnd/>
          </a:ln>
        </p:spPr>
        <p:txBody>
          <a:bodyPr wrap="square" anchor="ctr">
            <a:spAutoFit/>
          </a:bodyPr>
          <a:lstStyle/>
          <a:p>
            <a:pPr eaLnBrk="0" hangingPunct="0"/>
            <a:r>
              <a:rPr lang="en-US" sz="2000" dirty="0" smtClean="0">
                <a:solidFill>
                  <a:schemeClr val="bg1"/>
                </a:solidFill>
              </a:rPr>
              <a:t>Policy issuance Process</a:t>
            </a:r>
            <a:endParaRPr lang="en-US" sz="2000" dirty="0">
              <a:solidFill>
                <a:schemeClr val="bg1"/>
              </a:solidFill>
            </a:endParaRPr>
          </a:p>
        </p:txBody>
      </p:sp>
      <p:pic>
        <p:nvPicPr>
          <p:cNvPr id="4" name="Picture 3"/>
          <p:cNvPicPr>
            <a:picLocks noChangeAspect="1" noChangeArrowheads="1"/>
          </p:cNvPicPr>
          <p:nvPr/>
        </p:nvPicPr>
        <p:blipFill>
          <a:blip r:embed="rId3" cstate="print"/>
          <a:srcRect/>
          <a:stretch>
            <a:fillRect/>
          </a:stretch>
        </p:blipFill>
        <p:spPr bwMode="auto">
          <a:xfrm>
            <a:off x="685800" y="1228725"/>
            <a:ext cx="7772400" cy="51720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E:\bg.jpg"/>
          <p:cNvPicPr>
            <a:picLocks noChangeAspect="1" noChangeArrowheads="1"/>
          </p:cNvPicPr>
          <p:nvPr/>
        </p:nvPicPr>
        <p:blipFill>
          <a:blip r:embed="rId2" cstate="print"/>
          <a:srcRect/>
          <a:stretch>
            <a:fillRect/>
          </a:stretch>
        </p:blipFill>
        <p:spPr bwMode="auto">
          <a:xfrm>
            <a:off x="0" y="838200"/>
            <a:ext cx="9144000" cy="6019800"/>
          </a:xfrm>
          <a:prstGeom prst="rect">
            <a:avLst/>
          </a:prstGeom>
          <a:noFill/>
          <a:ln w="9525">
            <a:noFill/>
            <a:miter lim="800000"/>
            <a:headEnd/>
            <a:tailEnd/>
          </a:ln>
        </p:spPr>
      </p:pic>
      <p:sp>
        <p:nvSpPr>
          <p:cNvPr id="37891" name="Rectangle 14"/>
          <p:cNvSpPr>
            <a:spLocks noChangeArrowheads="1"/>
          </p:cNvSpPr>
          <p:nvPr/>
        </p:nvSpPr>
        <p:spPr bwMode="auto">
          <a:xfrm>
            <a:off x="1524000" y="3810000"/>
            <a:ext cx="6248400" cy="892175"/>
          </a:xfrm>
          <a:prstGeom prst="rect">
            <a:avLst/>
          </a:prstGeom>
          <a:noFill/>
          <a:ln w="12700">
            <a:noFill/>
            <a:miter lim="800000"/>
            <a:headEnd/>
            <a:tailEnd/>
          </a:ln>
        </p:spPr>
        <p:txBody>
          <a:bodyPr anchor="ctr">
            <a:spAutoFit/>
          </a:bodyPr>
          <a:lstStyle/>
          <a:p>
            <a:pPr algn="ctr" eaLnBrk="0" hangingPunct="0">
              <a:buSzPct val="120000"/>
            </a:pPr>
            <a:r>
              <a:rPr lang="en-US" sz="3200" b="1">
                <a:solidFill>
                  <a:srgbClr val="C00000"/>
                </a:solidFill>
                <a:latin typeface="Tw Cen MT" pitchFamily="34" charset="0"/>
                <a:ea typeface="Calibri" pitchFamily="34" charset="0"/>
                <a:cs typeface="Calibri" pitchFamily="34" charset="0"/>
              </a:rPr>
              <a:t>Thank you. </a:t>
            </a:r>
            <a:r>
              <a:rPr lang="en-US" sz="2000" b="1">
                <a:solidFill>
                  <a:srgbClr val="C00000"/>
                </a:solidFill>
                <a:latin typeface="Tw Cen MT" pitchFamily="34" charset="0"/>
                <a:ea typeface="Calibri" pitchFamily="34" charset="0"/>
                <a:cs typeface="Calibri" pitchFamily="34" charset="0"/>
              </a:rPr>
              <a:t/>
            </a:r>
            <a:br>
              <a:rPr lang="en-US" sz="2000" b="1">
                <a:solidFill>
                  <a:srgbClr val="C00000"/>
                </a:solidFill>
                <a:latin typeface="Tw Cen MT" pitchFamily="34" charset="0"/>
                <a:ea typeface="Calibri" pitchFamily="34" charset="0"/>
                <a:cs typeface="Calibri" pitchFamily="34" charset="0"/>
              </a:rPr>
            </a:br>
            <a:r>
              <a:rPr lang="en-US" sz="2000" b="1">
                <a:solidFill>
                  <a:srgbClr val="C00000"/>
                </a:solidFill>
                <a:latin typeface="Tw Cen MT" pitchFamily="34" charset="0"/>
                <a:ea typeface="Calibri" pitchFamily="34" charset="0"/>
                <a:cs typeface="Calibri" pitchFamily="34" charset="0"/>
              </a:rPr>
              <a:t>Hope the presentation has been of value to you.</a:t>
            </a:r>
          </a:p>
        </p:txBody>
      </p:sp>
      <p:grpSp>
        <p:nvGrpSpPr>
          <p:cNvPr id="2" name="Group 33"/>
          <p:cNvGrpSpPr>
            <a:grpSpLocks/>
          </p:cNvGrpSpPr>
          <p:nvPr/>
        </p:nvGrpSpPr>
        <p:grpSpPr bwMode="auto">
          <a:xfrm>
            <a:off x="1905000" y="2862263"/>
            <a:ext cx="6629400" cy="766762"/>
            <a:chOff x="2286000" y="3608388"/>
            <a:chExt cx="6629400" cy="766727"/>
          </a:xfrm>
        </p:grpSpPr>
        <p:sp>
          <p:nvSpPr>
            <p:cNvPr id="7" name="Text Box 20"/>
            <p:cNvSpPr txBox="1">
              <a:spLocks noChangeArrowheads="1"/>
            </p:cNvSpPr>
            <p:nvPr/>
          </p:nvSpPr>
          <p:spPr bwMode="auto">
            <a:xfrm>
              <a:off x="2286000" y="4022706"/>
              <a:ext cx="1371600" cy="161918"/>
            </a:xfrm>
            <a:prstGeom prst="rect">
              <a:avLst/>
            </a:prstGeom>
            <a:noFill/>
            <a:ln w="9525" algn="in">
              <a:noFill/>
              <a:miter lim="800000"/>
              <a:headEnd/>
              <a:tailEnd/>
            </a:ln>
          </p:spPr>
          <p:txBody>
            <a:bodyPr lIns="36576" tIns="36576" rIns="36576" bIns="36576"/>
            <a:lstStyle/>
            <a:p>
              <a:pPr algn="ctr" fontAlgn="auto">
                <a:spcBef>
                  <a:spcPts val="0"/>
                </a:spcBef>
                <a:spcAft>
                  <a:spcPts val="0"/>
                </a:spcAft>
                <a:defRPr/>
              </a:pPr>
              <a:r>
                <a:rPr lang="en-US" b="1" dirty="0">
                  <a:solidFill>
                    <a:schemeClr val="tx2">
                      <a:lumMod val="50000"/>
                    </a:schemeClr>
                  </a:solidFill>
                  <a:latin typeface="Tw Cen MT" pitchFamily="34" charset="0"/>
                  <a:ea typeface="Calibri" pitchFamily="34" charset="0"/>
                  <a:cs typeface="Calibri" pitchFamily="34" charset="0"/>
                </a:rPr>
                <a:t>EXPERIENCE</a:t>
              </a:r>
              <a:endParaRPr lang="en-US" u="sng" dirty="0">
                <a:solidFill>
                  <a:schemeClr val="tx2">
                    <a:lumMod val="50000"/>
                  </a:schemeClr>
                </a:solidFill>
                <a:latin typeface="Tw Cen MT" pitchFamily="34" charset="0"/>
                <a:ea typeface="Calibri" pitchFamily="34" charset="0"/>
                <a:cs typeface="Calibri" pitchFamily="34" charset="0"/>
              </a:endParaRPr>
            </a:p>
          </p:txBody>
        </p:sp>
        <p:sp>
          <p:nvSpPr>
            <p:cNvPr id="37894" name="Text Box 21"/>
            <p:cNvSpPr txBox="1">
              <a:spLocks noChangeArrowheads="1"/>
            </p:cNvSpPr>
            <p:nvPr/>
          </p:nvSpPr>
          <p:spPr bwMode="auto">
            <a:xfrm>
              <a:off x="3635375" y="4022723"/>
              <a:ext cx="1393825" cy="228600"/>
            </a:xfrm>
            <a:prstGeom prst="rect">
              <a:avLst/>
            </a:prstGeom>
            <a:noFill/>
            <a:ln w="9525" algn="in">
              <a:noFill/>
              <a:miter lim="800000"/>
              <a:headEnd/>
              <a:tailEnd/>
            </a:ln>
          </p:spPr>
          <p:txBody>
            <a:bodyPr lIns="36576" tIns="36576" rIns="36576" bIns="36576"/>
            <a:lstStyle/>
            <a:p>
              <a:pPr algn="ctr"/>
              <a:r>
                <a:rPr lang="en-US" b="1">
                  <a:solidFill>
                    <a:srgbClr val="333333"/>
                  </a:solidFill>
                  <a:latin typeface="Tw Cen MT" pitchFamily="34" charset="0"/>
                  <a:ea typeface="Calibri" pitchFamily="34" charset="0"/>
                  <a:cs typeface="Calibri" pitchFamily="34" charset="0"/>
                </a:rPr>
                <a:t>EXPERTISE</a:t>
              </a:r>
              <a:endParaRPr lang="en-US" u="sng">
                <a:solidFill>
                  <a:srgbClr val="333333"/>
                </a:solidFill>
                <a:latin typeface="Tw Cen MT" pitchFamily="34" charset="0"/>
                <a:ea typeface="Calibri" pitchFamily="34" charset="0"/>
                <a:cs typeface="Calibri" pitchFamily="34" charset="0"/>
              </a:endParaRPr>
            </a:p>
          </p:txBody>
        </p:sp>
        <p:sp>
          <p:nvSpPr>
            <p:cNvPr id="37895" name="Text Box 22"/>
            <p:cNvSpPr txBox="1">
              <a:spLocks noChangeArrowheads="1"/>
            </p:cNvSpPr>
            <p:nvPr/>
          </p:nvSpPr>
          <p:spPr bwMode="auto">
            <a:xfrm>
              <a:off x="6172200" y="4022689"/>
              <a:ext cx="2743200" cy="352426"/>
            </a:xfrm>
            <a:prstGeom prst="rect">
              <a:avLst/>
            </a:prstGeom>
            <a:noFill/>
            <a:ln w="9525" algn="in">
              <a:noFill/>
              <a:miter lim="800000"/>
              <a:headEnd/>
              <a:tailEnd/>
            </a:ln>
          </p:spPr>
          <p:txBody>
            <a:bodyPr lIns="36576" tIns="36576" rIns="36576" bIns="36576"/>
            <a:lstStyle/>
            <a:p>
              <a:r>
                <a:rPr lang="en-US" b="1">
                  <a:solidFill>
                    <a:srgbClr val="333333"/>
                  </a:solidFill>
                  <a:latin typeface="Tw Cen MT" pitchFamily="34" charset="0"/>
                  <a:ea typeface="Calibri" pitchFamily="34" charset="0"/>
                  <a:cs typeface="Calibri" pitchFamily="34" charset="0"/>
                </a:rPr>
                <a:t>APPROACH</a:t>
              </a:r>
              <a:br>
                <a:rPr lang="en-US" b="1">
                  <a:solidFill>
                    <a:srgbClr val="333333"/>
                  </a:solidFill>
                  <a:latin typeface="Tw Cen MT" pitchFamily="34" charset="0"/>
                  <a:ea typeface="Calibri" pitchFamily="34" charset="0"/>
                  <a:cs typeface="Calibri" pitchFamily="34" charset="0"/>
                </a:rPr>
              </a:br>
              <a:r>
                <a:rPr lang="en-US" sz="900" b="1">
                  <a:solidFill>
                    <a:srgbClr val="333333"/>
                  </a:solidFill>
                  <a:latin typeface="Tw Cen MT" pitchFamily="34" charset="0"/>
                  <a:ea typeface="Calibri" pitchFamily="34" charset="0"/>
                  <a:cs typeface="Calibri" pitchFamily="34" charset="0"/>
                </a:rPr>
                <a:t>(KEEP-CUSTOMER-FOR-LIFE approach)</a:t>
              </a:r>
              <a:endParaRPr lang="en-US" u="sng">
                <a:solidFill>
                  <a:srgbClr val="333333"/>
                </a:solidFill>
                <a:latin typeface="Tw Cen MT" pitchFamily="34" charset="0"/>
                <a:ea typeface="Calibri" pitchFamily="34" charset="0"/>
                <a:cs typeface="Calibri" pitchFamily="34" charset="0"/>
              </a:endParaRPr>
            </a:p>
          </p:txBody>
        </p:sp>
        <p:sp>
          <p:nvSpPr>
            <p:cNvPr id="37896" name="Freeform 23"/>
            <p:cNvSpPr>
              <a:spLocks noChangeAspect="1"/>
            </p:cNvSpPr>
            <p:nvPr/>
          </p:nvSpPr>
          <p:spPr bwMode="auto">
            <a:xfrm rot="1628237">
              <a:off x="2586038" y="3619500"/>
              <a:ext cx="546100" cy="274638"/>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sp>
          <p:nvSpPr>
            <p:cNvPr id="37897" name="Freeform 24"/>
            <p:cNvSpPr>
              <a:spLocks noChangeAspect="1"/>
            </p:cNvSpPr>
            <p:nvPr/>
          </p:nvSpPr>
          <p:spPr bwMode="auto">
            <a:xfrm rot="1628237">
              <a:off x="3830638" y="3614738"/>
              <a:ext cx="544512"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sp>
          <p:nvSpPr>
            <p:cNvPr id="37898" name="Freeform 25"/>
            <p:cNvSpPr>
              <a:spLocks noChangeAspect="1"/>
            </p:cNvSpPr>
            <p:nvPr/>
          </p:nvSpPr>
          <p:spPr bwMode="auto">
            <a:xfrm rot="1628237">
              <a:off x="6280976" y="3638601"/>
              <a:ext cx="546100"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sp>
          <p:nvSpPr>
            <p:cNvPr id="37899" name="Text Box 21"/>
            <p:cNvSpPr txBox="1">
              <a:spLocks noChangeArrowheads="1"/>
            </p:cNvSpPr>
            <p:nvPr/>
          </p:nvSpPr>
          <p:spPr bwMode="auto">
            <a:xfrm>
              <a:off x="5029200" y="4035424"/>
              <a:ext cx="990600" cy="215900"/>
            </a:xfrm>
            <a:prstGeom prst="rect">
              <a:avLst/>
            </a:prstGeom>
            <a:noFill/>
            <a:ln w="9525" algn="in">
              <a:noFill/>
              <a:miter lim="800000"/>
              <a:headEnd/>
              <a:tailEnd/>
            </a:ln>
          </p:spPr>
          <p:txBody>
            <a:bodyPr lIns="36576" tIns="36576" rIns="36576" bIns="36576"/>
            <a:lstStyle/>
            <a:p>
              <a:pPr algn="ctr"/>
              <a:r>
                <a:rPr lang="en-US" b="1">
                  <a:solidFill>
                    <a:srgbClr val="333333"/>
                  </a:solidFill>
                  <a:latin typeface="Tw Cen MT" pitchFamily="34" charset="0"/>
                  <a:ea typeface="Calibri" pitchFamily="34" charset="0"/>
                  <a:cs typeface="Calibri" pitchFamily="34" charset="0"/>
                </a:rPr>
                <a:t>R&amp;D</a:t>
              </a:r>
              <a:endParaRPr lang="en-US" u="sng">
                <a:solidFill>
                  <a:srgbClr val="333333"/>
                </a:solidFill>
                <a:latin typeface="Tw Cen MT" pitchFamily="34" charset="0"/>
                <a:ea typeface="Calibri" pitchFamily="34" charset="0"/>
                <a:cs typeface="Calibri" pitchFamily="34" charset="0"/>
              </a:endParaRPr>
            </a:p>
          </p:txBody>
        </p:sp>
        <p:sp>
          <p:nvSpPr>
            <p:cNvPr id="37900" name="Freeform 24"/>
            <p:cNvSpPr>
              <a:spLocks noChangeAspect="1"/>
            </p:cNvSpPr>
            <p:nvPr/>
          </p:nvSpPr>
          <p:spPr bwMode="auto">
            <a:xfrm rot="1628237">
              <a:off x="5049838" y="3608388"/>
              <a:ext cx="544512" cy="274637"/>
            </a:xfrm>
            <a:custGeom>
              <a:avLst/>
              <a:gdLst>
                <a:gd name="T0" fmla="*/ 2147483647 w 274"/>
                <a:gd name="T1" fmla="*/ 2147483647 h 138"/>
                <a:gd name="T2" fmla="*/ 0 w 274"/>
                <a:gd name="T3" fmla="*/ 2147483647 h 138"/>
                <a:gd name="T4" fmla="*/ 0 w 274"/>
                <a:gd name="T5" fmla="*/ 2147483647 h 138"/>
                <a:gd name="T6" fmla="*/ 2147483647 w 274"/>
                <a:gd name="T7" fmla="*/ 2147483647 h 138"/>
                <a:gd name="T8" fmla="*/ 2147483647 w 274"/>
                <a:gd name="T9" fmla="*/ 2147483647 h 138"/>
                <a:gd name="T10" fmla="*/ 2147483647 w 274"/>
                <a:gd name="T11" fmla="*/ 2147483647 h 138"/>
                <a:gd name="T12" fmla="*/ 2147483647 w 274"/>
                <a:gd name="T13" fmla="*/ 2147483647 h 138"/>
                <a:gd name="T14" fmla="*/ 2147483647 w 274"/>
                <a:gd name="T15" fmla="*/ 2147483647 h 138"/>
                <a:gd name="T16" fmla="*/ 2147483647 w 274"/>
                <a:gd name="T17" fmla="*/ 2147483647 h 138"/>
                <a:gd name="T18" fmla="*/ 2147483647 w 274"/>
                <a:gd name="T19" fmla="*/ 2147483647 h 138"/>
                <a:gd name="T20" fmla="*/ 2147483647 w 274"/>
                <a:gd name="T21" fmla="*/ 2147483647 h 138"/>
                <a:gd name="T22" fmla="*/ 2147483647 w 274"/>
                <a:gd name="T23" fmla="*/ 2147483647 h 138"/>
                <a:gd name="T24" fmla="*/ 2147483647 w 274"/>
                <a:gd name="T25" fmla="*/ 2147483647 h 138"/>
                <a:gd name="T26" fmla="*/ 2147483647 w 274"/>
                <a:gd name="T27" fmla="*/ 2147483647 h 138"/>
                <a:gd name="T28" fmla="*/ 2147483647 w 274"/>
                <a:gd name="T29" fmla="*/ 2147483647 h 138"/>
                <a:gd name="T30" fmla="*/ 2147483647 w 274"/>
                <a:gd name="T31" fmla="*/ 2147483647 h 138"/>
                <a:gd name="T32" fmla="*/ 2147483647 w 274"/>
                <a:gd name="T33" fmla="*/ 2147483647 h 138"/>
                <a:gd name="T34" fmla="*/ 2147483647 w 274"/>
                <a:gd name="T35" fmla="*/ 2147483647 h 138"/>
                <a:gd name="T36" fmla="*/ 2147483647 w 274"/>
                <a:gd name="T37" fmla="*/ 2147483647 h 138"/>
                <a:gd name="T38" fmla="*/ 2147483647 w 274"/>
                <a:gd name="T39" fmla="*/ 2147483647 h 138"/>
                <a:gd name="T40" fmla="*/ 2147483647 w 274"/>
                <a:gd name="T41" fmla="*/ 0 h 138"/>
                <a:gd name="T42" fmla="*/ 2147483647 w 274"/>
                <a:gd name="T43" fmla="*/ 2147483647 h 138"/>
                <a:gd name="T44" fmla="*/ 2147483647 w 274"/>
                <a:gd name="T45" fmla="*/ 2147483647 h 138"/>
                <a:gd name="T46" fmla="*/ 2147483647 w 274"/>
                <a:gd name="T47" fmla="*/ 2147483647 h 138"/>
                <a:gd name="T48" fmla="*/ 2147483647 w 274"/>
                <a:gd name="T49" fmla="*/ 2147483647 h 138"/>
                <a:gd name="T50" fmla="*/ 2147483647 w 274"/>
                <a:gd name="T51" fmla="*/ 2147483647 h 138"/>
                <a:gd name="T52" fmla="*/ 2147483647 w 274"/>
                <a:gd name="T53" fmla="*/ 2147483647 h 138"/>
                <a:gd name="T54" fmla="*/ 2147483647 w 274"/>
                <a:gd name="T55" fmla="*/ 2147483647 h 138"/>
                <a:gd name="T56" fmla="*/ 2147483647 w 274"/>
                <a:gd name="T57" fmla="*/ 2147483647 h 138"/>
                <a:gd name="T58" fmla="*/ 2147483647 w 274"/>
                <a:gd name="T59" fmla="*/ 2147483647 h 138"/>
                <a:gd name="T60" fmla="*/ 2147483647 w 274"/>
                <a:gd name="T61" fmla="*/ 2147483647 h 138"/>
                <a:gd name="T62" fmla="*/ 2147483647 w 274"/>
                <a:gd name="T63" fmla="*/ 2147483647 h 138"/>
                <a:gd name="T64" fmla="*/ 2147483647 w 274"/>
                <a:gd name="T65" fmla="*/ 2147483647 h 138"/>
                <a:gd name="T66" fmla="*/ 2147483647 w 274"/>
                <a:gd name="T67" fmla="*/ 2147483647 h 138"/>
                <a:gd name="T68" fmla="*/ 2147483647 w 274"/>
                <a:gd name="T69" fmla="*/ 2147483647 h 138"/>
                <a:gd name="T70" fmla="*/ 2147483647 w 274"/>
                <a:gd name="T71" fmla="*/ 2147483647 h 138"/>
                <a:gd name="T72" fmla="*/ 2147483647 w 274"/>
                <a:gd name="T73" fmla="*/ 2147483647 h 138"/>
                <a:gd name="T74" fmla="*/ 2147483647 w 274"/>
                <a:gd name="T75" fmla="*/ 2147483647 h 1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4"/>
                <a:gd name="T115" fmla="*/ 0 h 138"/>
                <a:gd name="T116" fmla="*/ 274 w 274"/>
                <a:gd name="T117" fmla="*/ 138 h 1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4" h="138">
                  <a:moveTo>
                    <a:pt x="2" y="111"/>
                  </a:moveTo>
                  <a:lnTo>
                    <a:pt x="0" y="104"/>
                  </a:lnTo>
                  <a:lnTo>
                    <a:pt x="0" y="96"/>
                  </a:lnTo>
                  <a:lnTo>
                    <a:pt x="2" y="86"/>
                  </a:lnTo>
                  <a:lnTo>
                    <a:pt x="4" y="82"/>
                  </a:lnTo>
                  <a:lnTo>
                    <a:pt x="6" y="79"/>
                  </a:lnTo>
                  <a:lnTo>
                    <a:pt x="15" y="63"/>
                  </a:lnTo>
                  <a:lnTo>
                    <a:pt x="25" y="52"/>
                  </a:lnTo>
                  <a:lnTo>
                    <a:pt x="37" y="42"/>
                  </a:lnTo>
                  <a:lnTo>
                    <a:pt x="50" y="34"/>
                  </a:lnTo>
                  <a:lnTo>
                    <a:pt x="65" y="28"/>
                  </a:lnTo>
                  <a:lnTo>
                    <a:pt x="81" y="25"/>
                  </a:lnTo>
                  <a:lnTo>
                    <a:pt x="94" y="21"/>
                  </a:lnTo>
                  <a:lnTo>
                    <a:pt x="110" y="21"/>
                  </a:lnTo>
                  <a:lnTo>
                    <a:pt x="125" y="21"/>
                  </a:lnTo>
                  <a:lnTo>
                    <a:pt x="139" y="21"/>
                  </a:lnTo>
                  <a:lnTo>
                    <a:pt x="152" y="23"/>
                  </a:lnTo>
                  <a:lnTo>
                    <a:pt x="166" y="23"/>
                  </a:lnTo>
                  <a:lnTo>
                    <a:pt x="185" y="26"/>
                  </a:lnTo>
                  <a:lnTo>
                    <a:pt x="195" y="30"/>
                  </a:lnTo>
                  <a:lnTo>
                    <a:pt x="200" y="0"/>
                  </a:lnTo>
                  <a:lnTo>
                    <a:pt x="274" y="84"/>
                  </a:lnTo>
                  <a:lnTo>
                    <a:pt x="177" y="138"/>
                  </a:lnTo>
                  <a:lnTo>
                    <a:pt x="183" y="107"/>
                  </a:lnTo>
                  <a:lnTo>
                    <a:pt x="158" y="100"/>
                  </a:lnTo>
                  <a:lnTo>
                    <a:pt x="131" y="92"/>
                  </a:lnTo>
                  <a:lnTo>
                    <a:pt x="102" y="86"/>
                  </a:lnTo>
                  <a:lnTo>
                    <a:pt x="85" y="84"/>
                  </a:lnTo>
                  <a:lnTo>
                    <a:pt x="69" y="82"/>
                  </a:lnTo>
                  <a:lnTo>
                    <a:pt x="54" y="82"/>
                  </a:lnTo>
                  <a:lnTo>
                    <a:pt x="40" y="82"/>
                  </a:lnTo>
                  <a:lnTo>
                    <a:pt x="29" y="84"/>
                  </a:lnTo>
                  <a:lnTo>
                    <a:pt x="17" y="88"/>
                  </a:lnTo>
                  <a:lnTo>
                    <a:pt x="13" y="92"/>
                  </a:lnTo>
                  <a:lnTo>
                    <a:pt x="10" y="94"/>
                  </a:lnTo>
                  <a:lnTo>
                    <a:pt x="8" y="98"/>
                  </a:lnTo>
                  <a:lnTo>
                    <a:pt x="4" y="104"/>
                  </a:lnTo>
                  <a:lnTo>
                    <a:pt x="2" y="111"/>
                  </a:lnTo>
                  <a:close/>
                </a:path>
              </a:pathLst>
            </a:custGeom>
            <a:solidFill>
              <a:srgbClr val="990000"/>
            </a:solidFill>
            <a:ln w="9525" algn="ctr">
              <a:solidFill>
                <a:srgbClr val="C34733"/>
              </a:solidFill>
              <a:round/>
              <a:headEnd/>
              <a:tailEnd/>
            </a:ln>
          </p:spPr>
          <p:txBody>
            <a:bodyPr/>
            <a:lstStyle/>
            <a:p>
              <a:endParaRPr lang="en-US"/>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documentManagement>
    <Departments xmlns="09339d3a-aaa0-497d-ae73-d8a5832d420d">Insurance P&amp;C</Departments>
    <Classification xmlns="09339d3a-aaa0-497d-ae73-d8a5832d420d">Internal Use</Classification>
    <SubCategory xmlns="09339d3a-aaa0-497d-ae73-d8a5832d420d">Best Practice</SubCategory>
    <Tags xmlns="09339d3a-aaa0-497d-ae73-d8a5832d420d">BOP Process Flow</Tags>
    <Contributors xmlns="09339d3a-aaa0-497d-ae73-d8a5832d420d">
      <UserInfo>
        <DisplayName>Alok Bharati</DisplayName>
        <AccountId>26</AccountId>
        <AccountType/>
      </UserInfo>
    </Contributo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41087d73-5bfe-4c6e-a130-3d602495565a" ContentTypeId="0x010100F7548365F7A28B41B9A685ED46C1AC26" PreviousValue="false"/>
</file>

<file path=customXml/item4.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6DA617-29D0-4984-A0C5-4ECEB5447A25}">
  <ds:schemaRefs>
    <ds:schemaRef ds:uri="9cb6d7bc-cb15-42b5-a8df-adcc0f71b619"/>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79978A42-9750-43E5-B3AD-FBA893B477ED}">
  <ds:schemaRefs>
    <ds:schemaRef ds:uri="http://schemas.microsoft.com/sharepoint/v3/contenttype/forms"/>
  </ds:schemaRefs>
</ds:datastoreItem>
</file>

<file path=customXml/itemProps3.xml><?xml version="1.0" encoding="utf-8"?>
<ds:datastoreItem xmlns:ds="http://schemas.openxmlformats.org/officeDocument/2006/customXml" ds:itemID="{47B1102F-7E6C-4D3E-8657-9978B8B7B474}"/>
</file>

<file path=customXml/itemProps4.xml><?xml version="1.0" encoding="utf-8"?>
<ds:datastoreItem xmlns:ds="http://schemas.openxmlformats.org/officeDocument/2006/customXml" ds:itemID="{814F5AD9-0483-4A1F-8893-749F9E04DC5E}"/>
</file>

<file path=docProps/app.xml><?xml version="1.0" encoding="utf-8"?>
<Properties xmlns="http://schemas.openxmlformats.org/officeDocument/2006/extended-properties" xmlns:vt="http://schemas.openxmlformats.org/officeDocument/2006/docPropsVTypes">
  <TotalTime>1098</TotalTime>
  <Words>1701</Words>
  <Application>Microsoft Office PowerPoint</Application>
  <PresentationFormat>On-screen Show (4:3)</PresentationFormat>
  <Paragraphs>281</Paragraphs>
  <Slides>16</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Narrow</vt:lpstr>
      <vt:lpstr>Calibri</vt:lpstr>
      <vt:lpstr>Times New Roman</vt:lpstr>
      <vt:lpstr>Tw Cen 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VAM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issac</dc:creator>
  <cp:lastModifiedBy>Alok Bharati</cp:lastModifiedBy>
  <cp:revision>202</cp:revision>
  <dcterms:created xsi:type="dcterms:W3CDTF">2010-11-19T06:53:04Z</dcterms:created>
  <dcterms:modified xsi:type="dcterms:W3CDTF">2016-01-13T09:49:05Z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y fmtid="{D5CDD505-2E9C-101B-9397-08002B2CF9AE}" pid="3" name="Order">
    <vt:r8>7000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
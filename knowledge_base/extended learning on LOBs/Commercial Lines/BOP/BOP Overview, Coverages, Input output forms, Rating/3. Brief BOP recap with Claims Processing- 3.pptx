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1187" r:id="rId2"/>
    <p:sldId id="1184" r:id="rId3"/>
    <p:sldId id="1179" r:id="rId4"/>
    <p:sldId id="1188" r:id="rId5"/>
    <p:sldId id="1189" r:id="rId6"/>
    <p:sldId id="1190" r:id="rId7"/>
    <p:sldId id="1191" r:id="rId8"/>
    <p:sldId id="1192" r:id="rId9"/>
    <p:sldId id="1193" r:id="rId10"/>
    <p:sldId id="1194" r:id="rId11"/>
    <p:sldId id="1195" r:id="rId12"/>
    <p:sldId id="1197" r:id="rId13"/>
    <p:sldId id="119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8F08FE-F4FD-4192-9987-EBB7FC1FC217}" type="datetimeFigureOut">
              <a:rPr lang="en-US" smtClean="0"/>
              <a:pPr/>
              <a:t>6/10/2020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8EB14F-0D25-43DD-A619-B7C78344B292}" type="slidenum">
              <a:rPr lang="en-US" smtClean="0"/>
              <a:pPr/>
              <a:t>‹#›</a:t>
            </a:fld>
            <a:endParaRPr lang="en-US" dirty="0"/>
          </a:p>
        </p:txBody>
      </p:sp>
    </p:spTree>
    <p:extLst>
      <p:ext uri="{BB962C8B-B14F-4D97-AF65-F5344CB8AC3E}">
        <p14:creationId xmlns:p14="http://schemas.microsoft.com/office/powerpoint/2010/main" val="2191617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the Stakeholders which funnel or barrage ( give a meaningful flow) the entire journey of the customers through various bottle necks. They can be knowing with guided support, as which customer should be passing through which journey to accomplish the business more meaningfully.</a:t>
            </a:r>
          </a:p>
          <a:p>
            <a:r>
              <a:rPr lang="en-US" dirty="0"/>
              <a:t>The organization should look at them not in isolation and only as important individuals who bring in the business. Moreover, they should be looked as the customer touchpoints which bring in massive information to the organization. These rich information needs to be integrated across them to churn out the best possible business out of the system.</a:t>
            </a:r>
          </a:p>
          <a:p>
            <a:r>
              <a:rPr lang="en-US" b="1" dirty="0"/>
              <a:t>Example of an integrated role of various stakeholders, which may give a snap shot of the study at a very high level: </a:t>
            </a:r>
            <a:r>
              <a:rPr lang="en-US" dirty="0"/>
              <a:t>A customer visits the websites again &amp; again looking for his needed pairs of requirements, riders or protections—it gives an indicator of meeting him personally rather than a call center rep answering him– a discussion with the prospect can bring about his concerns ---his concerns can be taken care by endorsing it with proper medical checkups- technology can help the agent to fetch the needed investigation for the respective prospect---Medical reports if cautious, internal sales team can pitch in to suggest the prospect, term&amp; conditions or exclusions to engage him for a suitable policy rather than loosing him to other competitors.</a:t>
            </a:r>
          </a:p>
        </p:txBody>
      </p:sp>
      <p:sp>
        <p:nvSpPr>
          <p:cNvPr id="4" name="Slide Number Placeholder 3"/>
          <p:cNvSpPr>
            <a:spLocks noGrp="1"/>
          </p:cNvSpPr>
          <p:nvPr>
            <p:ph type="sldNum" sz="quarter" idx="5"/>
          </p:nvPr>
        </p:nvSpPr>
        <p:spPr/>
        <p:txBody>
          <a:bodyPr/>
          <a:lstStyle/>
          <a:p>
            <a:fld id="{C8B835CB-9440-4841-9979-FFFAE2424828}" type="slidenum">
              <a:rPr lang="en-US" smtClean="0"/>
              <a:pPr/>
              <a:t>3</a:t>
            </a:fld>
            <a:endParaRPr lang="en-US" dirty="0"/>
          </a:p>
        </p:txBody>
      </p:sp>
    </p:spTree>
    <p:extLst>
      <p:ext uri="{BB962C8B-B14F-4D97-AF65-F5344CB8AC3E}">
        <p14:creationId xmlns:p14="http://schemas.microsoft.com/office/powerpoint/2010/main" val="3279968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1D04-7C81-441A-8AA6-6FC326051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1F81B5-28F1-44AD-8F71-0B75E6EF0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EF2BEB-FF17-4969-8DB6-6B7CCE9C5ABA}"/>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5" name="Footer Placeholder 4">
            <a:extLst>
              <a:ext uri="{FF2B5EF4-FFF2-40B4-BE49-F238E27FC236}">
                <a16:creationId xmlns:a16="http://schemas.microsoft.com/office/drawing/2014/main" id="{E3A63581-3DD8-4F72-9B9A-4CA7B02DB3C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8C0904-E7BF-4A09-B2D2-24E13CDCE542}"/>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188980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18FE-92E8-4FF2-BCDB-9BEB0AB08E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7C051D-0947-4284-A0A7-73441330C6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343E91-8BDD-4AFB-B88B-609CAA788946}"/>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5" name="Footer Placeholder 4">
            <a:extLst>
              <a:ext uri="{FF2B5EF4-FFF2-40B4-BE49-F238E27FC236}">
                <a16:creationId xmlns:a16="http://schemas.microsoft.com/office/drawing/2014/main" id="{A7BFA856-639A-4687-BD2F-1101E58FED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C82E45-C5CC-408D-A437-6BFAC3E42A90}"/>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236419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A4833-C8FF-4592-83F2-A098302607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3B83AE-A0AD-4A37-9290-563C0C97EC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4DC02D-1222-4DBF-8DFA-3A8B546BBB3A}"/>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5" name="Footer Placeholder 4">
            <a:extLst>
              <a:ext uri="{FF2B5EF4-FFF2-40B4-BE49-F238E27FC236}">
                <a16:creationId xmlns:a16="http://schemas.microsoft.com/office/drawing/2014/main" id="{0ED4780F-C0B4-4EFB-9321-64DA3625267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8F44228-F93D-4B34-983C-439CC6013F6D}"/>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955027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B1758-52EE-4007-B95A-E3E121815A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CD672D-7303-4986-B368-2C22CFA5A4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6B53FD-06BE-4E2A-90E7-03DF5E4262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95577F-3F89-4407-8847-216D9B90BF65}"/>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6" name="Footer Placeholder 5">
            <a:extLst>
              <a:ext uri="{FF2B5EF4-FFF2-40B4-BE49-F238E27FC236}">
                <a16:creationId xmlns:a16="http://schemas.microsoft.com/office/drawing/2014/main" id="{5DE3812F-1A0A-417D-9858-62224419BBF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DFDC7CD-9699-41DD-A2CD-691ABAD167D4}"/>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554364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9E826-7839-41F6-99E1-AF1B400B05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236236-E4DF-4847-800C-5298D86452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5C60BE-DA44-4663-8CBB-9B7C6CE3D3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361208-07E2-4106-87A0-BEC9FC52A8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05100A-EFAC-4BA0-9F0A-260333C598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37D87C-EC27-438A-AF03-428B7D1B665B}"/>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8" name="Footer Placeholder 7">
            <a:extLst>
              <a:ext uri="{FF2B5EF4-FFF2-40B4-BE49-F238E27FC236}">
                <a16:creationId xmlns:a16="http://schemas.microsoft.com/office/drawing/2014/main" id="{47C037D6-E7F3-44F2-A177-98C2E2EB387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38382F1-1D74-4AB4-9655-6ED6FAEFE7CB}"/>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948734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86C6-2707-486C-A6B8-6F0315CDFA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E21C62-1A8C-45DE-8F5D-260A32A86D33}"/>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4" name="Footer Placeholder 3">
            <a:extLst>
              <a:ext uri="{FF2B5EF4-FFF2-40B4-BE49-F238E27FC236}">
                <a16:creationId xmlns:a16="http://schemas.microsoft.com/office/drawing/2014/main" id="{77E84059-DF42-4420-AFE4-9FA6326ADF9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8B2DD4-CEF0-4B7B-9B27-73E3B837DBF4}"/>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340132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47A631-A8B2-41D9-A15D-D51F657F17B1}"/>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3" name="Footer Placeholder 2">
            <a:extLst>
              <a:ext uri="{FF2B5EF4-FFF2-40B4-BE49-F238E27FC236}">
                <a16:creationId xmlns:a16="http://schemas.microsoft.com/office/drawing/2014/main" id="{D86E929B-8278-40DB-B8FD-3C8D4970662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5B3E925-34AB-43BA-919B-8DA6086C0F02}"/>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3077302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64CB-6448-40AF-9844-68AE385979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99AF3B-79EC-40F0-BB1D-053659B4E4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2334DA-5B7B-4548-B657-3066322267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9A5E54-310B-4F22-A948-059BA3E72A7C}"/>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6" name="Footer Placeholder 5">
            <a:extLst>
              <a:ext uri="{FF2B5EF4-FFF2-40B4-BE49-F238E27FC236}">
                <a16:creationId xmlns:a16="http://schemas.microsoft.com/office/drawing/2014/main" id="{CDBEC46D-BAE3-4305-866F-741543D667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B4F8E2-A8B2-4248-8A67-6801FA47AB1A}"/>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1106677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111F6-B610-400B-89B7-67DD5E5CAA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18B0C7-15B4-4FBE-8322-8B944EE18B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49CC540-4272-477D-BAA9-A9EB2AA03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1CB96E-EF20-4B4F-90D9-D441F5C24DF6}"/>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6" name="Footer Placeholder 5">
            <a:extLst>
              <a:ext uri="{FF2B5EF4-FFF2-40B4-BE49-F238E27FC236}">
                <a16:creationId xmlns:a16="http://schemas.microsoft.com/office/drawing/2014/main" id="{0D7D55AF-BE09-450A-80C4-CE32F128F86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CA7DC6-1D81-4A35-BDFC-29A5A9CB91DA}"/>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2268563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976B-6E31-4D09-8392-7F78BC0A61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FA533A-AF54-448D-8499-2AD084FD22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70D0-66C5-4868-8F62-80A3193E6BEB}"/>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5" name="Footer Placeholder 4">
            <a:extLst>
              <a:ext uri="{FF2B5EF4-FFF2-40B4-BE49-F238E27FC236}">
                <a16:creationId xmlns:a16="http://schemas.microsoft.com/office/drawing/2014/main" id="{68FBC23C-19AA-4BBF-806F-D490DB9F69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0684F4C-BE70-4E6C-9DD9-60D758289561}"/>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170567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EA447B-4BE0-4E75-883F-A1EBC1712E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0BA5DF-8099-479A-9850-70B0391497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02ECF-29C0-4A63-8D6B-18E65F9255BB}"/>
              </a:ext>
            </a:extLst>
          </p:cNvPr>
          <p:cNvSpPr>
            <a:spLocks noGrp="1"/>
          </p:cNvSpPr>
          <p:nvPr>
            <p:ph type="dt" sz="half" idx="10"/>
          </p:nvPr>
        </p:nvSpPr>
        <p:spPr/>
        <p:txBody>
          <a:bodyPr/>
          <a:lstStyle/>
          <a:p>
            <a:fld id="{C1F2265F-D4E7-4C89-A3DF-8D131C041693}" type="datetimeFigureOut">
              <a:rPr lang="en-US" smtClean="0"/>
              <a:pPr/>
              <a:t>6/10/2020</a:t>
            </a:fld>
            <a:endParaRPr lang="en-US" dirty="0"/>
          </a:p>
        </p:txBody>
      </p:sp>
      <p:sp>
        <p:nvSpPr>
          <p:cNvPr id="5" name="Footer Placeholder 4">
            <a:extLst>
              <a:ext uri="{FF2B5EF4-FFF2-40B4-BE49-F238E27FC236}">
                <a16:creationId xmlns:a16="http://schemas.microsoft.com/office/drawing/2014/main" id="{EC111F55-77BE-4429-8628-077558AFB13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0A98C20-77A3-4014-8E07-D7F428DAECE3}"/>
              </a:ext>
            </a:extLst>
          </p:cNvPr>
          <p:cNvSpPr>
            <a:spLocks noGrp="1"/>
          </p:cNvSpPr>
          <p:nvPr>
            <p:ph type="sldNum" sz="quarter" idx="12"/>
          </p:nvPr>
        </p:nvSpPr>
        <p:spPr/>
        <p:txBody>
          <a:body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3775519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pPr/>
              <a:t>‹#›</a:t>
            </a:fld>
            <a:endParaRPr lang="en-US" sz="1776"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468793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336CCD-ABD5-44D7-BB7C-1570FE2375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EF5157-6D12-4549-9A33-862CEBE984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57A87F-6DAB-4EDF-925C-70BA7BD107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F2265F-D4E7-4C89-A3DF-8D131C041693}" type="datetimeFigureOut">
              <a:rPr lang="en-US" smtClean="0"/>
              <a:pPr/>
              <a:t>6/10/2020</a:t>
            </a:fld>
            <a:endParaRPr lang="en-US" dirty="0"/>
          </a:p>
        </p:txBody>
      </p:sp>
      <p:sp>
        <p:nvSpPr>
          <p:cNvPr id="5" name="Footer Placeholder 4">
            <a:extLst>
              <a:ext uri="{FF2B5EF4-FFF2-40B4-BE49-F238E27FC236}">
                <a16:creationId xmlns:a16="http://schemas.microsoft.com/office/drawing/2014/main" id="{3D37BA53-1209-4F89-BD92-365906D6B9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EFD2029-54F2-42E6-8CDE-0F7237A0AB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F5980D-29BF-43F5-8FAC-43DABA61D5D1}" type="slidenum">
              <a:rPr lang="en-US" smtClean="0"/>
              <a:pPr/>
              <a:t>‹#›</a:t>
            </a:fld>
            <a:endParaRPr lang="en-US" dirty="0"/>
          </a:p>
        </p:txBody>
      </p:sp>
    </p:spTree>
    <p:extLst>
      <p:ext uri="{BB962C8B-B14F-4D97-AF65-F5344CB8AC3E}">
        <p14:creationId xmlns:p14="http://schemas.microsoft.com/office/powerpoint/2010/main" val="3779362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irdai.gov.in/ADMINCMS/cms/Uploadedfiles/54_Business%20Package%20Insurance%20Policy.pdf" TargetMode="External"/><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hyperlink" Target="https://www.libertyinsurance.in/Docx/Business%20Package%20Insurance.pdf" TargetMode="External"/><Relationship Id="rId4" Type="http://schemas.openxmlformats.org/officeDocument/2006/relationships/hyperlink" Target="https://youtu.be/1sRL61C0r4Y"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0CDFEB-4603-4E6E-9C69-76E6BC855697}"/>
              </a:ext>
            </a:extLst>
          </p:cNvPr>
          <p:cNvSpPr txBox="1"/>
          <p:nvPr/>
        </p:nvSpPr>
        <p:spPr>
          <a:xfrm>
            <a:off x="272222" y="802861"/>
            <a:ext cx="10880035" cy="584775"/>
          </a:xfrm>
          <a:prstGeom prst="rect">
            <a:avLst/>
          </a:prstGeom>
        </p:spPr>
        <p:txBody>
          <a:bodyPr wrap="square" rtlCol="0">
            <a:spAutoFit/>
          </a:bodyPr>
          <a:lstStyle/>
          <a:p>
            <a:pPr algn="ctr"/>
            <a:r>
              <a:rPr lang="en-US" sz="3200" b="1" dirty="0">
                <a:latin typeface="+mj-lt"/>
              </a:rPr>
              <a:t>Business Package Insurance</a:t>
            </a:r>
          </a:p>
        </p:txBody>
      </p:sp>
      <p:pic>
        <p:nvPicPr>
          <p:cNvPr id="3" name="Picture 2" descr="CroppedImage720350-mbais-business-package.jpg"/>
          <p:cNvPicPr>
            <a:picLocks noChangeAspect="1"/>
          </p:cNvPicPr>
          <p:nvPr/>
        </p:nvPicPr>
        <p:blipFill>
          <a:blip r:embed="rId2" cstate="print"/>
          <a:stretch>
            <a:fillRect/>
          </a:stretch>
        </p:blipFill>
        <p:spPr>
          <a:xfrm>
            <a:off x="533400" y="1600200"/>
            <a:ext cx="10388600" cy="4775200"/>
          </a:xfrm>
          <a:prstGeom prst="rect">
            <a:avLst/>
          </a:prstGeom>
        </p:spPr>
      </p:pic>
    </p:spTree>
    <p:extLst>
      <p:ext uri="{BB962C8B-B14F-4D97-AF65-F5344CB8AC3E}">
        <p14:creationId xmlns:p14="http://schemas.microsoft.com/office/powerpoint/2010/main" val="3032605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57C956-3749-4581-BA25-940610AA546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8116" y="954324"/>
            <a:ext cx="9935818" cy="268206"/>
          </a:xfrm>
          <a:prstGeom prst="rect">
            <a:avLst/>
          </a:prstGeom>
        </p:spPr>
      </p:pic>
      <p:sp>
        <p:nvSpPr>
          <p:cNvPr id="3" name="TextBox 2">
            <a:extLst>
              <a:ext uri="{FF2B5EF4-FFF2-40B4-BE49-F238E27FC236}">
                <a16:creationId xmlns:a16="http://schemas.microsoft.com/office/drawing/2014/main" id="{0C65CB88-9B38-48C1-8D6C-9DF45DE50547}"/>
              </a:ext>
            </a:extLst>
          </p:cNvPr>
          <p:cNvSpPr txBox="1"/>
          <p:nvPr/>
        </p:nvSpPr>
        <p:spPr>
          <a:xfrm>
            <a:off x="445008" y="-726866"/>
            <a:ext cx="9669924" cy="2062103"/>
          </a:xfrm>
          <a:prstGeom prst="rect">
            <a:avLst/>
          </a:prstGeom>
          <a:noFill/>
        </p:spPr>
        <p:txBody>
          <a:bodyPr wrap="square" rtlCol="0" anchor="ctr">
            <a:spAutoFit/>
          </a:bodyPr>
          <a:lstStyle/>
          <a:p>
            <a:pPr>
              <a:defRPr/>
            </a:pPr>
            <a:endParaRPr lang="en-US" sz="3200" b="1" dirty="0">
              <a:latin typeface="+mj-lt"/>
            </a:endParaRPr>
          </a:p>
          <a:p>
            <a:pPr>
              <a:defRPr/>
            </a:pPr>
            <a:endParaRPr lang="en-US" sz="3200" b="1" dirty="0">
              <a:latin typeface="+mj-lt"/>
            </a:endParaRPr>
          </a:p>
          <a:p>
            <a:pPr>
              <a:defRPr/>
            </a:pPr>
            <a:r>
              <a:rPr lang="en-US" sz="3200" b="1" dirty="0">
                <a:latin typeface="+mj-lt"/>
              </a:rPr>
              <a:t>Business  Insurance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mj-lt"/>
              <a:ea typeface="+mn-ea"/>
              <a:cs typeface="Arial" panose="020B0604020202020204" pitchFamily="34" charset="0"/>
            </a:endParaRPr>
          </a:p>
        </p:txBody>
      </p:sp>
      <p:sp>
        <p:nvSpPr>
          <p:cNvPr id="5" name="TextBox 4">
            <a:extLst>
              <a:ext uri="{FF2B5EF4-FFF2-40B4-BE49-F238E27FC236}">
                <a16:creationId xmlns:a16="http://schemas.microsoft.com/office/drawing/2014/main" id="{39FA6C08-2037-4F8A-832D-31D80ED1B99B}"/>
              </a:ext>
            </a:extLst>
          </p:cNvPr>
          <p:cNvSpPr txBox="1"/>
          <p:nvPr/>
        </p:nvSpPr>
        <p:spPr>
          <a:xfrm>
            <a:off x="571500" y="1437499"/>
            <a:ext cx="10668000" cy="4154984"/>
          </a:xfrm>
          <a:prstGeom prst="rect">
            <a:avLst/>
          </a:prstGeom>
          <a:noFill/>
        </p:spPr>
        <p:txBody>
          <a:bodyPr wrap="square" rtlCol="0">
            <a:spAutoFit/>
          </a:bodyPr>
          <a:lstStyle/>
          <a:p>
            <a:pPr algn="just"/>
            <a:r>
              <a:rPr lang="en-US" sz="2400" dirty="0"/>
              <a:t>A business insurance is like a safety belt which offers financial protection to the business from various risks. Business is not just about profits, it faces various risks as well. Safeguarding the business from unpleasant events and mishaps is extremely important for the steady growth of the business. For this reason, more and more businesses are opting for business insurance.</a:t>
            </a:r>
          </a:p>
          <a:p>
            <a:pPr algn="just"/>
            <a:endParaRPr lang="en-US" sz="2400" dirty="0"/>
          </a:p>
          <a:p>
            <a:pPr algn="just"/>
            <a:r>
              <a:rPr lang="en-US" sz="2400" dirty="0">
                <a:solidFill>
                  <a:schemeClr val="tx1">
                    <a:lumMod val="95000"/>
                    <a:lumOff val="5000"/>
                  </a:schemeClr>
                </a:solidFill>
              </a:rPr>
              <a:t>Types of Business Insurance</a:t>
            </a:r>
          </a:p>
          <a:p>
            <a:pPr algn="just"/>
            <a:endParaRPr lang="en-US" sz="2400" dirty="0">
              <a:solidFill>
                <a:schemeClr val="tx1">
                  <a:lumMod val="95000"/>
                  <a:lumOff val="5000"/>
                </a:schemeClr>
              </a:solidFill>
            </a:endParaRPr>
          </a:p>
          <a:p>
            <a:pPr marL="457200" indent="-457200" algn="just"/>
            <a:r>
              <a:rPr lang="en-US" sz="2400" dirty="0">
                <a:solidFill>
                  <a:schemeClr val="tx1">
                    <a:lumMod val="95000"/>
                    <a:lumOff val="5000"/>
                  </a:schemeClr>
                </a:solidFill>
              </a:rPr>
              <a:t>1. </a:t>
            </a:r>
            <a:r>
              <a:rPr lang="en-US" sz="2400" b="1" dirty="0">
                <a:solidFill>
                  <a:schemeClr val="tx1">
                    <a:lumMod val="95000"/>
                    <a:lumOff val="5000"/>
                  </a:schemeClr>
                </a:solidFill>
              </a:rPr>
              <a:t> Business Package Policies</a:t>
            </a:r>
          </a:p>
          <a:p>
            <a:pPr marL="457200" indent="-457200" algn="just"/>
            <a:endParaRPr lang="en-US" sz="2400" dirty="0">
              <a:solidFill>
                <a:schemeClr val="tx1">
                  <a:lumMod val="95000"/>
                  <a:lumOff val="5000"/>
                </a:schemeClr>
              </a:solidFill>
            </a:endParaRPr>
          </a:p>
          <a:p>
            <a:pPr marL="457200" indent="-457200" algn="just"/>
            <a:r>
              <a:rPr lang="en-US" sz="2400" dirty="0">
                <a:solidFill>
                  <a:schemeClr val="tx1">
                    <a:lumMod val="95000"/>
                    <a:lumOff val="5000"/>
                  </a:schemeClr>
                </a:solidFill>
              </a:rPr>
              <a:t>2.  </a:t>
            </a:r>
            <a:r>
              <a:rPr lang="en-US" sz="2400" b="1" dirty="0">
                <a:solidFill>
                  <a:schemeClr val="tx1">
                    <a:lumMod val="95000"/>
                    <a:lumOff val="5000"/>
                  </a:schemeClr>
                </a:solidFill>
              </a:rPr>
              <a:t>Standalone Policies</a:t>
            </a:r>
          </a:p>
        </p:txBody>
      </p:sp>
    </p:spTree>
    <p:extLst>
      <p:ext uri="{BB962C8B-B14F-4D97-AF65-F5344CB8AC3E}">
        <p14:creationId xmlns:p14="http://schemas.microsoft.com/office/powerpoint/2010/main" val="3076869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B81B1D8-C8C1-413B-8024-DE27D9DCCDF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6009" y="258223"/>
            <a:ext cx="9935818" cy="268206"/>
          </a:xfrm>
          <a:prstGeom prst="rect">
            <a:avLst/>
          </a:prstGeom>
        </p:spPr>
      </p:pic>
      <p:pic>
        <p:nvPicPr>
          <p:cNvPr id="5" name="Picture 4" descr="Capture.PNG11.PNG"/>
          <p:cNvPicPr>
            <a:picLocks noChangeAspect="1"/>
          </p:cNvPicPr>
          <p:nvPr/>
        </p:nvPicPr>
        <p:blipFill>
          <a:blip r:embed="rId4" cstate="print"/>
          <a:stretch>
            <a:fillRect/>
          </a:stretch>
        </p:blipFill>
        <p:spPr>
          <a:xfrm>
            <a:off x="723900" y="762000"/>
            <a:ext cx="9601200" cy="5549899"/>
          </a:xfrm>
          <a:prstGeom prst="rect">
            <a:avLst/>
          </a:prstGeom>
        </p:spPr>
      </p:pic>
    </p:spTree>
    <p:extLst>
      <p:ext uri="{BB962C8B-B14F-4D97-AF65-F5344CB8AC3E}">
        <p14:creationId xmlns:p14="http://schemas.microsoft.com/office/powerpoint/2010/main" val="2781143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46100" y="469900"/>
            <a:ext cx="9740900" cy="584775"/>
          </a:xfrm>
          <a:prstGeom prst="rect">
            <a:avLst/>
          </a:prstGeom>
        </p:spPr>
        <p:txBody>
          <a:bodyPr wrap="square">
            <a:spAutoFit/>
          </a:bodyPr>
          <a:lstStyle/>
          <a:p>
            <a:r>
              <a:rPr lang="en-US" sz="3200" b="1" dirty="0">
                <a:latin typeface="+mj-lt"/>
              </a:rPr>
              <a:t>SBI General Business Package Insurance as an EXAMPLE</a:t>
            </a:r>
          </a:p>
        </p:txBody>
      </p:sp>
      <p:pic>
        <p:nvPicPr>
          <p:cNvPr id="4" name="Picture 3" descr="Capture.PNG99.PNG"/>
          <p:cNvPicPr>
            <a:picLocks noChangeAspect="1"/>
          </p:cNvPicPr>
          <p:nvPr/>
        </p:nvPicPr>
        <p:blipFill>
          <a:blip r:embed="rId3" cstate="print"/>
          <a:stretch>
            <a:fillRect/>
          </a:stretch>
        </p:blipFill>
        <p:spPr>
          <a:xfrm>
            <a:off x="800100" y="1651001"/>
            <a:ext cx="10134599" cy="2514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20700" y="495300"/>
            <a:ext cx="9474200" cy="584775"/>
          </a:xfrm>
          <a:prstGeom prst="rect">
            <a:avLst/>
          </a:prstGeom>
        </p:spPr>
        <p:txBody>
          <a:bodyPr wrap="square">
            <a:spAutoFit/>
          </a:bodyPr>
          <a:lstStyle/>
          <a:p>
            <a:r>
              <a:rPr lang="en-US" sz="3200" b="1" dirty="0">
                <a:latin typeface="+mj-lt"/>
              </a:rPr>
              <a:t>SBI General Business Package Insurance as an EXAMPLE</a:t>
            </a:r>
          </a:p>
        </p:txBody>
      </p:sp>
      <p:pic>
        <p:nvPicPr>
          <p:cNvPr id="7" name="Picture 6" descr="Capture.PNG7.PNG"/>
          <p:cNvPicPr>
            <a:picLocks noChangeAspect="1"/>
          </p:cNvPicPr>
          <p:nvPr/>
        </p:nvPicPr>
        <p:blipFill>
          <a:blip r:embed="rId3" cstate="print"/>
          <a:stretch>
            <a:fillRect/>
          </a:stretch>
        </p:blipFill>
        <p:spPr>
          <a:xfrm>
            <a:off x="672504" y="1115787"/>
            <a:ext cx="8535592" cy="3229426"/>
          </a:xfrm>
          <a:prstGeom prst="rect">
            <a:avLst/>
          </a:prstGeom>
        </p:spPr>
      </p:pic>
      <p:pic>
        <p:nvPicPr>
          <p:cNvPr id="8" name="Picture 7" descr="Capture.PNG8.PNG"/>
          <p:cNvPicPr>
            <a:picLocks noChangeAspect="1"/>
          </p:cNvPicPr>
          <p:nvPr/>
        </p:nvPicPr>
        <p:blipFill>
          <a:blip r:embed="rId4" cstate="print"/>
          <a:stretch>
            <a:fillRect/>
          </a:stretch>
        </p:blipFill>
        <p:spPr>
          <a:xfrm>
            <a:off x="675683" y="4348009"/>
            <a:ext cx="8478434" cy="22005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46100" y="63500"/>
            <a:ext cx="9448800" cy="1077218"/>
          </a:xfrm>
          <a:prstGeom prst="rect">
            <a:avLst/>
          </a:prstGeom>
        </p:spPr>
        <p:txBody>
          <a:bodyPr wrap="square">
            <a:spAutoFit/>
          </a:bodyPr>
          <a:lstStyle/>
          <a:p>
            <a:r>
              <a:rPr lang="en-US" sz="3200" b="1" dirty="0">
                <a:latin typeface="+mj-lt"/>
              </a:rPr>
              <a:t>SBI General Business Package Insurance as an EXAMPLE-</a:t>
            </a:r>
            <a:r>
              <a:rPr lang="en-US" sz="3200" b="1" dirty="0">
                <a:latin typeface="Arial" pitchFamily="34" charset="0"/>
                <a:cs typeface="Arial" pitchFamily="34" charset="0"/>
              </a:rPr>
              <a:t>Exclusions</a:t>
            </a:r>
          </a:p>
        </p:txBody>
      </p:sp>
      <p:pic>
        <p:nvPicPr>
          <p:cNvPr id="4" name="Picture 3" descr="Capture.PNG9.PNG"/>
          <p:cNvPicPr>
            <a:picLocks noChangeAspect="1"/>
          </p:cNvPicPr>
          <p:nvPr/>
        </p:nvPicPr>
        <p:blipFill>
          <a:blip r:embed="rId3" cstate="print"/>
          <a:stretch>
            <a:fillRect/>
          </a:stretch>
        </p:blipFill>
        <p:spPr>
          <a:xfrm>
            <a:off x="660400" y="1435101"/>
            <a:ext cx="8555633" cy="2473496"/>
          </a:xfrm>
          <a:prstGeom prst="rect">
            <a:avLst/>
          </a:prstGeom>
        </p:spPr>
      </p:pic>
      <p:pic>
        <p:nvPicPr>
          <p:cNvPr id="5" name="Picture 4" descr="Capture.PNG10.PNG"/>
          <p:cNvPicPr>
            <a:picLocks noChangeAspect="1"/>
          </p:cNvPicPr>
          <p:nvPr/>
        </p:nvPicPr>
        <p:blipFill>
          <a:blip r:embed="rId4" cstate="print"/>
          <a:stretch>
            <a:fillRect/>
          </a:stretch>
        </p:blipFill>
        <p:spPr>
          <a:xfrm>
            <a:off x="658220" y="3914736"/>
            <a:ext cx="8549280" cy="5525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20700" y="419100"/>
            <a:ext cx="9194800" cy="584775"/>
          </a:xfrm>
          <a:prstGeom prst="rect">
            <a:avLst/>
          </a:prstGeom>
        </p:spPr>
        <p:txBody>
          <a:bodyPr wrap="square">
            <a:spAutoFit/>
          </a:bodyPr>
          <a:lstStyle/>
          <a:p>
            <a:r>
              <a:rPr lang="en-US" sz="3200" b="1" dirty="0">
                <a:latin typeface="+mj-lt"/>
              </a:rPr>
              <a:t>Business Package Insurance Claim Form for reference </a:t>
            </a:r>
          </a:p>
        </p:txBody>
      </p:sp>
      <p:pic>
        <p:nvPicPr>
          <p:cNvPr id="4" name="Picture 3" descr="Capture.PNG222.PNG"/>
          <p:cNvPicPr>
            <a:picLocks noChangeAspect="1"/>
          </p:cNvPicPr>
          <p:nvPr/>
        </p:nvPicPr>
        <p:blipFill>
          <a:blip r:embed="rId3" cstate="print"/>
          <a:stretch>
            <a:fillRect/>
          </a:stretch>
        </p:blipFill>
        <p:spPr>
          <a:xfrm>
            <a:off x="615702" y="1156954"/>
            <a:ext cx="4451598" cy="5510546"/>
          </a:xfrm>
          <a:prstGeom prst="rect">
            <a:avLst/>
          </a:prstGeom>
        </p:spPr>
      </p:pic>
      <p:pic>
        <p:nvPicPr>
          <p:cNvPr id="5" name="Picture 4" descr="Capture.PNG223.PNG"/>
          <p:cNvPicPr>
            <a:picLocks noChangeAspect="1"/>
          </p:cNvPicPr>
          <p:nvPr/>
        </p:nvPicPr>
        <p:blipFill>
          <a:blip r:embed="rId4" cstate="print"/>
          <a:stretch>
            <a:fillRect/>
          </a:stretch>
        </p:blipFill>
        <p:spPr>
          <a:xfrm>
            <a:off x="5040070" y="1190312"/>
            <a:ext cx="4408729" cy="54263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245523"/>
            <a:ext cx="9935818" cy="268206"/>
          </a:xfrm>
          <a:prstGeom prst="rect">
            <a:avLst/>
          </a:prstGeom>
        </p:spPr>
      </p:pic>
      <p:graphicFrame>
        <p:nvGraphicFramePr>
          <p:cNvPr id="3" name="Table 2"/>
          <p:cNvGraphicFramePr>
            <a:graphicFrameLocks noGrp="1"/>
          </p:cNvGraphicFramePr>
          <p:nvPr/>
        </p:nvGraphicFramePr>
        <p:xfrm>
          <a:off x="2031997" y="1157409"/>
          <a:ext cx="8128006" cy="5204316"/>
        </p:xfrm>
        <a:graphic>
          <a:graphicData uri="http://schemas.openxmlformats.org/drawingml/2006/table">
            <a:tbl>
              <a:tblPr/>
              <a:tblGrid>
                <a:gridCol w="478118">
                  <a:extLst>
                    <a:ext uri="{9D8B030D-6E8A-4147-A177-3AD203B41FA5}">
                      <a16:colId xmlns:a16="http://schemas.microsoft.com/office/drawing/2014/main" val="20000"/>
                    </a:ext>
                  </a:extLst>
                </a:gridCol>
                <a:gridCol w="478118">
                  <a:extLst>
                    <a:ext uri="{9D8B030D-6E8A-4147-A177-3AD203B41FA5}">
                      <a16:colId xmlns:a16="http://schemas.microsoft.com/office/drawing/2014/main" val="20001"/>
                    </a:ext>
                  </a:extLst>
                </a:gridCol>
                <a:gridCol w="478118">
                  <a:extLst>
                    <a:ext uri="{9D8B030D-6E8A-4147-A177-3AD203B41FA5}">
                      <a16:colId xmlns:a16="http://schemas.microsoft.com/office/drawing/2014/main" val="20002"/>
                    </a:ext>
                  </a:extLst>
                </a:gridCol>
                <a:gridCol w="478118">
                  <a:extLst>
                    <a:ext uri="{9D8B030D-6E8A-4147-A177-3AD203B41FA5}">
                      <a16:colId xmlns:a16="http://schemas.microsoft.com/office/drawing/2014/main" val="20003"/>
                    </a:ext>
                  </a:extLst>
                </a:gridCol>
                <a:gridCol w="478118">
                  <a:extLst>
                    <a:ext uri="{9D8B030D-6E8A-4147-A177-3AD203B41FA5}">
                      <a16:colId xmlns:a16="http://schemas.microsoft.com/office/drawing/2014/main" val="20004"/>
                    </a:ext>
                  </a:extLst>
                </a:gridCol>
                <a:gridCol w="478118">
                  <a:extLst>
                    <a:ext uri="{9D8B030D-6E8A-4147-A177-3AD203B41FA5}">
                      <a16:colId xmlns:a16="http://schemas.microsoft.com/office/drawing/2014/main" val="20005"/>
                    </a:ext>
                  </a:extLst>
                </a:gridCol>
                <a:gridCol w="478118">
                  <a:extLst>
                    <a:ext uri="{9D8B030D-6E8A-4147-A177-3AD203B41FA5}">
                      <a16:colId xmlns:a16="http://schemas.microsoft.com/office/drawing/2014/main" val="20006"/>
                    </a:ext>
                  </a:extLst>
                </a:gridCol>
                <a:gridCol w="478118">
                  <a:extLst>
                    <a:ext uri="{9D8B030D-6E8A-4147-A177-3AD203B41FA5}">
                      <a16:colId xmlns:a16="http://schemas.microsoft.com/office/drawing/2014/main" val="20007"/>
                    </a:ext>
                  </a:extLst>
                </a:gridCol>
                <a:gridCol w="478118">
                  <a:extLst>
                    <a:ext uri="{9D8B030D-6E8A-4147-A177-3AD203B41FA5}">
                      <a16:colId xmlns:a16="http://schemas.microsoft.com/office/drawing/2014/main" val="20008"/>
                    </a:ext>
                  </a:extLst>
                </a:gridCol>
                <a:gridCol w="478118">
                  <a:extLst>
                    <a:ext uri="{9D8B030D-6E8A-4147-A177-3AD203B41FA5}">
                      <a16:colId xmlns:a16="http://schemas.microsoft.com/office/drawing/2014/main" val="20009"/>
                    </a:ext>
                  </a:extLst>
                </a:gridCol>
                <a:gridCol w="478118">
                  <a:extLst>
                    <a:ext uri="{9D8B030D-6E8A-4147-A177-3AD203B41FA5}">
                      <a16:colId xmlns:a16="http://schemas.microsoft.com/office/drawing/2014/main" val="20010"/>
                    </a:ext>
                  </a:extLst>
                </a:gridCol>
                <a:gridCol w="478118">
                  <a:extLst>
                    <a:ext uri="{9D8B030D-6E8A-4147-A177-3AD203B41FA5}">
                      <a16:colId xmlns:a16="http://schemas.microsoft.com/office/drawing/2014/main" val="20011"/>
                    </a:ext>
                  </a:extLst>
                </a:gridCol>
                <a:gridCol w="478118">
                  <a:extLst>
                    <a:ext uri="{9D8B030D-6E8A-4147-A177-3AD203B41FA5}">
                      <a16:colId xmlns:a16="http://schemas.microsoft.com/office/drawing/2014/main" val="20012"/>
                    </a:ext>
                  </a:extLst>
                </a:gridCol>
                <a:gridCol w="478118">
                  <a:extLst>
                    <a:ext uri="{9D8B030D-6E8A-4147-A177-3AD203B41FA5}">
                      <a16:colId xmlns:a16="http://schemas.microsoft.com/office/drawing/2014/main" val="20013"/>
                    </a:ext>
                  </a:extLst>
                </a:gridCol>
                <a:gridCol w="478118">
                  <a:extLst>
                    <a:ext uri="{9D8B030D-6E8A-4147-A177-3AD203B41FA5}">
                      <a16:colId xmlns:a16="http://schemas.microsoft.com/office/drawing/2014/main" val="20014"/>
                    </a:ext>
                  </a:extLst>
                </a:gridCol>
                <a:gridCol w="478118">
                  <a:extLst>
                    <a:ext uri="{9D8B030D-6E8A-4147-A177-3AD203B41FA5}">
                      <a16:colId xmlns:a16="http://schemas.microsoft.com/office/drawing/2014/main" val="20015"/>
                    </a:ext>
                  </a:extLst>
                </a:gridCol>
                <a:gridCol w="478118">
                  <a:extLst>
                    <a:ext uri="{9D8B030D-6E8A-4147-A177-3AD203B41FA5}">
                      <a16:colId xmlns:a16="http://schemas.microsoft.com/office/drawing/2014/main" val="20016"/>
                    </a:ext>
                  </a:extLst>
                </a:gridCol>
              </a:tblGrid>
              <a:tr h="149412">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0"/>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1"/>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2"/>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5"/>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6"/>
                  </a:ext>
                </a:extLst>
              </a:tr>
              <a:tr h="82707">
                <a:tc gridSpan="4">
                  <a:txBody>
                    <a:bodyPr/>
                    <a:lstStyle/>
                    <a:p>
                      <a:pPr algn="l" fontAlgn="b"/>
                      <a:endParaRPr lang="en-US" sz="900" b="1" i="1" u="none" strike="noStrike" dirty="0">
                        <a:solidFill>
                          <a:srgbClr val="FF0000"/>
                        </a:solidFill>
                        <a:latin typeface="+mj-lt"/>
                      </a:endParaRPr>
                    </a:p>
                    <a:p>
                      <a:pPr algn="l" fontAlgn="b"/>
                      <a:r>
                        <a:rPr lang="en-US" sz="1200" b="1" i="0" u="none" strike="noStrike" dirty="0">
                          <a:solidFill>
                            <a:srgbClr val="FF0000"/>
                          </a:solidFill>
                          <a:latin typeface="+mj-lt"/>
                        </a:rPr>
                        <a:t>Responsibility of the insured</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9"/>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0"/>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1"/>
                  </a:ext>
                </a:extLst>
              </a:tr>
              <a:tr h="0">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2"/>
                  </a:ext>
                </a:extLst>
              </a:tr>
              <a:tr h="164353">
                <a:tc gridSpan="4">
                  <a:txBody>
                    <a:bodyPr/>
                    <a:lstStyle/>
                    <a:p>
                      <a:pPr algn="l" fontAlgn="b"/>
                      <a:r>
                        <a:rPr lang="en-US" sz="1200" b="1" i="0" u="none" strike="noStrike" dirty="0">
                          <a:solidFill>
                            <a:srgbClr val="FF0000"/>
                          </a:solidFill>
                          <a:latin typeface="+mj-lt"/>
                        </a:rPr>
                        <a:t>Responsibility of the insured</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5"/>
                  </a:ext>
                </a:extLst>
              </a:tr>
              <a:tr h="4520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6"/>
                  </a:ext>
                </a:extLst>
              </a:tr>
              <a:tr h="16435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gridSpan="4">
                  <a:txBody>
                    <a:bodyPr/>
                    <a:lstStyle/>
                    <a:p>
                      <a:pPr algn="l" fontAlgn="b"/>
                      <a:r>
                        <a:rPr lang="en-US" sz="1400" b="1" i="0" u="none" strike="noStrike" dirty="0">
                          <a:solidFill>
                            <a:srgbClr val="FF0000"/>
                          </a:solidFill>
                          <a:latin typeface="+mj-lt"/>
                        </a:rPr>
                        <a:t>Responsibility of the insurer</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9"/>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0"/>
                  </a:ext>
                </a:extLst>
              </a:tr>
              <a:tr h="32054">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1"/>
                  </a:ext>
                </a:extLst>
              </a:tr>
              <a:tr h="16435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gridSpan="4">
                  <a:txBody>
                    <a:bodyPr/>
                    <a:lstStyle/>
                    <a:p>
                      <a:pPr algn="l" fontAlgn="b"/>
                      <a:r>
                        <a:rPr lang="en-US" sz="1400" b="1" i="0" u="none" strike="noStrike" dirty="0">
                          <a:solidFill>
                            <a:srgbClr val="FF0000"/>
                          </a:solidFill>
                          <a:latin typeface="+mj-lt"/>
                        </a:rPr>
                        <a:t>Responsibility of the insurer</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22"/>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5"/>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6"/>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9"/>
                  </a:ext>
                </a:extLst>
              </a:tr>
            </a:tbl>
          </a:graphicData>
        </a:graphic>
      </p:graphicFrame>
      <p:sp>
        <p:nvSpPr>
          <p:cNvPr id="4" name="Oval 3"/>
          <p:cNvSpPr/>
          <p:nvPr/>
        </p:nvSpPr>
        <p:spPr>
          <a:xfrm>
            <a:off x="3683000" y="425450"/>
            <a:ext cx="3600450" cy="6477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Notify the insurer about</a:t>
            </a:r>
            <a:r>
              <a:rPr lang="en-US" sz="1400" baseline="0" dirty="0">
                <a:solidFill>
                  <a:srgbClr val="002060"/>
                </a:solidFill>
              </a:rPr>
              <a:t> the incident with calls</a:t>
            </a:r>
            <a:endParaRPr lang="en-US" sz="1400" dirty="0">
              <a:solidFill>
                <a:srgbClr val="002060"/>
              </a:solidFill>
            </a:endParaRPr>
          </a:p>
        </p:txBody>
      </p:sp>
      <p:cxnSp>
        <p:nvCxnSpPr>
          <p:cNvPr id="5" name="Straight Arrow Connector 4"/>
          <p:cNvCxnSpPr/>
          <p:nvPr/>
        </p:nvCxnSpPr>
        <p:spPr>
          <a:xfrm>
            <a:off x="5457825" y="1187450"/>
            <a:ext cx="9525" cy="2857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 name="Rectangle 5"/>
          <p:cNvSpPr/>
          <p:nvPr/>
        </p:nvSpPr>
        <p:spPr>
          <a:xfrm>
            <a:off x="3806825" y="1609725"/>
            <a:ext cx="3629025" cy="5524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there is any crime, law enforcement team needs to be informed</a:t>
            </a:r>
          </a:p>
        </p:txBody>
      </p:sp>
      <p:cxnSp>
        <p:nvCxnSpPr>
          <p:cNvPr id="7" name="Straight Arrow Connector 6"/>
          <p:cNvCxnSpPr/>
          <p:nvPr/>
        </p:nvCxnSpPr>
        <p:spPr>
          <a:xfrm>
            <a:off x="5430838" y="2174875"/>
            <a:ext cx="4762" cy="3619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8" name="Rectangle 7"/>
          <p:cNvSpPr/>
          <p:nvPr/>
        </p:nvSpPr>
        <p:spPr>
          <a:xfrm>
            <a:off x="3794125" y="2555875"/>
            <a:ext cx="3600450" cy="6381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After contacting the necessary bodies, the</a:t>
            </a:r>
            <a:r>
              <a:rPr lang="en-US" sz="1400" baseline="0" dirty="0">
                <a:solidFill>
                  <a:srgbClr val="002060"/>
                </a:solidFill>
              </a:rPr>
              <a:t> insured should fallow up with Insurer</a:t>
            </a:r>
            <a:endParaRPr lang="en-US" sz="1400" dirty="0">
              <a:solidFill>
                <a:srgbClr val="002060"/>
              </a:solidFill>
            </a:endParaRPr>
          </a:p>
        </p:txBody>
      </p:sp>
      <p:cxnSp>
        <p:nvCxnSpPr>
          <p:cNvPr id="9" name="Straight Arrow Connector 8"/>
          <p:cNvCxnSpPr/>
          <p:nvPr/>
        </p:nvCxnSpPr>
        <p:spPr>
          <a:xfrm>
            <a:off x="5391150" y="3194050"/>
            <a:ext cx="0" cy="2667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Rectangle 9"/>
          <p:cNvSpPr/>
          <p:nvPr/>
        </p:nvSpPr>
        <p:spPr>
          <a:xfrm>
            <a:off x="3778250" y="3536950"/>
            <a:ext cx="3609975" cy="571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Adjuster</a:t>
            </a:r>
            <a:r>
              <a:rPr lang="en-US" sz="1400" baseline="0" dirty="0">
                <a:solidFill>
                  <a:srgbClr val="002060"/>
                </a:solidFill>
              </a:rPr>
              <a:t> from the insurance company investigates the claims</a:t>
            </a:r>
            <a:endParaRPr lang="en-US" sz="1400" dirty="0">
              <a:solidFill>
                <a:srgbClr val="002060"/>
              </a:solidFill>
            </a:endParaRPr>
          </a:p>
        </p:txBody>
      </p:sp>
      <p:cxnSp>
        <p:nvCxnSpPr>
          <p:cNvPr id="11" name="Straight Arrow Connector 10"/>
          <p:cNvCxnSpPr/>
          <p:nvPr/>
        </p:nvCxnSpPr>
        <p:spPr>
          <a:xfrm>
            <a:off x="5394325" y="4060825"/>
            <a:ext cx="0" cy="27622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2" name="Rectangle 11"/>
          <p:cNvSpPr/>
          <p:nvPr/>
        </p:nvSpPr>
        <p:spPr>
          <a:xfrm>
            <a:off x="3790950" y="4368800"/>
            <a:ext cx="360045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 claim is genuine the adjuster</a:t>
            </a:r>
            <a:r>
              <a:rPr lang="en-US" sz="1400" baseline="0" dirty="0">
                <a:solidFill>
                  <a:srgbClr val="002060"/>
                </a:solidFill>
              </a:rPr>
              <a:t> checks the policy terms and conditions</a:t>
            </a:r>
            <a:endParaRPr lang="en-US" sz="1400" dirty="0">
              <a:solidFill>
                <a:srgbClr val="002060"/>
              </a:solidFill>
            </a:endParaRPr>
          </a:p>
        </p:txBody>
      </p:sp>
      <p:cxnSp>
        <p:nvCxnSpPr>
          <p:cNvPr id="13" name="Straight Arrow Connector 12"/>
          <p:cNvCxnSpPr/>
          <p:nvPr/>
        </p:nvCxnSpPr>
        <p:spPr>
          <a:xfrm>
            <a:off x="5359400" y="5137150"/>
            <a:ext cx="9525" cy="3238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4" name="Oval 13"/>
          <p:cNvSpPr/>
          <p:nvPr/>
        </p:nvSpPr>
        <p:spPr>
          <a:xfrm>
            <a:off x="3860800" y="5483225"/>
            <a:ext cx="3543300" cy="685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 insured is eligible to</a:t>
            </a:r>
            <a:r>
              <a:rPr lang="en-US" sz="1400" baseline="0" dirty="0">
                <a:solidFill>
                  <a:srgbClr val="002060"/>
                </a:solidFill>
              </a:rPr>
              <a:t> get</a:t>
            </a:r>
            <a:r>
              <a:rPr lang="en-US" sz="1400" dirty="0">
                <a:solidFill>
                  <a:srgbClr val="002060"/>
                </a:solidFill>
              </a:rPr>
              <a:t> the claim,</a:t>
            </a:r>
            <a:r>
              <a:rPr lang="en-US" sz="1400" baseline="0" dirty="0">
                <a:solidFill>
                  <a:srgbClr val="002060"/>
                </a:solidFill>
              </a:rPr>
              <a:t> amount will be paid</a:t>
            </a:r>
            <a:endParaRPr lang="en-US" sz="1400" dirty="0">
              <a:solidFill>
                <a:srgbClr val="002060"/>
              </a:solidFill>
            </a:endParaRPr>
          </a:p>
        </p:txBody>
      </p:sp>
      <p:cxnSp>
        <p:nvCxnSpPr>
          <p:cNvPr id="15" name="Straight Arrow Connector 14"/>
          <p:cNvCxnSpPr/>
          <p:nvPr/>
        </p:nvCxnSpPr>
        <p:spPr>
          <a:xfrm flipV="1">
            <a:off x="2800350" y="2111375"/>
            <a:ext cx="990600" cy="95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flipV="1">
            <a:off x="2813050" y="3140075"/>
            <a:ext cx="990600" cy="95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7" name="Straight Arrow Connector 16"/>
          <p:cNvCxnSpPr/>
          <p:nvPr/>
        </p:nvCxnSpPr>
        <p:spPr>
          <a:xfrm flipH="1" flipV="1">
            <a:off x="7489825" y="3822700"/>
            <a:ext cx="1123950" cy="190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8" name="Straight Arrow Connector 17"/>
          <p:cNvCxnSpPr/>
          <p:nvPr/>
        </p:nvCxnSpPr>
        <p:spPr>
          <a:xfrm flipH="1" flipV="1">
            <a:off x="7470775" y="4667250"/>
            <a:ext cx="1123950" cy="190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9" name="Rectangle 18"/>
          <p:cNvSpPr/>
          <p:nvPr/>
        </p:nvSpPr>
        <p:spPr>
          <a:xfrm>
            <a:off x="530654" y="0"/>
            <a:ext cx="5288692" cy="369332"/>
          </a:xfrm>
          <a:prstGeom prst="rect">
            <a:avLst/>
          </a:prstGeom>
        </p:spPr>
        <p:txBody>
          <a:bodyPr wrap="square">
            <a:spAutoFit/>
          </a:bodyPr>
          <a:lstStyle/>
          <a:p>
            <a:r>
              <a:rPr lang="en-US" b="1" dirty="0">
                <a:latin typeface="+mj-lt"/>
              </a:rPr>
              <a:t>Business Package Insurance Claim work flow process</a:t>
            </a:r>
            <a:r>
              <a:rPr lang="en-US" b="1"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20700" y="431800"/>
            <a:ext cx="7411121" cy="584775"/>
          </a:xfrm>
          <a:prstGeom prst="rect">
            <a:avLst/>
          </a:prstGeom>
        </p:spPr>
        <p:txBody>
          <a:bodyPr wrap="square">
            <a:spAutoFit/>
          </a:bodyPr>
          <a:lstStyle/>
          <a:p>
            <a:r>
              <a:rPr lang="en-US" sz="3200" b="1" dirty="0">
                <a:latin typeface="+mj-lt"/>
              </a:rPr>
              <a:t>Documents Required for Claim Process</a:t>
            </a:r>
            <a:endParaRPr lang="en-US" sz="3200" dirty="0">
              <a:latin typeface="+mj-lt"/>
            </a:endParaRPr>
          </a:p>
        </p:txBody>
      </p:sp>
      <p:sp>
        <p:nvSpPr>
          <p:cNvPr id="4" name="Rectangle 3"/>
          <p:cNvSpPr/>
          <p:nvPr/>
        </p:nvSpPr>
        <p:spPr>
          <a:xfrm>
            <a:off x="660400" y="1384300"/>
            <a:ext cx="10248900" cy="4154984"/>
          </a:xfrm>
          <a:prstGeom prst="rect">
            <a:avLst/>
          </a:prstGeom>
        </p:spPr>
        <p:txBody>
          <a:bodyPr wrap="square">
            <a:spAutoFit/>
          </a:bodyPr>
          <a:lstStyle/>
          <a:p>
            <a:pPr algn="just"/>
            <a:r>
              <a:rPr lang="en-US" sz="2400" dirty="0"/>
              <a:t>Whenever there is an eventuality, you need to immediately contact the insurance company to make claims. You should keep in place the required documents to avoid any delay or rejection. Here are some of the documents; however, the list of documents changes for different insurance plans.</a:t>
            </a:r>
          </a:p>
          <a:p>
            <a:pPr algn="just"/>
            <a:endParaRPr lang="en-US" sz="2400" dirty="0"/>
          </a:p>
          <a:p>
            <a:pPr algn="just">
              <a:buFont typeface="Arial" pitchFamily="34" charset="0"/>
              <a:buChar char="•"/>
            </a:pPr>
            <a:r>
              <a:rPr lang="en-US" sz="2400" dirty="0"/>
              <a:t> Duly filled in claim forms</a:t>
            </a:r>
          </a:p>
          <a:p>
            <a:pPr algn="just"/>
            <a:endParaRPr lang="en-US" sz="2400" dirty="0"/>
          </a:p>
          <a:p>
            <a:pPr marL="114300" indent="-114300" algn="just">
              <a:buFont typeface="Arial" pitchFamily="34" charset="0"/>
              <a:buChar char="•"/>
            </a:pPr>
            <a:r>
              <a:rPr lang="en-US" sz="2400" dirty="0"/>
              <a:t> A picture or record of the event. This will help to substantiate the facts which have been mentioned in the claim application</a:t>
            </a:r>
          </a:p>
          <a:p>
            <a:pPr algn="just"/>
            <a:endParaRPr lang="en-US" sz="2400" dirty="0"/>
          </a:p>
          <a:p>
            <a:pPr algn="just">
              <a:buFont typeface="Arial" pitchFamily="34" charset="0"/>
              <a:buChar char="•"/>
            </a:pPr>
            <a:r>
              <a:rPr lang="en-US" sz="2400" dirty="0"/>
              <a:t> Police reports, as per the need and type of insurance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08000" y="469900"/>
            <a:ext cx="8966199" cy="584775"/>
          </a:xfrm>
          <a:prstGeom prst="rect">
            <a:avLst/>
          </a:prstGeom>
        </p:spPr>
        <p:txBody>
          <a:bodyPr wrap="square">
            <a:spAutoFit/>
          </a:bodyPr>
          <a:lstStyle/>
          <a:p>
            <a:r>
              <a:rPr lang="en-US" sz="3200" b="1" dirty="0">
                <a:latin typeface="+mj-lt"/>
              </a:rPr>
              <a:t>Important Aspects of Business Package Insurance</a:t>
            </a:r>
            <a:endParaRPr lang="en-US" sz="3200" dirty="0">
              <a:latin typeface="+mj-lt"/>
            </a:endParaRPr>
          </a:p>
        </p:txBody>
      </p:sp>
      <p:sp>
        <p:nvSpPr>
          <p:cNvPr id="4" name="Rectangle 3"/>
          <p:cNvSpPr/>
          <p:nvPr/>
        </p:nvSpPr>
        <p:spPr>
          <a:xfrm>
            <a:off x="736600" y="1422401"/>
            <a:ext cx="10223500" cy="4524315"/>
          </a:xfrm>
          <a:prstGeom prst="rect">
            <a:avLst/>
          </a:prstGeom>
        </p:spPr>
        <p:txBody>
          <a:bodyPr wrap="square">
            <a:spAutoFit/>
          </a:bodyPr>
          <a:lstStyle/>
          <a:p>
            <a:pPr algn="just">
              <a:buFont typeface="Arial" pitchFamily="34" charset="0"/>
              <a:buChar char="•"/>
            </a:pPr>
            <a:r>
              <a:rPr lang="en-US" sz="2400" dirty="0"/>
              <a:t> There is an actual loss of business income.</a:t>
            </a:r>
          </a:p>
          <a:p>
            <a:pPr algn="just"/>
            <a:endParaRPr lang="en-US" sz="2400" dirty="0"/>
          </a:p>
          <a:p>
            <a:pPr algn="just">
              <a:buFont typeface="Arial" pitchFamily="34" charset="0"/>
              <a:buChar char="•"/>
            </a:pPr>
            <a:r>
              <a:rPr lang="en-US" sz="2400" dirty="0"/>
              <a:t> There is suspension of activities due to the mishap.</a:t>
            </a:r>
          </a:p>
          <a:p>
            <a:pPr algn="just"/>
            <a:endParaRPr lang="en-US" sz="2400" dirty="0"/>
          </a:p>
          <a:p>
            <a:pPr marL="114300" indent="-114300" algn="just">
              <a:buFont typeface="Arial" pitchFamily="34" charset="0"/>
              <a:buChar char="•"/>
            </a:pPr>
            <a:r>
              <a:rPr lang="en-US" sz="2400" dirty="0"/>
              <a:t> Need to make critical repairs as soon as possible. As the insurer will need to know the repairing costs and will also ask for proper evidence.</a:t>
            </a:r>
          </a:p>
          <a:p>
            <a:pPr algn="just"/>
            <a:endParaRPr lang="en-US" sz="2400" dirty="0"/>
          </a:p>
          <a:p>
            <a:pPr marL="114300" indent="-114300" algn="just">
              <a:buFont typeface="Arial" pitchFamily="34" charset="0"/>
              <a:buChar char="•"/>
            </a:pPr>
            <a:r>
              <a:rPr lang="en-US" sz="2400" dirty="0"/>
              <a:t>Business owners need to inform the insurer about all aspects of the business. If any fact is not disclosed, it might invalidate the cover.</a:t>
            </a:r>
          </a:p>
          <a:p>
            <a:pPr algn="just"/>
            <a:endParaRPr lang="en-US" sz="2400" dirty="0"/>
          </a:p>
          <a:p>
            <a:pPr marL="114300" indent="-114300" algn="just">
              <a:buFont typeface="Arial" pitchFamily="34" charset="0"/>
              <a:buChar char="•"/>
            </a:pPr>
            <a:r>
              <a:rPr lang="en-US" sz="2400" dirty="0"/>
              <a:t> If the damage is caused due to lack of maintenance, the claim might be rejected.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33400" y="444500"/>
            <a:ext cx="8178799" cy="584775"/>
          </a:xfrm>
          <a:prstGeom prst="rect">
            <a:avLst/>
          </a:prstGeom>
        </p:spPr>
        <p:txBody>
          <a:bodyPr wrap="square">
            <a:spAutoFit/>
          </a:bodyPr>
          <a:lstStyle/>
          <a:p>
            <a:r>
              <a:rPr lang="en-US" sz="3200" b="1" dirty="0">
                <a:latin typeface="+mj-lt"/>
              </a:rPr>
              <a:t>Advantages of Buying Business Package Insurance</a:t>
            </a:r>
            <a:endParaRPr lang="en-US" sz="3200" dirty="0">
              <a:latin typeface="+mj-lt"/>
            </a:endParaRPr>
          </a:p>
        </p:txBody>
      </p:sp>
      <p:sp>
        <p:nvSpPr>
          <p:cNvPr id="4" name="Rectangle 3"/>
          <p:cNvSpPr/>
          <p:nvPr/>
        </p:nvSpPr>
        <p:spPr>
          <a:xfrm>
            <a:off x="635000" y="1638300"/>
            <a:ext cx="9728200" cy="2677656"/>
          </a:xfrm>
          <a:prstGeom prst="rect">
            <a:avLst/>
          </a:prstGeom>
        </p:spPr>
        <p:txBody>
          <a:bodyPr wrap="square">
            <a:spAutoFit/>
          </a:bodyPr>
          <a:lstStyle/>
          <a:p>
            <a:pPr algn="just">
              <a:buFont typeface="Arial" pitchFamily="34" charset="0"/>
              <a:buChar char="•"/>
            </a:pPr>
            <a:r>
              <a:rPr lang="en-US" sz="2400" dirty="0"/>
              <a:t> Compensates loss of income</a:t>
            </a:r>
          </a:p>
          <a:p>
            <a:pPr algn="just"/>
            <a:endParaRPr lang="en-US" sz="2400" dirty="0"/>
          </a:p>
          <a:p>
            <a:pPr marL="114300" indent="-114300" algn="just">
              <a:buFont typeface="Arial" pitchFamily="34" charset="0"/>
              <a:buChar char="•"/>
            </a:pPr>
            <a:r>
              <a:rPr lang="en-US" sz="2400" dirty="0"/>
              <a:t> Secures the employees in case of medical issues, which ultimately motivates them to perform</a:t>
            </a:r>
          </a:p>
          <a:p>
            <a:pPr algn="just"/>
            <a:endParaRPr lang="en-US" sz="2400" dirty="0"/>
          </a:p>
          <a:p>
            <a:pPr marL="114300" indent="-114300" algn="just">
              <a:buFont typeface="Arial" pitchFamily="34" charset="0"/>
              <a:buChar char="•"/>
            </a:pPr>
            <a:r>
              <a:rPr lang="en-US" sz="2400" dirty="0"/>
              <a:t> Improves credibility of the business in the eyes of clients and employees. Some clients might not enter into a contract if the business is not insured.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A4645B-C986-4C35-BDBC-1A804971F54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a:extLst>
              <a:ext uri="{FF2B5EF4-FFF2-40B4-BE49-F238E27FC236}">
                <a16:creationId xmlns:a16="http://schemas.microsoft.com/office/drawing/2014/main" id="{B3C05F89-EA44-4BA4-933D-1492E338ABFC}"/>
              </a:ext>
            </a:extLst>
          </p:cNvPr>
          <p:cNvSpPr/>
          <p:nvPr/>
        </p:nvSpPr>
        <p:spPr>
          <a:xfrm>
            <a:off x="533400" y="444500"/>
            <a:ext cx="8178799" cy="584775"/>
          </a:xfrm>
          <a:prstGeom prst="rect">
            <a:avLst/>
          </a:prstGeom>
        </p:spPr>
        <p:txBody>
          <a:bodyPr wrap="square">
            <a:spAutoFit/>
          </a:bodyPr>
          <a:lstStyle/>
          <a:p>
            <a:r>
              <a:rPr lang="en-US" sz="3200" b="1" dirty="0">
                <a:latin typeface="+mj-lt"/>
              </a:rPr>
              <a:t>Suggested Watch</a:t>
            </a:r>
            <a:endParaRPr lang="en-US" sz="3200" dirty="0">
              <a:latin typeface="+mj-lt"/>
            </a:endParaRPr>
          </a:p>
        </p:txBody>
      </p:sp>
      <p:sp>
        <p:nvSpPr>
          <p:cNvPr id="4" name="Rectangle 3">
            <a:extLst>
              <a:ext uri="{FF2B5EF4-FFF2-40B4-BE49-F238E27FC236}">
                <a16:creationId xmlns:a16="http://schemas.microsoft.com/office/drawing/2014/main" id="{0801F4D4-3DA6-4892-A0F9-FC8AB3E3BB79}"/>
              </a:ext>
            </a:extLst>
          </p:cNvPr>
          <p:cNvSpPr/>
          <p:nvPr/>
        </p:nvSpPr>
        <p:spPr>
          <a:xfrm>
            <a:off x="616009" y="1388586"/>
            <a:ext cx="11218181" cy="646331"/>
          </a:xfrm>
          <a:prstGeom prst="rect">
            <a:avLst/>
          </a:prstGeom>
        </p:spPr>
        <p:txBody>
          <a:bodyPr wrap="square">
            <a:spAutoFit/>
          </a:bodyPr>
          <a:lstStyle/>
          <a:p>
            <a:r>
              <a:rPr lang="en-US" dirty="0">
                <a:hlinkClick r:id="rId3"/>
              </a:rPr>
              <a:t>https://www.irdai.gov.in/ADMINCMS/cms/Uploadedfiles/54_Business%20Package%20Insurance%20Policy.pdf</a:t>
            </a:r>
            <a:endParaRPr lang="en-US" dirty="0"/>
          </a:p>
          <a:p>
            <a:endParaRPr lang="en-US" dirty="0"/>
          </a:p>
        </p:txBody>
      </p:sp>
      <p:sp>
        <p:nvSpPr>
          <p:cNvPr id="6" name="Rectangle 5">
            <a:extLst>
              <a:ext uri="{FF2B5EF4-FFF2-40B4-BE49-F238E27FC236}">
                <a16:creationId xmlns:a16="http://schemas.microsoft.com/office/drawing/2014/main" id="{247B655B-BA2A-444C-AF29-83A361C49C1F}"/>
              </a:ext>
            </a:extLst>
          </p:cNvPr>
          <p:cNvSpPr/>
          <p:nvPr/>
        </p:nvSpPr>
        <p:spPr>
          <a:xfrm>
            <a:off x="616009" y="2034917"/>
            <a:ext cx="8225457" cy="646331"/>
          </a:xfrm>
          <a:prstGeom prst="rect">
            <a:avLst/>
          </a:prstGeom>
        </p:spPr>
        <p:txBody>
          <a:bodyPr wrap="none">
            <a:spAutoFit/>
          </a:bodyPr>
          <a:lstStyle/>
          <a:p>
            <a:r>
              <a:rPr lang="en-US" dirty="0">
                <a:latin typeface="Roboto"/>
              </a:rPr>
              <a:t>Business Insurance: A Quick &amp; Easy Overview - </a:t>
            </a:r>
            <a:r>
              <a:rPr lang="en-US" dirty="0">
                <a:latin typeface="Roboto"/>
                <a:hlinkClick r:id="rId4"/>
              </a:rPr>
              <a:t>https://youtu.be/1sRL61C0r4Y</a:t>
            </a:r>
            <a:endParaRPr lang="en-US" dirty="0">
              <a:latin typeface="Roboto"/>
            </a:endParaRPr>
          </a:p>
          <a:p>
            <a:endParaRPr lang="en-US" b="0" i="0" dirty="0">
              <a:effectLst/>
              <a:latin typeface="Roboto"/>
            </a:endParaRPr>
          </a:p>
        </p:txBody>
      </p:sp>
      <p:sp>
        <p:nvSpPr>
          <p:cNvPr id="7" name="Rectangle 6">
            <a:extLst>
              <a:ext uri="{FF2B5EF4-FFF2-40B4-BE49-F238E27FC236}">
                <a16:creationId xmlns:a16="http://schemas.microsoft.com/office/drawing/2014/main" id="{11451B37-E3B6-440C-9930-437D2AE38F0B}"/>
              </a:ext>
            </a:extLst>
          </p:cNvPr>
          <p:cNvSpPr/>
          <p:nvPr/>
        </p:nvSpPr>
        <p:spPr>
          <a:xfrm>
            <a:off x="616009" y="2782669"/>
            <a:ext cx="8527991" cy="646331"/>
          </a:xfrm>
          <a:prstGeom prst="rect">
            <a:avLst/>
          </a:prstGeom>
        </p:spPr>
        <p:txBody>
          <a:bodyPr wrap="square">
            <a:spAutoFit/>
          </a:bodyPr>
          <a:lstStyle/>
          <a:p>
            <a:r>
              <a:rPr lang="en-US" dirty="0">
                <a:hlinkClick r:id="rId5"/>
              </a:rPr>
              <a:t>https://www.libertyinsurance.in/Docx/Business%20Package%20Insurance.pdf</a:t>
            </a:r>
            <a:endParaRPr lang="en-US" dirty="0"/>
          </a:p>
          <a:p>
            <a:endParaRPr lang="en-US" dirty="0"/>
          </a:p>
        </p:txBody>
      </p:sp>
    </p:spTree>
    <p:extLst>
      <p:ext uri="{BB962C8B-B14F-4D97-AF65-F5344CB8AC3E}">
        <p14:creationId xmlns:p14="http://schemas.microsoft.com/office/powerpoint/2010/main" val="2991410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acking-presentation-basic-14-638.jpg"/>
          <p:cNvPicPr>
            <a:picLocks noChangeAspect="1"/>
          </p:cNvPicPr>
          <p:nvPr/>
        </p:nvPicPr>
        <p:blipFill>
          <a:blip r:embed="rId2" cstate="print"/>
          <a:stretch>
            <a:fillRect/>
          </a:stretch>
        </p:blipFill>
        <p:spPr>
          <a:xfrm>
            <a:off x="914400" y="685800"/>
            <a:ext cx="9004300" cy="50244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Best Practice</SubCategory>
    <Tags xmlns="09339d3a-aaa0-497d-ae73-d8a5832d420d">BOP with Claims Processing</Tags>
  </documentManagement>
</p:properties>
</file>

<file path=customXml/item4.xml><?xml version="1.0" encoding="utf-8"?>
<?mso-contentType ?>
<SharedContentType xmlns="Microsoft.SharePoint.Taxonomy.ContentTypeSync" SourceId="41087d73-5bfe-4c6e-a130-3d602495565a" ContentTypeId="0x010100F7548365F7A28B41B9A685ED46C1AC26" PreviousValue="false"/>
</file>

<file path=customXml/itemProps1.xml><?xml version="1.0" encoding="utf-8"?>
<ds:datastoreItem xmlns:ds="http://schemas.openxmlformats.org/officeDocument/2006/customXml" ds:itemID="{D2696A73-A186-4CD2-AB5B-3E0DCDE0F00B}"/>
</file>

<file path=customXml/itemProps2.xml><?xml version="1.0" encoding="utf-8"?>
<ds:datastoreItem xmlns:ds="http://schemas.openxmlformats.org/officeDocument/2006/customXml" ds:itemID="{7912E2E8-05FE-4D23-9EE7-86C7FF940F95}"/>
</file>

<file path=customXml/itemProps3.xml><?xml version="1.0" encoding="utf-8"?>
<ds:datastoreItem xmlns:ds="http://schemas.openxmlformats.org/officeDocument/2006/customXml" ds:itemID="{76E55B63-A381-4D10-806D-2C7CB24F142A}"/>
</file>

<file path=customXml/itemProps4.xml><?xml version="1.0" encoding="utf-8"?>
<ds:datastoreItem xmlns:ds="http://schemas.openxmlformats.org/officeDocument/2006/customXml" ds:itemID="{39EBBDA7-67AD-4E9B-9927-976D847D96ED}"/>
</file>

<file path=docProps/app.xml><?xml version="1.0" encoding="utf-8"?>
<Properties xmlns="http://schemas.openxmlformats.org/officeDocument/2006/extended-properties" xmlns:vt="http://schemas.openxmlformats.org/officeDocument/2006/docPropsVTypes">
  <TotalTime>1079</TotalTime>
  <Words>770</Words>
  <Application>Microsoft Office PowerPoint</Application>
  <PresentationFormat>Widescreen</PresentationFormat>
  <Paragraphs>59</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21</cp:revision>
  <dcterms:created xsi:type="dcterms:W3CDTF">2020-06-02T15:01:31Z</dcterms:created>
  <dcterms:modified xsi:type="dcterms:W3CDTF">2020-06-10T11:47:42Z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ies>
</file>
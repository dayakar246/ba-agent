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257" r:id="rId3"/>
    <p:sldId id="258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11" r:id="rId12"/>
    <p:sldId id="313" r:id="rId13"/>
    <p:sldId id="314" r:id="rId14"/>
    <p:sldId id="3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42D40-350A-43E1-AA9F-3C498A4B9741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17472-9B04-48B5-846F-FCD68B210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7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 expenses</a:t>
            </a:r>
            <a:r>
              <a:rPr lang="en-US" baseline="0" dirty="0"/>
              <a:t> – expenses that continue to be incurred during business interruption</a:t>
            </a:r>
          </a:p>
          <a:p>
            <a:r>
              <a:rPr lang="en-US" baseline="0" dirty="0"/>
              <a:t>Non-continuing expenses – expenses that will not continue during the business interruption</a:t>
            </a:r>
          </a:p>
          <a:p>
            <a:r>
              <a:rPr lang="en-US" dirty="0"/>
              <a:t>Extra expenses – expenses in addition to ordinary expenses</a:t>
            </a:r>
            <a:r>
              <a:rPr lang="en-US" baseline="0" dirty="0"/>
              <a:t> that an organization incurs to mitigate the effects of a business interruption</a:t>
            </a:r>
          </a:p>
          <a:p>
            <a:endParaRPr lang="en-US" baseline="0" dirty="0"/>
          </a:p>
          <a:p>
            <a:r>
              <a:rPr lang="en-US" baseline="0" dirty="0"/>
              <a:t>Additional coverages in BIC can include expenses to reduce loss(business income without extra expense coverage form), civil authority, alterations &amp; new buildings, extended business income, interruption of computer operations</a:t>
            </a:r>
          </a:p>
          <a:p>
            <a:r>
              <a:rPr lang="en-US" baseline="0" dirty="0"/>
              <a:t>Coverage </a:t>
            </a:r>
            <a:r>
              <a:rPr lang="en-US" baseline="0" dirty="0" err="1"/>
              <a:t>extn</a:t>
            </a:r>
            <a:r>
              <a:rPr lang="en-US" baseline="0" dirty="0"/>
              <a:t> is provided for newly acquired locations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05EE3D-69F0-4518-80C0-AEF6A4DE28A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34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mailto:solutions@valuemomentum.com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6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2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9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84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05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2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9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1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57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297" y="195809"/>
            <a:ext cx="1297157" cy="8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26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" descr="Picture1"/>
          <p:cNvSpPr>
            <a:spLocks/>
          </p:cNvSpPr>
          <p:nvPr userDrawn="1"/>
        </p:nvSpPr>
        <p:spPr bwMode="auto">
          <a:xfrm>
            <a:off x="1040858" y="1573187"/>
            <a:ext cx="4030977" cy="2612149"/>
          </a:xfrm>
          <a:custGeom>
            <a:avLst/>
            <a:gdLst>
              <a:gd name="T0" fmla="*/ 509890 w 2042748"/>
              <a:gd name="T1" fmla="*/ 1765495 h 1765495"/>
              <a:gd name="T2" fmla="*/ 0 w 2042748"/>
              <a:gd name="T3" fmla="*/ 882748 h 1765495"/>
              <a:gd name="T4" fmla="*/ 509890 w 2042748"/>
              <a:gd name="T5" fmla="*/ 0 h 1765495"/>
              <a:gd name="T6" fmla="*/ 1532858 w 2042748"/>
              <a:gd name="T7" fmla="*/ 0 h 1765495"/>
              <a:gd name="T8" fmla="*/ 2042748 w 2042748"/>
              <a:gd name="T9" fmla="*/ 882748 h 1765495"/>
              <a:gd name="T10" fmla="*/ 1532858 w 2042748"/>
              <a:gd name="T11" fmla="*/ 1765495 h 1765495"/>
              <a:gd name="T12" fmla="*/ 509890 w 2042748"/>
              <a:gd name="T13" fmla="*/ 1765495 h 1765495"/>
              <a:gd name="T14" fmla="*/ 509890 w 2042748"/>
              <a:gd name="T15" fmla="*/ 1765495 h 1765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42748" h="1765495">
                <a:moveTo>
                  <a:pt x="509890" y="1765495"/>
                </a:moveTo>
                <a:lnTo>
                  <a:pt x="0" y="882748"/>
                </a:lnTo>
                <a:lnTo>
                  <a:pt x="509890" y="0"/>
                </a:lnTo>
                <a:lnTo>
                  <a:pt x="1532858" y="0"/>
                </a:lnTo>
                <a:lnTo>
                  <a:pt x="2042748" y="882748"/>
                </a:lnTo>
                <a:lnTo>
                  <a:pt x="1532858" y="1765495"/>
                </a:lnTo>
                <a:lnTo>
                  <a:pt x="509890" y="1765495"/>
                </a:lnTo>
                <a:lnTo>
                  <a:pt x="509890" y="1765495"/>
                </a:lnTo>
                <a:close/>
              </a:path>
            </a:pathLst>
          </a:cu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47" cap="flat">
                <a:solidFill>
                  <a:srgbClr val="21212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C868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26659" y="302218"/>
            <a:ext cx="7094941" cy="6260742"/>
            <a:chOff x="469994" y="302218"/>
            <a:chExt cx="5321206" cy="6260742"/>
          </a:xfrm>
        </p:grpSpPr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5426219" y="807172"/>
              <a:ext cx="364981" cy="525424"/>
            </a:xfrm>
            <a:custGeom>
              <a:avLst/>
              <a:gdLst>
                <a:gd name="T0" fmla="*/ 0 w 341063"/>
                <a:gd name="T1" fmla="*/ 146625 h 490875"/>
                <a:gd name="T2" fmla="*/ 86063 w 341063"/>
                <a:gd name="T3" fmla="*/ 296437 h 490875"/>
                <a:gd name="T4" fmla="*/ 255001 w 341063"/>
                <a:gd name="T5" fmla="*/ 296437 h 490875"/>
                <a:gd name="T6" fmla="*/ 341063 w 341063"/>
                <a:gd name="T7" fmla="*/ 146625 h 490875"/>
                <a:gd name="T8" fmla="*/ 255001 w 341063"/>
                <a:gd name="T9" fmla="*/ 0 h 490875"/>
                <a:gd name="T10" fmla="*/ 86063 w 341063"/>
                <a:gd name="T11" fmla="*/ 0 h 490875"/>
                <a:gd name="T12" fmla="*/ 0 w 341063"/>
                <a:gd name="T13" fmla="*/ 146625 h 490875"/>
                <a:gd name="T14" fmla="*/ 60563 w 341063"/>
                <a:gd name="T15" fmla="*/ 146625 h 490875"/>
                <a:gd name="T16" fmla="*/ 114751 w 341063"/>
                <a:gd name="T17" fmla="*/ 51000 h 490875"/>
                <a:gd name="T18" fmla="*/ 226313 w 341063"/>
                <a:gd name="T19" fmla="*/ 51000 h 490875"/>
                <a:gd name="T20" fmla="*/ 283688 w 341063"/>
                <a:gd name="T21" fmla="*/ 146625 h 490875"/>
                <a:gd name="T22" fmla="*/ 226313 w 341063"/>
                <a:gd name="T23" fmla="*/ 245437 h 490875"/>
                <a:gd name="T24" fmla="*/ 114751 w 341063"/>
                <a:gd name="T25" fmla="*/ 245437 h 490875"/>
                <a:gd name="T26" fmla="*/ 60563 w 341063"/>
                <a:gd name="T27" fmla="*/ 146625 h 490875"/>
                <a:gd name="T28" fmla="*/ 216751 w 341063"/>
                <a:gd name="T29" fmla="*/ 446250 h 490875"/>
                <a:gd name="T30" fmla="*/ 124313 w 341063"/>
                <a:gd name="T31" fmla="*/ 446250 h 490875"/>
                <a:gd name="T32" fmla="*/ 124313 w 341063"/>
                <a:gd name="T33" fmla="*/ 490875 h 490875"/>
                <a:gd name="T34" fmla="*/ 216751 w 341063"/>
                <a:gd name="T35" fmla="*/ 490875 h 490875"/>
                <a:gd name="T36" fmla="*/ 216751 w 341063"/>
                <a:gd name="T37" fmla="*/ 446250 h 490875"/>
                <a:gd name="T38" fmla="*/ 258188 w 341063"/>
                <a:gd name="T39" fmla="*/ 318750 h 490875"/>
                <a:gd name="T40" fmla="*/ 86063 w 341063"/>
                <a:gd name="T41" fmla="*/ 318750 h 490875"/>
                <a:gd name="T42" fmla="*/ 86063 w 341063"/>
                <a:gd name="T43" fmla="*/ 363375 h 490875"/>
                <a:gd name="T44" fmla="*/ 258188 w 341063"/>
                <a:gd name="T45" fmla="*/ 363375 h 490875"/>
                <a:gd name="T46" fmla="*/ 258188 w 341063"/>
                <a:gd name="T47" fmla="*/ 318750 h 490875"/>
                <a:gd name="T48" fmla="*/ 258188 w 341063"/>
                <a:gd name="T49" fmla="*/ 382500 h 490875"/>
                <a:gd name="T50" fmla="*/ 86063 w 341063"/>
                <a:gd name="T51" fmla="*/ 382500 h 490875"/>
                <a:gd name="T52" fmla="*/ 86063 w 341063"/>
                <a:gd name="T53" fmla="*/ 427125 h 490875"/>
                <a:gd name="T54" fmla="*/ 258188 w 341063"/>
                <a:gd name="T55" fmla="*/ 427125 h 490875"/>
                <a:gd name="T56" fmla="*/ 258188 w 341063"/>
                <a:gd name="T57" fmla="*/ 382500 h 490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1063" h="490875">
                  <a:moveTo>
                    <a:pt x="0" y="146625"/>
                  </a:moveTo>
                  <a:lnTo>
                    <a:pt x="86063" y="296437"/>
                  </a:lnTo>
                  <a:lnTo>
                    <a:pt x="255001" y="296437"/>
                  </a:lnTo>
                  <a:lnTo>
                    <a:pt x="341063" y="146625"/>
                  </a:lnTo>
                  <a:lnTo>
                    <a:pt x="255001" y="0"/>
                  </a:lnTo>
                  <a:lnTo>
                    <a:pt x="86063" y="0"/>
                  </a:lnTo>
                  <a:lnTo>
                    <a:pt x="0" y="146625"/>
                  </a:lnTo>
                  <a:close/>
                  <a:moveTo>
                    <a:pt x="60563" y="146625"/>
                  </a:moveTo>
                  <a:lnTo>
                    <a:pt x="114751" y="51000"/>
                  </a:lnTo>
                  <a:lnTo>
                    <a:pt x="226313" y="51000"/>
                  </a:lnTo>
                  <a:lnTo>
                    <a:pt x="283688" y="146625"/>
                  </a:lnTo>
                  <a:lnTo>
                    <a:pt x="226313" y="245437"/>
                  </a:lnTo>
                  <a:lnTo>
                    <a:pt x="114751" y="245437"/>
                  </a:lnTo>
                  <a:lnTo>
                    <a:pt x="60563" y="146625"/>
                  </a:lnTo>
                  <a:close/>
                  <a:moveTo>
                    <a:pt x="216751" y="446250"/>
                  </a:moveTo>
                  <a:lnTo>
                    <a:pt x="124313" y="446250"/>
                  </a:lnTo>
                  <a:lnTo>
                    <a:pt x="124313" y="490875"/>
                  </a:lnTo>
                  <a:lnTo>
                    <a:pt x="216751" y="490875"/>
                  </a:lnTo>
                  <a:lnTo>
                    <a:pt x="216751" y="446250"/>
                  </a:lnTo>
                  <a:close/>
                  <a:moveTo>
                    <a:pt x="258188" y="318750"/>
                  </a:moveTo>
                  <a:lnTo>
                    <a:pt x="86063" y="318750"/>
                  </a:lnTo>
                  <a:lnTo>
                    <a:pt x="86063" y="363375"/>
                  </a:lnTo>
                  <a:lnTo>
                    <a:pt x="258188" y="363375"/>
                  </a:lnTo>
                  <a:lnTo>
                    <a:pt x="258188" y="318750"/>
                  </a:lnTo>
                  <a:close/>
                  <a:moveTo>
                    <a:pt x="258188" y="382500"/>
                  </a:moveTo>
                  <a:lnTo>
                    <a:pt x="86063" y="382500"/>
                  </a:lnTo>
                  <a:lnTo>
                    <a:pt x="86063" y="427125"/>
                  </a:lnTo>
                  <a:lnTo>
                    <a:pt x="258188" y="427125"/>
                  </a:lnTo>
                  <a:lnTo>
                    <a:pt x="258188" y="38250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9" name="Freeform 7"/>
            <p:cNvSpPr>
              <a:spLocks/>
            </p:cNvSpPr>
            <p:nvPr userDrawn="1"/>
          </p:nvSpPr>
          <p:spPr bwMode="auto">
            <a:xfrm>
              <a:off x="2236297" y="4874095"/>
              <a:ext cx="1268903" cy="1102028"/>
            </a:xfrm>
            <a:custGeom>
              <a:avLst/>
              <a:gdLst>
                <a:gd name="T0" fmla="*/ 889314 w 1185752"/>
                <a:gd name="T1" fmla="*/ 0 h 1029564"/>
                <a:gd name="T2" fmla="*/ 296438 w 1185752"/>
                <a:gd name="T3" fmla="*/ 0 h 1029564"/>
                <a:gd name="T4" fmla="*/ 0 w 1185752"/>
                <a:gd name="T5" fmla="*/ 513188 h 1029564"/>
                <a:gd name="T6" fmla="*/ 296438 w 1185752"/>
                <a:gd name="T7" fmla="*/ 1029564 h 1029564"/>
                <a:gd name="T8" fmla="*/ 889314 w 1185752"/>
                <a:gd name="T9" fmla="*/ 1029564 h 1029564"/>
                <a:gd name="T10" fmla="*/ 1185752 w 1185752"/>
                <a:gd name="T11" fmla="*/ 513188 h 1029564"/>
                <a:gd name="T12" fmla="*/ 889314 w 1185752"/>
                <a:gd name="T13" fmla="*/ 0 h 1029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5752" h="1029564">
                  <a:moveTo>
                    <a:pt x="889314" y="0"/>
                  </a:moveTo>
                  <a:lnTo>
                    <a:pt x="296438" y="0"/>
                  </a:lnTo>
                  <a:lnTo>
                    <a:pt x="0" y="513188"/>
                  </a:lnTo>
                  <a:lnTo>
                    <a:pt x="296438" y="1029564"/>
                  </a:lnTo>
                  <a:lnTo>
                    <a:pt x="889314" y="1029564"/>
                  </a:lnTo>
                  <a:lnTo>
                    <a:pt x="1185752" y="513188"/>
                  </a:lnTo>
                  <a:lnTo>
                    <a:pt x="889314" y="0"/>
                  </a:lnTo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accent6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1" name="Freeform 8"/>
            <p:cNvSpPr>
              <a:spLocks/>
            </p:cNvSpPr>
            <p:nvPr userDrawn="1"/>
          </p:nvSpPr>
          <p:spPr bwMode="auto">
            <a:xfrm>
              <a:off x="3123775" y="848115"/>
              <a:ext cx="1541786" cy="1334033"/>
            </a:xfrm>
            <a:custGeom>
              <a:avLst/>
              <a:gdLst>
                <a:gd name="T0" fmla="*/ 360188 w 1440753"/>
                <a:gd name="T1" fmla="*/ 1246314 h 1246314"/>
                <a:gd name="T2" fmla="*/ 0 w 1440753"/>
                <a:gd name="T3" fmla="*/ 621563 h 1246314"/>
                <a:gd name="T4" fmla="*/ 360188 w 1440753"/>
                <a:gd name="T5" fmla="*/ 0 h 1246314"/>
                <a:gd name="T6" fmla="*/ 1080565 w 1440753"/>
                <a:gd name="T7" fmla="*/ 0 h 1246314"/>
                <a:gd name="T8" fmla="*/ 1440753 w 1440753"/>
                <a:gd name="T9" fmla="*/ 621563 h 1246314"/>
                <a:gd name="T10" fmla="*/ 1080565 w 1440753"/>
                <a:gd name="T11" fmla="*/ 1246314 h 1246314"/>
                <a:gd name="T12" fmla="*/ 360188 w 1440753"/>
                <a:gd name="T13" fmla="*/ 1246314 h 1246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0753" h="1246314">
                  <a:moveTo>
                    <a:pt x="360188" y="1246314"/>
                  </a:moveTo>
                  <a:lnTo>
                    <a:pt x="0" y="621563"/>
                  </a:lnTo>
                  <a:lnTo>
                    <a:pt x="360188" y="0"/>
                  </a:lnTo>
                  <a:lnTo>
                    <a:pt x="1080565" y="0"/>
                  </a:lnTo>
                  <a:lnTo>
                    <a:pt x="1440753" y="621563"/>
                  </a:lnTo>
                  <a:lnTo>
                    <a:pt x="1080565" y="1246314"/>
                  </a:lnTo>
                  <a:lnTo>
                    <a:pt x="360188" y="1246314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" name="Freeform 9"/>
            <p:cNvSpPr>
              <a:spLocks/>
            </p:cNvSpPr>
            <p:nvPr userDrawn="1"/>
          </p:nvSpPr>
          <p:spPr bwMode="auto">
            <a:xfrm>
              <a:off x="3253393" y="5464345"/>
              <a:ext cx="1272314" cy="1098615"/>
            </a:xfrm>
            <a:custGeom>
              <a:avLst/>
              <a:gdLst>
                <a:gd name="T0" fmla="*/ 296438 w 1188940"/>
                <a:gd name="T1" fmla="*/ 1026376 h 1026376"/>
                <a:gd name="T2" fmla="*/ 0 w 1188940"/>
                <a:gd name="T3" fmla="*/ 513188 h 1026376"/>
                <a:gd name="T4" fmla="*/ 296438 w 1188940"/>
                <a:gd name="T5" fmla="*/ 0 h 1026376"/>
                <a:gd name="T6" fmla="*/ 892502 w 1188940"/>
                <a:gd name="T7" fmla="*/ 0 h 1026376"/>
                <a:gd name="T8" fmla="*/ 1188940 w 1188940"/>
                <a:gd name="T9" fmla="*/ 513188 h 1026376"/>
                <a:gd name="T10" fmla="*/ 892502 w 1188940"/>
                <a:gd name="T11" fmla="*/ 1026376 h 1026376"/>
                <a:gd name="T12" fmla="*/ 296438 w 1188940"/>
                <a:gd name="T13" fmla="*/ 1026376 h 1026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8940" h="1026376">
                  <a:moveTo>
                    <a:pt x="296438" y="1026376"/>
                  </a:moveTo>
                  <a:lnTo>
                    <a:pt x="0" y="513188"/>
                  </a:lnTo>
                  <a:lnTo>
                    <a:pt x="296438" y="0"/>
                  </a:lnTo>
                  <a:lnTo>
                    <a:pt x="892502" y="0"/>
                  </a:lnTo>
                  <a:lnTo>
                    <a:pt x="1188940" y="513188"/>
                  </a:lnTo>
                  <a:lnTo>
                    <a:pt x="892502" y="1026376"/>
                  </a:lnTo>
                  <a:lnTo>
                    <a:pt x="296438" y="102637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3" name="Freeform 10"/>
            <p:cNvSpPr>
              <a:spLocks noEditPoints="1"/>
            </p:cNvSpPr>
            <p:nvPr userDrawn="1"/>
          </p:nvSpPr>
          <p:spPr bwMode="auto">
            <a:xfrm>
              <a:off x="2523433" y="851525"/>
              <a:ext cx="712906" cy="617545"/>
            </a:xfrm>
            <a:custGeom>
              <a:avLst/>
              <a:gdLst>
                <a:gd name="T0" fmla="*/ 500439 w 666189"/>
                <a:gd name="T1" fmla="*/ 0 h 576938"/>
                <a:gd name="T2" fmla="*/ 165751 w 666189"/>
                <a:gd name="T3" fmla="*/ 0 h 576938"/>
                <a:gd name="T4" fmla="*/ 0 w 666189"/>
                <a:gd name="T5" fmla="*/ 290063 h 576938"/>
                <a:gd name="T6" fmla="*/ 165751 w 666189"/>
                <a:gd name="T7" fmla="*/ 576938 h 576938"/>
                <a:gd name="T8" fmla="*/ 500439 w 666189"/>
                <a:gd name="T9" fmla="*/ 576938 h 576938"/>
                <a:gd name="T10" fmla="*/ 666189 w 666189"/>
                <a:gd name="T11" fmla="*/ 290063 h 576938"/>
                <a:gd name="T12" fmla="*/ 500439 w 666189"/>
                <a:gd name="T13" fmla="*/ 0 h 576938"/>
                <a:gd name="T14" fmla="*/ 443064 w 666189"/>
                <a:gd name="T15" fmla="*/ 478126 h 576938"/>
                <a:gd name="T16" fmla="*/ 223126 w 666189"/>
                <a:gd name="T17" fmla="*/ 478126 h 576938"/>
                <a:gd name="T18" fmla="*/ 114750 w 666189"/>
                <a:gd name="T19" fmla="*/ 290063 h 576938"/>
                <a:gd name="T20" fmla="*/ 223126 w 666189"/>
                <a:gd name="T21" fmla="*/ 98813 h 576938"/>
                <a:gd name="T22" fmla="*/ 443064 w 666189"/>
                <a:gd name="T23" fmla="*/ 98813 h 576938"/>
                <a:gd name="T24" fmla="*/ 551439 w 666189"/>
                <a:gd name="T25" fmla="*/ 290063 h 576938"/>
                <a:gd name="T26" fmla="*/ 443064 w 666189"/>
                <a:gd name="T27" fmla="*/ 478126 h 576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6189" h="576938">
                  <a:moveTo>
                    <a:pt x="500439" y="0"/>
                  </a:moveTo>
                  <a:lnTo>
                    <a:pt x="165751" y="0"/>
                  </a:lnTo>
                  <a:lnTo>
                    <a:pt x="0" y="290063"/>
                  </a:lnTo>
                  <a:lnTo>
                    <a:pt x="165751" y="576938"/>
                  </a:lnTo>
                  <a:lnTo>
                    <a:pt x="500439" y="576938"/>
                  </a:lnTo>
                  <a:lnTo>
                    <a:pt x="666189" y="290063"/>
                  </a:lnTo>
                  <a:lnTo>
                    <a:pt x="500439" y="0"/>
                  </a:lnTo>
                  <a:close/>
                  <a:moveTo>
                    <a:pt x="443064" y="478126"/>
                  </a:moveTo>
                  <a:lnTo>
                    <a:pt x="223126" y="478126"/>
                  </a:lnTo>
                  <a:lnTo>
                    <a:pt x="114750" y="290063"/>
                  </a:lnTo>
                  <a:lnTo>
                    <a:pt x="223126" y="98813"/>
                  </a:lnTo>
                  <a:lnTo>
                    <a:pt x="443064" y="98813"/>
                  </a:lnTo>
                  <a:lnTo>
                    <a:pt x="551439" y="290063"/>
                  </a:lnTo>
                  <a:lnTo>
                    <a:pt x="443064" y="478126"/>
                  </a:lnTo>
                  <a:close/>
                </a:path>
              </a:pathLst>
            </a:custGeom>
            <a:gradFill rotWithShape="1"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auto">
            <a:xfrm>
              <a:off x="4334691" y="302218"/>
              <a:ext cx="1111995" cy="962141"/>
            </a:xfrm>
            <a:custGeom>
              <a:avLst/>
              <a:gdLst>
                <a:gd name="T0" fmla="*/ 777751 w 1039126"/>
                <a:gd name="T1" fmla="*/ 0 h 898876"/>
                <a:gd name="T2" fmla="*/ 261375 w 1039126"/>
                <a:gd name="T3" fmla="*/ 0 h 898876"/>
                <a:gd name="T4" fmla="*/ 0 w 1039126"/>
                <a:gd name="T5" fmla="*/ 449438 h 898876"/>
                <a:gd name="T6" fmla="*/ 261375 w 1039126"/>
                <a:gd name="T7" fmla="*/ 898876 h 898876"/>
                <a:gd name="T8" fmla="*/ 777751 w 1039126"/>
                <a:gd name="T9" fmla="*/ 898876 h 898876"/>
                <a:gd name="T10" fmla="*/ 1039126 w 1039126"/>
                <a:gd name="T11" fmla="*/ 449438 h 898876"/>
                <a:gd name="T12" fmla="*/ 777751 w 1039126"/>
                <a:gd name="T13" fmla="*/ 0 h 898876"/>
                <a:gd name="T14" fmla="*/ 688501 w 1039126"/>
                <a:gd name="T15" fmla="*/ 742688 h 898876"/>
                <a:gd name="T16" fmla="*/ 350625 w 1039126"/>
                <a:gd name="T17" fmla="*/ 742688 h 898876"/>
                <a:gd name="T18" fmla="*/ 181687 w 1039126"/>
                <a:gd name="T19" fmla="*/ 449438 h 898876"/>
                <a:gd name="T20" fmla="*/ 350625 w 1039126"/>
                <a:gd name="T21" fmla="*/ 156188 h 898876"/>
                <a:gd name="T22" fmla="*/ 688501 w 1039126"/>
                <a:gd name="T23" fmla="*/ 156188 h 898876"/>
                <a:gd name="T24" fmla="*/ 857439 w 1039126"/>
                <a:gd name="T25" fmla="*/ 449438 h 898876"/>
                <a:gd name="T26" fmla="*/ 688501 w 1039126"/>
                <a:gd name="T27" fmla="*/ 742688 h 89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9126" h="898876">
                  <a:moveTo>
                    <a:pt x="777751" y="0"/>
                  </a:moveTo>
                  <a:lnTo>
                    <a:pt x="261375" y="0"/>
                  </a:lnTo>
                  <a:lnTo>
                    <a:pt x="0" y="449438"/>
                  </a:lnTo>
                  <a:lnTo>
                    <a:pt x="261375" y="898876"/>
                  </a:lnTo>
                  <a:lnTo>
                    <a:pt x="777751" y="898876"/>
                  </a:lnTo>
                  <a:lnTo>
                    <a:pt x="1039126" y="449438"/>
                  </a:lnTo>
                  <a:lnTo>
                    <a:pt x="777751" y="0"/>
                  </a:lnTo>
                  <a:close/>
                  <a:moveTo>
                    <a:pt x="688501" y="742688"/>
                  </a:moveTo>
                  <a:lnTo>
                    <a:pt x="350625" y="742688"/>
                  </a:lnTo>
                  <a:lnTo>
                    <a:pt x="181687" y="449438"/>
                  </a:lnTo>
                  <a:lnTo>
                    <a:pt x="350625" y="156188"/>
                  </a:lnTo>
                  <a:lnTo>
                    <a:pt x="688501" y="156188"/>
                  </a:lnTo>
                  <a:lnTo>
                    <a:pt x="857439" y="449438"/>
                  </a:lnTo>
                  <a:lnTo>
                    <a:pt x="688501" y="742688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5" name="Freeform 14"/>
            <p:cNvSpPr>
              <a:spLocks noEditPoints="1"/>
            </p:cNvSpPr>
            <p:nvPr/>
          </p:nvSpPr>
          <p:spPr bwMode="auto">
            <a:xfrm>
              <a:off x="1605866" y="4601147"/>
              <a:ext cx="600341" cy="320714"/>
            </a:xfrm>
            <a:custGeom>
              <a:avLst/>
              <a:gdLst>
                <a:gd name="T0" fmla="*/ 97 w 176"/>
                <a:gd name="T1" fmla="*/ 94 h 94"/>
                <a:gd name="T2" fmla="*/ 176 w 176"/>
                <a:gd name="T3" fmla="*/ 47 h 94"/>
                <a:gd name="T4" fmla="*/ 97 w 176"/>
                <a:gd name="T5" fmla="*/ 0 h 94"/>
                <a:gd name="T6" fmla="*/ 97 w 176"/>
                <a:gd name="T7" fmla="*/ 28 h 94"/>
                <a:gd name="T8" fmla="*/ 0 w 176"/>
                <a:gd name="T9" fmla="*/ 28 h 94"/>
                <a:gd name="T10" fmla="*/ 0 w 176"/>
                <a:gd name="T11" fmla="*/ 66 h 94"/>
                <a:gd name="T12" fmla="*/ 97 w 176"/>
                <a:gd name="T13" fmla="*/ 66 h 94"/>
                <a:gd name="T14" fmla="*/ 97 w 176"/>
                <a:gd name="T15" fmla="*/ 94 h 94"/>
                <a:gd name="T16" fmla="*/ 12 w 176"/>
                <a:gd name="T17" fmla="*/ 55 h 94"/>
                <a:gd name="T18" fmla="*/ 12 w 176"/>
                <a:gd name="T19" fmla="*/ 39 h 94"/>
                <a:gd name="T20" fmla="*/ 109 w 176"/>
                <a:gd name="T21" fmla="*/ 39 h 94"/>
                <a:gd name="T22" fmla="*/ 109 w 176"/>
                <a:gd name="T23" fmla="*/ 21 h 94"/>
                <a:gd name="T24" fmla="*/ 153 w 176"/>
                <a:gd name="T25" fmla="*/ 47 h 94"/>
                <a:gd name="T26" fmla="*/ 109 w 176"/>
                <a:gd name="T27" fmla="*/ 73 h 94"/>
                <a:gd name="T28" fmla="*/ 109 w 176"/>
                <a:gd name="T29" fmla="*/ 55 h 94"/>
                <a:gd name="T30" fmla="*/ 12 w 176"/>
                <a:gd name="T31" fmla="*/ 5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" h="94">
                  <a:moveTo>
                    <a:pt x="97" y="94"/>
                  </a:moveTo>
                  <a:cubicBezTo>
                    <a:pt x="176" y="47"/>
                    <a:pt x="176" y="47"/>
                    <a:pt x="176" y="47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21"/>
                    <a:pt x="97" y="28"/>
                  </a:cubicBezTo>
                  <a:cubicBezTo>
                    <a:pt x="86" y="28"/>
                    <a:pt x="0" y="28"/>
                    <a:pt x="0" y="28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6"/>
                    <a:pt x="86" y="66"/>
                    <a:pt x="97" y="66"/>
                  </a:cubicBezTo>
                  <a:cubicBezTo>
                    <a:pt x="97" y="73"/>
                    <a:pt x="97" y="94"/>
                    <a:pt x="97" y="94"/>
                  </a:cubicBezTo>
                  <a:close/>
                  <a:moveTo>
                    <a:pt x="12" y="55"/>
                  </a:moveTo>
                  <a:cubicBezTo>
                    <a:pt x="12" y="49"/>
                    <a:pt x="12" y="45"/>
                    <a:pt x="12" y="39"/>
                  </a:cubicBezTo>
                  <a:cubicBezTo>
                    <a:pt x="22" y="39"/>
                    <a:pt x="109" y="39"/>
                    <a:pt x="109" y="39"/>
                  </a:cubicBezTo>
                  <a:cubicBezTo>
                    <a:pt x="109" y="39"/>
                    <a:pt x="109" y="27"/>
                    <a:pt x="109" y="21"/>
                  </a:cubicBezTo>
                  <a:cubicBezTo>
                    <a:pt x="119" y="27"/>
                    <a:pt x="143" y="41"/>
                    <a:pt x="153" y="47"/>
                  </a:cubicBezTo>
                  <a:cubicBezTo>
                    <a:pt x="143" y="53"/>
                    <a:pt x="119" y="67"/>
                    <a:pt x="109" y="73"/>
                  </a:cubicBezTo>
                  <a:cubicBezTo>
                    <a:pt x="109" y="67"/>
                    <a:pt x="109" y="55"/>
                    <a:pt x="109" y="55"/>
                  </a:cubicBezTo>
                  <a:cubicBezTo>
                    <a:pt x="109" y="55"/>
                    <a:pt x="22" y="55"/>
                    <a:pt x="12" y="5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89722" y="4788799"/>
              <a:ext cx="689028" cy="365068"/>
            </a:xfrm>
            <a:custGeom>
              <a:avLst/>
              <a:gdLst>
                <a:gd name="T0" fmla="*/ 91 w 202"/>
                <a:gd name="T1" fmla="*/ 75 h 107"/>
                <a:gd name="T2" fmla="*/ 202 w 202"/>
                <a:gd name="T3" fmla="*/ 75 h 107"/>
                <a:gd name="T4" fmla="*/ 202 w 202"/>
                <a:gd name="T5" fmla="*/ 31 h 107"/>
                <a:gd name="T6" fmla="*/ 91 w 202"/>
                <a:gd name="T7" fmla="*/ 31 h 107"/>
                <a:gd name="T8" fmla="*/ 91 w 202"/>
                <a:gd name="T9" fmla="*/ 0 h 107"/>
                <a:gd name="T10" fmla="*/ 0 w 202"/>
                <a:gd name="T11" fmla="*/ 53 h 107"/>
                <a:gd name="T12" fmla="*/ 91 w 202"/>
                <a:gd name="T13" fmla="*/ 107 h 107"/>
                <a:gd name="T14" fmla="*/ 91 w 202"/>
                <a:gd name="T15" fmla="*/ 75 h 107"/>
                <a:gd name="T16" fmla="*/ 78 w 202"/>
                <a:gd name="T17" fmla="*/ 62 h 107"/>
                <a:gd name="T18" fmla="*/ 78 w 202"/>
                <a:gd name="T19" fmla="*/ 83 h 107"/>
                <a:gd name="T20" fmla="*/ 27 w 202"/>
                <a:gd name="T21" fmla="*/ 53 h 107"/>
                <a:gd name="T22" fmla="*/ 78 w 202"/>
                <a:gd name="T23" fmla="*/ 23 h 107"/>
                <a:gd name="T24" fmla="*/ 78 w 202"/>
                <a:gd name="T25" fmla="*/ 45 h 107"/>
                <a:gd name="T26" fmla="*/ 188 w 202"/>
                <a:gd name="T27" fmla="*/ 45 h 107"/>
                <a:gd name="T28" fmla="*/ 188 w 202"/>
                <a:gd name="T29" fmla="*/ 62 h 107"/>
                <a:gd name="T30" fmla="*/ 78 w 202"/>
                <a:gd name="T31" fmla="*/ 6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107">
                  <a:moveTo>
                    <a:pt x="91" y="75"/>
                  </a:moveTo>
                  <a:cubicBezTo>
                    <a:pt x="103" y="75"/>
                    <a:pt x="202" y="75"/>
                    <a:pt x="202" y="75"/>
                  </a:cubicBezTo>
                  <a:cubicBezTo>
                    <a:pt x="202" y="31"/>
                    <a:pt x="202" y="31"/>
                    <a:pt x="202" y="31"/>
                  </a:cubicBezTo>
                  <a:cubicBezTo>
                    <a:pt x="202" y="31"/>
                    <a:pt x="103" y="31"/>
                    <a:pt x="91" y="31"/>
                  </a:cubicBezTo>
                  <a:cubicBezTo>
                    <a:pt x="91" y="24"/>
                    <a:pt x="91" y="0"/>
                    <a:pt x="91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91" y="107"/>
                    <a:pt x="91" y="107"/>
                    <a:pt x="91" y="107"/>
                  </a:cubicBezTo>
                  <a:cubicBezTo>
                    <a:pt x="91" y="107"/>
                    <a:pt x="91" y="83"/>
                    <a:pt x="91" y="75"/>
                  </a:cubicBezTo>
                  <a:close/>
                  <a:moveTo>
                    <a:pt x="78" y="62"/>
                  </a:moveTo>
                  <a:cubicBezTo>
                    <a:pt x="78" y="62"/>
                    <a:pt x="78" y="76"/>
                    <a:pt x="78" y="83"/>
                  </a:cubicBezTo>
                  <a:cubicBezTo>
                    <a:pt x="65" y="76"/>
                    <a:pt x="39" y="60"/>
                    <a:pt x="27" y="53"/>
                  </a:cubicBezTo>
                  <a:cubicBezTo>
                    <a:pt x="39" y="46"/>
                    <a:pt x="65" y="31"/>
                    <a:pt x="78" y="23"/>
                  </a:cubicBezTo>
                  <a:cubicBezTo>
                    <a:pt x="78" y="30"/>
                    <a:pt x="78" y="45"/>
                    <a:pt x="78" y="45"/>
                  </a:cubicBezTo>
                  <a:cubicBezTo>
                    <a:pt x="78" y="45"/>
                    <a:pt x="177" y="45"/>
                    <a:pt x="188" y="45"/>
                  </a:cubicBezTo>
                  <a:cubicBezTo>
                    <a:pt x="188" y="50"/>
                    <a:pt x="188" y="56"/>
                    <a:pt x="188" y="62"/>
                  </a:cubicBezTo>
                  <a:cubicBezTo>
                    <a:pt x="177" y="62"/>
                    <a:pt x="78" y="62"/>
                    <a:pt x="78" y="6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7" name="Freeform 16"/>
            <p:cNvSpPr>
              <a:spLocks noEditPoints="1"/>
            </p:cNvSpPr>
            <p:nvPr/>
          </p:nvSpPr>
          <p:spPr bwMode="auto">
            <a:xfrm>
              <a:off x="3345493" y="4178079"/>
              <a:ext cx="436612" cy="436716"/>
            </a:xfrm>
            <a:custGeom>
              <a:avLst/>
              <a:gdLst>
                <a:gd name="T0" fmla="*/ 0 w 128"/>
                <a:gd name="T1" fmla="*/ 64 h 128"/>
                <a:gd name="T2" fmla="*/ 128 w 128"/>
                <a:gd name="T3" fmla="*/ 64 h 128"/>
                <a:gd name="T4" fmla="*/ 8 w 128"/>
                <a:gd name="T5" fmla="*/ 68 h 128"/>
                <a:gd name="T6" fmla="*/ 30 w 128"/>
                <a:gd name="T7" fmla="*/ 87 h 128"/>
                <a:gd name="T8" fmla="*/ 8 w 128"/>
                <a:gd name="T9" fmla="*/ 68 h 128"/>
                <a:gd name="T10" fmla="*/ 68 w 128"/>
                <a:gd name="T11" fmla="*/ 9 h 128"/>
                <a:gd name="T12" fmla="*/ 68 w 128"/>
                <a:gd name="T13" fmla="*/ 32 h 128"/>
                <a:gd name="T14" fmla="*/ 92 w 128"/>
                <a:gd name="T15" fmla="*/ 60 h 128"/>
                <a:gd name="T16" fmla="*/ 68 w 128"/>
                <a:gd name="T17" fmla="*/ 40 h 128"/>
                <a:gd name="T18" fmla="*/ 60 w 128"/>
                <a:gd name="T19" fmla="*/ 9 h 128"/>
                <a:gd name="T20" fmla="*/ 41 w 128"/>
                <a:gd name="T21" fmla="*/ 32 h 128"/>
                <a:gd name="T22" fmla="*/ 60 w 128"/>
                <a:gd name="T23" fmla="*/ 40 h 128"/>
                <a:gd name="T24" fmla="*/ 36 w 128"/>
                <a:gd name="T25" fmla="*/ 60 h 128"/>
                <a:gd name="T26" fmla="*/ 60 w 128"/>
                <a:gd name="T27" fmla="*/ 40 h 128"/>
                <a:gd name="T28" fmla="*/ 8 w 128"/>
                <a:gd name="T29" fmla="*/ 60 h 128"/>
                <a:gd name="T30" fmla="*/ 31 w 128"/>
                <a:gd name="T31" fmla="*/ 40 h 128"/>
                <a:gd name="T32" fmla="*/ 36 w 128"/>
                <a:gd name="T33" fmla="*/ 68 h 128"/>
                <a:gd name="T34" fmla="*/ 60 w 128"/>
                <a:gd name="T35" fmla="*/ 87 h 128"/>
                <a:gd name="T36" fmla="*/ 36 w 128"/>
                <a:gd name="T37" fmla="*/ 68 h 128"/>
                <a:gd name="T38" fmla="*/ 60 w 128"/>
                <a:gd name="T39" fmla="*/ 119 h 128"/>
                <a:gd name="T40" fmla="*/ 60 w 128"/>
                <a:gd name="T41" fmla="*/ 95 h 128"/>
                <a:gd name="T42" fmla="*/ 68 w 128"/>
                <a:gd name="T43" fmla="*/ 95 h 128"/>
                <a:gd name="T44" fmla="*/ 68 w 128"/>
                <a:gd name="T45" fmla="*/ 119 h 128"/>
                <a:gd name="T46" fmla="*/ 68 w 128"/>
                <a:gd name="T47" fmla="*/ 68 h 128"/>
                <a:gd name="T48" fmla="*/ 89 w 128"/>
                <a:gd name="T49" fmla="*/ 87 h 128"/>
                <a:gd name="T50" fmla="*/ 99 w 128"/>
                <a:gd name="T51" fmla="*/ 68 h 128"/>
                <a:gd name="T52" fmla="*/ 115 w 128"/>
                <a:gd name="T53" fmla="*/ 87 h 128"/>
                <a:gd name="T54" fmla="*/ 99 w 128"/>
                <a:gd name="T55" fmla="*/ 68 h 128"/>
                <a:gd name="T56" fmla="*/ 97 w 128"/>
                <a:gd name="T57" fmla="*/ 40 h 128"/>
                <a:gd name="T58" fmla="*/ 120 w 128"/>
                <a:gd name="T59" fmla="*/ 60 h 128"/>
                <a:gd name="T60" fmla="*/ 110 w 128"/>
                <a:gd name="T61" fmla="*/ 32 h 128"/>
                <a:gd name="T62" fmla="*/ 85 w 128"/>
                <a:gd name="T63" fmla="*/ 12 h 128"/>
                <a:gd name="T64" fmla="*/ 43 w 128"/>
                <a:gd name="T65" fmla="*/ 12 h 128"/>
                <a:gd name="T66" fmla="*/ 18 w 128"/>
                <a:gd name="T67" fmla="*/ 32 h 128"/>
                <a:gd name="T68" fmla="*/ 17 w 128"/>
                <a:gd name="T69" fmla="*/ 95 h 128"/>
                <a:gd name="T70" fmla="*/ 43 w 128"/>
                <a:gd name="T71" fmla="*/ 116 h 128"/>
                <a:gd name="T72" fmla="*/ 85 w 128"/>
                <a:gd name="T73" fmla="*/ 116 h 128"/>
                <a:gd name="T74" fmla="*/ 110 w 128"/>
                <a:gd name="T75" fmla="*/ 9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8" y="68"/>
                  </a:moveTo>
                  <a:cubicBezTo>
                    <a:pt x="28" y="68"/>
                    <a:pt x="28" y="68"/>
                    <a:pt x="28" y="68"/>
                  </a:cubicBezTo>
                  <a:cubicBezTo>
                    <a:pt x="28" y="75"/>
                    <a:pt x="29" y="81"/>
                    <a:pt x="30" y="87"/>
                  </a:cubicBezTo>
                  <a:cubicBezTo>
                    <a:pt x="13" y="87"/>
                    <a:pt x="13" y="87"/>
                    <a:pt x="13" y="87"/>
                  </a:cubicBezTo>
                  <a:cubicBezTo>
                    <a:pt x="10" y="81"/>
                    <a:pt x="9" y="75"/>
                    <a:pt x="8" y="68"/>
                  </a:cubicBezTo>
                  <a:close/>
                  <a:moveTo>
                    <a:pt x="68" y="32"/>
                  </a:moveTo>
                  <a:cubicBezTo>
                    <a:pt x="68" y="9"/>
                    <a:pt x="68" y="9"/>
                    <a:pt x="68" y="9"/>
                  </a:cubicBezTo>
                  <a:cubicBezTo>
                    <a:pt x="75" y="11"/>
                    <a:pt x="82" y="20"/>
                    <a:pt x="86" y="32"/>
                  </a:cubicBezTo>
                  <a:lnTo>
                    <a:pt x="68" y="32"/>
                  </a:lnTo>
                  <a:close/>
                  <a:moveTo>
                    <a:pt x="89" y="40"/>
                  </a:moveTo>
                  <a:cubicBezTo>
                    <a:pt x="90" y="46"/>
                    <a:pt x="91" y="53"/>
                    <a:pt x="92" y="60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8" y="40"/>
                    <a:pt x="68" y="40"/>
                    <a:pt x="68" y="40"/>
                  </a:cubicBezTo>
                  <a:lnTo>
                    <a:pt x="89" y="40"/>
                  </a:lnTo>
                  <a:close/>
                  <a:moveTo>
                    <a:pt x="60" y="9"/>
                  </a:moveTo>
                  <a:cubicBezTo>
                    <a:pt x="60" y="32"/>
                    <a:pt x="60" y="32"/>
                    <a:pt x="60" y="3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6" y="20"/>
                    <a:pt x="52" y="11"/>
                    <a:pt x="60" y="9"/>
                  </a:cubicBezTo>
                  <a:close/>
                  <a:moveTo>
                    <a:pt x="60" y="40"/>
                  </a:moveTo>
                  <a:cubicBezTo>
                    <a:pt x="60" y="60"/>
                    <a:pt x="60" y="60"/>
                    <a:pt x="6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53"/>
                    <a:pt x="37" y="46"/>
                    <a:pt x="39" y="40"/>
                  </a:cubicBezTo>
                  <a:lnTo>
                    <a:pt x="60" y="40"/>
                  </a:lnTo>
                  <a:close/>
                  <a:moveTo>
                    <a:pt x="28" y="60"/>
                  </a:moveTo>
                  <a:cubicBezTo>
                    <a:pt x="8" y="60"/>
                    <a:pt x="8" y="60"/>
                    <a:pt x="8" y="60"/>
                  </a:cubicBezTo>
                  <a:cubicBezTo>
                    <a:pt x="9" y="53"/>
                    <a:pt x="10" y="46"/>
                    <a:pt x="13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29" y="46"/>
                    <a:pt x="28" y="53"/>
                    <a:pt x="28" y="60"/>
                  </a:cubicBezTo>
                  <a:close/>
                  <a:moveTo>
                    <a:pt x="36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60" y="87"/>
                    <a:pt x="60" y="87"/>
                    <a:pt x="60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1"/>
                    <a:pt x="36" y="75"/>
                    <a:pt x="36" y="68"/>
                  </a:cubicBezTo>
                  <a:close/>
                  <a:moveTo>
                    <a:pt x="60" y="95"/>
                  </a:moveTo>
                  <a:cubicBezTo>
                    <a:pt x="60" y="119"/>
                    <a:pt x="60" y="119"/>
                    <a:pt x="60" y="119"/>
                  </a:cubicBezTo>
                  <a:cubicBezTo>
                    <a:pt x="52" y="117"/>
                    <a:pt x="45" y="108"/>
                    <a:pt x="41" y="95"/>
                  </a:cubicBezTo>
                  <a:lnTo>
                    <a:pt x="60" y="95"/>
                  </a:lnTo>
                  <a:close/>
                  <a:moveTo>
                    <a:pt x="68" y="119"/>
                  </a:moveTo>
                  <a:cubicBezTo>
                    <a:pt x="68" y="95"/>
                    <a:pt x="68" y="95"/>
                    <a:pt x="68" y="95"/>
                  </a:cubicBezTo>
                  <a:cubicBezTo>
                    <a:pt x="87" y="95"/>
                    <a:pt x="87" y="95"/>
                    <a:pt x="87" y="95"/>
                  </a:cubicBezTo>
                  <a:cubicBezTo>
                    <a:pt x="82" y="108"/>
                    <a:pt x="76" y="117"/>
                    <a:pt x="68" y="119"/>
                  </a:cubicBezTo>
                  <a:close/>
                  <a:moveTo>
                    <a:pt x="68" y="87"/>
                  </a:moveTo>
                  <a:cubicBezTo>
                    <a:pt x="68" y="68"/>
                    <a:pt x="68" y="68"/>
                    <a:pt x="68" y="68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1" y="75"/>
                    <a:pt x="90" y="81"/>
                    <a:pt x="89" y="87"/>
                  </a:cubicBezTo>
                  <a:lnTo>
                    <a:pt x="68" y="87"/>
                  </a:lnTo>
                  <a:close/>
                  <a:moveTo>
                    <a:pt x="99" y="68"/>
                  </a:moveTo>
                  <a:cubicBezTo>
                    <a:pt x="120" y="68"/>
                    <a:pt x="120" y="68"/>
                    <a:pt x="120" y="68"/>
                  </a:cubicBezTo>
                  <a:cubicBezTo>
                    <a:pt x="119" y="75"/>
                    <a:pt x="117" y="81"/>
                    <a:pt x="115" y="87"/>
                  </a:cubicBezTo>
                  <a:cubicBezTo>
                    <a:pt x="97" y="87"/>
                    <a:pt x="97" y="87"/>
                    <a:pt x="97" y="87"/>
                  </a:cubicBezTo>
                  <a:cubicBezTo>
                    <a:pt x="98" y="81"/>
                    <a:pt x="99" y="75"/>
                    <a:pt x="99" y="68"/>
                  </a:cubicBezTo>
                  <a:close/>
                  <a:moveTo>
                    <a:pt x="99" y="60"/>
                  </a:moveTo>
                  <a:cubicBezTo>
                    <a:pt x="99" y="53"/>
                    <a:pt x="98" y="46"/>
                    <a:pt x="97" y="40"/>
                  </a:cubicBezTo>
                  <a:cubicBezTo>
                    <a:pt x="114" y="40"/>
                    <a:pt x="114" y="40"/>
                    <a:pt x="114" y="40"/>
                  </a:cubicBezTo>
                  <a:cubicBezTo>
                    <a:pt x="117" y="46"/>
                    <a:pt x="119" y="53"/>
                    <a:pt x="120" y="60"/>
                  </a:cubicBezTo>
                  <a:lnTo>
                    <a:pt x="99" y="60"/>
                  </a:lnTo>
                  <a:close/>
                  <a:moveTo>
                    <a:pt x="110" y="32"/>
                  </a:moveTo>
                  <a:cubicBezTo>
                    <a:pt x="95" y="32"/>
                    <a:pt x="95" y="32"/>
                    <a:pt x="95" y="32"/>
                  </a:cubicBezTo>
                  <a:cubicBezTo>
                    <a:pt x="92" y="24"/>
                    <a:pt x="89" y="17"/>
                    <a:pt x="85" y="12"/>
                  </a:cubicBezTo>
                  <a:cubicBezTo>
                    <a:pt x="95" y="16"/>
                    <a:pt x="103" y="23"/>
                    <a:pt x="110" y="32"/>
                  </a:cubicBezTo>
                  <a:close/>
                  <a:moveTo>
                    <a:pt x="43" y="12"/>
                  </a:moveTo>
                  <a:cubicBezTo>
                    <a:pt x="39" y="17"/>
                    <a:pt x="35" y="24"/>
                    <a:pt x="33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23"/>
                    <a:pt x="33" y="16"/>
                    <a:pt x="43" y="12"/>
                  </a:cubicBezTo>
                  <a:close/>
                  <a:moveTo>
                    <a:pt x="17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5" y="103"/>
                    <a:pt x="39" y="110"/>
                    <a:pt x="43" y="116"/>
                  </a:cubicBezTo>
                  <a:cubicBezTo>
                    <a:pt x="32" y="112"/>
                    <a:pt x="23" y="104"/>
                    <a:pt x="17" y="95"/>
                  </a:cubicBezTo>
                  <a:close/>
                  <a:moveTo>
                    <a:pt x="85" y="116"/>
                  </a:moveTo>
                  <a:cubicBezTo>
                    <a:pt x="89" y="110"/>
                    <a:pt x="93" y="103"/>
                    <a:pt x="95" y="95"/>
                  </a:cubicBezTo>
                  <a:cubicBezTo>
                    <a:pt x="110" y="95"/>
                    <a:pt x="110" y="95"/>
                    <a:pt x="110" y="95"/>
                  </a:cubicBezTo>
                  <a:cubicBezTo>
                    <a:pt x="104" y="104"/>
                    <a:pt x="95" y="112"/>
                    <a:pt x="85" y="11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469994" y="3837588"/>
              <a:ext cx="1006832" cy="871150"/>
            </a:xfrm>
            <a:custGeom>
              <a:avLst/>
              <a:gdLst>
                <a:gd name="T0" fmla="*/ 777751 w 1039126"/>
                <a:gd name="T1" fmla="*/ 0 h 898876"/>
                <a:gd name="T2" fmla="*/ 261375 w 1039126"/>
                <a:gd name="T3" fmla="*/ 0 h 898876"/>
                <a:gd name="T4" fmla="*/ 0 w 1039126"/>
                <a:gd name="T5" fmla="*/ 449438 h 898876"/>
                <a:gd name="T6" fmla="*/ 261375 w 1039126"/>
                <a:gd name="T7" fmla="*/ 898876 h 898876"/>
                <a:gd name="T8" fmla="*/ 777751 w 1039126"/>
                <a:gd name="T9" fmla="*/ 898876 h 898876"/>
                <a:gd name="T10" fmla="*/ 1039126 w 1039126"/>
                <a:gd name="T11" fmla="*/ 449438 h 898876"/>
                <a:gd name="T12" fmla="*/ 777751 w 1039126"/>
                <a:gd name="T13" fmla="*/ 0 h 898876"/>
                <a:gd name="T14" fmla="*/ 688501 w 1039126"/>
                <a:gd name="T15" fmla="*/ 742688 h 898876"/>
                <a:gd name="T16" fmla="*/ 350625 w 1039126"/>
                <a:gd name="T17" fmla="*/ 742688 h 898876"/>
                <a:gd name="T18" fmla="*/ 181687 w 1039126"/>
                <a:gd name="T19" fmla="*/ 449438 h 898876"/>
                <a:gd name="T20" fmla="*/ 350625 w 1039126"/>
                <a:gd name="T21" fmla="*/ 156188 h 898876"/>
                <a:gd name="T22" fmla="*/ 688501 w 1039126"/>
                <a:gd name="T23" fmla="*/ 156188 h 898876"/>
                <a:gd name="T24" fmla="*/ 857439 w 1039126"/>
                <a:gd name="T25" fmla="*/ 449438 h 898876"/>
                <a:gd name="T26" fmla="*/ 688501 w 1039126"/>
                <a:gd name="T27" fmla="*/ 742688 h 89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9126" h="898876">
                  <a:moveTo>
                    <a:pt x="777751" y="0"/>
                  </a:moveTo>
                  <a:lnTo>
                    <a:pt x="261375" y="0"/>
                  </a:lnTo>
                  <a:lnTo>
                    <a:pt x="0" y="449438"/>
                  </a:lnTo>
                  <a:lnTo>
                    <a:pt x="261375" y="898876"/>
                  </a:lnTo>
                  <a:lnTo>
                    <a:pt x="777751" y="898876"/>
                  </a:lnTo>
                  <a:lnTo>
                    <a:pt x="1039126" y="449438"/>
                  </a:lnTo>
                  <a:lnTo>
                    <a:pt x="777751" y="0"/>
                  </a:lnTo>
                  <a:close/>
                  <a:moveTo>
                    <a:pt x="688501" y="742688"/>
                  </a:moveTo>
                  <a:lnTo>
                    <a:pt x="350625" y="742688"/>
                  </a:lnTo>
                  <a:lnTo>
                    <a:pt x="181687" y="449438"/>
                  </a:lnTo>
                  <a:lnTo>
                    <a:pt x="350625" y="156188"/>
                  </a:lnTo>
                  <a:lnTo>
                    <a:pt x="688501" y="156188"/>
                  </a:lnTo>
                  <a:lnTo>
                    <a:pt x="857439" y="449438"/>
                  </a:lnTo>
                  <a:lnTo>
                    <a:pt x="688501" y="742688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29" name="Picture 28" descr="VM-Logo-Small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24800" y="5423580"/>
            <a:ext cx="2336800" cy="1129620"/>
          </a:xfrm>
          <a:prstGeom prst="rect">
            <a:avLst/>
          </a:prstGeom>
        </p:spPr>
      </p:pic>
      <p:sp>
        <p:nvSpPr>
          <p:cNvPr id="30" name="Rectangle 29"/>
          <p:cNvSpPr/>
          <p:nvPr userDrawn="1"/>
        </p:nvSpPr>
        <p:spPr>
          <a:xfrm flipH="1">
            <a:off x="-60957" y="125"/>
            <a:ext cx="264156" cy="6858000"/>
          </a:xfrm>
          <a:prstGeom prst="rect">
            <a:avLst/>
          </a:prstGeom>
          <a:solidFill>
            <a:srgbClr val="CC475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593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711200" y="6553200"/>
            <a:ext cx="10871200" cy="0"/>
          </a:xfrm>
          <a:prstGeom prst="line">
            <a:avLst/>
          </a:prstGeom>
          <a:ln w="3175">
            <a:solidFill>
              <a:srgbClr val="EF8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CC475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576" tIns="36576" rIns="36576" bIns="36576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1747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000" dirty="0">
              <a:solidFill>
                <a:prstClr val="white"/>
              </a:solidFill>
              <a:cs typeface="Arial" charset="0"/>
            </a:endParaRPr>
          </a:p>
        </p:txBody>
      </p:sp>
      <p:pic>
        <p:nvPicPr>
          <p:cNvPr id="13" name="Picture 12" descr="VM-Logo-Small.jpg"/>
          <p:cNvPicPr>
            <a:picLocks noChangeAspect="1"/>
          </p:cNvPicPr>
          <p:nvPr userDrawn="1"/>
        </p:nvPicPr>
        <p:blipFill>
          <a:blip r:embed="rId2" cstate="print"/>
          <a:srcRect l="3863" t="3307" r="3698" b="5688"/>
          <a:stretch>
            <a:fillRect/>
          </a:stretch>
        </p:blipFill>
        <p:spPr>
          <a:xfrm>
            <a:off x="10550886" y="-4399"/>
            <a:ext cx="1437913" cy="690199"/>
          </a:xfrm>
          <a:prstGeom prst="rect">
            <a:avLst/>
          </a:prstGeom>
        </p:spPr>
      </p:pic>
      <p:sp>
        <p:nvSpPr>
          <p:cNvPr id="18" name="Text Box 46"/>
          <p:cNvSpPr txBox="1">
            <a:spLocks noChangeArrowheads="1"/>
          </p:cNvSpPr>
          <p:nvPr userDrawn="1"/>
        </p:nvSpPr>
        <p:spPr bwMode="auto">
          <a:xfrm>
            <a:off x="0" y="6584636"/>
            <a:ext cx="12192000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dirty="0">
                <a:solidFill>
                  <a:srgbClr val="5F5F5F"/>
                </a:solidFill>
                <a:latin typeface="Calibri" pitchFamily="34" charset="0"/>
              </a:rPr>
              <a:t>All information contained herein is Proprietary &amp; Confidential material of ValueMomentum Inc. All rights are reserved.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582400" y="6605202"/>
            <a:ext cx="6096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698D5287-B0D0-4F8C-9C32-03A2B269C072}" type="slidenum">
              <a:rPr lang="en-US" sz="1200" smtClean="0">
                <a:solidFill>
                  <a:prstClr val="black"/>
                </a:solidFill>
                <a:cs typeface="Arial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4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2"/>
          <p:cNvSpPr>
            <a:spLocks noChangeArrowheads="1"/>
          </p:cNvSpPr>
          <p:nvPr userDrawn="1"/>
        </p:nvSpPr>
        <p:spPr bwMode="auto">
          <a:xfrm>
            <a:off x="0" y="0"/>
            <a:ext cx="9855200" cy="762000"/>
          </a:xfrm>
          <a:prstGeom prst="rect">
            <a:avLst/>
          </a:prstGeom>
          <a:solidFill>
            <a:srgbClr val="5F5F5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6" name="Rectangle 63"/>
          <p:cNvSpPr>
            <a:spLocks noChangeArrowheads="1"/>
          </p:cNvSpPr>
          <p:nvPr userDrawn="1"/>
        </p:nvSpPr>
        <p:spPr bwMode="auto">
          <a:xfrm>
            <a:off x="8534400" y="0"/>
            <a:ext cx="1320800" cy="763588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7" name="Rectangle 64"/>
          <p:cNvSpPr>
            <a:spLocks noChangeArrowheads="1"/>
          </p:cNvSpPr>
          <p:nvPr userDrawn="1"/>
        </p:nvSpPr>
        <p:spPr bwMode="auto">
          <a:xfrm>
            <a:off x="11684000" y="0"/>
            <a:ext cx="508000" cy="763588"/>
          </a:xfrm>
          <a:prstGeom prst="rect">
            <a:avLst/>
          </a:prstGeom>
          <a:solidFill>
            <a:srgbClr val="96969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8" name="Rectangle 65"/>
          <p:cNvSpPr>
            <a:spLocks noChangeArrowheads="1"/>
          </p:cNvSpPr>
          <p:nvPr userDrawn="1"/>
        </p:nvSpPr>
        <p:spPr bwMode="auto">
          <a:xfrm>
            <a:off x="9042400" y="0"/>
            <a:ext cx="406400" cy="763588"/>
          </a:xfrm>
          <a:prstGeom prst="rect">
            <a:avLst/>
          </a:prstGeom>
          <a:solidFill>
            <a:srgbClr val="A5002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" name="Text Box 46"/>
          <p:cNvSpPr txBox="1">
            <a:spLocks noChangeArrowheads="1"/>
          </p:cNvSpPr>
          <p:nvPr userDrawn="1"/>
        </p:nvSpPr>
        <p:spPr bwMode="auto">
          <a:xfrm>
            <a:off x="2387600" y="6627814"/>
            <a:ext cx="74168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en-US" sz="900" dirty="0">
                <a:solidFill>
                  <a:srgbClr val="5F5F5F"/>
                </a:solidFill>
                <a:latin typeface="Arial Narrow" pitchFamily="34" charset="0"/>
                <a:cs typeface="Arial" charset="0"/>
              </a:rPr>
              <a:t>NOTE: All information contained herein is Proprietary &amp; Confidential material of ValueMomentum Inc. All rights are reserved.</a:t>
            </a:r>
          </a:p>
        </p:txBody>
      </p:sp>
      <p:sp>
        <p:nvSpPr>
          <p:cNvPr id="20" name="Rectangle 63"/>
          <p:cNvSpPr>
            <a:spLocks noChangeArrowheads="1"/>
          </p:cNvSpPr>
          <p:nvPr userDrawn="1"/>
        </p:nvSpPr>
        <p:spPr bwMode="auto">
          <a:xfrm>
            <a:off x="11684000" y="0"/>
            <a:ext cx="101600" cy="763588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1" name="Rectangle 67"/>
          <p:cNvSpPr>
            <a:spLocks noChangeArrowheads="1"/>
          </p:cNvSpPr>
          <p:nvPr userDrawn="1"/>
        </p:nvSpPr>
        <p:spPr bwMode="auto">
          <a:xfrm>
            <a:off x="0" y="762000"/>
            <a:ext cx="12192000" cy="762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prstClr val="black"/>
              </a:solidFill>
              <a:cs typeface="Arial" charset="0"/>
            </a:endParaRPr>
          </a:p>
        </p:txBody>
      </p:sp>
      <p:pic>
        <p:nvPicPr>
          <p:cNvPr id="22" name="Picture 21" descr="VM-Logo-Small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92784" y="0"/>
            <a:ext cx="152400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935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/>
          <p:cNvSpPr>
            <a:spLocks noChangeArrowheads="1"/>
          </p:cNvSpPr>
          <p:nvPr userDrawn="1"/>
        </p:nvSpPr>
        <p:spPr bwMode="auto">
          <a:xfrm>
            <a:off x="1769732" y="719468"/>
            <a:ext cx="6197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20000"/>
            </a:pPr>
            <a:r>
              <a:rPr lang="en-US" sz="6000" dirty="0">
                <a:solidFill>
                  <a:srgbClr val="7030A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Thank You!</a:t>
            </a:r>
          </a:p>
        </p:txBody>
      </p:sp>
      <p:pic>
        <p:nvPicPr>
          <p:cNvPr id="28" name="Picture 3" descr="TC9980101-IMG02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600" y="4876800"/>
            <a:ext cx="2243859" cy="145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E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2121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CD6D4"/>
                  </a:outerShdw>
                </a:effectLst>
              </a14:hiddenEffects>
            </a:ext>
          </a:extLst>
        </p:spPr>
      </p:pic>
      <p:grpSp>
        <p:nvGrpSpPr>
          <p:cNvPr id="29" name="Group 34"/>
          <p:cNvGrpSpPr/>
          <p:nvPr userDrawn="1"/>
        </p:nvGrpSpPr>
        <p:grpSpPr>
          <a:xfrm>
            <a:off x="8636001" y="304800"/>
            <a:ext cx="3221265" cy="1447800"/>
            <a:chOff x="5715000" y="173562"/>
            <a:chExt cx="3298187" cy="1863554"/>
          </a:xfrm>
        </p:grpSpPr>
        <p:sp>
          <p:nvSpPr>
            <p:cNvPr id="30" name="Freeform 34"/>
            <p:cNvSpPr>
              <a:spLocks/>
            </p:cNvSpPr>
            <p:nvPr/>
          </p:nvSpPr>
          <p:spPr bwMode="auto">
            <a:xfrm>
              <a:off x="6644150" y="807920"/>
              <a:ext cx="1245414" cy="1080177"/>
            </a:xfrm>
            <a:custGeom>
              <a:avLst/>
              <a:gdLst>
                <a:gd name="T0" fmla="*/ 503665 w 2021037"/>
                <a:gd name="T1" fmla="*/ 1753267 h 1753267"/>
                <a:gd name="T2" fmla="*/ 0 w 2021037"/>
                <a:gd name="T3" fmla="*/ 876633 h 1753267"/>
                <a:gd name="T4" fmla="*/ 503665 w 2021037"/>
                <a:gd name="T5" fmla="*/ 0 h 1753267"/>
                <a:gd name="T6" fmla="*/ 1517372 w 2021037"/>
                <a:gd name="T7" fmla="*/ 0 h 1753267"/>
                <a:gd name="T8" fmla="*/ 2021037 w 2021037"/>
                <a:gd name="T9" fmla="*/ 876633 h 1753267"/>
                <a:gd name="T10" fmla="*/ 1517372 w 2021037"/>
                <a:gd name="T11" fmla="*/ 1753267 h 1753267"/>
                <a:gd name="T12" fmla="*/ 503665 w 2021037"/>
                <a:gd name="T13" fmla="*/ 1753267 h 1753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1037" h="1753267">
                  <a:moveTo>
                    <a:pt x="503665" y="1753267"/>
                  </a:moveTo>
                  <a:lnTo>
                    <a:pt x="0" y="876633"/>
                  </a:lnTo>
                  <a:lnTo>
                    <a:pt x="503665" y="0"/>
                  </a:lnTo>
                  <a:lnTo>
                    <a:pt x="1517372" y="0"/>
                  </a:lnTo>
                  <a:lnTo>
                    <a:pt x="2021037" y="876633"/>
                  </a:lnTo>
                  <a:lnTo>
                    <a:pt x="1517372" y="1753267"/>
                  </a:lnTo>
                  <a:lnTo>
                    <a:pt x="503665" y="17532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31" name="Freeform 35"/>
            <p:cNvSpPr>
              <a:spLocks noEditPoints="1"/>
            </p:cNvSpPr>
            <p:nvPr/>
          </p:nvSpPr>
          <p:spPr bwMode="auto">
            <a:xfrm>
              <a:off x="7416149" y="201057"/>
              <a:ext cx="310372" cy="269062"/>
            </a:xfrm>
            <a:custGeom>
              <a:avLst/>
              <a:gdLst>
                <a:gd name="T0" fmla="*/ 379343 w 503666"/>
                <a:gd name="T1" fmla="*/ 0 h 436723"/>
                <a:gd name="T2" fmla="*/ 127510 w 503666"/>
                <a:gd name="T3" fmla="*/ 0 h 436723"/>
                <a:gd name="T4" fmla="*/ 0 w 503666"/>
                <a:gd name="T5" fmla="*/ 216768 h 436723"/>
                <a:gd name="T6" fmla="*/ 127510 w 503666"/>
                <a:gd name="T7" fmla="*/ 436723 h 436723"/>
                <a:gd name="T8" fmla="*/ 379343 w 503666"/>
                <a:gd name="T9" fmla="*/ 436723 h 436723"/>
                <a:gd name="T10" fmla="*/ 503666 w 503666"/>
                <a:gd name="T11" fmla="*/ 216768 h 436723"/>
                <a:gd name="T12" fmla="*/ 379343 w 503666"/>
                <a:gd name="T13" fmla="*/ 0 h 436723"/>
                <a:gd name="T14" fmla="*/ 334714 w 503666"/>
                <a:gd name="T15" fmla="*/ 360217 h 436723"/>
                <a:gd name="T16" fmla="*/ 168951 w 503666"/>
                <a:gd name="T17" fmla="*/ 360217 h 436723"/>
                <a:gd name="T18" fmla="*/ 86069 w 503666"/>
                <a:gd name="T19" fmla="*/ 216768 h 436723"/>
                <a:gd name="T20" fmla="*/ 168951 w 503666"/>
                <a:gd name="T21" fmla="*/ 76507 h 436723"/>
                <a:gd name="T22" fmla="*/ 334714 w 503666"/>
                <a:gd name="T23" fmla="*/ 76507 h 436723"/>
                <a:gd name="T24" fmla="*/ 417596 w 503666"/>
                <a:gd name="T25" fmla="*/ 216768 h 436723"/>
                <a:gd name="T26" fmla="*/ 334714 w 503666"/>
                <a:gd name="T27" fmla="*/ 360217 h 436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3666" h="436723">
                  <a:moveTo>
                    <a:pt x="379343" y="0"/>
                  </a:moveTo>
                  <a:lnTo>
                    <a:pt x="127510" y="0"/>
                  </a:lnTo>
                  <a:lnTo>
                    <a:pt x="0" y="216768"/>
                  </a:lnTo>
                  <a:lnTo>
                    <a:pt x="127510" y="436723"/>
                  </a:lnTo>
                  <a:lnTo>
                    <a:pt x="379343" y="436723"/>
                  </a:lnTo>
                  <a:lnTo>
                    <a:pt x="503666" y="216768"/>
                  </a:lnTo>
                  <a:lnTo>
                    <a:pt x="379343" y="0"/>
                  </a:lnTo>
                  <a:close/>
                  <a:moveTo>
                    <a:pt x="334714" y="360217"/>
                  </a:moveTo>
                  <a:lnTo>
                    <a:pt x="168951" y="360217"/>
                  </a:lnTo>
                  <a:lnTo>
                    <a:pt x="86069" y="216768"/>
                  </a:lnTo>
                  <a:lnTo>
                    <a:pt x="168951" y="76507"/>
                  </a:lnTo>
                  <a:lnTo>
                    <a:pt x="334714" y="76507"/>
                  </a:lnTo>
                  <a:lnTo>
                    <a:pt x="417596" y="216768"/>
                  </a:lnTo>
                  <a:lnTo>
                    <a:pt x="334714" y="3602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32" name="Freeform 36"/>
            <p:cNvSpPr>
              <a:spLocks noEditPoints="1"/>
            </p:cNvSpPr>
            <p:nvPr/>
          </p:nvSpPr>
          <p:spPr bwMode="auto">
            <a:xfrm>
              <a:off x="7623361" y="1760198"/>
              <a:ext cx="320193" cy="276918"/>
            </a:xfrm>
            <a:custGeom>
              <a:avLst/>
              <a:gdLst>
                <a:gd name="T0" fmla="*/ 392094 w 519604"/>
                <a:gd name="T1" fmla="*/ 0 h 449473"/>
                <a:gd name="T2" fmla="*/ 130698 w 519604"/>
                <a:gd name="T3" fmla="*/ 0 h 449473"/>
                <a:gd name="T4" fmla="*/ 0 w 519604"/>
                <a:gd name="T5" fmla="*/ 226330 h 449473"/>
                <a:gd name="T6" fmla="*/ 130698 w 519604"/>
                <a:gd name="T7" fmla="*/ 449473 h 449473"/>
                <a:gd name="T8" fmla="*/ 392094 w 519604"/>
                <a:gd name="T9" fmla="*/ 449473 h 449473"/>
                <a:gd name="T10" fmla="*/ 519604 w 519604"/>
                <a:gd name="T11" fmla="*/ 226330 h 449473"/>
                <a:gd name="T12" fmla="*/ 392094 w 519604"/>
                <a:gd name="T13" fmla="*/ 0 h 449473"/>
                <a:gd name="T14" fmla="*/ 347465 w 519604"/>
                <a:gd name="T15" fmla="*/ 372967 h 449473"/>
                <a:gd name="T16" fmla="*/ 175326 w 519604"/>
                <a:gd name="T17" fmla="*/ 372967 h 449473"/>
                <a:gd name="T18" fmla="*/ 92444 w 519604"/>
                <a:gd name="T19" fmla="*/ 226330 h 449473"/>
                <a:gd name="T20" fmla="*/ 175326 w 519604"/>
                <a:gd name="T21" fmla="*/ 79694 h 449473"/>
                <a:gd name="T22" fmla="*/ 347465 w 519604"/>
                <a:gd name="T23" fmla="*/ 79694 h 449473"/>
                <a:gd name="T24" fmla="*/ 430347 w 519604"/>
                <a:gd name="T25" fmla="*/ 226330 h 449473"/>
                <a:gd name="T26" fmla="*/ 347465 w 519604"/>
                <a:gd name="T27" fmla="*/ 372967 h 449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9604" h="449473">
                  <a:moveTo>
                    <a:pt x="392094" y="0"/>
                  </a:moveTo>
                  <a:lnTo>
                    <a:pt x="130698" y="0"/>
                  </a:lnTo>
                  <a:lnTo>
                    <a:pt x="0" y="226330"/>
                  </a:lnTo>
                  <a:lnTo>
                    <a:pt x="130698" y="449473"/>
                  </a:lnTo>
                  <a:lnTo>
                    <a:pt x="392094" y="449473"/>
                  </a:lnTo>
                  <a:lnTo>
                    <a:pt x="519604" y="226330"/>
                  </a:lnTo>
                  <a:lnTo>
                    <a:pt x="392094" y="0"/>
                  </a:lnTo>
                  <a:close/>
                  <a:moveTo>
                    <a:pt x="347465" y="372967"/>
                  </a:moveTo>
                  <a:lnTo>
                    <a:pt x="175326" y="372967"/>
                  </a:lnTo>
                  <a:lnTo>
                    <a:pt x="92444" y="226330"/>
                  </a:lnTo>
                  <a:lnTo>
                    <a:pt x="175326" y="79694"/>
                  </a:lnTo>
                  <a:lnTo>
                    <a:pt x="347465" y="79694"/>
                  </a:lnTo>
                  <a:lnTo>
                    <a:pt x="430347" y="226330"/>
                  </a:lnTo>
                  <a:lnTo>
                    <a:pt x="347465" y="37296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35" name="Freeform 34"/>
            <p:cNvSpPr>
              <a:spLocks noEditPoints="1"/>
            </p:cNvSpPr>
            <p:nvPr/>
          </p:nvSpPr>
          <p:spPr bwMode="auto">
            <a:xfrm>
              <a:off x="7919030" y="654731"/>
              <a:ext cx="253404" cy="133549"/>
            </a:xfrm>
            <a:custGeom>
              <a:avLst/>
              <a:gdLst>
                <a:gd name="T0" fmla="*/ 71 w 129"/>
                <a:gd name="T1" fmla="*/ 68 h 68"/>
                <a:gd name="T2" fmla="*/ 129 w 129"/>
                <a:gd name="T3" fmla="*/ 34 h 68"/>
                <a:gd name="T4" fmla="*/ 71 w 129"/>
                <a:gd name="T5" fmla="*/ 0 h 68"/>
                <a:gd name="T6" fmla="*/ 71 w 129"/>
                <a:gd name="T7" fmla="*/ 20 h 68"/>
                <a:gd name="T8" fmla="*/ 0 w 129"/>
                <a:gd name="T9" fmla="*/ 20 h 68"/>
                <a:gd name="T10" fmla="*/ 0 w 129"/>
                <a:gd name="T11" fmla="*/ 48 h 68"/>
                <a:gd name="T12" fmla="*/ 71 w 129"/>
                <a:gd name="T13" fmla="*/ 48 h 68"/>
                <a:gd name="T14" fmla="*/ 71 w 129"/>
                <a:gd name="T15" fmla="*/ 68 h 68"/>
                <a:gd name="T16" fmla="*/ 8 w 129"/>
                <a:gd name="T17" fmla="*/ 40 h 68"/>
                <a:gd name="T18" fmla="*/ 8 w 129"/>
                <a:gd name="T19" fmla="*/ 28 h 68"/>
                <a:gd name="T20" fmla="*/ 79 w 129"/>
                <a:gd name="T21" fmla="*/ 28 h 68"/>
                <a:gd name="T22" fmla="*/ 79 w 129"/>
                <a:gd name="T23" fmla="*/ 15 h 68"/>
                <a:gd name="T24" fmla="*/ 112 w 129"/>
                <a:gd name="T25" fmla="*/ 34 h 68"/>
                <a:gd name="T26" fmla="*/ 79 w 129"/>
                <a:gd name="T27" fmla="*/ 53 h 68"/>
                <a:gd name="T28" fmla="*/ 79 w 129"/>
                <a:gd name="T29" fmla="*/ 40 h 68"/>
                <a:gd name="T30" fmla="*/ 8 w 129"/>
                <a:gd name="T31" fmla="*/ 4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68">
                  <a:moveTo>
                    <a:pt x="71" y="68"/>
                  </a:moveTo>
                  <a:cubicBezTo>
                    <a:pt x="129" y="34"/>
                    <a:pt x="129" y="34"/>
                    <a:pt x="129" y="34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15"/>
                    <a:pt x="71" y="20"/>
                  </a:cubicBezTo>
                  <a:cubicBezTo>
                    <a:pt x="63" y="20"/>
                    <a:pt x="0" y="20"/>
                    <a:pt x="0" y="2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63" y="48"/>
                    <a:pt x="71" y="48"/>
                  </a:cubicBezTo>
                  <a:cubicBezTo>
                    <a:pt x="71" y="53"/>
                    <a:pt x="71" y="68"/>
                    <a:pt x="71" y="68"/>
                  </a:cubicBezTo>
                  <a:close/>
                  <a:moveTo>
                    <a:pt x="8" y="40"/>
                  </a:moveTo>
                  <a:cubicBezTo>
                    <a:pt x="8" y="36"/>
                    <a:pt x="8" y="32"/>
                    <a:pt x="8" y="28"/>
                  </a:cubicBezTo>
                  <a:cubicBezTo>
                    <a:pt x="16" y="28"/>
                    <a:pt x="79" y="28"/>
                    <a:pt x="79" y="28"/>
                  </a:cubicBezTo>
                  <a:cubicBezTo>
                    <a:pt x="79" y="28"/>
                    <a:pt x="79" y="19"/>
                    <a:pt x="79" y="15"/>
                  </a:cubicBezTo>
                  <a:cubicBezTo>
                    <a:pt x="87" y="19"/>
                    <a:pt x="104" y="29"/>
                    <a:pt x="112" y="34"/>
                  </a:cubicBezTo>
                  <a:cubicBezTo>
                    <a:pt x="104" y="39"/>
                    <a:pt x="87" y="49"/>
                    <a:pt x="79" y="53"/>
                  </a:cubicBezTo>
                  <a:cubicBezTo>
                    <a:pt x="79" y="49"/>
                    <a:pt x="79" y="40"/>
                    <a:pt x="79" y="40"/>
                  </a:cubicBezTo>
                  <a:cubicBezTo>
                    <a:pt x="79" y="40"/>
                    <a:pt x="16" y="40"/>
                    <a:pt x="8" y="4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7742236" y="733290"/>
              <a:ext cx="290728" cy="153189"/>
            </a:xfrm>
            <a:custGeom>
              <a:avLst/>
              <a:gdLst>
                <a:gd name="T0" fmla="*/ 67 w 148"/>
                <a:gd name="T1" fmla="*/ 55 h 78"/>
                <a:gd name="T2" fmla="*/ 148 w 148"/>
                <a:gd name="T3" fmla="*/ 55 h 78"/>
                <a:gd name="T4" fmla="*/ 148 w 148"/>
                <a:gd name="T5" fmla="*/ 23 h 78"/>
                <a:gd name="T6" fmla="*/ 67 w 148"/>
                <a:gd name="T7" fmla="*/ 23 h 78"/>
                <a:gd name="T8" fmla="*/ 67 w 148"/>
                <a:gd name="T9" fmla="*/ 0 h 78"/>
                <a:gd name="T10" fmla="*/ 0 w 148"/>
                <a:gd name="T11" fmla="*/ 39 h 78"/>
                <a:gd name="T12" fmla="*/ 67 w 148"/>
                <a:gd name="T13" fmla="*/ 78 h 78"/>
                <a:gd name="T14" fmla="*/ 67 w 148"/>
                <a:gd name="T15" fmla="*/ 55 h 78"/>
                <a:gd name="T16" fmla="*/ 57 w 148"/>
                <a:gd name="T17" fmla="*/ 45 h 78"/>
                <a:gd name="T18" fmla="*/ 57 w 148"/>
                <a:gd name="T19" fmla="*/ 61 h 78"/>
                <a:gd name="T20" fmla="*/ 20 w 148"/>
                <a:gd name="T21" fmla="*/ 39 h 78"/>
                <a:gd name="T22" fmla="*/ 57 w 148"/>
                <a:gd name="T23" fmla="*/ 17 h 78"/>
                <a:gd name="T24" fmla="*/ 57 w 148"/>
                <a:gd name="T25" fmla="*/ 33 h 78"/>
                <a:gd name="T26" fmla="*/ 138 w 148"/>
                <a:gd name="T27" fmla="*/ 33 h 78"/>
                <a:gd name="T28" fmla="*/ 138 w 148"/>
                <a:gd name="T29" fmla="*/ 45 h 78"/>
                <a:gd name="T30" fmla="*/ 57 w 148"/>
                <a:gd name="T31" fmla="*/ 4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8" h="78">
                  <a:moveTo>
                    <a:pt x="67" y="55"/>
                  </a:moveTo>
                  <a:cubicBezTo>
                    <a:pt x="76" y="55"/>
                    <a:pt x="148" y="55"/>
                    <a:pt x="148" y="55"/>
                  </a:cubicBezTo>
                  <a:cubicBezTo>
                    <a:pt x="148" y="23"/>
                    <a:pt x="148" y="23"/>
                    <a:pt x="148" y="23"/>
                  </a:cubicBezTo>
                  <a:cubicBezTo>
                    <a:pt x="148" y="23"/>
                    <a:pt x="76" y="23"/>
                    <a:pt x="67" y="23"/>
                  </a:cubicBezTo>
                  <a:cubicBezTo>
                    <a:pt x="67" y="17"/>
                    <a:pt x="67" y="0"/>
                    <a:pt x="67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7" y="78"/>
                    <a:pt x="67" y="78"/>
                    <a:pt x="67" y="78"/>
                  </a:cubicBezTo>
                  <a:cubicBezTo>
                    <a:pt x="67" y="78"/>
                    <a:pt x="67" y="61"/>
                    <a:pt x="67" y="55"/>
                  </a:cubicBezTo>
                  <a:close/>
                  <a:moveTo>
                    <a:pt x="57" y="45"/>
                  </a:moveTo>
                  <a:cubicBezTo>
                    <a:pt x="57" y="45"/>
                    <a:pt x="57" y="56"/>
                    <a:pt x="57" y="61"/>
                  </a:cubicBezTo>
                  <a:cubicBezTo>
                    <a:pt x="48" y="56"/>
                    <a:pt x="29" y="44"/>
                    <a:pt x="20" y="39"/>
                  </a:cubicBezTo>
                  <a:cubicBezTo>
                    <a:pt x="29" y="34"/>
                    <a:pt x="48" y="22"/>
                    <a:pt x="57" y="17"/>
                  </a:cubicBezTo>
                  <a:cubicBezTo>
                    <a:pt x="57" y="22"/>
                    <a:pt x="57" y="33"/>
                    <a:pt x="57" y="33"/>
                  </a:cubicBezTo>
                  <a:cubicBezTo>
                    <a:pt x="57" y="33"/>
                    <a:pt x="130" y="33"/>
                    <a:pt x="138" y="33"/>
                  </a:cubicBezTo>
                  <a:cubicBezTo>
                    <a:pt x="138" y="37"/>
                    <a:pt x="138" y="41"/>
                    <a:pt x="138" y="45"/>
                  </a:cubicBezTo>
                  <a:cubicBezTo>
                    <a:pt x="130" y="45"/>
                    <a:pt x="57" y="45"/>
                    <a:pt x="57" y="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58" name="Freeform 43"/>
            <p:cNvSpPr>
              <a:spLocks noEditPoints="1"/>
            </p:cNvSpPr>
            <p:nvPr/>
          </p:nvSpPr>
          <p:spPr bwMode="auto">
            <a:xfrm>
              <a:off x="5907509" y="285508"/>
              <a:ext cx="269120" cy="384936"/>
            </a:xfrm>
            <a:custGeom>
              <a:avLst/>
              <a:gdLst>
                <a:gd name="T0" fmla="*/ 0 w 436723"/>
                <a:gd name="T1" fmla="*/ 188078 h 624800"/>
                <a:gd name="T2" fmla="*/ 108384 w 436723"/>
                <a:gd name="T3" fmla="*/ 376155 h 624800"/>
                <a:gd name="T4" fmla="*/ 328339 w 436723"/>
                <a:gd name="T5" fmla="*/ 376155 h 624800"/>
                <a:gd name="T6" fmla="*/ 436723 w 436723"/>
                <a:gd name="T7" fmla="*/ 188078 h 624800"/>
                <a:gd name="T8" fmla="*/ 328339 w 436723"/>
                <a:gd name="T9" fmla="*/ 0 h 624800"/>
                <a:gd name="T10" fmla="*/ 108384 w 436723"/>
                <a:gd name="T11" fmla="*/ 0 h 624800"/>
                <a:gd name="T12" fmla="*/ 0 w 436723"/>
                <a:gd name="T13" fmla="*/ 188078 h 624800"/>
                <a:gd name="T14" fmla="*/ 76506 w 436723"/>
                <a:gd name="T15" fmla="*/ 188078 h 624800"/>
                <a:gd name="T16" fmla="*/ 146637 w 436723"/>
                <a:gd name="T17" fmla="*/ 63755 h 624800"/>
                <a:gd name="T18" fmla="*/ 290086 w 436723"/>
                <a:gd name="T19" fmla="*/ 63755 h 624800"/>
                <a:gd name="T20" fmla="*/ 360217 w 436723"/>
                <a:gd name="T21" fmla="*/ 188078 h 624800"/>
                <a:gd name="T22" fmla="*/ 290086 w 436723"/>
                <a:gd name="T23" fmla="*/ 312400 h 624800"/>
                <a:gd name="T24" fmla="*/ 146637 w 436723"/>
                <a:gd name="T25" fmla="*/ 312400 h 624800"/>
                <a:gd name="T26" fmla="*/ 76506 w 436723"/>
                <a:gd name="T27" fmla="*/ 188078 h 624800"/>
                <a:gd name="T28" fmla="*/ 277335 w 436723"/>
                <a:gd name="T29" fmla="*/ 567421 h 624800"/>
                <a:gd name="T30" fmla="*/ 159388 w 436723"/>
                <a:gd name="T31" fmla="*/ 567421 h 624800"/>
                <a:gd name="T32" fmla="*/ 159388 w 436723"/>
                <a:gd name="T33" fmla="*/ 624800 h 624800"/>
                <a:gd name="T34" fmla="*/ 277335 w 436723"/>
                <a:gd name="T35" fmla="*/ 624800 h 624800"/>
                <a:gd name="T36" fmla="*/ 277335 w 436723"/>
                <a:gd name="T37" fmla="*/ 567421 h 624800"/>
                <a:gd name="T38" fmla="*/ 328339 w 436723"/>
                <a:gd name="T39" fmla="*/ 404845 h 624800"/>
                <a:gd name="T40" fmla="*/ 108384 w 436723"/>
                <a:gd name="T41" fmla="*/ 404845 h 624800"/>
                <a:gd name="T42" fmla="*/ 108384 w 436723"/>
                <a:gd name="T43" fmla="*/ 462225 h 624800"/>
                <a:gd name="T44" fmla="*/ 328339 w 436723"/>
                <a:gd name="T45" fmla="*/ 462225 h 624800"/>
                <a:gd name="T46" fmla="*/ 328339 w 436723"/>
                <a:gd name="T47" fmla="*/ 404845 h 624800"/>
                <a:gd name="T48" fmla="*/ 328339 w 436723"/>
                <a:gd name="T49" fmla="*/ 487727 h 624800"/>
                <a:gd name="T50" fmla="*/ 108384 w 436723"/>
                <a:gd name="T51" fmla="*/ 487727 h 624800"/>
                <a:gd name="T52" fmla="*/ 108384 w 436723"/>
                <a:gd name="T53" fmla="*/ 545106 h 624800"/>
                <a:gd name="T54" fmla="*/ 328339 w 436723"/>
                <a:gd name="T55" fmla="*/ 545106 h 624800"/>
                <a:gd name="T56" fmla="*/ 328339 w 436723"/>
                <a:gd name="T57" fmla="*/ 487727 h 624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36723" h="624800">
                  <a:moveTo>
                    <a:pt x="0" y="188078"/>
                  </a:moveTo>
                  <a:lnTo>
                    <a:pt x="108384" y="376155"/>
                  </a:lnTo>
                  <a:lnTo>
                    <a:pt x="328339" y="376155"/>
                  </a:lnTo>
                  <a:lnTo>
                    <a:pt x="436723" y="188078"/>
                  </a:lnTo>
                  <a:lnTo>
                    <a:pt x="328339" y="0"/>
                  </a:lnTo>
                  <a:lnTo>
                    <a:pt x="108384" y="0"/>
                  </a:lnTo>
                  <a:lnTo>
                    <a:pt x="0" y="188078"/>
                  </a:lnTo>
                  <a:close/>
                  <a:moveTo>
                    <a:pt x="76506" y="188078"/>
                  </a:moveTo>
                  <a:lnTo>
                    <a:pt x="146637" y="63755"/>
                  </a:lnTo>
                  <a:lnTo>
                    <a:pt x="290086" y="63755"/>
                  </a:lnTo>
                  <a:lnTo>
                    <a:pt x="360217" y="188078"/>
                  </a:lnTo>
                  <a:lnTo>
                    <a:pt x="290086" y="312400"/>
                  </a:lnTo>
                  <a:lnTo>
                    <a:pt x="146637" y="312400"/>
                  </a:lnTo>
                  <a:lnTo>
                    <a:pt x="76506" y="188078"/>
                  </a:lnTo>
                  <a:close/>
                  <a:moveTo>
                    <a:pt x="277335" y="567421"/>
                  </a:moveTo>
                  <a:lnTo>
                    <a:pt x="159388" y="567421"/>
                  </a:lnTo>
                  <a:lnTo>
                    <a:pt x="159388" y="624800"/>
                  </a:lnTo>
                  <a:lnTo>
                    <a:pt x="277335" y="624800"/>
                  </a:lnTo>
                  <a:lnTo>
                    <a:pt x="277335" y="567421"/>
                  </a:lnTo>
                  <a:close/>
                  <a:moveTo>
                    <a:pt x="328339" y="404845"/>
                  </a:moveTo>
                  <a:lnTo>
                    <a:pt x="108384" y="404845"/>
                  </a:lnTo>
                  <a:lnTo>
                    <a:pt x="108384" y="462225"/>
                  </a:lnTo>
                  <a:lnTo>
                    <a:pt x="328339" y="462225"/>
                  </a:lnTo>
                  <a:lnTo>
                    <a:pt x="328339" y="404845"/>
                  </a:lnTo>
                  <a:close/>
                  <a:moveTo>
                    <a:pt x="328339" y="487727"/>
                  </a:moveTo>
                  <a:lnTo>
                    <a:pt x="108384" y="487727"/>
                  </a:lnTo>
                  <a:lnTo>
                    <a:pt x="108384" y="545106"/>
                  </a:lnTo>
                  <a:lnTo>
                    <a:pt x="328339" y="545106"/>
                  </a:lnTo>
                  <a:lnTo>
                    <a:pt x="328339" y="48772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59" name="Freeform 44"/>
            <p:cNvSpPr>
              <a:spLocks noEditPoints="1"/>
            </p:cNvSpPr>
            <p:nvPr/>
          </p:nvSpPr>
          <p:spPr bwMode="auto">
            <a:xfrm>
              <a:off x="5911438" y="959145"/>
              <a:ext cx="267155" cy="267098"/>
            </a:xfrm>
            <a:custGeom>
              <a:avLst/>
              <a:gdLst>
                <a:gd name="T0" fmla="*/ 0 w 136"/>
                <a:gd name="T1" fmla="*/ 68 h 136"/>
                <a:gd name="T2" fmla="*/ 136 w 136"/>
                <a:gd name="T3" fmla="*/ 68 h 136"/>
                <a:gd name="T4" fmla="*/ 9 w 136"/>
                <a:gd name="T5" fmla="*/ 72 h 136"/>
                <a:gd name="T6" fmla="*/ 33 w 136"/>
                <a:gd name="T7" fmla="*/ 93 h 136"/>
                <a:gd name="T8" fmla="*/ 9 w 136"/>
                <a:gd name="T9" fmla="*/ 72 h 136"/>
                <a:gd name="T10" fmla="*/ 72 w 136"/>
                <a:gd name="T11" fmla="*/ 9 h 136"/>
                <a:gd name="T12" fmla="*/ 72 w 136"/>
                <a:gd name="T13" fmla="*/ 34 h 136"/>
                <a:gd name="T14" fmla="*/ 98 w 136"/>
                <a:gd name="T15" fmla="*/ 64 h 136"/>
                <a:gd name="T16" fmla="*/ 72 w 136"/>
                <a:gd name="T17" fmla="*/ 42 h 136"/>
                <a:gd name="T18" fmla="*/ 64 w 136"/>
                <a:gd name="T19" fmla="*/ 9 h 136"/>
                <a:gd name="T20" fmla="*/ 44 w 136"/>
                <a:gd name="T21" fmla="*/ 34 h 136"/>
                <a:gd name="T22" fmla="*/ 64 w 136"/>
                <a:gd name="T23" fmla="*/ 42 h 136"/>
                <a:gd name="T24" fmla="*/ 39 w 136"/>
                <a:gd name="T25" fmla="*/ 64 h 136"/>
                <a:gd name="T26" fmla="*/ 64 w 136"/>
                <a:gd name="T27" fmla="*/ 42 h 136"/>
                <a:gd name="T28" fmla="*/ 9 w 136"/>
                <a:gd name="T29" fmla="*/ 64 h 136"/>
                <a:gd name="T30" fmla="*/ 33 w 136"/>
                <a:gd name="T31" fmla="*/ 42 h 136"/>
                <a:gd name="T32" fmla="*/ 39 w 136"/>
                <a:gd name="T33" fmla="*/ 72 h 136"/>
                <a:gd name="T34" fmla="*/ 64 w 136"/>
                <a:gd name="T35" fmla="*/ 93 h 136"/>
                <a:gd name="T36" fmla="*/ 39 w 136"/>
                <a:gd name="T37" fmla="*/ 72 h 136"/>
                <a:gd name="T38" fmla="*/ 64 w 136"/>
                <a:gd name="T39" fmla="*/ 127 h 136"/>
                <a:gd name="T40" fmla="*/ 64 w 136"/>
                <a:gd name="T41" fmla="*/ 101 h 136"/>
                <a:gd name="T42" fmla="*/ 72 w 136"/>
                <a:gd name="T43" fmla="*/ 101 h 136"/>
                <a:gd name="T44" fmla="*/ 72 w 136"/>
                <a:gd name="T45" fmla="*/ 127 h 136"/>
                <a:gd name="T46" fmla="*/ 72 w 136"/>
                <a:gd name="T47" fmla="*/ 72 h 136"/>
                <a:gd name="T48" fmla="*/ 95 w 136"/>
                <a:gd name="T49" fmla="*/ 93 h 136"/>
                <a:gd name="T50" fmla="*/ 106 w 136"/>
                <a:gd name="T51" fmla="*/ 72 h 136"/>
                <a:gd name="T52" fmla="*/ 122 w 136"/>
                <a:gd name="T53" fmla="*/ 93 h 136"/>
                <a:gd name="T54" fmla="*/ 106 w 136"/>
                <a:gd name="T55" fmla="*/ 72 h 136"/>
                <a:gd name="T56" fmla="*/ 103 w 136"/>
                <a:gd name="T57" fmla="*/ 42 h 136"/>
                <a:gd name="T58" fmla="*/ 127 w 136"/>
                <a:gd name="T59" fmla="*/ 64 h 136"/>
                <a:gd name="T60" fmla="*/ 117 w 136"/>
                <a:gd name="T61" fmla="*/ 34 h 136"/>
                <a:gd name="T62" fmla="*/ 91 w 136"/>
                <a:gd name="T63" fmla="*/ 13 h 136"/>
                <a:gd name="T64" fmla="*/ 46 w 136"/>
                <a:gd name="T65" fmla="*/ 13 h 136"/>
                <a:gd name="T66" fmla="*/ 20 w 136"/>
                <a:gd name="T67" fmla="*/ 34 h 136"/>
                <a:gd name="T68" fmla="*/ 19 w 136"/>
                <a:gd name="T69" fmla="*/ 101 h 136"/>
                <a:gd name="T70" fmla="*/ 46 w 136"/>
                <a:gd name="T71" fmla="*/ 123 h 136"/>
                <a:gd name="T72" fmla="*/ 91 w 136"/>
                <a:gd name="T73" fmla="*/ 123 h 136"/>
                <a:gd name="T74" fmla="*/ 118 w 136"/>
                <a:gd name="T7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6" h="136">
                  <a:moveTo>
                    <a:pt x="68" y="0"/>
                  </a:moveTo>
                  <a:cubicBezTo>
                    <a:pt x="31" y="0"/>
                    <a:pt x="0" y="31"/>
                    <a:pt x="0" y="68"/>
                  </a:cubicBezTo>
                  <a:cubicBezTo>
                    <a:pt x="0" y="106"/>
                    <a:pt x="31" y="136"/>
                    <a:pt x="68" y="136"/>
                  </a:cubicBezTo>
                  <a:cubicBezTo>
                    <a:pt x="106" y="136"/>
                    <a:pt x="136" y="106"/>
                    <a:pt x="136" y="68"/>
                  </a:cubicBezTo>
                  <a:cubicBezTo>
                    <a:pt x="136" y="31"/>
                    <a:pt x="106" y="0"/>
                    <a:pt x="68" y="0"/>
                  </a:cubicBezTo>
                  <a:close/>
                  <a:moveTo>
                    <a:pt x="9" y="72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31" y="80"/>
                    <a:pt x="31" y="86"/>
                    <a:pt x="33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1" y="86"/>
                    <a:pt x="10" y="80"/>
                    <a:pt x="9" y="72"/>
                  </a:cubicBezTo>
                  <a:close/>
                  <a:moveTo>
                    <a:pt x="72" y="34"/>
                  </a:moveTo>
                  <a:cubicBezTo>
                    <a:pt x="72" y="9"/>
                    <a:pt x="72" y="9"/>
                    <a:pt x="72" y="9"/>
                  </a:cubicBezTo>
                  <a:cubicBezTo>
                    <a:pt x="80" y="12"/>
                    <a:pt x="88" y="21"/>
                    <a:pt x="92" y="34"/>
                  </a:cubicBezTo>
                  <a:lnTo>
                    <a:pt x="72" y="34"/>
                  </a:lnTo>
                  <a:close/>
                  <a:moveTo>
                    <a:pt x="95" y="42"/>
                  </a:moveTo>
                  <a:cubicBezTo>
                    <a:pt x="96" y="49"/>
                    <a:pt x="97" y="56"/>
                    <a:pt x="98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42"/>
                    <a:pt x="72" y="42"/>
                    <a:pt x="72" y="42"/>
                  </a:cubicBezTo>
                  <a:lnTo>
                    <a:pt x="95" y="42"/>
                  </a:lnTo>
                  <a:close/>
                  <a:moveTo>
                    <a:pt x="64" y="9"/>
                  </a:moveTo>
                  <a:cubicBezTo>
                    <a:pt x="64" y="34"/>
                    <a:pt x="64" y="34"/>
                    <a:pt x="6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9" y="21"/>
                    <a:pt x="56" y="12"/>
                    <a:pt x="64" y="9"/>
                  </a:cubicBezTo>
                  <a:close/>
                  <a:moveTo>
                    <a:pt x="64" y="42"/>
                  </a:moveTo>
                  <a:cubicBezTo>
                    <a:pt x="64" y="64"/>
                    <a:pt x="64" y="64"/>
                    <a:pt x="64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9" y="56"/>
                    <a:pt x="40" y="49"/>
                    <a:pt x="42" y="42"/>
                  </a:cubicBezTo>
                  <a:lnTo>
                    <a:pt x="64" y="42"/>
                  </a:lnTo>
                  <a:close/>
                  <a:moveTo>
                    <a:pt x="30" y="64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10" y="56"/>
                    <a:pt x="12" y="49"/>
                    <a:pt x="15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9"/>
                    <a:pt x="31" y="56"/>
                    <a:pt x="30" y="64"/>
                  </a:cubicBezTo>
                  <a:close/>
                  <a:moveTo>
                    <a:pt x="39" y="72"/>
                  </a:moveTo>
                  <a:cubicBezTo>
                    <a:pt x="64" y="72"/>
                    <a:pt x="64" y="72"/>
                    <a:pt x="64" y="7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40" y="86"/>
                    <a:pt x="39" y="80"/>
                    <a:pt x="39" y="72"/>
                  </a:cubicBezTo>
                  <a:close/>
                  <a:moveTo>
                    <a:pt x="64" y="101"/>
                  </a:moveTo>
                  <a:cubicBezTo>
                    <a:pt x="64" y="127"/>
                    <a:pt x="64" y="127"/>
                    <a:pt x="64" y="127"/>
                  </a:cubicBezTo>
                  <a:cubicBezTo>
                    <a:pt x="56" y="124"/>
                    <a:pt x="48" y="115"/>
                    <a:pt x="44" y="101"/>
                  </a:cubicBezTo>
                  <a:lnTo>
                    <a:pt x="64" y="101"/>
                  </a:lnTo>
                  <a:close/>
                  <a:moveTo>
                    <a:pt x="72" y="127"/>
                  </a:moveTo>
                  <a:cubicBezTo>
                    <a:pt x="72" y="101"/>
                    <a:pt x="72" y="101"/>
                    <a:pt x="72" y="101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88" y="115"/>
                    <a:pt x="81" y="124"/>
                    <a:pt x="72" y="127"/>
                  </a:cubicBezTo>
                  <a:close/>
                  <a:moveTo>
                    <a:pt x="72" y="93"/>
                  </a:moveTo>
                  <a:cubicBezTo>
                    <a:pt x="72" y="72"/>
                    <a:pt x="72" y="72"/>
                    <a:pt x="72" y="72"/>
                  </a:cubicBezTo>
                  <a:cubicBezTo>
                    <a:pt x="98" y="72"/>
                    <a:pt x="98" y="72"/>
                    <a:pt x="98" y="72"/>
                  </a:cubicBezTo>
                  <a:cubicBezTo>
                    <a:pt x="97" y="80"/>
                    <a:pt x="96" y="86"/>
                    <a:pt x="95" y="93"/>
                  </a:cubicBezTo>
                  <a:lnTo>
                    <a:pt x="72" y="93"/>
                  </a:lnTo>
                  <a:close/>
                  <a:moveTo>
                    <a:pt x="106" y="72"/>
                  </a:moveTo>
                  <a:cubicBezTo>
                    <a:pt x="127" y="72"/>
                    <a:pt x="127" y="72"/>
                    <a:pt x="127" y="72"/>
                  </a:cubicBezTo>
                  <a:cubicBezTo>
                    <a:pt x="127" y="80"/>
                    <a:pt x="125" y="86"/>
                    <a:pt x="122" y="93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5" y="86"/>
                    <a:pt x="106" y="80"/>
                    <a:pt x="106" y="72"/>
                  </a:cubicBezTo>
                  <a:close/>
                  <a:moveTo>
                    <a:pt x="106" y="64"/>
                  </a:moveTo>
                  <a:cubicBezTo>
                    <a:pt x="106" y="56"/>
                    <a:pt x="105" y="49"/>
                    <a:pt x="10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5" y="49"/>
                    <a:pt x="127" y="56"/>
                    <a:pt x="127" y="64"/>
                  </a:cubicBezTo>
                  <a:lnTo>
                    <a:pt x="106" y="64"/>
                  </a:lnTo>
                  <a:close/>
                  <a:moveTo>
                    <a:pt x="117" y="34"/>
                  </a:moveTo>
                  <a:cubicBezTo>
                    <a:pt x="101" y="34"/>
                    <a:pt x="101" y="34"/>
                    <a:pt x="101" y="34"/>
                  </a:cubicBezTo>
                  <a:cubicBezTo>
                    <a:pt x="98" y="26"/>
                    <a:pt x="95" y="19"/>
                    <a:pt x="91" y="13"/>
                  </a:cubicBezTo>
                  <a:cubicBezTo>
                    <a:pt x="101" y="18"/>
                    <a:pt x="110" y="25"/>
                    <a:pt x="117" y="34"/>
                  </a:cubicBezTo>
                  <a:close/>
                  <a:moveTo>
                    <a:pt x="46" y="13"/>
                  </a:moveTo>
                  <a:cubicBezTo>
                    <a:pt x="42" y="19"/>
                    <a:pt x="38" y="26"/>
                    <a:pt x="35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6" y="25"/>
                    <a:pt x="35" y="18"/>
                    <a:pt x="46" y="13"/>
                  </a:cubicBezTo>
                  <a:close/>
                  <a:moveTo>
                    <a:pt x="19" y="101"/>
                  </a:moveTo>
                  <a:cubicBezTo>
                    <a:pt x="35" y="101"/>
                    <a:pt x="35" y="101"/>
                    <a:pt x="35" y="101"/>
                  </a:cubicBezTo>
                  <a:cubicBezTo>
                    <a:pt x="38" y="110"/>
                    <a:pt x="41" y="117"/>
                    <a:pt x="46" y="123"/>
                  </a:cubicBezTo>
                  <a:cubicBezTo>
                    <a:pt x="35" y="119"/>
                    <a:pt x="25" y="111"/>
                    <a:pt x="19" y="101"/>
                  </a:cubicBezTo>
                  <a:close/>
                  <a:moveTo>
                    <a:pt x="91" y="123"/>
                  </a:moveTo>
                  <a:cubicBezTo>
                    <a:pt x="95" y="117"/>
                    <a:pt x="99" y="110"/>
                    <a:pt x="101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1" y="111"/>
                    <a:pt x="102" y="119"/>
                    <a:pt x="91" y="12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0" name="Freeform 45"/>
            <p:cNvSpPr>
              <a:spLocks noEditPoints="1"/>
            </p:cNvSpPr>
            <p:nvPr/>
          </p:nvSpPr>
          <p:spPr bwMode="auto">
            <a:xfrm>
              <a:off x="8416017" y="326751"/>
              <a:ext cx="229832" cy="300486"/>
            </a:xfrm>
            <a:custGeom>
              <a:avLst/>
              <a:gdLst>
                <a:gd name="T0" fmla="*/ 280523 w 372968"/>
                <a:gd name="T1" fmla="*/ 0 h 487727"/>
                <a:gd name="T2" fmla="*/ 92445 w 372968"/>
                <a:gd name="T3" fmla="*/ 0 h 487727"/>
                <a:gd name="T4" fmla="*/ 0 w 372968"/>
                <a:gd name="T5" fmla="*/ 162575 h 487727"/>
                <a:gd name="T6" fmla="*/ 76506 w 372968"/>
                <a:gd name="T7" fmla="*/ 299649 h 487727"/>
                <a:gd name="T8" fmla="*/ 0 w 372968"/>
                <a:gd name="T9" fmla="*/ 430347 h 487727"/>
                <a:gd name="T10" fmla="*/ 31878 w 372968"/>
                <a:gd name="T11" fmla="*/ 487727 h 487727"/>
                <a:gd name="T12" fmla="*/ 127510 w 372968"/>
                <a:gd name="T13" fmla="*/ 325151 h 487727"/>
                <a:gd name="T14" fmla="*/ 280523 w 372968"/>
                <a:gd name="T15" fmla="*/ 325151 h 487727"/>
                <a:gd name="T16" fmla="*/ 372968 w 372968"/>
                <a:gd name="T17" fmla="*/ 162575 h 487727"/>
                <a:gd name="T18" fmla="*/ 280523 w 372968"/>
                <a:gd name="T19" fmla="*/ 0 h 487727"/>
                <a:gd name="T20" fmla="*/ 245457 w 372968"/>
                <a:gd name="T21" fmla="*/ 267771 h 487727"/>
                <a:gd name="T22" fmla="*/ 124323 w 372968"/>
                <a:gd name="T23" fmla="*/ 267771 h 487727"/>
                <a:gd name="T24" fmla="*/ 63755 w 372968"/>
                <a:gd name="T25" fmla="*/ 162575 h 487727"/>
                <a:gd name="T26" fmla="*/ 124323 w 372968"/>
                <a:gd name="T27" fmla="*/ 57379 h 487727"/>
                <a:gd name="T28" fmla="*/ 245457 w 372968"/>
                <a:gd name="T29" fmla="*/ 57379 h 487727"/>
                <a:gd name="T30" fmla="*/ 309212 w 372968"/>
                <a:gd name="T31" fmla="*/ 162575 h 487727"/>
                <a:gd name="T32" fmla="*/ 245457 w 372968"/>
                <a:gd name="T33" fmla="*/ 267771 h 487727"/>
                <a:gd name="T34" fmla="*/ 197641 w 372968"/>
                <a:gd name="T35" fmla="*/ 149824 h 487727"/>
                <a:gd name="T36" fmla="*/ 197641 w 372968"/>
                <a:gd name="T37" fmla="*/ 95633 h 487727"/>
                <a:gd name="T38" fmla="*/ 168951 w 372968"/>
                <a:gd name="T39" fmla="*/ 95633 h 487727"/>
                <a:gd name="T40" fmla="*/ 168951 w 372968"/>
                <a:gd name="T41" fmla="*/ 149824 h 487727"/>
                <a:gd name="T42" fmla="*/ 117947 w 372968"/>
                <a:gd name="T43" fmla="*/ 149824 h 487727"/>
                <a:gd name="T44" fmla="*/ 117947 w 372968"/>
                <a:gd name="T45" fmla="*/ 172139 h 487727"/>
                <a:gd name="T46" fmla="*/ 168951 w 372968"/>
                <a:gd name="T47" fmla="*/ 172139 h 487727"/>
                <a:gd name="T48" fmla="*/ 168951 w 372968"/>
                <a:gd name="T49" fmla="*/ 226331 h 487727"/>
                <a:gd name="T50" fmla="*/ 197641 w 372968"/>
                <a:gd name="T51" fmla="*/ 226331 h 487727"/>
                <a:gd name="T52" fmla="*/ 197641 w 372968"/>
                <a:gd name="T53" fmla="*/ 172139 h 487727"/>
                <a:gd name="T54" fmla="*/ 251833 w 372968"/>
                <a:gd name="T55" fmla="*/ 172139 h 487727"/>
                <a:gd name="T56" fmla="*/ 251833 w 372968"/>
                <a:gd name="T57" fmla="*/ 149824 h 487727"/>
                <a:gd name="T58" fmla="*/ 197641 w 372968"/>
                <a:gd name="T59" fmla="*/ 149824 h 487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2968" h="487727">
                  <a:moveTo>
                    <a:pt x="280523" y="0"/>
                  </a:moveTo>
                  <a:lnTo>
                    <a:pt x="92445" y="0"/>
                  </a:lnTo>
                  <a:lnTo>
                    <a:pt x="0" y="162575"/>
                  </a:lnTo>
                  <a:lnTo>
                    <a:pt x="76506" y="299649"/>
                  </a:lnTo>
                  <a:lnTo>
                    <a:pt x="0" y="430347"/>
                  </a:lnTo>
                  <a:lnTo>
                    <a:pt x="31878" y="487727"/>
                  </a:lnTo>
                  <a:lnTo>
                    <a:pt x="127510" y="325151"/>
                  </a:lnTo>
                  <a:lnTo>
                    <a:pt x="280523" y="325151"/>
                  </a:lnTo>
                  <a:lnTo>
                    <a:pt x="372968" y="162575"/>
                  </a:lnTo>
                  <a:lnTo>
                    <a:pt x="280523" y="0"/>
                  </a:lnTo>
                  <a:close/>
                  <a:moveTo>
                    <a:pt x="245457" y="267771"/>
                  </a:moveTo>
                  <a:lnTo>
                    <a:pt x="124323" y="267771"/>
                  </a:lnTo>
                  <a:lnTo>
                    <a:pt x="63755" y="162575"/>
                  </a:lnTo>
                  <a:lnTo>
                    <a:pt x="124323" y="57379"/>
                  </a:lnTo>
                  <a:lnTo>
                    <a:pt x="245457" y="57379"/>
                  </a:lnTo>
                  <a:lnTo>
                    <a:pt x="309212" y="162575"/>
                  </a:lnTo>
                  <a:lnTo>
                    <a:pt x="245457" y="267771"/>
                  </a:lnTo>
                  <a:close/>
                  <a:moveTo>
                    <a:pt x="197641" y="149824"/>
                  </a:moveTo>
                  <a:lnTo>
                    <a:pt x="197641" y="95633"/>
                  </a:lnTo>
                  <a:lnTo>
                    <a:pt x="168951" y="95633"/>
                  </a:lnTo>
                  <a:lnTo>
                    <a:pt x="168951" y="149824"/>
                  </a:lnTo>
                  <a:lnTo>
                    <a:pt x="117947" y="149824"/>
                  </a:lnTo>
                  <a:lnTo>
                    <a:pt x="117947" y="172139"/>
                  </a:lnTo>
                  <a:lnTo>
                    <a:pt x="168951" y="172139"/>
                  </a:lnTo>
                  <a:lnTo>
                    <a:pt x="168951" y="226331"/>
                  </a:lnTo>
                  <a:lnTo>
                    <a:pt x="197641" y="226331"/>
                  </a:lnTo>
                  <a:lnTo>
                    <a:pt x="197641" y="172139"/>
                  </a:lnTo>
                  <a:lnTo>
                    <a:pt x="251833" y="172139"/>
                  </a:lnTo>
                  <a:lnTo>
                    <a:pt x="251833" y="149824"/>
                  </a:lnTo>
                  <a:lnTo>
                    <a:pt x="197641" y="1498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1" name="Freeform 46"/>
            <p:cNvSpPr>
              <a:spLocks noEditPoints="1"/>
            </p:cNvSpPr>
            <p:nvPr/>
          </p:nvSpPr>
          <p:spPr bwMode="auto">
            <a:xfrm>
              <a:off x="8180291" y="173562"/>
              <a:ext cx="656102" cy="567584"/>
            </a:xfrm>
            <a:custGeom>
              <a:avLst/>
              <a:gdLst>
                <a:gd name="T0" fmla="*/ 84 w 334"/>
                <a:gd name="T1" fmla="*/ 0 h 289"/>
                <a:gd name="T2" fmla="*/ 0 w 334"/>
                <a:gd name="T3" fmla="*/ 145 h 289"/>
                <a:gd name="T4" fmla="*/ 84 w 334"/>
                <a:gd name="T5" fmla="*/ 289 h 289"/>
                <a:gd name="T6" fmla="*/ 251 w 334"/>
                <a:gd name="T7" fmla="*/ 289 h 289"/>
                <a:gd name="T8" fmla="*/ 334 w 334"/>
                <a:gd name="T9" fmla="*/ 145 h 289"/>
                <a:gd name="T10" fmla="*/ 251 w 334"/>
                <a:gd name="T11" fmla="*/ 0 h 289"/>
                <a:gd name="T12" fmla="*/ 84 w 334"/>
                <a:gd name="T13" fmla="*/ 0 h 289"/>
                <a:gd name="T14" fmla="*/ 246 w 334"/>
                <a:gd name="T15" fmla="*/ 9 h 289"/>
                <a:gd name="T16" fmla="*/ 324 w 334"/>
                <a:gd name="T17" fmla="*/ 145 h 289"/>
                <a:gd name="T18" fmla="*/ 246 w 334"/>
                <a:gd name="T19" fmla="*/ 281 h 289"/>
                <a:gd name="T20" fmla="*/ 89 w 334"/>
                <a:gd name="T21" fmla="*/ 281 h 289"/>
                <a:gd name="T22" fmla="*/ 10 w 334"/>
                <a:gd name="T23" fmla="*/ 145 h 289"/>
                <a:gd name="T24" fmla="*/ 89 w 334"/>
                <a:gd name="T25" fmla="*/ 9 h 289"/>
                <a:gd name="T26" fmla="*/ 246 w 334"/>
                <a:gd name="T27" fmla="*/ 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4" h="289">
                  <a:moveTo>
                    <a:pt x="84" y="0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251" y="289"/>
                    <a:pt x="251" y="289"/>
                    <a:pt x="251" y="289"/>
                  </a:cubicBezTo>
                  <a:cubicBezTo>
                    <a:pt x="334" y="145"/>
                    <a:pt x="334" y="145"/>
                    <a:pt x="334" y="145"/>
                  </a:cubicBezTo>
                  <a:cubicBezTo>
                    <a:pt x="251" y="0"/>
                    <a:pt x="251" y="0"/>
                    <a:pt x="251" y="0"/>
                  </a:cubicBezTo>
                  <a:lnTo>
                    <a:pt x="84" y="0"/>
                  </a:lnTo>
                  <a:close/>
                  <a:moveTo>
                    <a:pt x="246" y="9"/>
                  </a:moveTo>
                  <a:cubicBezTo>
                    <a:pt x="248" y="13"/>
                    <a:pt x="322" y="141"/>
                    <a:pt x="324" y="145"/>
                  </a:cubicBezTo>
                  <a:cubicBezTo>
                    <a:pt x="322" y="149"/>
                    <a:pt x="248" y="277"/>
                    <a:pt x="246" y="281"/>
                  </a:cubicBezTo>
                  <a:cubicBezTo>
                    <a:pt x="241" y="281"/>
                    <a:pt x="93" y="281"/>
                    <a:pt x="89" y="281"/>
                  </a:cubicBezTo>
                  <a:cubicBezTo>
                    <a:pt x="86" y="277"/>
                    <a:pt x="12" y="149"/>
                    <a:pt x="10" y="145"/>
                  </a:cubicBezTo>
                  <a:cubicBezTo>
                    <a:pt x="12" y="141"/>
                    <a:pt x="86" y="13"/>
                    <a:pt x="89" y="9"/>
                  </a:cubicBezTo>
                  <a:cubicBezTo>
                    <a:pt x="93" y="9"/>
                    <a:pt x="241" y="9"/>
                    <a:pt x="246" y="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2" name="Freeform 47"/>
            <p:cNvSpPr>
              <a:spLocks noEditPoints="1"/>
            </p:cNvSpPr>
            <p:nvPr/>
          </p:nvSpPr>
          <p:spPr bwMode="auto">
            <a:xfrm>
              <a:off x="5715000" y="183382"/>
              <a:ext cx="656102" cy="567583"/>
            </a:xfrm>
            <a:custGeom>
              <a:avLst/>
              <a:gdLst>
                <a:gd name="T0" fmla="*/ 84 w 334"/>
                <a:gd name="T1" fmla="*/ 0 h 289"/>
                <a:gd name="T2" fmla="*/ 0 w 334"/>
                <a:gd name="T3" fmla="*/ 144 h 289"/>
                <a:gd name="T4" fmla="*/ 84 w 334"/>
                <a:gd name="T5" fmla="*/ 289 h 289"/>
                <a:gd name="T6" fmla="*/ 251 w 334"/>
                <a:gd name="T7" fmla="*/ 289 h 289"/>
                <a:gd name="T8" fmla="*/ 334 w 334"/>
                <a:gd name="T9" fmla="*/ 144 h 289"/>
                <a:gd name="T10" fmla="*/ 251 w 334"/>
                <a:gd name="T11" fmla="*/ 0 h 289"/>
                <a:gd name="T12" fmla="*/ 84 w 334"/>
                <a:gd name="T13" fmla="*/ 0 h 289"/>
                <a:gd name="T14" fmla="*/ 246 w 334"/>
                <a:gd name="T15" fmla="*/ 8 h 289"/>
                <a:gd name="T16" fmla="*/ 324 w 334"/>
                <a:gd name="T17" fmla="*/ 144 h 289"/>
                <a:gd name="T18" fmla="*/ 246 w 334"/>
                <a:gd name="T19" fmla="*/ 280 h 289"/>
                <a:gd name="T20" fmla="*/ 89 w 334"/>
                <a:gd name="T21" fmla="*/ 280 h 289"/>
                <a:gd name="T22" fmla="*/ 10 w 334"/>
                <a:gd name="T23" fmla="*/ 144 h 289"/>
                <a:gd name="T24" fmla="*/ 89 w 334"/>
                <a:gd name="T25" fmla="*/ 8 h 289"/>
                <a:gd name="T26" fmla="*/ 246 w 334"/>
                <a:gd name="T27" fmla="*/ 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4" h="289">
                  <a:moveTo>
                    <a:pt x="84" y="0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251" y="289"/>
                    <a:pt x="251" y="289"/>
                    <a:pt x="251" y="289"/>
                  </a:cubicBezTo>
                  <a:cubicBezTo>
                    <a:pt x="334" y="144"/>
                    <a:pt x="334" y="144"/>
                    <a:pt x="334" y="144"/>
                  </a:cubicBezTo>
                  <a:cubicBezTo>
                    <a:pt x="251" y="0"/>
                    <a:pt x="251" y="0"/>
                    <a:pt x="251" y="0"/>
                  </a:cubicBezTo>
                  <a:lnTo>
                    <a:pt x="84" y="0"/>
                  </a:lnTo>
                  <a:close/>
                  <a:moveTo>
                    <a:pt x="246" y="8"/>
                  </a:moveTo>
                  <a:cubicBezTo>
                    <a:pt x="248" y="12"/>
                    <a:pt x="322" y="140"/>
                    <a:pt x="324" y="144"/>
                  </a:cubicBezTo>
                  <a:cubicBezTo>
                    <a:pt x="322" y="148"/>
                    <a:pt x="248" y="276"/>
                    <a:pt x="246" y="280"/>
                  </a:cubicBezTo>
                  <a:cubicBezTo>
                    <a:pt x="241" y="280"/>
                    <a:pt x="93" y="280"/>
                    <a:pt x="89" y="280"/>
                  </a:cubicBezTo>
                  <a:cubicBezTo>
                    <a:pt x="86" y="276"/>
                    <a:pt x="13" y="148"/>
                    <a:pt x="10" y="144"/>
                  </a:cubicBezTo>
                  <a:cubicBezTo>
                    <a:pt x="13" y="140"/>
                    <a:pt x="86" y="12"/>
                    <a:pt x="89" y="8"/>
                  </a:cubicBezTo>
                  <a:cubicBezTo>
                    <a:pt x="93" y="8"/>
                    <a:pt x="241" y="8"/>
                    <a:pt x="246" y="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3" name="Freeform 48"/>
            <p:cNvSpPr>
              <a:spLocks/>
            </p:cNvSpPr>
            <p:nvPr/>
          </p:nvSpPr>
          <p:spPr bwMode="auto">
            <a:xfrm>
              <a:off x="6259132" y="499579"/>
              <a:ext cx="636458" cy="551872"/>
            </a:xfrm>
            <a:custGeom>
              <a:avLst/>
              <a:gdLst>
                <a:gd name="T0" fmla="*/ 258208 w 1032833"/>
                <a:gd name="T1" fmla="*/ 895760 h 895760"/>
                <a:gd name="T2" fmla="*/ 0 w 1032833"/>
                <a:gd name="T3" fmla="*/ 446286 h 895760"/>
                <a:gd name="T4" fmla="*/ 258208 w 1032833"/>
                <a:gd name="T5" fmla="*/ 0 h 895760"/>
                <a:gd name="T6" fmla="*/ 774624 w 1032833"/>
                <a:gd name="T7" fmla="*/ 0 h 895760"/>
                <a:gd name="T8" fmla="*/ 1032833 w 1032833"/>
                <a:gd name="T9" fmla="*/ 446286 h 895760"/>
                <a:gd name="T10" fmla="*/ 774624 w 1032833"/>
                <a:gd name="T11" fmla="*/ 895760 h 895760"/>
                <a:gd name="T12" fmla="*/ 258208 w 1032833"/>
                <a:gd name="T13" fmla="*/ 895760 h 895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2833" h="895760">
                  <a:moveTo>
                    <a:pt x="258208" y="895760"/>
                  </a:moveTo>
                  <a:lnTo>
                    <a:pt x="0" y="446286"/>
                  </a:lnTo>
                  <a:lnTo>
                    <a:pt x="258208" y="0"/>
                  </a:lnTo>
                  <a:lnTo>
                    <a:pt x="774624" y="0"/>
                  </a:lnTo>
                  <a:lnTo>
                    <a:pt x="1032833" y="446286"/>
                  </a:lnTo>
                  <a:lnTo>
                    <a:pt x="774624" y="895760"/>
                  </a:lnTo>
                  <a:lnTo>
                    <a:pt x="258208" y="89576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4" name="Freeform 49"/>
            <p:cNvSpPr>
              <a:spLocks noEditPoints="1"/>
            </p:cNvSpPr>
            <p:nvPr/>
          </p:nvSpPr>
          <p:spPr bwMode="auto">
            <a:xfrm>
              <a:off x="8121361" y="796137"/>
              <a:ext cx="891826" cy="771835"/>
            </a:xfrm>
            <a:custGeom>
              <a:avLst/>
              <a:gdLst>
                <a:gd name="T0" fmla="*/ 113 w 454"/>
                <a:gd name="T1" fmla="*/ 0 h 393"/>
                <a:gd name="T2" fmla="*/ 0 w 454"/>
                <a:gd name="T3" fmla="*/ 197 h 393"/>
                <a:gd name="T4" fmla="*/ 113 w 454"/>
                <a:gd name="T5" fmla="*/ 393 h 393"/>
                <a:gd name="T6" fmla="*/ 340 w 454"/>
                <a:gd name="T7" fmla="*/ 393 h 393"/>
                <a:gd name="T8" fmla="*/ 454 w 454"/>
                <a:gd name="T9" fmla="*/ 197 h 393"/>
                <a:gd name="T10" fmla="*/ 340 w 454"/>
                <a:gd name="T11" fmla="*/ 0 h 393"/>
                <a:gd name="T12" fmla="*/ 113 w 454"/>
                <a:gd name="T13" fmla="*/ 0 h 393"/>
                <a:gd name="T14" fmla="*/ 336 w 454"/>
                <a:gd name="T15" fmla="*/ 9 h 393"/>
                <a:gd name="T16" fmla="*/ 444 w 454"/>
                <a:gd name="T17" fmla="*/ 197 h 393"/>
                <a:gd name="T18" fmla="*/ 336 w 454"/>
                <a:gd name="T19" fmla="*/ 385 h 393"/>
                <a:gd name="T20" fmla="*/ 118 w 454"/>
                <a:gd name="T21" fmla="*/ 385 h 393"/>
                <a:gd name="T22" fmla="*/ 10 w 454"/>
                <a:gd name="T23" fmla="*/ 197 h 393"/>
                <a:gd name="T24" fmla="*/ 118 w 454"/>
                <a:gd name="T25" fmla="*/ 9 h 393"/>
                <a:gd name="T26" fmla="*/ 336 w 454"/>
                <a:gd name="T27" fmla="*/ 9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4" h="393">
                  <a:moveTo>
                    <a:pt x="113" y="0"/>
                  </a:moveTo>
                  <a:cubicBezTo>
                    <a:pt x="0" y="197"/>
                    <a:pt x="0" y="197"/>
                    <a:pt x="0" y="197"/>
                  </a:cubicBezTo>
                  <a:cubicBezTo>
                    <a:pt x="113" y="393"/>
                    <a:pt x="113" y="393"/>
                    <a:pt x="113" y="393"/>
                  </a:cubicBezTo>
                  <a:cubicBezTo>
                    <a:pt x="340" y="393"/>
                    <a:pt x="340" y="393"/>
                    <a:pt x="340" y="393"/>
                  </a:cubicBezTo>
                  <a:cubicBezTo>
                    <a:pt x="454" y="197"/>
                    <a:pt x="454" y="197"/>
                    <a:pt x="454" y="197"/>
                  </a:cubicBezTo>
                  <a:cubicBezTo>
                    <a:pt x="340" y="0"/>
                    <a:pt x="340" y="0"/>
                    <a:pt x="340" y="0"/>
                  </a:cubicBezTo>
                  <a:lnTo>
                    <a:pt x="113" y="0"/>
                  </a:lnTo>
                  <a:close/>
                  <a:moveTo>
                    <a:pt x="336" y="9"/>
                  </a:moveTo>
                  <a:cubicBezTo>
                    <a:pt x="338" y="13"/>
                    <a:pt x="442" y="193"/>
                    <a:pt x="444" y="197"/>
                  </a:cubicBezTo>
                  <a:cubicBezTo>
                    <a:pt x="442" y="201"/>
                    <a:pt x="338" y="381"/>
                    <a:pt x="336" y="385"/>
                  </a:cubicBezTo>
                  <a:cubicBezTo>
                    <a:pt x="331" y="385"/>
                    <a:pt x="123" y="385"/>
                    <a:pt x="118" y="385"/>
                  </a:cubicBezTo>
                  <a:cubicBezTo>
                    <a:pt x="116" y="381"/>
                    <a:pt x="12" y="201"/>
                    <a:pt x="10" y="197"/>
                  </a:cubicBezTo>
                  <a:cubicBezTo>
                    <a:pt x="12" y="193"/>
                    <a:pt x="116" y="13"/>
                    <a:pt x="118" y="9"/>
                  </a:cubicBezTo>
                  <a:cubicBezTo>
                    <a:pt x="123" y="9"/>
                    <a:pt x="331" y="9"/>
                    <a:pt x="336" y="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5" name="Freeform 51"/>
            <p:cNvSpPr>
              <a:spLocks noEditPoints="1"/>
            </p:cNvSpPr>
            <p:nvPr/>
          </p:nvSpPr>
          <p:spPr bwMode="auto">
            <a:xfrm>
              <a:off x="5716965" y="809884"/>
              <a:ext cx="656101" cy="567584"/>
            </a:xfrm>
            <a:custGeom>
              <a:avLst/>
              <a:gdLst>
                <a:gd name="T0" fmla="*/ 84 w 334"/>
                <a:gd name="T1" fmla="*/ 0 h 289"/>
                <a:gd name="T2" fmla="*/ 0 w 334"/>
                <a:gd name="T3" fmla="*/ 144 h 289"/>
                <a:gd name="T4" fmla="*/ 84 w 334"/>
                <a:gd name="T5" fmla="*/ 289 h 289"/>
                <a:gd name="T6" fmla="*/ 251 w 334"/>
                <a:gd name="T7" fmla="*/ 289 h 289"/>
                <a:gd name="T8" fmla="*/ 334 w 334"/>
                <a:gd name="T9" fmla="*/ 144 h 289"/>
                <a:gd name="T10" fmla="*/ 251 w 334"/>
                <a:gd name="T11" fmla="*/ 0 h 289"/>
                <a:gd name="T12" fmla="*/ 84 w 334"/>
                <a:gd name="T13" fmla="*/ 0 h 289"/>
                <a:gd name="T14" fmla="*/ 246 w 334"/>
                <a:gd name="T15" fmla="*/ 8 h 289"/>
                <a:gd name="T16" fmla="*/ 324 w 334"/>
                <a:gd name="T17" fmla="*/ 144 h 289"/>
                <a:gd name="T18" fmla="*/ 246 w 334"/>
                <a:gd name="T19" fmla="*/ 280 h 289"/>
                <a:gd name="T20" fmla="*/ 89 w 334"/>
                <a:gd name="T21" fmla="*/ 280 h 289"/>
                <a:gd name="T22" fmla="*/ 10 w 334"/>
                <a:gd name="T23" fmla="*/ 144 h 289"/>
                <a:gd name="T24" fmla="*/ 89 w 334"/>
                <a:gd name="T25" fmla="*/ 8 h 289"/>
                <a:gd name="T26" fmla="*/ 246 w 334"/>
                <a:gd name="T27" fmla="*/ 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4" h="289">
                  <a:moveTo>
                    <a:pt x="84" y="0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251" y="289"/>
                    <a:pt x="251" y="289"/>
                    <a:pt x="251" y="289"/>
                  </a:cubicBezTo>
                  <a:cubicBezTo>
                    <a:pt x="334" y="144"/>
                    <a:pt x="334" y="144"/>
                    <a:pt x="334" y="144"/>
                  </a:cubicBezTo>
                  <a:cubicBezTo>
                    <a:pt x="251" y="0"/>
                    <a:pt x="251" y="0"/>
                    <a:pt x="251" y="0"/>
                  </a:cubicBezTo>
                  <a:lnTo>
                    <a:pt x="84" y="0"/>
                  </a:lnTo>
                  <a:close/>
                  <a:moveTo>
                    <a:pt x="246" y="8"/>
                  </a:moveTo>
                  <a:cubicBezTo>
                    <a:pt x="248" y="12"/>
                    <a:pt x="322" y="140"/>
                    <a:pt x="324" y="144"/>
                  </a:cubicBezTo>
                  <a:cubicBezTo>
                    <a:pt x="322" y="148"/>
                    <a:pt x="248" y="276"/>
                    <a:pt x="246" y="280"/>
                  </a:cubicBezTo>
                  <a:cubicBezTo>
                    <a:pt x="241" y="280"/>
                    <a:pt x="93" y="280"/>
                    <a:pt x="89" y="280"/>
                  </a:cubicBezTo>
                  <a:cubicBezTo>
                    <a:pt x="86" y="276"/>
                    <a:pt x="12" y="148"/>
                    <a:pt x="10" y="144"/>
                  </a:cubicBezTo>
                  <a:cubicBezTo>
                    <a:pt x="12" y="140"/>
                    <a:pt x="86" y="12"/>
                    <a:pt x="89" y="8"/>
                  </a:cubicBezTo>
                  <a:cubicBezTo>
                    <a:pt x="93" y="8"/>
                    <a:pt x="241" y="8"/>
                    <a:pt x="246" y="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6" name="Freeform 52"/>
            <p:cNvSpPr>
              <a:spLocks noEditPoints="1"/>
            </p:cNvSpPr>
            <p:nvPr/>
          </p:nvSpPr>
          <p:spPr bwMode="auto">
            <a:xfrm>
              <a:off x="6785585" y="181418"/>
              <a:ext cx="656102" cy="567584"/>
            </a:xfrm>
            <a:custGeom>
              <a:avLst/>
              <a:gdLst>
                <a:gd name="T0" fmla="*/ 84 w 334"/>
                <a:gd name="T1" fmla="*/ 0 h 289"/>
                <a:gd name="T2" fmla="*/ 0 w 334"/>
                <a:gd name="T3" fmla="*/ 145 h 289"/>
                <a:gd name="T4" fmla="*/ 84 w 334"/>
                <a:gd name="T5" fmla="*/ 289 h 289"/>
                <a:gd name="T6" fmla="*/ 250 w 334"/>
                <a:gd name="T7" fmla="*/ 289 h 289"/>
                <a:gd name="T8" fmla="*/ 334 w 334"/>
                <a:gd name="T9" fmla="*/ 145 h 289"/>
                <a:gd name="T10" fmla="*/ 250 w 334"/>
                <a:gd name="T11" fmla="*/ 0 h 289"/>
                <a:gd name="T12" fmla="*/ 84 w 334"/>
                <a:gd name="T13" fmla="*/ 0 h 289"/>
                <a:gd name="T14" fmla="*/ 246 w 334"/>
                <a:gd name="T15" fmla="*/ 9 h 289"/>
                <a:gd name="T16" fmla="*/ 324 w 334"/>
                <a:gd name="T17" fmla="*/ 145 h 289"/>
                <a:gd name="T18" fmla="*/ 246 w 334"/>
                <a:gd name="T19" fmla="*/ 281 h 289"/>
                <a:gd name="T20" fmla="*/ 89 w 334"/>
                <a:gd name="T21" fmla="*/ 281 h 289"/>
                <a:gd name="T22" fmla="*/ 10 w 334"/>
                <a:gd name="T23" fmla="*/ 145 h 289"/>
                <a:gd name="T24" fmla="*/ 89 w 334"/>
                <a:gd name="T25" fmla="*/ 9 h 289"/>
                <a:gd name="T26" fmla="*/ 246 w 334"/>
                <a:gd name="T27" fmla="*/ 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4" h="289">
                  <a:moveTo>
                    <a:pt x="84" y="0"/>
                  </a:moveTo>
                  <a:cubicBezTo>
                    <a:pt x="0" y="145"/>
                    <a:pt x="0" y="145"/>
                    <a:pt x="0" y="145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250" y="289"/>
                    <a:pt x="250" y="289"/>
                    <a:pt x="250" y="289"/>
                  </a:cubicBezTo>
                  <a:cubicBezTo>
                    <a:pt x="334" y="145"/>
                    <a:pt x="334" y="145"/>
                    <a:pt x="334" y="145"/>
                  </a:cubicBezTo>
                  <a:cubicBezTo>
                    <a:pt x="250" y="0"/>
                    <a:pt x="250" y="0"/>
                    <a:pt x="250" y="0"/>
                  </a:cubicBezTo>
                  <a:lnTo>
                    <a:pt x="84" y="0"/>
                  </a:lnTo>
                  <a:close/>
                  <a:moveTo>
                    <a:pt x="246" y="9"/>
                  </a:moveTo>
                  <a:cubicBezTo>
                    <a:pt x="248" y="13"/>
                    <a:pt x="322" y="141"/>
                    <a:pt x="324" y="145"/>
                  </a:cubicBezTo>
                  <a:cubicBezTo>
                    <a:pt x="322" y="149"/>
                    <a:pt x="248" y="277"/>
                    <a:pt x="246" y="281"/>
                  </a:cubicBezTo>
                  <a:cubicBezTo>
                    <a:pt x="241" y="281"/>
                    <a:pt x="93" y="281"/>
                    <a:pt x="89" y="281"/>
                  </a:cubicBezTo>
                  <a:cubicBezTo>
                    <a:pt x="86" y="277"/>
                    <a:pt x="12" y="149"/>
                    <a:pt x="10" y="145"/>
                  </a:cubicBezTo>
                  <a:cubicBezTo>
                    <a:pt x="12" y="141"/>
                    <a:pt x="86" y="13"/>
                    <a:pt x="89" y="9"/>
                  </a:cubicBezTo>
                  <a:cubicBezTo>
                    <a:pt x="93" y="9"/>
                    <a:pt x="241" y="9"/>
                    <a:pt x="246" y="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7" name="Freeform 53"/>
            <p:cNvSpPr>
              <a:spLocks noEditPoints="1"/>
            </p:cNvSpPr>
            <p:nvPr/>
          </p:nvSpPr>
          <p:spPr bwMode="auto">
            <a:xfrm>
              <a:off x="7628302" y="477975"/>
              <a:ext cx="656101" cy="567584"/>
            </a:xfrm>
            <a:custGeom>
              <a:avLst/>
              <a:gdLst>
                <a:gd name="T0" fmla="*/ 83 w 334"/>
                <a:gd name="T1" fmla="*/ 0 h 289"/>
                <a:gd name="T2" fmla="*/ 0 w 334"/>
                <a:gd name="T3" fmla="*/ 144 h 289"/>
                <a:gd name="T4" fmla="*/ 83 w 334"/>
                <a:gd name="T5" fmla="*/ 289 h 289"/>
                <a:gd name="T6" fmla="*/ 250 w 334"/>
                <a:gd name="T7" fmla="*/ 289 h 289"/>
                <a:gd name="T8" fmla="*/ 334 w 334"/>
                <a:gd name="T9" fmla="*/ 144 h 289"/>
                <a:gd name="T10" fmla="*/ 250 w 334"/>
                <a:gd name="T11" fmla="*/ 0 h 289"/>
                <a:gd name="T12" fmla="*/ 83 w 334"/>
                <a:gd name="T13" fmla="*/ 0 h 289"/>
                <a:gd name="T14" fmla="*/ 245 w 334"/>
                <a:gd name="T15" fmla="*/ 8 h 289"/>
                <a:gd name="T16" fmla="*/ 324 w 334"/>
                <a:gd name="T17" fmla="*/ 144 h 289"/>
                <a:gd name="T18" fmla="*/ 245 w 334"/>
                <a:gd name="T19" fmla="*/ 280 h 289"/>
                <a:gd name="T20" fmla="*/ 88 w 334"/>
                <a:gd name="T21" fmla="*/ 280 h 289"/>
                <a:gd name="T22" fmla="*/ 10 w 334"/>
                <a:gd name="T23" fmla="*/ 144 h 289"/>
                <a:gd name="T24" fmla="*/ 88 w 334"/>
                <a:gd name="T25" fmla="*/ 8 h 289"/>
                <a:gd name="T26" fmla="*/ 245 w 334"/>
                <a:gd name="T27" fmla="*/ 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4" h="289">
                  <a:moveTo>
                    <a:pt x="83" y="0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250" y="289"/>
                    <a:pt x="250" y="289"/>
                    <a:pt x="250" y="289"/>
                  </a:cubicBezTo>
                  <a:cubicBezTo>
                    <a:pt x="334" y="144"/>
                    <a:pt x="334" y="144"/>
                    <a:pt x="334" y="144"/>
                  </a:cubicBezTo>
                  <a:cubicBezTo>
                    <a:pt x="250" y="0"/>
                    <a:pt x="250" y="0"/>
                    <a:pt x="250" y="0"/>
                  </a:cubicBezTo>
                  <a:lnTo>
                    <a:pt x="83" y="0"/>
                  </a:lnTo>
                  <a:close/>
                  <a:moveTo>
                    <a:pt x="245" y="8"/>
                  </a:moveTo>
                  <a:cubicBezTo>
                    <a:pt x="248" y="12"/>
                    <a:pt x="322" y="140"/>
                    <a:pt x="324" y="144"/>
                  </a:cubicBezTo>
                  <a:cubicBezTo>
                    <a:pt x="322" y="148"/>
                    <a:pt x="248" y="276"/>
                    <a:pt x="245" y="280"/>
                  </a:cubicBezTo>
                  <a:cubicBezTo>
                    <a:pt x="241" y="280"/>
                    <a:pt x="93" y="280"/>
                    <a:pt x="88" y="280"/>
                  </a:cubicBezTo>
                  <a:cubicBezTo>
                    <a:pt x="86" y="276"/>
                    <a:pt x="12" y="148"/>
                    <a:pt x="10" y="144"/>
                  </a:cubicBezTo>
                  <a:cubicBezTo>
                    <a:pt x="12" y="140"/>
                    <a:pt x="86" y="12"/>
                    <a:pt x="88" y="8"/>
                  </a:cubicBezTo>
                  <a:cubicBezTo>
                    <a:pt x="93" y="8"/>
                    <a:pt x="241" y="8"/>
                    <a:pt x="245" y="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8" name="Rectangle 54"/>
            <p:cNvSpPr>
              <a:spLocks noChangeArrowheads="1"/>
            </p:cNvSpPr>
            <p:nvPr/>
          </p:nvSpPr>
          <p:spPr bwMode="auto">
            <a:xfrm>
              <a:off x="7115600" y="1159469"/>
              <a:ext cx="306443" cy="345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  <p:sp>
          <p:nvSpPr>
            <p:cNvPr id="69" name="Freeform 55"/>
            <p:cNvSpPr>
              <a:spLocks noEditPoints="1"/>
            </p:cNvSpPr>
            <p:nvPr/>
          </p:nvSpPr>
          <p:spPr bwMode="auto">
            <a:xfrm>
              <a:off x="6946663" y="1051451"/>
              <a:ext cx="640387" cy="689350"/>
            </a:xfrm>
            <a:custGeom>
              <a:avLst/>
              <a:gdLst>
                <a:gd name="T0" fmla="*/ 777813 w 1039209"/>
                <a:gd name="T1" fmla="*/ 0 h 1118903"/>
                <a:gd name="T2" fmla="*/ 258209 w 1039209"/>
                <a:gd name="T3" fmla="*/ 0 h 1118903"/>
                <a:gd name="T4" fmla="*/ 0 w 1039209"/>
                <a:gd name="T5" fmla="*/ 449474 h 1118903"/>
                <a:gd name="T6" fmla="*/ 178515 w 1039209"/>
                <a:gd name="T7" fmla="*/ 761874 h 1118903"/>
                <a:gd name="T8" fmla="*/ 130698 w 1039209"/>
                <a:gd name="T9" fmla="*/ 1118903 h 1118903"/>
                <a:gd name="T10" fmla="*/ 436723 w 1039209"/>
                <a:gd name="T11" fmla="*/ 898948 h 1118903"/>
                <a:gd name="T12" fmla="*/ 777813 w 1039209"/>
                <a:gd name="T13" fmla="*/ 898948 h 1118903"/>
                <a:gd name="T14" fmla="*/ 1039209 w 1039209"/>
                <a:gd name="T15" fmla="*/ 449474 h 1118903"/>
                <a:gd name="T16" fmla="*/ 777813 w 1039209"/>
                <a:gd name="T17" fmla="*/ 0 h 1118903"/>
                <a:gd name="T18" fmla="*/ 723621 w 1039209"/>
                <a:gd name="T19" fmla="*/ 672617 h 1118903"/>
                <a:gd name="T20" fmla="*/ 331527 w 1039209"/>
                <a:gd name="T21" fmla="*/ 672617 h 1118903"/>
                <a:gd name="T22" fmla="*/ 331527 w 1039209"/>
                <a:gd name="T23" fmla="*/ 602486 h 1118903"/>
                <a:gd name="T24" fmla="*/ 723621 w 1039209"/>
                <a:gd name="T25" fmla="*/ 602486 h 1118903"/>
                <a:gd name="T26" fmla="*/ 723621 w 1039209"/>
                <a:gd name="T27" fmla="*/ 672617 h 1118903"/>
                <a:gd name="T28" fmla="*/ 723621 w 1039209"/>
                <a:gd name="T29" fmla="*/ 484539 h 1118903"/>
                <a:gd name="T30" fmla="*/ 331527 w 1039209"/>
                <a:gd name="T31" fmla="*/ 484539 h 1118903"/>
                <a:gd name="T32" fmla="*/ 331527 w 1039209"/>
                <a:gd name="T33" fmla="*/ 414409 h 1118903"/>
                <a:gd name="T34" fmla="*/ 723621 w 1039209"/>
                <a:gd name="T35" fmla="*/ 414409 h 1118903"/>
                <a:gd name="T36" fmla="*/ 723621 w 1039209"/>
                <a:gd name="T37" fmla="*/ 484539 h 1118903"/>
                <a:gd name="T38" fmla="*/ 723621 w 1039209"/>
                <a:gd name="T39" fmla="*/ 296462 h 1118903"/>
                <a:gd name="T40" fmla="*/ 331527 w 1039209"/>
                <a:gd name="T41" fmla="*/ 296462 h 1118903"/>
                <a:gd name="T42" fmla="*/ 331527 w 1039209"/>
                <a:gd name="T43" fmla="*/ 226331 h 1118903"/>
                <a:gd name="T44" fmla="*/ 723621 w 1039209"/>
                <a:gd name="T45" fmla="*/ 226331 h 1118903"/>
                <a:gd name="T46" fmla="*/ 723621 w 1039209"/>
                <a:gd name="T47" fmla="*/ 296462 h 1118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9209" h="1118903">
                  <a:moveTo>
                    <a:pt x="777813" y="0"/>
                  </a:moveTo>
                  <a:lnTo>
                    <a:pt x="258209" y="0"/>
                  </a:lnTo>
                  <a:lnTo>
                    <a:pt x="0" y="449474"/>
                  </a:lnTo>
                  <a:lnTo>
                    <a:pt x="178515" y="761874"/>
                  </a:lnTo>
                  <a:lnTo>
                    <a:pt x="130698" y="1118903"/>
                  </a:lnTo>
                  <a:lnTo>
                    <a:pt x="436723" y="898948"/>
                  </a:lnTo>
                  <a:lnTo>
                    <a:pt x="777813" y="898948"/>
                  </a:lnTo>
                  <a:lnTo>
                    <a:pt x="1039209" y="449474"/>
                  </a:lnTo>
                  <a:lnTo>
                    <a:pt x="777813" y="0"/>
                  </a:lnTo>
                  <a:close/>
                  <a:moveTo>
                    <a:pt x="723621" y="672617"/>
                  </a:moveTo>
                  <a:lnTo>
                    <a:pt x="331527" y="672617"/>
                  </a:lnTo>
                  <a:lnTo>
                    <a:pt x="331527" y="602486"/>
                  </a:lnTo>
                  <a:lnTo>
                    <a:pt x="723621" y="602486"/>
                  </a:lnTo>
                  <a:lnTo>
                    <a:pt x="723621" y="672617"/>
                  </a:lnTo>
                  <a:close/>
                  <a:moveTo>
                    <a:pt x="723621" y="484539"/>
                  </a:moveTo>
                  <a:lnTo>
                    <a:pt x="331527" y="484539"/>
                  </a:lnTo>
                  <a:lnTo>
                    <a:pt x="331527" y="414409"/>
                  </a:lnTo>
                  <a:lnTo>
                    <a:pt x="723621" y="414409"/>
                  </a:lnTo>
                  <a:lnTo>
                    <a:pt x="723621" y="484539"/>
                  </a:lnTo>
                  <a:close/>
                  <a:moveTo>
                    <a:pt x="723621" y="296462"/>
                  </a:moveTo>
                  <a:lnTo>
                    <a:pt x="331527" y="296462"/>
                  </a:lnTo>
                  <a:lnTo>
                    <a:pt x="331527" y="226331"/>
                  </a:lnTo>
                  <a:lnTo>
                    <a:pt x="723621" y="226331"/>
                  </a:lnTo>
                  <a:lnTo>
                    <a:pt x="723621" y="296462"/>
                  </a:lnTo>
                  <a:close/>
                </a:path>
              </a:pathLst>
            </a:custGeom>
            <a:gradFill rotWithShape="1"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prstClr val="black"/>
                </a:solidFill>
                <a:latin typeface="Segoe UI" panose="020B0502040204020203" pitchFamily="34" charset="0"/>
                <a:cs typeface="Arial" charset="0"/>
              </a:endParaRPr>
            </a:p>
          </p:txBody>
        </p:sp>
      </p:grpSp>
      <p:sp>
        <p:nvSpPr>
          <p:cNvPr id="70" name="Text Box 2"/>
          <p:cNvSpPr txBox="1">
            <a:spLocks noChangeArrowheads="1"/>
          </p:cNvSpPr>
          <p:nvPr userDrawn="1"/>
        </p:nvSpPr>
        <p:spPr bwMode="auto">
          <a:xfrm>
            <a:off x="1202931" y="5003799"/>
            <a:ext cx="3038247" cy="1363370"/>
          </a:xfrm>
          <a:prstGeom prst="flowChartMultidocumen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3000">
                <a:schemeClr val="bg1"/>
              </a:gs>
              <a:gs pos="100000">
                <a:srgbClr val="00B0F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sx="31000" sy="31000" algn="ctr">
              <a:srgbClr val="000000">
                <a:alpha val="95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36576" tIns="0" rIns="36576" bIns="36576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C00000"/>
                </a:solidFill>
                <a:latin typeface="Segoe UI" pitchFamily="34" charset="0"/>
                <a:cs typeface="Arial" pitchFamily="34" charset="0"/>
              </a:rPr>
              <a:t>US Headquarters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Arial" pitchFamily="34" charset="0"/>
              </a:rPr>
              <a:t>3001 </a:t>
            </a:r>
            <a:r>
              <a:rPr lang="en-US" sz="1100" dirty="0">
                <a:solidFill>
                  <a:prstClr val="black"/>
                </a:solidFill>
                <a:latin typeface="Segoe UI" panose="020B0502040204020203" pitchFamily="34" charset="0"/>
                <a:cs typeface="Arial" pitchFamily="34" charset="0"/>
              </a:rPr>
              <a:t>Hadley Road;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Segoe UI" panose="020B0502040204020203" pitchFamily="34" charset="0"/>
                <a:cs typeface="Arial" pitchFamily="34" charset="0"/>
              </a:rPr>
              <a:t>Unit 8, South Plainfield,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Segoe UI" panose="020B0502040204020203" pitchFamily="34" charset="0"/>
                <a:cs typeface="Arial" pitchFamily="34" charset="0"/>
              </a:rPr>
              <a:t>NJ 07080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Segoe UI" panose="020B0502040204020203" pitchFamily="34" charset="0"/>
                <a:cs typeface="Arial" pitchFamily="34" charset="0"/>
              </a:rPr>
              <a:t>Tel:  (908) 755 0048</a:t>
            </a:r>
          </a:p>
        </p:txBody>
      </p:sp>
      <p:sp>
        <p:nvSpPr>
          <p:cNvPr id="71" name="Text Box 5"/>
          <p:cNvSpPr txBox="1">
            <a:spLocks noChangeArrowheads="1"/>
          </p:cNvSpPr>
          <p:nvPr userDrawn="1"/>
        </p:nvSpPr>
        <p:spPr bwMode="auto">
          <a:xfrm>
            <a:off x="4470401" y="5029200"/>
            <a:ext cx="3038247" cy="1363370"/>
          </a:xfrm>
          <a:prstGeom prst="flowChartMultidocumen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3000">
                <a:schemeClr val="bg1"/>
              </a:gs>
              <a:gs pos="100000">
                <a:srgbClr val="00B0F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sx="31000" sy="31000" algn="ctr">
              <a:srgbClr val="000000">
                <a:alpha val="95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274320" tIns="0" rIns="36576" bIns="36576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C00000"/>
                </a:solidFill>
                <a:latin typeface="Segoe UI" pitchFamily="34" charset="0"/>
                <a:cs typeface="Arial" pitchFamily="34" charset="0"/>
              </a:rPr>
              <a:t>Asia Pacific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Plot </a:t>
            </a:r>
            <a:r>
              <a:rPr lang="en-US" sz="110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No 1, </a:t>
            </a: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Sagar society,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Road No. 2, Banjara Hills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Hyderabad- 500034, India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Tel: </a:t>
            </a:r>
            <a:r>
              <a:rPr lang="en-US" sz="110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+91 </a:t>
            </a:r>
            <a:r>
              <a:rPr lang="en-US" sz="11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40 66509300</a:t>
            </a:r>
          </a:p>
        </p:txBody>
      </p:sp>
      <p:sp>
        <p:nvSpPr>
          <p:cNvPr id="72" name="Rectangle 71"/>
          <p:cNvSpPr/>
          <p:nvPr userDrawn="1"/>
        </p:nvSpPr>
        <p:spPr>
          <a:xfrm>
            <a:off x="1117600" y="4523602"/>
            <a:ext cx="288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sz="1200" b="1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Email</a:t>
            </a:r>
            <a:r>
              <a:rPr lang="en-IN" sz="12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</a:rPr>
              <a:t>: </a:t>
            </a:r>
            <a:r>
              <a:rPr lang="en-IN" sz="1200" dirty="0">
                <a:solidFill>
                  <a:srgbClr val="0C0C0C"/>
                </a:solidFill>
                <a:latin typeface="Segoe UI" pitchFamily="34" charset="0"/>
                <a:cs typeface="Arial" pitchFamily="34" charset="0"/>
                <a:hlinkClick r:id="rId3"/>
              </a:rPr>
              <a:t>solutions@valuemomentum.com</a:t>
            </a:r>
            <a:endParaRPr lang="en-IN" sz="1600" dirty="0">
              <a:solidFill>
                <a:prstClr val="black"/>
              </a:solidFill>
              <a:latin typeface="Segoe UI" panose="020B0502040204020203" pitchFamily="34" charset="0"/>
              <a:cs typeface="Arial" charset="0"/>
            </a:endParaRPr>
          </a:p>
        </p:txBody>
      </p:sp>
      <p:pic>
        <p:nvPicPr>
          <p:cNvPr id="73" name="Picture 72" descr="VM-Logo-Small.wm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242932" y="1754137"/>
            <a:ext cx="3251200" cy="1581862"/>
          </a:xfrm>
          <a:prstGeom prst="rect">
            <a:avLst/>
          </a:prstGeom>
        </p:spPr>
      </p:pic>
      <p:sp>
        <p:nvSpPr>
          <p:cNvPr id="74" name="Rectangle 73"/>
          <p:cNvSpPr/>
          <p:nvPr userDrawn="1"/>
        </p:nvSpPr>
        <p:spPr>
          <a:xfrm flipH="1">
            <a:off x="11887200" y="0"/>
            <a:ext cx="3048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6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ED3F3-0A49-4326-AA08-B112AB5A731D}" type="datetimeFigureOut">
              <a:rPr lang="en-IN" smtClean="0"/>
              <a:t>21-04-2017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6306AF-38F4-499A-812E-334ED9327A7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4/21/2017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15D6DB5-54A4-4285-9923-81CA270B174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4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 b="12526"/>
          <a:stretch/>
        </p:blipFill>
        <p:spPr>
          <a:xfrm>
            <a:off x="-62572" y="-29764"/>
            <a:ext cx="12249003" cy="69175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24" y="6211049"/>
            <a:ext cx="3183064" cy="125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>
            <a:off x="2516288" y="6361430"/>
            <a:ext cx="3183064" cy="125317"/>
          </a:xfrm>
          <a:prstGeom prst="rect">
            <a:avLst/>
          </a:prstGeom>
        </p:spPr>
      </p:pic>
      <p:sp>
        <p:nvSpPr>
          <p:cNvPr id="13" name="Parallelogram 12"/>
          <p:cNvSpPr/>
          <p:nvPr/>
        </p:nvSpPr>
        <p:spPr>
          <a:xfrm>
            <a:off x="4727494" y="-42294"/>
            <a:ext cx="7464308" cy="6956463"/>
          </a:xfrm>
          <a:custGeom>
            <a:avLst/>
            <a:gdLst>
              <a:gd name="connsiteX0" fmla="*/ 0 w 6383423"/>
              <a:gd name="connsiteY0" fmla="*/ 6950074 h 6950074"/>
              <a:gd name="connsiteX1" fmla="*/ 1595856 w 6383423"/>
              <a:gd name="connsiteY1" fmla="*/ 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75474 h 6975474"/>
              <a:gd name="connsiteX1" fmla="*/ 3665956 w 6383423"/>
              <a:gd name="connsiteY1" fmla="*/ 0 h 6975474"/>
              <a:gd name="connsiteX2" fmla="*/ 6383423 w 6383423"/>
              <a:gd name="connsiteY2" fmla="*/ 25400 h 6975474"/>
              <a:gd name="connsiteX3" fmla="*/ 4787567 w 6383423"/>
              <a:gd name="connsiteY3" fmla="*/ 6975474 h 6975474"/>
              <a:gd name="connsiteX4" fmla="*/ 0 w 6383423"/>
              <a:gd name="connsiteY4" fmla="*/ 6975474 h 6975474"/>
              <a:gd name="connsiteX0" fmla="*/ 0 w 6383423"/>
              <a:gd name="connsiteY0" fmla="*/ 6950074 h 6950074"/>
              <a:gd name="connsiteX1" fmla="*/ 4351756 w 6383423"/>
              <a:gd name="connsiteY1" fmla="*/ 1270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587667 w 6383423"/>
              <a:gd name="connsiteY3" fmla="*/ 6962774 h 6962774"/>
              <a:gd name="connsiteX4" fmla="*/ 0 w 6383423"/>
              <a:gd name="connsiteY4" fmla="*/ 6950074 h 69627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799223 w 6383423"/>
              <a:gd name="connsiteY3" fmla="*/ 4902201 h 6962774"/>
              <a:gd name="connsiteX4" fmla="*/ 5587667 w 6383423"/>
              <a:gd name="connsiteY4" fmla="*/ 6962774 h 6962774"/>
              <a:gd name="connsiteX5" fmla="*/ 0 w 6383423"/>
              <a:gd name="connsiteY5" fmla="*/ 6950074 h 6962774"/>
              <a:gd name="connsiteX0" fmla="*/ 0 w 7564523"/>
              <a:gd name="connsiteY0" fmla="*/ 6950074 h 6962774"/>
              <a:gd name="connsiteX1" fmla="*/ 4351756 w 7564523"/>
              <a:gd name="connsiteY1" fmla="*/ 12700 h 6962774"/>
              <a:gd name="connsiteX2" fmla="*/ 6383423 w 7564523"/>
              <a:gd name="connsiteY2" fmla="*/ 0 h 6962774"/>
              <a:gd name="connsiteX3" fmla="*/ 7564523 w 7564523"/>
              <a:gd name="connsiteY3" fmla="*/ 4660901 h 6962774"/>
              <a:gd name="connsiteX4" fmla="*/ 5587667 w 7564523"/>
              <a:gd name="connsiteY4" fmla="*/ 6962774 h 6962774"/>
              <a:gd name="connsiteX5" fmla="*/ 0 w 7564523"/>
              <a:gd name="connsiteY5" fmla="*/ 6950074 h 6962774"/>
              <a:gd name="connsiteX0" fmla="*/ 0 w 7602623"/>
              <a:gd name="connsiteY0" fmla="*/ 6962774 h 6975474"/>
              <a:gd name="connsiteX1" fmla="*/ 4351756 w 7602623"/>
              <a:gd name="connsiteY1" fmla="*/ 25400 h 6975474"/>
              <a:gd name="connsiteX2" fmla="*/ 7602623 w 7602623"/>
              <a:gd name="connsiteY2" fmla="*/ 0 h 6975474"/>
              <a:gd name="connsiteX3" fmla="*/ 7564523 w 7602623"/>
              <a:gd name="connsiteY3" fmla="*/ 4673601 h 6975474"/>
              <a:gd name="connsiteX4" fmla="*/ 5587667 w 7602623"/>
              <a:gd name="connsiteY4" fmla="*/ 6975474 h 6975474"/>
              <a:gd name="connsiteX5" fmla="*/ 0 w 7602623"/>
              <a:gd name="connsiteY5" fmla="*/ 6962774 h 6975474"/>
              <a:gd name="connsiteX0" fmla="*/ 0 w 7602623"/>
              <a:gd name="connsiteY0" fmla="*/ 7026274 h 7038974"/>
              <a:gd name="connsiteX1" fmla="*/ 4415256 w 7602623"/>
              <a:gd name="connsiteY1" fmla="*/ 0 h 7038974"/>
              <a:gd name="connsiteX2" fmla="*/ 7602623 w 7602623"/>
              <a:gd name="connsiteY2" fmla="*/ 63500 h 7038974"/>
              <a:gd name="connsiteX3" fmla="*/ 7564523 w 7602623"/>
              <a:gd name="connsiteY3" fmla="*/ 4737101 h 7038974"/>
              <a:gd name="connsiteX4" fmla="*/ 5587667 w 7602623"/>
              <a:gd name="connsiteY4" fmla="*/ 7038974 h 7038974"/>
              <a:gd name="connsiteX5" fmla="*/ 0 w 7602623"/>
              <a:gd name="connsiteY5" fmla="*/ 7026274 h 7038974"/>
              <a:gd name="connsiteX0" fmla="*/ 0 w 7716923"/>
              <a:gd name="connsiteY0" fmla="*/ 7178674 h 7178674"/>
              <a:gd name="connsiteX1" fmla="*/ 4529556 w 7716923"/>
              <a:gd name="connsiteY1" fmla="*/ 0 h 7178674"/>
              <a:gd name="connsiteX2" fmla="*/ 7716923 w 7716923"/>
              <a:gd name="connsiteY2" fmla="*/ 63500 h 7178674"/>
              <a:gd name="connsiteX3" fmla="*/ 7678823 w 7716923"/>
              <a:gd name="connsiteY3" fmla="*/ 4737101 h 7178674"/>
              <a:gd name="connsiteX4" fmla="*/ 5701967 w 7716923"/>
              <a:gd name="connsiteY4" fmla="*/ 7038974 h 7178674"/>
              <a:gd name="connsiteX5" fmla="*/ 0 w 7716923"/>
              <a:gd name="connsiteY5" fmla="*/ 7178674 h 7178674"/>
              <a:gd name="connsiteX0" fmla="*/ 0 w 7716923"/>
              <a:gd name="connsiteY0" fmla="*/ 7178674 h 7292974"/>
              <a:gd name="connsiteX1" fmla="*/ 4529556 w 7716923"/>
              <a:gd name="connsiteY1" fmla="*/ 0 h 7292974"/>
              <a:gd name="connsiteX2" fmla="*/ 7716923 w 7716923"/>
              <a:gd name="connsiteY2" fmla="*/ 63500 h 7292974"/>
              <a:gd name="connsiteX3" fmla="*/ 7678823 w 7716923"/>
              <a:gd name="connsiteY3" fmla="*/ 4737101 h 7292974"/>
              <a:gd name="connsiteX4" fmla="*/ 5473367 w 7716923"/>
              <a:gd name="connsiteY4" fmla="*/ 7292974 h 7292974"/>
              <a:gd name="connsiteX5" fmla="*/ 0 w 7716923"/>
              <a:gd name="connsiteY5" fmla="*/ 7178674 h 7292974"/>
              <a:gd name="connsiteX0" fmla="*/ 0 w 7716923"/>
              <a:gd name="connsiteY0" fmla="*/ 7115174 h 7229474"/>
              <a:gd name="connsiteX1" fmla="*/ 6377406 w 7716923"/>
              <a:gd name="connsiteY1" fmla="*/ 107950 h 7229474"/>
              <a:gd name="connsiteX2" fmla="*/ 7716923 w 7716923"/>
              <a:gd name="connsiteY2" fmla="*/ 0 h 7229474"/>
              <a:gd name="connsiteX3" fmla="*/ 7678823 w 7716923"/>
              <a:gd name="connsiteY3" fmla="*/ 4673601 h 7229474"/>
              <a:gd name="connsiteX4" fmla="*/ 5473367 w 7716923"/>
              <a:gd name="connsiteY4" fmla="*/ 7229474 h 7229474"/>
              <a:gd name="connsiteX5" fmla="*/ 0 w 7716923"/>
              <a:gd name="connsiteY5" fmla="*/ 7115174 h 7229474"/>
              <a:gd name="connsiteX0" fmla="*/ 0 w 7659773"/>
              <a:gd name="connsiteY0" fmla="*/ 7191374 h 7229474"/>
              <a:gd name="connsiteX1" fmla="*/ 6320256 w 7659773"/>
              <a:gd name="connsiteY1" fmla="*/ 107950 h 7229474"/>
              <a:gd name="connsiteX2" fmla="*/ 7659773 w 7659773"/>
              <a:gd name="connsiteY2" fmla="*/ 0 h 7229474"/>
              <a:gd name="connsiteX3" fmla="*/ 7621673 w 7659773"/>
              <a:gd name="connsiteY3" fmla="*/ 4673601 h 7229474"/>
              <a:gd name="connsiteX4" fmla="*/ 5416217 w 7659773"/>
              <a:gd name="connsiteY4" fmla="*/ 7229474 h 7229474"/>
              <a:gd name="connsiteX5" fmla="*/ 0 w 7659773"/>
              <a:gd name="connsiteY5" fmla="*/ 7191374 h 7229474"/>
              <a:gd name="connsiteX0" fmla="*/ 0 w 7659773"/>
              <a:gd name="connsiteY0" fmla="*/ 7191374 h 7400924"/>
              <a:gd name="connsiteX1" fmla="*/ 6320256 w 7659773"/>
              <a:gd name="connsiteY1" fmla="*/ 107950 h 7400924"/>
              <a:gd name="connsiteX2" fmla="*/ 7659773 w 7659773"/>
              <a:gd name="connsiteY2" fmla="*/ 0 h 7400924"/>
              <a:gd name="connsiteX3" fmla="*/ 7621673 w 7659773"/>
              <a:gd name="connsiteY3" fmla="*/ 4673601 h 7400924"/>
              <a:gd name="connsiteX4" fmla="*/ 5378117 w 7659773"/>
              <a:gd name="connsiteY4" fmla="*/ 7400924 h 7400924"/>
              <a:gd name="connsiteX5" fmla="*/ 0 w 7659773"/>
              <a:gd name="connsiteY5" fmla="*/ 7191374 h 7400924"/>
              <a:gd name="connsiteX0" fmla="*/ 0 w 7659773"/>
              <a:gd name="connsiteY0" fmla="*/ 7191374 h 7419974"/>
              <a:gd name="connsiteX1" fmla="*/ 6320256 w 7659773"/>
              <a:gd name="connsiteY1" fmla="*/ 107950 h 7419974"/>
              <a:gd name="connsiteX2" fmla="*/ 7659773 w 7659773"/>
              <a:gd name="connsiteY2" fmla="*/ 0 h 7419974"/>
              <a:gd name="connsiteX3" fmla="*/ 7621673 w 7659773"/>
              <a:gd name="connsiteY3" fmla="*/ 4673601 h 7419974"/>
              <a:gd name="connsiteX4" fmla="*/ 5263817 w 7659773"/>
              <a:gd name="connsiteY4" fmla="*/ 7419974 h 7419974"/>
              <a:gd name="connsiteX5" fmla="*/ 0 w 7659773"/>
              <a:gd name="connsiteY5" fmla="*/ 7191374 h 74199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945523 w 7983623"/>
              <a:gd name="connsiteY3" fmla="*/ 46736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831223 w 7983623"/>
              <a:gd name="connsiteY3" fmla="*/ 48641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831223"/>
              <a:gd name="connsiteY0" fmla="*/ 7426324 h 7426324"/>
              <a:gd name="connsiteX1" fmla="*/ 6644106 w 7831223"/>
              <a:gd name="connsiteY1" fmla="*/ 0 h 7426324"/>
              <a:gd name="connsiteX2" fmla="*/ 7793123 w 7831223"/>
              <a:gd name="connsiteY2" fmla="*/ 82550 h 7426324"/>
              <a:gd name="connsiteX3" fmla="*/ 7831223 w 7831223"/>
              <a:gd name="connsiteY3" fmla="*/ 4756151 h 7426324"/>
              <a:gd name="connsiteX4" fmla="*/ 5587667 w 7831223"/>
              <a:gd name="connsiteY4" fmla="*/ 7312024 h 7426324"/>
              <a:gd name="connsiteX5" fmla="*/ 0 w 7831223"/>
              <a:gd name="connsiteY5" fmla="*/ 7426324 h 7426324"/>
              <a:gd name="connsiteX0" fmla="*/ 0 w 7831223"/>
              <a:gd name="connsiteY0" fmla="*/ 7343774 h 7343774"/>
              <a:gd name="connsiteX1" fmla="*/ 6548856 w 7831223"/>
              <a:gd name="connsiteY1" fmla="*/ 1270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778167 w 7831223"/>
              <a:gd name="connsiteY4" fmla="*/ 6962774 h 7343774"/>
              <a:gd name="connsiteX5" fmla="*/ 0 w 7831223"/>
              <a:gd name="connsiteY5" fmla="*/ 7343774 h 7343774"/>
              <a:gd name="connsiteX0" fmla="*/ 0 w 7501023"/>
              <a:gd name="connsiteY0" fmla="*/ 6988174 h 6988174"/>
              <a:gd name="connsiteX1" fmla="*/ 6244056 w 7501023"/>
              <a:gd name="connsiteY1" fmla="*/ 0 h 6988174"/>
              <a:gd name="connsiteX2" fmla="*/ 7462923 w 7501023"/>
              <a:gd name="connsiteY2" fmla="*/ 0 h 6988174"/>
              <a:gd name="connsiteX3" fmla="*/ 7501023 w 7501023"/>
              <a:gd name="connsiteY3" fmla="*/ 4673601 h 6988174"/>
              <a:gd name="connsiteX4" fmla="*/ 5447967 w 7501023"/>
              <a:gd name="connsiteY4" fmla="*/ 6962774 h 6988174"/>
              <a:gd name="connsiteX5" fmla="*/ 0 w 7501023"/>
              <a:gd name="connsiteY5" fmla="*/ 6988174 h 6988174"/>
              <a:gd name="connsiteX0" fmla="*/ 0 w 7506466"/>
              <a:gd name="connsiteY0" fmla="*/ 6988174 h 6988174"/>
              <a:gd name="connsiteX1" fmla="*/ 6244056 w 7506466"/>
              <a:gd name="connsiteY1" fmla="*/ 0 h 6988174"/>
              <a:gd name="connsiteX2" fmla="*/ 7506466 w 7506466"/>
              <a:gd name="connsiteY2" fmla="*/ 0 h 6988174"/>
              <a:gd name="connsiteX3" fmla="*/ 7501023 w 7506466"/>
              <a:gd name="connsiteY3" fmla="*/ 4673601 h 6988174"/>
              <a:gd name="connsiteX4" fmla="*/ 5447967 w 7506466"/>
              <a:gd name="connsiteY4" fmla="*/ 6962774 h 6988174"/>
              <a:gd name="connsiteX5" fmla="*/ 0 w 7506466"/>
              <a:gd name="connsiteY5" fmla="*/ 6988174 h 6988174"/>
              <a:gd name="connsiteX0" fmla="*/ 0 w 7506466"/>
              <a:gd name="connsiteY0" fmla="*/ 6988174 h 7006317"/>
              <a:gd name="connsiteX1" fmla="*/ 6244056 w 7506466"/>
              <a:gd name="connsiteY1" fmla="*/ 0 h 7006317"/>
              <a:gd name="connsiteX2" fmla="*/ 7506466 w 7506466"/>
              <a:gd name="connsiteY2" fmla="*/ 0 h 7006317"/>
              <a:gd name="connsiteX3" fmla="*/ 7501023 w 7506466"/>
              <a:gd name="connsiteY3" fmla="*/ 4673601 h 7006317"/>
              <a:gd name="connsiteX4" fmla="*/ 5360881 w 7506466"/>
              <a:gd name="connsiteY4" fmla="*/ 7006317 h 7006317"/>
              <a:gd name="connsiteX5" fmla="*/ 0 w 7506466"/>
              <a:gd name="connsiteY5" fmla="*/ 6988174 h 7006317"/>
              <a:gd name="connsiteX0" fmla="*/ 0 w 7564523"/>
              <a:gd name="connsiteY0" fmla="*/ 7046231 h 7046231"/>
              <a:gd name="connsiteX1" fmla="*/ 6302113 w 7564523"/>
              <a:gd name="connsiteY1" fmla="*/ 0 h 7046231"/>
              <a:gd name="connsiteX2" fmla="*/ 7564523 w 7564523"/>
              <a:gd name="connsiteY2" fmla="*/ 0 h 7046231"/>
              <a:gd name="connsiteX3" fmla="*/ 7559080 w 7564523"/>
              <a:gd name="connsiteY3" fmla="*/ 4673601 h 7046231"/>
              <a:gd name="connsiteX4" fmla="*/ 5418938 w 7564523"/>
              <a:gd name="connsiteY4" fmla="*/ 7006317 h 7046231"/>
              <a:gd name="connsiteX5" fmla="*/ 0 w 7564523"/>
              <a:gd name="connsiteY5" fmla="*/ 7046231 h 7046231"/>
              <a:gd name="connsiteX0" fmla="*/ 0 w 7564523"/>
              <a:gd name="connsiteY0" fmla="*/ 7046231 h 7049860"/>
              <a:gd name="connsiteX1" fmla="*/ 6302113 w 7564523"/>
              <a:gd name="connsiteY1" fmla="*/ 0 h 7049860"/>
              <a:gd name="connsiteX2" fmla="*/ 7564523 w 7564523"/>
              <a:gd name="connsiteY2" fmla="*/ 0 h 7049860"/>
              <a:gd name="connsiteX3" fmla="*/ 7559080 w 7564523"/>
              <a:gd name="connsiteY3" fmla="*/ 4673601 h 7049860"/>
              <a:gd name="connsiteX4" fmla="*/ 5389909 w 7564523"/>
              <a:gd name="connsiteY4" fmla="*/ 7049860 h 7049860"/>
              <a:gd name="connsiteX5" fmla="*/ 0 w 7564523"/>
              <a:gd name="connsiteY5" fmla="*/ 7046231 h 704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4523" h="7049860">
                <a:moveTo>
                  <a:pt x="0" y="7046231"/>
                </a:moveTo>
                <a:lnTo>
                  <a:pt x="6302113" y="0"/>
                </a:lnTo>
                <a:lnTo>
                  <a:pt x="7564523" y="0"/>
                </a:lnTo>
                <a:cubicBezTo>
                  <a:pt x="7562709" y="1557867"/>
                  <a:pt x="7560894" y="3115734"/>
                  <a:pt x="7559080" y="4673601"/>
                </a:cubicBezTo>
                <a:lnTo>
                  <a:pt x="5389909" y="7049860"/>
                </a:lnTo>
                <a:lnTo>
                  <a:pt x="0" y="7046231"/>
                </a:lnTo>
                <a:close/>
              </a:path>
            </a:pathLst>
          </a:custGeom>
          <a:solidFill>
            <a:srgbClr val="D5581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6923095" y="3955333"/>
            <a:ext cx="4812192" cy="1380685"/>
          </a:xfrm>
          <a:prstGeom prst="rect">
            <a:avLst/>
          </a:prstGeom>
        </p:spPr>
        <p:txBody>
          <a:bodyPr lIns="0" tIns="0" rIns="0" bIns="54395" anchor="t"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42" b="1" dirty="0">
                <a:ln w="1905"/>
                <a:solidFill>
                  <a:schemeClr val="bg1"/>
                </a:solidFill>
                <a:latin typeface="Arial"/>
                <a:ea typeface="Segoe UI" panose="020B0502040204020203" pitchFamily="34" charset="0"/>
                <a:cs typeface="Arial"/>
              </a:rPr>
              <a:t>INSURANCE FUNDAMENTALS- Advanced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620" y="1850000"/>
            <a:ext cx="2656731" cy="17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801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298813" y="1248476"/>
            <a:ext cx="8879998" cy="150381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38374" indent="-338374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579" b="1" dirty="0">
                <a:solidFill>
                  <a:srgbClr val="C00000"/>
                </a:solidFill>
                <a:latin typeface="Segoe UI Light" panose="020B0502040204020203" pitchFamily="34" charset="0"/>
              </a:rPr>
              <a:t>Section 1 – Personal Lines</a:t>
            </a:r>
          </a:p>
          <a:p>
            <a:pPr marL="795574" lvl="1" indent="-338374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dirty="0">
                <a:latin typeface="Segoe UI Light" panose="020B0502040204020203" pitchFamily="34" charset="0"/>
              </a:rPr>
              <a:t>Persona Lines: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579" dirty="0">
                <a:latin typeface="Segoe UI Light" panose="020B0502040204020203" pitchFamily="34" charset="0"/>
              </a:rPr>
              <a:t>1. Personal Auto   2. Homeowners    3. Dwelling Fire   4. Boat owners      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579" dirty="0">
                <a:latin typeface="Segoe UI Light" panose="020B0502040204020203" pitchFamily="34" charset="0"/>
              </a:rPr>
              <a:t>5. Personal Umbrella     6. Recreational Vehicles   7. Motorcycle.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endParaRPr lang="en-US" sz="1579" dirty="0">
              <a:latin typeface="Segoe UI Light" panose="020B0502040204020203" pitchFamily="34" charset="0"/>
            </a:endParaRPr>
          </a:p>
          <a:p>
            <a:pPr marL="338374" indent="-338374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579" b="1" dirty="0">
                <a:solidFill>
                  <a:srgbClr val="C00000"/>
                </a:solidFill>
                <a:latin typeface="Segoe UI Light" panose="020B0502040204020203" pitchFamily="34" charset="0"/>
              </a:rPr>
              <a:t>Section 2  -  Commercial Lines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IN" sz="1579" dirty="0">
                <a:latin typeface="Segoe UI Light" panose="020B0502040204020203" pitchFamily="34" charset="0"/>
              </a:rPr>
              <a:t>Commercial lines :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r>
              <a:rPr lang="en-IN" sz="1579" b="1" dirty="0">
                <a:latin typeface="Segoe UI Light" panose="020B0502040204020203" pitchFamily="34" charset="0"/>
              </a:rPr>
              <a:t>1.Property </a:t>
            </a:r>
            <a:r>
              <a:rPr lang="en-IN" sz="1579" dirty="0">
                <a:latin typeface="Segoe UI Light" panose="020B0502040204020203" pitchFamily="34" charset="0"/>
              </a:rPr>
              <a:t>2. Garage  3. General Liability 4.Inland marine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r>
              <a:rPr lang="en-IN" sz="1579" dirty="0">
                <a:latin typeface="Segoe UI Light" panose="020B0502040204020203" pitchFamily="34" charset="0"/>
              </a:rPr>
              <a:t>5. EBL (Employer Benefit Liability)  6.Crime</a:t>
            </a:r>
          </a:p>
          <a:p>
            <a:pPr lvl="2">
              <a:spcBef>
                <a:spcPct val="20000"/>
              </a:spcBef>
              <a:buClr>
                <a:schemeClr val="tx1"/>
              </a:buClr>
              <a:defRPr/>
            </a:pPr>
            <a:endParaRPr lang="en-US" sz="1579" dirty="0">
              <a:latin typeface="Segoe UI Light" panose="020B0502040204020203" pitchFamily="34" charset="0"/>
            </a:endParaRPr>
          </a:p>
          <a:p>
            <a:pPr marL="338374" indent="-338374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579" b="1" dirty="0">
                <a:solidFill>
                  <a:srgbClr val="C00000"/>
                </a:solidFill>
                <a:latin typeface="Segoe UI Light" panose="020B0502040204020203" pitchFamily="34" charset="0"/>
              </a:rPr>
              <a:t>Section 3 – Enterprise Application</a:t>
            </a:r>
          </a:p>
          <a:p>
            <a:pPr marL="795574" lvl="1" indent="-338374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IN" sz="1579" dirty="0">
                <a:latin typeface="Segoe UI Light" panose="020B0502040204020203" pitchFamily="34" charset="0"/>
              </a:rPr>
              <a:t>Insurance Billing and Claims Details</a:t>
            </a:r>
          </a:p>
          <a:p>
            <a:pPr marL="795574" lvl="1" indent="-338374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IN" sz="1579" dirty="0">
                <a:latin typeface="Segoe UI Light" panose="020B0502040204020203" pitchFamily="34" charset="0"/>
              </a:rPr>
              <a:t>Enterprise applications – Claims &amp; Billing </a:t>
            </a:r>
          </a:p>
          <a:p>
            <a:pPr marL="795574" lvl="1" indent="-338374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sz="1579" dirty="0">
              <a:latin typeface="Segoe UI Light" panose="020B05020402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787" y="4248467"/>
            <a:ext cx="2757241" cy="1436248"/>
          </a:xfrm>
          <a:prstGeom prst="rect">
            <a:avLst/>
          </a:prstGeom>
        </p:spPr>
      </p:pic>
      <p:pic>
        <p:nvPicPr>
          <p:cNvPr id="2050" name="Picture 2" descr="http://www.belrim.com/app/uploads/2013/11/target-thumb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967" y="1588123"/>
            <a:ext cx="2725656" cy="208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6"/>
          <p:cNvSpPr>
            <a:spLocks noChangeArrowheads="1"/>
          </p:cNvSpPr>
          <p:nvPr/>
        </p:nvSpPr>
        <p:spPr bwMode="auto">
          <a:xfrm>
            <a:off x="5570" y="8585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1363152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4469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Loss Exposures include: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Real Property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Land, Building, Sidewalks, Underground Parking, Radio Transmission Towers and Property permanently attached to the structure for e.g. plumbing, wiring, lifts etc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.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Contents,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Property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 the possession of others, Floating property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72" y="3571166"/>
            <a:ext cx="2571429" cy="1780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667742"/>
            <a:ext cx="45897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is exposed to many losses like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Fire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Vandalism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Theft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Hurricane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Tornadoes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Flood etc.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699067"/>
            <a:ext cx="44230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Financial consequences could include: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Reduction in value of the property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Income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Repair cost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Extra expenses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4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914401"/>
            <a:ext cx="838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Coverage can be included for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Building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Completed additions and fixtures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Permanently installed machinery and equipment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owned by the insured and used to service or maintain the building or premises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Material and equipment being used for repair/alteration is also  covered within 100 feet of the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premise</a:t>
            </a: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Business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owned by the insured and used in insured’s business present within 100 feet of the premises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Includes furniture, fixtures, stock etc.</a:t>
            </a: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of others 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of others while it is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in insured’s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care or custody, useful for laundry shops, repair shops etc.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Coverage is provided regardless of whether the insured is legally liable.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If not purchased this coverage is available by default but limited to  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$2,500 at each insured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location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89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382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not covered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Smuggled goods held for sale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that can be insured better by other forms like auto, aircrafts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Additional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coverages: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Debris removal – covers cost of cleaning debris arising from a covered cause of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Preservation of property – covers the covered property while it is being moved and up to 30 days limited to $ 10,000 per policy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year</a:t>
            </a: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Fire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department service charge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Pollutant cleanup and removal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Increased cost of construction – limited to 5% of the amount of insurance or $ 10,000 whichever is less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Electronic data – coverage limited to $ 2,500 per policy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year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Coverage extensions include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newly acquired or constructed property, personal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property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of others, outdoor property, property off-premises, non-owned detached trailers and property temporarily in portable storage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units</a:t>
            </a: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07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4616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Causes of Loss are covered in three forms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Basic form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covers on named peril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approach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Broad form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covers on named peril approach and more expensive than basic form, includes falling objects, weight of ice/snow and water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damage.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Both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basic and broad forms have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anti-concurrent causation wording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for most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losses.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Covered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causes of loss include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fire, lightning, explosion, windstorm or hail, smoke, riot or civil commotion, vandalism, sprinkler leakage, volcanic action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etc.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Ordinance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or law, earth movement, government action, nuclear hazard,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war, mechanical or electrical breakdown and steam boiler explosions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etc. are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excluded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Additional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but limited coverage for “Fungus” is provided for a limit of             $ 15,000 for a 12 month policy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period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Special form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provides broadest coverage, covers all losses which are not excluded. Also shifts the burden of proof on the insurer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Common exclusions include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wear and tear, rust, corrosion, decay,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mechanical breakdown, loss or damage to products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etc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.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57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27294"/>
            <a:ext cx="838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Blanket Insurance: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Insurance that covers with one limit of insurance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Two or more types of property – buildings and business personal property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One or more types of property at more than one location.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Specific Insurance: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Insurance that covers each building for a specific limit of insurance and personal property at each building for a specific limit of insurance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Limits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can be provided as specific or blanket for e.g.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    </a:t>
            </a:r>
            <a:r>
              <a:rPr lang="en-US" sz="1600" b="1" dirty="0">
                <a:solidFill>
                  <a:prstClr val="black"/>
                </a:solidFill>
                <a:latin typeface="Arial" charset="0"/>
                <a:cs typeface="Arial" charset="0"/>
              </a:rPr>
              <a:t>Specific limits: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$ 1,000,000 for building/$ 800,000 for business personal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property/$ 50,000 for personal property of others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</a:t>
            </a:r>
            <a:r>
              <a:rPr lang="en-US" sz="1600" b="1" dirty="0">
                <a:solidFill>
                  <a:prstClr val="black"/>
                </a:solidFill>
                <a:latin typeface="Arial" charset="0"/>
                <a:cs typeface="Arial" charset="0"/>
              </a:rPr>
              <a:t>Blanket limit: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$ 1,850,000 for building, business personal property and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personal property of others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Valuation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is on Actual Cash Value but can be changed to replacement cost with optional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13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50880"/>
            <a:ext cx="8382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Coinsurance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clause requires the insured to carry insurance equal to at least a specified percentage of the property’s ACV or replacement cost value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If the amount of insurance carried does not meet the coinsurance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requirement the payment will be calculated as per the below formula: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Loss payment 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less deductible =  </a:t>
            </a:r>
            <a:r>
              <a:rPr lang="en-US" sz="1400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Amount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of insurance carried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-------------------------------------     X   Loss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Amount of insurance required </a:t>
            </a: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E.g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.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The value of the property is $250,000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The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Coinsurance percentage for it is 80%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Limit of Insurance for it is $100,000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Deductible is $250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amount of loss is $ 40,000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2497" y="5224621"/>
            <a:ext cx="83183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Loss payment  less deductible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=               $100,000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-------------------------------------     X   $40,000   =  $20,000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    (80% of $250,000)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6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50881"/>
            <a:ext cx="838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Optional coverages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include payment on agreed value, inflation guard,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replacement cost and extension of replacement cost to personal property of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others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Endorsements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can be included to enhance coverage. Common endorsements are: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Ordinance or law coverage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endorsement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A –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U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ndamaged building which must be demolished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B – Cost to demolish the undamaged portion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C – Increased cost to repair or rebuild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Spoilage coverage endorsement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Flood coverage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Earthquake and volcanic eruption coverage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Peak season limit of insurance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Value reporting form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00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700753"/>
            <a:ext cx="838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Rating factors affecting commercial property insurance premiums include: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Limits of insurance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Covered causes of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Coinsurance percentage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Deductible amount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Optional coverages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Construction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Occupancy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Protection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External exposure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Location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Package modification factors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Business income insurance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covers the reduction in an organization’s income when operations are interrupted by damage to property caused by a covered peril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During a business interruption an organization may incur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continuing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     expenses, non-continuing expenses and extra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expenses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can be included for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business income including rental value, business income other than rental value and rental value only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83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1774209" y="852939"/>
            <a:ext cx="809312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Commercial property exclude loss caused by mechanical or electrical breakdown and steam boiler explosions therefore,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Equipment Breakdown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insurance is provided separately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can be included for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damage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Expediting expenses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Business income and extra expense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Spoilage damage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Utility interruption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Newly acquired premises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Ordinance or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law 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Errors and omissions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Brands and labels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Contingent business income and extra expenses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Terrorism endorsements like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Certified acts exclusion endorsements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can also be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included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5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ChangeArrowheads="1"/>
          </p:cNvSpPr>
          <p:nvPr/>
        </p:nvSpPr>
        <p:spPr bwMode="auto">
          <a:xfrm>
            <a:off x="1524000" y="48724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Commercial Property Insurance </a:t>
            </a:r>
            <a:r>
              <a:rPr lang="en-US" sz="2500" b="1" dirty="0" err="1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contd</a:t>
            </a:r>
            <a:r>
              <a:rPr lang="en-US" sz="2500" b="1" dirty="0">
                <a:solidFill>
                  <a:prstClr val="white"/>
                </a:solidFill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1774209" y="962123"/>
            <a:ext cx="80931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Commercial property coverage part consists of five components: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Commercial property declarations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Commercial property coverage form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Causes of loss form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Commercial property conditions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Endorsements</a:t>
            </a:r>
          </a:p>
        </p:txBody>
      </p:sp>
    </p:spTree>
    <p:extLst>
      <p:ext uri="{BB962C8B-B14F-4D97-AF65-F5344CB8AC3E}">
        <p14:creationId xmlns:p14="http://schemas.microsoft.com/office/powerpoint/2010/main" val="332302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7181" y="3051821"/>
            <a:ext cx="2466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099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VIKI New Document" ma:contentTypeID="0x010100F7548365F7A28B41B9A685ED46C1AC26001AB29883D45E2C4E9CA6FE95A9034FC3" ma:contentTypeVersion="5" ma:contentTypeDescription="" ma:contentTypeScope="" ma:versionID="bc1a5864616262670162eb204ab13928">
  <xsd:schema xmlns:xsd="http://www.w3.org/2001/XMLSchema" xmlns:xs="http://www.w3.org/2001/XMLSchema" xmlns:p="http://schemas.microsoft.com/office/2006/metadata/properties" xmlns:ns2="09339d3a-aaa0-497d-ae73-d8a5832d420d" targetNamespace="http://schemas.microsoft.com/office/2006/metadata/properties" ma:root="true" ma:fieldsID="86592b75fc3d2fa65ab3e34efd39cedb" ns2:_="">
    <xsd:import namespace="09339d3a-aaa0-497d-ae73-d8a5832d420d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Contributors"/>
                <xsd:element ref="ns2:Departments"/>
                <xsd:element ref="ns2:SubCategory"/>
                <xsd:element ref="ns2:Tag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Contributors" ma:index="9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partments" ma:index="10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1" ma:displayName="SubCategory" ma:format="Dropdown" ma:internalName="SubCategory" ma:readOnly="false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2" ma:displayName="Tags" ma:internalName="Tags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41087d73-5bfe-4c6e-a130-3d602495565a" ContentTypeId="0x010100F7548365F7A28B41B9A685ED46C1AC26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Contributors xmlns="09339d3a-aaa0-497d-ae73-d8a5832d420d">
      <UserInfo>
        <DisplayName>Alok Bharati</DisplayName>
        <AccountId>26</AccountId>
        <AccountType/>
      </UserInfo>
    </Contributors>
    <SubCategory xmlns="09339d3a-aaa0-497d-ae73-d8a5832d420d">Best Practice</SubCategory>
    <Tags xmlns="09339d3a-aaa0-497d-ae73-d8a5832d420d">Commercial Property Insurance</Tags>
  </documentManagement>
</p:properties>
</file>

<file path=customXml/itemProps1.xml><?xml version="1.0" encoding="utf-8"?>
<ds:datastoreItem xmlns:ds="http://schemas.openxmlformats.org/officeDocument/2006/customXml" ds:itemID="{3802F877-61B5-4E23-99B1-7D2C975D6B20}"/>
</file>

<file path=customXml/itemProps2.xml><?xml version="1.0" encoding="utf-8"?>
<ds:datastoreItem xmlns:ds="http://schemas.openxmlformats.org/officeDocument/2006/customXml" ds:itemID="{5F24DFE4-FEFB-4139-BA7B-5A93E1F68B10}"/>
</file>

<file path=customXml/itemProps3.xml><?xml version="1.0" encoding="utf-8"?>
<ds:datastoreItem xmlns:ds="http://schemas.openxmlformats.org/officeDocument/2006/customXml" ds:itemID="{E5201DE0-DE5C-41C2-B7FF-136D034F1499}"/>
</file>

<file path=customXml/itemProps4.xml><?xml version="1.0" encoding="utf-8"?>
<ds:datastoreItem xmlns:ds="http://schemas.openxmlformats.org/officeDocument/2006/customXml" ds:itemID="{49B46CE3-A364-4DB9-9812-E39F37D8197A}"/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1295</Words>
  <Application>Microsoft Office PowerPoint</Application>
  <PresentationFormat>Widescreen</PresentationFormat>
  <Paragraphs>174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Segoe UI</vt:lpstr>
      <vt:lpstr>Segoe UI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Property Insurance</dc:title>
  <dc:creator>Alok Bharati</dc:creator>
  <cp:lastModifiedBy>Avinash Kumar Singh</cp:lastModifiedBy>
  <cp:revision>63</cp:revision>
  <dcterms:created xsi:type="dcterms:W3CDTF">2017-04-19T10:35:35Z</dcterms:created>
  <dcterms:modified xsi:type="dcterms:W3CDTF">2017-04-21T10:38:14Z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0x010100F7548365F7A28B41B9A685ED46C1AC26001AB29883D45E2C4E9CA6FE95A9034FC3</vt:lpwstr>
  </property>
</Properties>
</file>
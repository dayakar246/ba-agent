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6"/>
  </p:notesMasterIdLst>
  <p:sldIdLst>
    <p:sldId id="257" r:id="rId6"/>
    <p:sldId id="356" r:id="rId7"/>
    <p:sldId id="344" r:id="rId8"/>
    <p:sldId id="345" r:id="rId9"/>
    <p:sldId id="358" r:id="rId10"/>
    <p:sldId id="349" r:id="rId11"/>
    <p:sldId id="355" r:id="rId12"/>
    <p:sldId id="357" r:id="rId13"/>
    <p:sldId id="359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228" autoAdjust="0"/>
  </p:normalViewPr>
  <p:slideViewPr>
    <p:cSldViewPr snapToGrid="0">
      <p:cViewPr>
        <p:scale>
          <a:sx n="72" d="100"/>
          <a:sy n="72" d="100"/>
        </p:scale>
        <p:origin x="-630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42D40-350A-43E1-AA9F-3C498A4B9741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17472-9B04-48B5-846F-FCD68B210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7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5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7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7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00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00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17472-9B04-48B5-846F-FCD68B210CC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0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6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2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9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84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05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2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9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1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57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297" y="195809"/>
            <a:ext cx="1297157" cy="8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2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ED3F3-0A49-4326-AA08-B112AB5A731D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 b="12526"/>
          <a:stretch/>
        </p:blipFill>
        <p:spPr>
          <a:xfrm>
            <a:off x="-62572" y="-29764"/>
            <a:ext cx="12249003" cy="69175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24" y="6211049"/>
            <a:ext cx="3183064" cy="125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>
            <a:off x="2516288" y="6361430"/>
            <a:ext cx="3183064" cy="125317"/>
          </a:xfrm>
          <a:prstGeom prst="rect">
            <a:avLst/>
          </a:prstGeom>
        </p:spPr>
      </p:pic>
      <p:sp>
        <p:nvSpPr>
          <p:cNvPr id="13" name="Parallelogram 12"/>
          <p:cNvSpPr/>
          <p:nvPr/>
        </p:nvSpPr>
        <p:spPr>
          <a:xfrm>
            <a:off x="4727494" y="-42294"/>
            <a:ext cx="7464308" cy="6956463"/>
          </a:xfrm>
          <a:custGeom>
            <a:avLst/>
            <a:gdLst>
              <a:gd name="connsiteX0" fmla="*/ 0 w 6383423"/>
              <a:gd name="connsiteY0" fmla="*/ 6950074 h 6950074"/>
              <a:gd name="connsiteX1" fmla="*/ 1595856 w 6383423"/>
              <a:gd name="connsiteY1" fmla="*/ 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75474 h 6975474"/>
              <a:gd name="connsiteX1" fmla="*/ 3665956 w 6383423"/>
              <a:gd name="connsiteY1" fmla="*/ 0 h 6975474"/>
              <a:gd name="connsiteX2" fmla="*/ 6383423 w 6383423"/>
              <a:gd name="connsiteY2" fmla="*/ 25400 h 6975474"/>
              <a:gd name="connsiteX3" fmla="*/ 4787567 w 6383423"/>
              <a:gd name="connsiteY3" fmla="*/ 6975474 h 6975474"/>
              <a:gd name="connsiteX4" fmla="*/ 0 w 6383423"/>
              <a:gd name="connsiteY4" fmla="*/ 6975474 h 6975474"/>
              <a:gd name="connsiteX0" fmla="*/ 0 w 6383423"/>
              <a:gd name="connsiteY0" fmla="*/ 6950074 h 6950074"/>
              <a:gd name="connsiteX1" fmla="*/ 4351756 w 6383423"/>
              <a:gd name="connsiteY1" fmla="*/ 1270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587667 w 6383423"/>
              <a:gd name="connsiteY3" fmla="*/ 6962774 h 6962774"/>
              <a:gd name="connsiteX4" fmla="*/ 0 w 6383423"/>
              <a:gd name="connsiteY4" fmla="*/ 6950074 h 69627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799223 w 6383423"/>
              <a:gd name="connsiteY3" fmla="*/ 4902201 h 6962774"/>
              <a:gd name="connsiteX4" fmla="*/ 5587667 w 6383423"/>
              <a:gd name="connsiteY4" fmla="*/ 6962774 h 6962774"/>
              <a:gd name="connsiteX5" fmla="*/ 0 w 6383423"/>
              <a:gd name="connsiteY5" fmla="*/ 6950074 h 6962774"/>
              <a:gd name="connsiteX0" fmla="*/ 0 w 7564523"/>
              <a:gd name="connsiteY0" fmla="*/ 6950074 h 6962774"/>
              <a:gd name="connsiteX1" fmla="*/ 4351756 w 7564523"/>
              <a:gd name="connsiteY1" fmla="*/ 12700 h 6962774"/>
              <a:gd name="connsiteX2" fmla="*/ 6383423 w 7564523"/>
              <a:gd name="connsiteY2" fmla="*/ 0 h 6962774"/>
              <a:gd name="connsiteX3" fmla="*/ 7564523 w 7564523"/>
              <a:gd name="connsiteY3" fmla="*/ 4660901 h 6962774"/>
              <a:gd name="connsiteX4" fmla="*/ 5587667 w 7564523"/>
              <a:gd name="connsiteY4" fmla="*/ 6962774 h 6962774"/>
              <a:gd name="connsiteX5" fmla="*/ 0 w 7564523"/>
              <a:gd name="connsiteY5" fmla="*/ 6950074 h 6962774"/>
              <a:gd name="connsiteX0" fmla="*/ 0 w 7602623"/>
              <a:gd name="connsiteY0" fmla="*/ 6962774 h 6975474"/>
              <a:gd name="connsiteX1" fmla="*/ 4351756 w 7602623"/>
              <a:gd name="connsiteY1" fmla="*/ 25400 h 6975474"/>
              <a:gd name="connsiteX2" fmla="*/ 7602623 w 7602623"/>
              <a:gd name="connsiteY2" fmla="*/ 0 h 6975474"/>
              <a:gd name="connsiteX3" fmla="*/ 7564523 w 7602623"/>
              <a:gd name="connsiteY3" fmla="*/ 4673601 h 6975474"/>
              <a:gd name="connsiteX4" fmla="*/ 5587667 w 7602623"/>
              <a:gd name="connsiteY4" fmla="*/ 6975474 h 6975474"/>
              <a:gd name="connsiteX5" fmla="*/ 0 w 7602623"/>
              <a:gd name="connsiteY5" fmla="*/ 6962774 h 6975474"/>
              <a:gd name="connsiteX0" fmla="*/ 0 w 7602623"/>
              <a:gd name="connsiteY0" fmla="*/ 7026274 h 7038974"/>
              <a:gd name="connsiteX1" fmla="*/ 4415256 w 7602623"/>
              <a:gd name="connsiteY1" fmla="*/ 0 h 7038974"/>
              <a:gd name="connsiteX2" fmla="*/ 7602623 w 7602623"/>
              <a:gd name="connsiteY2" fmla="*/ 63500 h 7038974"/>
              <a:gd name="connsiteX3" fmla="*/ 7564523 w 7602623"/>
              <a:gd name="connsiteY3" fmla="*/ 4737101 h 7038974"/>
              <a:gd name="connsiteX4" fmla="*/ 5587667 w 7602623"/>
              <a:gd name="connsiteY4" fmla="*/ 7038974 h 7038974"/>
              <a:gd name="connsiteX5" fmla="*/ 0 w 7602623"/>
              <a:gd name="connsiteY5" fmla="*/ 7026274 h 7038974"/>
              <a:gd name="connsiteX0" fmla="*/ 0 w 7716923"/>
              <a:gd name="connsiteY0" fmla="*/ 7178674 h 7178674"/>
              <a:gd name="connsiteX1" fmla="*/ 4529556 w 7716923"/>
              <a:gd name="connsiteY1" fmla="*/ 0 h 7178674"/>
              <a:gd name="connsiteX2" fmla="*/ 7716923 w 7716923"/>
              <a:gd name="connsiteY2" fmla="*/ 63500 h 7178674"/>
              <a:gd name="connsiteX3" fmla="*/ 7678823 w 7716923"/>
              <a:gd name="connsiteY3" fmla="*/ 4737101 h 7178674"/>
              <a:gd name="connsiteX4" fmla="*/ 5701967 w 7716923"/>
              <a:gd name="connsiteY4" fmla="*/ 7038974 h 7178674"/>
              <a:gd name="connsiteX5" fmla="*/ 0 w 7716923"/>
              <a:gd name="connsiteY5" fmla="*/ 7178674 h 7178674"/>
              <a:gd name="connsiteX0" fmla="*/ 0 w 7716923"/>
              <a:gd name="connsiteY0" fmla="*/ 7178674 h 7292974"/>
              <a:gd name="connsiteX1" fmla="*/ 4529556 w 7716923"/>
              <a:gd name="connsiteY1" fmla="*/ 0 h 7292974"/>
              <a:gd name="connsiteX2" fmla="*/ 7716923 w 7716923"/>
              <a:gd name="connsiteY2" fmla="*/ 63500 h 7292974"/>
              <a:gd name="connsiteX3" fmla="*/ 7678823 w 7716923"/>
              <a:gd name="connsiteY3" fmla="*/ 4737101 h 7292974"/>
              <a:gd name="connsiteX4" fmla="*/ 5473367 w 7716923"/>
              <a:gd name="connsiteY4" fmla="*/ 7292974 h 7292974"/>
              <a:gd name="connsiteX5" fmla="*/ 0 w 7716923"/>
              <a:gd name="connsiteY5" fmla="*/ 7178674 h 7292974"/>
              <a:gd name="connsiteX0" fmla="*/ 0 w 7716923"/>
              <a:gd name="connsiteY0" fmla="*/ 7115174 h 7229474"/>
              <a:gd name="connsiteX1" fmla="*/ 6377406 w 7716923"/>
              <a:gd name="connsiteY1" fmla="*/ 107950 h 7229474"/>
              <a:gd name="connsiteX2" fmla="*/ 7716923 w 7716923"/>
              <a:gd name="connsiteY2" fmla="*/ 0 h 7229474"/>
              <a:gd name="connsiteX3" fmla="*/ 7678823 w 7716923"/>
              <a:gd name="connsiteY3" fmla="*/ 4673601 h 7229474"/>
              <a:gd name="connsiteX4" fmla="*/ 5473367 w 7716923"/>
              <a:gd name="connsiteY4" fmla="*/ 7229474 h 7229474"/>
              <a:gd name="connsiteX5" fmla="*/ 0 w 7716923"/>
              <a:gd name="connsiteY5" fmla="*/ 7115174 h 7229474"/>
              <a:gd name="connsiteX0" fmla="*/ 0 w 7659773"/>
              <a:gd name="connsiteY0" fmla="*/ 7191374 h 7229474"/>
              <a:gd name="connsiteX1" fmla="*/ 6320256 w 7659773"/>
              <a:gd name="connsiteY1" fmla="*/ 107950 h 7229474"/>
              <a:gd name="connsiteX2" fmla="*/ 7659773 w 7659773"/>
              <a:gd name="connsiteY2" fmla="*/ 0 h 7229474"/>
              <a:gd name="connsiteX3" fmla="*/ 7621673 w 7659773"/>
              <a:gd name="connsiteY3" fmla="*/ 4673601 h 7229474"/>
              <a:gd name="connsiteX4" fmla="*/ 5416217 w 7659773"/>
              <a:gd name="connsiteY4" fmla="*/ 7229474 h 7229474"/>
              <a:gd name="connsiteX5" fmla="*/ 0 w 7659773"/>
              <a:gd name="connsiteY5" fmla="*/ 7191374 h 7229474"/>
              <a:gd name="connsiteX0" fmla="*/ 0 w 7659773"/>
              <a:gd name="connsiteY0" fmla="*/ 7191374 h 7400924"/>
              <a:gd name="connsiteX1" fmla="*/ 6320256 w 7659773"/>
              <a:gd name="connsiteY1" fmla="*/ 107950 h 7400924"/>
              <a:gd name="connsiteX2" fmla="*/ 7659773 w 7659773"/>
              <a:gd name="connsiteY2" fmla="*/ 0 h 7400924"/>
              <a:gd name="connsiteX3" fmla="*/ 7621673 w 7659773"/>
              <a:gd name="connsiteY3" fmla="*/ 4673601 h 7400924"/>
              <a:gd name="connsiteX4" fmla="*/ 5378117 w 7659773"/>
              <a:gd name="connsiteY4" fmla="*/ 7400924 h 7400924"/>
              <a:gd name="connsiteX5" fmla="*/ 0 w 7659773"/>
              <a:gd name="connsiteY5" fmla="*/ 7191374 h 7400924"/>
              <a:gd name="connsiteX0" fmla="*/ 0 w 7659773"/>
              <a:gd name="connsiteY0" fmla="*/ 7191374 h 7419974"/>
              <a:gd name="connsiteX1" fmla="*/ 6320256 w 7659773"/>
              <a:gd name="connsiteY1" fmla="*/ 107950 h 7419974"/>
              <a:gd name="connsiteX2" fmla="*/ 7659773 w 7659773"/>
              <a:gd name="connsiteY2" fmla="*/ 0 h 7419974"/>
              <a:gd name="connsiteX3" fmla="*/ 7621673 w 7659773"/>
              <a:gd name="connsiteY3" fmla="*/ 4673601 h 7419974"/>
              <a:gd name="connsiteX4" fmla="*/ 5263817 w 7659773"/>
              <a:gd name="connsiteY4" fmla="*/ 7419974 h 7419974"/>
              <a:gd name="connsiteX5" fmla="*/ 0 w 7659773"/>
              <a:gd name="connsiteY5" fmla="*/ 7191374 h 74199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945523 w 7983623"/>
              <a:gd name="connsiteY3" fmla="*/ 46736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831223 w 7983623"/>
              <a:gd name="connsiteY3" fmla="*/ 48641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831223"/>
              <a:gd name="connsiteY0" fmla="*/ 7426324 h 7426324"/>
              <a:gd name="connsiteX1" fmla="*/ 6644106 w 7831223"/>
              <a:gd name="connsiteY1" fmla="*/ 0 h 7426324"/>
              <a:gd name="connsiteX2" fmla="*/ 7793123 w 7831223"/>
              <a:gd name="connsiteY2" fmla="*/ 82550 h 7426324"/>
              <a:gd name="connsiteX3" fmla="*/ 7831223 w 7831223"/>
              <a:gd name="connsiteY3" fmla="*/ 4756151 h 7426324"/>
              <a:gd name="connsiteX4" fmla="*/ 5587667 w 7831223"/>
              <a:gd name="connsiteY4" fmla="*/ 7312024 h 7426324"/>
              <a:gd name="connsiteX5" fmla="*/ 0 w 7831223"/>
              <a:gd name="connsiteY5" fmla="*/ 7426324 h 7426324"/>
              <a:gd name="connsiteX0" fmla="*/ 0 w 7831223"/>
              <a:gd name="connsiteY0" fmla="*/ 7343774 h 7343774"/>
              <a:gd name="connsiteX1" fmla="*/ 6548856 w 7831223"/>
              <a:gd name="connsiteY1" fmla="*/ 1270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778167 w 7831223"/>
              <a:gd name="connsiteY4" fmla="*/ 6962774 h 7343774"/>
              <a:gd name="connsiteX5" fmla="*/ 0 w 7831223"/>
              <a:gd name="connsiteY5" fmla="*/ 7343774 h 7343774"/>
              <a:gd name="connsiteX0" fmla="*/ 0 w 7501023"/>
              <a:gd name="connsiteY0" fmla="*/ 6988174 h 6988174"/>
              <a:gd name="connsiteX1" fmla="*/ 6244056 w 7501023"/>
              <a:gd name="connsiteY1" fmla="*/ 0 h 6988174"/>
              <a:gd name="connsiteX2" fmla="*/ 7462923 w 7501023"/>
              <a:gd name="connsiteY2" fmla="*/ 0 h 6988174"/>
              <a:gd name="connsiteX3" fmla="*/ 7501023 w 7501023"/>
              <a:gd name="connsiteY3" fmla="*/ 4673601 h 6988174"/>
              <a:gd name="connsiteX4" fmla="*/ 5447967 w 7501023"/>
              <a:gd name="connsiteY4" fmla="*/ 6962774 h 6988174"/>
              <a:gd name="connsiteX5" fmla="*/ 0 w 7501023"/>
              <a:gd name="connsiteY5" fmla="*/ 6988174 h 6988174"/>
              <a:gd name="connsiteX0" fmla="*/ 0 w 7506466"/>
              <a:gd name="connsiteY0" fmla="*/ 6988174 h 6988174"/>
              <a:gd name="connsiteX1" fmla="*/ 6244056 w 7506466"/>
              <a:gd name="connsiteY1" fmla="*/ 0 h 6988174"/>
              <a:gd name="connsiteX2" fmla="*/ 7506466 w 7506466"/>
              <a:gd name="connsiteY2" fmla="*/ 0 h 6988174"/>
              <a:gd name="connsiteX3" fmla="*/ 7501023 w 7506466"/>
              <a:gd name="connsiteY3" fmla="*/ 4673601 h 6988174"/>
              <a:gd name="connsiteX4" fmla="*/ 5447967 w 7506466"/>
              <a:gd name="connsiteY4" fmla="*/ 6962774 h 6988174"/>
              <a:gd name="connsiteX5" fmla="*/ 0 w 7506466"/>
              <a:gd name="connsiteY5" fmla="*/ 6988174 h 6988174"/>
              <a:gd name="connsiteX0" fmla="*/ 0 w 7506466"/>
              <a:gd name="connsiteY0" fmla="*/ 6988174 h 7006317"/>
              <a:gd name="connsiteX1" fmla="*/ 6244056 w 7506466"/>
              <a:gd name="connsiteY1" fmla="*/ 0 h 7006317"/>
              <a:gd name="connsiteX2" fmla="*/ 7506466 w 7506466"/>
              <a:gd name="connsiteY2" fmla="*/ 0 h 7006317"/>
              <a:gd name="connsiteX3" fmla="*/ 7501023 w 7506466"/>
              <a:gd name="connsiteY3" fmla="*/ 4673601 h 7006317"/>
              <a:gd name="connsiteX4" fmla="*/ 5360881 w 7506466"/>
              <a:gd name="connsiteY4" fmla="*/ 7006317 h 7006317"/>
              <a:gd name="connsiteX5" fmla="*/ 0 w 7506466"/>
              <a:gd name="connsiteY5" fmla="*/ 6988174 h 7006317"/>
              <a:gd name="connsiteX0" fmla="*/ 0 w 7564523"/>
              <a:gd name="connsiteY0" fmla="*/ 7046231 h 7046231"/>
              <a:gd name="connsiteX1" fmla="*/ 6302113 w 7564523"/>
              <a:gd name="connsiteY1" fmla="*/ 0 h 7046231"/>
              <a:gd name="connsiteX2" fmla="*/ 7564523 w 7564523"/>
              <a:gd name="connsiteY2" fmla="*/ 0 h 7046231"/>
              <a:gd name="connsiteX3" fmla="*/ 7559080 w 7564523"/>
              <a:gd name="connsiteY3" fmla="*/ 4673601 h 7046231"/>
              <a:gd name="connsiteX4" fmla="*/ 5418938 w 7564523"/>
              <a:gd name="connsiteY4" fmla="*/ 7006317 h 7046231"/>
              <a:gd name="connsiteX5" fmla="*/ 0 w 7564523"/>
              <a:gd name="connsiteY5" fmla="*/ 7046231 h 7046231"/>
              <a:gd name="connsiteX0" fmla="*/ 0 w 7564523"/>
              <a:gd name="connsiteY0" fmla="*/ 7046231 h 7049860"/>
              <a:gd name="connsiteX1" fmla="*/ 6302113 w 7564523"/>
              <a:gd name="connsiteY1" fmla="*/ 0 h 7049860"/>
              <a:gd name="connsiteX2" fmla="*/ 7564523 w 7564523"/>
              <a:gd name="connsiteY2" fmla="*/ 0 h 7049860"/>
              <a:gd name="connsiteX3" fmla="*/ 7559080 w 7564523"/>
              <a:gd name="connsiteY3" fmla="*/ 4673601 h 7049860"/>
              <a:gd name="connsiteX4" fmla="*/ 5389909 w 7564523"/>
              <a:gd name="connsiteY4" fmla="*/ 7049860 h 7049860"/>
              <a:gd name="connsiteX5" fmla="*/ 0 w 7564523"/>
              <a:gd name="connsiteY5" fmla="*/ 7046231 h 704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4523" h="7049860">
                <a:moveTo>
                  <a:pt x="0" y="7046231"/>
                </a:moveTo>
                <a:lnTo>
                  <a:pt x="6302113" y="0"/>
                </a:lnTo>
                <a:lnTo>
                  <a:pt x="7564523" y="0"/>
                </a:lnTo>
                <a:cubicBezTo>
                  <a:pt x="7562709" y="1557867"/>
                  <a:pt x="7560894" y="3115734"/>
                  <a:pt x="7559080" y="4673601"/>
                </a:cubicBezTo>
                <a:lnTo>
                  <a:pt x="5389909" y="7049860"/>
                </a:lnTo>
                <a:lnTo>
                  <a:pt x="0" y="7046231"/>
                </a:lnTo>
                <a:close/>
              </a:path>
            </a:pathLst>
          </a:custGeom>
          <a:solidFill>
            <a:srgbClr val="D5581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6563805" y="4865815"/>
            <a:ext cx="4812192" cy="1380685"/>
          </a:xfrm>
          <a:prstGeom prst="rect">
            <a:avLst/>
          </a:prstGeom>
        </p:spPr>
        <p:txBody>
          <a:bodyPr lIns="0" tIns="0" rIns="0" bIns="54395" anchor="t"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42" b="1" dirty="0">
                <a:ln w="1905"/>
                <a:solidFill>
                  <a:schemeClr val="bg1"/>
                </a:solidFill>
                <a:latin typeface="Arial"/>
                <a:ea typeface="Segoe UI" panose="020B0502040204020203" pitchFamily="34" charset="0"/>
                <a:cs typeface="Arial"/>
              </a:rPr>
              <a:t>Crime Insurance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620" y="1850000"/>
            <a:ext cx="2656731" cy="17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80183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8813" y="233045"/>
            <a:ext cx="23901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454" b="1">
                <a:latin typeface="Segoe UI Semibold" panose="020B0702040204020203" pitchFamily="34" charset="0"/>
                <a:ea typeface="+mj-ea"/>
                <a:cs typeface="BrowalliaUPC" panose="020B0604020202020204" pitchFamily="34" charset="-34"/>
              </a:defRPr>
            </a:lvl1pPr>
          </a:lstStyle>
          <a:p>
            <a:r>
              <a:rPr lang="en-US" altLang="en-US" dirty="0"/>
              <a:t> Objectives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404829" y="1552133"/>
            <a:ext cx="8879998" cy="483730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Understand Commercial Crime Insurance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Study the crime related loss exposures arising out of business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Understand the insuring agreements under commercial crime policy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Study the commercial crime limits and deductibles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Study the exclusions under the policy</a:t>
            </a:r>
          </a:p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579" b="1" dirty="0">
              <a:solidFill>
                <a:schemeClr val="accent2">
                  <a:lumMod val="75000"/>
                </a:schemeClr>
              </a:solidFill>
              <a:latin typeface="Segoe UI Light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sz="1579" b="1" dirty="0">
              <a:solidFill>
                <a:srgbClr val="C00000"/>
              </a:solidFill>
              <a:latin typeface="Segoe UI Light" panose="020B0502040204020203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endParaRPr lang="en-US" sz="1579" b="1" dirty="0">
              <a:solidFill>
                <a:srgbClr val="C00000"/>
              </a:solidFill>
              <a:latin typeface="Segoe UI Light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891" y="3502318"/>
            <a:ext cx="2205867" cy="146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67108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34211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Crime Insurance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161390"/>
            <a:ext cx="11227779" cy="531198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  <a:latin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Insurance that provides coverage against crime by employees or external entities to protect businesses against financial Loss. It includes the following: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Money and securities against numerous perils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Property other than money and securities against crime perils such as employee theft, robbery, theft by outsiders and extortion</a:t>
            </a:r>
          </a:p>
          <a:p>
            <a:pPr lvl="1"/>
            <a:endParaRPr lang="en-US" sz="1600" dirty="0">
              <a:solidFill>
                <a:prstClr val="black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black"/>
                </a:solidFill>
              </a:rPr>
              <a:t>An organization’s property is exposure to numerous crime related loss exposures: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Robbery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Burglary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Forgery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card fraud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Computer fraud</a:t>
            </a:r>
            <a:endParaRPr lang="en-US" sz="1600" dirty="0">
              <a:solidFill>
                <a:prstClr val="black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It is issued in two 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Discovery Form: </a:t>
            </a:r>
            <a:r>
              <a:rPr lang="en-US" sz="1600" dirty="0"/>
              <a:t>Covers losses discovered during policy period even </a:t>
            </a:r>
            <a:r>
              <a:rPr lang="en-US" sz="1600" b="1" dirty="0"/>
              <a:t>though they may have occurred before the policy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Loss Sustained Form: </a:t>
            </a:r>
            <a:r>
              <a:rPr lang="en-US" sz="1600" dirty="0"/>
              <a:t>Covers losses actually sustained during the policy period and </a:t>
            </a:r>
            <a:r>
              <a:rPr lang="en-US" sz="1600" b="1" dirty="0"/>
              <a:t>discovered no later than one year after policy expiration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772" y="2656549"/>
            <a:ext cx="2700675" cy="194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8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8038675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Crime Insurance - Insuring Agreements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321042"/>
            <a:ext cx="11227779" cy="564581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insuring agreements include:</a:t>
            </a:r>
          </a:p>
          <a:p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Employee theft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“Theft”  of “money”, “securities” and “other property” committed by an “employee” in the territory of US or temporarily outside for 90 days “Forgery” by an employee is also covered</a:t>
            </a:r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Forgery or alteration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“Forgery” and alteration of checks, drafts etc. drawn by the insured or his agent anywhere in the world. Forgery by an employee is excluded 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Inside the premises – Theft of money and securities</a:t>
            </a:r>
            <a:r>
              <a:rPr lang="en-US" sz="1600" dirty="0">
                <a:solidFill>
                  <a:prstClr val="black"/>
                </a:solidFill>
              </a:rPr>
              <a:t>: “Theft”, disappearance or destruction of money &amp; securities, damage to the premises, damage or loss to locked safe, vaults because of the thief’s presence inside the premises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Inside the premises – Robbery or Safe burglary of other property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Loss due to actual or attempted “robbery” of a “custodian” to other tangible property inside the premises, damages to the locked safe, vaults inside the premises and also the damage to the premises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0476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014980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Insuring Agreements </a:t>
            </a:r>
            <a:r>
              <a:rPr lang="en-IN" sz="3454" b="1" dirty="0" err="1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321042"/>
            <a:ext cx="11227779" cy="564581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Outside the premises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“Theft”, disappearance &amp; destruction of “money” and “securities”  and actual or attempted “robbery” of “other property” outside the premises under the custody of a messenger or an armored car inside the territories of the US</a:t>
            </a:r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Computer and funds transfer fraud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Usage of computer to fraudulently cause a transfer of “money”, “securities” and “other property” and fraudulent instruction directing the financial institution to debit “money” and “securities” from the insured’s account anywhere in the world </a:t>
            </a:r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Money orders and counterfeit money </a:t>
            </a:r>
            <a:r>
              <a:rPr lang="en-US" sz="1600" dirty="0"/>
              <a:t>- </a:t>
            </a:r>
            <a:r>
              <a:rPr lang="en-US" sz="1600" dirty="0">
                <a:solidFill>
                  <a:prstClr val="black"/>
                </a:solidFill>
              </a:rPr>
              <a:t>Acceptance of money orders, counterfeit money under good-faith within the territory of the US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4435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8204490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Crime Insurance – Limits and Deductible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335562"/>
            <a:ext cx="11227779" cy="5166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Limits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Separate limits may apply for each insuring agreement. If a loss is covered in more than one insuring agreement, the insurer will pay no more than the highest limit of the insuring agreements that apply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An “occurrence” includes an individual act, the combined total of all separate acts or a series of acts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Payment is made per occurrence basis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Special limits of insurance is provided for :</a:t>
            </a:r>
          </a:p>
          <a:p>
            <a:pPr marL="1143000" lvl="2" indent="-228600">
              <a:buAutoNum type="arabicPeriod"/>
            </a:pPr>
            <a:r>
              <a:rPr lang="en-US" sz="1600" dirty="0"/>
              <a:t>Precious metals, stone, pearls furs</a:t>
            </a:r>
          </a:p>
          <a:p>
            <a:pPr marL="1143000" lvl="2" indent="-228600">
              <a:buAutoNum type="arabicPeriod"/>
            </a:pPr>
            <a:r>
              <a:rPr lang="en-US" sz="1600" dirty="0"/>
              <a:t>Manuscripts, drawings or records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Inside the premises – robbery and safe burglary of other property </a:t>
            </a:r>
            <a:r>
              <a:rPr lang="en-US" sz="1600" dirty="0"/>
              <a:t>- </a:t>
            </a:r>
            <a:r>
              <a:rPr lang="en-US" sz="1600" b="1" dirty="0"/>
              <a:t>$ 5,000 per occurrence </a:t>
            </a:r>
            <a:r>
              <a:rPr lang="en-US" sz="1600" dirty="0"/>
              <a:t>for 1 and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Outside the premises </a:t>
            </a:r>
            <a:r>
              <a:rPr lang="en-US" sz="1600" dirty="0"/>
              <a:t>- </a:t>
            </a:r>
            <a:r>
              <a:rPr lang="en-US" sz="1600" b="1" dirty="0"/>
              <a:t>$ 5,000 per occurrence </a:t>
            </a:r>
            <a:r>
              <a:rPr lang="en-US" sz="1600" dirty="0"/>
              <a:t>for 1 and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Computer and funds transfer fraud coverage </a:t>
            </a:r>
            <a:r>
              <a:rPr lang="en-US" sz="1600" dirty="0"/>
              <a:t>- </a:t>
            </a:r>
            <a:r>
              <a:rPr lang="en-US" sz="1600" b="1" dirty="0"/>
              <a:t>$ 5,000 per occurrence </a:t>
            </a:r>
            <a:r>
              <a:rPr lang="en-US" sz="1600" dirty="0"/>
              <a:t>for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Deductible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Loss will be paid only for the amount in excess of deductible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420" y="2571976"/>
            <a:ext cx="3249253" cy="205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6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41970"/>
            <a:ext cx="5890780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Crime Insurance - Exclusions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7559" y="1536866"/>
            <a:ext cx="12168957" cy="579820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Exclusions</a:t>
            </a:r>
          </a:p>
          <a:p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General Exclusions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Acts committed by you, your partners and members </a:t>
            </a:r>
            <a:r>
              <a:rPr lang="en-US" sz="1600" dirty="0">
                <a:solidFill>
                  <a:prstClr val="black"/>
                </a:solidFill>
              </a:rPr>
              <a:t>– Excludes theft or dishonest act committed by named insured, his partners or members whether acting in collusion or with other members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Acts committed known to you prior to the policy period </a:t>
            </a:r>
            <a:r>
              <a:rPr lang="en-US" sz="1600" dirty="0">
                <a:solidFill>
                  <a:prstClr val="black"/>
                </a:solidFill>
              </a:rPr>
              <a:t>– Excludes if the act by the employee was known to named insured his partner/members prior to the policy effective date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Indirect losses </a:t>
            </a:r>
            <a:r>
              <a:rPr lang="en-US" sz="1600" dirty="0">
                <a:solidFill>
                  <a:prstClr val="black"/>
                </a:solidFill>
              </a:rPr>
              <a:t>– Excludes losses of e.g. business income loss, liability payments, expense to establish the amount of loss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Government action </a:t>
            </a:r>
            <a:r>
              <a:rPr lang="en-US" sz="1600" dirty="0">
                <a:solidFill>
                  <a:prstClr val="black"/>
                </a:solidFill>
              </a:rPr>
              <a:t>– Excludes loss from the seizure or destruction of property by order of government authority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Nuclear hazard </a:t>
            </a:r>
            <a:r>
              <a:rPr lang="en-US" sz="1600" dirty="0">
                <a:solidFill>
                  <a:prstClr val="black"/>
                </a:solidFill>
              </a:rPr>
              <a:t>– Excludes losses by nuclear reaction, radiation or radioactive contamination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Pollution</a:t>
            </a:r>
            <a:r>
              <a:rPr lang="en-US" sz="1600" dirty="0">
                <a:solidFill>
                  <a:prstClr val="black"/>
                </a:solidFill>
              </a:rPr>
              <a:t> – Excludes the discharge, dispersal, seepage, migration, release or escape solid, liquid or gaseous contaminant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War and military action</a:t>
            </a:r>
          </a:p>
        </p:txBody>
      </p:sp>
    </p:spTree>
    <p:extLst>
      <p:ext uri="{BB962C8B-B14F-4D97-AF65-F5344CB8AC3E}">
        <p14:creationId xmlns:p14="http://schemas.microsoft.com/office/powerpoint/2010/main" val="230665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3867084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Exclusions </a:t>
            </a:r>
            <a:r>
              <a:rPr lang="en-IN" sz="3454" b="1" dirty="0" err="1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7559" y="1563370"/>
            <a:ext cx="12168957" cy="579820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Employee Theft</a:t>
            </a:r>
            <a:endParaRPr lang="en-US" sz="1600" dirty="0">
              <a:solidFill>
                <a:prstClr val="black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Inventory shortages </a:t>
            </a:r>
            <a:r>
              <a:rPr lang="en-US" sz="1600" dirty="0">
                <a:solidFill>
                  <a:prstClr val="black"/>
                </a:solidFill>
              </a:rPr>
              <a:t>– Excludes loss that depends on inventory or profit-and-loss calculations to prove either the existence or the amount of loss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Trading</a:t>
            </a:r>
            <a:r>
              <a:rPr lang="en-US" sz="1600" dirty="0">
                <a:solidFill>
                  <a:prstClr val="black"/>
                </a:solidFill>
              </a:rPr>
              <a:t> – Excludes an employee’s unauthorized trading in stocks, bonds etc. from the named insured’s account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Warehouse receipts </a:t>
            </a:r>
            <a:r>
              <a:rPr lang="en-US" sz="1600" dirty="0">
                <a:solidFill>
                  <a:prstClr val="black"/>
                </a:solidFill>
              </a:rPr>
              <a:t>– Excludes loss resulting from an employee’s fraudulent or dishonest signing or issuing a warehouse receipt</a:t>
            </a:r>
          </a:p>
          <a:p>
            <a:pPr lvl="2"/>
            <a:endParaRPr lang="en-US" sz="1600" dirty="0">
              <a:solidFill>
                <a:prstClr val="black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Inside and Outside the Premises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Arithmetic errors and omissions </a:t>
            </a:r>
            <a:r>
              <a:rPr lang="en-US" sz="1600" dirty="0">
                <a:solidFill>
                  <a:prstClr val="black"/>
                </a:solidFill>
              </a:rPr>
              <a:t>– Excludes loss resulting from arithmetic errors and omissions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Fire</a:t>
            </a:r>
            <a:r>
              <a:rPr lang="en-US" sz="1600" dirty="0">
                <a:solidFill>
                  <a:prstClr val="black"/>
                </a:solidFill>
              </a:rPr>
              <a:t> – Excludes loss caused by fire despite its cause. Although loss by fire to safe or vault is covered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Motor vehicles or equipment </a:t>
            </a:r>
            <a:r>
              <a:rPr lang="en-US" sz="1600" dirty="0">
                <a:solidFill>
                  <a:prstClr val="black"/>
                </a:solidFill>
              </a:rPr>
              <a:t>– Excludes loss caused to motor vehicles or equipment which is better covered under BACF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Vandalism</a:t>
            </a:r>
            <a:r>
              <a:rPr lang="en-US" sz="1600" dirty="0">
                <a:solidFill>
                  <a:prstClr val="black"/>
                </a:solidFill>
              </a:rPr>
              <a:t> – Excludes loss caused by an act of vandalism or malicious mischief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prstClr val="black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Computer and Funds Transfer Fraud</a:t>
            </a:r>
            <a:endParaRPr lang="en-US" sz="1600" dirty="0">
              <a:solidFill>
                <a:prstClr val="black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Authorized access, fraudulent instructions and credit card transactions</a:t>
            </a:r>
          </a:p>
        </p:txBody>
      </p:sp>
    </p:spTree>
    <p:extLst>
      <p:ext uri="{BB962C8B-B14F-4D97-AF65-F5344CB8AC3E}">
        <p14:creationId xmlns:p14="http://schemas.microsoft.com/office/powerpoint/2010/main" val="1542688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9061391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ISO Commercial Crime – Sample Documents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39926" y="3836509"/>
            <a:ext cx="4017605" cy="404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41724" y="5383701"/>
            <a:ext cx="4695990" cy="404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/>
            <a:r>
              <a:rPr lang="en-US" sz="1600" dirty="0">
                <a:solidFill>
                  <a:prstClr val="black"/>
                </a:solidFill>
              </a:rPr>
              <a:t>Commercial Crime Policy – Declarations Page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890059" y="2994996"/>
            <a:ext cx="4017605" cy="404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38267" y="2994995"/>
            <a:ext cx="4521187" cy="404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/>
            <a:r>
              <a:rPr lang="en-US" sz="1600" dirty="0">
                <a:solidFill>
                  <a:prstClr val="black"/>
                </a:solidFill>
              </a:rPr>
              <a:t>Commercial Crime Coverage (Discovery Form)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189719" y="2994996"/>
            <a:ext cx="5094507" cy="404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/>
            <a:r>
              <a:rPr lang="en-US" sz="1600" dirty="0">
                <a:solidFill>
                  <a:prstClr val="black"/>
                </a:solidFill>
              </a:rPr>
              <a:t>Commercial Crime Coverage (Loss-Sustained Form)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90946"/>
              </p:ext>
            </p:extLst>
          </p:nvPr>
        </p:nvGraphicFramePr>
        <p:xfrm>
          <a:off x="2441661" y="184895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4" imgW="914400" imgH="771480" progId="AcroExch.Document.11">
                  <p:embed/>
                </p:oleObj>
              </mc:Choice>
              <mc:Fallback>
                <p:oleObj name="Acrobat Document" showAsIcon="1" r:id="rId4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1661" y="184895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256596"/>
              </p:ext>
            </p:extLst>
          </p:nvPr>
        </p:nvGraphicFramePr>
        <p:xfrm>
          <a:off x="5732519" y="403860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6" imgW="914400" imgH="771480" progId="AcroExch.Document.11">
                  <p:embed/>
                </p:oleObj>
              </mc:Choice>
              <mc:Fallback>
                <p:oleObj name="Acrobat Document" showAsIcon="1" r:id="rId6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32519" y="403860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897474"/>
              </p:ext>
            </p:extLst>
          </p:nvPr>
        </p:nvGraphicFramePr>
        <p:xfrm>
          <a:off x="8080514" y="180919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8" imgW="914400" imgH="771480" progId="AcroExch.Document.11">
                  <p:embed/>
                </p:oleObj>
              </mc:Choice>
              <mc:Fallback>
                <p:oleObj name="Acrobat Document" showAsIcon="1" r:id="rId8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80514" y="180919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753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9274" y="3039414"/>
            <a:ext cx="2164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2722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41087d73-5bfe-4c6e-a130-3d602495565a" ContentTypeId="0x010100A9C68CA7C7CB9747850736716ABD16DF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Contributors xmlns="09339d3a-aaa0-497d-ae73-d8a5832d420d">
      <UserInfo>
        <DisplayName>Alok Bharati</DisplayName>
        <AccountId>26</AccountId>
        <AccountType/>
      </UserInfo>
    </Contributors>
    <SubCategory xmlns="09339d3a-aaa0-497d-ae73-d8a5832d420d">Best Practice</SubCategory>
    <Tags xmlns="09339d3a-aaa0-497d-ae73-d8a5832d420d">Commercial Crime Documents</Tag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VIKI Document" ma:contentTypeID="0x010100A9C68CA7C7CB9747850736716ABD16DF00BE1DFF25D8869449A28818D1AF9444E1" ma:contentTypeVersion="21" ma:contentTypeDescription="" ma:contentTypeScope="" ma:versionID="baf1461cfb308eef15c4ebba4c21e5c2">
  <xsd:schema xmlns:xsd="http://www.w3.org/2001/XMLSchema" xmlns:xs="http://www.w3.org/2001/XMLSchema" xmlns:p="http://schemas.microsoft.com/office/2006/metadata/properties" xmlns:ns2="09339d3a-aaa0-497d-ae73-d8a5832d420d" xmlns:ns3="1b0447fd-b4de-47d5-99cd-696b41a805aa" xmlns:ns4="54644d9b-790a-4fc8-9e5d-73cde5ed7352" targetNamespace="http://schemas.microsoft.com/office/2006/metadata/properties" ma:root="true" ma:fieldsID="784142dde4d3225154bf345b3c25ab1a" ns2:_="" ns3:_="" ns4:_="">
    <xsd:import namespace="09339d3a-aaa0-497d-ae73-d8a5832d420d"/>
    <xsd:import namespace="1b0447fd-b4de-47d5-99cd-696b41a805aa"/>
    <xsd:import namespace="54644d9b-790a-4fc8-9e5d-73cde5ed7352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Departments"/>
                <xsd:element ref="ns2:SubCategory"/>
                <xsd:element ref="ns2:Tags"/>
                <xsd:element ref="ns2:Contributors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Departments" ma:index="9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0" ma:displayName="SubCategory" ma:format="Dropdown" ma:internalName="SubCategory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1" ma:displayName="Tags" ma:internalName="Tags">
      <xsd:simpleType>
        <xsd:restriction base="dms:Text">
          <xsd:maxLength value="255"/>
        </xsd:restriction>
      </xsd:simpleType>
    </xsd:element>
    <xsd:element name="Contributors" ma:index="12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447fd-b4de-47d5-99cd-696b41a805aa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44d9b-790a-4fc8-9e5d-73cde5ed735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9A1EA4-906D-4D3C-A1A7-D02F007D782C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5A70D9A0-F88E-486B-8D43-43CD84CE099C}">
  <ds:schemaRefs>
    <ds:schemaRef ds:uri="http://schemas.microsoft.com/office/2006/metadata/properties"/>
    <ds:schemaRef ds:uri="http://schemas.microsoft.com/office/infopath/2007/PartnerControls"/>
    <ds:schemaRef ds:uri="09339d3a-aaa0-497d-ae73-d8a5832d420d"/>
  </ds:schemaRefs>
</ds:datastoreItem>
</file>

<file path=customXml/itemProps3.xml><?xml version="1.0" encoding="utf-8"?>
<ds:datastoreItem xmlns:ds="http://schemas.openxmlformats.org/officeDocument/2006/customXml" ds:itemID="{B00CFDB4-BAB1-47F0-8C6E-1C76C940418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8ADB101-6D5A-40AF-9584-E5D2B68B09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339d3a-aaa0-497d-ae73-d8a5832d420d"/>
    <ds:schemaRef ds:uri="1b0447fd-b4de-47d5-99cd-696b41a805aa"/>
    <ds:schemaRef ds:uri="54644d9b-790a-4fc8-9e5d-73cde5ed73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942</Words>
  <Application>Microsoft Office PowerPoint</Application>
  <PresentationFormat>Widescreen</PresentationFormat>
  <Paragraphs>100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Home</cp:lastModifiedBy>
  <cp:revision>339</cp:revision>
  <dcterms:created xsi:type="dcterms:W3CDTF">2017-04-19T10:35:35Z</dcterms:created>
  <dcterms:modified xsi:type="dcterms:W3CDTF">2025-02-12T07:14:19Z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0x010100A9C68CA7C7CB9747850736716ABD16DF00BE1DFF25D8869449A28818D1AF9444E1</vt:lpwstr>
  </property>
</Properties>
</file>
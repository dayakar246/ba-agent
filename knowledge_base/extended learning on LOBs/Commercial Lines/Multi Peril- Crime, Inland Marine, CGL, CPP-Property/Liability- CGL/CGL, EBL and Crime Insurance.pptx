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4.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Slides/notesSlide7.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notesSlides/notesSlide4.xml" ContentType="application/vnd.openxmlformats-officedocument.presentationml.notesSlide+xml"/>
  <Override PartName="/ppt/slideLayouts/slideLayout2.xml" ContentType="application/vnd.openxmlformats-officedocument.presentationml.slideLayout+xml"/>
  <Override PartName="/ppt/notesSlides/notesSlide3.xml" ContentType="application/vnd.openxmlformats-officedocument.presentationml.notesSlide+xml"/>
  <Override PartName="/ppt/slideLayouts/slideLayout1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318" r:id="rId4"/>
    <p:sldId id="350" r:id="rId5"/>
    <p:sldId id="351" r:id="rId6"/>
    <p:sldId id="323" r:id="rId7"/>
    <p:sldId id="328" r:id="rId8"/>
    <p:sldId id="327" r:id="rId9"/>
    <p:sldId id="352" r:id="rId10"/>
    <p:sldId id="353" r:id="rId11"/>
    <p:sldId id="354" r:id="rId12"/>
    <p:sldId id="344" r:id="rId13"/>
    <p:sldId id="345" r:id="rId14"/>
    <p:sldId id="349" r:id="rId15"/>
    <p:sldId id="355" r:id="rId16"/>
    <p:sldId id="34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9228" autoAdjust="0"/>
  </p:normalViewPr>
  <p:slideViewPr>
    <p:cSldViewPr snapToGrid="0">
      <p:cViewPr varScale="1">
        <p:scale>
          <a:sx n="66" d="100"/>
          <a:sy n="66" d="100"/>
        </p:scale>
        <p:origin x="9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customXml" Target="../customXml/item4.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42D40-350A-43E1-AA9F-3C498A4B9741}" type="datetimeFigureOut">
              <a:rPr lang="en-IN" smtClean="0"/>
              <a:t>27-04-2017</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A17472-9B04-48B5-846F-FCD68B210CC9}" type="slidenum">
              <a:rPr lang="en-IN" smtClean="0"/>
              <a:t>‹#›</a:t>
            </a:fld>
            <a:endParaRPr lang="en-IN"/>
          </a:p>
        </p:txBody>
      </p:sp>
    </p:spTree>
    <p:extLst>
      <p:ext uri="{BB962C8B-B14F-4D97-AF65-F5344CB8AC3E}">
        <p14:creationId xmlns:p14="http://schemas.microsoft.com/office/powerpoint/2010/main" val="2989876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A17472-9B04-48B5-846F-FCD68B210CC9}" type="slidenum">
              <a:rPr lang="en-IN" smtClean="0"/>
              <a:t>9</a:t>
            </a:fld>
            <a:endParaRPr lang="en-IN"/>
          </a:p>
        </p:txBody>
      </p:sp>
    </p:spTree>
    <p:extLst>
      <p:ext uri="{BB962C8B-B14F-4D97-AF65-F5344CB8AC3E}">
        <p14:creationId xmlns:p14="http://schemas.microsoft.com/office/powerpoint/2010/main" val="886753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A17472-9B04-48B5-846F-FCD68B210CC9}" type="slidenum">
              <a:rPr lang="en-IN" smtClean="0"/>
              <a:t>10</a:t>
            </a:fld>
            <a:endParaRPr lang="en-IN"/>
          </a:p>
        </p:txBody>
      </p:sp>
    </p:spTree>
    <p:extLst>
      <p:ext uri="{BB962C8B-B14F-4D97-AF65-F5344CB8AC3E}">
        <p14:creationId xmlns:p14="http://schemas.microsoft.com/office/powerpoint/2010/main" val="3850100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A17472-9B04-48B5-846F-FCD68B210CC9}" type="slidenum">
              <a:rPr lang="en-IN" smtClean="0"/>
              <a:t>11</a:t>
            </a:fld>
            <a:endParaRPr lang="en-IN"/>
          </a:p>
        </p:txBody>
      </p:sp>
    </p:spTree>
    <p:extLst>
      <p:ext uri="{BB962C8B-B14F-4D97-AF65-F5344CB8AC3E}">
        <p14:creationId xmlns:p14="http://schemas.microsoft.com/office/powerpoint/2010/main" val="525522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A17472-9B04-48B5-846F-FCD68B210CC9}" type="slidenum">
              <a:rPr lang="en-IN" smtClean="0"/>
              <a:t>12</a:t>
            </a:fld>
            <a:endParaRPr lang="en-IN"/>
          </a:p>
        </p:txBody>
      </p:sp>
    </p:spTree>
    <p:extLst>
      <p:ext uri="{BB962C8B-B14F-4D97-AF65-F5344CB8AC3E}">
        <p14:creationId xmlns:p14="http://schemas.microsoft.com/office/powerpoint/2010/main" val="1188057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A17472-9B04-48B5-846F-FCD68B210CC9}" type="slidenum">
              <a:rPr lang="en-IN" smtClean="0"/>
              <a:t>13</a:t>
            </a:fld>
            <a:endParaRPr lang="en-IN"/>
          </a:p>
        </p:txBody>
      </p:sp>
    </p:spTree>
    <p:extLst>
      <p:ext uri="{BB962C8B-B14F-4D97-AF65-F5344CB8AC3E}">
        <p14:creationId xmlns:p14="http://schemas.microsoft.com/office/powerpoint/2010/main" val="12308709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A17472-9B04-48B5-846F-FCD68B210CC9}" type="slidenum">
              <a:rPr lang="en-IN" smtClean="0"/>
              <a:t>14</a:t>
            </a:fld>
            <a:endParaRPr lang="en-IN"/>
          </a:p>
        </p:txBody>
      </p:sp>
    </p:spTree>
    <p:extLst>
      <p:ext uri="{BB962C8B-B14F-4D97-AF65-F5344CB8AC3E}">
        <p14:creationId xmlns:p14="http://schemas.microsoft.com/office/powerpoint/2010/main" val="348960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A17472-9B04-48B5-846F-FCD68B210CC9}" type="slidenum">
              <a:rPr lang="en-IN" smtClean="0"/>
              <a:t>15</a:t>
            </a:fld>
            <a:endParaRPr lang="en-IN"/>
          </a:p>
        </p:txBody>
      </p:sp>
    </p:spTree>
    <p:extLst>
      <p:ext uri="{BB962C8B-B14F-4D97-AF65-F5344CB8AC3E}">
        <p14:creationId xmlns:p14="http://schemas.microsoft.com/office/powerpoint/2010/main" val="2734300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DDED3F3-0A49-4326-AA08-B112AB5A731D}" type="datetimeFigureOut">
              <a:rPr lang="en-IN" smtClean="0"/>
              <a:t>27-04-2017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414106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DDED3F3-0A49-4326-AA08-B112AB5A731D}" type="datetimeFigureOut">
              <a:rPr lang="en-IN" smtClean="0"/>
              <a:t>27-04-2017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251827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DDED3F3-0A49-4326-AA08-B112AB5A731D}" type="datetimeFigureOut">
              <a:rPr lang="en-IN" smtClean="0"/>
              <a:t>27-04-2017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2862499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DDED3F3-0A49-4326-AA08-B112AB5A731D}" type="datetimeFigureOut">
              <a:rPr lang="en-IN" smtClean="0"/>
              <a:t>27-04-2017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1634841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DDED3F3-0A49-4326-AA08-B112AB5A731D}" type="datetimeFigureOut">
              <a:rPr lang="en-IN" smtClean="0"/>
              <a:t>27-04-2017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1705059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DDED3F3-0A49-4326-AA08-B112AB5A731D}" type="datetimeFigureOut">
              <a:rPr lang="en-IN" smtClean="0"/>
              <a:t>27-04-2017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3591720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DED3F3-0A49-4326-AA08-B112AB5A731D}" type="datetimeFigureOut">
              <a:rPr lang="en-IN" smtClean="0"/>
              <a:t>27-04-2017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4112194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DED3F3-0A49-4326-AA08-B112AB5A731D}" type="datetimeFigureOut">
              <a:rPr lang="en-IN" smtClean="0"/>
              <a:t>27-04-2017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2537213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DED3F3-0A49-4326-AA08-B112AB5A731D}" type="datetimeFigureOut">
              <a:rPr lang="en-IN" smtClean="0"/>
              <a:t>27-04-2017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1440119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DDED3F3-0A49-4326-AA08-B112AB5A731D}" type="datetimeFigureOut">
              <a:rPr lang="en-IN" smtClean="0"/>
              <a:t>27-04-2017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86041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DDED3F3-0A49-4326-AA08-B112AB5A731D}" type="datetimeFigureOut">
              <a:rPr lang="en-IN" smtClean="0"/>
              <a:t>27-04-2017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04B65E-7617-4D89-B3AD-745233659634}" type="slidenum">
              <a:rPr lang="en-IN" smtClean="0"/>
              <a:t>‹#›</a:t>
            </a:fld>
            <a:endParaRPr lang="en-IN"/>
          </a:p>
        </p:txBody>
      </p:sp>
    </p:spTree>
    <p:extLst>
      <p:ext uri="{BB962C8B-B14F-4D97-AF65-F5344CB8AC3E}">
        <p14:creationId xmlns:p14="http://schemas.microsoft.com/office/powerpoint/2010/main" val="26170571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t>‹#›</a:t>
            </a:fld>
            <a:endParaRPr lang="en-US" sz="1776"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36297" y="195809"/>
            <a:ext cx="1297157" cy="843001"/>
          </a:xfrm>
          <a:prstGeom prst="rect">
            <a:avLst/>
          </a:prstGeom>
        </p:spPr>
      </p:pic>
    </p:spTree>
    <p:extLst>
      <p:ext uri="{BB962C8B-B14F-4D97-AF65-F5344CB8AC3E}">
        <p14:creationId xmlns:p14="http://schemas.microsoft.com/office/powerpoint/2010/main" val="202042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DED3F3-0A49-4326-AA08-B112AB5A731D}" type="datetimeFigureOut">
              <a:rPr lang="en-IN" smtClean="0"/>
              <a:t>27-04-2017</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04B65E-7617-4D89-B3AD-745233659634}" type="slidenum">
              <a:rPr lang="en-IN" smtClean="0"/>
              <a:t>‹#›</a:t>
            </a:fld>
            <a:endParaRPr lang="en-IN"/>
          </a:p>
        </p:txBody>
      </p:sp>
    </p:spTree>
    <p:extLst>
      <p:ext uri="{BB962C8B-B14F-4D97-AF65-F5344CB8AC3E}">
        <p14:creationId xmlns:p14="http://schemas.microsoft.com/office/powerpoint/2010/main" val="3677719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2762" b="12526"/>
          <a:stretch/>
        </p:blipFill>
        <p:spPr>
          <a:xfrm>
            <a:off x="-62572" y="-29764"/>
            <a:ext cx="12249003" cy="6917527"/>
          </a:xfrm>
          <a:prstGeom prst="rect">
            <a:avLst/>
          </a:prstGeom>
        </p:spPr>
      </p:pic>
      <p:pic>
        <p:nvPicPr>
          <p:cNvPr id="11" name="Picture 10"/>
          <p:cNvPicPr>
            <a:picLocks noChangeAspect="1"/>
          </p:cNvPicPr>
          <p:nvPr/>
        </p:nvPicPr>
        <p:blipFill>
          <a:blip r:embed="rId3"/>
          <a:stretch>
            <a:fillRect/>
          </a:stretch>
        </p:blipFill>
        <p:spPr>
          <a:xfrm>
            <a:off x="767124" y="6211049"/>
            <a:ext cx="3183064" cy="125317"/>
          </a:xfrm>
          <a:prstGeom prst="rect">
            <a:avLst/>
          </a:prstGeom>
        </p:spPr>
      </p:pic>
      <p:pic>
        <p:nvPicPr>
          <p:cNvPr id="12" name="Picture 11"/>
          <p:cNvPicPr>
            <a:picLocks noChangeAspect="1"/>
          </p:cNvPicPr>
          <p:nvPr/>
        </p:nvPicPr>
        <p:blipFill>
          <a:blip r:embed="rId3">
            <a:alphaModFix amt="43000"/>
          </a:blip>
          <a:stretch>
            <a:fillRect/>
          </a:stretch>
        </p:blipFill>
        <p:spPr>
          <a:xfrm>
            <a:off x="2516288" y="6361430"/>
            <a:ext cx="3183064" cy="125317"/>
          </a:xfrm>
          <a:prstGeom prst="rect">
            <a:avLst/>
          </a:prstGeom>
        </p:spPr>
      </p:pic>
      <p:sp>
        <p:nvSpPr>
          <p:cNvPr id="13" name="Parallelogram 12"/>
          <p:cNvSpPr/>
          <p:nvPr/>
        </p:nvSpPr>
        <p:spPr>
          <a:xfrm>
            <a:off x="4727494" y="-42294"/>
            <a:ext cx="7464308" cy="6956463"/>
          </a:xfrm>
          <a:custGeom>
            <a:avLst/>
            <a:gdLst>
              <a:gd name="connsiteX0" fmla="*/ 0 w 6383423"/>
              <a:gd name="connsiteY0" fmla="*/ 6950074 h 6950074"/>
              <a:gd name="connsiteX1" fmla="*/ 1595856 w 6383423"/>
              <a:gd name="connsiteY1" fmla="*/ 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75474 h 6975474"/>
              <a:gd name="connsiteX1" fmla="*/ 3665956 w 6383423"/>
              <a:gd name="connsiteY1" fmla="*/ 0 h 6975474"/>
              <a:gd name="connsiteX2" fmla="*/ 6383423 w 6383423"/>
              <a:gd name="connsiteY2" fmla="*/ 25400 h 6975474"/>
              <a:gd name="connsiteX3" fmla="*/ 4787567 w 6383423"/>
              <a:gd name="connsiteY3" fmla="*/ 6975474 h 6975474"/>
              <a:gd name="connsiteX4" fmla="*/ 0 w 6383423"/>
              <a:gd name="connsiteY4" fmla="*/ 6975474 h 6975474"/>
              <a:gd name="connsiteX0" fmla="*/ 0 w 6383423"/>
              <a:gd name="connsiteY0" fmla="*/ 6950074 h 6950074"/>
              <a:gd name="connsiteX1" fmla="*/ 4351756 w 6383423"/>
              <a:gd name="connsiteY1" fmla="*/ 1270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50074 h 6962774"/>
              <a:gd name="connsiteX1" fmla="*/ 4351756 w 6383423"/>
              <a:gd name="connsiteY1" fmla="*/ 12700 h 6962774"/>
              <a:gd name="connsiteX2" fmla="*/ 6383423 w 6383423"/>
              <a:gd name="connsiteY2" fmla="*/ 0 h 6962774"/>
              <a:gd name="connsiteX3" fmla="*/ 5587667 w 6383423"/>
              <a:gd name="connsiteY3" fmla="*/ 6962774 h 6962774"/>
              <a:gd name="connsiteX4" fmla="*/ 0 w 6383423"/>
              <a:gd name="connsiteY4" fmla="*/ 6950074 h 6962774"/>
              <a:gd name="connsiteX0" fmla="*/ 0 w 6383423"/>
              <a:gd name="connsiteY0" fmla="*/ 6950074 h 6962774"/>
              <a:gd name="connsiteX1" fmla="*/ 4351756 w 6383423"/>
              <a:gd name="connsiteY1" fmla="*/ 12700 h 6962774"/>
              <a:gd name="connsiteX2" fmla="*/ 6383423 w 6383423"/>
              <a:gd name="connsiteY2" fmla="*/ 0 h 6962774"/>
              <a:gd name="connsiteX3" fmla="*/ 5799223 w 6383423"/>
              <a:gd name="connsiteY3" fmla="*/ 4902201 h 6962774"/>
              <a:gd name="connsiteX4" fmla="*/ 5587667 w 6383423"/>
              <a:gd name="connsiteY4" fmla="*/ 6962774 h 6962774"/>
              <a:gd name="connsiteX5" fmla="*/ 0 w 6383423"/>
              <a:gd name="connsiteY5" fmla="*/ 6950074 h 6962774"/>
              <a:gd name="connsiteX0" fmla="*/ 0 w 7564523"/>
              <a:gd name="connsiteY0" fmla="*/ 6950074 h 6962774"/>
              <a:gd name="connsiteX1" fmla="*/ 4351756 w 7564523"/>
              <a:gd name="connsiteY1" fmla="*/ 12700 h 6962774"/>
              <a:gd name="connsiteX2" fmla="*/ 6383423 w 7564523"/>
              <a:gd name="connsiteY2" fmla="*/ 0 h 6962774"/>
              <a:gd name="connsiteX3" fmla="*/ 7564523 w 7564523"/>
              <a:gd name="connsiteY3" fmla="*/ 4660901 h 6962774"/>
              <a:gd name="connsiteX4" fmla="*/ 5587667 w 7564523"/>
              <a:gd name="connsiteY4" fmla="*/ 6962774 h 6962774"/>
              <a:gd name="connsiteX5" fmla="*/ 0 w 7564523"/>
              <a:gd name="connsiteY5" fmla="*/ 6950074 h 6962774"/>
              <a:gd name="connsiteX0" fmla="*/ 0 w 7602623"/>
              <a:gd name="connsiteY0" fmla="*/ 6962774 h 6975474"/>
              <a:gd name="connsiteX1" fmla="*/ 4351756 w 7602623"/>
              <a:gd name="connsiteY1" fmla="*/ 25400 h 6975474"/>
              <a:gd name="connsiteX2" fmla="*/ 7602623 w 7602623"/>
              <a:gd name="connsiteY2" fmla="*/ 0 h 6975474"/>
              <a:gd name="connsiteX3" fmla="*/ 7564523 w 7602623"/>
              <a:gd name="connsiteY3" fmla="*/ 4673601 h 6975474"/>
              <a:gd name="connsiteX4" fmla="*/ 5587667 w 7602623"/>
              <a:gd name="connsiteY4" fmla="*/ 6975474 h 6975474"/>
              <a:gd name="connsiteX5" fmla="*/ 0 w 7602623"/>
              <a:gd name="connsiteY5" fmla="*/ 6962774 h 6975474"/>
              <a:gd name="connsiteX0" fmla="*/ 0 w 7602623"/>
              <a:gd name="connsiteY0" fmla="*/ 7026274 h 7038974"/>
              <a:gd name="connsiteX1" fmla="*/ 4415256 w 7602623"/>
              <a:gd name="connsiteY1" fmla="*/ 0 h 7038974"/>
              <a:gd name="connsiteX2" fmla="*/ 7602623 w 7602623"/>
              <a:gd name="connsiteY2" fmla="*/ 63500 h 7038974"/>
              <a:gd name="connsiteX3" fmla="*/ 7564523 w 7602623"/>
              <a:gd name="connsiteY3" fmla="*/ 4737101 h 7038974"/>
              <a:gd name="connsiteX4" fmla="*/ 5587667 w 7602623"/>
              <a:gd name="connsiteY4" fmla="*/ 7038974 h 7038974"/>
              <a:gd name="connsiteX5" fmla="*/ 0 w 7602623"/>
              <a:gd name="connsiteY5" fmla="*/ 7026274 h 7038974"/>
              <a:gd name="connsiteX0" fmla="*/ 0 w 7716923"/>
              <a:gd name="connsiteY0" fmla="*/ 7178674 h 7178674"/>
              <a:gd name="connsiteX1" fmla="*/ 4529556 w 7716923"/>
              <a:gd name="connsiteY1" fmla="*/ 0 h 7178674"/>
              <a:gd name="connsiteX2" fmla="*/ 7716923 w 7716923"/>
              <a:gd name="connsiteY2" fmla="*/ 63500 h 7178674"/>
              <a:gd name="connsiteX3" fmla="*/ 7678823 w 7716923"/>
              <a:gd name="connsiteY3" fmla="*/ 4737101 h 7178674"/>
              <a:gd name="connsiteX4" fmla="*/ 5701967 w 7716923"/>
              <a:gd name="connsiteY4" fmla="*/ 7038974 h 7178674"/>
              <a:gd name="connsiteX5" fmla="*/ 0 w 7716923"/>
              <a:gd name="connsiteY5" fmla="*/ 7178674 h 7178674"/>
              <a:gd name="connsiteX0" fmla="*/ 0 w 7716923"/>
              <a:gd name="connsiteY0" fmla="*/ 7178674 h 7292974"/>
              <a:gd name="connsiteX1" fmla="*/ 4529556 w 7716923"/>
              <a:gd name="connsiteY1" fmla="*/ 0 h 7292974"/>
              <a:gd name="connsiteX2" fmla="*/ 7716923 w 7716923"/>
              <a:gd name="connsiteY2" fmla="*/ 63500 h 7292974"/>
              <a:gd name="connsiteX3" fmla="*/ 7678823 w 7716923"/>
              <a:gd name="connsiteY3" fmla="*/ 4737101 h 7292974"/>
              <a:gd name="connsiteX4" fmla="*/ 5473367 w 7716923"/>
              <a:gd name="connsiteY4" fmla="*/ 7292974 h 7292974"/>
              <a:gd name="connsiteX5" fmla="*/ 0 w 7716923"/>
              <a:gd name="connsiteY5" fmla="*/ 7178674 h 7292974"/>
              <a:gd name="connsiteX0" fmla="*/ 0 w 7716923"/>
              <a:gd name="connsiteY0" fmla="*/ 7115174 h 7229474"/>
              <a:gd name="connsiteX1" fmla="*/ 6377406 w 7716923"/>
              <a:gd name="connsiteY1" fmla="*/ 107950 h 7229474"/>
              <a:gd name="connsiteX2" fmla="*/ 7716923 w 7716923"/>
              <a:gd name="connsiteY2" fmla="*/ 0 h 7229474"/>
              <a:gd name="connsiteX3" fmla="*/ 7678823 w 7716923"/>
              <a:gd name="connsiteY3" fmla="*/ 4673601 h 7229474"/>
              <a:gd name="connsiteX4" fmla="*/ 5473367 w 7716923"/>
              <a:gd name="connsiteY4" fmla="*/ 7229474 h 7229474"/>
              <a:gd name="connsiteX5" fmla="*/ 0 w 7716923"/>
              <a:gd name="connsiteY5" fmla="*/ 7115174 h 7229474"/>
              <a:gd name="connsiteX0" fmla="*/ 0 w 7659773"/>
              <a:gd name="connsiteY0" fmla="*/ 7191374 h 7229474"/>
              <a:gd name="connsiteX1" fmla="*/ 6320256 w 7659773"/>
              <a:gd name="connsiteY1" fmla="*/ 107950 h 7229474"/>
              <a:gd name="connsiteX2" fmla="*/ 7659773 w 7659773"/>
              <a:gd name="connsiteY2" fmla="*/ 0 h 7229474"/>
              <a:gd name="connsiteX3" fmla="*/ 7621673 w 7659773"/>
              <a:gd name="connsiteY3" fmla="*/ 4673601 h 7229474"/>
              <a:gd name="connsiteX4" fmla="*/ 5416217 w 7659773"/>
              <a:gd name="connsiteY4" fmla="*/ 7229474 h 7229474"/>
              <a:gd name="connsiteX5" fmla="*/ 0 w 7659773"/>
              <a:gd name="connsiteY5" fmla="*/ 7191374 h 7229474"/>
              <a:gd name="connsiteX0" fmla="*/ 0 w 7659773"/>
              <a:gd name="connsiteY0" fmla="*/ 7191374 h 7400924"/>
              <a:gd name="connsiteX1" fmla="*/ 6320256 w 7659773"/>
              <a:gd name="connsiteY1" fmla="*/ 107950 h 7400924"/>
              <a:gd name="connsiteX2" fmla="*/ 7659773 w 7659773"/>
              <a:gd name="connsiteY2" fmla="*/ 0 h 7400924"/>
              <a:gd name="connsiteX3" fmla="*/ 7621673 w 7659773"/>
              <a:gd name="connsiteY3" fmla="*/ 4673601 h 7400924"/>
              <a:gd name="connsiteX4" fmla="*/ 5378117 w 7659773"/>
              <a:gd name="connsiteY4" fmla="*/ 7400924 h 7400924"/>
              <a:gd name="connsiteX5" fmla="*/ 0 w 7659773"/>
              <a:gd name="connsiteY5" fmla="*/ 7191374 h 7400924"/>
              <a:gd name="connsiteX0" fmla="*/ 0 w 7659773"/>
              <a:gd name="connsiteY0" fmla="*/ 7191374 h 7419974"/>
              <a:gd name="connsiteX1" fmla="*/ 6320256 w 7659773"/>
              <a:gd name="connsiteY1" fmla="*/ 107950 h 7419974"/>
              <a:gd name="connsiteX2" fmla="*/ 7659773 w 7659773"/>
              <a:gd name="connsiteY2" fmla="*/ 0 h 7419974"/>
              <a:gd name="connsiteX3" fmla="*/ 7621673 w 7659773"/>
              <a:gd name="connsiteY3" fmla="*/ 4673601 h 7419974"/>
              <a:gd name="connsiteX4" fmla="*/ 5263817 w 7659773"/>
              <a:gd name="connsiteY4" fmla="*/ 7419974 h 7419974"/>
              <a:gd name="connsiteX5" fmla="*/ 0 w 7659773"/>
              <a:gd name="connsiteY5" fmla="*/ 7191374 h 7419974"/>
              <a:gd name="connsiteX0" fmla="*/ 0 w 7983623"/>
              <a:gd name="connsiteY0" fmla="*/ 7534274 h 7534274"/>
              <a:gd name="connsiteX1" fmla="*/ 6644106 w 7983623"/>
              <a:gd name="connsiteY1" fmla="*/ 107950 h 7534274"/>
              <a:gd name="connsiteX2" fmla="*/ 7983623 w 7983623"/>
              <a:gd name="connsiteY2" fmla="*/ 0 h 7534274"/>
              <a:gd name="connsiteX3" fmla="*/ 7945523 w 7983623"/>
              <a:gd name="connsiteY3" fmla="*/ 4673601 h 7534274"/>
              <a:gd name="connsiteX4" fmla="*/ 5587667 w 7983623"/>
              <a:gd name="connsiteY4" fmla="*/ 7419974 h 7534274"/>
              <a:gd name="connsiteX5" fmla="*/ 0 w 7983623"/>
              <a:gd name="connsiteY5" fmla="*/ 7534274 h 7534274"/>
              <a:gd name="connsiteX0" fmla="*/ 0 w 7983623"/>
              <a:gd name="connsiteY0" fmla="*/ 7534274 h 7534274"/>
              <a:gd name="connsiteX1" fmla="*/ 6644106 w 7983623"/>
              <a:gd name="connsiteY1" fmla="*/ 107950 h 7534274"/>
              <a:gd name="connsiteX2" fmla="*/ 7983623 w 7983623"/>
              <a:gd name="connsiteY2" fmla="*/ 0 h 7534274"/>
              <a:gd name="connsiteX3" fmla="*/ 7831223 w 7983623"/>
              <a:gd name="connsiteY3" fmla="*/ 4864101 h 7534274"/>
              <a:gd name="connsiteX4" fmla="*/ 5587667 w 7983623"/>
              <a:gd name="connsiteY4" fmla="*/ 7419974 h 7534274"/>
              <a:gd name="connsiteX5" fmla="*/ 0 w 7983623"/>
              <a:gd name="connsiteY5" fmla="*/ 7534274 h 7534274"/>
              <a:gd name="connsiteX0" fmla="*/ 0 w 7831223"/>
              <a:gd name="connsiteY0" fmla="*/ 7426324 h 7426324"/>
              <a:gd name="connsiteX1" fmla="*/ 6644106 w 7831223"/>
              <a:gd name="connsiteY1" fmla="*/ 0 h 7426324"/>
              <a:gd name="connsiteX2" fmla="*/ 7793123 w 7831223"/>
              <a:gd name="connsiteY2" fmla="*/ 82550 h 7426324"/>
              <a:gd name="connsiteX3" fmla="*/ 7831223 w 7831223"/>
              <a:gd name="connsiteY3" fmla="*/ 4756151 h 7426324"/>
              <a:gd name="connsiteX4" fmla="*/ 5587667 w 7831223"/>
              <a:gd name="connsiteY4" fmla="*/ 7312024 h 7426324"/>
              <a:gd name="connsiteX5" fmla="*/ 0 w 7831223"/>
              <a:gd name="connsiteY5" fmla="*/ 7426324 h 7426324"/>
              <a:gd name="connsiteX0" fmla="*/ 0 w 7831223"/>
              <a:gd name="connsiteY0" fmla="*/ 7343774 h 7343774"/>
              <a:gd name="connsiteX1" fmla="*/ 6548856 w 7831223"/>
              <a:gd name="connsiteY1" fmla="*/ 1270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778167 w 7831223"/>
              <a:gd name="connsiteY4" fmla="*/ 6962774 h 7343774"/>
              <a:gd name="connsiteX5" fmla="*/ 0 w 7831223"/>
              <a:gd name="connsiteY5" fmla="*/ 7343774 h 7343774"/>
              <a:gd name="connsiteX0" fmla="*/ 0 w 7501023"/>
              <a:gd name="connsiteY0" fmla="*/ 6988174 h 6988174"/>
              <a:gd name="connsiteX1" fmla="*/ 6244056 w 7501023"/>
              <a:gd name="connsiteY1" fmla="*/ 0 h 6988174"/>
              <a:gd name="connsiteX2" fmla="*/ 7462923 w 7501023"/>
              <a:gd name="connsiteY2" fmla="*/ 0 h 6988174"/>
              <a:gd name="connsiteX3" fmla="*/ 7501023 w 7501023"/>
              <a:gd name="connsiteY3" fmla="*/ 4673601 h 6988174"/>
              <a:gd name="connsiteX4" fmla="*/ 5447967 w 7501023"/>
              <a:gd name="connsiteY4" fmla="*/ 6962774 h 6988174"/>
              <a:gd name="connsiteX5" fmla="*/ 0 w 7501023"/>
              <a:gd name="connsiteY5" fmla="*/ 6988174 h 6988174"/>
              <a:gd name="connsiteX0" fmla="*/ 0 w 7506466"/>
              <a:gd name="connsiteY0" fmla="*/ 6988174 h 6988174"/>
              <a:gd name="connsiteX1" fmla="*/ 6244056 w 7506466"/>
              <a:gd name="connsiteY1" fmla="*/ 0 h 6988174"/>
              <a:gd name="connsiteX2" fmla="*/ 7506466 w 7506466"/>
              <a:gd name="connsiteY2" fmla="*/ 0 h 6988174"/>
              <a:gd name="connsiteX3" fmla="*/ 7501023 w 7506466"/>
              <a:gd name="connsiteY3" fmla="*/ 4673601 h 6988174"/>
              <a:gd name="connsiteX4" fmla="*/ 5447967 w 7506466"/>
              <a:gd name="connsiteY4" fmla="*/ 6962774 h 6988174"/>
              <a:gd name="connsiteX5" fmla="*/ 0 w 7506466"/>
              <a:gd name="connsiteY5" fmla="*/ 6988174 h 6988174"/>
              <a:gd name="connsiteX0" fmla="*/ 0 w 7506466"/>
              <a:gd name="connsiteY0" fmla="*/ 6988174 h 7006317"/>
              <a:gd name="connsiteX1" fmla="*/ 6244056 w 7506466"/>
              <a:gd name="connsiteY1" fmla="*/ 0 h 7006317"/>
              <a:gd name="connsiteX2" fmla="*/ 7506466 w 7506466"/>
              <a:gd name="connsiteY2" fmla="*/ 0 h 7006317"/>
              <a:gd name="connsiteX3" fmla="*/ 7501023 w 7506466"/>
              <a:gd name="connsiteY3" fmla="*/ 4673601 h 7006317"/>
              <a:gd name="connsiteX4" fmla="*/ 5360881 w 7506466"/>
              <a:gd name="connsiteY4" fmla="*/ 7006317 h 7006317"/>
              <a:gd name="connsiteX5" fmla="*/ 0 w 7506466"/>
              <a:gd name="connsiteY5" fmla="*/ 6988174 h 7006317"/>
              <a:gd name="connsiteX0" fmla="*/ 0 w 7564523"/>
              <a:gd name="connsiteY0" fmla="*/ 7046231 h 7046231"/>
              <a:gd name="connsiteX1" fmla="*/ 6302113 w 7564523"/>
              <a:gd name="connsiteY1" fmla="*/ 0 h 7046231"/>
              <a:gd name="connsiteX2" fmla="*/ 7564523 w 7564523"/>
              <a:gd name="connsiteY2" fmla="*/ 0 h 7046231"/>
              <a:gd name="connsiteX3" fmla="*/ 7559080 w 7564523"/>
              <a:gd name="connsiteY3" fmla="*/ 4673601 h 7046231"/>
              <a:gd name="connsiteX4" fmla="*/ 5418938 w 7564523"/>
              <a:gd name="connsiteY4" fmla="*/ 7006317 h 7046231"/>
              <a:gd name="connsiteX5" fmla="*/ 0 w 7564523"/>
              <a:gd name="connsiteY5" fmla="*/ 7046231 h 7046231"/>
              <a:gd name="connsiteX0" fmla="*/ 0 w 7564523"/>
              <a:gd name="connsiteY0" fmla="*/ 7046231 h 7049860"/>
              <a:gd name="connsiteX1" fmla="*/ 6302113 w 7564523"/>
              <a:gd name="connsiteY1" fmla="*/ 0 h 7049860"/>
              <a:gd name="connsiteX2" fmla="*/ 7564523 w 7564523"/>
              <a:gd name="connsiteY2" fmla="*/ 0 h 7049860"/>
              <a:gd name="connsiteX3" fmla="*/ 7559080 w 7564523"/>
              <a:gd name="connsiteY3" fmla="*/ 4673601 h 7049860"/>
              <a:gd name="connsiteX4" fmla="*/ 5389909 w 7564523"/>
              <a:gd name="connsiteY4" fmla="*/ 7049860 h 7049860"/>
              <a:gd name="connsiteX5" fmla="*/ 0 w 7564523"/>
              <a:gd name="connsiteY5" fmla="*/ 7046231 h 70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64523" h="7049860">
                <a:moveTo>
                  <a:pt x="0" y="7046231"/>
                </a:moveTo>
                <a:lnTo>
                  <a:pt x="6302113" y="0"/>
                </a:lnTo>
                <a:lnTo>
                  <a:pt x="7564523" y="0"/>
                </a:lnTo>
                <a:cubicBezTo>
                  <a:pt x="7562709" y="1557867"/>
                  <a:pt x="7560894" y="3115734"/>
                  <a:pt x="7559080" y="4673601"/>
                </a:cubicBezTo>
                <a:lnTo>
                  <a:pt x="5389909" y="7049860"/>
                </a:lnTo>
                <a:lnTo>
                  <a:pt x="0" y="7046231"/>
                </a:lnTo>
                <a:close/>
              </a:path>
            </a:pathLst>
          </a:custGeom>
          <a:solidFill>
            <a:srgbClr val="D5581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76"/>
          </a:p>
        </p:txBody>
      </p:sp>
      <p:sp>
        <p:nvSpPr>
          <p:cNvPr id="16" name="Title 1"/>
          <p:cNvSpPr txBox="1">
            <a:spLocks/>
          </p:cNvSpPr>
          <p:nvPr/>
        </p:nvSpPr>
        <p:spPr>
          <a:xfrm>
            <a:off x="6219253" y="4547767"/>
            <a:ext cx="4812192" cy="1380685"/>
          </a:xfrm>
          <a:prstGeom prst="rect">
            <a:avLst/>
          </a:prstGeom>
        </p:spPr>
        <p:txBody>
          <a:bodyPr lIns="0" tIns="0" rIns="0" bIns="54395" anchor="t"/>
          <a:lstStyle>
            <a:lvl1pPr algn="ctr" rtl="0" eaLnBrk="0" fontAlgn="base" hangingPunct="0">
              <a:lnSpc>
                <a:spcPct val="90000"/>
              </a:lnSpc>
              <a:spcBef>
                <a:spcPct val="0"/>
              </a:spcBef>
              <a:spcAft>
                <a:spcPct val="0"/>
              </a:spcAft>
              <a:defRPr sz="4000" kern="1200">
                <a:solidFill>
                  <a:schemeClr val="accent4"/>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nSpc>
                <a:spcPct val="100000"/>
              </a:lnSpc>
              <a:spcBef>
                <a:spcPts val="0"/>
              </a:spcBef>
              <a:spcAft>
                <a:spcPts val="0"/>
              </a:spcAft>
              <a:defRPr/>
            </a:pPr>
            <a:r>
              <a:rPr lang="en-US" sz="4342" b="1" dirty="0" smtClean="0">
                <a:ln w="1905"/>
                <a:solidFill>
                  <a:schemeClr val="bg1"/>
                </a:solidFill>
                <a:latin typeface="Arial"/>
                <a:ea typeface="Segoe UI" panose="020B0502040204020203" pitchFamily="34" charset="0"/>
                <a:cs typeface="Arial"/>
              </a:rPr>
              <a:t>CGL, EBL &amp; Crime Insurance</a:t>
            </a:r>
            <a:endParaRPr lang="en-US" sz="4342" b="1" dirty="0">
              <a:ln w="1905"/>
              <a:solidFill>
                <a:schemeClr val="bg1"/>
              </a:solidFill>
              <a:latin typeface="Arial"/>
              <a:ea typeface="Segoe UI" panose="020B0502040204020203" pitchFamily="34" charset="0"/>
              <a:cs typeface="Arial"/>
            </a:endParaRPr>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03620" y="1850000"/>
            <a:ext cx="2656731" cy="1728144"/>
          </a:xfrm>
          <a:prstGeom prst="rect">
            <a:avLst/>
          </a:prstGeom>
        </p:spPr>
      </p:pic>
    </p:spTree>
    <p:extLst>
      <p:ext uri="{BB962C8B-B14F-4D97-AF65-F5344CB8AC3E}">
        <p14:creationId xmlns:p14="http://schemas.microsoft.com/office/powerpoint/2010/main" val="3444180183"/>
      </p:ext>
    </p:extLst>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0" name="TextBox 29"/>
          <p:cNvSpPr txBox="1"/>
          <p:nvPr/>
        </p:nvSpPr>
        <p:spPr>
          <a:xfrm>
            <a:off x="298813" y="233045"/>
            <a:ext cx="2390141" cy="623889"/>
          </a:xfrm>
          <a:prstGeom prst="rect">
            <a:avLst/>
          </a:prstGeom>
        </p:spPr>
        <p:txBody>
          <a:bodyPr wrap="none">
            <a:spAutoFit/>
          </a:bodyPr>
          <a:lstStyle>
            <a:defPPr>
              <a:defRPr lang="en-US"/>
            </a:defPPr>
            <a:lvl1pPr>
              <a:defRPr sz="3454" b="1">
                <a:latin typeface="Segoe UI Semibold" panose="020B0702040204020203" pitchFamily="34" charset="0"/>
                <a:ea typeface="+mj-ea"/>
                <a:cs typeface="BrowalliaUPC" panose="020B0604020202020204" pitchFamily="34" charset="-34"/>
              </a:defRPr>
            </a:lvl1pPr>
          </a:lstStyle>
          <a:p>
            <a:r>
              <a:rPr lang="en-US" altLang="en-US" dirty="0"/>
              <a:t> Objectives</a:t>
            </a:r>
          </a:p>
        </p:txBody>
      </p:sp>
      <p:sp>
        <p:nvSpPr>
          <p:cNvPr id="12" name="Content Placeholder 2"/>
          <p:cNvSpPr txBox="1">
            <a:spLocks/>
          </p:cNvSpPr>
          <p:nvPr/>
        </p:nvSpPr>
        <p:spPr bwMode="auto">
          <a:xfrm>
            <a:off x="298813" y="1432865"/>
            <a:ext cx="8879998" cy="4837304"/>
          </a:xfrm>
          <a:prstGeom prst="rect">
            <a:avLst/>
          </a:prstGeom>
          <a:noFill/>
          <a:ln>
            <a:miter lim="800000"/>
            <a:headEnd/>
            <a:tailEnd/>
          </a:ln>
        </p:spPr>
        <p:txBody>
          <a:bodyPr/>
          <a:lstStyle/>
          <a:p>
            <a:pPr marL="338374" indent="-338374">
              <a:spcBef>
                <a:spcPct val="20000"/>
              </a:spcBef>
              <a:buClr>
                <a:schemeClr val="tx1"/>
              </a:buClr>
              <a:buFont typeface="Wingdings" pitchFamily="2" charset="2"/>
              <a:buChar char="v"/>
              <a:defRPr/>
            </a:pPr>
            <a:r>
              <a:rPr lang="en-US" sz="1579" b="1" dirty="0" smtClean="0">
                <a:solidFill>
                  <a:schemeClr val="accent2">
                    <a:lumMod val="75000"/>
                  </a:schemeClr>
                </a:solidFill>
                <a:latin typeface="Segoe UI Light" panose="020B0502040204020203" pitchFamily="34" charset="0"/>
              </a:rPr>
              <a:t>Understand Commercial General Liability Insurance</a:t>
            </a:r>
          </a:p>
          <a:p>
            <a:pPr marL="742950" lvl="1" indent="-285750">
              <a:spcBef>
                <a:spcPct val="20000"/>
              </a:spcBef>
              <a:buClr>
                <a:schemeClr val="tx1"/>
              </a:buClr>
              <a:buFont typeface="Arial" panose="020B0604020202020204" pitchFamily="34" charset="0"/>
              <a:buChar char="•"/>
              <a:defRPr/>
            </a:pPr>
            <a:r>
              <a:rPr lang="en-US" sz="1579" b="1" dirty="0" smtClean="0">
                <a:solidFill>
                  <a:schemeClr val="accent2">
                    <a:lumMod val="75000"/>
                  </a:schemeClr>
                </a:solidFill>
                <a:latin typeface="Segoe UI Light" panose="020B0502040204020203" pitchFamily="34" charset="0"/>
              </a:rPr>
              <a:t>Understand the role and importance of CGL policy</a:t>
            </a:r>
          </a:p>
          <a:p>
            <a:pPr marL="742950" lvl="1" indent="-285750">
              <a:spcBef>
                <a:spcPct val="20000"/>
              </a:spcBef>
              <a:buClr>
                <a:schemeClr val="tx1"/>
              </a:buClr>
              <a:buFont typeface="Arial" panose="020B0604020202020204" pitchFamily="34" charset="0"/>
              <a:buChar char="•"/>
              <a:defRPr/>
            </a:pPr>
            <a:r>
              <a:rPr lang="en-US" sz="1579" b="1" dirty="0" smtClean="0">
                <a:solidFill>
                  <a:schemeClr val="accent2">
                    <a:lumMod val="75000"/>
                  </a:schemeClr>
                </a:solidFill>
                <a:latin typeface="Segoe UI Light" panose="020B0502040204020203" pitchFamily="34" charset="0"/>
              </a:rPr>
              <a:t>Study the liability loss exposures faced by businesses</a:t>
            </a:r>
          </a:p>
          <a:p>
            <a:pPr marL="742950" lvl="1" indent="-285750">
              <a:spcBef>
                <a:spcPct val="20000"/>
              </a:spcBef>
              <a:buClr>
                <a:schemeClr val="tx1"/>
              </a:buClr>
              <a:buFont typeface="Arial" panose="020B0604020202020204" pitchFamily="34" charset="0"/>
              <a:buChar char="•"/>
              <a:defRPr/>
            </a:pPr>
            <a:r>
              <a:rPr lang="en-US" sz="1579" b="1" dirty="0" smtClean="0">
                <a:solidFill>
                  <a:schemeClr val="accent2">
                    <a:lumMod val="75000"/>
                  </a:schemeClr>
                </a:solidFill>
                <a:latin typeface="Segoe UI Light" panose="020B0502040204020203" pitchFamily="34" charset="0"/>
              </a:rPr>
              <a:t>Study the coverages offered under a CGL policy</a:t>
            </a:r>
          </a:p>
          <a:p>
            <a:pPr marL="742950" lvl="1" indent="-285750">
              <a:spcBef>
                <a:spcPct val="20000"/>
              </a:spcBef>
              <a:buClr>
                <a:schemeClr val="tx1"/>
              </a:buClr>
              <a:buFont typeface="Arial" panose="020B0604020202020204" pitchFamily="34" charset="0"/>
              <a:buChar char="•"/>
              <a:defRPr/>
            </a:pPr>
            <a:r>
              <a:rPr lang="en-US" sz="1579" b="1" dirty="0">
                <a:solidFill>
                  <a:schemeClr val="accent2">
                    <a:lumMod val="75000"/>
                  </a:schemeClr>
                </a:solidFill>
                <a:latin typeface="Segoe UI Light" panose="020B0502040204020203" pitchFamily="34" charset="0"/>
              </a:rPr>
              <a:t>Study the losses excluded under the </a:t>
            </a:r>
            <a:r>
              <a:rPr lang="en-US" sz="1579" b="1" dirty="0" smtClean="0">
                <a:solidFill>
                  <a:schemeClr val="accent2">
                    <a:lumMod val="75000"/>
                  </a:schemeClr>
                </a:solidFill>
                <a:latin typeface="Segoe UI Light" panose="020B0502040204020203" pitchFamily="34" charset="0"/>
              </a:rPr>
              <a:t>policy</a:t>
            </a:r>
          </a:p>
          <a:p>
            <a:pPr marL="742950" lvl="1" indent="-285750">
              <a:spcBef>
                <a:spcPct val="20000"/>
              </a:spcBef>
              <a:buClr>
                <a:schemeClr val="tx1"/>
              </a:buClr>
              <a:buFont typeface="Arial" panose="020B0604020202020204" pitchFamily="34" charset="0"/>
              <a:buChar char="•"/>
              <a:defRPr/>
            </a:pPr>
            <a:r>
              <a:rPr lang="en-US" sz="1579" b="1" dirty="0" smtClean="0">
                <a:solidFill>
                  <a:schemeClr val="accent2">
                    <a:lumMod val="75000"/>
                  </a:schemeClr>
                </a:solidFill>
                <a:latin typeface="Segoe UI Light" panose="020B0502040204020203" pitchFamily="34" charset="0"/>
              </a:rPr>
              <a:t>Study the limits and rating factors applicable to the coverages</a:t>
            </a:r>
          </a:p>
          <a:p>
            <a:pPr lvl="1">
              <a:spcBef>
                <a:spcPct val="20000"/>
              </a:spcBef>
              <a:buClr>
                <a:schemeClr val="tx1"/>
              </a:buClr>
              <a:defRPr/>
            </a:pPr>
            <a:endParaRPr lang="en-US" sz="1579" b="1" dirty="0" smtClean="0">
              <a:solidFill>
                <a:schemeClr val="accent2">
                  <a:lumMod val="75000"/>
                </a:schemeClr>
              </a:solidFill>
              <a:latin typeface="Segoe UI Light" panose="020B0502040204020203" pitchFamily="34" charset="0"/>
            </a:endParaRPr>
          </a:p>
          <a:p>
            <a:pPr marL="285750" indent="-285750">
              <a:spcBef>
                <a:spcPct val="20000"/>
              </a:spcBef>
              <a:buClr>
                <a:schemeClr val="tx1"/>
              </a:buClr>
              <a:buFont typeface="Wingdings" panose="05000000000000000000" pitchFamily="2" charset="2"/>
              <a:buChar char="v"/>
              <a:defRPr/>
            </a:pPr>
            <a:r>
              <a:rPr lang="en-US" sz="1579" b="1" dirty="0" smtClean="0">
                <a:solidFill>
                  <a:schemeClr val="accent2">
                    <a:lumMod val="75000"/>
                  </a:schemeClr>
                </a:solidFill>
                <a:latin typeface="Segoe UI Light" panose="020B0502040204020203" pitchFamily="34" charset="0"/>
              </a:rPr>
              <a:t>Understand Employer </a:t>
            </a:r>
            <a:r>
              <a:rPr lang="en-US" sz="1579" b="1" dirty="0">
                <a:solidFill>
                  <a:schemeClr val="accent2">
                    <a:lumMod val="75000"/>
                  </a:schemeClr>
                </a:solidFill>
                <a:latin typeface="Segoe UI Light" panose="020B0502040204020203" pitchFamily="34" charset="0"/>
              </a:rPr>
              <a:t>B</a:t>
            </a:r>
            <a:r>
              <a:rPr lang="en-US" sz="1579" b="1" dirty="0" smtClean="0">
                <a:solidFill>
                  <a:schemeClr val="accent2">
                    <a:lumMod val="75000"/>
                  </a:schemeClr>
                </a:solidFill>
                <a:latin typeface="Segoe UI Light" panose="020B0502040204020203" pitchFamily="34" charset="0"/>
              </a:rPr>
              <a:t>enefit Liability Insurance</a:t>
            </a:r>
          </a:p>
          <a:p>
            <a:pPr marL="742950" lvl="1" indent="-285750">
              <a:spcBef>
                <a:spcPct val="20000"/>
              </a:spcBef>
              <a:buClr>
                <a:schemeClr val="tx1"/>
              </a:buClr>
              <a:buFont typeface="Arial" panose="020B0604020202020204" pitchFamily="34" charset="0"/>
              <a:buChar char="•"/>
              <a:defRPr/>
            </a:pPr>
            <a:r>
              <a:rPr lang="en-US" sz="1579" b="1" dirty="0" smtClean="0">
                <a:solidFill>
                  <a:schemeClr val="accent2">
                    <a:lumMod val="75000"/>
                  </a:schemeClr>
                </a:solidFill>
                <a:latin typeface="Segoe UI Light" panose="020B0502040204020203" pitchFamily="34" charset="0"/>
              </a:rPr>
              <a:t>Understand the need for Employer Benefit Liability Insurance</a:t>
            </a:r>
          </a:p>
          <a:p>
            <a:pPr marL="742950" lvl="1" indent="-285750">
              <a:spcBef>
                <a:spcPct val="20000"/>
              </a:spcBef>
              <a:buClr>
                <a:schemeClr val="tx1"/>
              </a:buClr>
              <a:buFont typeface="Arial" panose="020B0604020202020204" pitchFamily="34" charset="0"/>
              <a:buChar char="•"/>
              <a:defRPr/>
            </a:pPr>
            <a:r>
              <a:rPr lang="en-US" sz="1579" b="1" dirty="0" smtClean="0">
                <a:solidFill>
                  <a:schemeClr val="accent2">
                    <a:lumMod val="75000"/>
                  </a:schemeClr>
                </a:solidFill>
                <a:latin typeface="Segoe UI Light" panose="020B0502040204020203" pitchFamily="34" charset="0"/>
              </a:rPr>
              <a:t>Study about the coverages offered</a:t>
            </a:r>
          </a:p>
          <a:p>
            <a:pPr marL="742950" lvl="1" indent="-285750">
              <a:spcBef>
                <a:spcPct val="20000"/>
              </a:spcBef>
              <a:buClr>
                <a:schemeClr val="tx1"/>
              </a:buClr>
              <a:buFont typeface="Arial" panose="020B0604020202020204" pitchFamily="34" charset="0"/>
              <a:buChar char="•"/>
              <a:defRPr/>
            </a:pPr>
            <a:r>
              <a:rPr lang="en-US" sz="1579" b="1" dirty="0" smtClean="0">
                <a:solidFill>
                  <a:schemeClr val="accent2">
                    <a:lumMod val="75000"/>
                  </a:schemeClr>
                </a:solidFill>
                <a:latin typeface="Segoe UI Light" panose="020B0502040204020203" pitchFamily="34" charset="0"/>
              </a:rPr>
              <a:t>Understand exclusions who is an insured and the limits</a:t>
            </a:r>
          </a:p>
          <a:p>
            <a:pPr marL="742950" lvl="1" indent="-285750">
              <a:spcBef>
                <a:spcPct val="20000"/>
              </a:spcBef>
              <a:buClr>
                <a:schemeClr val="tx1"/>
              </a:buClr>
              <a:buFont typeface="Arial" panose="020B0604020202020204" pitchFamily="34" charset="0"/>
              <a:buChar char="•"/>
              <a:defRPr/>
            </a:pPr>
            <a:endParaRPr lang="en-US" sz="1579" b="1" dirty="0">
              <a:solidFill>
                <a:schemeClr val="accent2">
                  <a:lumMod val="75000"/>
                </a:schemeClr>
              </a:solidFill>
              <a:latin typeface="Segoe UI Light" panose="020B0502040204020203" pitchFamily="34" charset="0"/>
            </a:endParaRPr>
          </a:p>
          <a:p>
            <a:pPr marL="285750" indent="-285750">
              <a:spcBef>
                <a:spcPct val="20000"/>
              </a:spcBef>
              <a:buClr>
                <a:schemeClr val="tx1"/>
              </a:buClr>
              <a:buFont typeface="Wingdings" panose="05000000000000000000" pitchFamily="2" charset="2"/>
              <a:buChar char="v"/>
              <a:defRPr/>
            </a:pPr>
            <a:r>
              <a:rPr lang="en-US" sz="1579" b="1" dirty="0">
                <a:solidFill>
                  <a:schemeClr val="accent2">
                    <a:lumMod val="75000"/>
                  </a:schemeClr>
                </a:solidFill>
                <a:latin typeface="Segoe UI Light" panose="020B0502040204020203" pitchFamily="34" charset="0"/>
              </a:rPr>
              <a:t>Understand </a:t>
            </a:r>
            <a:r>
              <a:rPr lang="en-US" sz="1579" b="1" dirty="0" smtClean="0">
                <a:solidFill>
                  <a:schemeClr val="accent2">
                    <a:lumMod val="75000"/>
                  </a:schemeClr>
                </a:solidFill>
                <a:latin typeface="Segoe UI Light" panose="020B0502040204020203" pitchFamily="34" charset="0"/>
              </a:rPr>
              <a:t>Commercial Crime Insurance</a:t>
            </a:r>
            <a:endParaRPr lang="en-US" sz="1579" b="1" dirty="0">
              <a:solidFill>
                <a:schemeClr val="accent2">
                  <a:lumMod val="75000"/>
                </a:schemeClr>
              </a:solidFill>
              <a:latin typeface="Segoe UI Light" panose="020B0502040204020203" pitchFamily="34" charset="0"/>
            </a:endParaRPr>
          </a:p>
          <a:p>
            <a:pPr marL="742950" lvl="1" indent="-285750">
              <a:spcBef>
                <a:spcPct val="20000"/>
              </a:spcBef>
              <a:buClr>
                <a:schemeClr val="tx1"/>
              </a:buClr>
              <a:buFont typeface="Arial" panose="020B0604020202020204" pitchFamily="34" charset="0"/>
              <a:buChar char="•"/>
              <a:defRPr/>
            </a:pPr>
            <a:r>
              <a:rPr lang="en-US" sz="1579" b="1" dirty="0" smtClean="0">
                <a:solidFill>
                  <a:schemeClr val="accent2">
                    <a:lumMod val="75000"/>
                  </a:schemeClr>
                </a:solidFill>
                <a:latin typeface="Segoe UI Light" panose="020B0502040204020203" pitchFamily="34" charset="0"/>
              </a:rPr>
              <a:t>Study the crime related loss exposures arising out of business </a:t>
            </a:r>
          </a:p>
          <a:p>
            <a:pPr marL="742950" lvl="1" indent="-285750">
              <a:spcBef>
                <a:spcPct val="20000"/>
              </a:spcBef>
              <a:buClr>
                <a:schemeClr val="tx1"/>
              </a:buClr>
              <a:buFont typeface="Arial" panose="020B0604020202020204" pitchFamily="34" charset="0"/>
              <a:buChar char="•"/>
              <a:defRPr/>
            </a:pPr>
            <a:r>
              <a:rPr lang="en-US" sz="1579" b="1" dirty="0" smtClean="0">
                <a:solidFill>
                  <a:schemeClr val="accent2">
                    <a:lumMod val="75000"/>
                  </a:schemeClr>
                </a:solidFill>
                <a:latin typeface="Segoe UI Light" panose="020B0502040204020203" pitchFamily="34" charset="0"/>
              </a:rPr>
              <a:t>Understand the insuring agreements under commercial crime policy</a:t>
            </a:r>
            <a:endParaRPr lang="en-US" sz="1579" b="1" dirty="0">
              <a:solidFill>
                <a:schemeClr val="accent2">
                  <a:lumMod val="75000"/>
                </a:schemeClr>
              </a:solidFill>
              <a:latin typeface="Segoe UI Light" panose="020B0502040204020203" pitchFamily="34" charset="0"/>
            </a:endParaRPr>
          </a:p>
          <a:p>
            <a:pPr marL="742950" lvl="1" indent="-285750">
              <a:spcBef>
                <a:spcPct val="20000"/>
              </a:spcBef>
              <a:buClr>
                <a:schemeClr val="tx1"/>
              </a:buClr>
              <a:buFont typeface="Arial" panose="020B0604020202020204" pitchFamily="34" charset="0"/>
              <a:buChar char="•"/>
              <a:defRPr/>
            </a:pPr>
            <a:r>
              <a:rPr lang="en-US" sz="1579" b="1" dirty="0">
                <a:solidFill>
                  <a:schemeClr val="accent2">
                    <a:lumMod val="75000"/>
                  </a:schemeClr>
                </a:solidFill>
                <a:latin typeface="Segoe UI Light" panose="020B0502040204020203" pitchFamily="34" charset="0"/>
              </a:rPr>
              <a:t>Study the </a:t>
            </a:r>
            <a:r>
              <a:rPr lang="en-US" sz="1579" b="1" dirty="0" smtClean="0">
                <a:solidFill>
                  <a:schemeClr val="accent2">
                    <a:lumMod val="75000"/>
                  </a:schemeClr>
                </a:solidFill>
                <a:latin typeface="Segoe UI Light" panose="020B0502040204020203" pitchFamily="34" charset="0"/>
              </a:rPr>
              <a:t>commercial crime limits and deductibles</a:t>
            </a:r>
          </a:p>
          <a:p>
            <a:pPr marL="742950" lvl="1" indent="-285750">
              <a:spcBef>
                <a:spcPct val="20000"/>
              </a:spcBef>
              <a:buClr>
                <a:schemeClr val="tx1"/>
              </a:buClr>
              <a:buFont typeface="Arial" panose="020B0604020202020204" pitchFamily="34" charset="0"/>
              <a:buChar char="•"/>
              <a:defRPr/>
            </a:pPr>
            <a:r>
              <a:rPr lang="en-US" sz="1579" b="1" dirty="0" smtClean="0">
                <a:solidFill>
                  <a:schemeClr val="accent2">
                    <a:lumMod val="75000"/>
                  </a:schemeClr>
                </a:solidFill>
                <a:latin typeface="Segoe UI Light" panose="020B0502040204020203" pitchFamily="34" charset="0"/>
              </a:rPr>
              <a:t>Study the exclusions under the policy</a:t>
            </a:r>
            <a:endParaRPr lang="en-US" sz="1579" b="1" dirty="0">
              <a:solidFill>
                <a:schemeClr val="accent2">
                  <a:lumMod val="75000"/>
                </a:schemeClr>
              </a:solidFill>
              <a:latin typeface="Segoe UI Light" panose="020B0502040204020203" pitchFamily="34" charset="0"/>
            </a:endParaRPr>
          </a:p>
          <a:p>
            <a:pPr>
              <a:spcBef>
                <a:spcPct val="20000"/>
              </a:spcBef>
              <a:buClr>
                <a:schemeClr val="tx1"/>
              </a:buClr>
              <a:defRPr/>
            </a:pPr>
            <a:endParaRPr lang="en-US" sz="1579" b="1" dirty="0" smtClean="0">
              <a:solidFill>
                <a:schemeClr val="accent2">
                  <a:lumMod val="75000"/>
                </a:schemeClr>
              </a:solidFill>
              <a:latin typeface="Segoe UI Light" panose="020B0502040204020203" pitchFamily="34" charset="0"/>
            </a:endParaRPr>
          </a:p>
          <a:p>
            <a:pPr marL="742950" lvl="1" indent="-285750">
              <a:spcBef>
                <a:spcPct val="20000"/>
              </a:spcBef>
              <a:buClr>
                <a:schemeClr val="tx1"/>
              </a:buClr>
              <a:buFont typeface="Arial" panose="020B0604020202020204" pitchFamily="34" charset="0"/>
              <a:buChar char="•"/>
              <a:defRPr/>
            </a:pPr>
            <a:endParaRPr lang="en-US" sz="1579" b="1" dirty="0">
              <a:solidFill>
                <a:srgbClr val="C00000"/>
              </a:solidFill>
              <a:latin typeface="Segoe UI Light" panose="020B0502040204020203" pitchFamily="34" charset="0"/>
            </a:endParaRPr>
          </a:p>
          <a:p>
            <a:pPr marL="285750" indent="-285750">
              <a:spcBef>
                <a:spcPct val="20000"/>
              </a:spcBef>
              <a:buClr>
                <a:schemeClr val="tx1"/>
              </a:buClr>
              <a:buFont typeface="Wingdings" panose="05000000000000000000" pitchFamily="2" charset="2"/>
              <a:buChar char="v"/>
              <a:defRPr/>
            </a:pPr>
            <a:endParaRPr lang="en-US" sz="1579" b="1" dirty="0" smtClean="0">
              <a:solidFill>
                <a:srgbClr val="C00000"/>
              </a:solidFill>
              <a:latin typeface="Segoe UI Light" panose="020B0502040204020203" pitchFamily="34" charset="0"/>
            </a:endParaRPr>
          </a:p>
        </p:txBody>
      </p:sp>
      <p:pic>
        <p:nvPicPr>
          <p:cNvPr id="3" name="Picture 2"/>
          <p:cNvPicPr>
            <a:picLocks noChangeAspect="1"/>
          </p:cNvPicPr>
          <p:nvPr/>
        </p:nvPicPr>
        <p:blipFill>
          <a:blip r:embed="rId3"/>
          <a:stretch>
            <a:fillRect/>
          </a:stretch>
        </p:blipFill>
        <p:spPr>
          <a:xfrm>
            <a:off x="8229600" y="5105831"/>
            <a:ext cx="2205867" cy="1469142"/>
          </a:xfrm>
          <a:prstGeom prst="rect">
            <a:avLst/>
          </a:prstGeom>
        </p:spPr>
      </p:pic>
      <p:pic>
        <p:nvPicPr>
          <p:cNvPr id="4" name="Picture 3"/>
          <p:cNvPicPr>
            <a:picLocks noChangeAspect="1"/>
          </p:cNvPicPr>
          <p:nvPr/>
        </p:nvPicPr>
        <p:blipFill>
          <a:blip r:embed="rId4"/>
          <a:stretch>
            <a:fillRect/>
          </a:stretch>
        </p:blipFill>
        <p:spPr>
          <a:xfrm>
            <a:off x="7205456" y="1531466"/>
            <a:ext cx="3946709" cy="1545565"/>
          </a:xfrm>
          <a:prstGeom prst="rect">
            <a:avLst/>
          </a:prstGeom>
        </p:spPr>
      </p:pic>
      <p:pic>
        <p:nvPicPr>
          <p:cNvPr id="7" name="Picture 6"/>
          <p:cNvPicPr>
            <a:picLocks noChangeAspect="1"/>
          </p:cNvPicPr>
          <p:nvPr/>
        </p:nvPicPr>
        <p:blipFill>
          <a:blip r:embed="rId5"/>
          <a:stretch>
            <a:fillRect/>
          </a:stretch>
        </p:blipFill>
        <p:spPr>
          <a:xfrm>
            <a:off x="8159173" y="3320774"/>
            <a:ext cx="2276293" cy="1509281"/>
          </a:xfrm>
          <a:prstGeom prst="rect">
            <a:avLst/>
          </a:prstGeom>
        </p:spPr>
      </p:pic>
    </p:spTree>
    <p:extLst>
      <p:ext uri="{BB962C8B-B14F-4D97-AF65-F5344CB8AC3E}">
        <p14:creationId xmlns:p14="http://schemas.microsoft.com/office/powerpoint/2010/main" val="4136315250"/>
      </p:ext>
    </p:extLst>
  </p:cSld>
  <p:clrMapOvr>
    <a:masterClrMapping/>
  </p:clrMapOvr>
  <p:transition>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5927520"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284298" y="842074"/>
            <a:ext cx="11227779" cy="6240897"/>
          </a:xfrm>
          <a:prstGeom prst="rect">
            <a:avLst/>
          </a:prstGeom>
          <a:noFill/>
          <a:ln>
            <a:miter lim="800000"/>
            <a:headEnd/>
            <a:tailEnd/>
          </a:ln>
        </p:spPr>
        <p:txBody>
          <a:bodyPr/>
          <a:lstStyle/>
          <a:p>
            <a:pPr marL="742950" lvl="1" indent="-285750">
              <a:spcBef>
                <a:spcPct val="20000"/>
              </a:spcBef>
              <a:buClr>
                <a:prstClr val="black"/>
              </a:buClr>
              <a:buFont typeface="Arial" panose="020B0604020202020204" pitchFamily="34" charset="0"/>
              <a:buChar char="•"/>
              <a:defRPr/>
            </a:pPr>
            <a:endParaRPr lang="en-US" sz="1579" b="1" dirty="0">
              <a:solidFill>
                <a:srgbClr val="C00000"/>
              </a:solidFill>
              <a:latin typeface="Segoe UI Light" panose="020B0502040204020203" pitchFamily="34" charset="0"/>
            </a:endParaRPr>
          </a:p>
          <a:p>
            <a:pPr marL="285750" indent="-285750">
              <a:spcBef>
                <a:spcPct val="20000"/>
              </a:spcBef>
              <a:buClr>
                <a:prstClr val="black"/>
              </a:buClr>
              <a:buFont typeface="Wingdings" panose="05000000000000000000" pitchFamily="2" charset="2"/>
              <a:buChar char="v"/>
              <a:defRPr/>
            </a:pPr>
            <a:r>
              <a:rPr lang="en-US" sz="1600" dirty="0" smtClean="0">
                <a:solidFill>
                  <a:prstClr val="black"/>
                </a:solidFill>
              </a:rPr>
              <a:t>Provides coverage for the liability arising out of a person’s or an organization’s activities as part of his business</a:t>
            </a:r>
          </a:p>
          <a:p>
            <a:pPr marL="285750" indent="-285750">
              <a:spcBef>
                <a:spcPct val="20000"/>
              </a:spcBef>
              <a:buClr>
                <a:prstClr val="black"/>
              </a:buClr>
              <a:buFont typeface="Wingdings" panose="05000000000000000000" pitchFamily="2" charset="2"/>
              <a:buChar char="v"/>
              <a:defRPr/>
            </a:pPr>
            <a:endParaRPr lang="en-US" sz="1600" dirty="0">
              <a:solidFill>
                <a:prstClr val="black"/>
              </a:solidFill>
            </a:endParaRPr>
          </a:p>
          <a:p>
            <a:pPr marL="285750" indent="-285750">
              <a:spcBef>
                <a:spcPct val="20000"/>
              </a:spcBef>
              <a:buClr>
                <a:prstClr val="black"/>
              </a:buClr>
              <a:buFont typeface="Wingdings" panose="05000000000000000000" pitchFamily="2" charset="2"/>
              <a:buChar char="v"/>
              <a:defRPr/>
            </a:pPr>
            <a:r>
              <a:rPr lang="en-US" altLang="en-US" sz="1600" dirty="0" smtClean="0">
                <a:latin typeface="Calibri" panose="020F0502020204030204" pitchFamily="34" charset="0"/>
              </a:rPr>
              <a:t>It intends to cover individuals</a:t>
            </a:r>
            <a:r>
              <a:rPr lang="en-US" altLang="en-US" sz="1600" dirty="0">
                <a:latin typeface="Calibri" panose="020F0502020204030204" pitchFamily="34" charset="0"/>
              </a:rPr>
              <a:t>, organizations, companies with </a:t>
            </a:r>
            <a:r>
              <a:rPr lang="en-US" altLang="en-US" sz="1600" dirty="0" smtClean="0">
                <a:latin typeface="Calibri" panose="020F0502020204030204" pitchFamily="34" charset="0"/>
              </a:rPr>
              <a:t>partnerships, JVs, LLC etc.</a:t>
            </a:r>
          </a:p>
          <a:p>
            <a:pPr>
              <a:spcBef>
                <a:spcPct val="20000"/>
              </a:spcBef>
              <a:buClr>
                <a:prstClr val="black"/>
              </a:buClr>
              <a:defRPr/>
            </a:pPr>
            <a:endParaRPr lang="en-US" sz="1600" dirty="0" smtClean="0">
              <a:solidFill>
                <a:prstClr val="black"/>
              </a:solidFill>
            </a:endParaRPr>
          </a:p>
          <a:p>
            <a:pPr marL="285750" indent="-285750">
              <a:spcBef>
                <a:spcPct val="20000"/>
              </a:spcBef>
              <a:buClr>
                <a:prstClr val="black"/>
              </a:buClr>
              <a:buFont typeface="Wingdings" panose="05000000000000000000" pitchFamily="2" charset="2"/>
              <a:buChar char="v"/>
              <a:defRPr/>
            </a:pPr>
            <a:endParaRPr lang="en-US" sz="1600" dirty="0" smtClean="0">
              <a:solidFill>
                <a:prstClr val="black"/>
              </a:solidFill>
            </a:endParaRPr>
          </a:p>
          <a:p>
            <a:pPr marL="285750" indent="-285750">
              <a:buFont typeface="Wingdings" panose="05000000000000000000" pitchFamily="2" charset="2"/>
              <a:buChar char="v"/>
            </a:pPr>
            <a:endParaRPr lang="en-US" sz="1600" dirty="0" smtClean="0">
              <a:solidFill>
                <a:prstClr val="black"/>
              </a:solidFill>
            </a:endParaRPr>
          </a:p>
          <a:p>
            <a:pPr marL="285750" indent="-285750">
              <a:buFont typeface="Wingdings" panose="05000000000000000000" pitchFamily="2" charset="2"/>
              <a:buChar char="v"/>
            </a:pPr>
            <a:endParaRPr lang="en-US" sz="1600" dirty="0">
              <a:solidFill>
                <a:prstClr val="black"/>
              </a:solidFill>
            </a:endParaRPr>
          </a:p>
          <a:p>
            <a:pPr marL="285750" indent="-285750">
              <a:buFont typeface="Wingdings" panose="05000000000000000000" pitchFamily="2" charset="2"/>
              <a:buChar char="v"/>
            </a:pPr>
            <a:endParaRPr lang="en-US" sz="1600" dirty="0" smtClean="0">
              <a:solidFill>
                <a:prstClr val="black"/>
              </a:solidFill>
            </a:endParaRPr>
          </a:p>
          <a:p>
            <a:pPr marL="285750" indent="-285750">
              <a:buFont typeface="Wingdings" panose="05000000000000000000" pitchFamily="2" charset="2"/>
              <a:buChar char="v"/>
            </a:pPr>
            <a:endParaRPr lang="en-US" sz="1600" dirty="0">
              <a:solidFill>
                <a:prstClr val="black"/>
              </a:solidFill>
            </a:endParaRPr>
          </a:p>
          <a:p>
            <a:pPr marL="285750" indent="-285750">
              <a:buFont typeface="Wingdings" panose="05000000000000000000" pitchFamily="2" charset="2"/>
              <a:buChar char="v"/>
            </a:pPr>
            <a:endParaRPr lang="en-US" sz="1600" dirty="0" smtClean="0">
              <a:solidFill>
                <a:prstClr val="black"/>
              </a:solidFill>
            </a:endParaRPr>
          </a:p>
          <a:p>
            <a:pPr marL="285750" indent="-285750">
              <a:buFont typeface="Wingdings" panose="05000000000000000000" pitchFamily="2" charset="2"/>
              <a:buChar char="v"/>
            </a:pPr>
            <a:endParaRPr lang="en-US" sz="1600" dirty="0">
              <a:solidFill>
                <a:prstClr val="black"/>
              </a:solidFill>
            </a:endParaRPr>
          </a:p>
          <a:p>
            <a:pPr marL="285750" indent="-285750">
              <a:buFont typeface="Wingdings" panose="05000000000000000000" pitchFamily="2" charset="2"/>
              <a:buChar char="v"/>
            </a:pPr>
            <a:endParaRPr lang="en-US" sz="1600" dirty="0" smtClean="0">
              <a:solidFill>
                <a:prstClr val="black"/>
              </a:solidFill>
            </a:endParaRPr>
          </a:p>
          <a:p>
            <a:pPr marL="285750" indent="-285750">
              <a:buFont typeface="Wingdings" panose="05000000000000000000" pitchFamily="2" charset="2"/>
              <a:buChar char="v"/>
            </a:pPr>
            <a:endParaRPr lang="en-US" sz="1600" dirty="0">
              <a:solidFill>
                <a:prstClr val="black"/>
              </a:solidFill>
            </a:endParaRPr>
          </a:p>
          <a:p>
            <a:pPr marL="285750" indent="-285750">
              <a:buFont typeface="Wingdings" panose="05000000000000000000" pitchFamily="2" charset="2"/>
              <a:buChar char="v"/>
            </a:pPr>
            <a:endParaRPr lang="en-US" sz="1600" dirty="0" smtClean="0">
              <a:solidFill>
                <a:prstClr val="black"/>
              </a:solidFill>
            </a:endParaRPr>
          </a:p>
          <a:p>
            <a:pPr marL="285750" indent="-285750">
              <a:buFont typeface="Wingdings" panose="05000000000000000000" pitchFamily="2" charset="2"/>
              <a:buChar char="v"/>
            </a:pPr>
            <a:endParaRPr lang="en-US" sz="1600" dirty="0" smtClean="0">
              <a:solidFill>
                <a:prstClr val="black"/>
              </a:solidFill>
            </a:endParaRPr>
          </a:p>
          <a:p>
            <a:pPr marL="285750" indent="-285750">
              <a:buFont typeface="Wingdings" panose="05000000000000000000" pitchFamily="2" charset="2"/>
              <a:buChar char="v"/>
            </a:pPr>
            <a:endParaRPr lang="en-US" sz="1600" dirty="0">
              <a:solidFill>
                <a:prstClr val="black"/>
              </a:solidFill>
            </a:endParaRPr>
          </a:p>
          <a:p>
            <a:pPr marL="285750" indent="-285750">
              <a:buFont typeface="Wingdings" panose="05000000000000000000" pitchFamily="2" charset="2"/>
              <a:buChar char="v"/>
            </a:pPr>
            <a:endParaRPr lang="en-US" sz="1600" dirty="0" smtClean="0">
              <a:solidFill>
                <a:prstClr val="black"/>
              </a:solidFill>
            </a:endParaRPr>
          </a:p>
          <a:p>
            <a:pPr marL="285750" indent="-285750">
              <a:buFont typeface="Wingdings" panose="05000000000000000000" pitchFamily="2" charset="2"/>
              <a:buChar char="v"/>
            </a:pPr>
            <a:r>
              <a:rPr lang="en-US" sz="1600" dirty="0" smtClean="0">
                <a:solidFill>
                  <a:prstClr val="black"/>
                </a:solidFill>
              </a:rPr>
              <a:t>Loss </a:t>
            </a:r>
            <a:r>
              <a:rPr lang="en-US" sz="1600" dirty="0">
                <a:solidFill>
                  <a:prstClr val="black"/>
                </a:solidFill>
              </a:rPr>
              <a:t>Exposures include:</a:t>
            </a:r>
          </a:p>
          <a:p>
            <a:pPr marL="742950" lvl="1" indent="-285750">
              <a:buFont typeface="Arial" panose="020B0604020202020204" pitchFamily="34" charset="0"/>
              <a:buChar char="•"/>
            </a:pPr>
            <a:r>
              <a:rPr lang="en-US" sz="1600" dirty="0">
                <a:solidFill>
                  <a:prstClr val="black"/>
                </a:solidFill>
              </a:rPr>
              <a:t>Premises Liability Exposure</a:t>
            </a:r>
          </a:p>
          <a:p>
            <a:pPr marL="742950" lvl="1" indent="-285750">
              <a:buFont typeface="Arial" panose="020B0604020202020204" pitchFamily="34" charset="0"/>
              <a:buChar char="•"/>
            </a:pPr>
            <a:r>
              <a:rPr lang="en-US" sz="1600" dirty="0">
                <a:solidFill>
                  <a:prstClr val="black"/>
                </a:solidFill>
              </a:rPr>
              <a:t>Operations Liability Exposure </a:t>
            </a:r>
          </a:p>
          <a:p>
            <a:pPr marL="742950" lvl="1" indent="-285750">
              <a:buFont typeface="Arial" panose="020B0604020202020204" pitchFamily="34" charset="0"/>
              <a:buChar char="•"/>
            </a:pPr>
            <a:r>
              <a:rPr lang="en-US" sz="1600" dirty="0">
                <a:solidFill>
                  <a:prstClr val="black"/>
                </a:solidFill>
              </a:rPr>
              <a:t>Products Liability Exposure</a:t>
            </a:r>
          </a:p>
          <a:p>
            <a:pPr marL="742950" lvl="1" indent="-285750">
              <a:buFont typeface="Arial" panose="020B0604020202020204" pitchFamily="34" charset="0"/>
              <a:buChar char="•"/>
            </a:pPr>
            <a:r>
              <a:rPr lang="en-US" sz="1600" dirty="0">
                <a:solidFill>
                  <a:prstClr val="black"/>
                </a:solidFill>
              </a:rPr>
              <a:t>Completed Operations </a:t>
            </a:r>
            <a:r>
              <a:rPr lang="en-US" sz="1600" dirty="0" smtClean="0">
                <a:solidFill>
                  <a:prstClr val="black"/>
                </a:solidFill>
              </a:rPr>
              <a:t>Liability </a:t>
            </a:r>
            <a:r>
              <a:rPr lang="en-US" sz="1600" dirty="0">
                <a:solidFill>
                  <a:prstClr val="black"/>
                </a:solidFill>
              </a:rPr>
              <a:t>Exposure </a:t>
            </a:r>
          </a:p>
          <a:p>
            <a:pPr marL="285750" indent="-285750">
              <a:spcBef>
                <a:spcPct val="20000"/>
              </a:spcBef>
              <a:buClr>
                <a:prstClr val="black"/>
              </a:buClr>
              <a:buFont typeface="Wingdings" panose="05000000000000000000" pitchFamily="2" charset="2"/>
              <a:buChar char="v"/>
              <a:defRPr/>
            </a:pPr>
            <a:endParaRPr lang="en-US" sz="1600" dirty="0">
              <a:solidFill>
                <a:prstClr val="black"/>
              </a:solidFill>
            </a:endParaRP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8350" y="2057522"/>
            <a:ext cx="3296793" cy="3470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Rectangle 19"/>
          <p:cNvSpPr>
            <a:spLocks noChangeArrowheads="1"/>
          </p:cNvSpPr>
          <p:nvPr/>
        </p:nvSpPr>
        <p:spPr bwMode="auto">
          <a:xfrm>
            <a:off x="2703740" y="2155374"/>
            <a:ext cx="1447800" cy="533400"/>
          </a:xfrm>
          <a:prstGeom prst="rect">
            <a:avLst/>
          </a:prstGeom>
          <a:solidFill>
            <a:schemeClr val="accent2">
              <a:lumMod val="7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ctr">
              <a:defRPr/>
            </a:pPr>
            <a:r>
              <a:rPr lang="en-US" sz="1400" b="1" dirty="0" smtClean="0">
                <a:solidFill>
                  <a:prstClr val="white"/>
                </a:solidFill>
              </a:rPr>
              <a:t>Liability</a:t>
            </a:r>
            <a:endParaRPr lang="en-US" sz="1400" b="1" dirty="0">
              <a:solidFill>
                <a:prstClr val="white"/>
              </a:solidFill>
            </a:endParaRPr>
          </a:p>
        </p:txBody>
      </p:sp>
      <p:sp>
        <p:nvSpPr>
          <p:cNvPr id="21" name="Rectangle 20"/>
          <p:cNvSpPr>
            <a:spLocks noChangeArrowheads="1"/>
          </p:cNvSpPr>
          <p:nvPr/>
        </p:nvSpPr>
        <p:spPr bwMode="auto">
          <a:xfrm>
            <a:off x="765629" y="3071362"/>
            <a:ext cx="1447800" cy="533400"/>
          </a:xfrm>
          <a:prstGeom prst="rect">
            <a:avLst/>
          </a:prstGeom>
          <a:solidFill>
            <a:schemeClr val="accent2">
              <a:lumMod val="7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ctr">
              <a:defRPr/>
            </a:pPr>
            <a:r>
              <a:rPr lang="en-US" sz="1400" b="1" dirty="0" smtClean="0">
                <a:solidFill>
                  <a:prstClr val="white"/>
                </a:solidFill>
              </a:rPr>
              <a:t>Premises and operations</a:t>
            </a:r>
            <a:endParaRPr lang="en-US" sz="1400" b="1" dirty="0">
              <a:solidFill>
                <a:prstClr val="white"/>
              </a:solidFill>
            </a:endParaRPr>
          </a:p>
        </p:txBody>
      </p:sp>
      <p:sp>
        <p:nvSpPr>
          <p:cNvPr id="22" name="Rectangle 21"/>
          <p:cNvSpPr>
            <a:spLocks noChangeArrowheads="1"/>
          </p:cNvSpPr>
          <p:nvPr/>
        </p:nvSpPr>
        <p:spPr bwMode="auto">
          <a:xfrm>
            <a:off x="2364588" y="3071362"/>
            <a:ext cx="2127584" cy="533400"/>
          </a:xfrm>
          <a:prstGeom prst="rect">
            <a:avLst/>
          </a:prstGeom>
          <a:solidFill>
            <a:schemeClr val="accent2">
              <a:lumMod val="7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ctr">
              <a:defRPr/>
            </a:pPr>
            <a:r>
              <a:rPr lang="en-US" sz="1400" b="1" dirty="0" smtClean="0">
                <a:solidFill>
                  <a:prstClr val="white"/>
                </a:solidFill>
              </a:rPr>
              <a:t>Products and completed operations</a:t>
            </a:r>
            <a:endParaRPr lang="en-US" sz="1400" b="1" dirty="0">
              <a:solidFill>
                <a:prstClr val="white"/>
              </a:solidFill>
            </a:endParaRPr>
          </a:p>
        </p:txBody>
      </p:sp>
      <p:sp>
        <p:nvSpPr>
          <p:cNvPr id="23" name="Rectangle 22"/>
          <p:cNvSpPr>
            <a:spLocks noChangeArrowheads="1"/>
          </p:cNvSpPr>
          <p:nvPr/>
        </p:nvSpPr>
        <p:spPr bwMode="auto">
          <a:xfrm>
            <a:off x="4622798" y="3071362"/>
            <a:ext cx="1948924" cy="533400"/>
          </a:xfrm>
          <a:prstGeom prst="rect">
            <a:avLst/>
          </a:prstGeom>
          <a:solidFill>
            <a:schemeClr val="accent2">
              <a:lumMod val="7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lgn="ctr">
              <a:defRPr/>
            </a:pPr>
            <a:r>
              <a:rPr lang="en-US" sz="1400" b="1" dirty="0" smtClean="0">
                <a:solidFill>
                  <a:prstClr val="white"/>
                </a:solidFill>
              </a:rPr>
              <a:t>Personal and advertising  injury</a:t>
            </a:r>
            <a:endParaRPr lang="en-US" sz="1400" b="1" dirty="0">
              <a:solidFill>
                <a:prstClr val="white"/>
              </a:solidFill>
            </a:endParaRPr>
          </a:p>
        </p:txBody>
      </p:sp>
      <p:sp>
        <p:nvSpPr>
          <p:cNvPr id="24" name="Rectangle 23"/>
          <p:cNvSpPr>
            <a:spLocks noChangeArrowheads="1"/>
          </p:cNvSpPr>
          <p:nvPr/>
        </p:nvSpPr>
        <p:spPr bwMode="auto">
          <a:xfrm>
            <a:off x="1222038" y="4060374"/>
            <a:ext cx="2365256" cy="1219200"/>
          </a:xfrm>
          <a:prstGeom prst="rect">
            <a:avLst/>
          </a:prstGeom>
          <a:solidFill>
            <a:schemeClr val="accent2">
              <a:lumMod val="7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defRPr/>
            </a:pPr>
            <a:endParaRPr lang="fr-FR" sz="1400" dirty="0">
              <a:solidFill>
                <a:prstClr val="white"/>
              </a:solidFill>
            </a:endParaRPr>
          </a:p>
        </p:txBody>
      </p:sp>
      <p:sp>
        <p:nvSpPr>
          <p:cNvPr id="26" name="Rectangle 25"/>
          <p:cNvSpPr>
            <a:spLocks noChangeArrowheads="1"/>
          </p:cNvSpPr>
          <p:nvPr/>
        </p:nvSpPr>
        <p:spPr bwMode="auto">
          <a:xfrm>
            <a:off x="4622798" y="4060374"/>
            <a:ext cx="1937656" cy="1219200"/>
          </a:xfrm>
          <a:prstGeom prst="rect">
            <a:avLst/>
          </a:prstGeom>
          <a:solidFill>
            <a:schemeClr val="accent2">
              <a:lumMod val="7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indent="-342900">
              <a:defRPr/>
            </a:pPr>
            <a:r>
              <a:rPr lang="fr-FR" sz="1400" dirty="0" smtClean="0">
                <a:solidFill>
                  <a:prstClr val="white"/>
                </a:solidFill>
              </a:rPr>
              <a:t>-       </a:t>
            </a:r>
            <a:r>
              <a:rPr lang="fr-FR" sz="1400" dirty="0" err="1" smtClean="0">
                <a:solidFill>
                  <a:prstClr val="white"/>
                </a:solidFill>
              </a:rPr>
              <a:t>Acts</a:t>
            </a:r>
            <a:r>
              <a:rPr lang="fr-FR" sz="1400" dirty="0" smtClean="0">
                <a:solidFill>
                  <a:prstClr val="white"/>
                </a:solidFill>
              </a:rPr>
              <a:t> of </a:t>
            </a:r>
            <a:r>
              <a:rPr lang="fr-FR" sz="1400" dirty="0" err="1">
                <a:solidFill>
                  <a:prstClr val="white"/>
                </a:solidFill>
              </a:rPr>
              <a:t>n</a:t>
            </a:r>
            <a:r>
              <a:rPr lang="fr-FR" sz="1400" dirty="0" err="1" smtClean="0">
                <a:solidFill>
                  <a:prstClr val="white"/>
                </a:solidFill>
              </a:rPr>
              <a:t>egligence</a:t>
            </a:r>
            <a:endParaRPr lang="fr-FR" sz="1400" dirty="0">
              <a:solidFill>
                <a:prstClr val="white"/>
              </a:solidFill>
            </a:endParaRPr>
          </a:p>
          <a:p>
            <a:pPr marL="342900" indent="-342900">
              <a:buFontTx/>
              <a:buChar char="-"/>
              <a:defRPr/>
            </a:pPr>
            <a:r>
              <a:rPr lang="fr-FR" sz="1400" dirty="0" err="1" smtClean="0">
                <a:solidFill>
                  <a:prstClr val="white"/>
                </a:solidFill>
              </a:rPr>
              <a:t>Libel</a:t>
            </a:r>
            <a:endParaRPr lang="fr-FR" sz="1400" dirty="0">
              <a:solidFill>
                <a:prstClr val="white"/>
              </a:solidFill>
            </a:endParaRPr>
          </a:p>
          <a:p>
            <a:pPr marL="342900" indent="-342900">
              <a:buFontTx/>
              <a:buChar char="-"/>
              <a:defRPr/>
            </a:pPr>
            <a:r>
              <a:rPr lang="fr-FR" sz="1400" dirty="0" err="1" smtClean="0">
                <a:solidFill>
                  <a:prstClr val="white"/>
                </a:solidFill>
              </a:rPr>
              <a:t>Slander</a:t>
            </a:r>
            <a:endParaRPr lang="fr-FR" sz="1400" dirty="0" smtClean="0">
              <a:solidFill>
                <a:prstClr val="white"/>
              </a:solidFill>
            </a:endParaRPr>
          </a:p>
          <a:p>
            <a:pPr marL="342900" indent="-342900">
              <a:buFontTx/>
              <a:buChar char="-"/>
              <a:defRPr/>
            </a:pPr>
            <a:r>
              <a:rPr lang="fr-FR" sz="1400" dirty="0" err="1" smtClean="0">
                <a:solidFill>
                  <a:prstClr val="white"/>
                </a:solidFill>
              </a:rPr>
              <a:t>Wrongful</a:t>
            </a:r>
            <a:r>
              <a:rPr lang="fr-FR" sz="1400" dirty="0" smtClean="0">
                <a:solidFill>
                  <a:prstClr val="white"/>
                </a:solidFill>
              </a:rPr>
              <a:t> </a:t>
            </a:r>
            <a:r>
              <a:rPr lang="fr-FR" sz="1400" dirty="0" err="1" smtClean="0">
                <a:solidFill>
                  <a:prstClr val="white"/>
                </a:solidFill>
              </a:rPr>
              <a:t>eviction</a:t>
            </a:r>
            <a:endParaRPr lang="fr-FR" sz="1400" dirty="0" smtClean="0">
              <a:solidFill>
                <a:prstClr val="white"/>
              </a:solidFill>
            </a:endParaRPr>
          </a:p>
        </p:txBody>
      </p:sp>
      <p:cxnSp>
        <p:nvCxnSpPr>
          <p:cNvPr id="27" name="Elbow Connector 26"/>
          <p:cNvCxnSpPr>
            <a:stCxn id="21" idx="0"/>
            <a:endCxn id="23" idx="0"/>
          </p:cNvCxnSpPr>
          <p:nvPr/>
        </p:nvCxnSpPr>
        <p:spPr>
          <a:xfrm rot="5400000" flipH="1" flipV="1">
            <a:off x="3543394" y="1017497"/>
            <a:ext cx="12700" cy="4107731"/>
          </a:xfrm>
          <a:prstGeom prst="bentConnector3">
            <a:avLst>
              <a:gd name="adj1" fmla="val 1800000"/>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0" idx="2"/>
            <a:endCxn id="22" idx="0"/>
          </p:cNvCxnSpPr>
          <p:nvPr/>
        </p:nvCxnSpPr>
        <p:spPr>
          <a:xfrm>
            <a:off x="3427640" y="2688774"/>
            <a:ext cx="740" cy="382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364979" y="4402895"/>
            <a:ext cx="1481559" cy="523220"/>
          </a:xfrm>
          <a:prstGeom prst="rect">
            <a:avLst/>
          </a:prstGeom>
          <a:noFill/>
        </p:spPr>
        <p:txBody>
          <a:bodyPr wrap="none" rtlCol="0">
            <a:spAutoFit/>
          </a:bodyPr>
          <a:lstStyle/>
          <a:p>
            <a:r>
              <a:rPr lang="en-US" sz="1400" dirty="0" smtClean="0">
                <a:solidFill>
                  <a:schemeClr val="bg1"/>
                </a:solidFill>
              </a:rPr>
              <a:t>- Bodily injury</a:t>
            </a:r>
          </a:p>
          <a:p>
            <a:r>
              <a:rPr lang="en-US" sz="1400" dirty="0" smtClean="0">
                <a:solidFill>
                  <a:schemeClr val="bg1"/>
                </a:solidFill>
              </a:rPr>
              <a:t>- Physical damage</a:t>
            </a:r>
            <a:endParaRPr lang="en-US" sz="1400" dirty="0">
              <a:solidFill>
                <a:schemeClr val="bg1"/>
              </a:solidFill>
            </a:endParaRPr>
          </a:p>
        </p:txBody>
      </p:sp>
      <p:cxnSp>
        <p:nvCxnSpPr>
          <p:cNvPr id="15" name="Elbow Connector 14"/>
          <p:cNvCxnSpPr>
            <a:stCxn id="21" idx="2"/>
            <a:endCxn id="24" idx="0"/>
          </p:cNvCxnSpPr>
          <p:nvPr/>
        </p:nvCxnSpPr>
        <p:spPr>
          <a:xfrm rot="16200000" flipH="1">
            <a:off x="1719291" y="3374999"/>
            <a:ext cx="455612" cy="91513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p:cNvCxnSpPr/>
          <p:nvPr/>
        </p:nvCxnSpPr>
        <p:spPr>
          <a:xfrm rot="5400000">
            <a:off x="2640832" y="3053988"/>
            <a:ext cx="222260" cy="135283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3" idx="2"/>
            <a:endCxn id="26" idx="0"/>
          </p:cNvCxnSpPr>
          <p:nvPr/>
        </p:nvCxnSpPr>
        <p:spPr>
          <a:xfrm flipH="1">
            <a:off x="5591626" y="3604762"/>
            <a:ext cx="5634" cy="4556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53484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7525009"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 </a:t>
            </a:r>
            <a:r>
              <a:rPr lang="en-IN" sz="3454" b="1" dirty="0" err="1" smtClean="0">
                <a:solidFill>
                  <a:prstClr val="black"/>
                </a:solidFill>
                <a:latin typeface="Segoe UI Semibold" panose="020B0702040204020203" pitchFamily="34" charset="0"/>
                <a:cs typeface="BrowalliaUPC" panose="020B0604020202020204" pitchFamily="34" charset="-34"/>
              </a:rPr>
              <a:t>contd</a:t>
            </a:r>
            <a:r>
              <a:rPr lang="en-IN" sz="3454" b="1" dirty="0" smtClean="0">
                <a:solidFill>
                  <a:prstClr val="black"/>
                </a:solidFill>
                <a:latin typeface="Segoe UI Semibold" panose="020B0702040204020203" pitchFamily="34" charset="0"/>
                <a:cs typeface="BrowalliaUPC" panose="020B0604020202020204" pitchFamily="34" charset="-34"/>
              </a:rPr>
              <a:t>…</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298812" y="1248475"/>
            <a:ext cx="11227779" cy="5609525"/>
          </a:xfrm>
          <a:prstGeom prst="rect">
            <a:avLst/>
          </a:prstGeom>
          <a:noFill/>
          <a:ln>
            <a:miter lim="800000"/>
            <a:headEnd/>
            <a:tailEnd/>
          </a:ln>
        </p:spPr>
        <p:txBody>
          <a:bodyPr/>
          <a:lstStyle/>
          <a:p>
            <a:pPr marL="285750" indent="-285750">
              <a:buFont typeface="Arial" panose="020B0604020202020204" pitchFamily="34" charset="0"/>
              <a:buChar char="•"/>
            </a:pPr>
            <a:r>
              <a:rPr lang="en-US" sz="1600" b="1" dirty="0" smtClean="0">
                <a:solidFill>
                  <a:prstClr val="black"/>
                </a:solidFill>
              </a:rPr>
              <a:t>Coverages</a:t>
            </a:r>
          </a:p>
          <a:p>
            <a:pPr marL="742950" lvl="1" indent="-285750">
              <a:buFont typeface="Arial" panose="020B0604020202020204" pitchFamily="34" charset="0"/>
              <a:buChar char="•"/>
            </a:pPr>
            <a:r>
              <a:rPr lang="en-US" sz="1600" b="1" dirty="0" smtClean="0">
                <a:solidFill>
                  <a:prstClr val="black"/>
                </a:solidFill>
              </a:rPr>
              <a:t>Coverage </a:t>
            </a:r>
            <a:r>
              <a:rPr lang="en-US" sz="1600" b="1" dirty="0">
                <a:solidFill>
                  <a:prstClr val="black"/>
                </a:solidFill>
              </a:rPr>
              <a:t>A - Bodily </a:t>
            </a:r>
            <a:r>
              <a:rPr lang="en-US" sz="1600" b="1" dirty="0" smtClean="0">
                <a:solidFill>
                  <a:prstClr val="black"/>
                </a:solidFill>
              </a:rPr>
              <a:t>Injury </a:t>
            </a:r>
            <a:r>
              <a:rPr lang="en-US" sz="1600" b="1" dirty="0">
                <a:solidFill>
                  <a:prstClr val="black"/>
                </a:solidFill>
              </a:rPr>
              <a:t>and P</a:t>
            </a:r>
            <a:r>
              <a:rPr lang="en-US" sz="1600" b="1" dirty="0" smtClean="0">
                <a:solidFill>
                  <a:prstClr val="black"/>
                </a:solidFill>
              </a:rPr>
              <a:t>roperty </a:t>
            </a:r>
            <a:r>
              <a:rPr lang="en-US" sz="1600" b="1" dirty="0">
                <a:solidFill>
                  <a:prstClr val="black"/>
                </a:solidFill>
              </a:rPr>
              <a:t>D</a:t>
            </a:r>
            <a:r>
              <a:rPr lang="en-US" sz="1600" b="1" dirty="0" smtClean="0">
                <a:solidFill>
                  <a:prstClr val="black"/>
                </a:solidFill>
              </a:rPr>
              <a:t>amage Liability</a:t>
            </a:r>
          </a:p>
          <a:p>
            <a:pPr marL="1200150" lvl="2" indent="-285750">
              <a:buFont typeface="Arial" panose="020B0604020202020204" pitchFamily="34" charset="0"/>
              <a:buChar char="•"/>
            </a:pPr>
            <a:r>
              <a:rPr lang="en-US" sz="1600" dirty="0" smtClean="0">
                <a:solidFill>
                  <a:prstClr val="black"/>
                </a:solidFill>
              </a:rPr>
              <a:t>Insures against claims arising out of premises, operations, products, completed operations and contractual liability exposures</a:t>
            </a:r>
          </a:p>
          <a:p>
            <a:pPr marL="1200150" lvl="2" indent="-285750">
              <a:buFont typeface="Arial" panose="020B0604020202020204" pitchFamily="34" charset="0"/>
              <a:buChar char="•"/>
            </a:pPr>
            <a:r>
              <a:rPr lang="en-US" sz="1600" dirty="0" smtClean="0">
                <a:solidFill>
                  <a:prstClr val="black"/>
                </a:solidFill>
              </a:rPr>
              <a:t>Covers bodily injury, sickness or disease sustained by a person, including death, pain and suffering</a:t>
            </a:r>
          </a:p>
          <a:p>
            <a:pPr marL="1200150" lvl="2" indent="-285750">
              <a:buFont typeface="Arial" panose="020B0604020202020204" pitchFamily="34" charset="0"/>
              <a:buChar char="•"/>
            </a:pPr>
            <a:r>
              <a:rPr lang="en-US" sz="1600" dirty="0" smtClean="0">
                <a:solidFill>
                  <a:prstClr val="black"/>
                </a:solidFill>
              </a:rPr>
              <a:t>Covers physical injury to tangible property, including loss of use, and loss of use of the property that is not damaged</a:t>
            </a:r>
          </a:p>
          <a:p>
            <a:pPr marL="1200150" lvl="2" indent="-285750">
              <a:buFont typeface="Arial" panose="020B0604020202020204" pitchFamily="34" charset="0"/>
              <a:buChar char="•"/>
            </a:pPr>
            <a:r>
              <a:rPr lang="en-US" sz="1600" dirty="0"/>
              <a:t>To be insured the bodily injury or the property damage must be caused by a single </a:t>
            </a:r>
            <a:r>
              <a:rPr lang="en-US" sz="1600" dirty="0" smtClean="0"/>
              <a:t>occurrence</a:t>
            </a:r>
          </a:p>
          <a:p>
            <a:pPr marL="1200150" lvl="2" indent="-285750">
              <a:buFont typeface="Arial" panose="020B0604020202020204" pitchFamily="34" charset="0"/>
              <a:buChar char="•"/>
            </a:pPr>
            <a:r>
              <a:rPr lang="en-US" sz="1600" dirty="0" smtClean="0"/>
              <a:t>The loss must have occurred in the coverage territory which includes United States, Puerto Rico and Canada</a:t>
            </a:r>
          </a:p>
          <a:p>
            <a:pPr marL="1200150" lvl="2" indent="-285750">
              <a:buFont typeface="Arial" panose="020B0604020202020204" pitchFamily="34" charset="0"/>
              <a:buChar char="•"/>
            </a:pPr>
            <a:r>
              <a:rPr lang="en-US" sz="1600" dirty="0"/>
              <a:t>Insurer’s duty to defend are broader than it’s duty to pay </a:t>
            </a:r>
            <a:r>
              <a:rPr lang="en-US" sz="1600" dirty="0" smtClean="0"/>
              <a:t>damages</a:t>
            </a:r>
          </a:p>
          <a:p>
            <a:pPr lvl="2"/>
            <a:endParaRPr lang="en-US" sz="1600" dirty="0">
              <a:solidFill>
                <a:prstClr val="black"/>
              </a:solidFill>
            </a:endParaRPr>
          </a:p>
          <a:p>
            <a:pPr marL="742950" lvl="1" indent="-285750">
              <a:buFont typeface="Arial" panose="020B0604020202020204" pitchFamily="34" charset="0"/>
              <a:buChar char="•"/>
            </a:pPr>
            <a:r>
              <a:rPr lang="en-US" sz="1600" b="1" dirty="0">
                <a:solidFill>
                  <a:prstClr val="black"/>
                </a:solidFill>
              </a:rPr>
              <a:t>Coverage B - Personal and </a:t>
            </a:r>
            <a:r>
              <a:rPr lang="en-US" sz="1600" b="1" dirty="0" smtClean="0">
                <a:solidFill>
                  <a:prstClr val="black"/>
                </a:solidFill>
              </a:rPr>
              <a:t>Advertising </a:t>
            </a:r>
            <a:r>
              <a:rPr lang="en-US" sz="1600" b="1" dirty="0">
                <a:solidFill>
                  <a:prstClr val="black"/>
                </a:solidFill>
              </a:rPr>
              <a:t>I</a:t>
            </a:r>
            <a:r>
              <a:rPr lang="en-US" sz="1600" b="1" dirty="0" smtClean="0">
                <a:solidFill>
                  <a:prstClr val="black"/>
                </a:solidFill>
              </a:rPr>
              <a:t>njury </a:t>
            </a:r>
            <a:r>
              <a:rPr lang="en-US" sz="1600" b="1" dirty="0">
                <a:solidFill>
                  <a:prstClr val="black"/>
                </a:solidFill>
              </a:rPr>
              <a:t>L</a:t>
            </a:r>
            <a:r>
              <a:rPr lang="en-US" sz="1600" b="1" dirty="0" smtClean="0">
                <a:solidFill>
                  <a:prstClr val="black"/>
                </a:solidFill>
              </a:rPr>
              <a:t>iability</a:t>
            </a:r>
          </a:p>
          <a:p>
            <a:pPr marL="1200150" lvl="2" indent="-285750">
              <a:buFont typeface="Arial" panose="020B0604020202020204" pitchFamily="34" charset="0"/>
              <a:buChar char="•"/>
            </a:pPr>
            <a:r>
              <a:rPr lang="en-US" sz="1600" dirty="0" smtClean="0">
                <a:solidFill>
                  <a:prstClr val="black"/>
                </a:solidFill>
              </a:rPr>
              <a:t>Insures against claims based on torts such as libel, slander, wrongful eviction etc.</a:t>
            </a:r>
          </a:p>
          <a:p>
            <a:pPr marL="1200150" lvl="2" indent="-285750">
              <a:buFont typeface="Arial" panose="020B0604020202020204" pitchFamily="34" charset="0"/>
              <a:buChar char="•"/>
            </a:pPr>
            <a:r>
              <a:rPr lang="en-US" sz="1600" dirty="0" smtClean="0">
                <a:solidFill>
                  <a:prstClr val="black"/>
                </a:solidFill>
              </a:rPr>
              <a:t>Also protects against claims of oral or written publications and copyright infringement</a:t>
            </a:r>
          </a:p>
          <a:p>
            <a:pPr marL="1200150" lvl="2" indent="-285750">
              <a:buFont typeface="Arial" panose="020B0604020202020204" pitchFamily="34" charset="0"/>
              <a:buChar char="•"/>
            </a:pPr>
            <a:r>
              <a:rPr lang="en-US" sz="1600" dirty="0" smtClean="0">
                <a:solidFill>
                  <a:prstClr val="black"/>
                </a:solidFill>
              </a:rPr>
              <a:t>The coverage territory is worldwide for coverage B</a:t>
            </a:r>
          </a:p>
          <a:p>
            <a:pPr marL="1200150" lvl="2" indent="-285750">
              <a:buFont typeface="Arial" panose="020B0604020202020204" pitchFamily="34" charset="0"/>
              <a:buChar char="•"/>
            </a:pPr>
            <a:r>
              <a:rPr lang="en-US" sz="1600" dirty="0" smtClean="0">
                <a:solidFill>
                  <a:prstClr val="black"/>
                </a:solidFill>
              </a:rPr>
              <a:t>Insurer also defends the insured if the insured is held legally liable</a:t>
            </a:r>
          </a:p>
          <a:p>
            <a:pPr marL="742950" lvl="1" indent="-285750">
              <a:buFont typeface="Arial" panose="020B0604020202020204" pitchFamily="34" charset="0"/>
              <a:buChar char="•"/>
            </a:pPr>
            <a:endParaRPr lang="en-US" sz="1600" b="1" dirty="0">
              <a:solidFill>
                <a:prstClr val="black"/>
              </a:solidFill>
            </a:endParaRPr>
          </a:p>
          <a:p>
            <a:pPr marL="742950" lvl="1" indent="-285750">
              <a:buFont typeface="Arial" panose="020B0604020202020204" pitchFamily="34" charset="0"/>
              <a:buChar char="•"/>
            </a:pPr>
            <a:r>
              <a:rPr lang="en-US" sz="1600" b="1" dirty="0">
                <a:solidFill>
                  <a:prstClr val="black"/>
                </a:solidFill>
              </a:rPr>
              <a:t>Coverage C - Medical P</a:t>
            </a:r>
            <a:r>
              <a:rPr lang="en-US" sz="1600" b="1" dirty="0" smtClean="0">
                <a:solidFill>
                  <a:prstClr val="black"/>
                </a:solidFill>
              </a:rPr>
              <a:t>ayments</a:t>
            </a:r>
          </a:p>
          <a:p>
            <a:pPr marL="1200150" lvl="2" indent="-285750">
              <a:buFont typeface="Arial" panose="020B0604020202020204" pitchFamily="34" charset="0"/>
              <a:buChar char="•"/>
            </a:pPr>
            <a:r>
              <a:rPr lang="en-US" sz="1600" dirty="0" smtClean="0">
                <a:solidFill>
                  <a:prstClr val="black"/>
                </a:solidFill>
              </a:rPr>
              <a:t>Covers for medical expenses including funeral expenses for bodily injury caused by an accident on premises owned or rented by the insured, including the ways adjacent to such premises (also from operations away from the premises)</a:t>
            </a:r>
          </a:p>
          <a:p>
            <a:pPr marL="1200150" lvl="2" indent="-285750">
              <a:buFont typeface="Arial" panose="020B0604020202020204" pitchFamily="34" charset="0"/>
              <a:buChar char="•"/>
            </a:pPr>
            <a:r>
              <a:rPr lang="en-US" sz="1600" dirty="0" smtClean="0">
                <a:solidFill>
                  <a:prstClr val="black"/>
                </a:solidFill>
              </a:rPr>
              <a:t>The expenses must have incurred and reported within one year after the date of the accident</a:t>
            </a:r>
          </a:p>
          <a:p>
            <a:pPr marL="1200150" lvl="2" indent="-285750">
              <a:buFont typeface="Arial" panose="020B0604020202020204" pitchFamily="34" charset="0"/>
              <a:buChar char="•"/>
            </a:pPr>
            <a:r>
              <a:rPr lang="en-US" sz="1600" dirty="0" smtClean="0">
                <a:solidFill>
                  <a:prstClr val="black"/>
                </a:solidFill>
              </a:rPr>
              <a:t>Coverage is provided despite liability</a:t>
            </a:r>
          </a:p>
          <a:p>
            <a:pPr marL="1200150" lvl="2" indent="-285750">
              <a:buFont typeface="Arial" panose="020B0604020202020204" pitchFamily="34" charset="0"/>
              <a:buChar char="•"/>
            </a:pPr>
            <a:endParaRPr lang="en-US" sz="1600" b="1" dirty="0">
              <a:solidFill>
                <a:prstClr val="black"/>
              </a:solidFill>
            </a:endParaRPr>
          </a:p>
          <a:p>
            <a:pPr marL="285750" indent="-285750">
              <a:buFont typeface="Wingdings" panose="05000000000000000000" pitchFamily="2" charset="2"/>
              <a:buChar char="v"/>
            </a:pPr>
            <a:endParaRPr lang="en-US" sz="1600" dirty="0"/>
          </a:p>
        </p:txBody>
      </p:sp>
    </p:spTree>
    <p:extLst>
      <p:ext uri="{BB962C8B-B14F-4D97-AF65-F5344CB8AC3E}">
        <p14:creationId xmlns:p14="http://schemas.microsoft.com/office/powerpoint/2010/main" val="13397880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7525009"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 </a:t>
            </a:r>
            <a:r>
              <a:rPr lang="en-IN" sz="3454" b="1" dirty="0" err="1" smtClean="0">
                <a:solidFill>
                  <a:prstClr val="black"/>
                </a:solidFill>
                <a:latin typeface="Segoe UI Semibold" panose="020B0702040204020203" pitchFamily="34" charset="0"/>
                <a:cs typeface="BrowalliaUPC" panose="020B0604020202020204" pitchFamily="34" charset="-34"/>
              </a:rPr>
              <a:t>contd</a:t>
            </a:r>
            <a:r>
              <a:rPr lang="en-IN" sz="3454" b="1" dirty="0" smtClean="0">
                <a:solidFill>
                  <a:prstClr val="black"/>
                </a:solidFill>
                <a:latin typeface="Segoe UI Semibold" panose="020B0702040204020203" pitchFamily="34" charset="0"/>
                <a:cs typeface="BrowalliaUPC" panose="020B0604020202020204" pitchFamily="34" charset="-34"/>
              </a:rPr>
              <a:t>…</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298812" y="1248474"/>
            <a:ext cx="11227779" cy="5609525"/>
          </a:xfrm>
          <a:prstGeom prst="rect">
            <a:avLst/>
          </a:prstGeom>
          <a:noFill/>
          <a:ln>
            <a:miter lim="800000"/>
            <a:headEnd/>
            <a:tailEnd/>
          </a:ln>
        </p:spPr>
        <p:txBody>
          <a:bodyPr/>
          <a:lstStyle/>
          <a:p>
            <a:pPr marL="285750" indent="-285750">
              <a:buFont typeface="Arial" panose="020B0604020202020204" pitchFamily="34" charset="0"/>
              <a:buChar char="•"/>
            </a:pPr>
            <a:r>
              <a:rPr lang="en-US" sz="1600" b="1" dirty="0" smtClean="0"/>
              <a:t>Exclusions:</a:t>
            </a:r>
          </a:p>
          <a:p>
            <a:pPr marL="742950" lvl="1" indent="-285750">
              <a:buFont typeface="Arial" panose="020B0604020202020204" pitchFamily="34" charset="0"/>
              <a:buChar char="•"/>
            </a:pPr>
            <a:r>
              <a:rPr lang="en-US" sz="1600" b="1" dirty="0" smtClean="0"/>
              <a:t>Coverage A – Exclusions</a:t>
            </a:r>
          </a:p>
          <a:p>
            <a:pPr marL="1200150" lvl="2" indent="-285750">
              <a:buFont typeface="Arial" panose="020B0604020202020204" pitchFamily="34" charset="0"/>
              <a:buChar char="•"/>
            </a:pPr>
            <a:r>
              <a:rPr lang="en-US" sz="1600" b="1" dirty="0" smtClean="0"/>
              <a:t>Expected or intended injury</a:t>
            </a:r>
          </a:p>
          <a:p>
            <a:pPr marL="1200150" lvl="2" indent="-285750">
              <a:buFont typeface="Arial" panose="020B0604020202020204" pitchFamily="34" charset="0"/>
              <a:buChar char="•"/>
            </a:pPr>
            <a:r>
              <a:rPr lang="en-US" sz="1600" b="1" dirty="0" smtClean="0"/>
              <a:t>Contractual liability</a:t>
            </a:r>
          </a:p>
          <a:p>
            <a:pPr marL="1200150" lvl="2" indent="-285750">
              <a:buFont typeface="Arial" panose="020B0604020202020204" pitchFamily="34" charset="0"/>
              <a:buChar char="•"/>
            </a:pPr>
            <a:r>
              <a:rPr lang="en-US" sz="1600" b="1" dirty="0" smtClean="0"/>
              <a:t>Liquor liability</a:t>
            </a:r>
          </a:p>
          <a:p>
            <a:pPr marL="1200150" lvl="2" indent="-285750">
              <a:buFont typeface="Arial" panose="020B0604020202020204" pitchFamily="34" charset="0"/>
              <a:buChar char="•"/>
            </a:pPr>
            <a:r>
              <a:rPr lang="en-US" sz="1600" b="1" dirty="0" smtClean="0"/>
              <a:t>Pollution</a:t>
            </a:r>
          </a:p>
          <a:p>
            <a:pPr marL="1200150" lvl="2" indent="-285750">
              <a:buFont typeface="Arial" panose="020B0604020202020204" pitchFamily="34" charset="0"/>
              <a:buChar char="•"/>
            </a:pPr>
            <a:r>
              <a:rPr lang="en-US" sz="1600" b="1" dirty="0" smtClean="0"/>
              <a:t>Aircraft, Auto or Watercraft</a:t>
            </a:r>
          </a:p>
          <a:p>
            <a:pPr marL="1200150" lvl="2" indent="-285750">
              <a:buFont typeface="Arial" panose="020B0604020202020204" pitchFamily="34" charset="0"/>
              <a:buChar char="•"/>
            </a:pPr>
            <a:r>
              <a:rPr lang="en-US" sz="1600" b="1" dirty="0" smtClean="0"/>
              <a:t>War</a:t>
            </a:r>
          </a:p>
          <a:p>
            <a:pPr marL="1200150" lvl="2" indent="-285750">
              <a:buFont typeface="Arial" panose="020B0604020202020204" pitchFamily="34" charset="0"/>
              <a:buChar char="•"/>
            </a:pPr>
            <a:r>
              <a:rPr lang="en-US" sz="1600" b="1" dirty="0" smtClean="0"/>
              <a:t>Mobile equipment</a:t>
            </a:r>
          </a:p>
          <a:p>
            <a:pPr marL="1200150" lvl="2" indent="-285750">
              <a:buFont typeface="Arial" panose="020B0604020202020204" pitchFamily="34" charset="0"/>
              <a:buChar char="•"/>
            </a:pPr>
            <a:r>
              <a:rPr lang="en-US" sz="1600" b="1" dirty="0" smtClean="0"/>
              <a:t>Personal and advertising injury</a:t>
            </a:r>
          </a:p>
          <a:p>
            <a:pPr marL="1200150" lvl="2" indent="-285750">
              <a:buFont typeface="Arial" panose="020B0604020202020204" pitchFamily="34" charset="0"/>
              <a:buChar char="•"/>
            </a:pPr>
            <a:r>
              <a:rPr lang="en-US" sz="1600" b="1" dirty="0" smtClean="0"/>
              <a:t>Electronic data</a:t>
            </a:r>
          </a:p>
          <a:p>
            <a:pPr marL="742950" lvl="1" indent="-285750">
              <a:buFont typeface="Arial" panose="020B0604020202020204" pitchFamily="34" charset="0"/>
              <a:buChar char="•"/>
            </a:pPr>
            <a:r>
              <a:rPr lang="en-US" sz="1600" b="1" dirty="0" smtClean="0"/>
              <a:t>Coverage B – Exclusions</a:t>
            </a:r>
          </a:p>
          <a:p>
            <a:pPr marL="1200150" lvl="2" indent="-285750">
              <a:buFont typeface="Arial" panose="020B0604020202020204" pitchFamily="34" charset="0"/>
              <a:buChar char="•"/>
            </a:pPr>
            <a:r>
              <a:rPr lang="en-US" sz="1600" b="1" dirty="0" smtClean="0"/>
              <a:t>Criminal acts</a:t>
            </a:r>
          </a:p>
          <a:p>
            <a:pPr marL="1200150" lvl="2" indent="-285750">
              <a:buFont typeface="Arial" panose="020B0604020202020204" pitchFamily="34" charset="0"/>
              <a:buChar char="•"/>
            </a:pPr>
            <a:r>
              <a:rPr lang="en-US" sz="1600" b="1" dirty="0" smtClean="0"/>
              <a:t>Knowing violation of rights of others</a:t>
            </a:r>
          </a:p>
          <a:p>
            <a:pPr marL="1200150" lvl="2" indent="-285750">
              <a:buFont typeface="Arial" panose="020B0604020202020204" pitchFamily="34" charset="0"/>
              <a:buChar char="•"/>
            </a:pPr>
            <a:r>
              <a:rPr lang="en-US" sz="1600" b="1" dirty="0" smtClean="0"/>
              <a:t>Material published with knowledge of falsity</a:t>
            </a:r>
          </a:p>
          <a:p>
            <a:pPr marL="1200150" lvl="2" indent="-285750">
              <a:buFont typeface="Arial" panose="020B0604020202020204" pitchFamily="34" charset="0"/>
              <a:buChar char="•"/>
            </a:pPr>
            <a:r>
              <a:rPr lang="en-US" sz="1600" b="1" dirty="0" smtClean="0"/>
              <a:t>Electronic chatroom or bulletin boards</a:t>
            </a:r>
          </a:p>
          <a:p>
            <a:pPr marL="742950" lvl="1" indent="-285750">
              <a:buFont typeface="Arial" panose="020B0604020202020204" pitchFamily="34" charset="0"/>
              <a:buChar char="•"/>
            </a:pPr>
            <a:r>
              <a:rPr lang="en-US" sz="1600" b="1" dirty="0" smtClean="0"/>
              <a:t>Coverage C – Exclusions</a:t>
            </a:r>
          </a:p>
          <a:p>
            <a:pPr marL="1200150" lvl="2" indent="-285750">
              <a:buFont typeface="Arial" panose="020B0604020202020204" pitchFamily="34" charset="0"/>
              <a:buChar char="•"/>
            </a:pPr>
            <a:r>
              <a:rPr lang="en-US" sz="1600" b="1" dirty="0" smtClean="0"/>
              <a:t>Any insured</a:t>
            </a:r>
          </a:p>
          <a:p>
            <a:pPr marL="1200150" lvl="2" indent="-285750">
              <a:buFont typeface="Arial" panose="020B0604020202020204" pitchFamily="34" charset="0"/>
              <a:buChar char="•"/>
            </a:pPr>
            <a:r>
              <a:rPr lang="en-US" sz="1600" b="1" dirty="0" smtClean="0"/>
              <a:t>Anyone hired to work for the insured</a:t>
            </a:r>
          </a:p>
          <a:p>
            <a:pPr marL="1200150" lvl="2" indent="-285750">
              <a:buFont typeface="Arial" panose="020B0604020202020204" pitchFamily="34" charset="0"/>
              <a:buChar char="•"/>
            </a:pPr>
            <a:r>
              <a:rPr lang="en-US" sz="1600" b="1" dirty="0" smtClean="0"/>
              <a:t>A person entitled for worker’s compensation benefits</a:t>
            </a:r>
          </a:p>
          <a:p>
            <a:endParaRPr lang="en-US" sz="1600" b="1" dirty="0" smtClean="0"/>
          </a:p>
          <a:p>
            <a:endParaRPr lang="en-US" sz="1600" b="1" dirty="0" smtClean="0"/>
          </a:p>
          <a:p>
            <a:endParaRPr lang="en-US" sz="1600" b="1" dirty="0">
              <a:solidFill>
                <a:srgbClr val="C00000"/>
              </a:solidFill>
              <a:latin typeface="Segoe UI Light" panose="020B0502040204020203" pitchFamily="34" charset="0"/>
            </a:endParaRPr>
          </a:p>
          <a:p>
            <a:pPr marL="285750" indent="-285750">
              <a:buFont typeface="Wingdings" panose="05000000000000000000" pitchFamily="2" charset="2"/>
              <a:buChar char="v"/>
            </a:pPr>
            <a:endParaRPr lang="en-US" sz="1600" dirty="0"/>
          </a:p>
          <a:p>
            <a:pPr marL="285750" indent="-285750">
              <a:buFont typeface="Wingdings" panose="05000000000000000000" pitchFamily="2" charset="2"/>
              <a:buChar char="v"/>
            </a:pPr>
            <a:r>
              <a:rPr lang="en-US" sz="1600" dirty="0"/>
              <a:t>Common exclusions are intended injury, contractual liability, liquor liability, war, pollution etc.</a:t>
            </a:r>
          </a:p>
          <a:p>
            <a:pPr marL="285750" indent="-285750">
              <a:buFont typeface="Wingdings" panose="05000000000000000000" pitchFamily="2" charset="2"/>
              <a:buChar char="v"/>
            </a:pPr>
            <a:endParaRPr lang="en-US" sz="1600" dirty="0"/>
          </a:p>
          <a:p>
            <a:pPr marL="285750" indent="-285750">
              <a:buFont typeface="Wingdings" panose="05000000000000000000" pitchFamily="2" charset="2"/>
              <a:buChar char="v"/>
            </a:pPr>
            <a:endParaRPr lang="en-US" sz="1600" dirty="0"/>
          </a:p>
        </p:txBody>
      </p:sp>
    </p:spTree>
    <p:extLst>
      <p:ext uri="{BB962C8B-B14F-4D97-AF65-F5344CB8AC3E}">
        <p14:creationId xmlns:p14="http://schemas.microsoft.com/office/powerpoint/2010/main" val="18962159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7525009"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 </a:t>
            </a:r>
            <a:r>
              <a:rPr lang="en-IN" sz="3454" b="1" dirty="0" err="1" smtClean="0">
                <a:solidFill>
                  <a:prstClr val="black"/>
                </a:solidFill>
                <a:latin typeface="Segoe UI Semibold" panose="020B0702040204020203" pitchFamily="34" charset="0"/>
                <a:cs typeface="BrowalliaUPC" panose="020B0604020202020204" pitchFamily="34" charset="-34"/>
              </a:rPr>
              <a:t>contd</a:t>
            </a:r>
            <a:r>
              <a:rPr lang="en-IN" sz="3454" b="1" dirty="0" smtClean="0">
                <a:solidFill>
                  <a:prstClr val="black"/>
                </a:solidFill>
                <a:latin typeface="Segoe UI Semibold" panose="020B0702040204020203" pitchFamily="34" charset="0"/>
                <a:cs typeface="BrowalliaUPC" panose="020B0604020202020204" pitchFamily="34" charset="-34"/>
              </a:rPr>
              <a:t>…</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298812" y="1248475"/>
            <a:ext cx="11227779" cy="5108782"/>
          </a:xfrm>
          <a:prstGeom prst="rect">
            <a:avLst/>
          </a:prstGeom>
          <a:noFill/>
          <a:ln>
            <a:miter lim="800000"/>
            <a:headEnd/>
            <a:tailEnd/>
          </a:ln>
        </p:spPr>
        <p:txBody>
          <a:bodyPr/>
          <a:lstStyle/>
          <a:p>
            <a:pPr marL="285750" indent="-285750">
              <a:buFont typeface="Arial" panose="020B0604020202020204" pitchFamily="34" charset="0"/>
              <a:buChar char="•"/>
            </a:pPr>
            <a:r>
              <a:rPr lang="en-US" sz="1600" dirty="0" smtClean="0"/>
              <a:t>CGL policy also provides supplementary </a:t>
            </a:r>
            <a:r>
              <a:rPr lang="en-US" sz="1600" dirty="0"/>
              <a:t>payments </a:t>
            </a:r>
            <a:endParaRPr lang="en-US" sz="1600" dirty="0" smtClean="0"/>
          </a:p>
          <a:p>
            <a:pPr marL="742950" lvl="1" indent="-285750">
              <a:buFont typeface="Arial" panose="020B0604020202020204" pitchFamily="34" charset="0"/>
              <a:buChar char="•"/>
            </a:pPr>
            <a:r>
              <a:rPr lang="en-US" sz="1600" dirty="0"/>
              <a:t>F</a:t>
            </a:r>
            <a:r>
              <a:rPr lang="en-US" sz="1600" dirty="0" smtClean="0"/>
              <a:t>ees </a:t>
            </a:r>
            <a:r>
              <a:rPr lang="en-US" sz="1600" dirty="0"/>
              <a:t>for </a:t>
            </a:r>
            <a:r>
              <a:rPr lang="en-US" sz="1600" dirty="0" smtClean="0"/>
              <a:t>attorneys</a:t>
            </a:r>
          </a:p>
          <a:p>
            <a:pPr marL="742950" lvl="1" indent="-285750">
              <a:buFont typeface="Arial" panose="020B0604020202020204" pitchFamily="34" charset="0"/>
              <a:buChar char="•"/>
            </a:pPr>
            <a:r>
              <a:rPr lang="en-US" sz="1600" dirty="0"/>
              <a:t>C</a:t>
            </a:r>
            <a:r>
              <a:rPr lang="en-US" sz="1600" dirty="0" smtClean="0"/>
              <a:t>ost </a:t>
            </a:r>
            <a:r>
              <a:rPr lang="en-US" sz="1600" dirty="0"/>
              <a:t>of bail </a:t>
            </a:r>
            <a:r>
              <a:rPr lang="en-US" sz="1600" dirty="0" smtClean="0"/>
              <a:t>bonds</a:t>
            </a:r>
          </a:p>
          <a:p>
            <a:pPr marL="742950" lvl="1" indent="-285750">
              <a:buFont typeface="Arial" panose="020B0604020202020204" pitchFamily="34" charset="0"/>
              <a:buChar char="•"/>
            </a:pPr>
            <a:r>
              <a:rPr lang="en-US" sz="1600" dirty="0" smtClean="0"/>
              <a:t>Loss of earnings</a:t>
            </a:r>
          </a:p>
          <a:p>
            <a:pPr marL="742950" lvl="1" indent="-285750">
              <a:buFont typeface="Arial" panose="020B0604020202020204" pitchFamily="34" charset="0"/>
              <a:buChar char="•"/>
            </a:pPr>
            <a:r>
              <a:rPr lang="en-US" sz="1600" dirty="0"/>
              <a:t>I</a:t>
            </a:r>
            <a:r>
              <a:rPr lang="en-US" sz="1600" dirty="0" smtClean="0"/>
              <a:t>nterest </a:t>
            </a:r>
            <a:r>
              <a:rPr lang="en-US" sz="1600" dirty="0"/>
              <a:t>on </a:t>
            </a:r>
            <a:r>
              <a:rPr lang="en-US" sz="1600" dirty="0" smtClean="0"/>
              <a:t>judgements</a:t>
            </a:r>
            <a:endParaRPr lang="en-US" sz="1600" dirty="0"/>
          </a:p>
          <a:p>
            <a:endParaRPr lang="en-US" sz="1600" dirty="0" smtClean="0"/>
          </a:p>
          <a:p>
            <a:pPr marL="285750" indent="-285750">
              <a:buFont typeface="Arial" panose="020B0604020202020204" pitchFamily="34" charset="0"/>
              <a:buChar char="•"/>
            </a:pPr>
            <a:r>
              <a:rPr lang="en-US" sz="1600" dirty="0"/>
              <a:t>Endorsements can be included to enhance the limits of </a:t>
            </a:r>
            <a:r>
              <a:rPr lang="en-US" sz="1600" b="1" dirty="0"/>
              <a:t>supplementary payments, watercraft coverage </a:t>
            </a:r>
            <a:r>
              <a:rPr lang="en-US" sz="1600" dirty="0"/>
              <a:t>etc.</a:t>
            </a:r>
          </a:p>
          <a:p>
            <a:endParaRPr lang="en-US" sz="1600" dirty="0"/>
          </a:p>
          <a:p>
            <a:pPr marL="285750" indent="-285750">
              <a:buFont typeface="Arial" panose="020B0604020202020204" pitchFamily="34" charset="0"/>
              <a:buChar char="•"/>
            </a:pPr>
            <a:r>
              <a:rPr lang="en-US" sz="1600" dirty="0"/>
              <a:t>Per occurrence limit specifies the maximum amount per occurrence. Sub-limits include </a:t>
            </a:r>
            <a:r>
              <a:rPr lang="en-US" sz="1600" b="1" dirty="0"/>
              <a:t>Damage to premises rented to you </a:t>
            </a:r>
            <a:r>
              <a:rPr lang="en-US" sz="1600" dirty="0"/>
              <a:t>(basic $ 100,000) and </a:t>
            </a:r>
            <a:r>
              <a:rPr lang="en-US" sz="1600" b="1" dirty="0"/>
              <a:t>Medical expense limit </a:t>
            </a:r>
            <a:r>
              <a:rPr lang="en-US" sz="1600" dirty="0"/>
              <a:t>for one person (basic $ 5,000</a:t>
            </a:r>
            <a:r>
              <a:rPr lang="en-US" sz="1600" dirty="0" smtClean="0"/>
              <a:t>)</a:t>
            </a:r>
          </a:p>
          <a:p>
            <a:pPr marL="285750" indent="-285750">
              <a:buFont typeface="Wingdings" panose="05000000000000000000" pitchFamily="2" charset="2"/>
              <a:buChar char="v"/>
            </a:pPr>
            <a:endParaRPr lang="en-US" sz="1600" dirty="0"/>
          </a:p>
          <a:p>
            <a:pPr marL="285750" indent="-285750">
              <a:buFont typeface="Arial" panose="020B0604020202020204" pitchFamily="34" charset="0"/>
              <a:buChar char="•"/>
            </a:pPr>
            <a:r>
              <a:rPr lang="en-US" sz="1600" dirty="0"/>
              <a:t>CGL coverage form has two limits along with a limit for each covered occurrence. These cap the amount to be paid for the entire policy period</a:t>
            </a:r>
          </a:p>
          <a:p>
            <a:pPr marL="742950" lvl="1" indent="-285750">
              <a:buFont typeface="Arial" panose="020B0604020202020204" pitchFamily="34" charset="0"/>
              <a:buChar char="•"/>
            </a:pPr>
            <a:r>
              <a:rPr lang="en-US" sz="1600" b="1" dirty="0"/>
              <a:t>General aggregate limit </a:t>
            </a:r>
            <a:r>
              <a:rPr lang="en-US" sz="1600" dirty="0"/>
              <a:t>– Maximum the insurer will pay for the sum of damages under </a:t>
            </a:r>
            <a:r>
              <a:rPr lang="en-US" sz="1600" dirty="0" err="1"/>
              <a:t>Cov</a:t>
            </a:r>
            <a:r>
              <a:rPr lang="en-US" sz="1600" dirty="0"/>
              <a:t> A (except those arising from products-completed operations), </a:t>
            </a:r>
            <a:r>
              <a:rPr lang="en-US" sz="1600" dirty="0" err="1"/>
              <a:t>Cov</a:t>
            </a:r>
            <a:r>
              <a:rPr lang="en-US" sz="1600" dirty="0"/>
              <a:t> B and </a:t>
            </a:r>
            <a:r>
              <a:rPr lang="en-US" sz="1600" dirty="0" err="1"/>
              <a:t>Cov</a:t>
            </a:r>
            <a:r>
              <a:rPr lang="en-US" sz="1600" dirty="0"/>
              <a:t> C</a:t>
            </a:r>
          </a:p>
          <a:p>
            <a:pPr marL="742950" lvl="1" indent="-285750">
              <a:buFont typeface="Arial" panose="020B0604020202020204" pitchFamily="34" charset="0"/>
              <a:buChar char="•"/>
            </a:pPr>
            <a:r>
              <a:rPr lang="en-US" sz="1600" b="1" dirty="0"/>
              <a:t>Products-completed operations aggregate limit</a:t>
            </a:r>
            <a:r>
              <a:rPr lang="en-US" sz="1600" dirty="0"/>
              <a:t> – Maximum the insurer will pay in </a:t>
            </a:r>
            <a:r>
              <a:rPr lang="en-US" sz="1600" dirty="0" err="1"/>
              <a:t>Cov</a:t>
            </a:r>
            <a:r>
              <a:rPr lang="en-US" sz="1600" dirty="0"/>
              <a:t> A for bodily injury or property damage arising out of products-completed operations hazard</a:t>
            </a:r>
            <a:endParaRPr lang="en-US" sz="1600" b="1" dirty="0"/>
          </a:p>
          <a:p>
            <a:pPr marL="285750" indent="-285750">
              <a:buFont typeface="Wingdings" panose="05000000000000000000" pitchFamily="2" charset="2"/>
              <a:buChar char="v"/>
            </a:pPr>
            <a:endParaRPr lang="en-US" sz="1600" dirty="0"/>
          </a:p>
        </p:txBody>
      </p:sp>
    </p:spTree>
    <p:extLst>
      <p:ext uri="{BB962C8B-B14F-4D97-AF65-F5344CB8AC3E}">
        <p14:creationId xmlns:p14="http://schemas.microsoft.com/office/powerpoint/2010/main" val="32696120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7525009"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 </a:t>
            </a:r>
            <a:r>
              <a:rPr lang="en-IN" sz="3454" b="1" dirty="0" err="1" smtClean="0">
                <a:solidFill>
                  <a:prstClr val="black"/>
                </a:solidFill>
                <a:latin typeface="Segoe UI Semibold" panose="020B0702040204020203" pitchFamily="34" charset="0"/>
                <a:cs typeface="BrowalliaUPC" panose="020B0604020202020204" pitchFamily="34" charset="-34"/>
              </a:rPr>
              <a:t>contd</a:t>
            </a:r>
            <a:r>
              <a:rPr lang="en-IN" sz="3454" b="1" dirty="0" smtClean="0">
                <a:solidFill>
                  <a:prstClr val="black"/>
                </a:solidFill>
                <a:latin typeface="Segoe UI Semibold" panose="020B0702040204020203" pitchFamily="34" charset="0"/>
                <a:cs typeface="BrowalliaUPC" panose="020B0604020202020204" pitchFamily="34" charset="-34"/>
              </a:rPr>
              <a:t>…</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8" name="Oval 7"/>
          <p:cNvSpPr/>
          <p:nvPr/>
        </p:nvSpPr>
        <p:spPr>
          <a:xfrm>
            <a:off x="1508974" y="1321158"/>
            <a:ext cx="2743200" cy="2514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614374" y="1244958"/>
            <a:ext cx="2209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6614374" y="2578458"/>
            <a:ext cx="2209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080974" y="3835758"/>
            <a:ext cx="1066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8290774" y="3835758"/>
            <a:ext cx="1066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042374" y="4673958"/>
            <a:ext cx="1828800" cy="1828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7187188" y="5054958"/>
            <a:ext cx="1066800" cy="10668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8" idx="7"/>
            <a:endCxn id="9" idx="2"/>
          </p:cNvCxnSpPr>
          <p:nvPr/>
        </p:nvCxnSpPr>
        <p:spPr>
          <a:xfrm>
            <a:off x="3850442" y="1689413"/>
            <a:ext cx="2763932" cy="889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8" idx="5"/>
            <a:endCxn id="10" idx="2"/>
          </p:cNvCxnSpPr>
          <p:nvPr/>
        </p:nvCxnSpPr>
        <p:spPr>
          <a:xfrm flipV="1">
            <a:off x="3850442" y="3111858"/>
            <a:ext cx="2763932" cy="3556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0" idx="3"/>
            <a:endCxn id="11" idx="0"/>
          </p:cNvCxnSpPr>
          <p:nvPr/>
        </p:nvCxnSpPr>
        <p:spPr>
          <a:xfrm flipH="1">
            <a:off x="6614374" y="3489029"/>
            <a:ext cx="323618" cy="3467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5"/>
            <a:endCxn id="12" idx="0"/>
          </p:cNvCxnSpPr>
          <p:nvPr/>
        </p:nvCxnSpPr>
        <p:spPr>
          <a:xfrm>
            <a:off x="8500556" y="3489029"/>
            <a:ext cx="323618" cy="3467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3" idx="6"/>
            <a:endCxn id="14" idx="2"/>
          </p:cNvCxnSpPr>
          <p:nvPr/>
        </p:nvCxnSpPr>
        <p:spPr>
          <a:xfrm>
            <a:off x="3871174" y="5588358"/>
            <a:ext cx="3316014"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286501" y="2116793"/>
            <a:ext cx="1188146" cy="861774"/>
          </a:xfrm>
          <a:prstGeom prst="rect">
            <a:avLst/>
          </a:prstGeom>
          <a:noFill/>
        </p:spPr>
        <p:txBody>
          <a:bodyPr wrap="none" rtlCol="0">
            <a:spAutoFit/>
          </a:bodyPr>
          <a:lstStyle/>
          <a:p>
            <a:pPr algn="ctr"/>
            <a:r>
              <a:rPr lang="en-US" sz="1600" dirty="0" smtClean="0"/>
              <a:t>General </a:t>
            </a:r>
          </a:p>
          <a:p>
            <a:pPr algn="ctr"/>
            <a:r>
              <a:rPr lang="en-US" sz="1600" dirty="0" smtClean="0"/>
              <a:t>Aggregate </a:t>
            </a:r>
          </a:p>
          <a:p>
            <a:pPr algn="ctr"/>
            <a:r>
              <a:rPr lang="en-US" sz="1600" dirty="0" smtClean="0"/>
              <a:t>Limit</a:t>
            </a:r>
            <a:endParaRPr lang="en-US" sz="1600" dirty="0"/>
          </a:p>
        </p:txBody>
      </p:sp>
      <p:sp>
        <p:nvSpPr>
          <p:cNvPr id="21" name="TextBox 20"/>
          <p:cNvSpPr txBox="1"/>
          <p:nvPr/>
        </p:nvSpPr>
        <p:spPr>
          <a:xfrm>
            <a:off x="6919174" y="1312228"/>
            <a:ext cx="1676401" cy="830997"/>
          </a:xfrm>
          <a:prstGeom prst="rect">
            <a:avLst/>
          </a:prstGeom>
          <a:noFill/>
        </p:spPr>
        <p:txBody>
          <a:bodyPr wrap="square" rtlCol="0">
            <a:spAutoFit/>
          </a:bodyPr>
          <a:lstStyle/>
          <a:p>
            <a:pPr algn="ctr"/>
            <a:r>
              <a:rPr lang="en-US" sz="1600" dirty="0" smtClean="0"/>
              <a:t>Personal and advertising injury limit</a:t>
            </a:r>
            <a:endParaRPr lang="en-US" sz="1600" dirty="0"/>
          </a:p>
        </p:txBody>
      </p:sp>
      <p:sp>
        <p:nvSpPr>
          <p:cNvPr id="22" name="TextBox 21"/>
          <p:cNvSpPr txBox="1"/>
          <p:nvPr/>
        </p:nvSpPr>
        <p:spPr>
          <a:xfrm>
            <a:off x="6766774" y="2921358"/>
            <a:ext cx="1667444" cy="338554"/>
          </a:xfrm>
          <a:prstGeom prst="rect">
            <a:avLst/>
          </a:prstGeom>
          <a:noFill/>
        </p:spPr>
        <p:txBody>
          <a:bodyPr wrap="none" rtlCol="0">
            <a:spAutoFit/>
          </a:bodyPr>
          <a:lstStyle/>
          <a:p>
            <a:r>
              <a:rPr lang="en-US" sz="1600" dirty="0" smtClean="0"/>
              <a:t>Occurrence limit</a:t>
            </a:r>
            <a:endParaRPr lang="en-US" sz="1600" dirty="0"/>
          </a:p>
        </p:txBody>
      </p:sp>
      <p:sp>
        <p:nvSpPr>
          <p:cNvPr id="23" name="TextBox 22"/>
          <p:cNvSpPr txBox="1"/>
          <p:nvPr/>
        </p:nvSpPr>
        <p:spPr>
          <a:xfrm>
            <a:off x="6004774" y="4027627"/>
            <a:ext cx="1142999" cy="830997"/>
          </a:xfrm>
          <a:prstGeom prst="rect">
            <a:avLst/>
          </a:prstGeom>
          <a:noFill/>
        </p:spPr>
        <p:txBody>
          <a:bodyPr wrap="square" rtlCol="0">
            <a:spAutoFit/>
          </a:bodyPr>
          <a:lstStyle/>
          <a:p>
            <a:pPr algn="ctr"/>
            <a:r>
              <a:rPr lang="en-US" sz="1200" dirty="0" smtClean="0"/>
              <a:t>Damage to premises rented by </a:t>
            </a:r>
          </a:p>
          <a:p>
            <a:pPr algn="ctr"/>
            <a:r>
              <a:rPr lang="en-US" sz="1200" dirty="0" smtClean="0"/>
              <a:t>you</a:t>
            </a:r>
            <a:endParaRPr lang="en-US" sz="1200" dirty="0"/>
          </a:p>
        </p:txBody>
      </p:sp>
      <p:sp>
        <p:nvSpPr>
          <p:cNvPr id="24" name="TextBox 23"/>
          <p:cNvSpPr txBox="1"/>
          <p:nvPr/>
        </p:nvSpPr>
        <p:spPr>
          <a:xfrm>
            <a:off x="8443174" y="4045992"/>
            <a:ext cx="838201" cy="646331"/>
          </a:xfrm>
          <a:prstGeom prst="rect">
            <a:avLst/>
          </a:prstGeom>
          <a:noFill/>
        </p:spPr>
        <p:txBody>
          <a:bodyPr wrap="square" rtlCol="0">
            <a:spAutoFit/>
          </a:bodyPr>
          <a:lstStyle/>
          <a:p>
            <a:pPr algn="ctr"/>
            <a:r>
              <a:rPr lang="en-US" sz="1200" dirty="0" smtClean="0"/>
              <a:t>Medical expense limit</a:t>
            </a:r>
            <a:endParaRPr lang="en-US" sz="1200" dirty="0"/>
          </a:p>
        </p:txBody>
      </p:sp>
      <p:sp>
        <p:nvSpPr>
          <p:cNvPr id="25" name="TextBox 24"/>
          <p:cNvSpPr txBox="1"/>
          <p:nvPr/>
        </p:nvSpPr>
        <p:spPr>
          <a:xfrm>
            <a:off x="2369508" y="5026919"/>
            <a:ext cx="1295400" cy="1323439"/>
          </a:xfrm>
          <a:prstGeom prst="rect">
            <a:avLst/>
          </a:prstGeom>
          <a:noFill/>
        </p:spPr>
        <p:txBody>
          <a:bodyPr wrap="square" rtlCol="0">
            <a:spAutoFit/>
          </a:bodyPr>
          <a:lstStyle/>
          <a:p>
            <a:pPr algn="ctr"/>
            <a:r>
              <a:rPr lang="en-US" sz="1600" dirty="0" smtClean="0"/>
              <a:t>Products- Completed Operations Aggregate Limit</a:t>
            </a:r>
            <a:endParaRPr lang="en-US" sz="1600" dirty="0"/>
          </a:p>
        </p:txBody>
      </p:sp>
      <p:sp>
        <p:nvSpPr>
          <p:cNvPr id="26" name="TextBox 25"/>
          <p:cNvSpPr txBox="1"/>
          <p:nvPr/>
        </p:nvSpPr>
        <p:spPr>
          <a:xfrm>
            <a:off x="7071574" y="5131158"/>
            <a:ext cx="1362644" cy="830997"/>
          </a:xfrm>
          <a:prstGeom prst="rect">
            <a:avLst/>
          </a:prstGeom>
          <a:noFill/>
        </p:spPr>
        <p:txBody>
          <a:bodyPr wrap="square" rtlCol="0">
            <a:spAutoFit/>
          </a:bodyPr>
          <a:lstStyle/>
          <a:p>
            <a:pPr algn="ctr"/>
            <a:r>
              <a:rPr lang="en-US" sz="1600" dirty="0" smtClean="0"/>
              <a:t>Each occurrence limit</a:t>
            </a:r>
            <a:endParaRPr lang="en-US" sz="1600" dirty="0"/>
          </a:p>
        </p:txBody>
      </p:sp>
    </p:spTree>
    <p:extLst>
      <p:ext uri="{BB962C8B-B14F-4D97-AF65-F5344CB8AC3E}">
        <p14:creationId xmlns:p14="http://schemas.microsoft.com/office/powerpoint/2010/main" val="41320168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7525009"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Commercial General Liability </a:t>
            </a:r>
            <a:r>
              <a:rPr lang="en-IN" sz="3454" b="1" dirty="0" err="1" smtClean="0">
                <a:solidFill>
                  <a:prstClr val="black"/>
                </a:solidFill>
                <a:latin typeface="Segoe UI Semibold" panose="020B0702040204020203" pitchFamily="34" charset="0"/>
                <a:cs typeface="BrowalliaUPC" panose="020B0604020202020204" pitchFamily="34" charset="-34"/>
              </a:rPr>
              <a:t>contd</a:t>
            </a:r>
            <a:r>
              <a:rPr lang="en-IN" sz="3454" b="1" dirty="0" smtClean="0">
                <a:solidFill>
                  <a:prstClr val="black"/>
                </a:solidFill>
                <a:latin typeface="Segoe UI Semibold" panose="020B0702040204020203" pitchFamily="34" charset="0"/>
                <a:cs typeface="BrowalliaUPC" panose="020B0604020202020204" pitchFamily="34" charset="-34"/>
              </a:rPr>
              <a:t>…</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298812" y="1248475"/>
            <a:ext cx="11227779" cy="4436239"/>
          </a:xfrm>
          <a:prstGeom prst="rect">
            <a:avLst/>
          </a:prstGeom>
          <a:noFill/>
          <a:ln>
            <a:miter lim="800000"/>
            <a:headEnd/>
            <a:tailEnd/>
          </a:ln>
        </p:spPr>
        <p:txBody>
          <a:bodyPr/>
          <a:lstStyle/>
          <a:p>
            <a:pPr marL="285750" indent="-285750">
              <a:spcBef>
                <a:spcPct val="20000"/>
              </a:spcBef>
              <a:buClr>
                <a:prstClr val="black"/>
              </a:buClr>
              <a:buFont typeface="Arial" panose="020B0604020202020204" pitchFamily="34" charset="0"/>
              <a:buChar char="•"/>
              <a:defRPr/>
            </a:pPr>
            <a:r>
              <a:rPr lang="en-US" sz="1600" b="1" dirty="0" smtClean="0"/>
              <a:t>Determining rates of a CGL policy</a:t>
            </a:r>
            <a:endParaRPr lang="en-US" sz="1600" b="1" dirty="0"/>
          </a:p>
          <a:p>
            <a:pPr marL="285750" indent="-285750">
              <a:buFont typeface="Arial" panose="020B0604020202020204" pitchFamily="34" charset="0"/>
              <a:buChar char="•"/>
            </a:pPr>
            <a:endParaRPr lang="en-US" sz="1600" dirty="0" smtClean="0"/>
          </a:p>
          <a:p>
            <a:pPr marL="742950" lvl="1" indent="-285750">
              <a:buFont typeface="Arial" panose="020B0604020202020204" pitchFamily="34" charset="0"/>
              <a:buChar char="•"/>
            </a:pPr>
            <a:r>
              <a:rPr lang="en-US" sz="1600" dirty="0" smtClean="0"/>
              <a:t>Separate </a:t>
            </a:r>
            <a:r>
              <a:rPr lang="en-US" sz="1600" dirty="0"/>
              <a:t>rates may be determined for </a:t>
            </a:r>
            <a:r>
              <a:rPr lang="en-US" sz="1600" b="1" dirty="0"/>
              <a:t>premises-operations</a:t>
            </a:r>
            <a:r>
              <a:rPr lang="en-US" sz="1600" dirty="0"/>
              <a:t> and </a:t>
            </a:r>
            <a:r>
              <a:rPr lang="en-US" sz="1600" b="1" dirty="0"/>
              <a:t>products-completed operations</a:t>
            </a:r>
          </a:p>
          <a:p>
            <a:pPr marL="285750" indent="-285750">
              <a:buFont typeface="Wingdings" panose="05000000000000000000" pitchFamily="2" charset="2"/>
              <a:buChar char="v"/>
            </a:pPr>
            <a:endParaRPr lang="en-US" sz="1600" dirty="0"/>
          </a:p>
          <a:p>
            <a:pPr marL="742950" lvl="1" indent="-285750">
              <a:buFont typeface="Arial" panose="020B0604020202020204" pitchFamily="34" charset="0"/>
              <a:buChar char="•"/>
            </a:pPr>
            <a:r>
              <a:rPr lang="en-US" sz="1600" dirty="0"/>
              <a:t>Factors affecting CGL insurance premium include:</a:t>
            </a:r>
          </a:p>
          <a:p>
            <a:pPr marL="1200150" lvl="2" indent="-285750">
              <a:buFont typeface="Arial" panose="020B0604020202020204" pitchFamily="34" charset="0"/>
              <a:buChar char="•"/>
            </a:pPr>
            <a:r>
              <a:rPr lang="en-US" sz="1600" dirty="0"/>
              <a:t>Business </a:t>
            </a:r>
            <a:r>
              <a:rPr lang="en-US" sz="1600" dirty="0" smtClean="0"/>
              <a:t>classification –  Primary operations, construction, region, safety, number of employees etc.</a:t>
            </a:r>
            <a:endParaRPr lang="en-US" sz="1600" dirty="0"/>
          </a:p>
          <a:p>
            <a:pPr marL="1200150" lvl="2" indent="-285750">
              <a:buFont typeface="Arial" panose="020B0604020202020204" pitchFamily="34" charset="0"/>
              <a:buChar char="•"/>
            </a:pPr>
            <a:r>
              <a:rPr lang="en-US" sz="1600" dirty="0"/>
              <a:t>Limits of insurance</a:t>
            </a:r>
          </a:p>
          <a:p>
            <a:pPr marL="1200150" lvl="2" indent="-285750">
              <a:buFont typeface="Arial" panose="020B0604020202020204" pitchFamily="34" charset="0"/>
              <a:buChar char="•"/>
            </a:pPr>
            <a:r>
              <a:rPr lang="en-US" sz="1600" dirty="0"/>
              <a:t>Coverages</a:t>
            </a:r>
          </a:p>
          <a:p>
            <a:pPr marL="1200150" lvl="2" indent="-285750">
              <a:buFont typeface="Arial" panose="020B0604020202020204" pitchFamily="34" charset="0"/>
              <a:buChar char="•"/>
            </a:pPr>
            <a:r>
              <a:rPr lang="en-US" sz="1600" dirty="0" smtClean="0"/>
              <a:t>Deductible</a:t>
            </a:r>
          </a:p>
          <a:p>
            <a:pPr lvl="1"/>
            <a:endParaRPr lang="en-US" sz="1600" dirty="0" smtClean="0"/>
          </a:p>
          <a:p>
            <a:pPr marL="285750" indent="-285750">
              <a:buFont typeface="Arial" panose="020B0604020202020204" pitchFamily="34" charset="0"/>
              <a:buChar char="•"/>
            </a:pPr>
            <a:endParaRPr lang="en-US" sz="1600" dirty="0" smtClean="0"/>
          </a:p>
        </p:txBody>
      </p:sp>
    </p:spTree>
    <p:extLst>
      <p:ext uri="{BB962C8B-B14F-4D97-AF65-F5344CB8AC3E}">
        <p14:creationId xmlns:p14="http://schemas.microsoft.com/office/powerpoint/2010/main" val="24386930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5301388"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Employer Benefit Liability</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124643" y="1335560"/>
            <a:ext cx="11893189" cy="5798206"/>
          </a:xfrm>
          <a:prstGeom prst="rect">
            <a:avLst/>
          </a:prstGeom>
          <a:noFill/>
          <a:ln>
            <a:miter lim="800000"/>
            <a:headEnd/>
            <a:tailEnd/>
          </a:ln>
        </p:spPr>
        <p:txBody>
          <a:bodyPr/>
          <a:lstStyle/>
          <a:p>
            <a:pPr marL="285750" indent="-285750">
              <a:buFont typeface="Arial" panose="020B0604020202020204" pitchFamily="34" charset="0"/>
              <a:buChar char="•"/>
            </a:pPr>
            <a:r>
              <a:rPr lang="en-IN" sz="1600" dirty="0">
                <a:solidFill>
                  <a:prstClr val="black"/>
                </a:solidFill>
              </a:rPr>
              <a:t>Provides coverage to the insured (employer) </a:t>
            </a:r>
            <a:r>
              <a:rPr lang="en-IN" sz="1600" b="1" u="sng" dirty="0">
                <a:solidFill>
                  <a:prstClr val="black"/>
                </a:solidFill>
              </a:rPr>
              <a:t>for liability to employees </a:t>
            </a:r>
            <a:r>
              <a:rPr lang="en-IN" sz="1600" dirty="0">
                <a:solidFill>
                  <a:prstClr val="black"/>
                </a:solidFill>
              </a:rPr>
              <a:t>for work-related bodily injury or disease, other than liability imposed on the insured by a workers compensation </a:t>
            </a:r>
            <a:r>
              <a:rPr lang="en-IN" sz="1600" dirty="0" smtClean="0">
                <a:solidFill>
                  <a:prstClr val="black"/>
                </a:solidFill>
              </a:rPr>
              <a:t>law. It</a:t>
            </a:r>
            <a:r>
              <a:rPr lang="en-US" sz="1600" dirty="0" smtClean="0">
                <a:solidFill>
                  <a:prstClr val="black"/>
                </a:solidFill>
              </a:rPr>
              <a:t> </a:t>
            </a:r>
            <a:r>
              <a:rPr lang="en-US" sz="1600" dirty="0">
                <a:solidFill>
                  <a:prstClr val="black"/>
                </a:solidFill>
              </a:rPr>
              <a:t>also includes wrongful death, damages for care or loss of services, consequential injury to spouse, child etc</a:t>
            </a:r>
            <a:r>
              <a:rPr lang="en-US" sz="1600" dirty="0" smtClean="0">
                <a:solidFill>
                  <a:prstClr val="black"/>
                </a:solidFill>
              </a:rPr>
              <a:t>.</a:t>
            </a:r>
          </a:p>
          <a:p>
            <a:pPr marL="285750" indent="-285750">
              <a:buFont typeface="Arial" panose="020B0604020202020204" pitchFamily="34" charset="0"/>
              <a:buChar char="•"/>
            </a:pPr>
            <a:r>
              <a:rPr lang="en-US" sz="1600" dirty="0" smtClean="0">
                <a:solidFill>
                  <a:prstClr val="black"/>
                </a:solidFill>
              </a:rPr>
              <a:t>EBL </a:t>
            </a:r>
            <a:r>
              <a:rPr lang="en-US" sz="1600" dirty="0">
                <a:solidFill>
                  <a:prstClr val="black"/>
                </a:solidFill>
              </a:rPr>
              <a:t>pays for the losses or damages </a:t>
            </a:r>
            <a:r>
              <a:rPr lang="en-US" sz="1600" dirty="0" smtClean="0">
                <a:solidFill>
                  <a:prstClr val="black"/>
                </a:solidFill>
              </a:rPr>
              <a:t>only when the insured is </a:t>
            </a:r>
            <a:r>
              <a:rPr lang="en-US" sz="1600" dirty="0">
                <a:solidFill>
                  <a:prstClr val="black"/>
                </a:solidFill>
              </a:rPr>
              <a:t>held liable </a:t>
            </a:r>
            <a:r>
              <a:rPr lang="en-US" sz="1600" dirty="0" smtClean="0">
                <a:solidFill>
                  <a:prstClr val="black"/>
                </a:solidFill>
              </a:rPr>
              <a:t>and </a:t>
            </a:r>
            <a:r>
              <a:rPr lang="en-US" sz="1600" b="1" u="sng" dirty="0" smtClean="0">
                <a:solidFill>
                  <a:prstClr val="black"/>
                </a:solidFill>
              </a:rPr>
              <a:t>is not a </a:t>
            </a:r>
            <a:r>
              <a:rPr lang="en-US" sz="1600" b="1" u="sng" dirty="0">
                <a:solidFill>
                  <a:prstClr val="black"/>
                </a:solidFill>
              </a:rPr>
              <a:t>“no fault” </a:t>
            </a:r>
            <a:r>
              <a:rPr lang="en-US" sz="1600" b="1" u="sng" dirty="0" smtClean="0">
                <a:solidFill>
                  <a:prstClr val="black"/>
                </a:solidFill>
              </a:rPr>
              <a:t>coverage</a:t>
            </a:r>
            <a:endParaRPr lang="en-US" sz="1600" b="1" u="sng" dirty="0">
              <a:solidFill>
                <a:prstClr val="black"/>
              </a:solidFill>
            </a:endParaRPr>
          </a:p>
          <a:p>
            <a:pPr marL="285750" indent="-285750">
              <a:buFont typeface="Arial" panose="020B0604020202020204" pitchFamily="34" charset="0"/>
              <a:buChar char="•"/>
            </a:pPr>
            <a:r>
              <a:rPr lang="en-US" sz="1600" dirty="0" smtClean="0">
                <a:solidFill>
                  <a:prstClr val="black"/>
                </a:solidFill>
              </a:rPr>
              <a:t>EBL is usually </a:t>
            </a:r>
            <a:r>
              <a:rPr lang="en-US" sz="1600" b="1" dirty="0" smtClean="0">
                <a:solidFill>
                  <a:prstClr val="black"/>
                </a:solidFill>
              </a:rPr>
              <a:t>the second part of the Worker’s Compensation policy</a:t>
            </a:r>
            <a:r>
              <a:rPr lang="en-IN" sz="1600" b="1" dirty="0" smtClean="0">
                <a:solidFill>
                  <a:prstClr val="black"/>
                </a:solidFill>
                <a:latin typeface="Segoe UI Light" panose="020B0502040204020203" pitchFamily="34" charset="0"/>
              </a:rPr>
              <a:t> </a:t>
            </a:r>
            <a:r>
              <a:rPr lang="en-IN" sz="1600" dirty="0">
                <a:solidFill>
                  <a:prstClr val="black"/>
                </a:solidFill>
              </a:rPr>
              <a:t>and covers three broad categories of losses</a:t>
            </a:r>
            <a:r>
              <a:rPr lang="en-IN" sz="1600" dirty="0" smtClean="0">
                <a:solidFill>
                  <a:prstClr val="black"/>
                </a:solidFill>
              </a:rPr>
              <a:t>:</a:t>
            </a:r>
          </a:p>
          <a:p>
            <a:pPr marL="285750" indent="-285750">
              <a:buFont typeface="Arial" panose="020B0604020202020204" pitchFamily="34" charset="0"/>
              <a:buChar char="•"/>
            </a:pPr>
            <a:endParaRPr lang="en-IN" sz="1600" dirty="0">
              <a:solidFill>
                <a:prstClr val="black"/>
              </a:solidFill>
            </a:endParaRPr>
          </a:p>
          <a:p>
            <a:pPr marL="742950" lvl="1" indent="-285750">
              <a:buFont typeface="Arial" panose="020B0604020202020204" pitchFamily="34" charset="0"/>
              <a:buChar char="•"/>
            </a:pPr>
            <a:r>
              <a:rPr lang="en-IN" sz="1600" b="1" dirty="0">
                <a:solidFill>
                  <a:prstClr val="black"/>
                </a:solidFill>
              </a:rPr>
              <a:t>Third party over </a:t>
            </a:r>
            <a:r>
              <a:rPr lang="en-IN" sz="1600" b="1" dirty="0" smtClean="0">
                <a:solidFill>
                  <a:prstClr val="black"/>
                </a:solidFill>
              </a:rPr>
              <a:t>actions </a:t>
            </a:r>
            <a:r>
              <a:rPr lang="en-IN" sz="1600" dirty="0" smtClean="0">
                <a:solidFill>
                  <a:prstClr val="black"/>
                </a:solidFill>
              </a:rPr>
              <a:t>-</a:t>
            </a:r>
            <a:r>
              <a:rPr lang="en-IN" sz="1600" dirty="0">
                <a:solidFill>
                  <a:prstClr val="black"/>
                </a:solidFill>
                <a:latin typeface="Segoe UI Light" panose="020B0502040204020203" pitchFamily="34" charset="0"/>
              </a:rPr>
              <a:t> </a:t>
            </a:r>
            <a:r>
              <a:rPr lang="en-IN" sz="1600" dirty="0">
                <a:solidFill>
                  <a:prstClr val="black"/>
                </a:solidFill>
              </a:rPr>
              <a:t>Another party that was held liable for your employee’s injury files this kind of lawsuit against your business. </a:t>
            </a:r>
            <a:r>
              <a:rPr lang="en-IN" sz="1600" dirty="0" smtClean="0">
                <a:solidFill>
                  <a:prstClr val="black"/>
                </a:solidFill>
              </a:rPr>
              <a:t>For example</a:t>
            </a:r>
            <a:r>
              <a:rPr lang="en-IN" sz="1600" dirty="0">
                <a:solidFill>
                  <a:prstClr val="black"/>
                </a:solidFill>
              </a:rPr>
              <a:t>, you own a small </a:t>
            </a:r>
            <a:r>
              <a:rPr lang="en-IN" sz="1600" dirty="0" smtClean="0">
                <a:solidFill>
                  <a:prstClr val="black"/>
                </a:solidFill>
              </a:rPr>
              <a:t>construction </a:t>
            </a:r>
            <a:r>
              <a:rPr lang="en-IN" sz="1600" dirty="0">
                <a:solidFill>
                  <a:prstClr val="black"/>
                </a:solidFill>
              </a:rPr>
              <a:t>Business. One of your employees was injured using a piece of machinery that you had not properly maintained. The employee sues the manufacturer of the equipment, and the manufacturer turns around and sues you for contributory </a:t>
            </a:r>
            <a:r>
              <a:rPr lang="en-IN" sz="1600" dirty="0" smtClean="0">
                <a:solidFill>
                  <a:prstClr val="black"/>
                </a:solidFill>
              </a:rPr>
              <a:t>negligence</a:t>
            </a:r>
            <a:endParaRPr lang="en-IN" sz="1600" dirty="0">
              <a:solidFill>
                <a:prstClr val="black"/>
              </a:solidFill>
            </a:endParaRPr>
          </a:p>
          <a:p>
            <a:pPr lvl="1"/>
            <a:endParaRPr lang="en-IN" sz="1600" dirty="0">
              <a:solidFill>
                <a:prstClr val="black"/>
              </a:solidFill>
            </a:endParaRPr>
          </a:p>
          <a:p>
            <a:pPr marL="742950" lvl="1" indent="-285750">
              <a:buFont typeface="Arial" panose="020B0604020202020204" pitchFamily="34" charset="0"/>
              <a:buChar char="•"/>
            </a:pPr>
            <a:r>
              <a:rPr lang="en-IN" sz="1600" b="1" dirty="0">
                <a:solidFill>
                  <a:prstClr val="black"/>
                </a:solidFill>
              </a:rPr>
              <a:t>Loss of </a:t>
            </a:r>
            <a:r>
              <a:rPr lang="en-IN" sz="1600" b="1" dirty="0" smtClean="0">
                <a:solidFill>
                  <a:prstClr val="black"/>
                </a:solidFill>
              </a:rPr>
              <a:t>consortium </a:t>
            </a:r>
            <a:r>
              <a:rPr lang="en-IN" sz="1600" dirty="0" smtClean="0">
                <a:solidFill>
                  <a:prstClr val="black"/>
                </a:solidFill>
              </a:rPr>
              <a:t>-</a:t>
            </a:r>
            <a:r>
              <a:rPr lang="en-IN" sz="1600" dirty="0">
                <a:solidFill>
                  <a:prstClr val="black"/>
                </a:solidFill>
              </a:rPr>
              <a:t> An injured employee’s spouse files this type of lawsuit. They sue your business because their spouse is no longer able to “engage” in marital relations after their work </a:t>
            </a:r>
            <a:r>
              <a:rPr lang="en-IN" sz="1600" dirty="0" smtClean="0">
                <a:solidFill>
                  <a:prstClr val="black"/>
                </a:solidFill>
              </a:rPr>
              <a:t>injury</a:t>
            </a:r>
            <a:endParaRPr lang="en-IN" sz="1600" dirty="0">
              <a:solidFill>
                <a:prstClr val="black"/>
              </a:solidFill>
            </a:endParaRPr>
          </a:p>
          <a:p>
            <a:pPr marL="742950" lvl="1" indent="-285750">
              <a:buFont typeface="Arial" panose="020B0604020202020204" pitchFamily="34" charset="0"/>
              <a:buChar char="•"/>
            </a:pPr>
            <a:endParaRPr lang="en-IN" sz="1600" b="1" dirty="0" smtClean="0">
              <a:solidFill>
                <a:prstClr val="black"/>
              </a:solidFill>
            </a:endParaRPr>
          </a:p>
          <a:p>
            <a:pPr marL="742950" lvl="1" indent="-285750">
              <a:buFont typeface="Arial" panose="020B0604020202020204" pitchFamily="34" charset="0"/>
              <a:buChar char="•"/>
            </a:pPr>
            <a:r>
              <a:rPr lang="en-IN" sz="1600" b="1" dirty="0" smtClean="0">
                <a:solidFill>
                  <a:prstClr val="black"/>
                </a:solidFill>
              </a:rPr>
              <a:t>Dual-capacity suits </a:t>
            </a:r>
            <a:r>
              <a:rPr lang="en-IN" sz="1600" dirty="0" smtClean="0">
                <a:solidFill>
                  <a:prstClr val="black"/>
                </a:solidFill>
              </a:rPr>
              <a:t>- An </a:t>
            </a:r>
            <a:r>
              <a:rPr lang="en-IN" sz="1600" dirty="0">
                <a:solidFill>
                  <a:prstClr val="black"/>
                </a:solidFill>
              </a:rPr>
              <a:t>employee can file this type of lawsuit against their employer when a product the employer manufactures is the cause of their injury. That means you would be liable as both an employer and as a </a:t>
            </a:r>
            <a:r>
              <a:rPr lang="en-IN" sz="1600" dirty="0" smtClean="0">
                <a:solidFill>
                  <a:prstClr val="black"/>
                </a:solidFill>
              </a:rPr>
              <a:t>manufacturer</a:t>
            </a:r>
            <a:endParaRPr lang="en-IN" sz="1600" dirty="0">
              <a:solidFill>
                <a:prstClr val="black"/>
              </a:solidFill>
            </a:endParaRPr>
          </a:p>
          <a:p>
            <a:pPr marL="742950" lvl="1" indent="-285750">
              <a:buFont typeface="Arial" panose="020B0604020202020204" pitchFamily="34" charset="0"/>
              <a:buChar char="•"/>
            </a:pPr>
            <a:endParaRPr lang="en-IN" sz="1600" b="1" dirty="0" smtClean="0">
              <a:solidFill>
                <a:prstClr val="black"/>
              </a:solidFill>
            </a:endParaRPr>
          </a:p>
          <a:p>
            <a:pPr marL="742950" lvl="1" indent="-285750">
              <a:buFont typeface="Arial" panose="020B0604020202020204" pitchFamily="34" charset="0"/>
              <a:buChar char="•"/>
            </a:pPr>
            <a:r>
              <a:rPr lang="en-IN" sz="1600" b="1" dirty="0" smtClean="0">
                <a:solidFill>
                  <a:prstClr val="black"/>
                </a:solidFill>
              </a:rPr>
              <a:t>Consequential </a:t>
            </a:r>
            <a:r>
              <a:rPr lang="en-IN" sz="1600" b="1" dirty="0">
                <a:solidFill>
                  <a:prstClr val="black"/>
                </a:solidFill>
              </a:rPr>
              <a:t>bodily </a:t>
            </a:r>
            <a:r>
              <a:rPr lang="en-IN" sz="1600" b="1" dirty="0" smtClean="0">
                <a:solidFill>
                  <a:prstClr val="black"/>
                </a:solidFill>
              </a:rPr>
              <a:t>injury </a:t>
            </a:r>
            <a:r>
              <a:rPr lang="en-IN" sz="1600" dirty="0" smtClean="0">
                <a:solidFill>
                  <a:prstClr val="black"/>
                </a:solidFill>
              </a:rPr>
              <a:t>- </a:t>
            </a:r>
            <a:r>
              <a:rPr lang="en-IN" sz="1600" dirty="0">
                <a:solidFill>
                  <a:prstClr val="black"/>
                </a:solidFill>
              </a:rPr>
              <a:t>If your employee’s family members suffer bodily injuries as a consequence of the employee’s injury, they could sue your business. For example, say your roofer’s wife suffered an aneurysm from high blood pressure / stress after he fell off a roof and became paralyzed. She could sue you for medical damages</a:t>
            </a:r>
          </a:p>
          <a:p>
            <a:endParaRPr lang="en-US" sz="1600" dirty="0">
              <a:solidFill>
                <a:prstClr val="black"/>
              </a:solidFill>
            </a:endParaRPr>
          </a:p>
        </p:txBody>
      </p:sp>
    </p:spTree>
    <p:extLst>
      <p:ext uri="{BB962C8B-B14F-4D97-AF65-F5344CB8AC3E}">
        <p14:creationId xmlns:p14="http://schemas.microsoft.com/office/powerpoint/2010/main" val="29580360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6898876"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Employer Benefit Liability </a:t>
            </a:r>
            <a:r>
              <a:rPr lang="en-IN" sz="3454" b="1" dirty="0" err="1" smtClean="0">
                <a:solidFill>
                  <a:prstClr val="black"/>
                </a:solidFill>
                <a:latin typeface="Segoe UI Semibold" panose="020B0702040204020203" pitchFamily="34" charset="0"/>
                <a:cs typeface="BrowalliaUPC" panose="020B0604020202020204" pitchFamily="34" charset="-34"/>
              </a:rPr>
              <a:t>contd</a:t>
            </a:r>
            <a:r>
              <a:rPr lang="en-IN" sz="3454" b="1" dirty="0" smtClean="0">
                <a:solidFill>
                  <a:prstClr val="black"/>
                </a:solidFill>
                <a:latin typeface="Segoe UI Semibold" panose="020B0702040204020203" pitchFamily="34" charset="0"/>
                <a:cs typeface="BrowalliaUPC" panose="020B0604020202020204" pitchFamily="34" charset="-34"/>
              </a:rPr>
              <a:t>…</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124643" y="1190420"/>
            <a:ext cx="11893189" cy="5798206"/>
          </a:xfrm>
          <a:prstGeom prst="rect">
            <a:avLst/>
          </a:prstGeom>
          <a:noFill/>
          <a:ln>
            <a:miter lim="800000"/>
            <a:headEnd/>
            <a:tailEnd/>
          </a:ln>
        </p:spPr>
        <p:txBody>
          <a:bodyPr/>
          <a:lstStyle/>
          <a:p>
            <a:pPr marL="285750" indent="-285750">
              <a:buFont typeface="Arial" panose="020B0604020202020204" pitchFamily="34" charset="0"/>
              <a:buChar char="•"/>
            </a:pPr>
            <a:r>
              <a:rPr lang="en-US" sz="1600" dirty="0">
                <a:solidFill>
                  <a:prstClr val="black"/>
                </a:solidFill>
              </a:rPr>
              <a:t>EBL coverage form has three important sections:</a:t>
            </a:r>
          </a:p>
          <a:p>
            <a:pPr marL="742950" lvl="1" indent="-285750">
              <a:buFont typeface="Arial" panose="020B0604020202020204" pitchFamily="34" charset="0"/>
              <a:buChar char="•"/>
            </a:pPr>
            <a:r>
              <a:rPr lang="en-US" sz="1600" dirty="0">
                <a:solidFill>
                  <a:prstClr val="black"/>
                </a:solidFill>
              </a:rPr>
              <a:t>Section I –  Coverage</a:t>
            </a:r>
          </a:p>
          <a:p>
            <a:pPr marL="742950" lvl="1" indent="-285750">
              <a:buFont typeface="Arial" panose="020B0604020202020204" pitchFamily="34" charset="0"/>
              <a:buChar char="•"/>
            </a:pPr>
            <a:r>
              <a:rPr lang="en-US" sz="1600" dirty="0">
                <a:solidFill>
                  <a:prstClr val="black"/>
                </a:solidFill>
              </a:rPr>
              <a:t>Section II – Who is an insured</a:t>
            </a:r>
          </a:p>
          <a:p>
            <a:pPr marL="742950" lvl="1" indent="-285750">
              <a:buFont typeface="Arial" panose="020B0604020202020204" pitchFamily="34" charset="0"/>
              <a:buChar char="•"/>
            </a:pPr>
            <a:r>
              <a:rPr lang="en-US" sz="1600" dirty="0">
                <a:solidFill>
                  <a:prstClr val="black"/>
                </a:solidFill>
              </a:rPr>
              <a:t>Section III – Limits of </a:t>
            </a:r>
            <a:r>
              <a:rPr lang="en-US" sz="1600" dirty="0" smtClean="0">
                <a:solidFill>
                  <a:prstClr val="black"/>
                </a:solidFill>
              </a:rPr>
              <a:t>insurance</a:t>
            </a:r>
          </a:p>
          <a:p>
            <a:pPr marL="742950" lvl="1" indent="-285750">
              <a:buFont typeface="Arial" panose="020B0604020202020204" pitchFamily="34" charset="0"/>
              <a:buChar char="•"/>
            </a:pPr>
            <a:endParaRPr lang="en-US" sz="1600" dirty="0">
              <a:solidFill>
                <a:prstClr val="black"/>
              </a:solidFill>
            </a:endParaRPr>
          </a:p>
          <a:p>
            <a:pPr marL="285750" indent="-285750">
              <a:buFont typeface="Arial" panose="020B0604020202020204" pitchFamily="34" charset="0"/>
              <a:buChar char="•"/>
            </a:pPr>
            <a:r>
              <a:rPr lang="en-US" sz="1600" b="1" dirty="0" smtClean="0">
                <a:solidFill>
                  <a:prstClr val="black"/>
                </a:solidFill>
              </a:rPr>
              <a:t>Section I – Coverage:</a:t>
            </a:r>
            <a:endParaRPr lang="en-US" sz="1600" dirty="0" smtClean="0">
              <a:solidFill>
                <a:prstClr val="black"/>
              </a:solidFill>
            </a:endParaRPr>
          </a:p>
          <a:p>
            <a:pPr marL="742950" lvl="1" indent="-285750">
              <a:buFont typeface="Arial" panose="020B0604020202020204" pitchFamily="34" charset="0"/>
              <a:buChar char="•"/>
            </a:pPr>
            <a:r>
              <a:rPr lang="en-US" sz="1600" dirty="0" smtClean="0">
                <a:solidFill>
                  <a:prstClr val="black"/>
                </a:solidFill>
              </a:rPr>
              <a:t>Payment for </a:t>
            </a:r>
            <a:r>
              <a:rPr lang="en-IN" sz="1600" dirty="0">
                <a:solidFill>
                  <a:prstClr val="black"/>
                </a:solidFill>
              </a:rPr>
              <a:t>work-related bodily injury or </a:t>
            </a:r>
            <a:r>
              <a:rPr lang="en-IN" sz="1600" dirty="0" smtClean="0">
                <a:solidFill>
                  <a:prstClr val="black"/>
                </a:solidFill>
              </a:rPr>
              <a:t>disease </a:t>
            </a:r>
            <a:r>
              <a:rPr lang="en-IN" sz="1600" dirty="0">
                <a:solidFill>
                  <a:prstClr val="black"/>
                </a:solidFill>
              </a:rPr>
              <a:t>other than liability imposed on the insured by a workers compensation </a:t>
            </a:r>
            <a:r>
              <a:rPr lang="en-IN" sz="1600" dirty="0" smtClean="0">
                <a:solidFill>
                  <a:prstClr val="black"/>
                </a:solidFill>
              </a:rPr>
              <a:t>law for which the insured is legally liable</a:t>
            </a:r>
          </a:p>
          <a:p>
            <a:pPr marL="742950" lvl="1" indent="-285750">
              <a:buFont typeface="Arial" panose="020B0604020202020204" pitchFamily="34" charset="0"/>
              <a:buChar char="•"/>
            </a:pPr>
            <a:r>
              <a:rPr lang="en-IN" sz="1600" dirty="0" smtClean="0">
                <a:solidFill>
                  <a:prstClr val="black"/>
                </a:solidFill>
              </a:rPr>
              <a:t>Supplementary payments without reduction of limits for</a:t>
            </a:r>
          </a:p>
          <a:p>
            <a:pPr marL="1200150" lvl="2" indent="-285750">
              <a:spcBef>
                <a:spcPct val="20000"/>
              </a:spcBef>
              <a:buClr>
                <a:schemeClr val="tx1"/>
              </a:buClr>
              <a:buFont typeface="Arial" panose="020B0604020202020204" pitchFamily="34" charset="0"/>
              <a:buChar char="•"/>
              <a:defRPr/>
            </a:pPr>
            <a:r>
              <a:rPr lang="en-US" sz="1600" dirty="0" smtClean="0"/>
              <a:t>Cost </a:t>
            </a:r>
            <a:r>
              <a:rPr lang="en-US" sz="1600" dirty="0"/>
              <a:t>of bonds to release attachments</a:t>
            </a:r>
          </a:p>
          <a:p>
            <a:pPr marL="1200150" lvl="2" indent="-285750">
              <a:spcBef>
                <a:spcPct val="20000"/>
              </a:spcBef>
              <a:buClr>
                <a:schemeClr val="tx1"/>
              </a:buClr>
              <a:buFont typeface="Arial" panose="020B0604020202020204" pitchFamily="34" charset="0"/>
              <a:buChar char="•"/>
              <a:defRPr/>
            </a:pPr>
            <a:r>
              <a:rPr lang="en-US" sz="1600" dirty="0"/>
              <a:t>All reasonable expenses incurred by the "insured" at insurer’s request</a:t>
            </a:r>
          </a:p>
          <a:p>
            <a:pPr marL="1200150" lvl="2" indent="-285750">
              <a:spcBef>
                <a:spcPct val="20000"/>
              </a:spcBef>
              <a:buClr>
                <a:schemeClr val="tx1"/>
              </a:buClr>
              <a:buFont typeface="Arial" panose="020B0604020202020204" pitchFamily="34" charset="0"/>
              <a:buChar char="•"/>
              <a:defRPr/>
            </a:pPr>
            <a:r>
              <a:rPr lang="en-US" sz="1600" dirty="0"/>
              <a:t>All interest on the full amount of any judgment that accrues after entry of the judgment</a:t>
            </a:r>
          </a:p>
          <a:p>
            <a:pPr marL="1200150" lvl="2" indent="-285750">
              <a:spcBef>
                <a:spcPct val="20000"/>
              </a:spcBef>
              <a:buClr>
                <a:schemeClr val="tx1"/>
              </a:buClr>
              <a:buFont typeface="Arial" panose="020B0604020202020204" pitchFamily="34" charset="0"/>
              <a:buChar char="•"/>
              <a:defRPr/>
            </a:pPr>
            <a:r>
              <a:rPr lang="en-US" sz="1600" dirty="0"/>
              <a:t>Loss of earnings up to $250 a </a:t>
            </a:r>
            <a:r>
              <a:rPr lang="en-US" sz="1600" dirty="0" smtClean="0"/>
              <a:t>day</a:t>
            </a:r>
          </a:p>
          <a:p>
            <a:pPr marL="1200150" lvl="2" indent="-285750">
              <a:spcBef>
                <a:spcPct val="20000"/>
              </a:spcBef>
              <a:buClr>
                <a:schemeClr val="tx1"/>
              </a:buClr>
              <a:buFont typeface="Arial" panose="020B0604020202020204" pitchFamily="34" charset="0"/>
              <a:buChar char="•"/>
              <a:defRPr/>
            </a:pPr>
            <a:endParaRPr lang="en-US" sz="1600" dirty="0"/>
          </a:p>
          <a:p>
            <a:pPr marL="742950" lvl="1" indent="-285750">
              <a:spcBef>
                <a:spcPct val="20000"/>
              </a:spcBef>
              <a:buClr>
                <a:schemeClr val="tx1"/>
              </a:buClr>
              <a:buFont typeface="Arial" panose="020B0604020202020204" pitchFamily="34" charset="0"/>
              <a:buChar char="•"/>
              <a:defRPr/>
            </a:pPr>
            <a:r>
              <a:rPr lang="en-US" sz="1600" dirty="0"/>
              <a:t>Exclusions:</a:t>
            </a:r>
          </a:p>
          <a:p>
            <a:pPr marL="1200150" lvl="2" indent="-285750">
              <a:buFont typeface="Arial" panose="020B0604020202020204" pitchFamily="34" charset="0"/>
              <a:buChar char="•"/>
            </a:pPr>
            <a:r>
              <a:rPr lang="en-US" sz="1600" dirty="0" smtClean="0"/>
              <a:t>Civil </a:t>
            </a:r>
            <a:r>
              <a:rPr lang="en-US" sz="1600" dirty="0"/>
              <a:t>or criminal liability - failure by the insured to comply with any federal or state statutory or regulatory</a:t>
            </a:r>
          </a:p>
          <a:p>
            <a:r>
              <a:rPr lang="en-US" sz="1600" dirty="0"/>
              <a:t>	     </a:t>
            </a:r>
            <a:r>
              <a:rPr lang="en-US" sz="1600" dirty="0" smtClean="0"/>
              <a:t> reporting </a:t>
            </a:r>
            <a:r>
              <a:rPr lang="en-US" sz="1600" dirty="0"/>
              <a:t>requirement relating to an "employer benefits </a:t>
            </a:r>
            <a:r>
              <a:rPr lang="en-US" sz="1600" dirty="0" smtClean="0"/>
              <a:t>program“</a:t>
            </a:r>
          </a:p>
          <a:p>
            <a:pPr marL="1200150" lvl="2" indent="-285750">
              <a:buFont typeface="Arial" panose="020B0604020202020204" pitchFamily="34" charset="0"/>
              <a:buChar char="•"/>
            </a:pPr>
            <a:r>
              <a:rPr lang="en-US" sz="1600" dirty="0" smtClean="0"/>
              <a:t>Bodily injury (non work related), property damage, personal and advertising injury</a:t>
            </a:r>
          </a:p>
          <a:p>
            <a:pPr marL="1200150" lvl="2" indent="-285750">
              <a:buFont typeface="Arial" panose="020B0604020202020204" pitchFamily="34" charset="0"/>
              <a:buChar char="•"/>
            </a:pPr>
            <a:r>
              <a:rPr lang="en-US" sz="1600" dirty="0"/>
              <a:t>Any dishonest, fraudulent, criminal or malicious act</a:t>
            </a:r>
          </a:p>
          <a:p>
            <a:pPr marL="1200150" lvl="2" indent="-285750">
              <a:spcBef>
                <a:spcPct val="20000"/>
              </a:spcBef>
              <a:buClr>
                <a:schemeClr val="tx1"/>
              </a:buClr>
              <a:buFont typeface="Arial" panose="020B0604020202020204" pitchFamily="34" charset="0"/>
              <a:buChar char="•"/>
              <a:defRPr/>
            </a:pPr>
            <a:endParaRPr lang="en-US" sz="1600" dirty="0"/>
          </a:p>
          <a:p>
            <a:pPr marL="1200150" lvl="2" indent="-285750">
              <a:buFont typeface="Arial" panose="020B0604020202020204" pitchFamily="34" charset="0"/>
              <a:buChar char="•"/>
            </a:pPr>
            <a:endParaRPr lang="en-IN" sz="1600" dirty="0" smtClean="0">
              <a:solidFill>
                <a:prstClr val="black"/>
              </a:solidFill>
            </a:endParaRPr>
          </a:p>
          <a:p>
            <a:pPr marL="742950" lvl="1" indent="-285750">
              <a:buFont typeface="Arial" panose="020B0604020202020204" pitchFamily="34" charset="0"/>
              <a:buChar char="•"/>
            </a:pPr>
            <a:endParaRPr lang="en-US" sz="1600" dirty="0">
              <a:solidFill>
                <a:prstClr val="black"/>
              </a:solidFill>
            </a:endParaRPr>
          </a:p>
          <a:p>
            <a:pPr marL="742950" lvl="1" indent="-285750">
              <a:buFont typeface="Arial" panose="020B0604020202020204" pitchFamily="34" charset="0"/>
              <a:buChar char="•"/>
            </a:pPr>
            <a:endParaRPr lang="en-US" sz="1600" dirty="0">
              <a:solidFill>
                <a:prstClr val="black"/>
              </a:solidFill>
            </a:endParaRPr>
          </a:p>
        </p:txBody>
      </p:sp>
    </p:spTree>
    <p:extLst>
      <p:ext uri="{BB962C8B-B14F-4D97-AF65-F5344CB8AC3E}">
        <p14:creationId xmlns:p14="http://schemas.microsoft.com/office/powerpoint/2010/main" val="7329219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6898876"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Employer Benefit Liability </a:t>
            </a:r>
            <a:r>
              <a:rPr lang="en-IN" sz="3454" b="1" dirty="0" err="1" smtClean="0">
                <a:solidFill>
                  <a:prstClr val="black"/>
                </a:solidFill>
                <a:latin typeface="Segoe UI Semibold" panose="020B0702040204020203" pitchFamily="34" charset="0"/>
                <a:cs typeface="BrowalliaUPC" panose="020B0604020202020204" pitchFamily="34" charset="-34"/>
              </a:rPr>
              <a:t>contd</a:t>
            </a:r>
            <a:r>
              <a:rPr lang="en-IN" sz="3454" b="1" dirty="0" smtClean="0">
                <a:solidFill>
                  <a:prstClr val="black"/>
                </a:solidFill>
                <a:latin typeface="Segoe UI Semibold" panose="020B0702040204020203" pitchFamily="34" charset="0"/>
                <a:cs typeface="BrowalliaUPC" panose="020B0604020202020204" pitchFamily="34" charset="-34"/>
              </a:rPr>
              <a:t>…</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124643" y="1335560"/>
            <a:ext cx="11893189" cy="5798206"/>
          </a:xfrm>
          <a:prstGeom prst="rect">
            <a:avLst/>
          </a:prstGeom>
          <a:noFill/>
          <a:ln>
            <a:miter lim="800000"/>
            <a:headEnd/>
            <a:tailEnd/>
          </a:ln>
        </p:spPr>
        <p:txBody>
          <a:bodyPr/>
          <a:lstStyle/>
          <a:p>
            <a:pPr marL="285750" indent="-285750">
              <a:buFont typeface="Arial" panose="020B0604020202020204" pitchFamily="34" charset="0"/>
              <a:buChar char="•"/>
            </a:pPr>
            <a:r>
              <a:rPr lang="en-US" sz="1600" b="1" dirty="0" smtClean="0">
                <a:solidFill>
                  <a:prstClr val="black"/>
                </a:solidFill>
              </a:rPr>
              <a:t>Section II – Who is an Insured</a:t>
            </a:r>
            <a:endParaRPr lang="en-IN" sz="1600" dirty="0" smtClean="0">
              <a:solidFill>
                <a:prstClr val="black"/>
              </a:solidFill>
            </a:endParaRPr>
          </a:p>
          <a:p>
            <a:pPr marL="742950" lvl="1" indent="-285750">
              <a:buFont typeface="Arial" panose="020B0604020202020204" pitchFamily="34" charset="0"/>
              <a:buChar char="•"/>
            </a:pPr>
            <a:r>
              <a:rPr lang="en-US" sz="1600" dirty="0" smtClean="0"/>
              <a:t>You </a:t>
            </a:r>
            <a:r>
              <a:rPr lang="en-US" sz="1600" dirty="0"/>
              <a:t>and your spouse are insureds, but </a:t>
            </a:r>
            <a:r>
              <a:rPr lang="en-US" sz="1600" b="1" dirty="0"/>
              <a:t>only with respect to the conduct of </a:t>
            </a:r>
            <a:r>
              <a:rPr lang="en-US" sz="1600" b="1" dirty="0" smtClean="0"/>
              <a:t>your </a:t>
            </a:r>
            <a:r>
              <a:rPr lang="en-US" sz="1600" b="1" dirty="0"/>
              <a:t>business </a:t>
            </a:r>
            <a:r>
              <a:rPr lang="en-US" sz="1600" dirty="0"/>
              <a:t>of which you are the sole owner</a:t>
            </a:r>
          </a:p>
          <a:p>
            <a:pPr marL="742950" lvl="1" indent="-285750">
              <a:buFont typeface="Arial" panose="020B0604020202020204" pitchFamily="34" charset="0"/>
              <a:buChar char="•"/>
            </a:pPr>
            <a:r>
              <a:rPr lang="en-US" sz="1600" dirty="0" smtClean="0"/>
              <a:t>Members</a:t>
            </a:r>
            <a:r>
              <a:rPr lang="en-US" sz="1600" dirty="0"/>
              <a:t>, your partners, and their spouses </a:t>
            </a:r>
            <a:r>
              <a:rPr lang="en-US" sz="1600" dirty="0" smtClean="0"/>
              <a:t>are also </a:t>
            </a:r>
            <a:r>
              <a:rPr lang="en-US" sz="1600" dirty="0"/>
              <a:t>insureds, but </a:t>
            </a:r>
            <a:r>
              <a:rPr lang="en-US" sz="1600" b="1" dirty="0"/>
              <a:t>only with respect to the conduct </a:t>
            </a:r>
            <a:r>
              <a:rPr lang="en-US" sz="1600" b="1" dirty="0" smtClean="0"/>
              <a:t>of your business</a:t>
            </a:r>
          </a:p>
          <a:p>
            <a:pPr marL="742950" lvl="1" indent="-285750">
              <a:buFont typeface="Arial" panose="020B0604020202020204" pitchFamily="34" charset="0"/>
              <a:buChar char="•"/>
            </a:pPr>
            <a:r>
              <a:rPr lang="en-US" sz="1600" dirty="0" smtClean="0"/>
              <a:t>Your employees</a:t>
            </a:r>
          </a:p>
          <a:p>
            <a:pPr marL="742950" lvl="1" indent="-285750">
              <a:buFont typeface="Arial" panose="020B0604020202020204" pitchFamily="34" charset="0"/>
              <a:buChar char="•"/>
            </a:pPr>
            <a:r>
              <a:rPr lang="en-US" sz="1600" dirty="0" smtClean="0"/>
              <a:t>Your legal representative, in case of your death</a:t>
            </a:r>
          </a:p>
          <a:p>
            <a:pPr marL="742950" lvl="1" indent="-285750">
              <a:buFont typeface="Arial" panose="020B0604020202020204" pitchFamily="34" charset="0"/>
              <a:buChar char="•"/>
            </a:pPr>
            <a:r>
              <a:rPr lang="en-US" sz="1600" dirty="0" smtClean="0"/>
              <a:t>Any organization that you acquire</a:t>
            </a:r>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endParaRPr lang="en-US" sz="1600" dirty="0" smtClean="0"/>
          </a:p>
          <a:p>
            <a:pPr marL="742950" lvl="1" indent="-285750">
              <a:buFont typeface="Arial" panose="020B0604020202020204" pitchFamily="34" charset="0"/>
              <a:buChar char="•"/>
            </a:pPr>
            <a:endParaRPr lang="en-US" sz="1600" dirty="0" smtClean="0"/>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b="1" dirty="0" smtClean="0"/>
          </a:p>
          <a:p>
            <a:pPr marL="285750" indent="-285750">
              <a:buFont typeface="Arial" panose="020B0604020202020204" pitchFamily="34" charset="0"/>
              <a:buChar char="•"/>
            </a:pPr>
            <a:endParaRPr lang="en-US" sz="1600" b="1" dirty="0"/>
          </a:p>
          <a:p>
            <a:pPr marL="285750" indent="-285750">
              <a:buFont typeface="Arial" panose="020B0604020202020204" pitchFamily="34" charset="0"/>
              <a:buChar char="•"/>
            </a:pPr>
            <a:endParaRPr lang="en-US" sz="1600" b="1" dirty="0" smtClean="0"/>
          </a:p>
          <a:p>
            <a:pPr marL="285750" indent="-285750">
              <a:buFont typeface="Arial" panose="020B0604020202020204" pitchFamily="34" charset="0"/>
              <a:buChar char="•"/>
            </a:pPr>
            <a:endParaRPr lang="en-US" sz="1600" b="1" dirty="0"/>
          </a:p>
          <a:p>
            <a:pPr marL="285750" indent="-285750">
              <a:buFont typeface="Arial" panose="020B0604020202020204" pitchFamily="34" charset="0"/>
              <a:buChar char="•"/>
            </a:pPr>
            <a:endParaRPr lang="en-US" sz="1600" b="1" dirty="0" smtClean="0"/>
          </a:p>
          <a:p>
            <a:pPr marL="285750" indent="-285750">
              <a:buFont typeface="Arial" panose="020B0604020202020204" pitchFamily="34" charset="0"/>
              <a:buChar char="•"/>
            </a:pPr>
            <a:endParaRPr lang="en-US" sz="1600" b="1" dirty="0"/>
          </a:p>
          <a:p>
            <a:pPr marL="285750" indent="-285750">
              <a:buFont typeface="Arial" panose="020B0604020202020204" pitchFamily="34" charset="0"/>
              <a:buChar char="•"/>
            </a:pPr>
            <a:r>
              <a:rPr lang="en-US" sz="1600" b="1" dirty="0" smtClean="0"/>
              <a:t>Section III – Limits of Insurance</a:t>
            </a:r>
          </a:p>
          <a:p>
            <a:pPr marL="742950" lvl="1" indent="-285750">
              <a:buFont typeface="Arial" panose="020B0604020202020204" pitchFamily="34" charset="0"/>
              <a:buChar char="•"/>
            </a:pPr>
            <a:r>
              <a:rPr lang="en-US" sz="1600" b="1" dirty="0"/>
              <a:t>Employee Benefits Liability Aggregate Limit </a:t>
            </a:r>
            <a:r>
              <a:rPr lang="en-US" sz="1600" dirty="0"/>
              <a:t>is </a:t>
            </a:r>
            <a:r>
              <a:rPr lang="en-US" sz="1600" dirty="0" smtClean="0"/>
              <a:t>the most </a:t>
            </a:r>
            <a:r>
              <a:rPr lang="en-US" sz="1600" dirty="0"/>
              <a:t>we will pay for all "damages" to which this </a:t>
            </a:r>
            <a:r>
              <a:rPr lang="en-US" sz="1600" dirty="0" smtClean="0"/>
              <a:t>insurance applies</a:t>
            </a:r>
            <a:endParaRPr lang="en-US" sz="1600" dirty="0"/>
          </a:p>
          <a:p>
            <a:pPr marL="742950" lvl="1" indent="-285750">
              <a:buFont typeface="Arial" panose="020B0604020202020204" pitchFamily="34" charset="0"/>
              <a:buChar char="•"/>
            </a:pPr>
            <a:r>
              <a:rPr lang="en-US" sz="1600" b="1" dirty="0"/>
              <a:t>Each Claim Limit </a:t>
            </a:r>
            <a:r>
              <a:rPr lang="en-US" sz="1600" dirty="0"/>
              <a:t>is the most </a:t>
            </a:r>
            <a:r>
              <a:rPr lang="en-US" sz="1600" dirty="0" smtClean="0"/>
              <a:t>we will </a:t>
            </a:r>
            <a:r>
              <a:rPr lang="en-US" sz="1600" dirty="0"/>
              <a:t>pay for all "damages" with respect to any one </a:t>
            </a:r>
            <a:r>
              <a:rPr lang="en-US" sz="1600" dirty="0" smtClean="0"/>
              <a:t>claim</a:t>
            </a:r>
            <a:endParaRPr lang="en-US" sz="1600" dirty="0"/>
          </a:p>
          <a:p>
            <a:pPr marL="742950" lvl="1" indent="-285750">
              <a:buFont typeface="Arial" panose="020B0604020202020204" pitchFamily="34" charset="0"/>
              <a:buChar char="•"/>
            </a:pPr>
            <a:endParaRPr lang="en-US" sz="1600" dirty="0">
              <a:solidFill>
                <a:prstClr val="black"/>
              </a:solidFill>
            </a:endParaRPr>
          </a:p>
          <a:p>
            <a:pPr marL="742950" lvl="1" indent="-285750">
              <a:buFont typeface="Arial" panose="020B0604020202020204" pitchFamily="34" charset="0"/>
              <a:buChar char="•"/>
            </a:pPr>
            <a:endParaRPr lang="en-US" sz="1600" dirty="0">
              <a:solidFill>
                <a:prstClr val="black"/>
              </a:solidFill>
            </a:endParaRPr>
          </a:p>
        </p:txBody>
      </p:sp>
      <p:pic>
        <p:nvPicPr>
          <p:cNvPr id="3" name="Picture 2"/>
          <p:cNvPicPr>
            <a:picLocks noChangeAspect="1"/>
          </p:cNvPicPr>
          <p:nvPr/>
        </p:nvPicPr>
        <p:blipFill>
          <a:blip r:embed="rId4"/>
          <a:stretch>
            <a:fillRect/>
          </a:stretch>
        </p:blipFill>
        <p:spPr>
          <a:xfrm>
            <a:off x="7379393" y="2594498"/>
            <a:ext cx="3333387" cy="2224246"/>
          </a:xfrm>
          <a:prstGeom prst="rect">
            <a:avLst/>
          </a:prstGeom>
        </p:spPr>
      </p:pic>
    </p:spTree>
    <p:extLst>
      <p:ext uri="{BB962C8B-B14F-4D97-AF65-F5344CB8AC3E}">
        <p14:creationId xmlns:p14="http://schemas.microsoft.com/office/powerpoint/2010/main" val="42144190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3421129"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298812" y="1161390"/>
            <a:ext cx="11227779" cy="5311981"/>
          </a:xfrm>
          <a:prstGeom prst="rect">
            <a:avLst/>
          </a:prstGeom>
          <a:noFill/>
          <a:ln>
            <a:miter lim="800000"/>
            <a:headEnd/>
            <a:tailEnd/>
          </a:ln>
        </p:spPr>
        <p:txBody>
          <a:bodyPr/>
          <a:lstStyle/>
          <a:p>
            <a:pPr marL="742950" lvl="1" indent="-285750">
              <a:spcBef>
                <a:spcPct val="20000"/>
              </a:spcBef>
              <a:buClr>
                <a:prstClr val="black"/>
              </a:buClr>
              <a:buFont typeface="Arial" panose="020B0604020202020204" pitchFamily="34" charset="0"/>
              <a:buChar char="•"/>
              <a:defRPr/>
            </a:pPr>
            <a:endParaRPr lang="en-US" sz="1600" b="1" dirty="0">
              <a:solidFill>
                <a:srgbClr val="C00000"/>
              </a:solidFill>
              <a:latin typeface="Segoe UI Light" panose="020B0502040204020203" pitchFamily="34" charset="0"/>
            </a:endParaRPr>
          </a:p>
          <a:p>
            <a:pPr marL="285750" indent="-285750">
              <a:buFont typeface="Wingdings" panose="05000000000000000000" pitchFamily="2" charset="2"/>
              <a:buChar char="v"/>
            </a:pPr>
            <a:r>
              <a:rPr lang="en-US" sz="1600" dirty="0"/>
              <a:t>Insurance that provides </a:t>
            </a:r>
            <a:r>
              <a:rPr lang="en-US" sz="1600" dirty="0" smtClean="0"/>
              <a:t>coverage</a:t>
            </a:r>
            <a:r>
              <a:rPr lang="en-US" sz="1600" dirty="0"/>
              <a:t> against crime by employees or external entities to protect businesses against financial </a:t>
            </a:r>
            <a:r>
              <a:rPr lang="en-US" sz="1600" dirty="0" smtClean="0"/>
              <a:t>Loss. It includes the following:</a:t>
            </a:r>
          </a:p>
          <a:p>
            <a:pPr marL="742950" lvl="1" indent="-285750">
              <a:buFont typeface="Arial" panose="020B0604020202020204" pitchFamily="34" charset="0"/>
              <a:buChar char="•"/>
            </a:pPr>
            <a:r>
              <a:rPr lang="en-US" sz="1600" dirty="0">
                <a:solidFill>
                  <a:prstClr val="black"/>
                </a:solidFill>
              </a:rPr>
              <a:t>Money and securities against numerous perils</a:t>
            </a:r>
          </a:p>
          <a:p>
            <a:pPr marL="742950" lvl="1" indent="-285750">
              <a:buFont typeface="Arial" panose="020B0604020202020204" pitchFamily="34" charset="0"/>
              <a:buChar char="•"/>
            </a:pPr>
            <a:r>
              <a:rPr lang="en-US" sz="1600" dirty="0">
                <a:solidFill>
                  <a:prstClr val="black"/>
                </a:solidFill>
              </a:rPr>
              <a:t>Property other than money and securities against crime perils such as employee theft, robbery, theft by outsiders and extortion</a:t>
            </a:r>
          </a:p>
          <a:p>
            <a:pPr lvl="1"/>
            <a:endParaRPr lang="en-US" sz="1600" dirty="0">
              <a:solidFill>
                <a:prstClr val="black"/>
              </a:solidFill>
            </a:endParaRPr>
          </a:p>
          <a:p>
            <a:pPr marL="285750" indent="-285750">
              <a:buFont typeface="Wingdings" panose="05000000000000000000" pitchFamily="2" charset="2"/>
              <a:buChar char="v"/>
            </a:pPr>
            <a:r>
              <a:rPr lang="en-US" sz="1600" dirty="0" smtClean="0">
                <a:solidFill>
                  <a:prstClr val="black"/>
                </a:solidFill>
              </a:rPr>
              <a:t>An organization’s property is exposure to numerous crime related loss exposures:</a:t>
            </a:r>
          </a:p>
          <a:p>
            <a:pPr marL="742950" lvl="1" indent="-285750">
              <a:buFont typeface="Arial" panose="020B0604020202020204" pitchFamily="34" charset="0"/>
              <a:buChar char="•"/>
            </a:pPr>
            <a:r>
              <a:rPr lang="en-US" sz="1600" dirty="0" smtClean="0">
                <a:solidFill>
                  <a:prstClr val="black"/>
                </a:solidFill>
              </a:rPr>
              <a:t>Robbery</a:t>
            </a:r>
          </a:p>
          <a:p>
            <a:pPr marL="742950" lvl="1" indent="-285750">
              <a:buFont typeface="Arial" panose="020B0604020202020204" pitchFamily="34" charset="0"/>
              <a:buChar char="•"/>
            </a:pPr>
            <a:r>
              <a:rPr lang="en-US" sz="1600" dirty="0" smtClean="0">
                <a:solidFill>
                  <a:prstClr val="black"/>
                </a:solidFill>
              </a:rPr>
              <a:t>Burglary </a:t>
            </a:r>
          </a:p>
          <a:p>
            <a:pPr marL="742950" lvl="1" indent="-285750">
              <a:buFont typeface="Arial" panose="020B0604020202020204" pitchFamily="34" charset="0"/>
              <a:buChar char="•"/>
            </a:pPr>
            <a:r>
              <a:rPr lang="en-US" sz="1600" dirty="0" smtClean="0">
                <a:solidFill>
                  <a:prstClr val="black"/>
                </a:solidFill>
              </a:rPr>
              <a:t>Forgery</a:t>
            </a:r>
          </a:p>
          <a:p>
            <a:pPr marL="742950" lvl="1" indent="-285750">
              <a:buFont typeface="Arial" panose="020B0604020202020204" pitchFamily="34" charset="0"/>
              <a:buChar char="•"/>
            </a:pPr>
            <a:r>
              <a:rPr lang="en-US" sz="1600" dirty="0"/>
              <a:t>Credit card </a:t>
            </a:r>
            <a:r>
              <a:rPr lang="en-US" sz="1600" dirty="0" smtClean="0"/>
              <a:t>fraud</a:t>
            </a:r>
          </a:p>
          <a:p>
            <a:pPr marL="742950" lvl="1" indent="-285750">
              <a:buFont typeface="Arial" panose="020B0604020202020204" pitchFamily="34" charset="0"/>
              <a:buChar char="•"/>
            </a:pPr>
            <a:r>
              <a:rPr lang="en-US" sz="1600" dirty="0" smtClean="0"/>
              <a:t>Computer fraud</a:t>
            </a:r>
            <a:endParaRPr lang="en-US" sz="1600" dirty="0">
              <a:solidFill>
                <a:prstClr val="black"/>
              </a:solidFill>
            </a:endParaRPr>
          </a:p>
          <a:p>
            <a:pPr marL="285750" indent="-285750">
              <a:buFont typeface="Wingdings" panose="05000000000000000000" pitchFamily="2" charset="2"/>
              <a:buChar char="v"/>
            </a:pPr>
            <a:endParaRPr lang="en-US" sz="1600" dirty="0" smtClean="0"/>
          </a:p>
          <a:p>
            <a:pPr marL="285750" indent="-285750">
              <a:buFont typeface="Wingdings" panose="05000000000000000000" pitchFamily="2" charset="2"/>
              <a:buChar char="v"/>
            </a:pPr>
            <a:r>
              <a:rPr lang="en-US" sz="1600" dirty="0"/>
              <a:t>It is issued in two forms:</a:t>
            </a:r>
          </a:p>
          <a:p>
            <a:pPr marL="742950" lvl="1" indent="-285750">
              <a:buFont typeface="Arial" panose="020B0604020202020204" pitchFamily="34" charset="0"/>
              <a:buChar char="•"/>
            </a:pPr>
            <a:r>
              <a:rPr lang="en-US" sz="1600" b="1" dirty="0"/>
              <a:t>Discovery Form: </a:t>
            </a:r>
            <a:r>
              <a:rPr lang="en-US" sz="1600" dirty="0"/>
              <a:t>Covers losses discovered during policy period even </a:t>
            </a:r>
            <a:r>
              <a:rPr lang="en-US" sz="1600" b="1" dirty="0"/>
              <a:t>though they may have occurred before the policy period</a:t>
            </a:r>
          </a:p>
          <a:p>
            <a:pPr marL="742950" lvl="1" indent="-285750">
              <a:buFont typeface="Arial" panose="020B0604020202020204" pitchFamily="34" charset="0"/>
              <a:buChar char="•"/>
            </a:pPr>
            <a:r>
              <a:rPr lang="en-US" sz="1600" b="1" dirty="0"/>
              <a:t>Loss Sustained Form: </a:t>
            </a:r>
            <a:r>
              <a:rPr lang="en-US" sz="1600" dirty="0"/>
              <a:t>Covers losses actually sustained during the policy period and </a:t>
            </a:r>
            <a:r>
              <a:rPr lang="en-US" sz="1600" b="1" dirty="0"/>
              <a:t>discovered no later than one year after policy </a:t>
            </a:r>
            <a:r>
              <a:rPr lang="en-US" sz="1600" b="1" dirty="0" smtClean="0"/>
              <a:t>expiration</a:t>
            </a:r>
            <a:endParaRPr lang="en-US" sz="1600" b="1" dirty="0"/>
          </a:p>
        </p:txBody>
      </p:sp>
      <p:pic>
        <p:nvPicPr>
          <p:cNvPr id="2" name="Picture 1"/>
          <p:cNvPicPr>
            <a:picLocks noChangeAspect="1"/>
          </p:cNvPicPr>
          <p:nvPr/>
        </p:nvPicPr>
        <p:blipFill>
          <a:blip r:embed="rId4"/>
          <a:stretch>
            <a:fillRect/>
          </a:stretch>
        </p:blipFill>
        <p:spPr>
          <a:xfrm>
            <a:off x="8200772" y="2656549"/>
            <a:ext cx="2700675" cy="1944486"/>
          </a:xfrm>
          <a:prstGeom prst="rect">
            <a:avLst/>
          </a:prstGeom>
        </p:spPr>
      </p:pic>
    </p:spTree>
    <p:extLst>
      <p:ext uri="{BB962C8B-B14F-4D97-AF65-F5344CB8AC3E}">
        <p14:creationId xmlns:p14="http://schemas.microsoft.com/office/powerpoint/2010/main" val="15788814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5018618"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 </a:t>
            </a:r>
            <a:r>
              <a:rPr lang="en-IN" sz="3454" b="1" dirty="0" err="1" smtClean="0">
                <a:solidFill>
                  <a:prstClr val="black"/>
                </a:solidFill>
                <a:latin typeface="Segoe UI Semibold" panose="020B0702040204020203" pitchFamily="34" charset="0"/>
                <a:cs typeface="BrowalliaUPC" panose="020B0604020202020204" pitchFamily="34" charset="-34"/>
              </a:rPr>
              <a:t>contd</a:t>
            </a:r>
            <a:r>
              <a:rPr lang="en-IN" sz="3454" b="1" dirty="0" smtClean="0">
                <a:solidFill>
                  <a:prstClr val="black"/>
                </a:solidFill>
                <a:latin typeface="Segoe UI Semibold" panose="020B0702040204020203" pitchFamily="34" charset="0"/>
                <a:cs typeface="BrowalliaUPC" panose="020B0604020202020204" pitchFamily="34" charset="-34"/>
              </a:rPr>
              <a:t>…</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298812" y="1321042"/>
            <a:ext cx="11227779" cy="5645811"/>
          </a:xfrm>
          <a:prstGeom prst="rect">
            <a:avLst/>
          </a:prstGeom>
          <a:noFill/>
          <a:ln>
            <a:miter lim="800000"/>
            <a:headEnd/>
            <a:tailEnd/>
          </a:ln>
        </p:spPr>
        <p:txBody>
          <a:bodyPr/>
          <a:lstStyle/>
          <a:p>
            <a:pPr marL="285750" indent="-285750">
              <a:buFont typeface="Arial" panose="020B0604020202020204" pitchFamily="34" charset="0"/>
              <a:buChar char="•"/>
            </a:pPr>
            <a:r>
              <a:rPr lang="en-US" sz="1600" dirty="0" smtClean="0"/>
              <a:t>The insuring agreements include:</a:t>
            </a:r>
          </a:p>
          <a:p>
            <a:endParaRPr lang="en-US" sz="1600" dirty="0"/>
          </a:p>
          <a:p>
            <a:pPr marL="742950" lvl="1" indent="-285750">
              <a:buFont typeface="Arial" panose="020B0604020202020204" pitchFamily="34" charset="0"/>
              <a:buChar char="•"/>
            </a:pPr>
            <a:r>
              <a:rPr lang="en-US" sz="1600" b="1" dirty="0"/>
              <a:t>Employee theft </a:t>
            </a:r>
            <a:r>
              <a:rPr lang="en-US" sz="1600" dirty="0"/>
              <a:t>- </a:t>
            </a:r>
            <a:r>
              <a:rPr lang="en-US" sz="1600" dirty="0">
                <a:solidFill>
                  <a:prstClr val="black"/>
                </a:solidFill>
              </a:rPr>
              <a:t>“Theft”  of “money”, “securities” and “other property” committed by an “employee” in the territory of US or temporarily outside for 90 days “Forgery” by an </a:t>
            </a:r>
            <a:r>
              <a:rPr lang="en-US" sz="1600" dirty="0" smtClean="0">
                <a:solidFill>
                  <a:prstClr val="black"/>
                </a:solidFill>
              </a:rPr>
              <a:t>employee is also covered</a:t>
            </a:r>
            <a:endParaRPr lang="en-US" sz="1600" dirty="0"/>
          </a:p>
          <a:p>
            <a:pPr marL="742950" lvl="1" indent="-285750">
              <a:buFont typeface="Arial" panose="020B0604020202020204" pitchFamily="34" charset="0"/>
              <a:buChar char="•"/>
            </a:pPr>
            <a:r>
              <a:rPr lang="en-US" sz="1600" b="1" dirty="0"/>
              <a:t>Forgery or alteration </a:t>
            </a:r>
            <a:r>
              <a:rPr lang="en-US" sz="1600" dirty="0"/>
              <a:t>- </a:t>
            </a:r>
            <a:r>
              <a:rPr lang="en-US" sz="1600" dirty="0">
                <a:solidFill>
                  <a:prstClr val="black"/>
                </a:solidFill>
              </a:rPr>
              <a:t>“Forgery” and alteration of checks, drafts etc. drawn by the insured or his agent anywhere in the </a:t>
            </a:r>
            <a:r>
              <a:rPr lang="en-US" sz="1600" dirty="0" smtClean="0">
                <a:solidFill>
                  <a:prstClr val="black"/>
                </a:solidFill>
              </a:rPr>
              <a:t>world. Forgery </a:t>
            </a:r>
            <a:r>
              <a:rPr lang="en-US" sz="1600" dirty="0">
                <a:solidFill>
                  <a:prstClr val="black"/>
                </a:solidFill>
              </a:rPr>
              <a:t>by an employee is excluded </a:t>
            </a:r>
            <a:endParaRPr lang="en-US" sz="1600" dirty="0"/>
          </a:p>
          <a:p>
            <a:pPr marL="742950" lvl="1" indent="-285750">
              <a:buFont typeface="Arial" panose="020B0604020202020204" pitchFamily="34" charset="0"/>
              <a:buChar char="•"/>
            </a:pPr>
            <a:r>
              <a:rPr lang="en-US" sz="1600" b="1" dirty="0"/>
              <a:t>Inside the premises – Theft of money and </a:t>
            </a:r>
            <a:r>
              <a:rPr lang="en-US" sz="1600" b="1" dirty="0" smtClean="0"/>
              <a:t>securities</a:t>
            </a:r>
            <a:r>
              <a:rPr lang="en-US" sz="1600" dirty="0" smtClean="0">
                <a:solidFill>
                  <a:prstClr val="black"/>
                </a:solidFill>
              </a:rPr>
              <a:t>: </a:t>
            </a:r>
            <a:r>
              <a:rPr lang="en-US" sz="1600" dirty="0">
                <a:solidFill>
                  <a:prstClr val="black"/>
                </a:solidFill>
              </a:rPr>
              <a:t>“Theft”, disappearance or destruction of money &amp; securities, damage to the premises, damage or loss to locked safe, vaults because of the thief’s presence inside the premises</a:t>
            </a:r>
            <a:endParaRPr lang="en-US" sz="1600" dirty="0"/>
          </a:p>
          <a:p>
            <a:pPr marL="742950" lvl="1" indent="-285750">
              <a:buFont typeface="Arial" panose="020B0604020202020204" pitchFamily="34" charset="0"/>
              <a:buChar char="•"/>
            </a:pPr>
            <a:r>
              <a:rPr lang="en-US" sz="1600" b="1" dirty="0"/>
              <a:t>Inside the premises – Robbery or Safe burglary of other property </a:t>
            </a:r>
            <a:r>
              <a:rPr lang="en-US" sz="1600" dirty="0"/>
              <a:t>- </a:t>
            </a:r>
            <a:r>
              <a:rPr lang="en-US" sz="1600" dirty="0">
                <a:solidFill>
                  <a:prstClr val="black"/>
                </a:solidFill>
              </a:rPr>
              <a:t>Loss due to actual or attempted “robbery” of a “custodian” to other tangible property inside the premises, damages to the locked safe, vaults inside the premises and also the damage to the premises</a:t>
            </a:r>
            <a:endParaRPr lang="en-US" sz="1600" dirty="0"/>
          </a:p>
          <a:p>
            <a:pPr marL="742950" lvl="1" indent="-285750">
              <a:buFont typeface="Arial" panose="020B0604020202020204" pitchFamily="34" charset="0"/>
              <a:buChar char="•"/>
            </a:pPr>
            <a:r>
              <a:rPr lang="en-US" sz="1600" b="1" dirty="0"/>
              <a:t>Outside the premises </a:t>
            </a:r>
            <a:r>
              <a:rPr lang="en-US" sz="1600" dirty="0"/>
              <a:t>- </a:t>
            </a:r>
            <a:r>
              <a:rPr lang="en-US" sz="1600" dirty="0">
                <a:solidFill>
                  <a:prstClr val="black"/>
                </a:solidFill>
              </a:rPr>
              <a:t>“Theft”, disappearance &amp; destruction of “money” and “securities”  and actual or attempted “robbery” of “other property” outside the premises under the custody of a messenger or an armored car inside the territories of the </a:t>
            </a:r>
            <a:r>
              <a:rPr lang="en-US" sz="1600" dirty="0" smtClean="0">
                <a:solidFill>
                  <a:prstClr val="black"/>
                </a:solidFill>
              </a:rPr>
              <a:t>US</a:t>
            </a:r>
            <a:endParaRPr lang="en-US" sz="1600" dirty="0"/>
          </a:p>
          <a:p>
            <a:pPr marL="742950" lvl="1" indent="-285750">
              <a:buFont typeface="Arial" panose="020B0604020202020204" pitchFamily="34" charset="0"/>
              <a:buChar char="•"/>
            </a:pPr>
            <a:r>
              <a:rPr lang="en-US" sz="1600" b="1" dirty="0"/>
              <a:t>Computer and funds transfer fraud </a:t>
            </a:r>
            <a:r>
              <a:rPr lang="en-US" sz="1600" dirty="0"/>
              <a:t>- </a:t>
            </a:r>
            <a:r>
              <a:rPr lang="en-US" sz="1600" dirty="0">
                <a:solidFill>
                  <a:prstClr val="black"/>
                </a:solidFill>
              </a:rPr>
              <a:t>Usage of computer to fraudulently cause a transfer of “money”, “securities” and “other property” and fraudulent instruction directing the financial institution to debit “money” and “securities” from the insured’s account anywhere in the world </a:t>
            </a:r>
            <a:endParaRPr lang="en-US" sz="1600" dirty="0"/>
          </a:p>
          <a:p>
            <a:pPr marL="742950" lvl="1" indent="-285750">
              <a:buFont typeface="Arial" panose="020B0604020202020204" pitchFamily="34" charset="0"/>
              <a:buChar char="•"/>
            </a:pPr>
            <a:r>
              <a:rPr lang="en-US" sz="1600" b="1" dirty="0"/>
              <a:t>Money orders and counterfeit money </a:t>
            </a:r>
            <a:r>
              <a:rPr lang="en-US" sz="1600" dirty="0"/>
              <a:t>- </a:t>
            </a:r>
            <a:r>
              <a:rPr lang="en-US" sz="1600" dirty="0">
                <a:solidFill>
                  <a:prstClr val="black"/>
                </a:solidFill>
              </a:rPr>
              <a:t>Acceptance of money orders, counterfeit money under good-faith within the territory of the </a:t>
            </a:r>
            <a:r>
              <a:rPr lang="en-US" sz="1600" dirty="0" smtClean="0">
                <a:solidFill>
                  <a:prstClr val="black"/>
                </a:solidFill>
              </a:rPr>
              <a:t>US</a:t>
            </a:r>
            <a:endParaRPr lang="en-US" sz="1600" dirty="0"/>
          </a:p>
        </p:txBody>
      </p:sp>
    </p:spTree>
    <p:extLst>
      <p:ext uri="{BB962C8B-B14F-4D97-AF65-F5344CB8AC3E}">
        <p14:creationId xmlns:p14="http://schemas.microsoft.com/office/powerpoint/2010/main" val="904760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5018618"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 </a:t>
            </a:r>
            <a:r>
              <a:rPr lang="en-IN" sz="3454" b="1" dirty="0" err="1" smtClean="0">
                <a:solidFill>
                  <a:prstClr val="black"/>
                </a:solidFill>
                <a:latin typeface="Segoe UI Semibold" panose="020B0702040204020203" pitchFamily="34" charset="0"/>
                <a:cs typeface="BrowalliaUPC" panose="020B0604020202020204" pitchFamily="34" charset="-34"/>
              </a:rPr>
              <a:t>contd</a:t>
            </a:r>
            <a:r>
              <a:rPr lang="en-IN" sz="3454" b="1" dirty="0" smtClean="0">
                <a:solidFill>
                  <a:prstClr val="black"/>
                </a:solidFill>
                <a:latin typeface="Segoe UI Semibold" panose="020B0702040204020203" pitchFamily="34" charset="0"/>
                <a:cs typeface="BrowalliaUPC" panose="020B0604020202020204" pitchFamily="34" charset="-34"/>
              </a:rPr>
              <a:t>…</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298812" y="1335562"/>
            <a:ext cx="11227779" cy="5166838"/>
          </a:xfrm>
          <a:prstGeom prst="rect">
            <a:avLst/>
          </a:prstGeom>
          <a:noFill/>
          <a:ln>
            <a:miter lim="800000"/>
            <a:headEnd/>
            <a:tailEnd/>
          </a:ln>
        </p:spPr>
        <p:txBody>
          <a:bodyPr/>
          <a:lstStyle/>
          <a:p>
            <a:pPr marL="285750" indent="-285750">
              <a:buFont typeface="Arial" panose="020B0604020202020204" pitchFamily="34" charset="0"/>
              <a:buChar char="•"/>
            </a:pPr>
            <a:r>
              <a:rPr lang="en-US" sz="1600" b="1" dirty="0" smtClean="0"/>
              <a:t>Limits</a:t>
            </a:r>
          </a:p>
          <a:p>
            <a:pPr marL="742950" lvl="1" indent="-285750">
              <a:buFont typeface="Arial" panose="020B0604020202020204" pitchFamily="34" charset="0"/>
              <a:buChar char="•"/>
            </a:pPr>
            <a:r>
              <a:rPr lang="en-US" sz="1600" dirty="0" smtClean="0"/>
              <a:t>Separate limits may apply for each insuring agreement. If a loss is covered inn more than one insuring agreement, the insurer will pay no more than the highest limit of the insuring agreements that apply</a:t>
            </a:r>
          </a:p>
          <a:p>
            <a:pPr marL="742950" lvl="1" indent="-285750">
              <a:buFont typeface="Arial" panose="020B0604020202020204" pitchFamily="34" charset="0"/>
              <a:buChar char="•"/>
            </a:pPr>
            <a:r>
              <a:rPr lang="en-US" sz="1600" dirty="0" smtClean="0"/>
              <a:t>An “occurrence” includes an individual act, the combined total of all separate acts or a series of acts</a:t>
            </a:r>
          </a:p>
          <a:p>
            <a:pPr marL="742950" lvl="1" indent="-285750">
              <a:buFont typeface="Arial" panose="020B0604020202020204" pitchFamily="34" charset="0"/>
              <a:buChar char="•"/>
            </a:pPr>
            <a:r>
              <a:rPr lang="en-US" sz="1600" dirty="0" smtClean="0"/>
              <a:t>Payment </a:t>
            </a:r>
            <a:r>
              <a:rPr lang="en-US" sz="1600" dirty="0"/>
              <a:t>is made per occurrence </a:t>
            </a:r>
            <a:r>
              <a:rPr lang="en-US" sz="1600" dirty="0" smtClean="0"/>
              <a:t>basis</a:t>
            </a:r>
          </a:p>
          <a:p>
            <a:pPr lvl="1"/>
            <a:endParaRPr lang="en-US" sz="1600" dirty="0" smtClean="0"/>
          </a:p>
          <a:p>
            <a:pPr lvl="1"/>
            <a:endParaRPr lang="en-US" sz="1600" dirty="0"/>
          </a:p>
          <a:p>
            <a:pPr lvl="1"/>
            <a:endParaRPr lang="en-US" sz="1600" dirty="0" smtClean="0"/>
          </a:p>
          <a:p>
            <a:pPr lvl="1"/>
            <a:endParaRPr lang="en-US" sz="1600" dirty="0"/>
          </a:p>
          <a:p>
            <a:pPr lvl="1"/>
            <a:endParaRPr lang="en-US" sz="1600" dirty="0" smtClean="0"/>
          </a:p>
          <a:p>
            <a:pPr lvl="1"/>
            <a:endParaRPr lang="en-US" sz="1600" dirty="0" smtClean="0"/>
          </a:p>
          <a:p>
            <a:pPr marL="742950" lvl="1" indent="-285750">
              <a:buFont typeface="Arial" panose="020B0604020202020204" pitchFamily="34" charset="0"/>
              <a:buChar char="•"/>
            </a:pPr>
            <a:r>
              <a:rPr lang="en-US" sz="1600" dirty="0"/>
              <a:t>Special limits of </a:t>
            </a:r>
            <a:r>
              <a:rPr lang="en-US" sz="1600" dirty="0" smtClean="0"/>
              <a:t>insurance is provided for :</a:t>
            </a:r>
          </a:p>
          <a:p>
            <a:pPr marL="1143000" lvl="2" indent="-228600">
              <a:buAutoNum type="arabicPeriod"/>
            </a:pPr>
            <a:r>
              <a:rPr lang="en-US" sz="1600" dirty="0"/>
              <a:t>Precious metals, stone, pearls furs</a:t>
            </a:r>
          </a:p>
          <a:p>
            <a:pPr marL="1143000" lvl="2" indent="-228600">
              <a:buAutoNum type="arabicPeriod"/>
            </a:pPr>
            <a:r>
              <a:rPr lang="en-US" sz="1600" dirty="0"/>
              <a:t>Manuscripts, drawings or </a:t>
            </a:r>
            <a:r>
              <a:rPr lang="en-US" sz="1600" dirty="0" smtClean="0"/>
              <a:t>records</a:t>
            </a:r>
          </a:p>
          <a:p>
            <a:pPr marL="1200150" lvl="2" indent="-285750">
              <a:buFont typeface="Arial" panose="020B0604020202020204" pitchFamily="34" charset="0"/>
              <a:buChar char="•"/>
            </a:pPr>
            <a:r>
              <a:rPr lang="en-US" sz="1600" b="1" dirty="0" smtClean="0"/>
              <a:t>Inside </a:t>
            </a:r>
            <a:r>
              <a:rPr lang="en-US" sz="1600" b="1" dirty="0"/>
              <a:t>the premises – robbery and safe burglary of other property </a:t>
            </a:r>
            <a:r>
              <a:rPr lang="en-US" sz="1600" dirty="0"/>
              <a:t>- </a:t>
            </a:r>
            <a:r>
              <a:rPr lang="en-US" sz="1600" b="1" dirty="0"/>
              <a:t>$ 5,000 per occurrence </a:t>
            </a:r>
            <a:r>
              <a:rPr lang="en-US" sz="1600" dirty="0"/>
              <a:t>for 1 and 2</a:t>
            </a:r>
          </a:p>
          <a:p>
            <a:pPr marL="1200150" lvl="2" indent="-285750">
              <a:buFont typeface="Arial" panose="020B0604020202020204" pitchFamily="34" charset="0"/>
              <a:buChar char="•"/>
            </a:pPr>
            <a:r>
              <a:rPr lang="en-US" sz="1600" b="1" dirty="0"/>
              <a:t>Outside the premises </a:t>
            </a:r>
            <a:r>
              <a:rPr lang="en-US" sz="1600" dirty="0"/>
              <a:t>- </a:t>
            </a:r>
            <a:r>
              <a:rPr lang="en-US" sz="1600" b="1" dirty="0"/>
              <a:t>$ </a:t>
            </a:r>
            <a:r>
              <a:rPr lang="en-US" sz="1600" b="1" dirty="0" smtClean="0"/>
              <a:t>5,000 per occurrence </a:t>
            </a:r>
            <a:r>
              <a:rPr lang="en-US" sz="1600" dirty="0"/>
              <a:t>for 1 and 2</a:t>
            </a:r>
          </a:p>
          <a:p>
            <a:pPr marL="1200150" lvl="2" indent="-285750">
              <a:buFont typeface="Arial" panose="020B0604020202020204" pitchFamily="34" charset="0"/>
              <a:buChar char="•"/>
            </a:pPr>
            <a:r>
              <a:rPr lang="en-US" sz="1600" b="1" dirty="0"/>
              <a:t>Computer and funds transfer fraud coverage </a:t>
            </a:r>
            <a:r>
              <a:rPr lang="en-US" sz="1600" dirty="0"/>
              <a:t>- </a:t>
            </a:r>
            <a:r>
              <a:rPr lang="en-US" sz="1600" b="1" dirty="0"/>
              <a:t>$ 5,000 per occurrence </a:t>
            </a:r>
            <a:r>
              <a:rPr lang="en-US" sz="1600" dirty="0"/>
              <a:t>for </a:t>
            </a:r>
            <a:r>
              <a:rPr lang="en-US" sz="1600" dirty="0" smtClean="0"/>
              <a:t>2</a:t>
            </a:r>
          </a:p>
          <a:p>
            <a:pPr marL="1200150" lvl="2"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smtClean="0"/>
              <a:t>Deductible</a:t>
            </a:r>
          </a:p>
          <a:p>
            <a:pPr marL="742950" lvl="1" indent="-285750">
              <a:buFont typeface="Arial" panose="020B0604020202020204" pitchFamily="34" charset="0"/>
              <a:buChar char="•"/>
            </a:pPr>
            <a:r>
              <a:rPr lang="en-US" sz="1600" dirty="0" smtClean="0"/>
              <a:t>Loss will be paid only for the amount in excess of deductible</a:t>
            </a:r>
          </a:p>
          <a:p>
            <a:pPr marL="285750" indent="-285750">
              <a:buFont typeface="Arial" panose="020B0604020202020204" pitchFamily="34" charset="0"/>
              <a:buChar char="•"/>
            </a:pPr>
            <a:endParaRPr lang="en-US" sz="1600" dirty="0"/>
          </a:p>
          <a:p>
            <a:pPr marL="742950" lvl="1" indent="-285750">
              <a:buFont typeface="Arial" panose="020B0604020202020204" pitchFamily="34" charset="0"/>
              <a:buChar char="•"/>
            </a:pPr>
            <a:endParaRPr lang="en-US" sz="1600" dirty="0"/>
          </a:p>
          <a:p>
            <a:pPr marL="285750" indent="-285750">
              <a:buFont typeface="Wingdings" panose="05000000000000000000" pitchFamily="2" charset="2"/>
              <a:buChar char="v"/>
            </a:pPr>
            <a:endParaRPr lang="en-US" sz="1600" dirty="0"/>
          </a:p>
          <a:p>
            <a:endParaRPr lang="en-US" sz="1600" dirty="0"/>
          </a:p>
          <a:p>
            <a:pPr marL="285750" indent="-285750">
              <a:buFont typeface="Wingdings" panose="05000000000000000000" pitchFamily="2" charset="2"/>
              <a:buChar char="v"/>
            </a:pPr>
            <a:endParaRPr lang="en-US" sz="1600" dirty="0"/>
          </a:p>
        </p:txBody>
      </p:sp>
      <p:pic>
        <p:nvPicPr>
          <p:cNvPr id="2" name="Picture 1"/>
          <p:cNvPicPr>
            <a:picLocks noChangeAspect="1"/>
          </p:cNvPicPr>
          <p:nvPr/>
        </p:nvPicPr>
        <p:blipFill>
          <a:blip r:embed="rId4"/>
          <a:stretch>
            <a:fillRect/>
          </a:stretch>
        </p:blipFill>
        <p:spPr>
          <a:xfrm>
            <a:off x="7507420" y="2571976"/>
            <a:ext cx="3249253" cy="2058081"/>
          </a:xfrm>
          <a:prstGeom prst="rect">
            <a:avLst/>
          </a:prstGeom>
        </p:spPr>
      </p:pic>
    </p:spTree>
    <p:extLst>
      <p:ext uri="{BB962C8B-B14F-4D97-AF65-F5344CB8AC3E}">
        <p14:creationId xmlns:p14="http://schemas.microsoft.com/office/powerpoint/2010/main" val="7936640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133139" y="333065"/>
            <a:ext cx="5018618" cy="623889"/>
          </a:xfrm>
          <a:prstGeom prst="rect">
            <a:avLst/>
          </a:prstGeom>
        </p:spPr>
        <p:txBody>
          <a:bodyPr wrap="none">
            <a:spAutoFit/>
          </a:bodyPr>
          <a:lstStyle/>
          <a:p>
            <a:r>
              <a:rPr lang="en-IN" sz="3454" b="1" dirty="0" smtClean="0">
                <a:solidFill>
                  <a:prstClr val="black"/>
                </a:solidFill>
                <a:latin typeface="Segoe UI Semibold" panose="020B0702040204020203" pitchFamily="34" charset="0"/>
                <a:cs typeface="BrowalliaUPC" panose="020B0604020202020204" pitchFamily="34" charset="-34"/>
              </a:rPr>
              <a:t>Crime Insurance </a:t>
            </a:r>
            <a:r>
              <a:rPr lang="en-IN" sz="3454" b="1" dirty="0" err="1" smtClean="0">
                <a:solidFill>
                  <a:prstClr val="black"/>
                </a:solidFill>
                <a:latin typeface="Segoe UI Semibold" panose="020B0702040204020203" pitchFamily="34" charset="0"/>
                <a:cs typeface="BrowalliaUPC" panose="020B0604020202020204" pitchFamily="34" charset="-34"/>
              </a:rPr>
              <a:t>contd</a:t>
            </a:r>
            <a:r>
              <a:rPr lang="en-IN" sz="3454" b="1" dirty="0" smtClean="0">
                <a:solidFill>
                  <a:prstClr val="black"/>
                </a:solidFill>
                <a:latin typeface="Segoe UI Semibold" panose="020B0702040204020203" pitchFamily="34" charset="0"/>
                <a:cs typeface="BrowalliaUPC" panose="020B0604020202020204" pitchFamily="34" charset="-34"/>
              </a:rPr>
              <a:t>…</a:t>
            </a:r>
            <a:endParaRPr lang="en-IN" sz="3454" b="1" dirty="0">
              <a:solidFill>
                <a:prstClr val="black"/>
              </a:solidFill>
              <a:latin typeface="Segoe UI Semibold" panose="020B0702040204020203" pitchFamily="34" charset="0"/>
              <a:cs typeface="BrowalliaUPC" panose="020B0604020202020204" pitchFamily="34" charset="-34"/>
            </a:endParaRPr>
          </a:p>
        </p:txBody>
      </p:sp>
      <p:sp>
        <p:nvSpPr>
          <p:cNvPr id="7" name="Content Placeholder 2"/>
          <p:cNvSpPr txBox="1">
            <a:spLocks/>
          </p:cNvSpPr>
          <p:nvPr/>
        </p:nvSpPr>
        <p:spPr bwMode="auto">
          <a:xfrm>
            <a:off x="37559" y="1059794"/>
            <a:ext cx="12168957" cy="5798206"/>
          </a:xfrm>
          <a:prstGeom prst="rect">
            <a:avLst/>
          </a:prstGeom>
          <a:noFill/>
          <a:ln>
            <a:miter lim="800000"/>
            <a:headEnd/>
            <a:tailEnd/>
          </a:ln>
        </p:spPr>
        <p:txBody>
          <a:bodyPr/>
          <a:lstStyle/>
          <a:p>
            <a:pPr marL="285750" indent="-285750">
              <a:buFont typeface="Arial" panose="020B0604020202020204" pitchFamily="34" charset="0"/>
              <a:buChar char="•"/>
            </a:pPr>
            <a:r>
              <a:rPr lang="en-US" sz="1600" b="1" dirty="0" smtClean="0"/>
              <a:t>Exclusions</a:t>
            </a:r>
            <a:endParaRPr lang="en-US" sz="1600" b="1" dirty="0"/>
          </a:p>
          <a:p>
            <a:pPr marL="742950" lvl="1" indent="-285750">
              <a:buFont typeface="Arial" panose="020B0604020202020204" pitchFamily="34" charset="0"/>
              <a:buChar char="•"/>
            </a:pPr>
            <a:r>
              <a:rPr lang="en-US" sz="1600" b="1" dirty="0">
                <a:solidFill>
                  <a:prstClr val="black"/>
                </a:solidFill>
              </a:rPr>
              <a:t>General </a:t>
            </a:r>
            <a:r>
              <a:rPr lang="en-US" sz="1600" b="1" dirty="0" smtClean="0">
                <a:solidFill>
                  <a:prstClr val="black"/>
                </a:solidFill>
              </a:rPr>
              <a:t>Exclusions</a:t>
            </a:r>
          </a:p>
          <a:p>
            <a:pPr marL="1200150" lvl="2" indent="-285750">
              <a:buFont typeface="Arial" panose="020B0604020202020204" pitchFamily="34" charset="0"/>
              <a:buChar char="•"/>
            </a:pPr>
            <a:r>
              <a:rPr lang="en-US" sz="1600" b="1" dirty="0" smtClean="0">
                <a:solidFill>
                  <a:prstClr val="black"/>
                </a:solidFill>
              </a:rPr>
              <a:t>Acts committed by you, your partners and members </a:t>
            </a:r>
            <a:r>
              <a:rPr lang="en-US" sz="1600" dirty="0" smtClean="0">
                <a:solidFill>
                  <a:prstClr val="black"/>
                </a:solidFill>
              </a:rPr>
              <a:t>– Excludes theft or dishonest act committed by named insured, his partners or members whether acting in collusion or with other members</a:t>
            </a:r>
          </a:p>
          <a:p>
            <a:pPr marL="1200150" lvl="2" indent="-285750">
              <a:buFont typeface="Arial" panose="020B0604020202020204" pitchFamily="34" charset="0"/>
              <a:buChar char="•"/>
            </a:pPr>
            <a:r>
              <a:rPr lang="en-US" sz="1600" b="1" dirty="0" smtClean="0">
                <a:solidFill>
                  <a:prstClr val="black"/>
                </a:solidFill>
              </a:rPr>
              <a:t>Acts committed known </a:t>
            </a:r>
            <a:r>
              <a:rPr lang="en-US" sz="1600" b="1" dirty="0">
                <a:solidFill>
                  <a:prstClr val="black"/>
                </a:solidFill>
              </a:rPr>
              <a:t>to you prior to the policy </a:t>
            </a:r>
            <a:r>
              <a:rPr lang="en-US" sz="1600" b="1" dirty="0" smtClean="0">
                <a:solidFill>
                  <a:prstClr val="black"/>
                </a:solidFill>
              </a:rPr>
              <a:t>period </a:t>
            </a:r>
            <a:r>
              <a:rPr lang="en-US" sz="1600" dirty="0" smtClean="0">
                <a:solidFill>
                  <a:prstClr val="black"/>
                </a:solidFill>
              </a:rPr>
              <a:t>– Excludes if the act by the employee was known to named insured his partner/members prior to the policy effective date</a:t>
            </a:r>
          </a:p>
          <a:p>
            <a:pPr marL="1200150" lvl="2" indent="-285750">
              <a:buFont typeface="Arial" panose="020B0604020202020204" pitchFamily="34" charset="0"/>
              <a:buChar char="•"/>
            </a:pPr>
            <a:r>
              <a:rPr lang="en-US" sz="1600" b="1" dirty="0" smtClean="0">
                <a:solidFill>
                  <a:prstClr val="black"/>
                </a:solidFill>
              </a:rPr>
              <a:t>Indirect losses </a:t>
            </a:r>
            <a:r>
              <a:rPr lang="en-US" sz="1600" dirty="0" smtClean="0">
                <a:solidFill>
                  <a:prstClr val="black"/>
                </a:solidFill>
              </a:rPr>
              <a:t>– Excludes losses of e.g. business income loss, liability payments, expense to establish the amount of loss </a:t>
            </a:r>
          </a:p>
          <a:p>
            <a:pPr marL="1200150" lvl="2" indent="-285750">
              <a:buFont typeface="Arial" panose="020B0604020202020204" pitchFamily="34" charset="0"/>
              <a:buChar char="•"/>
            </a:pPr>
            <a:r>
              <a:rPr lang="en-US" sz="1600" b="1" dirty="0">
                <a:solidFill>
                  <a:prstClr val="black"/>
                </a:solidFill>
              </a:rPr>
              <a:t>G</a:t>
            </a:r>
            <a:r>
              <a:rPr lang="en-US" sz="1600" b="1" dirty="0" smtClean="0">
                <a:solidFill>
                  <a:prstClr val="black"/>
                </a:solidFill>
              </a:rPr>
              <a:t>overnment action </a:t>
            </a:r>
            <a:r>
              <a:rPr lang="en-US" sz="1600" dirty="0" smtClean="0">
                <a:solidFill>
                  <a:prstClr val="black"/>
                </a:solidFill>
              </a:rPr>
              <a:t>– Excludes loss from the seizure or destruction of property by order of government authority</a:t>
            </a:r>
          </a:p>
          <a:p>
            <a:pPr marL="1200150" lvl="2" indent="-285750">
              <a:buFont typeface="Arial" panose="020B0604020202020204" pitchFamily="34" charset="0"/>
              <a:buChar char="•"/>
            </a:pPr>
            <a:r>
              <a:rPr lang="en-US" sz="1600" b="1" dirty="0">
                <a:solidFill>
                  <a:prstClr val="black"/>
                </a:solidFill>
              </a:rPr>
              <a:t>N</a:t>
            </a:r>
            <a:r>
              <a:rPr lang="en-US" sz="1600" b="1" dirty="0" smtClean="0">
                <a:solidFill>
                  <a:prstClr val="black"/>
                </a:solidFill>
              </a:rPr>
              <a:t>uclear hazard </a:t>
            </a:r>
            <a:r>
              <a:rPr lang="en-US" sz="1600" dirty="0" smtClean="0">
                <a:solidFill>
                  <a:prstClr val="black"/>
                </a:solidFill>
              </a:rPr>
              <a:t>– Excludes losses by nuclear reaction, radiation or radioactive contamination</a:t>
            </a:r>
          </a:p>
          <a:p>
            <a:pPr marL="1200150" lvl="2" indent="-285750">
              <a:buFont typeface="Arial" panose="020B0604020202020204" pitchFamily="34" charset="0"/>
              <a:buChar char="•"/>
            </a:pPr>
            <a:r>
              <a:rPr lang="en-US" sz="1600" b="1" dirty="0" smtClean="0">
                <a:solidFill>
                  <a:prstClr val="black"/>
                </a:solidFill>
              </a:rPr>
              <a:t>Pollution</a:t>
            </a:r>
            <a:r>
              <a:rPr lang="en-US" sz="1600" dirty="0" smtClean="0">
                <a:solidFill>
                  <a:prstClr val="black"/>
                </a:solidFill>
              </a:rPr>
              <a:t> – Excludes the discharge, dispersal, seepage, migration, release or escape solid, liquid or gaseous contaminant</a:t>
            </a:r>
          </a:p>
          <a:p>
            <a:pPr marL="1200150" lvl="2" indent="-285750">
              <a:buFont typeface="Arial" panose="020B0604020202020204" pitchFamily="34" charset="0"/>
              <a:buChar char="•"/>
            </a:pPr>
            <a:r>
              <a:rPr lang="en-US" sz="1600" b="1" dirty="0">
                <a:solidFill>
                  <a:prstClr val="black"/>
                </a:solidFill>
              </a:rPr>
              <a:t>W</a:t>
            </a:r>
            <a:r>
              <a:rPr lang="en-US" sz="1600" b="1" dirty="0" smtClean="0">
                <a:solidFill>
                  <a:prstClr val="black"/>
                </a:solidFill>
              </a:rPr>
              <a:t>ar </a:t>
            </a:r>
            <a:r>
              <a:rPr lang="en-US" sz="1600" b="1" dirty="0">
                <a:solidFill>
                  <a:prstClr val="black"/>
                </a:solidFill>
              </a:rPr>
              <a:t>and military action</a:t>
            </a:r>
          </a:p>
          <a:p>
            <a:pPr marL="742950" lvl="1" indent="-285750">
              <a:buFont typeface="Arial" panose="020B0604020202020204" pitchFamily="34" charset="0"/>
              <a:buChar char="•"/>
            </a:pPr>
            <a:r>
              <a:rPr lang="en-US" sz="1600" b="1" dirty="0">
                <a:solidFill>
                  <a:prstClr val="black"/>
                </a:solidFill>
              </a:rPr>
              <a:t>Employee T</a:t>
            </a:r>
            <a:r>
              <a:rPr lang="en-US" sz="1600" b="1" dirty="0" smtClean="0">
                <a:solidFill>
                  <a:prstClr val="black"/>
                </a:solidFill>
              </a:rPr>
              <a:t>heft</a:t>
            </a:r>
            <a:endParaRPr lang="en-US" sz="1600" dirty="0" smtClean="0">
              <a:solidFill>
                <a:prstClr val="black"/>
              </a:solidFill>
            </a:endParaRPr>
          </a:p>
          <a:p>
            <a:pPr marL="1200150" lvl="2" indent="-285750">
              <a:buFont typeface="Arial" panose="020B0604020202020204" pitchFamily="34" charset="0"/>
              <a:buChar char="•"/>
            </a:pPr>
            <a:r>
              <a:rPr lang="en-US" sz="1600" b="1" dirty="0" smtClean="0">
                <a:solidFill>
                  <a:prstClr val="black"/>
                </a:solidFill>
              </a:rPr>
              <a:t>Inventory shortages </a:t>
            </a:r>
            <a:r>
              <a:rPr lang="en-US" sz="1600" dirty="0" smtClean="0">
                <a:solidFill>
                  <a:prstClr val="black"/>
                </a:solidFill>
              </a:rPr>
              <a:t>– Excludes loss that depends on inventory or profit-and-loss calculations to prove either the existence or the amount of loss</a:t>
            </a:r>
          </a:p>
          <a:p>
            <a:pPr marL="1200150" lvl="2" indent="-285750">
              <a:buFont typeface="Arial" panose="020B0604020202020204" pitchFamily="34" charset="0"/>
              <a:buChar char="•"/>
            </a:pPr>
            <a:r>
              <a:rPr lang="en-US" sz="1600" b="1" dirty="0" smtClean="0">
                <a:solidFill>
                  <a:prstClr val="black"/>
                </a:solidFill>
              </a:rPr>
              <a:t>Trading</a:t>
            </a:r>
            <a:r>
              <a:rPr lang="en-US" sz="1600" dirty="0" smtClean="0">
                <a:solidFill>
                  <a:prstClr val="black"/>
                </a:solidFill>
              </a:rPr>
              <a:t> – Excludes an employee’s unauthorized trading in stocks, bonds etc. from the named insured’s account</a:t>
            </a:r>
          </a:p>
          <a:p>
            <a:pPr marL="1200150" lvl="2" indent="-285750">
              <a:buFont typeface="Arial" panose="020B0604020202020204" pitchFamily="34" charset="0"/>
              <a:buChar char="•"/>
            </a:pPr>
            <a:r>
              <a:rPr lang="en-US" sz="1600" b="1" dirty="0">
                <a:solidFill>
                  <a:prstClr val="black"/>
                </a:solidFill>
              </a:rPr>
              <a:t>W</a:t>
            </a:r>
            <a:r>
              <a:rPr lang="en-US" sz="1600" b="1" dirty="0" smtClean="0">
                <a:solidFill>
                  <a:prstClr val="black"/>
                </a:solidFill>
              </a:rPr>
              <a:t>arehouse receipts </a:t>
            </a:r>
            <a:r>
              <a:rPr lang="en-US" sz="1600" dirty="0" smtClean="0">
                <a:solidFill>
                  <a:prstClr val="black"/>
                </a:solidFill>
              </a:rPr>
              <a:t>– Excludes loss resulting from an employee’s fraudulent or dishonest signing or issuing a warehouse receipt</a:t>
            </a:r>
          </a:p>
          <a:p>
            <a:pPr marL="742950" lvl="1" indent="-285750">
              <a:buFont typeface="Arial" panose="020B0604020202020204" pitchFamily="34" charset="0"/>
              <a:buChar char="•"/>
            </a:pPr>
            <a:r>
              <a:rPr lang="en-US" sz="1600" b="1" dirty="0">
                <a:solidFill>
                  <a:prstClr val="black"/>
                </a:solidFill>
              </a:rPr>
              <a:t>Inside and </a:t>
            </a:r>
            <a:r>
              <a:rPr lang="en-US" sz="1600" b="1" dirty="0" smtClean="0">
                <a:solidFill>
                  <a:prstClr val="black"/>
                </a:solidFill>
              </a:rPr>
              <a:t>Outside </a:t>
            </a:r>
            <a:r>
              <a:rPr lang="en-US" sz="1600" b="1" dirty="0">
                <a:solidFill>
                  <a:prstClr val="black"/>
                </a:solidFill>
              </a:rPr>
              <a:t>the P</a:t>
            </a:r>
            <a:r>
              <a:rPr lang="en-US" sz="1600" b="1" dirty="0" smtClean="0">
                <a:solidFill>
                  <a:prstClr val="black"/>
                </a:solidFill>
              </a:rPr>
              <a:t>remises </a:t>
            </a:r>
          </a:p>
          <a:p>
            <a:pPr marL="1200150" lvl="2" indent="-285750">
              <a:buFont typeface="Arial" panose="020B0604020202020204" pitchFamily="34" charset="0"/>
              <a:buChar char="•"/>
            </a:pPr>
            <a:r>
              <a:rPr lang="en-US" sz="1600" b="1" dirty="0" smtClean="0">
                <a:solidFill>
                  <a:prstClr val="black"/>
                </a:solidFill>
              </a:rPr>
              <a:t>Arithmetic </a:t>
            </a:r>
            <a:r>
              <a:rPr lang="en-US" sz="1600" b="1" dirty="0">
                <a:solidFill>
                  <a:prstClr val="black"/>
                </a:solidFill>
              </a:rPr>
              <a:t>errors and </a:t>
            </a:r>
            <a:r>
              <a:rPr lang="en-US" sz="1600" b="1" dirty="0" smtClean="0">
                <a:solidFill>
                  <a:prstClr val="black"/>
                </a:solidFill>
              </a:rPr>
              <a:t>omissions </a:t>
            </a:r>
            <a:r>
              <a:rPr lang="en-US" sz="1600" dirty="0" smtClean="0">
                <a:solidFill>
                  <a:prstClr val="black"/>
                </a:solidFill>
              </a:rPr>
              <a:t>– Excludes loss resulting from arithmetic </a:t>
            </a:r>
            <a:r>
              <a:rPr lang="en-US" sz="1600" dirty="0">
                <a:solidFill>
                  <a:prstClr val="black"/>
                </a:solidFill>
              </a:rPr>
              <a:t>errors and </a:t>
            </a:r>
            <a:r>
              <a:rPr lang="en-US" sz="1600" dirty="0" smtClean="0">
                <a:solidFill>
                  <a:prstClr val="black"/>
                </a:solidFill>
              </a:rPr>
              <a:t>omissions</a:t>
            </a:r>
          </a:p>
          <a:p>
            <a:pPr marL="1200150" lvl="2" indent="-285750">
              <a:buFont typeface="Arial" panose="020B0604020202020204" pitchFamily="34" charset="0"/>
              <a:buChar char="•"/>
            </a:pPr>
            <a:r>
              <a:rPr lang="en-US" sz="1600" b="1" dirty="0" smtClean="0">
                <a:solidFill>
                  <a:prstClr val="black"/>
                </a:solidFill>
              </a:rPr>
              <a:t>Fire</a:t>
            </a:r>
            <a:r>
              <a:rPr lang="en-US" sz="1600" dirty="0" smtClean="0">
                <a:solidFill>
                  <a:prstClr val="black"/>
                </a:solidFill>
              </a:rPr>
              <a:t> – Excludes loss caused by fire despite its cause. Although loss by fire to safe or vault is covered</a:t>
            </a:r>
          </a:p>
          <a:p>
            <a:pPr marL="1200150" lvl="2" indent="-285750">
              <a:buFont typeface="Arial" panose="020B0604020202020204" pitchFamily="34" charset="0"/>
              <a:buChar char="•"/>
            </a:pPr>
            <a:r>
              <a:rPr lang="en-US" sz="1600" b="1" dirty="0" smtClean="0">
                <a:solidFill>
                  <a:prstClr val="black"/>
                </a:solidFill>
              </a:rPr>
              <a:t>Motor </a:t>
            </a:r>
            <a:r>
              <a:rPr lang="en-US" sz="1600" b="1" dirty="0">
                <a:solidFill>
                  <a:prstClr val="black"/>
                </a:solidFill>
              </a:rPr>
              <a:t>vehicles or </a:t>
            </a:r>
            <a:r>
              <a:rPr lang="en-US" sz="1600" b="1" dirty="0" smtClean="0">
                <a:solidFill>
                  <a:prstClr val="black"/>
                </a:solidFill>
              </a:rPr>
              <a:t>equipment </a:t>
            </a:r>
            <a:r>
              <a:rPr lang="en-US" sz="1600" dirty="0" smtClean="0">
                <a:solidFill>
                  <a:prstClr val="black"/>
                </a:solidFill>
              </a:rPr>
              <a:t>– Excludes loss caused to motor </a:t>
            </a:r>
            <a:r>
              <a:rPr lang="en-US" sz="1600" dirty="0">
                <a:solidFill>
                  <a:prstClr val="black"/>
                </a:solidFill>
              </a:rPr>
              <a:t>vehicles or equipment w</a:t>
            </a:r>
            <a:r>
              <a:rPr lang="en-US" sz="1600" dirty="0" smtClean="0">
                <a:solidFill>
                  <a:prstClr val="black"/>
                </a:solidFill>
              </a:rPr>
              <a:t>hich is better covered under BACF</a:t>
            </a:r>
          </a:p>
          <a:p>
            <a:pPr marL="1200150" lvl="2" indent="-285750">
              <a:buFont typeface="Arial" panose="020B0604020202020204" pitchFamily="34" charset="0"/>
              <a:buChar char="•"/>
            </a:pPr>
            <a:r>
              <a:rPr lang="en-US" sz="1600" b="1" dirty="0" smtClean="0">
                <a:solidFill>
                  <a:prstClr val="black"/>
                </a:solidFill>
              </a:rPr>
              <a:t>Vandalism</a:t>
            </a:r>
            <a:r>
              <a:rPr lang="en-US" sz="1600" dirty="0" smtClean="0">
                <a:solidFill>
                  <a:prstClr val="black"/>
                </a:solidFill>
              </a:rPr>
              <a:t> – Excludes loss caused by an act of vandalism or malicious mischief</a:t>
            </a:r>
          </a:p>
          <a:p>
            <a:pPr marL="742950" lvl="1" indent="-285750">
              <a:buFont typeface="Arial" panose="020B0604020202020204" pitchFamily="34" charset="0"/>
              <a:buChar char="•"/>
            </a:pPr>
            <a:r>
              <a:rPr lang="en-US" sz="1600" b="1" dirty="0">
                <a:solidFill>
                  <a:prstClr val="black"/>
                </a:solidFill>
              </a:rPr>
              <a:t>Computer and </a:t>
            </a:r>
            <a:r>
              <a:rPr lang="en-US" sz="1600" b="1" dirty="0" smtClean="0">
                <a:solidFill>
                  <a:prstClr val="black"/>
                </a:solidFill>
              </a:rPr>
              <a:t>Funds </a:t>
            </a:r>
            <a:r>
              <a:rPr lang="en-US" sz="1600" b="1" dirty="0">
                <a:solidFill>
                  <a:prstClr val="black"/>
                </a:solidFill>
              </a:rPr>
              <a:t>T</a:t>
            </a:r>
            <a:r>
              <a:rPr lang="en-US" sz="1600" b="1" dirty="0" smtClean="0">
                <a:solidFill>
                  <a:prstClr val="black"/>
                </a:solidFill>
              </a:rPr>
              <a:t>ransfer </a:t>
            </a:r>
            <a:r>
              <a:rPr lang="en-US" sz="1600" b="1" dirty="0">
                <a:solidFill>
                  <a:prstClr val="black"/>
                </a:solidFill>
              </a:rPr>
              <a:t>F</a:t>
            </a:r>
            <a:r>
              <a:rPr lang="en-US" sz="1600" b="1" dirty="0" smtClean="0">
                <a:solidFill>
                  <a:prstClr val="black"/>
                </a:solidFill>
              </a:rPr>
              <a:t>raud</a:t>
            </a:r>
            <a:endParaRPr lang="en-US" sz="1600" dirty="0" smtClean="0">
              <a:solidFill>
                <a:prstClr val="black"/>
              </a:solidFill>
            </a:endParaRPr>
          </a:p>
          <a:p>
            <a:pPr marL="1200150" lvl="2" indent="-285750">
              <a:buFont typeface="Arial" panose="020B0604020202020204" pitchFamily="34" charset="0"/>
              <a:buChar char="•"/>
            </a:pPr>
            <a:r>
              <a:rPr lang="en-US" sz="1600" dirty="0" smtClean="0">
                <a:solidFill>
                  <a:prstClr val="black"/>
                </a:solidFill>
              </a:rPr>
              <a:t>Authorized access, fraudulent instructions and credit card transactions</a:t>
            </a:r>
            <a:endParaRPr lang="en-US" sz="1600" dirty="0">
              <a:solidFill>
                <a:prstClr val="black"/>
              </a:solidFill>
            </a:endParaRPr>
          </a:p>
        </p:txBody>
      </p:sp>
    </p:spTree>
    <p:extLst>
      <p:ext uri="{BB962C8B-B14F-4D97-AF65-F5344CB8AC3E}">
        <p14:creationId xmlns:p14="http://schemas.microsoft.com/office/powerpoint/2010/main" val="23066599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49274" y="3039414"/>
            <a:ext cx="2164054" cy="646331"/>
          </a:xfrm>
          <a:prstGeom prst="rect">
            <a:avLst/>
          </a:prstGeom>
          <a:noFill/>
        </p:spPr>
        <p:txBody>
          <a:bodyPr wrap="none" rtlCol="0">
            <a:spAutoFit/>
          </a:bodyPr>
          <a:lstStyle/>
          <a:p>
            <a:r>
              <a:rPr lang="en-US" sz="3600" b="1" dirty="0" smtClean="0">
                <a:solidFill>
                  <a:schemeClr val="accent2">
                    <a:lumMod val="75000"/>
                  </a:schemeClr>
                </a:solidFill>
              </a:rPr>
              <a:t>Thank You</a:t>
            </a:r>
            <a:endParaRPr lang="en-US" sz="3600" b="1" dirty="0">
              <a:solidFill>
                <a:schemeClr val="accent2">
                  <a:lumMod val="75000"/>
                </a:schemeClr>
              </a:solidFill>
            </a:endParaRPr>
          </a:p>
        </p:txBody>
      </p:sp>
    </p:spTree>
    <p:extLst>
      <p:ext uri="{BB962C8B-B14F-4D97-AF65-F5344CB8AC3E}">
        <p14:creationId xmlns:p14="http://schemas.microsoft.com/office/powerpoint/2010/main" val="3742722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41087d73-5bfe-4c6e-a130-3d602495565a" ContentTypeId="0x010100F7548365F7A28B41B9A685ED46C1AC26"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Best Practice</SubCategory>
    <Tags xmlns="09339d3a-aaa0-497d-ae73-d8a5832d420d">CGL, EBL and Crime Docs</Tags>
  </documentManagement>
</p:properties>
</file>

<file path=customXml/itemProps1.xml><?xml version="1.0" encoding="utf-8"?>
<ds:datastoreItem xmlns:ds="http://schemas.openxmlformats.org/officeDocument/2006/customXml" ds:itemID="{F06BEFF3-B490-4BE9-AF5C-25A53DD50990}"/>
</file>

<file path=customXml/itemProps2.xml><?xml version="1.0" encoding="utf-8"?>
<ds:datastoreItem xmlns:ds="http://schemas.openxmlformats.org/officeDocument/2006/customXml" ds:itemID="{AA0BC8D5-3C75-4320-A9C5-9F808A3B9C23}"/>
</file>

<file path=customXml/itemProps3.xml><?xml version="1.0" encoding="utf-8"?>
<ds:datastoreItem xmlns:ds="http://schemas.openxmlformats.org/officeDocument/2006/customXml" ds:itemID="{1EADDCAD-F21E-4D9A-8F16-619A1D86E67B}"/>
</file>

<file path=customXml/itemProps4.xml><?xml version="1.0" encoding="utf-8"?>
<ds:datastoreItem xmlns:ds="http://schemas.openxmlformats.org/officeDocument/2006/customXml" ds:itemID="{5DC3BA51-3004-4028-BB7A-50A9FD051F9E}"/>
</file>

<file path=docProps/app.xml><?xml version="1.0" encoding="utf-8"?>
<Properties xmlns="http://schemas.openxmlformats.org/officeDocument/2006/extended-properties" xmlns:vt="http://schemas.openxmlformats.org/officeDocument/2006/docPropsVTypes">
  <TotalTime>992</TotalTime>
  <Words>1898</Words>
  <Application>Microsoft Office PowerPoint</Application>
  <PresentationFormat>Widescreen</PresentationFormat>
  <Paragraphs>266</Paragraphs>
  <Slides>16</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BrowalliaUPC</vt:lpstr>
      <vt:lpstr>Calibri</vt:lpstr>
      <vt:lpstr>Calibri Light</vt:lpstr>
      <vt:lpstr>Segoe UI</vt:lpstr>
      <vt:lpstr>Segoe UI Light</vt:lpstr>
      <vt:lpstr>Segoe UI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on CGL, EBL And Crime</dc:title>
  <dc:creator>Alok Bharati</dc:creator>
  <cp:lastModifiedBy>Avinash Kumar Singh</cp:lastModifiedBy>
  <cp:revision>331</cp:revision>
  <dcterms:created xsi:type="dcterms:W3CDTF">2017-04-19T10:35:35Z</dcterms:created>
  <dcterms:modified xsi:type="dcterms:W3CDTF">2017-04-27T07:04:15Z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ies>
</file>
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3.xml" ContentType="application/vnd.openxmlformats-officedocument.presentationml.slideLayout+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slideLayouts/slideLayout2.xml" ContentType="application/vnd.openxmlformats-officedocument.presentationml.slideLayout+xml"/>
  <Override PartName="/ppt/handoutMasters/handoutMaster1.xml" ContentType="application/vnd.openxmlformats-officedocument.presentationml.handoutMaster+xml"/>
  <Override PartName="/ppt/theme/theme1.xml" ContentType="application/vnd.openxmlformats-officedocument.theme+xml"/>
  <Override PartName="/ppt/commentAuthors.xml" ContentType="application/vnd.openxmlformats-officedocument.presentationml.commentAuthors+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974" r:id="rId2"/>
    <p:sldId id="1134" r:id="rId3"/>
    <p:sldId id="1133" r:id="rId4"/>
    <p:sldId id="1149" r:id="rId5"/>
    <p:sldId id="1154" r:id="rId6"/>
    <p:sldId id="1150" r:id="rId7"/>
    <p:sldId id="1135" r:id="rId8"/>
    <p:sldId id="1152" r:id="rId9"/>
    <p:sldId id="1153" r:id="rId10"/>
    <p:sldId id="1136" r:id="rId11"/>
    <p:sldId id="1141" r:id="rId12"/>
    <p:sldId id="1144" r:id="rId13"/>
    <p:sldId id="1145" r:id="rId14"/>
    <p:sldId id="1146" r:id="rId15"/>
    <p:sldId id="1147" r:id="rId16"/>
    <p:sldId id="1148" r:id="rId17"/>
    <p:sldId id="1137" r:id="rId18"/>
    <p:sldId id="1151" r:id="rId19"/>
    <p:sldId id="1138" r:id="rId20"/>
    <p:sldId id="1139" r:id="rId21"/>
    <p:sldId id="1140" r:id="rId22"/>
    <p:sldId id="1142" r:id="rId2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4EAAE594-E5FB-4E22-BBC0-BFBAFDBD9DA6}">
          <p14:sldIdLst>
            <p14:sldId id="974"/>
            <p14:sldId id="1134"/>
            <p14:sldId id="1133"/>
            <p14:sldId id="1149"/>
            <p14:sldId id="1154"/>
            <p14:sldId id="1150"/>
            <p14:sldId id="1135"/>
            <p14:sldId id="1152"/>
            <p14:sldId id="1153"/>
            <p14:sldId id="1136"/>
            <p14:sldId id="1141"/>
            <p14:sldId id="1144"/>
            <p14:sldId id="1145"/>
            <p14:sldId id="1146"/>
            <p14:sldId id="1147"/>
            <p14:sldId id="1148"/>
            <p14:sldId id="1137"/>
            <p14:sldId id="1151"/>
            <p14:sldId id="1138"/>
            <p14:sldId id="1139"/>
            <p14:sldId id="1140"/>
            <p14:sldId id="114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guide id="3" orient="horz" pos="2928">
          <p15:clr>
            <a:srgbClr val="A4A3A4"/>
          </p15:clr>
        </p15:guide>
        <p15:guide id="4"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warup Ghosh" initials="SG" lastIdx="35" clrIdx="0">
    <p:extLst>
      <p:ext uri="{19B8F6BF-5375-455C-9EA6-DF929625EA0E}">
        <p15:presenceInfo xmlns:p15="http://schemas.microsoft.com/office/powerpoint/2012/main" userId="S-1-5-21-1949997603-1926086598-1965245310-1134" providerId="AD"/>
      </p:ext>
    </p:extLst>
  </p:cmAuthor>
  <p:cmAuthor id="2" name="Avinash Kumar Singh" initials="AKS" lastIdx="1" clrIdx="1">
    <p:extLst>
      <p:ext uri="{19B8F6BF-5375-455C-9EA6-DF929625EA0E}">
        <p15:presenceInfo xmlns:p15="http://schemas.microsoft.com/office/powerpoint/2012/main" userId="S-1-5-21-3473287621-2730435421-3663612829-3011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94756"/>
    <a:srgbClr val="000099"/>
    <a:srgbClr val="FFFBF7"/>
    <a:srgbClr val="FFEBAB"/>
    <a:srgbClr val="FFFDFB"/>
    <a:srgbClr val="FEF8F4"/>
    <a:srgbClr val="FEF6F0"/>
    <a:srgbClr val="FEF9F4"/>
    <a:srgbClr val="F2E6E6"/>
    <a:srgbClr val="CBD9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06" autoAdjust="0"/>
    <p:restoredTop sz="82047" autoAdjust="0"/>
  </p:normalViewPr>
  <p:slideViewPr>
    <p:cSldViewPr>
      <p:cViewPr varScale="1">
        <p:scale>
          <a:sx n="61" d="100"/>
          <a:sy n="61" d="100"/>
        </p:scale>
        <p:origin x="148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880" y="-108"/>
      </p:cViewPr>
      <p:guideLst>
        <p:guide orient="horz" pos="2932"/>
        <p:guide pos="221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161" cy="464180"/>
          </a:xfrm>
          <a:prstGeom prst="rect">
            <a:avLst/>
          </a:prstGeom>
        </p:spPr>
        <p:txBody>
          <a:bodyPr vert="horz" lIns="92298" tIns="46149" rIns="92298" bIns="46149" rtlCol="0"/>
          <a:lstStyle>
            <a:lvl1pPr algn="l">
              <a:defRPr sz="1200"/>
            </a:lvl1pPr>
          </a:lstStyle>
          <a:p>
            <a:endParaRPr lang="en-IN" dirty="0"/>
          </a:p>
        </p:txBody>
      </p:sp>
      <p:sp>
        <p:nvSpPr>
          <p:cNvPr id="3" name="Date Placeholder 2"/>
          <p:cNvSpPr>
            <a:spLocks noGrp="1"/>
          </p:cNvSpPr>
          <p:nvPr>
            <p:ph type="dt" sz="quarter" idx="1"/>
          </p:nvPr>
        </p:nvSpPr>
        <p:spPr>
          <a:xfrm>
            <a:off x="3970634" y="0"/>
            <a:ext cx="3038161" cy="464180"/>
          </a:xfrm>
          <a:prstGeom prst="rect">
            <a:avLst/>
          </a:prstGeom>
        </p:spPr>
        <p:txBody>
          <a:bodyPr vert="horz" lIns="92298" tIns="46149" rIns="92298" bIns="46149" rtlCol="0"/>
          <a:lstStyle>
            <a:lvl1pPr algn="r">
              <a:defRPr sz="1200"/>
            </a:lvl1pPr>
          </a:lstStyle>
          <a:p>
            <a:fld id="{D5F4419C-F402-44AF-B874-EFC094D84B83}" type="datetimeFigureOut">
              <a:rPr lang="en-IN" smtClean="0"/>
              <a:pPr/>
              <a:t>08-03-2017</a:t>
            </a:fld>
            <a:endParaRPr lang="en-IN" dirty="0"/>
          </a:p>
        </p:txBody>
      </p:sp>
      <p:sp>
        <p:nvSpPr>
          <p:cNvPr id="4" name="Footer Placeholder 3"/>
          <p:cNvSpPr>
            <a:spLocks noGrp="1"/>
          </p:cNvSpPr>
          <p:nvPr>
            <p:ph type="ftr" sz="quarter" idx="2"/>
          </p:nvPr>
        </p:nvSpPr>
        <p:spPr>
          <a:xfrm>
            <a:off x="1" y="8830620"/>
            <a:ext cx="3038161" cy="464180"/>
          </a:xfrm>
          <a:prstGeom prst="rect">
            <a:avLst/>
          </a:prstGeom>
        </p:spPr>
        <p:txBody>
          <a:bodyPr vert="horz" lIns="92298" tIns="46149" rIns="92298" bIns="46149" rtlCol="0" anchor="b"/>
          <a:lstStyle>
            <a:lvl1pPr algn="l">
              <a:defRPr sz="1200"/>
            </a:lvl1pPr>
          </a:lstStyle>
          <a:p>
            <a:endParaRPr lang="en-IN" dirty="0"/>
          </a:p>
        </p:txBody>
      </p:sp>
      <p:sp>
        <p:nvSpPr>
          <p:cNvPr id="5" name="Slide Number Placeholder 4"/>
          <p:cNvSpPr>
            <a:spLocks noGrp="1"/>
          </p:cNvSpPr>
          <p:nvPr>
            <p:ph type="sldNum" sz="quarter" idx="3"/>
          </p:nvPr>
        </p:nvSpPr>
        <p:spPr>
          <a:xfrm>
            <a:off x="3970634" y="8830620"/>
            <a:ext cx="3038161" cy="464180"/>
          </a:xfrm>
          <a:prstGeom prst="rect">
            <a:avLst/>
          </a:prstGeom>
        </p:spPr>
        <p:txBody>
          <a:bodyPr vert="horz" lIns="92298" tIns="46149" rIns="92298" bIns="46149" rtlCol="0" anchor="b"/>
          <a:lstStyle>
            <a:lvl1pPr algn="r">
              <a:defRPr sz="1200"/>
            </a:lvl1pPr>
          </a:lstStyle>
          <a:p>
            <a:fld id="{EAE76FAD-04AD-4A47-857C-25B440ED1315}" type="slidenum">
              <a:rPr lang="en-IN" smtClean="0"/>
              <a:pPr/>
              <a:t>‹#›</a:t>
            </a:fld>
            <a:endParaRPr lang="en-IN" dirty="0"/>
          </a:p>
        </p:txBody>
      </p:sp>
    </p:spTree>
    <p:extLst>
      <p:ext uri="{BB962C8B-B14F-4D97-AF65-F5344CB8AC3E}">
        <p14:creationId xmlns:p14="http://schemas.microsoft.com/office/powerpoint/2010/main" val="366852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161" cy="464180"/>
          </a:xfrm>
          <a:prstGeom prst="rect">
            <a:avLst/>
          </a:prstGeom>
        </p:spPr>
        <p:txBody>
          <a:bodyPr vert="horz" lIns="93175" tIns="46587" rIns="93175" bIns="46587"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970634" y="0"/>
            <a:ext cx="3038161" cy="464180"/>
          </a:xfrm>
          <a:prstGeom prst="rect">
            <a:avLst/>
          </a:prstGeom>
        </p:spPr>
        <p:txBody>
          <a:bodyPr vert="horz" lIns="93175" tIns="46587" rIns="93175" bIns="46587" rtlCol="0"/>
          <a:lstStyle>
            <a:lvl1pPr algn="r" fontAlgn="auto">
              <a:spcBef>
                <a:spcPts val="0"/>
              </a:spcBef>
              <a:spcAft>
                <a:spcPts val="0"/>
              </a:spcAft>
              <a:defRPr sz="1200">
                <a:latin typeface="+mn-lt"/>
                <a:cs typeface="+mn-cs"/>
              </a:defRPr>
            </a:lvl1pPr>
          </a:lstStyle>
          <a:p>
            <a:pPr>
              <a:defRPr/>
            </a:pPr>
            <a:fld id="{2273A029-8D32-4910-875A-F706D4D3E732}" type="datetimeFigureOut">
              <a:rPr lang="en-US"/>
              <a:pPr>
                <a:defRPr/>
              </a:pPr>
              <a:t>3/8/2017</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5" tIns="46587" rIns="93175" bIns="46587" rtlCol="0" anchor="ctr"/>
          <a:lstStyle/>
          <a:p>
            <a:pPr lvl="0"/>
            <a:endParaRPr lang="en-US" noProof="0" dirty="0"/>
          </a:p>
        </p:txBody>
      </p:sp>
      <p:sp>
        <p:nvSpPr>
          <p:cNvPr id="5" name="Notes Placeholder 4"/>
          <p:cNvSpPr>
            <a:spLocks noGrp="1"/>
          </p:cNvSpPr>
          <p:nvPr>
            <p:ph type="body" sz="quarter" idx="3"/>
          </p:nvPr>
        </p:nvSpPr>
        <p:spPr>
          <a:xfrm>
            <a:off x="701363" y="4416112"/>
            <a:ext cx="5607678" cy="4182419"/>
          </a:xfrm>
          <a:prstGeom prst="rect">
            <a:avLst/>
          </a:prstGeom>
        </p:spPr>
        <p:txBody>
          <a:bodyPr vert="horz" lIns="93175" tIns="46587" rIns="93175" bIns="46587"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1" y="8830620"/>
            <a:ext cx="3038161" cy="464180"/>
          </a:xfrm>
          <a:prstGeom prst="rect">
            <a:avLst/>
          </a:prstGeom>
        </p:spPr>
        <p:txBody>
          <a:bodyPr vert="horz" lIns="93175" tIns="46587" rIns="93175" bIns="46587" rtlCol="0" anchor="b"/>
          <a:lstStyle>
            <a:lvl1pPr algn="l" fontAlgn="auto">
              <a:spcBef>
                <a:spcPts val="0"/>
              </a:spcBef>
              <a:spcAft>
                <a:spcPts val="0"/>
              </a:spcAft>
              <a:defRPr sz="1200">
                <a:latin typeface="+mn-lt"/>
                <a:cs typeface="+mn-cs"/>
              </a:defRPr>
            </a:lvl1pPr>
          </a:lstStyle>
          <a:p>
            <a:pPr>
              <a:defRPr/>
            </a:pPr>
            <a:endParaRPr lang="en-US" dirty="0"/>
          </a:p>
        </p:txBody>
      </p:sp>
      <p:sp>
        <p:nvSpPr>
          <p:cNvPr id="7" name="Slide Number Placeholder 6"/>
          <p:cNvSpPr>
            <a:spLocks noGrp="1"/>
          </p:cNvSpPr>
          <p:nvPr>
            <p:ph type="sldNum" sz="quarter" idx="5"/>
          </p:nvPr>
        </p:nvSpPr>
        <p:spPr>
          <a:xfrm>
            <a:off x="3970634" y="8830620"/>
            <a:ext cx="3038161" cy="464180"/>
          </a:xfrm>
          <a:prstGeom prst="rect">
            <a:avLst/>
          </a:prstGeom>
        </p:spPr>
        <p:txBody>
          <a:bodyPr vert="horz" lIns="93175" tIns="46587" rIns="93175" bIns="46587" rtlCol="0" anchor="b"/>
          <a:lstStyle>
            <a:lvl1pPr algn="r" fontAlgn="auto">
              <a:spcBef>
                <a:spcPts val="0"/>
              </a:spcBef>
              <a:spcAft>
                <a:spcPts val="0"/>
              </a:spcAft>
              <a:defRPr sz="1200">
                <a:latin typeface="+mn-lt"/>
                <a:cs typeface="+mn-cs"/>
              </a:defRPr>
            </a:lvl1pPr>
          </a:lstStyle>
          <a:p>
            <a:pPr>
              <a:defRPr/>
            </a:pPr>
            <a:fld id="{0C05EE3D-69F0-4518-80C0-AEF6A4DE28A9}" type="slidenum">
              <a:rPr lang="en-US"/>
              <a:pPr>
                <a:defRPr/>
              </a:pPr>
              <a:t>‹#›</a:t>
            </a:fld>
            <a:endParaRPr lang="en-US" dirty="0"/>
          </a:p>
        </p:txBody>
      </p:sp>
    </p:spTree>
    <p:extLst>
      <p:ext uri="{BB962C8B-B14F-4D97-AF65-F5344CB8AC3E}">
        <p14:creationId xmlns:p14="http://schemas.microsoft.com/office/powerpoint/2010/main" val="189373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
        <p:nvSpPr>
          <p:cNvPr id="15364" name="Slide Number Placeholder 3"/>
          <p:cNvSpPr>
            <a:spLocks noGrp="1"/>
          </p:cNvSpPr>
          <p:nvPr>
            <p:ph type="sldNum" sz="quarter" idx="5"/>
          </p:nvPr>
        </p:nvSpPr>
        <p:spPr bwMode="auto">
          <a:extLst/>
        </p:spPr>
        <p:txBody>
          <a:bodyPr wrap="square" numCol="1" anchorCtr="0" compatLnSpc="1">
            <a:prstTxWarp prst="textNoShape">
              <a:avLst/>
            </a:prstTxWarp>
          </a:bodyPr>
          <a:lstStyle>
            <a:lvl1pPr>
              <a:defRPr>
                <a:solidFill>
                  <a:schemeClr val="tx1"/>
                </a:solidFill>
                <a:latin typeface="Calibri" pitchFamily="34" charset="0"/>
              </a:defRPr>
            </a:lvl1pPr>
            <a:lvl2pPr marL="749920" indent="-288431">
              <a:defRPr>
                <a:solidFill>
                  <a:schemeClr val="tx1"/>
                </a:solidFill>
                <a:latin typeface="Calibri" pitchFamily="34" charset="0"/>
              </a:defRPr>
            </a:lvl2pPr>
            <a:lvl3pPr marL="1153724" indent="-230745">
              <a:defRPr>
                <a:solidFill>
                  <a:schemeClr val="tx1"/>
                </a:solidFill>
                <a:latin typeface="Calibri" pitchFamily="34" charset="0"/>
              </a:defRPr>
            </a:lvl3pPr>
            <a:lvl4pPr marL="1615214" indent="-230745">
              <a:defRPr>
                <a:solidFill>
                  <a:schemeClr val="tx1"/>
                </a:solidFill>
                <a:latin typeface="Calibri" pitchFamily="34" charset="0"/>
              </a:defRPr>
            </a:lvl4pPr>
            <a:lvl5pPr marL="2076703" indent="-230745">
              <a:defRPr>
                <a:solidFill>
                  <a:schemeClr val="tx1"/>
                </a:solidFill>
                <a:latin typeface="Calibri" pitchFamily="34" charset="0"/>
              </a:defRPr>
            </a:lvl5pPr>
            <a:lvl6pPr marL="2538193" indent="-230745" fontAlgn="base">
              <a:spcBef>
                <a:spcPct val="0"/>
              </a:spcBef>
              <a:spcAft>
                <a:spcPct val="0"/>
              </a:spcAft>
              <a:defRPr>
                <a:solidFill>
                  <a:schemeClr val="tx1"/>
                </a:solidFill>
                <a:latin typeface="Calibri" pitchFamily="34" charset="0"/>
              </a:defRPr>
            </a:lvl6pPr>
            <a:lvl7pPr marL="2999683" indent="-230745" fontAlgn="base">
              <a:spcBef>
                <a:spcPct val="0"/>
              </a:spcBef>
              <a:spcAft>
                <a:spcPct val="0"/>
              </a:spcAft>
              <a:defRPr>
                <a:solidFill>
                  <a:schemeClr val="tx1"/>
                </a:solidFill>
                <a:latin typeface="Calibri" pitchFamily="34" charset="0"/>
              </a:defRPr>
            </a:lvl7pPr>
            <a:lvl8pPr marL="3461172" indent="-230745" fontAlgn="base">
              <a:spcBef>
                <a:spcPct val="0"/>
              </a:spcBef>
              <a:spcAft>
                <a:spcPct val="0"/>
              </a:spcAft>
              <a:defRPr>
                <a:solidFill>
                  <a:schemeClr val="tx1"/>
                </a:solidFill>
                <a:latin typeface="Calibri" pitchFamily="34" charset="0"/>
              </a:defRPr>
            </a:lvl8pPr>
            <a:lvl9pPr marL="3922662" indent="-230745" fontAlgn="base">
              <a:spcBef>
                <a:spcPct val="0"/>
              </a:spcBef>
              <a:spcAft>
                <a:spcPct val="0"/>
              </a:spcAft>
              <a:defRPr>
                <a:solidFill>
                  <a:schemeClr val="tx1"/>
                </a:solidFill>
                <a:latin typeface="Calibri" pitchFamily="34" charset="0"/>
              </a:defRPr>
            </a:lvl9pPr>
          </a:lstStyle>
          <a:p>
            <a:pPr>
              <a:defRPr/>
            </a:pPr>
            <a:fld id="{ADC9817F-048D-4E09-AFD7-06CFF02242DD}" type="slidenum">
              <a:rPr lang="en-US" smtClean="0">
                <a:solidFill>
                  <a:prstClr val="black"/>
                </a:solidFill>
              </a:rPr>
              <a:pPr>
                <a:defRPr/>
              </a:pPr>
              <a:t>1</a:t>
            </a:fld>
            <a:endParaRPr lang="en-US" dirty="0" smtClean="0">
              <a:solidFill>
                <a:prstClr val="black"/>
              </a:solidFill>
            </a:endParaRPr>
          </a:p>
        </p:txBody>
      </p:sp>
    </p:spTree>
    <p:extLst>
      <p:ext uri="{BB962C8B-B14F-4D97-AF65-F5344CB8AC3E}">
        <p14:creationId xmlns:p14="http://schemas.microsoft.com/office/powerpoint/2010/main" val="2569844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e.g. Car driven for personal use and car driven for commercial use have different set of exposures. Persons living at home and Persons living in Hotel, both meant for living have separate type of exposures.</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2</a:t>
            </a:fld>
            <a:endParaRPr lang="en-US" dirty="0"/>
          </a:p>
        </p:txBody>
      </p:sp>
    </p:spTree>
    <p:extLst>
      <p:ext uri="{BB962C8B-B14F-4D97-AF65-F5344CB8AC3E}">
        <p14:creationId xmlns:p14="http://schemas.microsoft.com/office/powerpoint/2010/main" val="782126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Premises liability exposure is exposure to liability for injury or damage due to the ownership, occupancy, or use of premises. The standard of care imposed on an owner-occupant, a landlord, or a tenant is that the property be maintained as a reasonable and prudent person would maintain it. For example, a reasonable and prudent person would be expected to keep floors dry and free of objects that might cause injury to another person.</a:t>
            </a:r>
          </a:p>
          <a:p>
            <a:r>
              <a:rPr lang="en-US" dirty="0" smtClean="0"/>
              <a:t>this exposure is generally associated with manufacturers, processors, or contractors. For example, if someone is injured as a result of negligent construction activity while a contractor is paving a road, any resulting liability claim against the contractor will be considered to have arisen from the operations liability exposure.</a:t>
            </a:r>
          </a:p>
          <a:p>
            <a:r>
              <a:rPr lang="en-US" dirty="0" smtClean="0"/>
              <a:t>for example, a child is injured by a dangerously defective toy, the injury is considered to have arisen from the toy manufacturer’s products liability exposure. Products liability can be imposed on a manufacturer, seller, or distributor of products under several different legal theories, including negligence, breach of warranty, and strict liability in tort.</a:t>
            </a:r>
          </a:p>
          <a:p>
            <a:r>
              <a:rPr lang="en-US" dirty="0" smtClean="0"/>
              <a:t>The products liability exposure is associated with any items or goods sold by an organization, which could be the manufacturer, the wholesaler, or the retailer of the goods. The completed operations liability exposure typically relates to an organization’s liability for work it has performed and finished, including any materials it provided.</a:t>
            </a:r>
          </a:p>
          <a:p>
            <a:r>
              <a:rPr lang="en-US" dirty="0" smtClean="0"/>
              <a:t>For example, a furnace sold by its manufacturer to a heating contractor is within the manufacturer’s products liability exposure. After the contractor who bought the furnace has installed it in a customer’s home, the furnace and all labor and parts included in the installation job are within the contractor’s completed operations liability exposure.</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3</a:t>
            </a:fld>
            <a:endParaRPr lang="en-US" dirty="0"/>
          </a:p>
        </p:txBody>
      </p:sp>
    </p:spTree>
    <p:extLst>
      <p:ext uri="{BB962C8B-B14F-4D97-AF65-F5344CB8AC3E}">
        <p14:creationId xmlns:p14="http://schemas.microsoft.com/office/powerpoint/2010/main" val="1483135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Business auto Coverage Form– (for organizations other than auto dealers and  </a:t>
            </a:r>
          </a:p>
          <a:p>
            <a:r>
              <a:rPr lang="en-US" dirty="0" smtClean="0"/>
              <a:t>                                                       motor carriers)</a:t>
            </a:r>
          </a:p>
          <a:p>
            <a:r>
              <a:rPr lang="en-US" dirty="0" smtClean="0"/>
              <a:t>-- Garage Coverage Form- (for auto dealers)</a:t>
            </a:r>
          </a:p>
          <a:p>
            <a:r>
              <a:rPr lang="en-US" dirty="0" smtClean="0"/>
              <a:t>-- Motor Carrier Coverage Form – ( for transporters)</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7</a:t>
            </a:fld>
            <a:endParaRPr lang="en-US" dirty="0"/>
          </a:p>
        </p:txBody>
      </p:sp>
    </p:spTree>
    <p:extLst>
      <p:ext uri="{BB962C8B-B14F-4D97-AF65-F5344CB8AC3E}">
        <p14:creationId xmlns:p14="http://schemas.microsoft.com/office/powerpoint/2010/main" val="2389729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Continuing expenses</a:t>
            </a:r>
            <a:r>
              <a:rPr lang="en-US" baseline="0" dirty="0" smtClean="0"/>
              <a:t> – expenses that continue to be incurred during business interruption</a:t>
            </a:r>
          </a:p>
          <a:p>
            <a:r>
              <a:rPr lang="en-US" baseline="0" dirty="0" smtClean="0"/>
              <a:t>Non-continuing expenses – expenses that will not continue during the business interruption</a:t>
            </a:r>
          </a:p>
          <a:p>
            <a:r>
              <a:rPr lang="en-US" dirty="0" smtClean="0"/>
              <a:t>Extra expenses – expenses in addition to ordinary expenses</a:t>
            </a:r>
            <a:r>
              <a:rPr lang="en-US" baseline="0" dirty="0" smtClean="0"/>
              <a:t> that an organization incurs to mitigate the effects of a business interruption</a:t>
            </a:r>
          </a:p>
          <a:p>
            <a:endParaRPr lang="en-US" baseline="0" dirty="0" smtClean="0"/>
          </a:p>
          <a:p>
            <a:r>
              <a:rPr lang="en-US" baseline="0" dirty="0" smtClean="0"/>
              <a:t>Additional coverages in BIC can include expenses to reduce loss(business income without extra expense coverage form), civil authority, alterations &amp; new buildings, extended business income, interruption of computer operations</a:t>
            </a:r>
          </a:p>
          <a:p>
            <a:r>
              <a:rPr lang="en-US" baseline="0" dirty="0" smtClean="0"/>
              <a:t>Coverage </a:t>
            </a:r>
            <a:r>
              <a:rPr lang="en-US" baseline="0" dirty="0" err="1" smtClean="0"/>
              <a:t>extn</a:t>
            </a:r>
            <a:r>
              <a:rPr lang="en-US" baseline="0" dirty="0" smtClean="0"/>
              <a:t> is provided for newly acquired locations </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15</a:t>
            </a:fld>
            <a:endParaRPr lang="en-US" dirty="0"/>
          </a:p>
        </p:txBody>
      </p:sp>
    </p:spTree>
    <p:extLst>
      <p:ext uri="{BB962C8B-B14F-4D97-AF65-F5344CB8AC3E}">
        <p14:creationId xmlns:p14="http://schemas.microsoft.com/office/powerpoint/2010/main" val="5223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amount that is deducted from claims that are payable under an umbrella liability policy</a:t>
            </a:r>
            <a:r>
              <a:rPr lang="en-US" baseline="0" dirty="0" smtClean="0"/>
              <a:t> and that are not covered at all by any primary policy</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17</a:t>
            </a:fld>
            <a:endParaRPr lang="en-US" dirty="0"/>
          </a:p>
        </p:txBody>
      </p:sp>
    </p:spTree>
    <p:extLst>
      <p:ext uri="{BB962C8B-B14F-4D97-AF65-F5344CB8AC3E}">
        <p14:creationId xmlns:p14="http://schemas.microsoft.com/office/powerpoint/2010/main" val="454329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Retroactive</a:t>
            </a:r>
            <a:r>
              <a:rPr lang="en-US" baseline="0" dirty="0" smtClean="0"/>
              <a:t> date – date on or after which the injury, damage or other insured event must occur in order to be covered in a claims-made liability policy</a:t>
            </a:r>
          </a:p>
          <a:p>
            <a:r>
              <a:rPr lang="en-US" baseline="0" dirty="0" smtClean="0"/>
              <a:t>ERP – an additional period following the expiration of a claims-made policy, during which the expired policy will cover claims first made for injury or damage that occurred on or after the policy’s retroactive date(if any) and before policy expiration</a:t>
            </a:r>
          </a:p>
          <a:p>
            <a:r>
              <a:rPr lang="en-US" sz="1200" b="1" i="0" kern="1200" dirty="0" smtClean="0">
                <a:solidFill>
                  <a:schemeClr val="tx1"/>
                </a:solidFill>
                <a:effectLst/>
                <a:latin typeface="+mn-lt"/>
                <a:ea typeface="+mn-ea"/>
                <a:cs typeface="+mn-cs"/>
              </a:rPr>
              <a:t>Vicarious liability</a:t>
            </a:r>
            <a:r>
              <a:rPr lang="en-US" sz="1200" b="0" i="0" kern="1200" dirty="0" smtClean="0">
                <a:solidFill>
                  <a:schemeClr val="tx1"/>
                </a:solidFill>
                <a:effectLst/>
                <a:latin typeface="+mn-lt"/>
                <a:ea typeface="+mn-ea"/>
                <a:cs typeface="+mn-cs"/>
              </a:rPr>
              <a:t> refers to a situation where someone is held responsible for the actions or omissions of another person. In a workplace context, an employer can be </a:t>
            </a:r>
            <a:r>
              <a:rPr lang="en-US" sz="1200" b="1" i="0" kern="1200" dirty="0" smtClean="0">
                <a:solidFill>
                  <a:schemeClr val="tx1"/>
                </a:solidFill>
                <a:effectLst/>
                <a:latin typeface="+mn-lt"/>
                <a:ea typeface="+mn-ea"/>
                <a:cs typeface="+mn-cs"/>
              </a:rPr>
              <a:t>liable</a:t>
            </a:r>
            <a:r>
              <a:rPr lang="en-US" sz="1200" b="0" i="0" kern="1200" dirty="0" smtClean="0">
                <a:solidFill>
                  <a:schemeClr val="tx1"/>
                </a:solidFill>
                <a:effectLst/>
                <a:latin typeface="+mn-lt"/>
                <a:ea typeface="+mn-ea"/>
                <a:cs typeface="+mn-cs"/>
              </a:rPr>
              <a:t> for the acts or omissions of its employees, provided it can be shown that they took place in the course of their employment</a:t>
            </a:r>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18</a:t>
            </a:fld>
            <a:endParaRPr lang="en-US" dirty="0"/>
          </a:p>
        </p:txBody>
      </p:sp>
    </p:spTree>
    <p:extLst>
      <p:ext uri="{BB962C8B-B14F-4D97-AF65-F5344CB8AC3E}">
        <p14:creationId xmlns:p14="http://schemas.microsoft.com/office/powerpoint/2010/main" val="626325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employee theft – occurrence</a:t>
            </a:r>
            <a:r>
              <a:rPr lang="en-US" baseline="0" dirty="0" smtClean="0"/>
              <a:t> means that the act or acts must be committed by an employee acting alone or in collusion with others</a:t>
            </a:r>
          </a:p>
          <a:p>
            <a:r>
              <a:rPr lang="en-US" baseline="0" dirty="0" smtClean="0"/>
              <a:t>For forgery and alteration – occurrence means act must be committed by a person acting alone or in collusion with others</a:t>
            </a:r>
          </a:p>
          <a:p>
            <a:r>
              <a:rPr lang="en-US" baseline="0" dirty="0" smtClean="0"/>
              <a:t>Special limits of insurance:</a:t>
            </a:r>
          </a:p>
          <a:p>
            <a:r>
              <a:rPr lang="en-US" baseline="0" dirty="0" smtClean="0"/>
              <a:t>Inside the premises – robbery and safe burglary of other property - $ 5,000 per occurrence for 1 and 2</a:t>
            </a:r>
          </a:p>
          <a:p>
            <a:r>
              <a:rPr lang="en-US" baseline="0" dirty="0" smtClean="0"/>
              <a:t>Outside the premises - $ 5,000 for 1 and 2</a:t>
            </a:r>
          </a:p>
          <a:p>
            <a:r>
              <a:rPr lang="en-US" baseline="0" dirty="0" smtClean="0"/>
              <a:t>Computer and funds transfer fraud coverage - $ 5,000 per occurrence for 2</a:t>
            </a:r>
          </a:p>
          <a:p>
            <a:pPr marL="228600" indent="-228600">
              <a:buAutoNum type="arabicPeriod"/>
            </a:pPr>
            <a:r>
              <a:rPr lang="en-US" baseline="0" dirty="0" smtClean="0"/>
              <a:t>Precious metals, stone, pearls furs</a:t>
            </a:r>
          </a:p>
          <a:p>
            <a:pPr marL="228600" indent="-228600">
              <a:buAutoNum type="arabicPeriod"/>
            </a:pPr>
            <a:r>
              <a:rPr lang="en-US" baseline="0" dirty="0" smtClean="0"/>
              <a:t>Manuscripts, drawings or records</a:t>
            </a:r>
          </a:p>
          <a:p>
            <a:endParaRPr lang="en-US" dirty="0"/>
          </a:p>
        </p:txBody>
      </p:sp>
      <p:sp>
        <p:nvSpPr>
          <p:cNvPr id="4" name="Slide Number Placeholder 3"/>
          <p:cNvSpPr>
            <a:spLocks noGrp="1"/>
          </p:cNvSpPr>
          <p:nvPr>
            <p:ph type="sldNum" sz="quarter" idx="10"/>
          </p:nvPr>
        </p:nvSpPr>
        <p:spPr/>
        <p:txBody>
          <a:bodyPr/>
          <a:lstStyle/>
          <a:p>
            <a:pPr>
              <a:defRPr/>
            </a:pPr>
            <a:fld id="{0C05EE3D-69F0-4518-80C0-AEF6A4DE28A9}" type="slidenum">
              <a:rPr lang="en-US" smtClean="0"/>
              <a:pPr>
                <a:defRPr/>
              </a:pPr>
              <a:t>19</a:t>
            </a:fld>
            <a:endParaRPr lang="en-US" dirty="0"/>
          </a:p>
        </p:txBody>
      </p:sp>
    </p:spTree>
    <p:extLst>
      <p:ext uri="{BB962C8B-B14F-4D97-AF65-F5344CB8AC3E}">
        <p14:creationId xmlns:p14="http://schemas.microsoft.com/office/powerpoint/2010/main" val="31351686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mailto:solutions@valuemomentum.com" TargetMode="External"/><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w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6" name="Freeform 3" descr="Picture1"/>
          <p:cNvSpPr>
            <a:spLocks/>
          </p:cNvSpPr>
          <p:nvPr userDrawn="1"/>
        </p:nvSpPr>
        <p:spPr bwMode="auto">
          <a:xfrm>
            <a:off x="780643" y="1573186"/>
            <a:ext cx="3023233" cy="2612149"/>
          </a:xfrm>
          <a:custGeom>
            <a:avLst/>
            <a:gdLst>
              <a:gd name="T0" fmla="*/ 509890 w 2042748"/>
              <a:gd name="T1" fmla="*/ 1765495 h 1765495"/>
              <a:gd name="T2" fmla="*/ 0 w 2042748"/>
              <a:gd name="T3" fmla="*/ 882748 h 1765495"/>
              <a:gd name="T4" fmla="*/ 509890 w 2042748"/>
              <a:gd name="T5" fmla="*/ 0 h 1765495"/>
              <a:gd name="T6" fmla="*/ 1532858 w 2042748"/>
              <a:gd name="T7" fmla="*/ 0 h 1765495"/>
              <a:gd name="T8" fmla="*/ 2042748 w 2042748"/>
              <a:gd name="T9" fmla="*/ 882748 h 1765495"/>
              <a:gd name="T10" fmla="*/ 1532858 w 2042748"/>
              <a:gd name="T11" fmla="*/ 1765495 h 1765495"/>
              <a:gd name="T12" fmla="*/ 509890 w 2042748"/>
              <a:gd name="T13" fmla="*/ 1765495 h 1765495"/>
              <a:gd name="T14" fmla="*/ 509890 w 2042748"/>
              <a:gd name="T15" fmla="*/ 1765495 h 17654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42748" h="1765495">
                <a:moveTo>
                  <a:pt x="509890" y="1765495"/>
                </a:moveTo>
                <a:lnTo>
                  <a:pt x="0" y="882748"/>
                </a:lnTo>
                <a:lnTo>
                  <a:pt x="509890" y="0"/>
                </a:lnTo>
                <a:lnTo>
                  <a:pt x="1532858" y="0"/>
                </a:lnTo>
                <a:lnTo>
                  <a:pt x="2042748" y="882748"/>
                </a:lnTo>
                <a:lnTo>
                  <a:pt x="1532858" y="1765495"/>
                </a:lnTo>
                <a:lnTo>
                  <a:pt x="509890" y="1765495"/>
                </a:lnTo>
                <a:lnTo>
                  <a:pt x="509890" y="1765495"/>
                </a:lnTo>
                <a:close/>
              </a:path>
            </a:pathLst>
          </a:custGeom>
          <a:blipFill dpi="0" rotWithShape="1">
            <a:blip r:embed="rId2" cstate="print"/>
            <a:srcRect/>
            <a:stretch>
              <a:fillRect/>
            </a:stretch>
          </a:blipFill>
          <a:ln>
            <a:noFill/>
          </a:ln>
          <a:effectLst/>
          <a:extLst>
            <a:ext uri="{91240B29-F687-4F45-9708-019B960494DF}">
              <a14:hiddenLine xmlns:a14="http://schemas.microsoft.com/office/drawing/2010/main" w="12747" cap="flat">
                <a:solidFill>
                  <a:srgbClr val="212120"/>
                </a:solidFill>
                <a:prstDash val="solid"/>
                <a:miter lim="800000"/>
                <a:headEnd/>
                <a:tailEnd/>
              </a14:hiddenLine>
            </a:ext>
            <a:ext uri="{AF507438-7753-43E0-B8FC-AC1667EBCBE1}">
              <a14:hiddenEffects xmlns:a14="http://schemas.microsoft.com/office/drawing/2010/main">
                <a:effectLst>
                  <a:outerShdw dist="35921" dir="2700000" algn="ctr" rotWithShape="0">
                    <a:srgbClr val="8C8681"/>
                  </a:outerShdw>
                </a:effectLst>
              </a14:hiddenEffects>
            </a:ext>
          </a:extLst>
        </p:spPr>
        <p:txBody>
          <a:bodyPr vert="horz" wrap="square" lIns="91440" tIns="45720" rIns="91440" bIns="45720" numCol="1" anchor="t" anchorCtr="0" compatLnSpc="1">
            <a:prstTxWarp prst="textNoShape">
              <a:avLst/>
            </a:prstTxWarp>
          </a:bodyPr>
          <a:lstStyle/>
          <a:p>
            <a:endParaRPr lang="en-US" dirty="0"/>
          </a:p>
        </p:txBody>
      </p:sp>
      <p:grpSp>
        <p:nvGrpSpPr>
          <p:cNvPr id="17" name="Group 16"/>
          <p:cNvGrpSpPr/>
          <p:nvPr userDrawn="1"/>
        </p:nvGrpSpPr>
        <p:grpSpPr>
          <a:xfrm>
            <a:off x="469994" y="302218"/>
            <a:ext cx="5321206" cy="6260742"/>
            <a:chOff x="469994" y="302218"/>
            <a:chExt cx="5321206" cy="6260742"/>
          </a:xfrm>
        </p:grpSpPr>
        <p:sp>
          <p:nvSpPr>
            <p:cNvPr id="18" name="Freeform 17"/>
            <p:cNvSpPr>
              <a:spLocks noEditPoints="1"/>
            </p:cNvSpPr>
            <p:nvPr/>
          </p:nvSpPr>
          <p:spPr bwMode="auto">
            <a:xfrm>
              <a:off x="5426219" y="807172"/>
              <a:ext cx="364981" cy="525424"/>
            </a:xfrm>
            <a:custGeom>
              <a:avLst/>
              <a:gdLst>
                <a:gd name="T0" fmla="*/ 0 w 341063"/>
                <a:gd name="T1" fmla="*/ 146625 h 490875"/>
                <a:gd name="T2" fmla="*/ 86063 w 341063"/>
                <a:gd name="T3" fmla="*/ 296437 h 490875"/>
                <a:gd name="T4" fmla="*/ 255001 w 341063"/>
                <a:gd name="T5" fmla="*/ 296437 h 490875"/>
                <a:gd name="T6" fmla="*/ 341063 w 341063"/>
                <a:gd name="T7" fmla="*/ 146625 h 490875"/>
                <a:gd name="T8" fmla="*/ 255001 w 341063"/>
                <a:gd name="T9" fmla="*/ 0 h 490875"/>
                <a:gd name="T10" fmla="*/ 86063 w 341063"/>
                <a:gd name="T11" fmla="*/ 0 h 490875"/>
                <a:gd name="T12" fmla="*/ 0 w 341063"/>
                <a:gd name="T13" fmla="*/ 146625 h 490875"/>
                <a:gd name="T14" fmla="*/ 60563 w 341063"/>
                <a:gd name="T15" fmla="*/ 146625 h 490875"/>
                <a:gd name="T16" fmla="*/ 114751 w 341063"/>
                <a:gd name="T17" fmla="*/ 51000 h 490875"/>
                <a:gd name="T18" fmla="*/ 226313 w 341063"/>
                <a:gd name="T19" fmla="*/ 51000 h 490875"/>
                <a:gd name="T20" fmla="*/ 283688 w 341063"/>
                <a:gd name="T21" fmla="*/ 146625 h 490875"/>
                <a:gd name="T22" fmla="*/ 226313 w 341063"/>
                <a:gd name="T23" fmla="*/ 245437 h 490875"/>
                <a:gd name="T24" fmla="*/ 114751 w 341063"/>
                <a:gd name="T25" fmla="*/ 245437 h 490875"/>
                <a:gd name="T26" fmla="*/ 60563 w 341063"/>
                <a:gd name="T27" fmla="*/ 146625 h 490875"/>
                <a:gd name="T28" fmla="*/ 216751 w 341063"/>
                <a:gd name="T29" fmla="*/ 446250 h 490875"/>
                <a:gd name="T30" fmla="*/ 124313 w 341063"/>
                <a:gd name="T31" fmla="*/ 446250 h 490875"/>
                <a:gd name="T32" fmla="*/ 124313 w 341063"/>
                <a:gd name="T33" fmla="*/ 490875 h 490875"/>
                <a:gd name="T34" fmla="*/ 216751 w 341063"/>
                <a:gd name="T35" fmla="*/ 490875 h 490875"/>
                <a:gd name="T36" fmla="*/ 216751 w 341063"/>
                <a:gd name="T37" fmla="*/ 446250 h 490875"/>
                <a:gd name="T38" fmla="*/ 258188 w 341063"/>
                <a:gd name="T39" fmla="*/ 318750 h 490875"/>
                <a:gd name="T40" fmla="*/ 86063 w 341063"/>
                <a:gd name="T41" fmla="*/ 318750 h 490875"/>
                <a:gd name="T42" fmla="*/ 86063 w 341063"/>
                <a:gd name="T43" fmla="*/ 363375 h 490875"/>
                <a:gd name="T44" fmla="*/ 258188 w 341063"/>
                <a:gd name="T45" fmla="*/ 363375 h 490875"/>
                <a:gd name="T46" fmla="*/ 258188 w 341063"/>
                <a:gd name="T47" fmla="*/ 318750 h 490875"/>
                <a:gd name="T48" fmla="*/ 258188 w 341063"/>
                <a:gd name="T49" fmla="*/ 382500 h 490875"/>
                <a:gd name="T50" fmla="*/ 86063 w 341063"/>
                <a:gd name="T51" fmla="*/ 382500 h 490875"/>
                <a:gd name="T52" fmla="*/ 86063 w 341063"/>
                <a:gd name="T53" fmla="*/ 427125 h 490875"/>
                <a:gd name="T54" fmla="*/ 258188 w 341063"/>
                <a:gd name="T55" fmla="*/ 427125 h 490875"/>
                <a:gd name="T56" fmla="*/ 258188 w 341063"/>
                <a:gd name="T57" fmla="*/ 382500 h 490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1063" h="490875">
                  <a:moveTo>
                    <a:pt x="0" y="146625"/>
                  </a:moveTo>
                  <a:lnTo>
                    <a:pt x="86063" y="296437"/>
                  </a:lnTo>
                  <a:lnTo>
                    <a:pt x="255001" y="296437"/>
                  </a:lnTo>
                  <a:lnTo>
                    <a:pt x="341063" y="146625"/>
                  </a:lnTo>
                  <a:lnTo>
                    <a:pt x="255001" y="0"/>
                  </a:lnTo>
                  <a:lnTo>
                    <a:pt x="86063" y="0"/>
                  </a:lnTo>
                  <a:lnTo>
                    <a:pt x="0" y="146625"/>
                  </a:lnTo>
                  <a:close/>
                  <a:moveTo>
                    <a:pt x="60563" y="146625"/>
                  </a:moveTo>
                  <a:lnTo>
                    <a:pt x="114751" y="51000"/>
                  </a:lnTo>
                  <a:lnTo>
                    <a:pt x="226313" y="51000"/>
                  </a:lnTo>
                  <a:lnTo>
                    <a:pt x="283688" y="146625"/>
                  </a:lnTo>
                  <a:lnTo>
                    <a:pt x="226313" y="245437"/>
                  </a:lnTo>
                  <a:lnTo>
                    <a:pt x="114751" y="245437"/>
                  </a:lnTo>
                  <a:lnTo>
                    <a:pt x="60563" y="146625"/>
                  </a:lnTo>
                  <a:close/>
                  <a:moveTo>
                    <a:pt x="216751" y="446250"/>
                  </a:moveTo>
                  <a:lnTo>
                    <a:pt x="124313" y="446250"/>
                  </a:lnTo>
                  <a:lnTo>
                    <a:pt x="124313" y="490875"/>
                  </a:lnTo>
                  <a:lnTo>
                    <a:pt x="216751" y="490875"/>
                  </a:lnTo>
                  <a:lnTo>
                    <a:pt x="216751" y="446250"/>
                  </a:lnTo>
                  <a:close/>
                  <a:moveTo>
                    <a:pt x="258188" y="318750"/>
                  </a:moveTo>
                  <a:lnTo>
                    <a:pt x="86063" y="318750"/>
                  </a:lnTo>
                  <a:lnTo>
                    <a:pt x="86063" y="363375"/>
                  </a:lnTo>
                  <a:lnTo>
                    <a:pt x="258188" y="363375"/>
                  </a:lnTo>
                  <a:lnTo>
                    <a:pt x="258188" y="318750"/>
                  </a:lnTo>
                  <a:close/>
                  <a:moveTo>
                    <a:pt x="258188" y="382500"/>
                  </a:moveTo>
                  <a:lnTo>
                    <a:pt x="86063" y="382500"/>
                  </a:lnTo>
                  <a:lnTo>
                    <a:pt x="86063" y="427125"/>
                  </a:lnTo>
                  <a:lnTo>
                    <a:pt x="258188" y="427125"/>
                  </a:lnTo>
                  <a:lnTo>
                    <a:pt x="258188" y="382500"/>
                  </a:lnTo>
                  <a:close/>
                </a:path>
              </a:pathLst>
            </a:custGeom>
            <a:solidFill>
              <a:schemeClr val="bg2"/>
            </a:soli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7"/>
            <p:cNvSpPr>
              <a:spLocks/>
            </p:cNvSpPr>
            <p:nvPr userDrawn="1"/>
          </p:nvSpPr>
          <p:spPr bwMode="auto">
            <a:xfrm>
              <a:off x="2236297" y="4874095"/>
              <a:ext cx="1268903" cy="1102028"/>
            </a:xfrm>
            <a:custGeom>
              <a:avLst/>
              <a:gdLst>
                <a:gd name="T0" fmla="*/ 889314 w 1185752"/>
                <a:gd name="T1" fmla="*/ 0 h 1029564"/>
                <a:gd name="T2" fmla="*/ 296438 w 1185752"/>
                <a:gd name="T3" fmla="*/ 0 h 1029564"/>
                <a:gd name="T4" fmla="*/ 0 w 1185752"/>
                <a:gd name="T5" fmla="*/ 513188 h 1029564"/>
                <a:gd name="T6" fmla="*/ 296438 w 1185752"/>
                <a:gd name="T7" fmla="*/ 1029564 h 1029564"/>
                <a:gd name="T8" fmla="*/ 889314 w 1185752"/>
                <a:gd name="T9" fmla="*/ 1029564 h 1029564"/>
                <a:gd name="T10" fmla="*/ 1185752 w 1185752"/>
                <a:gd name="T11" fmla="*/ 513188 h 1029564"/>
                <a:gd name="T12" fmla="*/ 889314 w 1185752"/>
                <a:gd name="T13" fmla="*/ 0 h 1029564"/>
              </a:gdLst>
              <a:ahLst/>
              <a:cxnLst>
                <a:cxn ang="0">
                  <a:pos x="T0" y="T1"/>
                </a:cxn>
                <a:cxn ang="0">
                  <a:pos x="T2" y="T3"/>
                </a:cxn>
                <a:cxn ang="0">
                  <a:pos x="T4" y="T5"/>
                </a:cxn>
                <a:cxn ang="0">
                  <a:pos x="T6" y="T7"/>
                </a:cxn>
                <a:cxn ang="0">
                  <a:pos x="T8" y="T9"/>
                </a:cxn>
                <a:cxn ang="0">
                  <a:pos x="T10" y="T11"/>
                </a:cxn>
                <a:cxn ang="0">
                  <a:pos x="T12" y="T13"/>
                </a:cxn>
              </a:cxnLst>
              <a:rect l="0" t="0" r="r" b="b"/>
              <a:pathLst>
                <a:path w="1185752" h="1029564">
                  <a:moveTo>
                    <a:pt x="889314" y="0"/>
                  </a:moveTo>
                  <a:lnTo>
                    <a:pt x="296438" y="0"/>
                  </a:lnTo>
                  <a:lnTo>
                    <a:pt x="0" y="513188"/>
                  </a:lnTo>
                  <a:lnTo>
                    <a:pt x="296438" y="1029564"/>
                  </a:lnTo>
                  <a:lnTo>
                    <a:pt x="889314" y="1029564"/>
                  </a:lnTo>
                  <a:lnTo>
                    <a:pt x="1185752" y="513188"/>
                  </a:lnTo>
                  <a:lnTo>
                    <a:pt x="889314" y="0"/>
                  </a:lnTo>
                </a:path>
              </a:pathLst>
            </a:custGeom>
            <a:gradFill rotWithShape="1">
              <a:gsLst>
                <a:gs pos="0">
                  <a:schemeClr val="accent1"/>
                </a:gs>
                <a:gs pos="100000">
                  <a:schemeClr val="accent6"/>
                </a:gs>
              </a:gsLst>
              <a:lin ang="0" scaled="1"/>
            </a:gra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8"/>
            <p:cNvSpPr>
              <a:spLocks/>
            </p:cNvSpPr>
            <p:nvPr userDrawn="1"/>
          </p:nvSpPr>
          <p:spPr bwMode="auto">
            <a:xfrm>
              <a:off x="3123775" y="848115"/>
              <a:ext cx="1541786" cy="1334033"/>
            </a:xfrm>
            <a:custGeom>
              <a:avLst/>
              <a:gdLst>
                <a:gd name="T0" fmla="*/ 360188 w 1440753"/>
                <a:gd name="T1" fmla="*/ 1246314 h 1246314"/>
                <a:gd name="T2" fmla="*/ 0 w 1440753"/>
                <a:gd name="T3" fmla="*/ 621563 h 1246314"/>
                <a:gd name="T4" fmla="*/ 360188 w 1440753"/>
                <a:gd name="T5" fmla="*/ 0 h 1246314"/>
                <a:gd name="T6" fmla="*/ 1080565 w 1440753"/>
                <a:gd name="T7" fmla="*/ 0 h 1246314"/>
                <a:gd name="T8" fmla="*/ 1440753 w 1440753"/>
                <a:gd name="T9" fmla="*/ 621563 h 1246314"/>
                <a:gd name="T10" fmla="*/ 1080565 w 1440753"/>
                <a:gd name="T11" fmla="*/ 1246314 h 1246314"/>
                <a:gd name="T12" fmla="*/ 360188 w 1440753"/>
                <a:gd name="T13" fmla="*/ 1246314 h 1246314"/>
              </a:gdLst>
              <a:ahLst/>
              <a:cxnLst>
                <a:cxn ang="0">
                  <a:pos x="T0" y="T1"/>
                </a:cxn>
                <a:cxn ang="0">
                  <a:pos x="T2" y="T3"/>
                </a:cxn>
                <a:cxn ang="0">
                  <a:pos x="T4" y="T5"/>
                </a:cxn>
                <a:cxn ang="0">
                  <a:pos x="T6" y="T7"/>
                </a:cxn>
                <a:cxn ang="0">
                  <a:pos x="T8" y="T9"/>
                </a:cxn>
                <a:cxn ang="0">
                  <a:pos x="T10" y="T11"/>
                </a:cxn>
                <a:cxn ang="0">
                  <a:pos x="T12" y="T13"/>
                </a:cxn>
              </a:cxnLst>
              <a:rect l="0" t="0" r="r" b="b"/>
              <a:pathLst>
                <a:path w="1440753" h="1246314">
                  <a:moveTo>
                    <a:pt x="360188" y="1246314"/>
                  </a:moveTo>
                  <a:lnTo>
                    <a:pt x="0" y="621563"/>
                  </a:lnTo>
                  <a:lnTo>
                    <a:pt x="360188" y="0"/>
                  </a:lnTo>
                  <a:lnTo>
                    <a:pt x="1080565" y="0"/>
                  </a:lnTo>
                  <a:lnTo>
                    <a:pt x="1440753" y="621563"/>
                  </a:lnTo>
                  <a:lnTo>
                    <a:pt x="1080565" y="1246314"/>
                  </a:lnTo>
                  <a:lnTo>
                    <a:pt x="360188" y="1246314"/>
                  </a:lnTo>
                  <a:close/>
                </a:path>
              </a:pathLst>
            </a:custGeom>
            <a:gradFill rotWithShape="1">
              <a:gsLst>
                <a:gs pos="0">
                  <a:schemeClr val="accent2"/>
                </a:gs>
                <a:gs pos="100000">
                  <a:schemeClr val="accent3"/>
                </a:gs>
              </a:gsLst>
              <a:lin ang="0" scaled="1"/>
            </a:gra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9"/>
            <p:cNvSpPr>
              <a:spLocks/>
            </p:cNvSpPr>
            <p:nvPr userDrawn="1"/>
          </p:nvSpPr>
          <p:spPr bwMode="auto">
            <a:xfrm>
              <a:off x="3253393" y="5464345"/>
              <a:ext cx="1272314" cy="1098615"/>
            </a:xfrm>
            <a:custGeom>
              <a:avLst/>
              <a:gdLst>
                <a:gd name="T0" fmla="*/ 296438 w 1188940"/>
                <a:gd name="T1" fmla="*/ 1026376 h 1026376"/>
                <a:gd name="T2" fmla="*/ 0 w 1188940"/>
                <a:gd name="T3" fmla="*/ 513188 h 1026376"/>
                <a:gd name="T4" fmla="*/ 296438 w 1188940"/>
                <a:gd name="T5" fmla="*/ 0 h 1026376"/>
                <a:gd name="T6" fmla="*/ 892502 w 1188940"/>
                <a:gd name="T7" fmla="*/ 0 h 1026376"/>
                <a:gd name="T8" fmla="*/ 1188940 w 1188940"/>
                <a:gd name="T9" fmla="*/ 513188 h 1026376"/>
                <a:gd name="T10" fmla="*/ 892502 w 1188940"/>
                <a:gd name="T11" fmla="*/ 1026376 h 1026376"/>
                <a:gd name="T12" fmla="*/ 296438 w 1188940"/>
                <a:gd name="T13" fmla="*/ 1026376 h 1026376"/>
              </a:gdLst>
              <a:ahLst/>
              <a:cxnLst>
                <a:cxn ang="0">
                  <a:pos x="T0" y="T1"/>
                </a:cxn>
                <a:cxn ang="0">
                  <a:pos x="T2" y="T3"/>
                </a:cxn>
                <a:cxn ang="0">
                  <a:pos x="T4" y="T5"/>
                </a:cxn>
                <a:cxn ang="0">
                  <a:pos x="T6" y="T7"/>
                </a:cxn>
                <a:cxn ang="0">
                  <a:pos x="T8" y="T9"/>
                </a:cxn>
                <a:cxn ang="0">
                  <a:pos x="T10" y="T11"/>
                </a:cxn>
                <a:cxn ang="0">
                  <a:pos x="T12" y="T13"/>
                </a:cxn>
              </a:cxnLst>
              <a:rect l="0" t="0" r="r" b="b"/>
              <a:pathLst>
                <a:path w="1188940" h="1026376">
                  <a:moveTo>
                    <a:pt x="296438" y="1026376"/>
                  </a:moveTo>
                  <a:lnTo>
                    <a:pt x="0" y="513188"/>
                  </a:lnTo>
                  <a:lnTo>
                    <a:pt x="296438" y="0"/>
                  </a:lnTo>
                  <a:lnTo>
                    <a:pt x="892502" y="0"/>
                  </a:lnTo>
                  <a:lnTo>
                    <a:pt x="1188940" y="513188"/>
                  </a:lnTo>
                  <a:lnTo>
                    <a:pt x="892502" y="1026376"/>
                  </a:lnTo>
                  <a:lnTo>
                    <a:pt x="296438" y="1026376"/>
                  </a:lnTo>
                  <a:close/>
                </a:path>
              </a:pathLst>
            </a:custGeom>
            <a:solidFill>
              <a:schemeClr val="bg2"/>
            </a:soli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0"/>
            <p:cNvSpPr>
              <a:spLocks noEditPoints="1"/>
            </p:cNvSpPr>
            <p:nvPr userDrawn="1"/>
          </p:nvSpPr>
          <p:spPr bwMode="auto">
            <a:xfrm>
              <a:off x="2523433" y="851525"/>
              <a:ext cx="712906" cy="617545"/>
            </a:xfrm>
            <a:custGeom>
              <a:avLst/>
              <a:gdLst>
                <a:gd name="T0" fmla="*/ 500439 w 666189"/>
                <a:gd name="T1" fmla="*/ 0 h 576938"/>
                <a:gd name="T2" fmla="*/ 165751 w 666189"/>
                <a:gd name="T3" fmla="*/ 0 h 576938"/>
                <a:gd name="T4" fmla="*/ 0 w 666189"/>
                <a:gd name="T5" fmla="*/ 290063 h 576938"/>
                <a:gd name="T6" fmla="*/ 165751 w 666189"/>
                <a:gd name="T7" fmla="*/ 576938 h 576938"/>
                <a:gd name="T8" fmla="*/ 500439 w 666189"/>
                <a:gd name="T9" fmla="*/ 576938 h 576938"/>
                <a:gd name="T10" fmla="*/ 666189 w 666189"/>
                <a:gd name="T11" fmla="*/ 290063 h 576938"/>
                <a:gd name="T12" fmla="*/ 500439 w 666189"/>
                <a:gd name="T13" fmla="*/ 0 h 576938"/>
                <a:gd name="T14" fmla="*/ 443064 w 666189"/>
                <a:gd name="T15" fmla="*/ 478126 h 576938"/>
                <a:gd name="T16" fmla="*/ 223126 w 666189"/>
                <a:gd name="T17" fmla="*/ 478126 h 576938"/>
                <a:gd name="T18" fmla="*/ 114750 w 666189"/>
                <a:gd name="T19" fmla="*/ 290063 h 576938"/>
                <a:gd name="T20" fmla="*/ 223126 w 666189"/>
                <a:gd name="T21" fmla="*/ 98813 h 576938"/>
                <a:gd name="T22" fmla="*/ 443064 w 666189"/>
                <a:gd name="T23" fmla="*/ 98813 h 576938"/>
                <a:gd name="T24" fmla="*/ 551439 w 666189"/>
                <a:gd name="T25" fmla="*/ 290063 h 576938"/>
                <a:gd name="T26" fmla="*/ 443064 w 666189"/>
                <a:gd name="T27" fmla="*/ 478126 h 576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6189" h="576938">
                  <a:moveTo>
                    <a:pt x="500439" y="0"/>
                  </a:moveTo>
                  <a:lnTo>
                    <a:pt x="165751" y="0"/>
                  </a:lnTo>
                  <a:lnTo>
                    <a:pt x="0" y="290063"/>
                  </a:lnTo>
                  <a:lnTo>
                    <a:pt x="165751" y="576938"/>
                  </a:lnTo>
                  <a:lnTo>
                    <a:pt x="500439" y="576938"/>
                  </a:lnTo>
                  <a:lnTo>
                    <a:pt x="666189" y="290063"/>
                  </a:lnTo>
                  <a:lnTo>
                    <a:pt x="500439" y="0"/>
                  </a:lnTo>
                  <a:close/>
                  <a:moveTo>
                    <a:pt x="443064" y="478126"/>
                  </a:moveTo>
                  <a:lnTo>
                    <a:pt x="223126" y="478126"/>
                  </a:lnTo>
                  <a:lnTo>
                    <a:pt x="114750" y="290063"/>
                  </a:lnTo>
                  <a:lnTo>
                    <a:pt x="223126" y="98813"/>
                  </a:lnTo>
                  <a:lnTo>
                    <a:pt x="443064" y="98813"/>
                  </a:lnTo>
                  <a:lnTo>
                    <a:pt x="551439" y="290063"/>
                  </a:lnTo>
                  <a:lnTo>
                    <a:pt x="443064" y="478126"/>
                  </a:lnTo>
                  <a:close/>
                </a:path>
              </a:pathLst>
            </a:custGeom>
            <a:gradFill rotWithShape="1">
              <a:gsLst>
                <a:gs pos="0">
                  <a:schemeClr val="accent5"/>
                </a:gs>
                <a:gs pos="100000">
                  <a:schemeClr val="accent4"/>
                </a:gs>
              </a:gsLst>
              <a:lin ang="0" scaled="1"/>
            </a:gra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1"/>
            <p:cNvSpPr>
              <a:spLocks noEditPoints="1"/>
            </p:cNvSpPr>
            <p:nvPr userDrawn="1"/>
          </p:nvSpPr>
          <p:spPr bwMode="auto">
            <a:xfrm>
              <a:off x="4334691" y="302218"/>
              <a:ext cx="1111995" cy="962141"/>
            </a:xfrm>
            <a:custGeom>
              <a:avLst/>
              <a:gdLst>
                <a:gd name="T0" fmla="*/ 777751 w 1039126"/>
                <a:gd name="T1" fmla="*/ 0 h 898876"/>
                <a:gd name="T2" fmla="*/ 261375 w 1039126"/>
                <a:gd name="T3" fmla="*/ 0 h 898876"/>
                <a:gd name="T4" fmla="*/ 0 w 1039126"/>
                <a:gd name="T5" fmla="*/ 449438 h 898876"/>
                <a:gd name="T6" fmla="*/ 261375 w 1039126"/>
                <a:gd name="T7" fmla="*/ 898876 h 898876"/>
                <a:gd name="T8" fmla="*/ 777751 w 1039126"/>
                <a:gd name="T9" fmla="*/ 898876 h 898876"/>
                <a:gd name="T10" fmla="*/ 1039126 w 1039126"/>
                <a:gd name="T11" fmla="*/ 449438 h 898876"/>
                <a:gd name="T12" fmla="*/ 777751 w 1039126"/>
                <a:gd name="T13" fmla="*/ 0 h 898876"/>
                <a:gd name="T14" fmla="*/ 688501 w 1039126"/>
                <a:gd name="T15" fmla="*/ 742688 h 898876"/>
                <a:gd name="T16" fmla="*/ 350625 w 1039126"/>
                <a:gd name="T17" fmla="*/ 742688 h 898876"/>
                <a:gd name="T18" fmla="*/ 181687 w 1039126"/>
                <a:gd name="T19" fmla="*/ 449438 h 898876"/>
                <a:gd name="T20" fmla="*/ 350625 w 1039126"/>
                <a:gd name="T21" fmla="*/ 156188 h 898876"/>
                <a:gd name="T22" fmla="*/ 688501 w 1039126"/>
                <a:gd name="T23" fmla="*/ 156188 h 898876"/>
                <a:gd name="T24" fmla="*/ 857439 w 1039126"/>
                <a:gd name="T25" fmla="*/ 449438 h 898876"/>
                <a:gd name="T26" fmla="*/ 688501 w 1039126"/>
                <a:gd name="T27" fmla="*/ 742688 h 898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9126" h="898876">
                  <a:moveTo>
                    <a:pt x="777751" y="0"/>
                  </a:moveTo>
                  <a:lnTo>
                    <a:pt x="261375" y="0"/>
                  </a:lnTo>
                  <a:lnTo>
                    <a:pt x="0" y="449438"/>
                  </a:lnTo>
                  <a:lnTo>
                    <a:pt x="261375" y="898876"/>
                  </a:lnTo>
                  <a:lnTo>
                    <a:pt x="777751" y="898876"/>
                  </a:lnTo>
                  <a:lnTo>
                    <a:pt x="1039126" y="449438"/>
                  </a:lnTo>
                  <a:lnTo>
                    <a:pt x="777751" y="0"/>
                  </a:lnTo>
                  <a:close/>
                  <a:moveTo>
                    <a:pt x="688501" y="742688"/>
                  </a:moveTo>
                  <a:lnTo>
                    <a:pt x="350625" y="742688"/>
                  </a:lnTo>
                  <a:lnTo>
                    <a:pt x="181687" y="449438"/>
                  </a:lnTo>
                  <a:lnTo>
                    <a:pt x="350625" y="156188"/>
                  </a:lnTo>
                  <a:lnTo>
                    <a:pt x="688501" y="156188"/>
                  </a:lnTo>
                  <a:lnTo>
                    <a:pt x="857439" y="449438"/>
                  </a:lnTo>
                  <a:lnTo>
                    <a:pt x="688501" y="742688"/>
                  </a:lnTo>
                  <a:close/>
                </a:path>
              </a:pathLst>
            </a:custGeom>
            <a:gradFill rotWithShape="1">
              <a:gsLst>
                <a:gs pos="0">
                  <a:schemeClr val="accent1"/>
                </a:gs>
                <a:gs pos="100000">
                  <a:schemeClr val="accent2"/>
                </a:gs>
              </a:gsLst>
              <a:lin ang="0" scaled="1"/>
            </a:gra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4"/>
            <p:cNvSpPr>
              <a:spLocks noEditPoints="1"/>
            </p:cNvSpPr>
            <p:nvPr/>
          </p:nvSpPr>
          <p:spPr bwMode="auto">
            <a:xfrm>
              <a:off x="1605866" y="4601147"/>
              <a:ext cx="600341" cy="320714"/>
            </a:xfrm>
            <a:custGeom>
              <a:avLst/>
              <a:gdLst>
                <a:gd name="T0" fmla="*/ 97 w 176"/>
                <a:gd name="T1" fmla="*/ 94 h 94"/>
                <a:gd name="T2" fmla="*/ 176 w 176"/>
                <a:gd name="T3" fmla="*/ 47 h 94"/>
                <a:gd name="T4" fmla="*/ 97 w 176"/>
                <a:gd name="T5" fmla="*/ 0 h 94"/>
                <a:gd name="T6" fmla="*/ 97 w 176"/>
                <a:gd name="T7" fmla="*/ 28 h 94"/>
                <a:gd name="T8" fmla="*/ 0 w 176"/>
                <a:gd name="T9" fmla="*/ 28 h 94"/>
                <a:gd name="T10" fmla="*/ 0 w 176"/>
                <a:gd name="T11" fmla="*/ 66 h 94"/>
                <a:gd name="T12" fmla="*/ 97 w 176"/>
                <a:gd name="T13" fmla="*/ 66 h 94"/>
                <a:gd name="T14" fmla="*/ 97 w 176"/>
                <a:gd name="T15" fmla="*/ 94 h 94"/>
                <a:gd name="T16" fmla="*/ 12 w 176"/>
                <a:gd name="T17" fmla="*/ 55 h 94"/>
                <a:gd name="T18" fmla="*/ 12 w 176"/>
                <a:gd name="T19" fmla="*/ 39 h 94"/>
                <a:gd name="T20" fmla="*/ 109 w 176"/>
                <a:gd name="T21" fmla="*/ 39 h 94"/>
                <a:gd name="T22" fmla="*/ 109 w 176"/>
                <a:gd name="T23" fmla="*/ 21 h 94"/>
                <a:gd name="T24" fmla="*/ 153 w 176"/>
                <a:gd name="T25" fmla="*/ 47 h 94"/>
                <a:gd name="T26" fmla="*/ 109 w 176"/>
                <a:gd name="T27" fmla="*/ 73 h 94"/>
                <a:gd name="T28" fmla="*/ 109 w 176"/>
                <a:gd name="T29" fmla="*/ 55 h 94"/>
                <a:gd name="T30" fmla="*/ 12 w 176"/>
                <a:gd name="T31" fmla="*/ 5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6" h="94">
                  <a:moveTo>
                    <a:pt x="97" y="94"/>
                  </a:moveTo>
                  <a:cubicBezTo>
                    <a:pt x="176" y="47"/>
                    <a:pt x="176" y="47"/>
                    <a:pt x="176" y="47"/>
                  </a:cubicBezTo>
                  <a:cubicBezTo>
                    <a:pt x="97" y="0"/>
                    <a:pt x="97" y="0"/>
                    <a:pt x="97" y="0"/>
                  </a:cubicBezTo>
                  <a:cubicBezTo>
                    <a:pt x="97" y="0"/>
                    <a:pt x="97" y="21"/>
                    <a:pt x="97" y="28"/>
                  </a:cubicBezTo>
                  <a:cubicBezTo>
                    <a:pt x="86" y="28"/>
                    <a:pt x="0" y="28"/>
                    <a:pt x="0" y="28"/>
                  </a:cubicBezTo>
                  <a:cubicBezTo>
                    <a:pt x="0" y="66"/>
                    <a:pt x="0" y="66"/>
                    <a:pt x="0" y="66"/>
                  </a:cubicBezTo>
                  <a:cubicBezTo>
                    <a:pt x="0" y="66"/>
                    <a:pt x="86" y="66"/>
                    <a:pt x="97" y="66"/>
                  </a:cubicBezTo>
                  <a:cubicBezTo>
                    <a:pt x="97" y="73"/>
                    <a:pt x="97" y="94"/>
                    <a:pt x="97" y="94"/>
                  </a:cubicBezTo>
                  <a:close/>
                  <a:moveTo>
                    <a:pt x="12" y="55"/>
                  </a:moveTo>
                  <a:cubicBezTo>
                    <a:pt x="12" y="49"/>
                    <a:pt x="12" y="45"/>
                    <a:pt x="12" y="39"/>
                  </a:cubicBezTo>
                  <a:cubicBezTo>
                    <a:pt x="22" y="39"/>
                    <a:pt x="109" y="39"/>
                    <a:pt x="109" y="39"/>
                  </a:cubicBezTo>
                  <a:cubicBezTo>
                    <a:pt x="109" y="39"/>
                    <a:pt x="109" y="27"/>
                    <a:pt x="109" y="21"/>
                  </a:cubicBezTo>
                  <a:cubicBezTo>
                    <a:pt x="119" y="27"/>
                    <a:pt x="143" y="41"/>
                    <a:pt x="153" y="47"/>
                  </a:cubicBezTo>
                  <a:cubicBezTo>
                    <a:pt x="143" y="53"/>
                    <a:pt x="119" y="67"/>
                    <a:pt x="109" y="73"/>
                  </a:cubicBezTo>
                  <a:cubicBezTo>
                    <a:pt x="109" y="67"/>
                    <a:pt x="109" y="55"/>
                    <a:pt x="109" y="55"/>
                  </a:cubicBezTo>
                  <a:cubicBezTo>
                    <a:pt x="109" y="55"/>
                    <a:pt x="22" y="55"/>
                    <a:pt x="12" y="55"/>
                  </a:cubicBezTo>
                  <a:close/>
                </a:path>
              </a:pathLst>
            </a:custGeom>
            <a:solidFill>
              <a:schemeClr val="bg2"/>
            </a:soli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5"/>
            <p:cNvSpPr>
              <a:spLocks noEditPoints="1"/>
            </p:cNvSpPr>
            <p:nvPr/>
          </p:nvSpPr>
          <p:spPr bwMode="auto">
            <a:xfrm>
              <a:off x="1189722" y="4788799"/>
              <a:ext cx="689028" cy="365068"/>
            </a:xfrm>
            <a:custGeom>
              <a:avLst/>
              <a:gdLst>
                <a:gd name="T0" fmla="*/ 91 w 202"/>
                <a:gd name="T1" fmla="*/ 75 h 107"/>
                <a:gd name="T2" fmla="*/ 202 w 202"/>
                <a:gd name="T3" fmla="*/ 75 h 107"/>
                <a:gd name="T4" fmla="*/ 202 w 202"/>
                <a:gd name="T5" fmla="*/ 31 h 107"/>
                <a:gd name="T6" fmla="*/ 91 w 202"/>
                <a:gd name="T7" fmla="*/ 31 h 107"/>
                <a:gd name="T8" fmla="*/ 91 w 202"/>
                <a:gd name="T9" fmla="*/ 0 h 107"/>
                <a:gd name="T10" fmla="*/ 0 w 202"/>
                <a:gd name="T11" fmla="*/ 53 h 107"/>
                <a:gd name="T12" fmla="*/ 91 w 202"/>
                <a:gd name="T13" fmla="*/ 107 h 107"/>
                <a:gd name="T14" fmla="*/ 91 w 202"/>
                <a:gd name="T15" fmla="*/ 75 h 107"/>
                <a:gd name="T16" fmla="*/ 78 w 202"/>
                <a:gd name="T17" fmla="*/ 62 h 107"/>
                <a:gd name="T18" fmla="*/ 78 w 202"/>
                <a:gd name="T19" fmla="*/ 83 h 107"/>
                <a:gd name="T20" fmla="*/ 27 w 202"/>
                <a:gd name="T21" fmla="*/ 53 h 107"/>
                <a:gd name="T22" fmla="*/ 78 w 202"/>
                <a:gd name="T23" fmla="*/ 23 h 107"/>
                <a:gd name="T24" fmla="*/ 78 w 202"/>
                <a:gd name="T25" fmla="*/ 45 h 107"/>
                <a:gd name="T26" fmla="*/ 188 w 202"/>
                <a:gd name="T27" fmla="*/ 45 h 107"/>
                <a:gd name="T28" fmla="*/ 188 w 202"/>
                <a:gd name="T29" fmla="*/ 62 h 107"/>
                <a:gd name="T30" fmla="*/ 78 w 202"/>
                <a:gd name="T31" fmla="*/ 6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2" h="107">
                  <a:moveTo>
                    <a:pt x="91" y="75"/>
                  </a:moveTo>
                  <a:cubicBezTo>
                    <a:pt x="103" y="75"/>
                    <a:pt x="202" y="75"/>
                    <a:pt x="202" y="75"/>
                  </a:cubicBezTo>
                  <a:cubicBezTo>
                    <a:pt x="202" y="31"/>
                    <a:pt x="202" y="31"/>
                    <a:pt x="202" y="31"/>
                  </a:cubicBezTo>
                  <a:cubicBezTo>
                    <a:pt x="202" y="31"/>
                    <a:pt x="103" y="31"/>
                    <a:pt x="91" y="31"/>
                  </a:cubicBezTo>
                  <a:cubicBezTo>
                    <a:pt x="91" y="24"/>
                    <a:pt x="91" y="0"/>
                    <a:pt x="91" y="0"/>
                  </a:cubicBezTo>
                  <a:cubicBezTo>
                    <a:pt x="0" y="53"/>
                    <a:pt x="0" y="53"/>
                    <a:pt x="0" y="53"/>
                  </a:cubicBezTo>
                  <a:cubicBezTo>
                    <a:pt x="91" y="107"/>
                    <a:pt x="91" y="107"/>
                    <a:pt x="91" y="107"/>
                  </a:cubicBezTo>
                  <a:cubicBezTo>
                    <a:pt x="91" y="107"/>
                    <a:pt x="91" y="83"/>
                    <a:pt x="91" y="75"/>
                  </a:cubicBezTo>
                  <a:close/>
                  <a:moveTo>
                    <a:pt x="78" y="62"/>
                  </a:moveTo>
                  <a:cubicBezTo>
                    <a:pt x="78" y="62"/>
                    <a:pt x="78" y="76"/>
                    <a:pt x="78" y="83"/>
                  </a:cubicBezTo>
                  <a:cubicBezTo>
                    <a:pt x="65" y="76"/>
                    <a:pt x="39" y="60"/>
                    <a:pt x="27" y="53"/>
                  </a:cubicBezTo>
                  <a:cubicBezTo>
                    <a:pt x="39" y="46"/>
                    <a:pt x="65" y="31"/>
                    <a:pt x="78" y="23"/>
                  </a:cubicBezTo>
                  <a:cubicBezTo>
                    <a:pt x="78" y="30"/>
                    <a:pt x="78" y="45"/>
                    <a:pt x="78" y="45"/>
                  </a:cubicBezTo>
                  <a:cubicBezTo>
                    <a:pt x="78" y="45"/>
                    <a:pt x="177" y="45"/>
                    <a:pt x="188" y="45"/>
                  </a:cubicBezTo>
                  <a:cubicBezTo>
                    <a:pt x="188" y="50"/>
                    <a:pt x="188" y="56"/>
                    <a:pt x="188" y="62"/>
                  </a:cubicBezTo>
                  <a:cubicBezTo>
                    <a:pt x="177" y="62"/>
                    <a:pt x="78" y="62"/>
                    <a:pt x="78" y="62"/>
                  </a:cubicBezTo>
                  <a:close/>
                </a:path>
              </a:pathLst>
            </a:custGeom>
            <a:solidFill>
              <a:schemeClr val="bg2"/>
            </a:soli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6"/>
            <p:cNvSpPr>
              <a:spLocks noEditPoints="1"/>
            </p:cNvSpPr>
            <p:nvPr/>
          </p:nvSpPr>
          <p:spPr bwMode="auto">
            <a:xfrm>
              <a:off x="3345493" y="4178079"/>
              <a:ext cx="436612" cy="436716"/>
            </a:xfrm>
            <a:custGeom>
              <a:avLst/>
              <a:gdLst>
                <a:gd name="T0" fmla="*/ 0 w 128"/>
                <a:gd name="T1" fmla="*/ 64 h 128"/>
                <a:gd name="T2" fmla="*/ 128 w 128"/>
                <a:gd name="T3" fmla="*/ 64 h 128"/>
                <a:gd name="T4" fmla="*/ 8 w 128"/>
                <a:gd name="T5" fmla="*/ 68 h 128"/>
                <a:gd name="T6" fmla="*/ 30 w 128"/>
                <a:gd name="T7" fmla="*/ 87 h 128"/>
                <a:gd name="T8" fmla="*/ 8 w 128"/>
                <a:gd name="T9" fmla="*/ 68 h 128"/>
                <a:gd name="T10" fmla="*/ 68 w 128"/>
                <a:gd name="T11" fmla="*/ 9 h 128"/>
                <a:gd name="T12" fmla="*/ 68 w 128"/>
                <a:gd name="T13" fmla="*/ 32 h 128"/>
                <a:gd name="T14" fmla="*/ 92 w 128"/>
                <a:gd name="T15" fmla="*/ 60 h 128"/>
                <a:gd name="T16" fmla="*/ 68 w 128"/>
                <a:gd name="T17" fmla="*/ 40 h 128"/>
                <a:gd name="T18" fmla="*/ 60 w 128"/>
                <a:gd name="T19" fmla="*/ 9 h 128"/>
                <a:gd name="T20" fmla="*/ 41 w 128"/>
                <a:gd name="T21" fmla="*/ 32 h 128"/>
                <a:gd name="T22" fmla="*/ 60 w 128"/>
                <a:gd name="T23" fmla="*/ 40 h 128"/>
                <a:gd name="T24" fmla="*/ 36 w 128"/>
                <a:gd name="T25" fmla="*/ 60 h 128"/>
                <a:gd name="T26" fmla="*/ 60 w 128"/>
                <a:gd name="T27" fmla="*/ 40 h 128"/>
                <a:gd name="T28" fmla="*/ 8 w 128"/>
                <a:gd name="T29" fmla="*/ 60 h 128"/>
                <a:gd name="T30" fmla="*/ 31 w 128"/>
                <a:gd name="T31" fmla="*/ 40 h 128"/>
                <a:gd name="T32" fmla="*/ 36 w 128"/>
                <a:gd name="T33" fmla="*/ 68 h 128"/>
                <a:gd name="T34" fmla="*/ 60 w 128"/>
                <a:gd name="T35" fmla="*/ 87 h 128"/>
                <a:gd name="T36" fmla="*/ 36 w 128"/>
                <a:gd name="T37" fmla="*/ 68 h 128"/>
                <a:gd name="T38" fmla="*/ 60 w 128"/>
                <a:gd name="T39" fmla="*/ 119 h 128"/>
                <a:gd name="T40" fmla="*/ 60 w 128"/>
                <a:gd name="T41" fmla="*/ 95 h 128"/>
                <a:gd name="T42" fmla="*/ 68 w 128"/>
                <a:gd name="T43" fmla="*/ 95 h 128"/>
                <a:gd name="T44" fmla="*/ 68 w 128"/>
                <a:gd name="T45" fmla="*/ 119 h 128"/>
                <a:gd name="T46" fmla="*/ 68 w 128"/>
                <a:gd name="T47" fmla="*/ 68 h 128"/>
                <a:gd name="T48" fmla="*/ 89 w 128"/>
                <a:gd name="T49" fmla="*/ 87 h 128"/>
                <a:gd name="T50" fmla="*/ 99 w 128"/>
                <a:gd name="T51" fmla="*/ 68 h 128"/>
                <a:gd name="T52" fmla="*/ 115 w 128"/>
                <a:gd name="T53" fmla="*/ 87 h 128"/>
                <a:gd name="T54" fmla="*/ 99 w 128"/>
                <a:gd name="T55" fmla="*/ 68 h 128"/>
                <a:gd name="T56" fmla="*/ 97 w 128"/>
                <a:gd name="T57" fmla="*/ 40 h 128"/>
                <a:gd name="T58" fmla="*/ 120 w 128"/>
                <a:gd name="T59" fmla="*/ 60 h 128"/>
                <a:gd name="T60" fmla="*/ 110 w 128"/>
                <a:gd name="T61" fmla="*/ 32 h 128"/>
                <a:gd name="T62" fmla="*/ 85 w 128"/>
                <a:gd name="T63" fmla="*/ 12 h 128"/>
                <a:gd name="T64" fmla="*/ 43 w 128"/>
                <a:gd name="T65" fmla="*/ 12 h 128"/>
                <a:gd name="T66" fmla="*/ 18 w 128"/>
                <a:gd name="T67" fmla="*/ 32 h 128"/>
                <a:gd name="T68" fmla="*/ 17 w 128"/>
                <a:gd name="T69" fmla="*/ 95 h 128"/>
                <a:gd name="T70" fmla="*/ 43 w 128"/>
                <a:gd name="T71" fmla="*/ 116 h 128"/>
                <a:gd name="T72" fmla="*/ 85 w 128"/>
                <a:gd name="T73" fmla="*/ 116 h 128"/>
                <a:gd name="T74" fmla="*/ 110 w 128"/>
                <a:gd name="T75" fmla="*/ 9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8" y="68"/>
                  </a:moveTo>
                  <a:cubicBezTo>
                    <a:pt x="28" y="68"/>
                    <a:pt x="28" y="68"/>
                    <a:pt x="28" y="68"/>
                  </a:cubicBezTo>
                  <a:cubicBezTo>
                    <a:pt x="28" y="75"/>
                    <a:pt x="29" y="81"/>
                    <a:pt x="30" y="87"/>
                  </a:cubicBezTo>
                  <a:cubicBezTo>
                    <a:pt x="13" y="87"/>
                    <a:pt x="13" y="87"/>
                    <a:pt x="13" y="87"/>
                  </a:cubicBezTo>
                  <a:cubicBezTo>
                    <a:pt x="10" y="81"/>
                    <a:pt x="9" y="75"/>
                    <a:pt x="8" y="68"/>
                  </a:cubicBezTo>
                  <a:close/>
                  <a:moveTo>
                    <a:pt x="68" y="32"/>
                  </a:moveTo>
                  <a:cubicBezTo>
                    <a:pt x="68" y="9"/>
                    <a:pt x="68" y="9"/>
                    <a:pt x="68" y="9"/>
                  </a:cubicBezTo>
                  <a:cubicBezTo>
                    <a:pt x="75" y="11"/>
                    <a:pt x="82" y="20"/>
                    <a:pt x="86" y="32"/>
                  </a:cubicBezTo>
                  <a:lnTo>
                    <a:pt x="68" y="32"/>
                  </a:lnTo>
                  <a:close/>
                  <a:moveTo>
                    <a:pt x="89" y="40"/>
                  </a:moveTo>
                  <a:cubicBezTo>
                    <a:pt x="90" y="46"/>
                    <a:pt x="91" y="53"/>
                    <a:pt x="92" y="60"/>
                  </a:cubicBezTo>
                  <a:cubicBezTo>
                    <a:pt x="68" y="60"/>
                    <a:pt x="68" y="60"/>
                    <a:pt x="68" y="60"/>
                  </a:cubicBezTo>
                  <a:cubicBezTo>
                    <a:pt x="68" y="40"/>
                    <a:pt x="68" y="40"/>
                    <a:pt x="68" y="40"/>
                  </a:cubicBezTo>
                  <a:lnTo>
                    <a:pt x="89" y="40"/>
                  </a:lnTo>
                  <a:close/>
                  <a:moveTo>
                    <a:pt x="60" y="9"/>
                  </a:moveTo>
                  <a:cubicBezTo>
                    <a:pt x="60" y="32"/>
                    <a:pt x="60" y="32"/>
                    <a:pt x="60" y="32"/>
                  </a:cubicBezTo>
                  <a:cubicBezTo>
                    <a:pt x="41" y="32"/>
                    <a:pt x="41" y="32"/>
                    <a:pt x="41" y="32"/>
                  </a:cubicBezTo>
                  <a:cubicBezTo>
                    <a:pt x="46" y="20"/>
                    <a:pt x="52" y="11"/>
                    <a:pt x="60" y="9"/>
                  </a:cubicBezTo>
                  <a:close/>
                  <a:moveTo>
                    <a:pt x="60" y="40"/>
                  </a:moveTo>
                  <a:cubicBezTo>
                    <a:pt x="60" y="60"/>
                    <a:pt x="60" y="60"/>
                    <a:pt x="60" y="60"/>
                  </a:cubicBezTo>
                  <a:cubicBezTo>
                    <a:pt x="36" y="60"/>
                    <a:pt x="36" y="60"/>
                    <a:pt x="36" y="60"/>
                  </a:cubicBezTo>
                  <a:cubicBezTo>
                    <a:pt x="36" y="53"/>
                    <a:pt x="37" y="46"/>
                    <a:pt x="39" y="40"/>
                  </a:cubicBezTo>
                  <a:lnTo>
                    <a:pt x="60" y="40"/>
                  </a:lnTo>
                  <a:close/>
                  <a:moveTo>
                    <a:pt x="28" y="60"/>
                  </a:moveTo>
                  <a:cubicBezTo>
                    <a:pt x="8" y="60"/>
                    <a:pt x="8" y="60"/>
                    <a:pt x="8" y="60"/>
                  </a:cubicBezTo>
                  <a:cubicBezTo>
                    <a:pt x="9" y="53"/>
                    <a:pt x="10" y="46"/>
                    <a:pt x="13" y="40"/>
                  </a:cubicBezTo>
                  <a:cubicBezTo>
                    <a:pt x="31" y="40"/>
                    <a:pt x="31" y="40"/>
                    <a:pt x="31" y="40"/>
                  </a:cubicBezTo>
                  <a:cubicBezTo>
                    <a:pt x="29" y="46"/>
                    <a:pt x="28" y="53"/>
                    <a:pt x="28" y="60"/>
                  </a:cubicBezTo>
                  <a:close/>
                  <a:moveTo>
                    <a:pt x="36" y="68"/>
                  </a:moveTo>
                  <a:cubicBezTo>
                    <a:pt x="60" y="68"/>
                    <a:pt x="60" y="68"/>
                    <a:pt x="60" y="68"/>
                  </a:cubicBezTo>
                  <a:cubicBezTo>
                    <a:pt x="60" y="87"/>
                    <a:pt x="60" y="87"/>
                    <a:pt x="60" y="87"/>
                  </a:cubicBezTo>
                  <a:cubicBezTo>
                    <a:pt x="39" y="87"/>
                    <a:pt x="39" y="87"/>
                    <a:pt x="39" y="87"/>
                  </a:cubicBezTo>
                  <a:cubicBezTo>
                    <a:pt x="37" y="81"/>
                    <a:pt x="36" y="75"/>
                    <a:pt x="36" y="68"/>
                  </a:cubicBezTo>
                  <a:close/>
                  <a:moveTo>
                    <a:pt x="60" y="95"/>
                  </a:moveTo>
                  <a:cubicBezTo>
                    <a:pt x="60" y="119"/>
                    <a:pt x="60" y="119"/>
                    <a:pt x="60" y="119"/>
                  </a:cubicBezTo>
                  <a:cubicBezTo>
                    <a:pt x="52" y="117"/>
                    <a:pt x="45" y="108"/>
                    <a:pt x="41" y="95"/>
                  </a:cubicBezTo>
                  <a:lnTo>
                    <a:pt x="60" y="95"/>
                  </a:lnTo>
                  <a:close/>
                  <a:moveTo>
                    <a:pt x="68" y="119"/>
                  </a:moveTo>
                  <a:cubicBezTo>
                    <a:pt x="68" y="95"/>
                    <a:pt x="68" y="95"/>
                    <a:pt x="68" y="95"/>
                  </a:cubicBezTo>
                  <a:cubicBezTo>
                    <a:pt x="87" y="95"/>
                    <a:pt x="87" y="95"/>
                    <a:pt x="87" y="95"/>
                  </a:cubicBezTo>
                  <a:cubicBezTo>
                    <a:pt x="82" y="108"/>
                    <a:pt x="76" y="117"/>
                    <a:pt x="68" y="119"/>
                  </a:cubicBezTo>
                  <a:close/>
                  <a:moveTo>
                    <a:pt x="68" y="87"/>
                  </a:moveTo>
                  <a:cubicBezTo>
                    <a:pt x="68" y="68"/>
                    <a:pt x="68" y="68"/>
                    <a:pt x="68" y="68"/>
                  </a:cubicBezTo>
                  <a:cubicBezTo>
                    <a:pt x="92" y="68"/>
                    <a:pt x="92" y="68"/>
                    <a:pt x="92" y="68"/>
                  </a:cubicBezTo>
                  <a:cubicBezTo>
                    <a:pt x="91" y="75"/>
                    <a:pt x="90" y="81"/>
                    <a:pt x="89" y="87"/>
                  </a:cubicBezTo>
                  <a:lnTo>
                    <a:pt x="68" y="87"/>
                  </a:lnTo>
                  <a:close/>
                  <a:moveTo>
                    <a:pt x="99" y="68"/>
                  </a:moveTo>
                  <a:cubicBezTo>
                    <a:pt x="120" y="68"/>
                    <a:pt x="120" y="68"/>
                    <a:pt x="120" y="68"/>
                  </a:cubicBezTo>
                  <a:cubicBezTo>
                    <a:pt x="119" y="75"/>
                    <a:pt x="117" y="81"/>
                    <a:pt x="115" y="87"/>
                  </a:cubicBezTo>
                  <a:cubicBezTo>
                    <a:pt x="97" y="87"/>
                    <a:pt x="97" y="87"/>
                    <a:pt x="97" y="87"/>
                  </a:cubicBezTo>
                  <a:cubicBezTo>
                    <a:pt x="98" y="81"/>
                    <a:pt x="99" y="75"/>
                    <a:pt x="99" y="68"/>
                  </a:cubicBezTo>
                  <a:close/>
                  <a:moveTo>
                    <a:pt x="99" y="60"/>
                  </a:moveTo>
                  <a:cubicBezTo>
                    <a:pt x="99" y="53"/>
                    <a:pt x="98" y="46"/>
                    <a:pt x="97" y="40"/>
                  </a:cubicBezTo>
                  <a:cubicBezTo>
                    <a:pt x="114" y="40"/>
                    <a:pt x="114" y="40"/>
                    <a:pt x="114" y="40"/>
                  </a:cubicBezTo>
                  <a:cubicBezTo>
                    <a:pt x="117" y="46"/>
                    <a:pt x="119" y="53"/>
                    <a:pt x="120" y="60"/>
                  </a:cubicBezTo>
                  <a:lnTo>
                    <a:pt x="99" y="60"/>
                  </a:lnTo>
                  <a:close/>
                  <a:moveTo>
                    <a:pt x="110" y="32"/>
                  </a:moveTo>
                  <a:cubicBezTo>
                    <a:pt x="95" y="32"/>
                    <a:pt x="95" y="32"/>
                    <a:pt x="95" y="32"/>
                  </a:cubicBezTo>
                  <a:cubicBezTo>
                    <a:pt x="92" y="24"/>
                    <a:pt x="89" y="17"/>
                    <a:pt x="85" y="12"/>
                  </a:cubicBezTo>
                  <a:cubicBezTo>
                    <a:pt x="95" y="16"/>
                    <a:pt x="103" y="23"/>
                    <a:pt x="110" y="32"/>
                  </a:cubicBezTo>
                  <a:close/>
                  <a:moveTo>
                    <a:pt x="43" y="12"/>
                  </a:moveTo>
                  <a:cubicBezTo>
                    <a:pt x="39" y="17"/>
                    <a:pt x="35" y="24"/>
                    <a:pt x="33" y="32"/>
                  </a:cubicBezTo>
                  <a:cubicBezTo>
                    <a:pt x="18" y="32"/>
                    <a:pt x="18" y="32"/>
                    <a:pt x="18" y="32"/>
                  </a:cubicBezTo>
                  <a:cubicBezTo>
                    <a:pt x="24" y="23"/>
                    <a:pt x="33" y="16"/>
                    <a:pt x="43" y="12"/>
                  </a:cubicBezTo>
                  <a:close/>
                  <a:moveTo>
                    <a:pt x="17" y="95"/>
                  </a:moveTo>
                  <a:cubicBezTo>
                    <a:pt x="32" y="95"/>
                    <a:pt x="32" y="95"/>
                    <a:pt x="32" y="95"/>
                  </a:cubicBezTo>
                  <a:cubicBezTo>
                    <a:pt x="35" y="103"/>
                    <a:pt x="39" y="110"/>
                    <a:pt x="43" y="116"/>
                  </a:cubicBezTo>
                  <a:cubicBezTo>
                    <a:pt x="32" y="112"/>
                    <a:pt x="23" y="104"/>
                    <a:pt x="17" y="95"/>
                  </a:cubicBezTo>
                  <a:close/>
                  <a:moveTo>
                    <a:pt x="85" y="116"/>
                  </a:moveTo>
                  <a:cubicBezTo>
                    <a:pt x="89" y="110"/>
                    <a:pt x="93" y="103"/>
                    <a:pt x="95" y="95"/>
                  </a:cubicBezTo>
                  <a:cubicBezTo>
                    <a:pt x="110" y="95"/>
                    <a:pt x="110" y="95"/>
                    <a:pt x="110" y="95"/>
                  </a:cubicBezTo>
                  <a:cubicBezTo>
                    <a:pt x="104" y="104"/>
                    <a:pt x="95" y="112"/>
                    <a:pt x="85" y="116"/>
                  </a:cubicBezTo>
                  <a:close/>
                </a:path>
              </a:pathLst>
            </a:custGeom>
            <a:solidFill>
              <a:schemeClr val="bg2"/>
            </a:solidFill>
            <a:ln>
              <a:noFill/>
            </a:ln>
            <a:effectLs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1"/>
            <p:cNvSpPr>
              <a:spLocks noEditPoints="1"/>
            </p:cNvSpPr>
            <p:nvPr userDrawn="1"/>
          </p:nvSpPr>
          <p:spPr bwMode="auto">
            <a:xfrm>
              <a:off x="469994" y="3837588"/>
              <a:ext cx="1006832" cy="871150"/>
            </a:xfrm>
            <a:custGeom>
              <a:avLst/>
              <a:gdLst>
                <a:gd name="T0" fmla="*/ 777751 w 1039126"/>
                <a:gd name="T1" fmla="*/ 0 h 898876"/>
                <a:gd name="T2" fmla="*/ 261375 w 1039126"/>
                <a:gd name="T3" fmla="*/ 0 h 898876"/>
                <a:gd name="T4" fmla="*/ 0 w 1039126"/>
                <a:gd name="T5" fmla="*/ 449438 h 898876"/>
                <a:gd name="T6" fmla="*/ 261375 w 1039126"/>
                <a:gd name="T7" fmla="*/ 898876 h 898876"/>
                <a:gd name="T8" fmla="*/ 777751 w 1039126"/>
                <a:gd name="T9" fmla="*/ 898876 h 898876"/>
                <a:gd name="T10" fmla="*/ 1039126 w 1039126"/>
                <a:gd name="T11" fmla="*/ 449438 h 898876"/>
                <a:gd name="T12" fmla="*/ 777751 w 1039126"/>
                <a:gd name="T13" fmla="*/ 0 h 898876"/>
                <a:gd name="T14" fmla="*/ 688501 w 1039126"/>
                <a:gd name="T15" fmla="*/ 742688 h 898876"/>
                <a:gd name="T16" fmla="*/ 350625 w 1039126"/>
                <a:gd name="T17" fmla="*/ 742688 h 898876"/>
                <a:gd name="T18" fmla="*/ 181687 w 1039126"/>
                <a:gd name="T19" fmla="*/ 449438 h 898876"/>
                <a:gd name="T20" fmla="*/ 350625 w 1039126"/>
                <a:gd name="T21" fmla="*/ 156188 h 898876"/>
                <a:gd name="T22" fmla="*/ 688501 w 1039126"/>
                <a:gd name="T23" fmla="*/ 156188 h 898876"/>
                <a:gd name="T24" fmla="*/ 857439 w 1039126"/>
                <a:gd name="T25" fmla="*/ 449438 h 898876"/>
                <a:gd name="T26" fmla="*/ 688501 w 1039126"/>
                <a:gd name="T27" fmla="*/ 742688 h 898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9126" h="898876">
                  <a:moveTo>
                    <a:pt x="777751" y="0"/>
                  </a:moveTo>
                  <a:lnTo>
                    <a:pt x="261375" y="0"/>
                  </a:lnTo>
                  <a:lnTo>
                    <a:pt x="0" y="449438"/>
                  </a:lnTo>
                  <a:lnTo>
                    <a:pt x="261375" y="898876"/>
                  </a:lnTo>
                  <a:lnTo>
                    <a:pt x="777751" y="898876"/>
                  </a:lnTo>
                  <a:lnTo>
                    <a:pt x="1039126" y="449438"/>
                  </a:lnTo>
                  <a:lnTo>
                    <a:pt x="777751" y="0"/>
                  </a:lnTo>
                  <a:close/>
                  <a:moveTo>
                    <a:pt x="688501" y="742688"/>
                  </a:moveTo>
                  <a:lnTo>
                    <a:pt x="350625" y="742688"/>
                  </a:lnTo>
                  <a:lnTo>
                    <a:pt x="181687" y="449438"/>
                  </a:lnTo>
                  <a:lnTo>
                    <a:pt x="350625" y="156188"/>
                  </a:lnTo>
                  <a:lnTo>
                    <a:pt x="688501" y="156188"/>
                  </a:lnTo>
                  <a:lnTo>
                    <a:pt x="857439" y="449438"/>
                  </a:lnTo>
                  <a:lnTo>
                    <a:pt x="688501" y="742688"/>
                  </a:lnTo>
                  <a:close/>
                </a:path>
              </a:pathLst>
            </a:custGeom>
            <a:gradFill rotWithShape="1">
              <a:gsLst>
                <a:gs pos="0">
                  <a:schemeClr val="accent1"/>
                </a:gs>
                <a:gs pos="100000">
                  <a:schemeClr val="accent2"/>
                </a:gs>
              </a:gsLst>
              <a:lin ang="0" scaled="1"/>
            </a:gradFill>
            <a:ln>
              <a:noFill/>
            </a:ln>
            <a:effectLst/>
            <a:extLst/>
          </p:spPr>
          <p:txBody>
            <a:bodyPr vert="horz" wrap="square" lIns="91440" tIns="45720" rIns="91440" bIns="45720" numCol="1" anchor="t" anchorCtr="0" compatLnSpc="1">
              <a:prstTxWarp prst="textNoShape">
                <a:avLst/>
              </a:prstTxWarp>
            </a:bodyPr>
            <a:lstStyle/>
            <a:p>
              <a:endParaRPr lang="en-US" dirty="0"/>
            </a:p>
          </p:txBody>
        </p:sp>
      </p:grpSp>
      <p:pic>
        <p:nvPicPr>
          <p:cNvPr id="29" name="Picture 28" descr="VM-Logo-Small.png"/>
          <p:cNvPicPr>
            <a:picLocks noChangeAspect="1"/>
          </p:cNvPicPr>
          <p:nvPr userDrawn="1"/>
        </p:nvPicPr>
        <p:blipFill>
          <a:blip r:embed="rId3" cstate="print"/>
          <a:stretch>
            <a:fillRect/>
          </a:stretch>
        </p:blipFill>
        <p:spPr>
          <a:xfrm>
            <a:off x="5943600" y="5423580"/>
            <a:ext cx="1752600" cy="1129620"/>
          </a:xfrm>
          <a:prstGeom prst="rect">
            <a:avLst/>
          </a:prstGeom>
        </p:spPr>
      </p:pic>
      <p:sp>
        <p:nvSpPr>
          <p:cNvPr id="30" name="Rectangle 29"/>
          <p:cNvSpPr/>
          <p:nvPr userDrawn="1"/>
        </p:nvSpPr>
        <p:spPr>
          <a:xfrm flipH="1">
            <a:off x="-45718" y="125"/>
            <a:ext cx="198117" cy="6858000"/>
          </a:xfrm>
          <a:prstGeom prst="rect">
            <a:avLst/>
          </a:prstGeom>
          <a:solidFill>
            <a:srgbClr val="CC475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effectLst>
                <a:innerShdw blurRad="63500" dist="50800" dir="18900000">
                  <a:prstClr val="black">
                    <a:alpha val="50000"/>
                  </a:prstClr>
                </a:innerShdw>
              </a:effectLst>
            </a:endParaRPr>
          </a:p>
        </p:txBody>
      </p:sp>
    </p:spTree>
    <p:extLst>
      <p:ext uri="{BB962C8B-B14F-4D97-AF65-F5344CB8AC3E}">
        <p14:creationId xmlns:p14="http://schemas.microsoft.com/office/powerpoint/2010/main" val="2133075194"/>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10" name="Straight Connector 9"/>
          <p:cNvCxnSpPr/>
          <p:nvPr userDrawn="1"/>
        </p:nvCxnSpPr>
        <p:spPr>
          <a:xfrm>
            <a:off x="533400" y="6553200"/>
            <a:ext cx="8153400" cy="0"/>
          </a:xfrm>
          <a:prstGeom prst="line">
            <a:avLst/>
          </a:prstGeom>
          <a:ln w="3175">
            <a:solidFill>
              <a:srgbClr val="EF8257"/>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0"/>
            <a:ext cx="9144000" cy="685800"/>
          </a:xfrm>
          <a:prstGeom prst="rect">
            <a:avLst/>
          </a:prstGeom>
          <a:solidFill>
            <a:srgbClr val="CC4757"/>
          </a:solidFill>
          <a:ln>
            <a:noFill/>
          </a:ln>
          <a:effectLst>
            <a:outerShdw blurRad="50800" dist="38100" dir="2700000" algn="tl" rotWithShape="0">
              <a:prstClr val="black">
                <a:alpha val="40000"/>
              </a:prstClr>
            </a:outerShdw>
          </a:effectLst>
        </p:spPr>
        <p:txBody>
          <a:bodyPr vert="horz" wrap="square" lIns="36576" tIns="36576" rIns="36576" bIns="36576" numCol="1" rtlCol="0" anchor="ctr" anchorCtr="0" compatLnSpc="1">
            <a:prstTxWarp prst="textNoShape">
              <a:avLst/>
            </a:prstTxWarp>
            <a:normAutofit/>
          </a:bodyPr>
          <a:lstStyle/>
          <a:p>
            <a:pPr marL="117475" indent="0" algn="l" defTabSz="914400" rtl="0" eaLnBrk="1" fontAlgn="base" latinLnBrk="0" hangingPunct="1">
              <a:lnSpc>
                <a:spcPct val="90000"/>
              </a:lnSpc>
              <a:spcBef>
                <a:spcPct val="0"/>
              </a:spcBef>
              <a:spcAft>
                <a:spcPct val="0"/>
              </a:spcAft>
              <a:buNone/>
            </a:pPr>
            <a:endParaRPr lang="en-US" sz="3000" kern="1200" baseline="0" dirty="0" smtClean="0">
              <a:solidFill>
                <a:schemeClr val="bg1"/>
              </a:solidFill>
              <a:latin typeface="Calibri" pitchFamily="34" charset="0"/>
              <a:ea typeface="+mn-ea"/>
              <a:cs typeface="+mn-cs"/>
            </a:endParaRPr>
          </a:p>
        </p:txBody>
      </p:sp>
      <p:pic>
        <p:nvPicPr>
          <p:cNvPr id="13" name="Picture 12" descr="VM-Logo-Small.jpg"/>
          <p:cNvPicPr>
            <a:picLocks noChangeAspect="1"/>
          </p:cNvPicPr>
          <p:nvPr userDrawn="1"/>
        </p:nvPicPr>
        <p:blipFill>
          <a:blip r:embed="rId2" cstate="print"/>
          <a:srcRect l="3863" t="3307" r="3698" b="5688"/>
          <a:stretch>
            <a:fillRect/>
          </a:stretch>
        </p:blipFill>
        <p:spPr>
          <a:xfrm>
            <a:off x="7913164" y="-4399"/>
            <a:ext cx="1078435" cy="690199"/>
          </a:xfrm>
          <a:prstGeom prst="rect">
            <a:avLst/>
          </a:prstGeom>
        </p:spPr>
      </p:pic>
      <p:sp>
        <p:nvSpPr>
          <p:cNvPr id="18" name="Text Box 46"/>
          <p:cNvSpPr txBox="1">
            <a:spLocks noChangeArrowheads="1"/>
          </p:cNvSpPr>
          <p:nvPr userDrawn="1"/>
        </p:nvSpPr>
        <p:spPr bwMode="auto">
          <a:xfrm>
            <a:off x="0" y="6584636"/>
            <a:ext cx="9144000" cy="230832"/>
          </a:xfrm>
          <a:prstGeom prst="rect">
            <a:avLst/>
          </a:prstGeom>
          <a:noFill/>
          <a:ln>
            <a:noFill/>
          </a:ln>
          <a:extLst/>
        </p:spPr>
        <p:txBody>
          <a:bodyPr wrap="squar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defRPr/>
            </a:pPr>
            <a:r>
              <a:rPr lang="en-US" altLang="en-US" sz="900" baseline="0" dirty="0" smtClean="0">
                <a:solidFill>
                  <a:srgbClr val="5F5F5F"/>
                </a:solidFill>
                <a:latin typeface="Calibri" pitchFamily="34" charset="0"/>
              </a:rPr>
              <a:t>All information contained herein is Proprietary &amp; Confidential material of ValueMomentum Inc. All rights are reserved.</a:t>
            </a:r>
          </a:p>
        </p:txBody>
      </p:sp>
      <p:sp>
        <p:nvSpPr>
          <p:cNvPr id="19" name="TextBox 18"/>
          <p:cNvSpPr txBox="1"/>
          <p:nvPr userDrawn="1"/>
        </p:nvSpPr>
        <p:spPr>
          <a:xfrm>
            <a:off x="8686800" y="6605201"/>
            <a:ext cx="457200" cy="276999"/>
          </a:xfrm>
          <a:prstGeom prst="rect">
            <a:avLst/>
          </a:prstGeom>
          <a:noFill/>
        </p:spPr>
        <p:txBody>
          <a:bodyPr wrap="square" rtlCol="0" anchor="ctr">
            <a:spAutoFit/>
          </a:bodyPr>
          <a:lstStyle/>
          <a:p>
            <a:pPr algn="ctr"/>
            <a:fld id="{698D5287-B0D0-4F8C-9C32-03A2B269C072}" type="slidenum">
              <a:rPr lang="en-US" sz="1200" baseline="0" smtClean="0">
                <a:latin typeface="Calibri" pitchFamily="34" charset="0"/>
              </a:rPr>
              <a:pPr algn="ctr"/>
              <a:t>‹#›</a:t>
            </a:fld>
            <a:endParaRPr lang="en-US" sz="1200" baseline="0" dirty="0">
              <a:latin typeface="Calibri" pitchFamily="34" charset="0"/>
            </a:endParaRPr>
          </a:p>
        </p:txBody>
      </p:sp>
    </p:spTree>
    <p:extLst>
      <p:ext uri="{BB962C8B-B14F-4D97-AF65-F5344CB8AC3E}">
        <p14:creationId xmlns:p14="http://schemas.microsoft.com/office/powerpoint/2010/main" val="4016437347"/>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5" name="Rectangle 62"/>
          <p:cNvSpPr>
            <a:spLocks noChangeArrowheads="1"/>
          </p:cNvSpPr>
          <p:nvPr userDrawn="1"/>
        </p:nvSpPr>
        <p:spPr bwMode="auto">
          <a:xfrm>
            <a:off x="0" y="0"/>
            <a:ext cx="73914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dirty="0">
              <a:solidFill>
                <a:prstClr val="black"/>
              </a:solidFill>
              <a:latin typeface="Calibri"/>
            </a:endParaRPr>
          </a:p>
        </p:txBody>
      </p:sp>
      <p:sp>
        <p:nvSpPr>
          <p:cNvPr id="16" name="Rectangle 63"/>
          <p:cNvSpPr>
            <a:spLocks noChangeArrowheads="1"/>
          </p:cNvSpPr>
          <p:nvPr userDrawn="1"/>
        </p:nvSpPr>
        <p:spPr bwMode="auto">
          <a:xfrm>
            <a:off x="6400800" y="0"/>
            <a:ext cx="990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solidFill>
                <a:prstClr val="black"/>
              </a:solidFill>
              <a:latin typeface="Calibri"/>
            </a:endParaRPr>
          </a:p>
        </p:txBody>
      </p:sp>
      <p:sp>
        <p:nvSpPr>
          <p:cNvPr id="17" name="Rectangle 64"/>
          <p:cNvSpPr>
            <a:spLocks noChangeArrowheads="1"/>
          </p:cNvSpPr>
          <p:nvPr userDrawn="1"/>
        </p:nvSpPr>
        <p:spPr bwMode="auto">
          <a:xfrm>
            <a:off x="8763000" y="0"/>
            <a:ext cx="381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dirty="0">
              <a:solidFill>
                <a:prstClr val="black"/>
              </a:solidFill>
              <a:latin typeface="Calibri"/>
            </a:endParaRPr>
          </a:p>
        </p:txBody>
      </p:sp>
      <p:sp>
        <p:nvSpPr>
          <p:cNvPr id="18" name="Rectangle 65"/>
          <p:cNvSpPr>
            <a:spLocks noChangeArrowheads="1"/>
          </p:cNvSpPr>
          <p:nvPr userDrawn="1"/>
        </p:nvSpPr>
        <p:spPr bwMode="auto">
          <a:xfrm>
            <a:off x="6781800" y="0"/>
            <a:ext cx="3048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dirty="0">
              <a:solidFill>
                <a:prstClr val="black"/>
              </a:solidFill>
              <a:latin typeface="Calibri"/>
            </a:endParaRPr>
          </a:p>
        </p:txBody>
      </p:sp>
      <p:sp>
        <p:nvSpPr>
          <p:cNvPr id="19" name="Text Box 46"/>
          <p:cNvSpPr txBox="1">
            <a:spLocks noChangeArrowheads="1"/>
          </p:cNvSpPr>
          <p:nvPr userDrawn="1"/>
        </p:nvSpPr>
        <p:spPr bwMode="auto">
          <a:xfrm>
            <a:off x="1790700" y="6627813"/>
            <a:ext cx="5562600" cy="230187"/>
          </a:xfrm>
          <a:prstGeom prst="rect">
            <a:avLst/>
          </a:prstGeom>
          <a:noFill/>
          <a:ln w="9525">
            <a:noFill/>
            <a:miter lim="800000"/>
            <a:headEnd/>
            <a:tailEnd/>
          </a:ln>
        </p:spPr>
        <p:txBody>
          <a:bodyPr>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20" name="Rectangle 63"/>
          <p:cNvSpPr>
            <a:spLocks noChangeArrowheads="1"/>
          </p:cNvSpPr>
          <p:nvPr userDrawn="1"/>
        </p:nvSpPr>
        <p:spPr bwMode="auto">
          <a:xfrm>
            <a:off x="8763000" y="0"/>
            <a:ext cx="762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dirty="0">
              <a:solidFill>
                <a:prstClr val="black"/>
              </a:solidFill>
              <a:latin typeface="Calibri"/>
            </a:endParaRPr>
          </a:p>
        </p:txBody>
      </p:sp>
      <p:sp>
        <p:nvSpPr>
          <p:cNvPr id="21"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dirty="0">
              <a:solidFill>
                <a:prstClr val="black"/>
              </a:solidFill>
              <a:latin typeface="Calibri"/>
            </a:endParaRPr>
          </a:p>
        </p:txBody>
      </p:sp>
      <p:pic>
        <p:nvPicPr>
          <p:cNvPr id="22" name="Picture 21" descr="VM-Logo-Small.png"/>
          <p:cNvPicPr>
            <a:picLocks noChangeAspect="1"/>
          </p:cNvPicPr>
          <p:nvPr userDrawn="1"/>
        </p:nvPicPr>
        <p:blipFill>
          <a:blip r:embed="rId2" cstate="print"/>
          <a:srcRect/>
          <a:stretch>
            <a:fillRect/>
          </a:stretch>
        </p:blipFill>
        <p:spPr bwMode="auto">
          <a:xfrm>
            <a:off x="7494588" y="0"/>
            <a:ext cx="1143000" cy="736600"/>
          </a:xfrm>
          <a:prstGeom prst="rect">
            <a:avLst/>
          </a:prstGeom>
          <a:noFill/>
          <a:ln w="9525">
            <a:noFill/>
            <a:miter lim="800000"/>
            <a:headEnd/>
            <a:tailEnd/>
          </a:ln>
        </p:spPr>
      </p:pic>
    </p:spTree>
    <p:extLst>
      <p:ext uri="{BB962C8B-B14F-4D97-AF65-F5344CB8AC3E}">
        <p14:creationId xmlns:p14="http://schemas.microsoft.com/office/powerpoint/2010/main" val="4026133691"/>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7" name="Rectangle 14"/>
          <p:cNvSpPr>
            <a:spLocks noChangeArrowheads="1"/>
          </p:cNvSpPr>
          <p:nvPr userDrawn="1"/>
        </p:nvSpPr>
        <p:spPr bwMode="auto">
          <a:xfrm>
            <a:off x="1327299" y="719468"/>
            <a:ext cx="4648200" cy="923330"/>
          </a:xfrm>
          <a:prstGeom prst="rect">
            <a:avLst/>
          </a:prstGeom>
          <a:noFill/>
          <a:ln w="9525">
            <a:noFill/>
            <a:miter lim="800000"/>
            <a:headEnd/>
            <a:tailEnd/>
          </a:ln>
        </p:spPr>
        <p:txBody>
          <a:bodyPr wrap="square" anchor="ctr">
            <a:spAutoFit/>
          </a:bodyPr>
          <a:lstStyle/>
          <a:p>
            <a:pPr algn="ctr" defTabSz="914400" rtl="0" eaLnBrk="1" latinLnBrk="0" hangingPunct="1">
              <a:lnSpc>
                <a:spcPct val="90000"/>
              </a:lnSpc>
              <a:spcBef>
                <a:spcPct val="0"/>
              </a:spcBef>
              <a:buSzPct val="120000"/>
              <a:buNone/>
            </a:pPr>
            <a:r>
              <a:rPr lang="en-US" sz="6000" b="0" kern="1200" baseline="0" dirty="0" smtClean="0">
                <a:solidFill>
                  <a:srgbClr val="7030A0"/>
                </a:solidFill>
                <a:latin typeface="Segoe UI Light" panose="020B0502040204020203" pitchFamily="34" charset="0"/>
                <a:ea typeface="+mj-ea"/>
                <a:cs typeface="Segoe UI Light" panose="020B0502040204020203" pitchFamily="34" charset="0"/>
              </a:rPr>
              <a:t>Thank You!</a:t>
            </a:r>
            <a:endParaRPr lang="en-US" sz="6000" b="0" kern="1200" baseline="0" dirty="0">
              <a:solidFill>
                <a:srgbClr val="7030A0"/>
              </a:solidFill>
              <a:latin typeface="Segoe UI Light" panose="020B0502040204020203" pitchFamily="34" charset="0"/>
              <a:ea typeface="+mj-ea"/>
              <a:cs typeface="Segoe UI Light" panose="020B0502040204020203" pitchFamily="34" charset="0"/>
            </a:endParaRPr>
          </a:p>
        </p:txBody>
      </p:sp>
      <p:pic>
        <p:nvPicPr>
          <p:cNvPr id="28" name="Picture 3" descr="TC9980101-IMG02"/>
          <p:cNvPicPr>
            <a:picLocks noChangeAspect="1" noChangeArrowheads="1"/>
          </p:cNvPicPr>
          <p:nvPr userDrawn="1"/>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27700" y="4876800"/>
            <a:ext cx="1682894" cy="1458004"/>
          </a:xfrm>
          <a:prstGeom prst="rect">
            <a:avLst/>
          </a:prstGeom>
          <a:noFill/>
          <a:ln>
            <a:noFill/>
          </a:ln>
          <a:effectLst/>
          <a:extLst>
            <a:ext uri="{909E8E84-426E-40DD-AFC4-6F175D3DCCD1}">
              <a14:hiddenFill xmlns:a14="http://schemas.microsoft.com/office/drawing/2010/main">
                <a:solidFill>
                  <a:srgbClr val="FFFFFE"/>
                </a:solidFill>
              </a14:hiddenFill>
            </a:ext>
            <a:ext uri="{91240B29-F687-4F45-9708-019B960494DF}">
              <a14:hiddenLine xmlns:a14="http://schemas.microsoft.com/office/drawing/2010/main" w="9525" algn="in">
                <a:solidFill>
                  <a:srgbClr val="212120"/>
                </a:solidFill>
                <a:miter lim="800000"/>
                <a:headEnd/>
                <a:tailEnd/>
              </a14:hiddenLine>
            </a:ext>
            <a:ext uri="{AF507438-7753-43E0-B8FC-AC1667EBCBE1}">
              <a14:hiddenEffects xmlns:a14="http://schemas.microsoft.com/office/drawing/2010/main">
                <a:effectLst>
                  <a:outerShdw dist="35921" dir="2700000" algn="ctr" rotWithShape="0">
                    <a:srgbClr val="DCD6D4"/>
                  </a:outerShdw>
                </a:effectLst>
              </a14:hiddenEffects>
            </a:ext>
          </a:extLst>
        </p:spPr>
      </p:pic>
      <p:grpSp>
        <p:nvGrpSpPr>
          <p:cNvPr id="29" name="Group 34"/>
          <p:cNvGrpSpPr/>
          <p:nvPr userDrawn="1"/>
        </p:nvGrpSpPr>
        <p:grpSpPr>
          <a:xfrm>
            <a:off x="6477000" y="304800"/>
            <a:ext cx="2415949" cy="1447800"/>
            <a:chOff x="5715000" y="173562"/>
            <a:chExt cx="3298187" cy="1863554"/>
          </a:xfrm>
        </p:grpSpPr>
        <p:sp>
          <p:nvSpPr>
            <p:cNvPr id="30" name="Freeform 34"/>
            <p:cNvSpPr>
              <a:spLocks/>
            </p:cNvSpPr>
            <p:nvPr/>
          </p:nvSpPr>
          <p:spPr bwMode="auto">
            <a:xfrm>
              <a:off x="6644150" y="807920"/>
              <a:ext cx="1245414" cy="1080177"/>
            </a:xfrm>
            <a:custGeom>
              <a:avLst/>
              <a:gdLst>
                <a:gd name="T0" fmla="*/ 503665 w 2021037"/>
                <a:gd name="T1" fmla="*/ 1753267 h 1753267"/>
                <a:gd name="T2" fmla="*/ 0 w 2021037"/>
                <a:gd name="T3" fmla="*/ 876633 h 1753267"/>
                <a:gd name="T4" fmla="*/ 503665 w 2021037"/>
                <a:gd name="T5" fmla="*/ 0 h 1753267"/>
                <a:gd name="T6" fmla="*/ 1517372 w 2021037"/>
                <a:gd name="T7" fmla="*/ 0 h 1753267"/>
                <a:gd name="T8" fmla="*/ 2021037 w 2021037"/>
                <a:gd name="T9" fmla="*/ 876633 h 1753267"/>
                <a:gd name="T10" fmla="*/ 1517372 w 2021037"/>
                <a:gd name="T11" fmla="*/ 1753267 h 1753267"/>
                <a:gd name="T12" fmla="*/ 503665 w 2021037"/>
                <a:gd name="T13" fmla="*/ 1753267 h 1753267"/>
              </a:gdLst>
              <a:ahLst/>
              <a:cxnLst>
                <a:cxn ang="0">
                  <a:pos x="T0" y="T1"/>
                </a:cxn>
                <a:cxn ang="0">
                  <a:pos x="T2" y="T3"/>
                </a:cxn>
                <a:cxn ang="0">
                  <a:pos x="T4" y="T5"/>
                </a:cxn>
                <a:cxn ang="0">
                  <a:pos x="T6" y="T7"/>
                </a:cxn>
                <a:cxn ang="0">
                  <a:pos x="T8" y="T9"/>
                </a:cxn>
                <a:cxn ang="0">
                  <a:pos x="T10" y="T11"/>
                </a:cxn>
                <a:cxn ang="0">
                  <a:pos x="T12" y="T13"/>
                </a:cxn>
              </a:cxnLst>
              <a:rect l="0" t="0" r="r" b="b"/>
              <a:pathLst>
                <a:path w="2021037" h="1753267">
                  <a:moveTo>
                    <a:pt x="503665" y="1753267"/>
                  </a:moveTo>
                  <a:lnTo>
                    <a:pt x="0" y="876633"/>
                  </a:lnTo>
                  <a:lnTo>
                    <a:pt x="503665" y="0"/>
                  </a:lnTo>
                  <a:lnTo>
                    <a:pt x="1517372" y="0"/>
                  </a:lnTo>
                  <a:lnTo>
                    <a:pt x="2021037" y="876633"/>
                  </a:lnTo>
                  <a:lnTo>
                    <a:pt x="1517372" y="1753267"/>
                  </a:lnTo>
                  <a:lnTo>
                    <a:pt x="503665" y="1753267"/>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31" name="Freeform 35"/>
            <p:cNvSpPr>
              <a:spLocks noEditPoints="1"/>
            </p:cNvSpPr>
            <p:nvPr/>
          </p:nvSpPr>
          <p:spPr bwMode="auto">
            <a:xfrm>
              <a:off x="7416149" y="201057"/>
              <a:ext cx="310372" cy="269062"/>
            </a:xfrm>
            <a:custGeom>
              <a:avLst/>
              <a:gdLst>
                <a:gd name="T0" fmla="*/ 379343 w 503666"/>
                <a:gd name="T1" fmla="*/ 0 h 436723"/>
                <a:gd name="T2" fmla="*/ 127510 w 503666"/>
                <a:gd name="T3" fmla="*/ 0 h 436723"/>
                <a:gd name="T4" fmla="*/ 0 w 503666"/>
                <a:gd name="T5" fmla="*/ 216768 h 436723"/>
                <a:gd name="T6" fmla="*/ 127510 w 503666"/>
                <a:gd name="T7" fmla="*/ 436723 h 436723"/>
                <a:gd name="T8" fmla="*/ 379343 w 503666"/>
                <a:gd name="T9" fmla="*/ 436723 h 436723"/>
                <a:gd name="T10" fmla="*/ 503666 w 503666"/>
                <a:gd name="T11" fmla="*/ 216768 h 436723"/>
                <a:gd name="T12" fmla="*/ 379343 w 503666"/>
                <a:gd name="T13" fmla="*/ 0 h 436723"/>
                <a:gd name="T14" fmla="*/ 334714 w 503666"/>
                <a:gd name="T15" fmla="*/ 360217 h 436723"/>
                <a:gd name="T16" fmla="*/ 168951 w 503666"/>
                <a:gd name="T17" fmla="*/ 360217 h 436723"/>
                <a:gd name="T18" fmla="*/ 86069 w 503666"/>
                <a:gd name="T19" fmla="*/ 216768 h 436723"/>
                <a:gd name="T20" fmla="*/ 168951 w 503666"/>
                <a:gd name="T21" fmla="*/ 76507 h 436723"/>
                <a:gd name="T22" fmla="*/ 334714 w 503666"/>
                <a:gd name="T23" fmla="*/ 76507 h 436723"/>
                <a:gd name="T24" fmla="*/ 417596 w 503666"/>
                <a:gd name="T25" fmla="*/ 216768 h 436723"/>
                <a:gd name="T26" fmla="*/ 334714 w 503666"/>
                <a:gd name="T27" fmla="*/ 360217 h 436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3666" h="436723">
                  <a:moveTo>
                    <a:pt x="379343" y="0"/>
                  </a:moveTo>
                  <a:lnTo>
                    <a:pt x="127510" y="0"/>
                  </a:lnTo>
                  <a:lnTo>
                    <a:pt x="0" y="216768"/>
                  </a:lnTo>
                  <a:lnTo>
                    <a:pt x="127510" y="436723"/>
                  </a:lnTo>
                  <a:lnTo>
                    <a:pt x="379343" y="436723"/>
                  </a:lnTo>
                  <a:lnTo>
                    <a:pt x="503666" y="216768"/>
                  </a:lnTo>
                  <a:lnTo>
                    <a:pt x="379343" y="0"/>
                  </a:lnTo>
                  <a:close/>
                  <a:moveTo>
                    <a:pt x="334714" y="360217"/>
                  </a:moveTo>
                  <a:lnTo>
                    <a:pt x="168951" y="360217"/>
                  </a:lnTo>
                  <a:lnTo>
                    <a:pt x="86069" y="216768"/>
                  </a:lnTo>
                  <a:lnTo>
                    <a:pt x="168951" y="76507"/>
                  </a:lnTo>
                  <a:lnTo>
                    <a:pt x="334714" y="76507"/>
                  </a:lnTo>
                  <a:lnTo>
                    <a:pt x="417596" y="216768"/>
                  </a:lnTo>
                  <a:lnTo>
                    <a:pt x="334714" y="360217"/>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32" name="Freeform 36"/>
            <p:cNvSpPr>
              <a:spLocks noEditPoints="1"/>
            </p:cNvSpPr>
            <p:nvPr/>
          </p:nvSpPr>
          <p:spPr bwMode="auto">
            <a:xfrm>
              <a:off x="7623361" y="1760198"/>
              <a:ext cx="320193" cy="276918"/>
            </a:xfrm>
            <a:custGeom>
              <a:avLst/>
              <a:gdLst>
                <a:gd name="T0" fmla="*/ 392094 w 519604"/>
                <a:gd name="T1" fmla="*/ 0 h 449473"/>
                <a:gd name="T2" fmla="*/ 130698 w 519604"/>
                <a:gd name="T3" fmla="*/ 0 h 449473"/>
                <a:gd name="T4" fmla="*/ 0 w 519604"/>
                <a:gd name="T5" fmla="*/ 226330 h 449473"/>
                <a:gd name="T6" fmla="*/ 130698 w 519604"/>
                <a:gd name="T7" fmla="*/ 449473 h 449473"/>
                <a:gd name="T8" fmla="*/ 392094 w 519604"/>
                <a:gd name="T9" fmla="*/ 449473 h 449473"/>
                <a:gd name="T10" fmla="*/ 519604 w 519604"/>
                <a:gd name="T11" fmla="*/ 226330 h 449473"/>
                <a:gd name="T12" fmla="*/ 392094 w 519604"/>
                <a:gd name="T13" fmla="*/ 0 h 449473"/>
                <a:gd name="T14" fmla="*/ 347465 w 519604"/>
                <a:gd name="T15" fmla="*/ 372967 h 449473"/>
                <a:gd name="T16" fmla="*/ 175326 w 519604"/>
                <a:gd name="T17" fmla="*/ 372967 h 449473"/>
                <a:gd name="T18" fmla="*/ 92444 w 519604"/>
                <a:gd name="T19" fmla="*/ 226330 h 449473"/>
                <a:gd name="T20" fmla="*/ 175326 w 519604"/>
                <a:gd name="T21" fmla="*/ 79694 h 449473"/>
                <a:gd name="T22" fmla="*/ 347465 w 519604"/>
                <a:gd name="T23" fmla="*/ 79694 h 449473"/>
                <a:gd name="T24" fmla="*/ 430347 w 519604"/>
                <a:gd name="T25" fmla="*/ 226330 h 449473"/>
                <a:gd name="T26" fmla="*/ 347465 w 519604"/>
                <a:gd name="T27" fmla="*/ 372967 h 449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9604" h="449473">
                  <a:moveTo>
                    <a:pt x="392094" y="0"/>
                  </a:moveTo>
                  <a:lnTo>
                    <a:pt x="130698" y="0"/>
                  </a:lnTo>
                  <a:lnTo>
                    <a:pt x="0" y="226330"/>
                  </a:lnTo>
                  <a:lnTo>
                    <a:pt x="130698" y="449473"/>
                  </a:lnTo>
                  <a:lnTo>
                    <a:pt x="392094" y="449473"/>
                  </a:lnTo>
                  <a:lnTo>
                    <a:pt x="519604" y="226330"/>
                  </a:lnTo>
                  <a:lnTo>
                    <a:pt x="392094" y="0"/>
                  </a:lnTo>
                  <a:close/>
                  <a:moveTo>
                    <a:pt x="347465" y="372967"/>
                  </a:moveTo>
                  <a:lnTo>
                    <a:pt x="175326" y="372967"/>
                  </a:lnTo>
                  <a:lnTo>
                    <a:pt x="92444" y="226330"/>
                  </a:lnTo>
                  <a:lnTo>
                    <a:pt x="175326" y="79694"/>
                  </a:lnTo>
                  <a:lnTo>
                    <a:pt x="347465" y="79694"/>
                  </a:lnTo>
                  <a:lnTo>
                    <a:pt x="430347" y="226330"/>
                  </a:lnTo>
                  <a:lnTo>
                    <a:pt x="347465" y="372967"/>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35" name="Freeform 34"/>
            <p:cNvSpPr>
              <a:spLocks noEditPoints="1"/>
            </p:cNvSpPr>
            <p:nvPr/>
          </p:nvSpPr>
          <p:spPr bwMode="auto">
            <a:xfrm>
              <a:off x="7919030" y="654731"/>
              <a:ext cx="253404" cy="133549"/>
            </a:xfrm>
            <a:custGeom>
              <a:avLst/>
              <a:gdLst>
                <a:gd name="T0" fmla="*/ 71 w 129"/>
                <a:gd name="T1" fmla="*/ 68 h 68"/>
                <a:gd name="T2" fmla="*/ 129 w 129"/>
                <a:gd name="T3" fmla="*/ 34 h 68"/>
                <a:gd name="T4" fmla="*/ 71 w 129"/>
                <a:gd name="T5" fmla="*/ 0 h 68"/>
                <a:gd name="T6" fmla="*/ 71 w 129"/>
                <a:gd name="T7" fmla="*/ 20 h 68"/>
                <a:gd name="T8" fmla="*/ 0 w 129"/>
                <a:gd name="T9" fmla="*/ 20 h 68"/>
                <a:gd name="T10" fmla="*/ 0 w 129"/>
                <a:gd name="T11" fmla="*/ 48 h 68"/>
                <a:gd name="T12" fmla="*/ 71 w 129"/>
                <a:gd name="T13" fmla="*/ 48 h 68"/>
                <a:gd name="T14" fmla="*/ 71 w 129"/>
                <a:gd name="T15" fmla="*/ 68 h 68"/>
                <a:gd name="T16" fmla="*/ 8 w 129"/>
                <a:gd name="T17" fmla="*/ 40 h 68"/>
                <a:gd name="T18" fmla="*/ 8 w 129"/>
                <a:gd name="T19" fmla="*/ 28 h 68"/>
                <a:gd name="T20" fmla="*/ 79 w 129"/>
                <a:gd name="T21" fmla="*/ 28 h 68"/>
                <a:gd name="T22" fmla="*/ 79 w 129"/>
                <a:gd name="T23" fmla="*/ 15 h 68"/>
                <a:gd name="T24" fmla="*/ 112 w 129"/>
                <a:gd name="T25" fmla="*/ 34 h 68"/>
                <a:gd name="T26" fmla="*/ 79 w 129"/>
                <a:gd name="T27" fmla="*/ 53 h 68"/>
                <a:gd name="T28" fmla="*/ 79 w 129"/>
                <a:gd name="T29" fmla="*/ 40 h 68"/>
                <a:gd name="T30" fmla="*/ 8 w 129"/>
                <a:gd name="T31" fmla="*/ 4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68">
                  <a:moveTo>
                    <a:pt x="71" y="68"/>
                  </a:moveTo>
                  <a:cubicBezTo>
                    <a:pt x="129" y="34"/>
                    <a:pt x="129" y="34"/>
                    <a:pt x="129" y="34"/>
                  </a:cubicBezTo>
                  <a:cubicBezTo>
                    <a:pt x="71" y="0"/>
                    <a:pt x="71" y="0"/>
                    <a:pt x="71" y="0"/>
                  </a:cubicBezTo>
                  <a:cubicBezTo>
                    <a:pt x="71" y="0"/>
                    <a:pt x="71" y="15"/>
                    <a:pt x="71" y="20"/>
                  </a:cubicBezTo>
                  <a:cubicBezTo>
                    <a:pt x="63" y="20"/>
                    <a:pt x="0" y="20"/>
                    <a:pt x="0" y="20"/>
                  </a:cubicBezTo>
                  <a:cubicBezTo>
                    <a:pt x="0" y="48"/>
                    <a:pt x="0" y="48"/>
                    <a:pt x="0" y="48"/>
                  </a:cubicBezTo>
                  <a:cubicBezTo>
                    <a:pt x="0" y="48"/>
                    <a:pt x="63" y="48"/>
                    <a:pt x="71" y="48"/>
                  </a:cubicBezTo>
                  <a:cubicBezTo>
                    <a:pt x="71" y="53"/>
                    <a:pt x="71" y="68"/>
                    <a:pt x="71" y="68"/>
                  </a:cubicBezTo>
                  <a:close/>
                  <a:moveTo>
                    <a:pt x="8" y="40"/>
                  </a:moveTo>
                  <a:cubicBezTo>
                    <a:pt x="8" y="36"/>
                    <a:pt x="8" y="32"/>
                    <a:pt x="8" y="28"/>
                  </a:cubicBezTo>
                  <a:cubicBezTo>
                    <a:pt x="16" y="28"/>
                    <a:pt x="79" y="28"/>
                    <a:pt x="79" y="28"/>
                  </a:cubicBezTo>
                  <a:cubicBezTo>
                    <a:pt x="79" y="28"/>
                    <a:pt x="79" y="19"/>
                    <a:pt x="79" y="15"/>
                  </a:cubicBezTo>
                  <a:cubicBezTo>
                    <a:pt x="87" y="19"/>
                    <a:pt x="104" y="29"/>
                    <a:pt x="112" y="34"/>
                  </a:cubicBezTo>
                  <a:cubicBezTo>
                    <a:pt x="104" y="39"/>
                    <a:pt x="87" y="49"/>
                    <a:pt x="79" y="53"/>
                  </a:cubicBezTo>
                  <a:cubicBezTo>
                    <a:pt x="79" y="49"/>
                    <a:pt x="79" y="40"/>
                    <a:pt x="79" y="40"/>
                  </a:cubicBezTo>
                  <a:cubicBezTo>
                    <a:pt x="79" y="40"/>
                    <a:pt x="16" y="40"/>
                    <a:pt x="8" y="40"/>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57" name="Freeform 56"/>
            <p:cNvSpPr>
              <a:spLocks noEditPoints="1"/>
            </p:cNvSpPr>
            <p:nvPr/>
          </p:nvSpPr>
          <p:spPr bwMode="auto">
            <a:xfrm>
              <a:off x="7742236" y="733290"/>
              <a:ext cx="290728" cy="153189"/>
            </a:xfrm>
            <a:custGeom>
              <a:avLst/>
              <a:gdLst>
                <a:gd name="T0" fmla="*/ 67 w 148"/>
                <a:gd name="T1" fmla="*/ 55 h 78"/>
                <a:gd name="T2" fmla="*/ 148 w 148"/>
                <a:gd name="T3" fmla="*/ 55 h 78"/>
                <a:gd name="T4" fmla="*/ 148 w 148"/>
                <a:gd name="T5" fmla="*/ 23 h 78"/>
                <a:gd name="T6" fmla="*/ 67 w 148"/>
                <a:gd name="T7" fmla="*/ 23 h 78"/>
                <a:gd name="T8" fmla="*/ 67 w 148"/>
                <a:gd name="T9" fmla="*/ 0 h 78"/>
                <a:gd name="T10" fmla="*/ 0 w 148"/>
                <a:gd name="T11" fmla="*/ 39 h 78"/>
                <a:gd name="T12" fmla="*/ 67 w 148"/>
                <a:gd name="T13" fmla="*/ 78 h 78"/>
                <a:gd name="T14" fmla="*/ 67 w 148"/>
                <a:gd name="T15" fmla="*/ 55 h 78"/>
                <a:gd name="T16" fmla="*/ 57 w 148"/>
                <a:gd name="T17" fmla="*/ 45 h 78"/>
                <a:gd name="T18" fmla="*/ 57 w 148"/>
                <a:gd name="T19" fmla="*/ 61 h 78"/>
                <a:gd name="T20" fmla="*/ 20 w 148"/>
                <a:gd name="T21" fmla="*/ 39 h 78"/>
                <a:gd name="T22" fmla="*/ 57 w 148"/>
                <a:gd name="T23" fmla="*/ 17 h 78"/>
                <a:gd name="T24" fmla="*/ 57 w 148"/>
                <a:gd name="T25" fmla="*/ 33 h 78"/>
                <a:gd name="T26" fmla="*/ 138 w 148"/>
                <a:gd name="T27" fmla="*/ 33 h 78"/>
                <a:gd name="T28" fmla="*/ 138 w 148"/>
                <a:gd name="T29" fmla="*/ 45 h 78"/>
                <a:gd name="T30" fmla="*/ 57 w 148"/>
                <a:gd name="T31" fmla="*/ 4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8" h="78">
                  <a:moveTo>
                    <a:pt x="67" y="55"/>
                  </a:moveTo>
                  <a:cubicBezTo>
                    <a:pt x="76" y="55"/>
                    <a:pt x="148" y="55"/>
                    <a:pt x="148" y="55"/>
                  </a:cubicBezTo>
                  <a:cubicBezTo>
                    <a:pt x="148" y="23"/>
                    <a:pt x="148" y="23"/>
                    <a:pt x="148" y="23"/>
                  </a:cubicBezTo>
                  <a:cubicBezTo>
                    <a:pt x="148" y="23"/>
                    <a:pt x="76" y="23"/>
                    <a:pt x="67" y="23"/>
                  </a:cubicBezTo>
                  <a:cubicBezTo>
                    <a:pt x="67" y="17"/>
                    <a:pt x="67" y="0"/>
                    <a:pt x="67" y="0"/>
                  </a:cubicBezTo>
                  <a:cubicBezTo>
                    <a:pt x="0" y="39"/>
                    <a:pt x="0" y="39"/>
                    <a:pt x="0" y="39"/>
                  </a:cubicBezTo>
                  <a:cubicBezTo>
                    <a:pt x="67" y="78"/>
                    <a:pt x="67" y="78"/>
                    <a:pt x="67" y="78"/>
                  </a:cubicBezTo>
                  <a:cubicBezTo>
                    <a:pt x="67" y="78"/>
                    <a:pt x="67" y="61"/>
                    <a:pt x="67" y="55"/>
                  </a:cubicBezTo>
                  <a:close/>
                  <a:moveTo>
                    <a:pt x="57" y="45"/>
                  </a:moveTo>
                  <a:cubicBezTo>
                    <a:pt x="57" y="45"/>
                    <a:pt x="57" y="56"/>
                    <a:pt x="57" y="61"/>
                  </a:cubicBezTo>
                  <a:cubicBezTo>
                    <a:pt x="48" y="56"/>
                    <a:pt x="29" y="44"/>
                    <a:pt x="20" y="39"/>
                  </a:cubicBezTo>
                  <a:cubicBezTo>
                    <a:pt x="29" y="34"/>
                    <a:pt x="48" y="22"/>
                    <a:pt x="57" y="17"/>
                  </a:cubicBezTo>
                  <a:cubicBezTo>
                    <a:pt x="57" y="22"/>
                    <a:pt x="57" y="33"/>
                    <a:pt x="57" y="33"/>
                  </a:cubicBezTo>
                  <a:cubicBezTo>
                    <a:pt x="57" y="33"/>
                    <a:pt x="130" y="33"/>
                    <a:pt x="138" y="33"/>
                  </a:cubicBezTo>
                  <a:cubicBezTo>
                    <a:pt x="138" y="37"/>
                    <a:pt x="138" y="41"/>
                    <a:pt x="138" y="45"/>
                  </a:cubicBezTo>
                  <a:cubicBezTo>
                    <a:pt x="130" y="45"/>
                    <a:pt x="57" y="45"/>
                    <a:pt x="57" y="45"/>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58" name="Freeform 43"/>
            <p:cNvSpPr>
              <a:spLocks noEditPoints="1"/>
            </p:cNvSpPr>
            <p:nvPr/>
          </p:nvSpPr>
          <p:spPr bwMode="auto">
            <a:xfrm>
              <a:off x="5907509" y="285508"/>
              <a:ext cx="269120" cy="384936"/>
            </a:xfrm>
            <a:custGeom>
              <a:avLst/>
              <a:gdLst>
                <a:gd name="T0" fmla="*/ 0 w 436723"/>
                <a:gd name="T1" fmla="*/ 188078 h 624800"/>
                <a:gd name="T2" fmla="*/ 108384 w 436723"/>
                <a:gd name="T3" fmla="*/ 376155 h 624800"/>
                <a:gd name="T4" fmla="*/ 328339 w 436723"/>
                <a:gd name="T5" fmla="*/ 376155 h 624800"/>
                <a:gd name="T6" fmla="*/ 436723 w 436723"/>
                <a:gd name="T7" fmla="*/ 188078 h 624800"/>
                <a:gd name="T8" fmla="*/ 328339 w 436723"/>
                <a:gd name="T9" fmla="*/ 0 h 624800"/>
                <a:gd name="T10" fmla="*/ 108384 w 436723"/>
                <a:gd name="T11" fmla="*/ 0 h 624800"/>
                <a:gd name="T12" fmla="*/ 0 w 436723"/>
                <a:gd name="T13" fmla="*/ 188078 h 624800"/>
                <a:gd name="T14" fmla="*/ 76506 w 436723"/>
                <a:gd name="T15" fmla="*/ 188078 h 624800"/>
                <a:gd name="T16" fmla="*/ 146637 w 436723"/>
                <a:gd name="T17" fmla="*/ 63755 h 624800"/>
                <a:gd name="T18" fmla="*/ 290086 w 436723"/>
                <a:gd name="T19" fmla="*/ 63755 h 624800"/>
                <a:gd name="T20" fmla="*/ 360217 w 436723"/>
                <a:gd name="T21" fmla="*/ 188078 h 624800"/>
                <a:gd name="T22" fmla="*/ 290086 w 436723"/>
                <a:gd name="T23" fmla="*/ 312400 h 624800"/>
                <a:gd name="T24" fmla="*/ 146637 w 436723"/>
                <a:gd name="T25" fmla="*/ 312400 h 624800"/>
                <a:gd name="T26" fmla="*/ 76506 w 436723"/>
                <a:gd name="T27" fmla="*/ 188078 h 624800"/>
                <a:gd name="T28" fmla="*/ 277335 w 436723"/>
                <a:gd name="T29" fmla="*/ 567421 h 624800"/>
                <a:gd name="T30" fmla="*/ 159388 w 436723"/>
                <a:gd name="T31" fmla="*/ 567421 h 624800"/>
                <a:gd name="T32" fmla="*/ 159388 w 436723"/>
                <a:gd name="T33" fmla="*/ 624800 h 624800"/>
                <a:gd name="T34" fmla="*/ 277335 w 436723"/>
                <a:gd name="T35" fmla="*/ 624800 h 624800"/>
                <a:gd name="T36" fmla="*/ 277335 w 436723"/>
                <a:gd name="T37" fmla="*/ 567421 h 624800"/>
                <a:gd name="T38" fmla="*/ 328339 w 436723"/>
                <a:gd name="T39" fmla="*/ 404845 h 624800"/>
                <a:gd name="T40" fmla="*/ 108384 w 436723"/>
                <a:gd name="T41" fmla="*/ 404845 h 624800"/>
                <a:gd name="T42" fmla="*/ 108384 w 436723"/>
                <a:gd name="T43" fmla="*/ 462225 h 624800"/>
                <a:gd name="T44" fmla="*/ 328339 w 436723"/>
                <a:gd name="T45" fmla="*/ 462225 h 624800"/>
                <a:gd name="T46" fmla="*/ 328339 w 436723"/>
                <a:gd name="T47" fmla="*/ 404845 h 624800"/>
                <a:gd name="T48" fmla="*/ 328339 w 436723"/>
                <a:gd name="T49" fmla="*/ 487727 h 624800"/>
                <a:gd name="T50" fmla="*/ 108384 w 436723"/>
                <a:gd name="T51" fmla="*/ 487727 h 624800"/>
                <a:gd name="T52" fmla="*/ 108384 w 436723"/>
                <a:gd name="T53" fmla="*/ 545106 h 624800"/>
                <a:gd name="T54" fmla="*/ 328339 w 436723"/>
                <a:gd name="T55" fmla="*/ 545106 h 624800"/>
                <a:gd name="T56" fmla="*/ 328339 w 436723"/>
                <a:gd name="T57" fmla="*/ 487727 h 624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6723" h="624800">
                  <a:moveTo>
                    <a:pt x="0" y="188078"/>
                  </a:moveTo>
                  <a:lnTo>
                    <a:pt x="108384" y="376155"/>
                  </a:lnTo>
                  <a:lnTo>
                    <a:pt x="328339" y="376155"/>
                  </a:lnTo>
                  <a:lnTo>
                    <a:pt x="436723" y="188078"/>
                  </a:lnTo>
                  <a:lnTo>
                    <a:pt x="328339" y="0"/>
                  </a:lnTo>
                  <a:lnTo>
                    <a:pt x="108384" y="0"/>
                  </a:lnTo>
                  <a:lnTo>
                    <a:pt x="0" y="188078"/>
                  </a:lnTo>
                  <a:close/>
                  <a:moveTo>
                    <a:pt x="76506" y="188078"/>
                  </a:moveTo>
                  <a:lnTo>
                    <a:pt x="146637" y="63755"/>
                  </a:lnTo>
                  <a:lnTo>
                    <a:pt x="290086" y="63755"/>
                  </a:lnTo>
                  <a:lnTo>
                    <a:pt x="360217" y="188078"/>
                  </a:lnTo>
                  <a:lnTo>
                    <a:pt x="290086" y="312400"/>
                  </a:lnTo>
                  <a:lnTo>
                    <a:pt x="146637" y="312400"/>
                  </a:lnTo>
                  <a:lnTo>
                    <a:pt x="76506" y="188078"/>
                  </a:lnTo>
                  <a:close/>
                  <a:moveTo>
                    <a:pt x="277335" y="567421"/>
                  </a:moveTo>
                  <a:lnTo>
                    <a:pt x="159388" y="567421"/>
                  </a:lnTo>
                  <a:lnTo>
                    <a:pt x="159388" y="624800"/>
                  </a:lnTo>
                  <a:lnTo>
                    <a:pt x="277335" y="624800"/>
                  </a:lnTo>
                  <a:lnTo>
                    <a:pt x="277335" y="567421"/>
                  </a:lnTo>
                  <a:close/>
                  <a:moveTo>
                    <a:pt x="328339" y="404845"/>
                  </a:moveTo>
                  <a:lnTo>
                    <a:pt x="108384" y="404845"/>
                  </a:lnTo>
                  <a:lnTo>
                    <a:pt x="108384" y="462225"/>
                  </a:lnTo>
                  <a:lnTo>
                    <a:pt x="328339" y="462225"/>
                  </a:lnTo>
                  <a:lnTo>
                    <a:pt x="328339" y="404845"/>
                  </a:lnTo>
                  <a:close/>
                  <a:moveTo>
                    <a:pt x="328339" y="487727"/>
                  </a:moveTo>
                  <a:lnTo>
                    <a:pt x="108384" y="487727"/>
                  </a:lnTo>
                  <a:lnTo>
                    <a:pt x="108384" y="545106"/>
                  </a:lnTo>
                  <a:lnTo>
                    <a:pt x="328339" y="545106"/>
                  </a:lnTo>
                  <a:lnTo>
                    <a:pt x="328339" y="487727"/>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59" name="Freeform 44"/>
            <p:cNvSpPr>
              <a:spLocks noEditPoints="1"/>
            </p:cNvSpPr>
            <p:nvPr/>
          </p:nvSpPr>
          <p:spPr bwMode="auto">
            <a:xfrm>
              <a:off x="5911438" y="959145"/>
              <a:ext cx="267155" cy="267098"/>
            </a:xfrm>
            <a:custGeom>
              <a:avLst/>
              <a:gdLst>
                <a:gd name="T0" fmla="*/ 0 w 136"/>
                <a:gd name="T1" fmla="*/ 68 h 136"/>
                <a:gd name="T2" fmla="*/ 136 w 136"/>
                <a:gd name="T3" fmla="*/ 68 h 136"/>
                <a:gd name="T4" fmla="*/ 9 w 136"/>
                <a:gd name="T5" fmla="*/ 72 h 136"/>
                <a:gd name="T6" fmla="*/ 33 w 136"/>
                <a:gd name="T7" fmla="*/ 93 h 136"/>
                <a:gd name="T8" fmla="*/ 9 w 136"/>
                <a:gd name="T9" fmla="*/ 72 h 136"/>
                <a:gd name="T10" fmla="*/ 72 w 136"/>
                <a:gd name="T11" fmla="*/ 9 h 136"/>
                <a:gd name="T12" fmla="*/ 72 w 136"/>
                <a:gd name="T13" fmla="*/ 34 h 136"/>
                <a:gd name="T14" fmla="*/ 98 w 136"/>
                <a:gd name="T15" fmla="*/ 64 h 136"/>
                <a:gd name="T16" fmla="*/ 72 w 136"/>
                <a:gd name="T17" fmla="*/ 42 h 136"/>
                <a:gd name="T18" fmla="*/ 64 w 136"/>
                <a:gd name="T19" fmla="*/ 9 h 136"/>
                <a:gd name="T20" fmla="*/ 44 w 136"/>
                <a:gd name="T21" fmla="*/ 34 h 136"/>
                <a:gd name="T22" fmla="*/ 64 w 136"/>
                <a:gd name="T23" fmla="*/ 42 h 136"/>
                <a:gd name="T24" fmla="*/ 39 w 136"/>
                <a:gd name="T25" fmla="*/ 64 h 136"/>
                <a:gd name="T26" fmla="*/ 64 w 136"/>
                <a:gd name="T27" fmla="*/ 42 h 136"/>
                <a:gd name="T28" fmla="*/ 9 w 136"/>
                <a:gd name="T29" fmla="*/ 64 h 136"/>
                <a:gd name="T30" fmla="*/ 33 w 136"/>
                <a:gd name="T31" fmla="*/ 42 h 136"/>
                <a:gd name="T32" fmla="*/ 39 w 136"/>
                <a:gd name="T33" fmla="*/ 72 h 136"/>
                <a:gd name="T34" fmla="*/ 64 w 136"/>
                <a:gd name="T35" fmla="*/ 93 h 136"/>
                <a:gd name="T36" fmla="*/ 39 w 136"/>
                <a:gd name="T37" fmla="*/ 72 h 136"/>
                <a:gd name="T38" fmla="*/ 64 w 136"/>
                <a:gd name="T39" fmla="*/ 127 h 136"/>
                <a:gd name="T40" fmla="*/ 64 w 136"/>
                <a:gd name="T41" fmla="*/ 101 h 136"/>
                <a:gd name="T42" fmla="*/ 72 w 136"/>
                <a:gd name="T43" fmla="*/ 101 h 136"/>
                <a:gd name="T44" fmla="*/ 72 w 136"/>
                <a:gd name="T45" fmla="*/ 127 h 136"/>
                <a:gd name="T46" fmla="*/ 72 w 136"/>
                <a:gd name="T47" fmla="*/ 72 h 136"/>
                <a:gd name="T48" fmla="*/ 95 w 136"/>
                <a:gd name="T49" fmla="*/ 93 h 136"/>
                <a:gd name="T50" fmla="*/ 106 w 136"/>
                <a:gd name="T51" fmla="*/ 72 h 136"/>
                <a:gd name="T52" fmla="*/ 122 w 136"/>
                <a:gd name="T53" fmla="*/ 93 h 136"/>
                <a:gd name="T54" fmla="*/ 106 w 136"/>
                <a:gd name="T55" fmla="*/ 72 h 136"/>
                <a:gd name="T56" fmla="*/ 103 w 136"/>
                <a:gd name="T57" fmla="*/ 42 h 136"/>
                <a:gd name="T58" fmla="*/ 127 w 136"/>
                <a:gd name="T59" fmla="*/ 64 h 136"/>
                <a:gd name="T60" fmla="*/ 117 w 136"/>
                <a:gd name="T61" fmla="*/ 34 h 136"/>
                <a:gd name="T62" fmla="*/ 91 w 136"/>
                <a:gd name="T63" fmla="*/ 13 h 136"/>
                <a:gd name="T64" fmla="*/ 46 w 136"/>
                <a:gd name="T65" fmla="*/ 13 h 136"/>
                <a:gd name="T66" fmla="*/ 20 w 136"/>
                <a:gd name="T67" fmla="*/ 34 h 136"/>
                <a:gd name="T68" fmla="*/ 19 w 136"/>
                <a:gd name="T69" fmla="*/ 101 h 136"/>
                <a:gd name="T70" fmla="*/ 46 w 136"/>
                <a:gd name="T71" fmla="*/ 123 h 136"/>
                <a:gd name="T72" fmla="*/ 91 w 136"/>
                <a:gd name="T73" fmla="*/ 123 h 136"/>
                <a:gd name="T74" fmla="*/ 118 w 136"/>
                <a:gd name="T75"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6" h="136">
                  <a:moveTo>
                    <a:pt x="68" y="0"/>
                  </a:moveTo>
                  <a:cubicBezTo>
                    <a:pt x="31" y="0"/>
                    <a:pt x="0" y="31"/>
                    <a:pt x="0" y="68"/>
                  </a:cubicBezTo>
                  <a:cubicBezTo>
                    <a:pt x="0" y="106"/>
                    <a:pt x="31" y="136"/>
                    <a:pt x="68" y="136"/>
                  </a:cubicBezTo>
                  <a:cubicBezTo>
                    <a:pt x="106" y="136"/>
                    <a:pt x="136" y="106"/>
                    <a:pt x="136" y="68"/>
                  </a:cubicBezTo>
                  <a:cubicBezTo>
                    <a:pt x="136" y="31"/>
                    <a:pt x="106" y="0"/>
                    <a:pt x="68" y="0"/>
                  </a:cubicBezTo>
                  <a:close/>
                  <a:moveTo>
                    <a:pt x="9" y="72"/>
                  </a:moveTo>
                  <a:cubicBezTo>
                    <a:pt x="30" y="72"/>
                    <a:pt x="30" y="72"/>
                    <a:pt x="30" y="72"/>
                  </a:cubicBezTo>
                  <a:cubicBezTo>
                    <a:pt x="31" y="80"/>
                    <a:pt x="31" y="86"/>
                    <a:pt x="33" y="93"/>
                  </a:cubicBezTo>
                  <a:cubicBezTo>
                    <a:pt x="14" y="93"/>
                    <a:pt x="14" y="93"/>
                    <a:pt x="14" y="93"/>
                  </a:cubicBezTo>
                  <a:cubicBezTo>
                    <a:pt x="11" y="86"/>
                    <a:pt x="10" y="80"/>
                    <a:pt x="9" y="72"/>
                  </a:cubicBezTo>
                  <a:close/>
                  <a:moveTo>
                    <a:pt x="72" y="34"/>
                  </a:moveTo>
                  <a:cubicBezTo>
                    <a:pt x="72" y="9"/>
                    <a:pt x="72" y="9"/>
                    <a:pt x="72" y="9"/>
                  </a:cubicBezTo>
                  <a:cubicBezTo>
                    <a:pt x="80" y="12"/>
                    <a:pt x="88" y="21"/>
                    <a:pt x="92" y="34"/>
                  </a:cubicBezTo>
                  <a:lnTo>
                    <a:pt x="72" y="34"/>
                  </a:lnTo>
                  <a:close/>
                  <a:moveTo>
                    <a:pt x="95" y="42"/>
                  </a:moveTo>
                  <a:cubicBezTo>
                    <a:pt x="96" y="49"/>
                    <a:pt x="97" y="56"/>
                    <a:pt x="98" y="64"/>
                  </a:cubicBezTo>
                  <a:cubicBezTo>
                    <a:pt x="72" y="64"/>
                    <a:pt x="72" y="64"/>
                    <a:pt x="72" y="64"/>
                  </a:cubicBezTo>
                  <a:cubicBezTo>
                    <a:pt x="72" y="42"/>
                    <a:pt x="72" y="42"/>
                    <a:pt x="72" y="42"/>
                  </a:cubicBezTo>
                  <a:lnTo>
                    <a:pt x="95" y="42"/>
                  </a:lnTo>
                  <a:close/>
                  <a:moveTo>
                    <a:pt x="64" y="9"/>
                  </a:moveTo>
                  <a:cubicBezTo>
                    <a:pt x="64" y="34"/>
                    <a:pt x="64" y="34"/>
                    <a:pt x="64" y="34"/>
                  </a:cubicBezTo>
                  <a:cubicBezTo>
                    <a:pt x="44" y="34"/>
                    <a:pt x="44" y="34"/>
                    <a:pt x="44" y="34"/>
                  </a:cubicBezTo>
                  <a:cubicBezTo>
                    <a:pt x="49" y="21"/>
                    <a:pt x="56" y="12"/>
                    <a:pt x="64" y="9"/>
                  </a:cubicBezTo>
                  <a:close/>
                  <a:moveTo>
                    <a:pt x="64" y="42"/>
                  </a:moveTo>
                  <a:cubicBezTo>
                    <a:pt x="64" y="64"/>
                    <a:pt x="64" y="64"/>
                    <a:pt x="64" y="64"/>
                  </a:cubicBezTo>
                  <a:cubicBezTo>
                    <a:pt x="39" y="64"/>
                    <a:pt x="39" y="64"/>
                    <a:pt x="39" y="64"/>
                  </a:cubicBezTo>
                  <a:cubicBezTo>
                    <a:pt x="39" y="56"/>
                    <a:pt x="40" y="49"/>
                    <a:pt x="42" y="42"/>
                  </a:cubicBezTo>
                  <a:lnTo>
                    <a:pt x="64" y="42"/>
                  </a:lnTo>
                  <a:close/>
                  <a:moveTo>
                    <a:pt x="30" y="64"/>
                  </a:moveTo>
                  <a:cubicBezTo>
                    <a:pt x="9" y="64"/>
                    <a:pt x="9" y="64"/>
                    <a:pt x="9" y="64"/>
                  </a:cubicBezTo>
                  <a:cubicBezTo>
                    <a:pt x="10" y="56"/>
                    <a:pt x="12" y="49"/>
                    <a:pt x="15" y="42"/>
                  </a:cubicBezTo>
                  <a:cubicBezTo>
                    <a:pt x="33" y="42"/>
                    <a:pt x="33" y="42"/>
                    <a:pt x="33" y="42"/>
                  </a:cubicBezTo>
                  <a:cubicBezTo>
                    <a:pt x="32" y="49"/>
                    <a:pt x="31" y="56"/>
                    <a:pt x="30" y="64"/>
                  </a:cubicBezTo>
                  <a:close/>
                  <a:moveTo>
                    <a:pt x="39" y="72"/>
                  </a:moveTo>
                  <a:cubicBezTo>
                    <a:pt x="64" y="72"/>
                    <a:pt x="64" y="72"/>
                    <a:pt x="64" y="72"/>
                  </a:cubicBezTo>
                  <a:cubicBezTo>
                    <a:pt x="64" y="93"/>
                    <a:pt x="64" y="93"/>
                    <a:pt x="64" y="93"/>
                  </a:cubicBezTo>
                  <a:cubicBezTo>
                    <a:pt x="41" y="93"/>
                    <a:pt x="41" y="93"/>
                    <a:pt x="41" y="93"/>
                  </a:cubicBezTo>
                  <a:cubicBezTo>
                    <a:pt x="40" y="86"/>
                    <a:pt x="39" y="80"/>
                    <a:pt x="39" y="72"/>
                  </a:cubicBezTo>
                  <a:close/>
                  <a:moveTo>
                    <a:pt x="64" y="101"/>
                  </a:moveTo>
                  <a:cubicBezTo>
                    <a:pt x="64" y="127"/>
                    <a:pt x="64" y="127"/>
                    <a:pt x="64" y="127"/>
                  </a:cubicBezTo>
                  <a:cubicBezTo>
                    <a:pt x="56" y="124"/>
                    <a:pt x="48" y="115"/>
                    <a:pt x="44" y="101"/>
                  </a:cubicBezTo>
                  <a:lnTo>
                    <a:pt x="64" y="101"/>
                  </a:lnTo>
                  <a:close/>
                  <a:moveTo>
                    <a:pt x="72" y="127"/>
                  </a:moveTo>
                  <a:cubicBezTo>
                    <a:pt x="72" y="101"/>
                    <a:pt x="72" y="101"/>
                    <a:pt x="72" y="101"/>
                  </a:cubicBezTo>
                  <a:cubicBezTo>
                    <a:pt x="93" y="101"/>
                    <a:pt x="93" y="101"/>
                    <a:pt x="93" y="101"/>
                  </a:cubicBezTo>
                  <a:cubicBezTo>
                    <a:pt x="88" y="115"/>
                    <a:pt x="81" y="124"/>
                    <a:pt x="72" y="127"/>
                  </a:cubicBezTo>
                  <a:close/>
                  <a:moveTo>
                    <a:pt x="72" y="93"/>
                  </a:moveTo>
                  <a:cubicBezTo>
                    <a:pt x="72" y="72"/>
                    <a:pt x="72" y="72"/>
                    <a:pt x="72" y="72"/>
                  </a:cubicBezTo>
                  <a:cubicBezTo>
                    <a:pt x="98" y="72"/>
                    <a:pt x="98" y="72"/>
                    <a:pt x="98" y="72"/>
                  </a:cubicBezTo>
                  <a:cubicBezTo>
                    <a:pt x="97" y="80"/>
                    <a:pt x="96" y="86"/>
                    <a:pt x="95" y="93"/>
                  </a:cubicBezTo>
                  <a:lnTo>
                    <a:pt x="72" y="93"/>
                  </a:lnTo>
                  <a:close/>
                  <a:moveTo>
                    <a:pt x="106" y="72"/>
                  </a:moveTo>
                  <a:cubicBezTo>
                    <a:pt x="127" y="72"/>
                    <a:pt x="127" y="72"/>
                    <a:pt x="127" y="72"/>
                  </a:cubicBezTo>
                  <a:cubicBezTo>
                    <a:pt x="127" y="80"/>
                    <a:pt x="125" y="86"/>
                    <a:pt x="122" y="93"/>
                  </a:cubicBezTo>
                  <a:cubicBezTo>
                    <a:pt x="104" y="93"/>
                    <a:pt x="104" y="93"/>
                    <a:pt x="104" y="93"/>
                  </a:cubicBezTo>
                  <a:cubicBezTo>
                    <a:pt x="105" y="86"/>
                    <a:pt x="106" y="80"/>
                    <a:pt x="106" y="72"/>
                  </a:cubicBezTo>
                  <a:close/>
                  <a:moveTo>
                    <a:pt x="106" y="64"/>
                  </a:moveTo>
                  <a:cubicBezTo>
                    <a:pt x="106" y="56"/>
                    <a:pt x="105" y="49"/>
                    <a:pt x="103" y="42"/>
                  </a:cubicBezTo>
                  <a:cubicBezTo>
                    <a:pt x="122" y="42"/>
                    <a:pt x="122" y="42"/>
                    <a:pt x="122" y="42"/>
                  </a:cubicBezTo>
                  <a:cubicBezTo>
                    <a:pt x="125" y="49"/>
                    <a:pt x="127" y="56"/>
                    <a:pt x="127" y="64"/>
                  </a:cubicBezTo>
                  <a:lnTo>
                    <a:pt x="106" y="64"/>
                  </a:lnTo>
                  <a:close/>
                  <a:moveTo>
                    <a:pt x="117" y="34"/>
                  </a:moveTo>
                  <a:cubicBezTo>
                    <a:pt x="101" y="34"/>
                    <a:pt x="101" y="34"/>
                    <a:pt x="101" y="34"/>
                  </a:cubicBezTo>
                  <a:cubicBezTo>
                    <a:pt x="98" y="26"/>
                    <a:pt x="95" y="19"/>
                    <a:pt x="91" y="13"/>
                  </a:cubicBezTo>
                  <a:cubicBezTo>
                    <a:pt x="101" y="18"/>
                    <a:pt x="110" y="25"/>
                    <a:pt x="117" y="34"/>
                  </a:cubicBezTo>
                  <a:close/>
                  <a:moveTo>
                    <a:pt x="46" y="13"/>
                  </a:moveTo>
                  <a:cubicBezTo>
                    <a:pt x="42" y="19"/>
                    <a:pt x="38" y="26"/>
                    <a:pt x="35" y="34"/>
                  </a:cubicBezTo>
                  <a:cubicBezTo>
                    <a:pt x="20" y="34"/>
                    <a:pt x="20" y="34"/>
                    <a:pt x="20" y="34"/>
                  </a:cubicBezTo>
                  <a:cubicBezTo>
                    <a:pt x="26" y="25"/>
                    <a:pt x="35" y="18"/>
                    <a:pt x="46" y="13"/>
                  </a:cubicBezTo>
                  <a:close/>
                  <a:moveTo>
                    <a:pt x="19" y="101"/>
                  </a:moveTo>
                  <a:cubicBezTo>
                    <a:pt x="35" y="101"/>
                    <a:pt x="35" y="101"/>
                    <a:pt x="35" y="101"/>
                  </a:cubicBezTo>
                  <a:cubicBezTo>
                    <a:pt x="38" y="110"/>
                    <a:pt x="41" y="117"/>
                    <a:pt x="46" y="123"/>
                  </a:cubicBezTo>
                  <a:cubicBezTo>
                    <a:pt x="35" y="119"/>
                    <a:pt x="25" y="111"/>
                    <a:pt x="19" y="101"/>
                  </a:cubicBezTo>
                  <a:close/>
                  <a:moveTo>
                    <a:pt x="91" y="123"/>
                  </a:moveTo>
                  <a:cubicBezTo>
                    <a:pt x="95" y="117"/>
                    <a:pt x="99" y="110"/>
                    <a:pt x="101" y="101"/>
                  </a:cubicBezTo>
                  <a:cubicBezTo>
                    <a:pt x="118" y="101"/>
                    <a:pt x="118" y="101"/>
                    <a:pt x="118" y="101"/>
                  </a:cubicBezTo>
                  <a:cubicBezTo>
                    <a:pt x="111" y="111"/>
                    <a:pt x="102" y="119"/>
                    <a:pt x="91" y="123"/>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0" name="Freeform 45"/>
            <p:cNvSpPr>
              <a:spLocks noEditPoints="1"/>
            </p:cNvSpPr>
            <p:nvPr/>
          </p:nvSpPr>
          <p:spPr bwMode="auto">
            <a:xfrm>
              <a:off x="8416017" y="326751"/>
              <a:ext cx="229832" cy="300486"/>
            </a:xfrm>
            <a:custGeom>
              <a:avLst/>
              <a:gdLst>
                <a:gd name="T0" fmla="*/ 280523 w 372968"/>
                <a:gd name="T1" fmla="*/ 0 h 487727"/>
                <a:gd name="T2" fmla="*/ 92445 w 372968"/>
                <a:gd name="T3" fmla="*/ 0 h 487727"/>
                <a:gd name="T4" fmla="*/ 0 w 372968"/>
                <a:gd name="T5" fmla="*/ 162575 h 487727"/>
                <a:gd name="T6" fmla="*/ 76506 w 372968"/>
                <a:gd name="T7" fmla="*/ 299649 h 487727"/>
                <a:gd name="T8" fmla="*/ 0 w 372968"/>
                <a:gd name="T9" fmla="*/ 430347 h 487727"/>
                <a:gd name="T10" fmla="*/ 31878 w 372968"/>
                <a:gd name="T11" fmla="*/ 487727 h 487727"/>
                <a:gd name="T12" fmla="*/ 127510 w 372968"/>
                <a:gd name="T13" fmla="*/ 325151 h 487727"/>
                <a:gd name="T14" fmla="*/ 280523 w 372968"/>
                <a:gd name="T15" fmla="*/ 325151 h 487727"/>
                <a:gd name="T16" fmla="*/ 372968 w 372968"/>
                <a:gd name="T17" fmla="*/ 162575 h 487727"/>
                <a:gd name="T18" fmla="*/ 280523 w 372968"/>
                <a:gd name="T19" fmla="*/ 0 h 487727"/>
                <a:gd name="T20" fmla="*/ 245457 w 372968"/>
                <a:gd name="T21" fmla="*/ 267771 h 487727"/>
                <a:gd name="T22" fmla="*/ 124323 w 372968"/>
                <a:gd name="T23" fmla="*/ 267771 h 487727"/>
                <a:gd name="T24" fmla="*/ 63755 w 372968"/>
                <a:gd name="T25" fmla="*/ 162575 h 487727"/>
                <a:gd name="T26" fmla="*/ 124323 w 372968"/>
                <a:gd name="T27" fmla="*/ 57379 h 487727"/>
                <a:gd name="T28" fmla="*/ 245457 w 372968"/>
                <a:gd name="T29" fmla="*/ 57379 h 487727"/>
                <a:gd name="T30" fmla="*/ 309212 w 372968"/>
                <a:gd name="T31" fmla="*/ 162575 h 487727"/>
                <a:gd name="T32" fmla="*/ 245457 w 372968"/>
                <a:gd name="T33" fmla="*/ 267771 h 487727"/>
                <a:gd name="T34" fmla="*/ 197641 w 372968"/>
                <a:gd name="T35" fmla="*/ 149824 h 487727"/>
                <a:gd name="T36" fmla="*/ 197641 w 372968"/>
                <a:gd name="T37" fmla="*/ 95633 h 487727"/>
                <a:gd name="T38" fmla="*/ 168951 w 372968"/>
                <a:gd name="T39" fmla="*/ 95633 h 487727"/>
                <a:gd name="T40" fmla="*/ 168951 w 372968"/>
                <a:gd name="T41" fmla="*/ 149824 h 487727"/>
                <a:gd name="T42" fmla="*/ 117947 w 372968"/>
                <a:gd name="T43" fmla="*/ 149824 h 487727"/>
                <a:gd name="T44" fmla="*/ 117947 w 372968"/>
                <a:gd name="T45" fmla="*/ 172139 h 487727"/>
                <a:gd name="T46" fmla="*/ 168951 w 372968"/>
                <a:gd name="T47" fmla="*/ 172139 h 487727"/>
                <a:gd name="T48" fmla="*/ 168951 w 372968"/>
                <a:gd name="T49" fmla="*/ 226331 h 487727"/>
                <a:gd name="T50" fmla="*/ 197641 w 372968"/>
                <a:gd name="T51" fmla="*/ 226331 h 487727"/>
                <a:gd name="T52" fmla="*/ 197641 w 372968"/>
                <a:gd name="T53" fmla="*/ 172139 h 487727"/>
                <a:gd name="T54" fmla="*/ 251833 w 372968"/>
                <a:gd name="T55" fmla="*/ 172139 h 487727"/>
                <a:gd name="T56" fmla="*/ 251833 w 372968"/>
                <a:gd name="T57" fmla="*/ 149824 h 487727"/>
                <a:gd name="T58" fmla="*/ 197641 w 372968"/>
                <a:gd name="T59" fmla="*/ 149824 h 487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2968" h="487727">
                  <a:moveTo>
                    <a:pt x="280523" y="0"/>
                  </a:moveTo>
                  <a:lnTo>
                    <a:pt x="92445" y="0"/>
                  </a:lnTo>
                  <a:lnTo>
                    <a:pt x="0" y="162575"/>
                  </a:lnTo>
                  <a:lnTo>
                    <a:pt x="76506" y="299649"/>
                  </a:lnTo>
                  <a:lnTo>
                    <a:pt x="0" y="430347"/>
                  </a:lnTo>
                  <a:lnTo>
                    <a:pt x="31878" y="487727"/>
                  </a:lnTo>
                  <a:lnTo>
                    <a:pt x="127510" y="325151"/>
                  </a:lnTo>
                  <a:lnTo>
                    <a:pt x="280523" y="325151"/>
                  </a:lnTo>
                  <a:lnTo>
                    <a:pt x="372968" y="162575"/>
                  </a:lnTo>
                  <a:lnTo>
                    <a:pt x="280523" y="0"/>
                  </a:lnTo>
                  <a:close/>
                  <a:moveTo>
                    <a:pt x="245457" y="267771"/>
                  </a:moveTo>
                  <a:lnTo>
                    <a:pt x="124323" y="267771"/>
                  </a:lnTo>
                  <a:lnTo>
                    <a:pt x="63755" y="162575"/>
                  </a:lnTo>
                  <a:lnTo>
                    <a:pt x="124323" y="57379"/>
                  </a:lnTo>
                  <a:lnTo>
                    <a:pt x="245457" y="57379"/>
                  </a:lnTo>
                  <a:lnTo>
                    <a:pt x="309212" y="162575"/>
                  </a:lnTo>
                  <a:lnTo>
                    <a:pt x="245457" y="267771"/>
                  </a:lnTo>
                  <a:close/>
                  <a:moveTo>
                    <a:pt x="197641" y="149824"/>
                  </a:moveTo>
                  <a:lnTo>
                    <a:pt x="197641" y="95633"/>
                  </a:lnTo>
                  <a:lnTo>
                    <a:pt x="168951" y="95633"/>
                  </a:lnTo>
                  <a:lnTo>
                    <a:pt x="168951" y="149824"/>
                  </a:lnTo>
                  <a:lnTo>
                    <a:pt x="117947" y="149824"/>
                  </a:lnTo>
                  <a:lnTo>
                    <a:pt x="117947" y="172139"/>
                  </a:lnTo>
                  <a:lnTo>
                    <a:pt x="168951" y="172139"/>
                  </a:lnTo>
                  <a:lnTo>
                    <a:pt x="168951" y="226331"/>
                  </a:lnTo>
                  <a:lnTo>
                    <a:pt x="197641" y="226331"/>
                  </a:lnTo>
                  <a:lnTo>
                    <a:pt x="197641" y="172139"/>
                  </a:lnTo>
                  <a:lnTo>
                    <a:pt x="251833" y="172139"/>
                  </a:lnTo>
                  <a:lnTo>
                    <a:pt x="251833" y="149824"/>
                  </a:lnTo>
                  <a:lnTo>
                    <a:pt x="197641" y="149824"/>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1" name="Freeform 46"/>
            <p:cNvSpPr>
              <a:spLocks noEditPoints="1"/>
            </p:cNvSpPr>
            <p:nvPr/>
          </p:nvSpPr>
          <p:spPr bwMode="auto">
            <a:xfrm>
              <a:off x="8180291" y="173562"/>
              <a:ext cx="656102" cy="567584"/>
            </a:xfrm>
            <a:custGeom>
              <a:avLst/>
              <a:gdLst>
                <a:gd name="T0" fmla="*/ 84 w 334"/>
                <a:gd name="T1" fmla="*/ 0 h 289"/>
                <a:gd name="T2" fmla="*/ 0 w 334"/>
                <a:gd name="T3" fmla="*/ 145 h 289"/>
                <a:gd name="T4" fmla="*/ 84 w 334"/>
                <a:gd name="T5" fmla="*/ 289 h 289"/>
                <a:gd name="T6" fmla="*/ 251 w 334"/>
                <a:gd name="T7" fmla="*/ 289 h 289"/>
                <a:gd name="T8" fmla="*/ 334 w 334"/>
                <a:gd name="T9" fmla="*/ 145 h 289"/>
                <a:gd name="T10" fmla="*/ 251 w 334"/>
                <a:gd name="T11" fmla="*/ 0 h 289"/>
                <a:gd name="T12" fmla="*/ 84 w 334"/>
                <a:gd name="T13" fmla="*/ 0 h 289"/>
                <a:gd name="T14" fmla="*/ 246 w 334"/>
                <a:gd name="T15" fmla="*/ 9 h 289"/>
                <a:gd name="T16" fmla="*/ 324 w 334"/>
                <a:gd name="T17" fmla="*/ 145 h 289"/>
                <a:gd name="T18" fmla="*/ 246 w 334"/>
                <a:gd name="T19" fmla="*/ 281 h 289"/>
                <a:gd name="T20" fmla="*/ 89 w 334"/>
                <a:gd name="T21" fmla="*/ 281 h 289"/>
                <a:gd name="T22" fmla="*/ 10 w 334"/>
                <a:gd name="T23" fmla="*/ 145 h 289"/>
                <a:gd name="T24" fmla="*/ 89 w 334"/>
                <a:gd name="T25" fmla="*/ 9 h 289"/>
                <a:gd name="T26" fmla="*/ 246 w 334"/>
                <a:gd name="T27" fmla="*/ 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4" h="289">
                  <a:moveTo>
                    <a:pt x="84" y="0"/>
                  </a:moveTo>
                  <a:cubicBezTo>
                    <a:pt x="0" y="145"/>
                    <a:pt x="0" y="145"/>
                    <a:pt x="0" y="145"/>
                  </a:cubicBezTo>
                  <a:cubicBezTo>
                    <a:pt x="84" y="289"/>
                    <a:pt x="84" y="289"/>
                    <a:pt x="84" y="289"/>
                  </a:cubicBezTo>
                  <a:cubicBezTo>
                    <a:pt x="251" y="289"/>
                    <a:pt x="251" y="289"/>
                    <a:pt x="251" y="289"/>
                  </a:cubicBezTo>
                  <a:cubicBezTo>
                    <a:pt x="334" y="145"/>
                    <a:pt x="334" y="145"/>
                    <a:pt x="334" y="145"/>
                  </a:cubicBezTo>
                  <a:cubicBezTo>
                    <a:pt x="251" y="0"/>
                    <a:pt x="251" y="0"/>
                    <a:pt x="251" y="0"/>
                  </a:cubicBezTo>
                  <a:lnTo>
                    <a:pt x="84" y="0"/>
                  </a:lnTo>
                  <a:close/>
                  <a:moveTo>
                    <a:pt x="246" y="9"/>
                  </a:moveTo>
                  <a:cubicBezTo>
                    <a:pt x="248" y="13"/>
                    <a:pt x="322" y="141"/>
                    <a:pt x="324" y="145"/>
                  </a:cubicBezTo>
                  <a:cubicBezTo>
                    <a:pt x="322" y="149"/>
                    <a:pt x="248" y="277"/>
                    <a:pt x="246" y="281"/>
                  </a:cubicBezTo>
                  <a:cubicBezTo>
                    <a:pt x="241" y="281"/>
                    <a:pt x="93" y="281"/>
                    <a:pt x="89" y="281"/>
                  </a:cubicBezTo>
                  <a:cubicBezTo>
                    <a:pt x="86" y="277"/>
                    <a:pt x="12" y="149"/>
                    <a:pt x="10" y="145"/>
                  </a:cubicBezTo>
                  <a:cubicBezTo>
                    <a:pt x="12" y="141"/>
                    <a:pt x="86" y="13"/>
                    <a:pt x="89" y="9"/>
                  </a:cubicBezTo>
                  <a:cubicBezTo>
                    <a:pt x="93" y="9"/>
                    <a:pt x="241" y="9"/>
                    <a:pt x="246" y="9"/>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2" name="Freeform 47"/>
            <p:cNvSpPr>
              <a:spLocks noEditPoints="1"/>
            </p:cNvSpPr>
            <p:nvPr/>
          </p:nvSpPr>
          <p:spPr bwMode="auto">
            <a:xfrm>
              <a:off x="5715000" y="183382"/>
              <a:ext cx="656102" cy="567583"/>
            </a:xfrm>
            <a:custGeom>
              <a:avLst/>
              <a:gdLst>
                <a:gd name="T0" fmla="*/ 84 w 334"/>
                <a:gd name="T1" fmla="*/ 0 h 289"/>
                <a:gd name="T2" fmla="*/ 0 w 334"/>
                <a:gd name="T3" fmla="*/ 144 h 289"/>
                <a:gd name="T4" fmla="*/ 84 w 334"/>
                <a:gd name="T5" fmla="*/ 289 h 289"/>
                <a:gd name="T6" fmla="*/ 251 w 334"/>
                <a:gd name="T7" fmla="*/ 289 h 289"/>
                <a:gd name="T8" fmla="*/ 334 w 334"/>
                <a:gd name="T9" fmla="*/ 144 h 289"/>
                <a:gd name="T10" fmla="*/ 251 w 334"/>
                <a:gd name="T11" fmla="*/ 0 h 289"/>
                <a:gd name="T12" fmla="*/ 84 w 334"/>
                <a:gd name="T13" fmla="*/ 0 h 289"/>
                <a:gd name="T14" fmla="*/ 246 w 334"/>
                <a:gd name="T15" fmla="*/ 8 h 289"/>
                <a:gd name="T16" fmla="*/ 324 w 334"/>
                <a:gd name="T17" fmla="*/ 144 h 289"/>
                <a:gd name="T18" fmla="*/ 246 w 334"/>
                <a:gd name="T19" fmla="*/ 280 h 289"/>
                <a:gd name="T20" fmla="*/ 89 w 334"/>
                <a:gd name="T21" fmla="*/ 280 h 289"/>
                <a:gd name="T22" fmla="*/ 10 w 334"/>
                <a:gd name="T23" fmla="*/ 144 h 289"/>
                <a:gd name="T24" fmla="*/ 89 w 334"/>
                <a:gd name="T25" fmla="*/ 8 h 289"/>
                <a:gd name="T26" fmla="*/ 246 w 334"/>
                <a:gd name="T27" fmla="*/ 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4" h="289">
                  <a:moveTo>
                    <a:pt x="84" y="0"/>
                  </a:moveTo>
                  <a:cubicBezTo>
                    <a:pt x="0" y="144"/>
                    <a:pt x="0" y="144"/>
                    <a:pt x="0" y="144"/>
                  </a:cubicBezTo>
                  <a:cubicBezTo>
                    <a:pt x="84" y="289"/>
                    <a:pt x="84" y="289"/>
                    <a:pt x="84" y="289"/>
                  </a:cubicBezTo>
                  <a:cubicBezTo>
                    <a:pt x="251" y="289"/>
                    <a:pt x="251" y="289"/>
                    <a:pt x="251" y="289"/>
                  </a:cubicBezTo>
                  <a:cubicBezTo>
                    <a:pt x="334" y="144"/>
                    <a:pt x="334" y="144"/>
                    <a:pt x="334" y="144"/>
                  </a:cubicBezTo>
                  <a:cubicBezTo>
                    <a:pt x="251" y="0"/>
                    <a:pt x="251" y="0"/>
                    <a:pt x="251" y="0"/>
                  </a:cubicBezTo>
                  <a:lnTo>
                    <a:pt x="84" y="0"/>
                  </a:lnTo>
                  <a:close/>
                  <a:moveTo>
                    <a:pt x="246" y="8"/>
                  </a:moveTo>
                  <a:cubicBezTo>
                    <a:pt x="248" y="12"/>
                    <a:pt x="322" y="140"/>
                    <a:pt x="324" y="144"/>
                  </a:cubicBezTo>
                  <a:cubicBezTo>
                    <a:pt x="322" y="148"/>
                    <a:pt x="248" y="276"/>
                    <a:pt x="246" y="280"/>
                  </a:cubicBezTo>
                  <a:cubicBezTo>
                    <a:pt x="241" y="280"/>
                    <a:pt x="93" y="280"/>
                    <a:pt x="89" y="280"/>
                  </a:cubicBezTo>
                  <a:cubicBezTo>
                    <a:pt x="86" y="276"/>
                    <a:pt x="13" y="148"/>
                    <a:pt x="10" y="144"/>
                  </a:cubicBezTo>
                  <a:cubicBezTo>
                    <a:pt x="13" y="140"/>
                    <a:pt x="86" y="12"/>
                    <a:pt x="89" y="8"/>
                  </a:cubicBezTo>
                  <a:cubicBezTo>
                    <a:pt x="93" y="8"/>
                    <a:pt x="241" y="8"/>
                    <a:pt x="246" y="8"/>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3" name="Freeform 48"/>
            <p:cNvSpPr>
              <a:spLocks/>
            </p:cNvSpPr>
            <p:nvPr/>
          </p:nvSpPr>
          <p:spPr bwMode="auto">
            <a:xfrm>
              <a:off x="6259132" y="499579"/>
              <a:ext cx="636458" cy="551872"/>
            </a:xfrm>
            <a:custGeom>
              <a:avLst/>
              <a:gdLst>
                <a:gd name="T0" fmla="*/ 258208 w 1032833"/>
                <a:gd name="T1" fmla="*/ 895760 h 895760"/>
                <a:gd name="T2" fmla="*/ 0 w 1032833"/>
                <a:gd name="T3" fmla="*/ 446286 h 895760"/>
                <a:gd name="T4" fmla="*/ 258208 w 1032833"/>
                <a:gd name="T5" fmla="*/ 0 h 895760"/>
                <a:gd name="T6" fmla="*/ 774624 w 1032833"/>
                <a:gd name="T7" fmla="*/ 0 h 895760"/>
                <a:gd name="T8" fmla="*/ 1032833 w 1032833"/>
                <a:gd name="T9" fmla="*/ 446286 h 895760"/>
                <a:gd name="T10" fmla="*/ 774624 w 1032833"/>
                <a:gd name="T11" fmla="*/ 895760 h 895760"/>
                <a:gd name="T12" fmla="*/ 258208 w 1032833"/>
                <a:gd name="T13" fmla="*/ 895760 h 895760"/>
              </a:gdLst>
              <a:ahLst/>
              <a:cxnLst>
                <a:cxn ang="0">
                  <a:pos x="T0" y="T1"/>
                </a:cxn>
                <a:cxn ang="0">
                  <a:pos x="T2" y="T3"/>
                </a:cxn>
                <a:cxn ang="0">
                  <a:pos x="T4" y="T5"/>
                </a:cxn>
                <a:cxn ang="0">
                  <a:pos x="T6" y="T7"/>
                </a:cxn>
                <a:cxn ang="0">
                  <a:pos x="T8" y="T9"/>
                </a:cxn>
                <a:cxn ang="0">
                  <a:pos x="T10" y="T11"/>
                </a:cxn>
                <a:cxn ang="0">
                  <a:pos x="T12" y="T13"/>
                </a:cxn>
              </a:cxnLst>
              <a:rect l="0" t="0" r="r" b="b"/>
              <a:pathLst>
                <a:path w="1032833" h="895760">
                  <a:moveTo>
                    <a:pt x="258208" y="895760"/>
                  </a:moveTo>
                  <a:lnTo>
                    <a:pt x="0" y="446286"/>
                  </a:lnTo>
                  <a:lnTo>
                    <a:pt x="258208" y="0"/>
                  </a:lnTo>
                  <a:lnTo>
                    <a:pt x="774624" y="0"/>
                  </a:lnTo>
                  <a:lnTo>
                    <a:pt x="1032833" y="446286"/>
                  </a:lnTo>
                  <a:lnTo>
                    <a:pt x="774624" y="895760"/>
                  </a:lnTo>
                  <a:lnTo>
                    <a:pt x="258208" y="895760"/>
                  </a:ln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4" name="Freeform 49"/>
            <p:cNvSpPr>
              <a:spLocks noEditPoints="1"/>
            </p:cNvSpPr>
            <p:nvPr/>
          </p:nvSpPr>
          <p:spPr bwMode="auto">
            <a:xfrm>
              <a:off x="8121361" y="796137"/>
              <a:ext cx="891826" cy="771835"/>
            </a:xfrm>
            <a:custGeom>
              <a:avLst/>
              <a:gdLst>
                <a:gd name="T0" fmla="*/ 113 w 454"/>
                <a:gd name="T1" fmla="*/ 0 h 393"/>
                <a:gd name="T2" fmla="*/ 0 w 454"/>
                <a:gd name="T3" fmla="*/ 197 h 393"/>
                <a:gd name="T4" fmla="*/ 113 w 454"/>
                <a:gd name="T5" fmla="*/ 393 h 393"/>
                <a:gd name="T6" fmla="*/ 340 w 454"/>
                <a:gd name="T7" fmla="*/ 393 h 393"/>
                <a:gd name="T8" fmla="*/ 454 w 454"/>
                <a:gd name="T9" fmla="*/ 197 h 393"/>
                <a:gd name="T10" fmla="*/ 340 w 454"/>
                <a:gd name="T11" fmla="*/ 0 h 393"/>
                <a:gd name="T12" fmla="*/ 113 w 454"/>
                <a:gd name="T13" fmla="*/ 0 h 393"/>
                <a:gd name="T14" fmla="*/ 336 w 454"/>
                <a:gd name="T15" fmla="*/ 9 h 393"/>
                <a:gd name="T16" fmla="*/ 444 w 454"/>
                <a:gd name="T17" fmla="*/ 197 h 393"/>
                <a:gd name="T18" fmla="*/ 336 w 454"/>
                <a:gd name="T19" fmla="*/ 385 h 393"/>
                <a:gd name="T20" fmla="*/ 118 w 454"/>
                <a:gd name="T21" fmla="*/ 385 h 393"/>
                <a:gd name="T22" fmla="*/ 10 w 454"/>
                <a:gd name="T23" fmla="*/ 197 h 393"/>
                <a:gd name="T24" fmla="*/ 118 w 454"/>
                <a:gd name="T25" fmla="*/ 9 h 393"/>
                <a:gd name="T26" fmla="*/ 336 w 454"/>
                <a:gd name="T27" fmla="*/ 9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4" h="393">
                  <a:moveTo>
                    <a:pt x="113" y="0"/>
                  </a:moveTo>
                  <a:cubicBezTo>
                    <a:pt x="0" y="197"/>
                    <a:pt x="0" y="197"/>
                    <a:pt x="0" y="197"/>
                  </a:cubicBezTo>
                  <a:cubicBezTo>
                    <a:pt x="113" y="393"/>
                    <a:pt x="113" y="393"/>
                    <a:pt x="113" y="393"/>
                  </a:cubicBezTo>
                  <a:cubicBezTo>
                    <a:pt x="340" y="393"/>
                    <a:pt x="340" y="393"/>
                    <a:pt x="340" y="393"/>
                  </a:cubicBezTo>
                  <a:cubicBezTo>
                    <a:pt x="454" y="197"/>
                    <a:pt x="454" y="197"/>
                    <a:pt x="454" y="197"/>
                  </a:cubicBezTo>
                  <a:cubicBezTo>
                    <a:pt x="340" y="0"/>
                    <a:pt x="340" y="0"/>
                    <a:pt x="340" y="0"/>
                  </a:cubicBezTo>
                  <a:lnTo>
                    <a:pt x="113" y="0"/>
                  </a:lnTo>
                  <a:close/>
                  <a:moveTo>
                    <a:pt x="336" y="9"/>
                  </a:moveTo>
                  <a:cubicBezTo>
                    <a:pt x="338" y="13"/>
                    <a:pt x="442" y="193"/>
                    <a:pt x="444" y="197"/>
                  </a:cubicBezTo>
                  <a:cubicBezTo>
                    <a:pt x="442" y="201"/>
                    <a:pt x="338" y="381"/>
                    <a:pt x="336" y="385"/>
                  </a:cubicBezTo>
                  <a:cubicBezTo>
                    <a:pt x="331" y="385"/>
                    <a:pt x="123" y="385"/>
                    <a:pt x="118" y="385"/>
                  </a:cubicBezTo>
                  <a:cubicBezTo>
                    <a:pt x="116" y="381"/>
                    <a:pt x="12" y="201"/>
                    <a:pt x="10" y="197"/>
                  </a:cubicBezTo>
                  <a:cubicBezTo>
                    <a:pt x="12" y="193"/>
                    <a:pt x="116" y="13"/>
                    <a:pt x="118" y="9"/>
                  </a:cubicBezTo>
                  <a:cubicBezTo>
                    <a:pt x="123" y="9"/>
                    <a:pt x="331" y="9"/>
                    <a:pt x="336" y="9"/>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5" name="Freeform 51"/>
            <p:cNvSpPr>
              <a:spLocks noEditPoints="1"/>
            </p:cNvSpPr>
            <p:nvPr/>
          </p:nvSpPr>
          <p:spPr bwMode="auto">
            <a:xfrm>
              <a:off x="5716965" y="809884"/>
              <a:ext cx="656101" cy="567584"/>
            </a:xfrm>
            <a:custGeom>
              <a:avLst/>
              <a:gdLst>
                <a:gd name="T0" fmla="*/ 84 w 334"/>
                <a:gd name="T1" fmla="*/ 0 h 289"/>
                <a:gd name="T2" fmla="*/ 0 w 334"/>
                <a:gd name="T3" fmla="*/ 144 h 289"/>
                <a:gd name="T4" fmla="*/ 84 w 334"/>
                <a:gd name="T5" fmla="*/ 289 h 289"/>
                <a:gd name="T6" fmla="*/ 251 w 334"/>
                <a:gd name="T7" fmla="*/ 289 h 289"/>
                <a:gd name="T8" fmla="*/ 334 w 334"/>
                <a:gd name="T9" fmla="*/ 144 h 289"/>
                <a:gd name="T10" fmla="*/ 251 w 334"/>
                <a:gd name="T11" fmla="*/ 0 h 289"/>
                <a:gd name="T12" fmla="*/ 84 w 334"/>
                <a:gd name="T13" fmla="*/ 0 h 289"/>
                <a:gd name="T14" fmla="*/ 246 w 334"/>
                <a:gd name="T15" fmla="*/ 8 h 289"/>
                <a:gd name="T16" fmla="*/ 324 w 334"/>
                <a:gd name="T17" fmla="*/ 144 h 289"/>
                <a:gd name="T18" fmla="*/ 246 w 334"/>
                <a:gd name="T19" fmla="*/ 280 h 289"/>
                <a:gd name="T20" fmla="*/ 89 w 334"/>
                <a:gd name="T21" fmla="*/ 280 h 289"/>
                <a:gd name="T22" fmla="*/ 10 w 334"/>
                <a:gd name="T23" fmla="*/ 144 h 289"/>
                <a:gd name="T24" fmla="*/ 89 w 334"/>
                <a:gd name="T25" fmla="*/ 8 h 289"/>
                <a:gd name="T26" fmla="*/ 246 w 334"/>
                <a:gd name="T27" fmla="*/ 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4" h="289">
                  <a:moveTo>
                    <a:pt x="84" y="0"/>
                  </a:moveTo>
                  <a:cubicBezTo>
                    <a:pt x="0" y="144"/>
                    <a:pt x="0" y="144"/>
                    <a:pt x="0" y="144"/>
                  </a:cubicBezTo>
                  <a:cubicBezTo>
                    <a:pt x="84" y="289"/>
                    <a:pt x="84" y="289"/>
                    <a:pt x="84" y="289"/>
                  </a:cubicBezTo>
                  <a:cubicBezTo>
                    <a:pt x="251" y="289"/>
                    <a:pt x="251" y="289"/>
                    <a:pt x="251" y="289"/>
                  </a:cubicBezTo>
                  <a:cubicBezTo>
                    <a:pt x="334" y="144"/>
                    <a:pt x="334" y="144"/>
                    <a:pt x="334" y="144"/>
                  </a:cubicBezTo>
                  <a:cubicBezTo>
                    <a:pt x="251" y="0"/>
                    <a:pt x="251" y="0"/>
                    <a:pt x="251" y="0"/>
                  </a:cubicBezTo>
                  <a:lnTo>
                    <a:pt x="84" y="0"/>
                  </a:lnTo>
                  <a:close/>
                  <a:moveTo>
                    <a:pt x="246" y="8"/>
                  </a:moveTo>
                  <a:cubicBezTo>
                    <a:pt x="248" y="12"/>
                    <a:pt x="322" y="140"/>
                    <a:pt x="324" y="144"/>
                  </a:cubicBezTo>
                  <a:cubicBezTo>
                    <a:pt x="322" y="148"/>
                    <a:pt x="248" y="276"/>
                    <a:pt x="246" y="280"/>
                  </a:cubicBezTo>
                  <a:cubicBezTo>
                    <a:pt x="241" y="280"/>
                    <a:pt x="93" y="280"/>
                    <a:pt x="89" y="280"/>
                  </a:cubicBezTo>
                  <a:cubicBezTo>
                    <a:pt x="86" y="276"/>
                    <a:pt x="12" y="148"/>
                    <a:pt x="10" y="144"/>
                  </a:cubicBezTo>
                  <a:cubicBezTo>
                    <a:pt x="12" y="140"/>
                    <a:pt x="86" y="12"/>
                    <a:pt x="89" y="8"/>
                  </a:cubicBezTo>
                  <a:cubicBezTo>
                    <a:pt x="93" y="8"/>
                    <a:pt x="241" y="8"/>
                    <a:pt x="246" y="8"/>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6" name="Freeform 52"/>
            <p:cNvSpPr>
              <a:spLocks noEditPoints="1"/>
            </p:cNvSpPr>
            <p:nvPr/>
          </p:nvSpPr>
          <p:spPr bwMode="auto">
            <a:xfrm>
              <a:off x="6785585" y="181418"/>
              <a:ext cx="656102" cy="567584"/>
            </a:xfrm>
            <a:custGeom>
              <a:avLst/>
              <a:gdLst>
                <a:gd name="T0" fmla="*/ 84 w 334"/>
                <a:gd name="T1" fmla="*/ 0 h 289"/>
                <a:gd name="T2" fmla="*/ 0 w 334"/>
                <a:gd name="T3" fmla="*/ 145 h 289"/>
                <a:gd name="T4" fmla="*/ 84 w 334"/>
                <a:gd name="T5" fmla="*/ 289 h 289"/>
                <a:gd name="T6" fmla="*/ 250 w 334"/>
                <a:gd name="T7" fmla="*/ 289 h 289"/>
                <a:gd name="T8" fmla="*/ 334 w 334"/>
                <a:gd name="T9" fmla="*/ 145 h 289"/>
                <a:gd name="T10" fmla="*/ 250 w 334"/>
                <a:gd name="T11" fmla="*/ 0 h 289"/>
                <a:gd name="T12" fmla="*/ 84 w 334"/>
                <a:gd name="T13" fmla="*/ 0 h 289"/>
                <a:gd name="T14" fmla="*/ 246 w 334"/>
                <a:gd name="T15" fmla="*/ 9 h 289"/>
                <a:gd name="T16" fmla="*/ 324 w 334"/>
                <a:gd name="T17" fmla="*/ 145 h 289"/>
                <a:gd name="T18" fmla="*/ 246 w 334"/>
                <a:gd name="T19" fmla="*/ 281 h 289"/>
                <a:gd name="T20" fmla="*/ 89 w 334"/>
                <a:gd name="T21" fmla="*/ 281 h 289"/>
                <a:gd name="T22" fmla="*/ 10 w 334"/>
                <a:gd name="T23" fmla="*/ 145 h 289"/>
                <a:gd name="T24" fmla="*/ 89 w 334"/>
                <a:gd name="T25" fmla="*/ 9 h 289"/>
                <a:gd name="T26" fmla="*/ 246 w 334"/>
                <a:gd name="T27" fmla="*/ 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4" h="289">
                  <a:moveTo>
                    <a:pt x="84" y="0"/>
                  </a:moveTo>
                  <a:cubicBezTo>
                    <a:pt x="0" y="145"/>
                    <a:pt x="0" y="145"/>
                    <a:pt x="0" y="145"/>
                  </a:cubicBezTo>
                  <a:cubicBezTo>
                    <a:pt x="84" y="289"/>
                    <a:pt x="84" y="289"/>
                    <a:pt x="84" y="289"/>
                  </a:cubicBezTo>
                  <a:cubicBezTo>
                    <a:pt x="250" y="289"/>
                    <a:pt x="250" y="289"/>
                    <a:pt x="250" y="289"/>
                  </a:cubicBezTo>
                  <a:cubicBezTo>
                    <a:pt x="334" y="145"/>
                    <a:pt x="334" y="145"/>
                    <a:pt x="334" y="145"/>
                  </a:cubicBezTo>
                  <a:cubicBezTo>
                    <a:pt x="250" y="0"/>
                    <a:pt x="250" y="0"/>
                    <a:pt x="250" y="0"/>
                  </a:cubicBezTo>
                  <a:lnTo>
                    <a:pt x="84" y="0"/>
                  </a:lnTo>
                  <a:close/>
                  <a:moveTo>
                    <a:pt x="246" y="9"/>
                  </a:moveTo>
                  <a:cubicBezTo>
                    <a:pt x="248" y="13"/>
                    <a:pt x="322" y="141"/>
                    <a:pt x="324" y="145"/>
                  </a:cubicBezTo>
                  <a:cubicBezTo>
                    <a:pt x="322" y="149"/>
                    <a:pt x="248" y="277"/>
                    <a:pt x="246" y="281"/>
                  </a:cubicBezTo>
                  <a:cubicBezTo>
                    <a:pt x="241" y="281"/>
                    <a:pt x="93" y="281"/>
                    <a:pt x="89" y="281"/>
                  </a:cubicBezTo>
                  <a:cubicBezTo>
                    <a:pt x="86" y="277"/>
                    <a:pt x="12" y="149"/>
                    <a:pt x="10" y="145"/>
                  </a:cubicBezTo>
                  <a:cubicBezTo>
                    <a:pt x="12" y="141"/>
                    <a:pt x="86" y="13"/>
                    <a:pt x="89" y="9"/>
                  </a:cubicBezTo>
                  <a:cubicBezTo>
                    <a:pt x="93" y="9"/>
                    <a:pt x="241" y="9"/>
                    <a:pt x="246" y="9"/>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7" name="Freeform 53"/>
            <p:cNvSpPr>
              <a:spLocks noEditPoints="1"/>
            </p:cNvSpPr>
            <p:nvPr/>
          </p:nvSpPr>
          <p:spPr bwMode="auto">
            <a:xfrm>
              <a:off x="7628302" y="477975"/>
              <a:ext cx="656101" cy="567584"/>
            </a:xfrm>
            <a:custGeom>
              <a:avLst/>
              <a:gdLst>
                <a:gd name="T0" fmla="*/ 83 w 334"/>
                <a:gd name="T1" fmla="*/ 0 h 289"/>
                <a:gd name="T2" fmla="*/ 0 w 334"/>
                <a:gd name="T3" fmla="*/ 144 h 289"/>
                <a:gd name="T4" fmla="*/ 83 w 334"/>
                <a:gd name="T5" fmla="*/ 289 h 289"/>
                <a:gd name="T6" fmla="*/ 250 w 334"/>
                <a:gd name="T7" fmla="*/ 289 h 289"/>
                <a:gd name="T8" fmla="*/ 334 w 334"/>
                <a:gd name="T9" fmla="*/ 144 h 289"/>
                <a:gd name="T10" fmla="*/ 250 w 334"/>
                <a:gd name="T11" fmla="*/ 0 h 289"/>
                <a:gd name="T12" fmla="*/ 83 w 334"/>
                <a:gd name="T13" fmla="*/ 0 h 289"/>
                <a:gd name="T14" fmla="*/ 245 w 334"/>
                <a:gd name="T15" fmla="*/ 8 h 289"/>
                <a:gd name="T16" fmla="*/ 324 w 334"/>
                <a:gd name="T17" fmla="*/ 144 h 289"/>
                <a:gd name="T18" fmla="*/ 245 w 334"/>
                <a:gd name="T19" fmla="*/ 280 h 289"/>
                <a:gd name="T20" fmla="*/ 88 w 334"/>
                <a:gd name="T21" fmla="*/ 280 h 289"/>
                <a:gd name="T22" fmla="*/ 10 w 334"/>
                <a:gd name="T23" fmla="*/ 144 h 289"/>
                <a:gd name="T24" fmla="*/ 88 w 334"/>
                <a:gd name="T25" fmla="*/ 8 h 289"/>
                <a:gd name="T26" fmla="*/ 245 w 334"/>
                <a:gd name="T27" fmla="*/ 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4" h="289">
                  <a:moveTo>
                    <a:pt x="83" y="0"/>
                  </a:moveTo>
                  <a:cubicBezTo>
                    <a:pt x="0" y="144"/>
                    <a:pt x="0" y="144"/>
                    <a:pt x="0" y="144"/>
                  </a:cubicBezTo>
                  <a:cubicBezTo>
                    <a:pt x="83" y="289"/>
                    <a:pt x="83" y="289"/>
                    <a:pt x="83" y="289"/>
                  </a:cubicBezTo>
                  <a:cubicBezTo>
                    <a:pt x="250" y="289"/>
                    <a:pt x="250" y="289"/>
                    <a:pt x="250" y="289"/>
                  </a:cubicBezTo>
                  <a:cubicBezTo>
                    <a:pt x="334" y="144"/>
                    <a:pt x="334" y="144"/>
                    <a:pt x="334" y="144"/>
                  </a:cubicBezTo>
                  <a:cubicBezTo>
                    <a:pt x="250" y="0"/>
                    <a:pt x="250" y="0"/>
                    <a:pt x="250" y="0"/>
                  </a:cubicBezTo>
                  <a:lnTo>
                    <a:pt x="83" y="0"/>
                  </a:lnTo>
                  <a:close/>
                  <a:moveTo>
                    <a:pt x="245" y="8"/>
                  </a:moveTo>
                  <a:cubicBezTo>
                    <a:pt x="248" y="12"/>
                    <a:pt x="322" y="140"/>
                    <a:pt x="324" y="144"/>
                  </a:cubicBezTo>
                  <a:cubicBezTo>
                    <a:pt x="322" y="148"/>
                    <a:pt x="248" y="276"/>
                    <a:pt x="245" y="280"/>
                  </a:cubicBezTo>
                  <a:cubicBezTo>
                    <a:pt x="241" y="280"/>
                    <a:pt x="93" y="280"/>
                    <a:pt x="88" y="280"/>
                  </a:cubicBezTo>
                  <a:cubicBezTo>
                    <a:pt x="86" y="276"/>
                    <a:pt x="12" y="148"/>
                    <a:pt x="10" y="144"/>
                  </a:cubicBezTo>
                  <a:cubicBezTo>
                    <a:pt x="12" y="140"/>
                    <a:pt x="86" y="12"/>
                    <a:pt x="88" y="8"/>
                  </a:cubicBezTo>
                  <a:cubicBezTo>
                    <a:pt x="93" y="8"/>
                    <a:pt x="241" y="8"/>
                    <a:pt x="245" y="8"/>
                  </a:cubicBezTo>
                  <a:close/>
                </a:path>
              </a:pathLst>
            </a:custGeom>
            <a:solidFill>
              <a:schemeClr val="bg2"/>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8" name="Rectangle 54"/>
            <p:cNvSpPr>
              <a:spLocks noChangeArrowheads="1"/>
            </p:cNvSpPr>
            <p:nvPr/>
          </p:nvSpPr>
          <p:spPr bwMode="auto">
            <a:xfrm>
              <a:off x="7115600" y="1159469"/>
              <a:ext cx="306443" cy="345657"/>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sp>
          <p:nvSpPr>
            <p:cNvPr id="69" name="Freeform 55"/>
            <p:cNvSpPr>
              <a:spLocks noEditPoints="1"/>
            </p:cNvSpPr>
            <p:nvPr/>
          </p:nvSpPr>
          <p:spPr bwMode="auto">
            <a:xfrm>
              <a:off x="6946663" y="1051451"/>
              <a:ext cx="640387" cy="689350"/>
            </a:xfrm>
            <a:custGeom>
              <a:avLst/>
              <a:gdLst>
                <a:gd name="T0" fmla="*/ 777813 w 1039209"/>
                <a:gd name="T1" fmla="*/ 0 h 1118903"/>
                <a:gd name="T2" fmla="*/ 258209 w 1039209"/>
                <a:gd name="T3" fmla="*/ 0 h 1118903"/>
                <a:gd name="T4" fmla="*/ 0 w 1039209"/>
                <a:gd name="T5" fmla="*/ 449474 h 1118903"/>
                <a:gd name="T6" fmla="*/ 178515 w 1039209"/>
                <a:gd name="T7" fmla="*/ 761874 h 1118903"/>
                <a:gd name="T8" fmla="*/ 130698 w 1039209"/>
                <a:gd name="T9" fmla="*/ 1118903 h 1118903"/>
                <a:gd name="T10" fmla="*/ 436723 w 1039209"/>
                <a:gd name="T11" fmla="*/ 898948 h 1118903"/>
                <a:gd name="T12" fmla="*/ 777813 w 1039209"/>
                <a:gd name="T13" fmla="*/ 898948 h 1118903"/>
                <a:gd name="T14" fmla="*/ 1039209 w 1039209"/>
                <a:gd name="T15" fmla="*/ 449474 h 1118903"/>
                <a:gd name="T16" fmla="*/ 777813 w 1039209"/>
                <a:gd name="T17" fmla="*/ 0 h 1118903"/>
                <a:gd name="T18" fmla="*/ 723621 w 1039209"/>
                <a:gd name="T19" fmla="*/ 672617 h 1118903"/>
                <a:gd name="T20" fmla="*/ 331527 w 1039209"/>
                <a:gd name="T21" fmla="*/ 672617 h 1118903"/>
                <a:gd name="T22" fmla="*/ 331527 w 1039209"/>
                <a:gd name="T23" fmla="*/ 602486 h 1118903"/>
                <a:gd name="T24" fmla="*/ 723621 w 1039209"/>
                <a:gd name="T25" fmla="*/ 602486 h 1118903"/>
                <a:gd name="T26" fmla="*/ 723621 w 1039209"/>
                <a:gd name="T27" fmla="*/ 672617 h 1118903"/>
                <a:gd name="T28" fmla="*/ 723621 w 1039209"/>
                <a:gd name="T29" fmla="*/ 484539 h 1118903"/>
                <a:gd name="T30" fmla="*/ 331527 w 1039209"/>
                <a:gd name="T31" fmla="*/ 484539 h 1118903"/>
                <a:gd name="T32" fmla="*/ 331527 w 1039209"/>
                <a:gd name="T33" fmla="*/ 414409 h 1118903"/>
                <a:gd name="T34" fmla="*/ 723621 w 1039209"/>
                <a:gd name="T35" fmla="*/ 414409 h 1118903"/>
                <a:gd name="T36" fmla="*/ 723621 w 1039209"/>
                <a:gd name="T37" fmla="*/ 484539 h 1118903"/>
                <a:gd name="T38" fmla="*/ 723621 w 1039209"/>
                <a:gd name="T39" fmla="*/ 296462 h 1118903"/>
                <a:gd name="T40" fmla="*/ 331527 w 1039209"/>
                <a:gd name="T41" fmla="*/ 296462 h 1118903"/>
                <a:gd name="T42" fmla="*/ 331527 w 1039209"/>
                <a:gd name="T43" fmla="*/ 226331 h 1118903"/>
                <a:gd name="T44" fmla="*/ 723621 w 1039209"/>
                <a:gd name="T45" fmla="*/ 226331 h 1118903"/>
                <a:gd name="T46" fmla="*/ 723621 w 1039209"/>
                <a:gd name="T47" fmla="*/ 296462 h 1118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39209" h="1118903">
                  <a:moveTo>
                    <a:pt x="777813" y="0"/>
                  </a:moveTo>
                  <a:lnTo>
                    <a:pt x="258209" y="0"/>
                  </a:lnTo>
                  <a:lnTo>
                    <a:pt x="0" y="449474"/>
                  </a:lnTo>
                  <a:lnTo>
                    <a:pt x="178515" y="761874"/>
                  </a:lnTo>
                  <a:lnTo>
                    <a:pt x="130698" y="1118903"/>
                  </a:lnTo>
                  <a:lnTo>
                    <a:pt x="436723" y="898948"/>
                  </a:lnTo>
                  <a:lnTo>
                    <a:pt x="777813" y="898948"/>
                  </a:lnTo>
                  <a:lnTo>
                    <a:pt x="1039209" y="449474"/>
                  </a:lnTo>
                  <a:lnTo>
                    <a:pt x="777813" y="0"/>
                  </a:lnTo>
                  <a:close/>
                  <a:moveTo>
                    <a:pt x="723621" y="672617"/>
                  </a:moveTo>
                  <a:lnTo>
                    <a:pt x="331527" y="672617"/>
                  </a:lnTo>
                  <a:lnTo>
                    <a:pt x="331527" y="602486"/>
                  </a:lnTo>
                  <a:lnTo>
                    <a:pt x="723621" y="602486"/>
                  </a:lnTo>
                  <a:lnTo>
                    <a:pt x="723621" y="672617"/>
                  </a:lnTo>
                  <a:close/>
                  <a:moveTo>
                    <a:pt x="723621" y="484539"/>
                  </a:moveTo>
                  <a:lnTo>
                    <a:pt x="331527" y="484539"/>
                  </a:lnTo>
                  <a:lnTo>
                    <a:pt x="331527" y="414409"/>
                  </a:lnTo>
                  <a:lnTo>
                    <a:pt x="723621" y="414409"/>
                  </a:lnTo>
                  <a:lnTo>
                    <a:pt x="723621" y="484539"/>
                  </a:lnTo>
                  <a:close/>
                  <a:moveTo>
                    <a:pt x="723621" y="296462"/>
                  </a:moveTo>
                  <a:lnTo>
                    <a:pt x="331527" y="296462"/>
                  </a:lnTo>
                  <a:lnTo>
                    <a:pt x="331527" y="226331"/>
                  </a:lnTo>
                  <a:lnTo>
                    <a:pt x="723621" y="226331"/>
                  </a:lnTo>
                  <a:lnTo>
                    <a:pt x="723621" y="296462"/>
                  </a:lnTo>
                  <a:close/>
                </a:path>
              </a:pathLst>
            </a:custGeom>
            <a:gradFill rotWithShape="1">
              <a:gsLst>
                <a:gs pos="0">
                  <a:schemeClr val="accent3"/>
                </a:gs>
                <a:gs pos="100000">
                  <a:schemeClr val="accent2"/>
                </a:gs>
              </a:gsLst>
              <a:lin ang="0" scaled="1"/>
            </a:gradFill>
            <a:ln>
              <a:noFill/>
            </a:ln>
            <a:effectLst/>
          </p:spPr>
          <p:txBody>
            <a:bodyPr vert="horz" wrap="square" lIns="91440" tIns="45720" rIns="91440" bIns="45720" numCol="1" anchor="t" anchorCtr="0" compatLnSpc="1">
              <a:prstTxWarp prst="textNoShape">
                <a:avLst/>
              </a:prstTxWarp>
            </a:bodyPr>
            <a:lstStyle/>
            <a:p>
              <a:endParaRPr lang="en-US" dirty="0">
                <a:latin typeface="Segoe UI" panose="020B0502040204020203" pitchFamily="34" charset="0"/>
              </a:endParaRPr>
            </a:p>
          </p:txBody>
        </p:sp>
      </p:grpSp>
      <p:sp>
        <p:nvSpPr>
          <p:cNvPr id="70" name="Text Box 2"/>
          <p:cNvSpPr txBox="1">
            <a:spLocks noChangeArrowheads="1"/>
          </p:cNvSpPr>
          <p:nvPr userDrawn="1"/>
        </p:nvSpPr>
        <p:spPr bwMode="auto">
          <a:xfrm>
            <a:off x="902198" y="5003799"/>
            <a:ext cx="2278685" cy="1363370"/>
          </a:xfrm>
          <a:prstGeom prst="flowChartMultidocument">
            <a:avLst/>
          </a:prstGeom>
          <a:gradFill flip="none" rotWithShape="1">
            <a:gsLst>
              <a:gs pos="0">
                <a:schemeClr val="accent5">
                  <a:lumMod val="20000"/>
                  <a:lumOff val="80000"/>
                </a:schemeClr>
              </a:gs>
              <a:gs pos="83000">
                <a:schemeClr val="bg1"/>
              </a:gs>
              <a:gs pos="100000">
                <a:srgbClr val="00B0F0"/>
              </a:gs>
            </a:gsLst>
            <a:path path="circle">
              <a:fillToRect t="100000" r="100000"/>
            </a:path>
            <a:tileRect l="-100000" b="-100000"/>
          </a:gradFill>
          <a:ln>
            <a:noFill/>
          </a:ln>
          <a:effectLst>
            <a:outerShdw sx="31000" sy="31000" algn="ctr">
              <a:srgbClr val="000000">
                <a:alpha val="95000"/>
              </a:srgbClr>
            </a:outerShdw>
          </a:effectLst>
          <a:scene3d>
            <a:camera prst="orthographicFront">
              <a:rot lat="0" lon="0" rev="0"/>
            </a:camera>
            <a:lightRig rig="balanced" dir="t">
              <a:rot lat="0" lon="0" rev="8700000"/>
            </a:lightRig>
          </a:scene3d>
          <a:sp3d>
            <a:bevelT w="190500" h="38100"/>
          </a:sp3d>
        </p:spPr>
        <p:txBody>
          <a:bodyPr vert="horz" wrap="square" lIns="36576" tIns="0" rIns="36576" bIns="36576" numCol="1" anchor="t" anchorCtr="0" compatLnSpc="1">
            <a:prstTxWarp prst="textNoShape">
              <a:avLst/>
            </a:prstTxWarp>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100" b="1" i="0" u="none" strike="noStrike" cap="none" normalizeH="0" baseline="0" dirty="0" smtClean="0">
                <a:ln>
                  <a:noFill/>
                </a:ln>
                <a:solidFill>
                  <a:srgbClr val="C00000"/>
                </a:solidFill>
                <a:effectLst/>
                <a:latin typeface="Segoe UI" pitchFamily="34" charset="0"/>
                <a:cs typeface="Arial" pitchFamily="34" charset="0"/>
              </a:rPr>
              <a:t>US Headquarters</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smtClean="0">
                <a:ln>
                  <a:noFill/>
                </a:ln>
                <a:effectLst/>
                <a:latin typeface="Segoe UI" panose="020B0502040204020203" pitchFamily="34" charset="0"/>
                <a:cs typeface="Arial" pitchFamily="34" charset="0"/>
              </a:rPr>
              <a:t>3001 </a:t>
            </a:r>
            <a:r>
              <a:rPr kumimoji="0" lang="en-US" sz="1100" b="0" i="0" u="none" strike="noStrike" cap="none" normalizeH="0" dirty="0" smtClean="0">
                <a:ln>
                  <a:noFill/>
                </a:ln>
                <a:effectLst/>
                <a:latin typeface="Segoe UI" panose="020B0502040204020203" pitchFamily="34" charset="0"/>
                <a:cs typeface="Arial" pitchFamily="34" charset="0"/>
              </a:rPr>
              <a:t>Hadley Road; </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dirty="0" smtClean="0">
                <a:ln>
                  <a:noFill/>
                </a:ln>
                <a:effectLst/>
                <a:latin typeface="Segoe UI" panose="020B0502040204020203" pitchFamily="34" charset="0"/>
                <a:cs typeface="Arial" pitchFamily="34" charset="0"/>
              </a:rPr>
              <a:t>Unit 8, South Plainfield, </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dirty="0" smtClean="0">
                <a:ln>
                  <a:noFill/>
                </a:ln>
                <a:effectLst/>
                <a:latin typeface="Segoe UI" panose="020B0502040204020203" pitchFamily="34" charset="0"/>
                <a:cs typeface="Arial" pitchFamily="34" charset="0"/>
              </a:rPr>
              <a:t>NJ 07080</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dirty="0" smtClean="0">
                <a:ln>
                  <a:noFill/>
                </a:ln>
                <a:effectLst/>
                <a:latin typeface="Segoe UI" panose="020B0502040204020203" pitchFamily="34" charset="0"/>
                <a:cs typeface="Arial" pitchFamily="34" charset="0"/>
              </a:rPr>
              <a:t>Tel:  (908) 755 0048</a:t>
            </a:r>
          </a:p>
        </p:txBody>
      </p:sp>
      <p:sp>
        <p:nvSpPr>
          <p:cNvPr id="71" name="Text Box 5"/>
          <p:cNvSpPr txBox="1">
            <a:spLocks noChangeArrowheads="1"/>
          </p:cNvSpPr>
          <p:nvPr userDrawn="1"/>
        </p:nvSpPr>
        <p:spPr bwMode="auto">
          <a:xfrm>
            <a:off x="3352800" y="5029200"/>
            <a:ext cx="2278685" cy="1363370"/>
          </a:xfrm>
          <a:prstGeom prst="flowChartMultidocument">
            <a:avLst/>
          </a:prstGeom>
          <a:gradFill flip="none" rotWithShape="1">
            <a:gsLst>
              <a:gs pos="0">
                <a:schemeClr val="accent5">
                  <a:lumMod val="20000"/>
                  <a:lumOff val="80000"/>
                </a:schemeClr>
              </a:gs>
              <a:gs pos="83000">
                <a:schemeClr val="bg1"/>
              </a:gs>
              <a:gs pos="100000">
                <a:srgbClr val="00B0F0"/>
              </a:gs>
            </a:gsLst>
            <a:path path="circle">
              <a:fillToRect t="100000" r="100000"/>
            </a:path>
            <a:tileRect l="-100000" b="-100000"/>
          </a:gradFill>
          <a:ln>
            <a:noFill/>
          </a:ln>
          <a:effectLst>
            <a:outerShdw sx="31000" sy="31000" algn="ctr">
              <a:srgbClr val="000000">
                <a:alpha val="95000"/>
              </a:srgbClr>
            </a:outerShdw>
          </a:effectLst>
          <a:scene3d>
            <a:camera prst="orthographicFront">
              <a:rot lat="0" lon="0" rev="0"/>
            </a:camera>
            <a:lightRig rig="balanced" dir="t">
              <a:rot lat="0" lon="0" rev="8700000"/>
            </a:lightRig>
          </a:scene3d>
          <a:sp3d>
            <a:bevelT w="190500" h="38100"/>
          </a:sp3d>
        </p:spPr>
        <p:txBody>
          <a:bodyPr vert="horz" wrap="square" lIns="274320" tIns="0" rIns="36576" bIns="36576" numCol="1" anchor="t" anchorCtr="0" compatLnSpc="1">
            <a:prstTxWarp prst="textNoShape">
              <a:avLst/>
            </a:prstTxWarp>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100" b="1" i="0" u="none" strike="noStrike" cap="none" normalizeH="0" baseline="0" dirty="0" smtClean="0">
                <a:ln>
                  <a:noFill/>
                </a:ln>
                <a:solidFill>
                  <a:srgbClr val="C00000"/>
                </a:solidFill>
                <a:effectLst/>
                <a:latin typeface="Segoe UI" pitchFamily="34" charset="0"/>
                <a:cs typeface="Arial" pitchFamily="34" charset="0"/>
              </a:rPr>
              <a:t>Asia Pacific</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baseline="0" dirty="0" smtClean="0">
                <a:ln>
                  <a:noFill/>
                </a:ln>
                <a:solidFill>
                  <a:srgbClr val="0C0C0C"/>
                </a:solidFill>
                <a:effectLst/>
                <a:latin typeface="Segoe UI" pitchFamily="34" charset="0"/>
                <a:cs typeface="Arial" pitchFamily="34" charset="0"/>
              </a:rPr>
              <a:t>Plot </a:t>
            </a:r>
            <a:r>
              <a:rPr kumimoji="0" lang="en-US" sz="1100" b="0" i="0" u="none" strike="noStrike" cap="none" normalizeH="0" baseline="0" smtClean="0">
                <a:ln>
                  <a:noFill/>
                </a:ln>
                <a:solidFill>
                  <a:srgbClr val="0C0C0C"/>
                </a:solidFill>
                <a:effectLst/>
                <a:latin typeface="Segoe UI" pitchFamily="34" charset="0"/>
                <a:cs typeface="Arial" pitchFamily="34" charset="0"/>
              </a:rPr>
              <a:t>No 1, </a:t>
            </a:r>
            <a:r>
              <a:rPr kumimoji="0" lang="en-US" sz="1100" b="0" i="0" u="none" strike="noStrike" cap="none" normalizeH="0" baseline="0" dirty="0" smtClean="0">
                <a:ln>
                  <a:noFill/>
                </a:ln>
                <a:solidFill>
                  <a:srgbClr val="0C0C0C"/>
                </a:solidFill>
                <a:effectLst/>
                <a:latin typeface="Segoe UI" pitchFamily="34" charset="0"/>
                <a:cs typeface="Arial" pitchFamily="34" charset="0"/>
              </a:rPr>
              <a:t>Sagar society, </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baseline="0" dirty="0" smtClean="0">
                <a:ln>
                  <a:noFill/>
                </a:ln>
                <a:solidFill>
                  <a:srgbClr val="0C0C0C"/>
                </a:solidFill>
                <a:effectLst/>
                <a:latin typeface="Segoe UI" pitchFamily="34" charset="0"/>
                <a:cs typeface="Arial" pitchFamily="34" charset="0"/>
              </a:rPr>
              <a:t>Road No. 2, Banjara Hills</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baseline="0" dirty="0" smtClean="0">
                <a:ln>
                  <a:noFill/>
                </a:ln>
                <a:solidFill>
                  <a:srgbClr val="0C0C0C"/>
                </a:solidFill>
                <a:effectLst/>
                <a:latin typeface="Segoe UI" pitchFamily="34" charset="0"/>
                <a:cs typeface="Arial" pitchFamily="34" charset="0"/>
              </a:rPr>
              <a:t>Hyderabad- 500034, India</a:t>
            </a:r>
          </a:p>
          <a:p>
            <a:pPr marL="0" marR="0" lvl="0" indent="0" algn="ctr" defTabSz="914400" rtl="0" eaLnBrk="1" fontAlgn="base" latinLnBrk="0" hangingPunct="1">
              <a:spcBef>
                <a:spcPct val="0"/>
              </a:spcBef>
              <a:spcAft>
                <a:spcPct val="0"/>
              </a:spcAft>
              <a:buClrTx/>
              <a:buSzTx/>
              <a:buFontTx/>
              <a:buNone/>
              <a:tabLst/>
            </a:pPr>
            <a:r>
              <a:rPr kumimoji="0" lang="en-US" sz="1100" b="0" i="0" u="none" strike="noStrike" cap="none" normalizeH="0" baseline="0" dirty="0" smtClean="0">
                <a:ln>
                  <a:noFill/>
                </a:ln>
                <a:solidFill>
                  <a:srgbClr val="0C0C0C"/>
                </a:solidFill>
                <a:effectLst/>
                <a:latin typeface="Segoe UI" pitchFamily="34" charset="0"/>
                <a:cs typeface="Arial" pitchFamily="34" charset="0"/>
              </a:rPr>
              <a:t>Tel: </a:t>
            </a:r>
            <a:r>
              <a:rPr kumimoji="0" lang="en-US" sz="1100" b="0" i="0" u="none" strike="noStrike" cap="none" normalizeH="0" baseline="0" smtClean="0">
                <a:ln>
                  <a:noFill/>
                </a:ln>
                <a:solidFill>
                  <a:srgbClr val="0C0C0C"/>
                </a:solidFill>
                <a:effectLst/>
                <a:latin typeface="Segoe UI" pitchFamily="34" charset="0"/>
                <a:cs typeface="Arial" pitchFamily="34" charset="0"/>
              </a:rPr>
              <a:t>+91 </a:t>
            </a:r>
            <a:r>
              <a:rPr kumimoji="0" lang="en-US" sz="1100" b="0" i="0" u="none" strike="noStrike" cap="none" normalizeH="0" baseline="0" dirty="0" smtClean="0">
                <a:ln>
                  <a:noFill/>
                </a:ln>
                <a:solidFill>
                  <a:srgbClr val="0C0C0C"/>
                </a:solidFill>
                <a:effectLst/>
                <a:latin typeface="Segoe UI" pitchFamily="34" charset="0"/>
                <a:cs typeface="Arial" pitchFamily="34" charset="0"/>
              </a:rPr>
              <a:t>40 66509300</a:t>
            </a:r>
          </a:p>
        </p:txBody>
      </p:sp>
      <p:sp>
        <p:nvSpPr>
          <p:cNvPr id="72" name="Rectangle 71"/>
          <p:cNvSpPr/>
          <p:nvPr userDrawn="1"/>
        </p:nvSpPr>
        <p:spPr>
          <a:xfrm>
            <a:off x="838200" y="4523601"/>
            <a:ext cx="2932662" cy="276999"/>
          </a:xfrm>
          <a:prstGeom prst="rect">
            <a:avLst/>
          </a:prstGeom>
        </p:spPr>
        <p:txBody>
          <a:bodyPr wrap="none">
            <a:spAutoFit/>
          </a:bodyPr>
          <a:lstStyle/>
          <a:p>
            <a:r>
              <a:rPr lang="en-IN" sz="1200" b="1" dirty="0" smtClean="0">
                <a:solidFill>
                  <a:srgbClr val="0C0C0C"/>
                </a:solidFill>
                <a:latin typeface="Segoe UI" pitchFamily="34" charset="0"/>
                <a:cs typeface="Arial" pitchFamily="34" charset="0"/>
              </a:rPr>
              <a:t>Email</a:t>
            </a:r>
            <a:r>
              <a:rPr lang="en-IN" sz="1200" dirty="0" smtClean="0">
                <a:solidFill>
                  <a:srgbClr val="0C0C0C"/>
                </a:solidFill>
                <a:latin typeface="Segoe UI" pitchFamily="34" charset="0"/>
                <a:cs typeface="Arial" pitchFamily="34" charset="0"/>
              </a:rPr>
              <a:t>: </a:t>
            </a:r>
            <a:r>
              <a:rPr lang="en-IN" sz="1200" dirty="0" smtClean="0">
                <a:solidFill>
                  <a:srgbClr val="0C0C0C"/>
                </a:solidFill>
                <a:latin typeface="Segoe UI" pitchFamily="34" charset="0"/>
                <a:cs typeface="Arial" pitchFamily="34" charset="0"/>
                <a:hlinkClick r:id="rId3"/>
              </a:rPr>
              <a:t>solutions@valuemomentum.com</a:t>
            </a:r>
            <a:endParaRPr lang="en-IN" sz="1600" dirty="0">
              <a:latin typeface="Segoe UI" panose="020B0502040204020203" pitchFamily="34" charset="0"/>
            </a:endParaRPr>
          </a:p>
        </p:txBody>
      </p:sp>
      <p:pic>
        <p:nvPicPr>
          <p:cNvPr id="73" name="Picture 72" descr="VM-Logo-Small.wmf"/>
          <p:cNvPicPr>
            <a:picLocks noChangeAspect="1"/>
          </p:cNvPicPr>
          <p:nvPr userDrawn="1"/>
        </p:nvPicPr>
        <p:blipFill>
          <a:blip r:embed="rId4" cstate="print"/>
          <a:stretch>
            <a:fillRect/>
          </a:stretch>
        </p:blipFill>
        <p:spPr>
          <a:xfrm>
            <a:off x="2432199" y="1754137"/>
            <a:ext cx="2438400" cy="1581862"/>
          </a:xfrm>
          <a:prstGeom prst="rect">
            <a:avLst/>
          </a:prstGeom>
        </p:spPr>
      </p:pic>
      <p:sp>
        <p:nvSpPr>
          <p:cNvPr id="74" name="Rectangle 73"/>
          <p:cNvSpPr/>
          <p:nvPr userDrawn="1"/>
        </p:nvSpPr>
        <p:spPr>
          <a:xfrm flipH="1">
            <a:off x="8915400" y="0"/>
            <a:ext cx="228600" cy="6858000"/>
          </a:xfrm>
          <a:prstGeom prst="rect">
            <a:avLst/>
          </a:prstGeom>
          <a:solidFill>
            <a:schemeClr val="accent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effectLst>
                <a:innerShdw blurRad="63500" dist="50800" dir="18900000">
                  <a:prstClr val="black">
                    <a:alpha val="50000"/>
                  </a:prstClr>
                </a:innerShdw>
              </a:effectLst>
              <a:latin typeface="Segoe UI" panose="020B0502040204020203"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F86306AF-38F4-499A-812E-334ED9327A74}" type="datetimeFigureOut">
              <a:rPr lang="en-US"/>
              <a:pPr>
                <a:defRPr/>
              </a:pPr>
              <a:t>3/8/2017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D15D6DB5-54A4-4285-9923-81CA270B174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18" r:id="rId1"/>
    <p:sldLayoutId id="2147483919" r:id="rId2"/>
    <p:sldLayoutId id="2147483936" r:id="rId3"/>
    <p:sldLayoutId id="2147483937" r:id="rId4"/>
  </p:sldLayoutIdLst>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581400" y="2321868"/>
            <a:ext cx="5562600" cy="2057400"/>
          </a:xfrm>
          <a:prstGeom prst="rect">
            <a:avLst/>
          </a:prstGeom>
        </p:spPr>
        <p:txBody>
          <a:bodyPr anchor="ctr">
            <a:noAutofit/>
          </a:bodyPr>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80000"/>
              </a:lnSpc>
            </a:pPr>
            <a:r>
              <a:rPr lang="en-US" b="1" dirty="0" smtClean="0">
                <a:ln w="1905"/>
                <a:gradFill>
                  <a:gsLst>
                    <a:gs pos="100000">
                      <a:schemeClr val="accent6">
                        <a:lumMod val="75000"/>
                      </a:schemeClr>
                    </a:gs>
                    <a:gs pos="76000">
                      <a:schemeClr val="accent6">
                        <a:lumMod val="75000"/>
                      </a:schemeClr>
                    </a:gs>
                    <a:gs pos="100000">
                      <a:schemeClr val="accent6"/>
                    </a:gs>
                  </a:gsLst>
                  <a:lin ang="5400000"/>
                </a:gradFill>
                <a:effectLst>
                  <a:outerShdw blurRad="38100" dist="38100" dir="4320000" algn="tl">
                    <a:srgbClr val="000000">
                      <a:alpha val="28000"/>
                    </a:srgbClr>
                  </a:outerShdw>
                </a:effectLst>
                <a:latin typeface="Segoe UI" panose="020B0502040204020203" pitchFamily="34" charset="0"/>
                <a:ea typeface="Segoe UI" panose="020B0502040204020203" pitchFamily="34" charset="0"/>
                <a:cs typeface="Segoe UI" panose="020B0502040204020203" pitchFamily="34" charset="0"/>
              </a:rPr>
              <a:t>Commercial Insurance</a:t>
            </a:r>
            <a:endParaRPr lang="en-US" b="1" dirty="0">
              <a:ln w="1905"/>
              <a:gradFill>
                <a:gsLst>
                  <a:gs pos="100000">
                    <a:schemeClr val="accent6">
                      <a:lumMod val="75000"/>
                    </a:schemeClr>
                  </a:gs>
                  <a:gs pos="76000">
                    <a:schemeClr val="accent6">
                      <a:lumMod val="75000"/>
                    </a:schemeClr>
                  </a:gs>
                  <a:gs pos="100000">
                    <a:schemeClr val="accent6"/>
                  </a:gs>
                </a:gsLst>
                <a:lin ang="5400000"/>
              </a:gradFill>
              <a:effectLst>
                <a:outerShdw blurRad="38100" dist="38100" dir="4320000" algn="tl">
                  <a:srgbClr val="000000">
                    <a:alpha val="28000"/>
                  </a:srgbClr>
                </a:outerShdw>
              </a:effectLst>
              <a:latin typeface="Segoe UI" panose="020B0502040204020203" pitchFamily="34" charset="0"/>
              <a:ea typeface="Segoe UI" panose="020B0502040204020203" pitchFamily="34" charset="0"/>
              <a:cs typeface="Segoe UI" panose="020B0502040204020203" pitchFamily="34" charset="0"/>
            </a:endParaRPr>
          </a:p>
        </p:txBody>
      </p:sp>
      <p:sp>
        <p:nvSpPr>
          <p:cNvPr id="2" name="TextBox 1"/>
          <p:cNvSpPr txBox="1"/>
          <p:nvPr/>
        </p:nvSpPr>
        <p:spPr>
          <a:xfrm>
            <a:off x="5334000" y="4800600"/>
            <a:ext cx="2895600" cy="461665"/>
          </a:xfrm>
          <a:prstGeom prst="rect">
            <a:avLst/>
          </a:prstGeom>
          <a:noFill/>
        </p:spPr>
        <p:txBody>
          <a:bodyPr wrap="square" rtlCol="0" anchor="ctr">
            <a:spAutoFit/>
          </a:bodyPr>
          <a:lstStyle/>
          <a:p>
            <a:pPr algn="ctr"/>
            <a:r>
              <a:rPr lang="en-US" sz="2400" b="1" dirty="0">
                <a:solidFill>
                  <a:schemeClr val="bg2">
                    <a:lumMod val="25000"/>
                  </a:schemeClr>
                </a:solidFill>
              </a:rPr>
              <a:t>7</a:t>
            </a:r>
            <a:r>
              <a:rPr lang="en-US" sz="2400" b="1" dirty="0" smtClean="0">
                <a:solidFill>
                  <a:schemeClr val="bg2">
                    <a:lumMod val="25000"/>
                  </a:schemeClr>
                </a:solidFill>
              </a:rPr>
              <a:t> March 2017</a:t>
            </a:r>
            <a:endParaRPr lang="en-US" sz="2400" b="1" dirty="0">
              <a:solidFill>
                <a:schemeClr val="bg2">
                  <a:lumMod val="25000"/>
                </a:schemeClr>
              </a:solidFill>
            </a:endParaRPr>
          </a:p>
        </p:txBody>
      </p:sp>
    </p:spTree>
    <p:extLst>
      <p:ext uri="{BB962C8B-B14F-4D97-AF65-F5344CB8AC3E}">
        <p14:creationId xmlns:p14="http://schemas.microsoft.com/office/powerpoint/2010/main" val="348751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1" y="914400"/>
            <a:ext cx="8458200" cy="2923877"/>
          </a:xfrm>
          <a:prstGeom prst="rect">
            <a:avLst/>
          </a:prstGeom>
          <a:noFill/>
        </p:spPr>
        <p:txBody>
          <a:bodyPr wrap="square" rtlCol="0">
            <a:spAutoFit/>
          </a:bodyPr>
          <a:lstStyle/>
          <a:p>
            <a:r>
              <a:rPr lang="en-US" sz="2000" b="1" dirty="0" smtClean="0"/>
              <a:t>What is commercial insurance ?</a:t>
            </a:r>
          </a:p>
          <a:p>
            <a:endParaRPr lang="en-US" dirty="0"/>
          </a:p>
          <a:p>
            <a:r>
              <a:rPr lang="en-US" dirty="0"/>
              <a:t>Coverage for businesses for protection against potential losses through unforeseen circumstances like theft, liability, property damage, and for coverage in the event of an interruption of business or injured employees</a:t>
            </a:r>
            <a:r>
              <a:rPr lang="en-US" dirty="0" smtClean="0"/>
              <a:t>.</a:t>
            </a:r>
          </a:p>
          <a:p>
            <a:endParaRPr lang="en-US" dirty="0"/>
          </a:p>
          <a:p>
            <a:r>
              <a:rPr lang="en-US" sz="2000" b="1" dirty="0" smtClean="0"/>
              <a:t>What determines applicable insurance personal/commercial ?</a:t>
            </a:r>
          </a:p>
          <a:p>
            <a:endParaRPr lang="en-US" dirty="0"/>
          </a:p>
          <a:p>
            <a:r>
              <a:rPr lang="en-US" dirty="0" smtClean="0"/>
              <a:t>It is the use/activity that governs the applicable insurance.</a:t>
            </a:r>
            <a:r>
              <a:rPr lang="en-US" dirty="0"/>
              <a:t/>
            </a:r>
            <a:br>
              <a:rPr lang="en-US" dirty="0"/>
            </a:br>
            <a:endParaRPr lang="en-US"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733800"/>
            <a:ext cx="60007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1240995"/>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General </a:t>
            </a:r>
            <a:r>
              <a:rPr lang="en-US" sz="2500" b="1" dirty="0">
                <a:solidFill>
                  <a:prstClr val="white"/>
                </a:solidFill>
                <a:latin typeface="Segoe UI Light" panose="020B0502040204020203" pitchFamily="34" charset="0"/>
              </a:rPr>
              <a:t>Liability Insurance</a:t>
            </a:r>
          </a:p>
        </p:txBody>
      </p:sp>
      <p:sp>
        <p:nvSpPr>
          <p:cNvPr id="4" name="Rectangle 3"/>
          <p:cNvSpPr/>
          <p:nvPr/>
        </p:nvSpPr>
        <p:spPr>
          <a:xfrm>
            <a:off x="304800" y="914400"/>
            <a:ext cx="8382000" cy="646331"/>
          </a:xfrm>
          <a:prstGeom prst="rect">
            <a:avLst/>
          </a:prstGeom>
        </p:spPr>
        <p:txBody>
          <a:bodyPr wrap="square">
            <a:spAutoFit/>
          </a:bodyPr>
          <a:lstStyle/>
          <a:p>
            <a:pPr lvl="1"/>
            <a:endParaRPr lang="en-US" dirty="0" smtClean="0"/>
          </a:p>
          <a:p>
            <a:pPr marL="742950" lvl="1" indent="-285750">
              <a:buFont typeface="Arial" panose="020B0604020202020204" pitchFamily="34" charset="0"/>
              <a:buChar char="•"/>
            </a:pPr>
            <a:endParaRPr lang="en-US" dirty="0" smtClean="0"/>
          </a:p>
        </p:txBody>
      </p:sp>
      <p:sp>
        <p:nvSpPr>
          <p:cNvPr id="2" name="TextBox 1"/>
          <p:cNvSpPr txBox="1"/>
          <p:nvPr/>
        </p:nvSpPr>
        <p:spPr>
          <a:xfrm>
            <a:off x="152400" y="851892"/>
            <a:ext cx="8382000" cy="5078313"/>
          </a:xfrm>
          <a:prstGeom prst="rect">
            <a:avLst/>
          </a:prstGeom>
          <a:noFill/>
        </p:spPr>
        <p:txBody>
          <a:bodyPr wrap="square" rtlCol="0">
            <a:spAutoFit/>
          </a:bodyPr>
          <a:lstStyle/>
          <a:p>
            <a:pPr marL="285750" indent="-285750">
              <a:buFont typeface="Wingdings" pitchFamily="2" charset="2"/>
              <a:buChar char="Ø"/>
            </a:pPr>
            <a:r>
              <a:rPr lang="en-US" dirty="0" smtClean="0"/>
              <a:t>Loss Exposures include:</a:t>
            </a:r>
            <a:endParaRPr lang="en-US" dirty="0"/>
          </a:p>
          <a:p>
            <a:pPr marL="742950" lvl="1" indent="-285750">
              <a:buFont typeface="Arial" pitchFamily="34" charset="0"/>
              <a:buChar char="•"/>
            </a:pPr>
            <a:r>
              <a:rPr lang="en-US" dirty="0"/>
              <a:t>Premises Liability </a:t>
            </a:r>
            <a:r>
              <a:rPr lang="en-US" dirty="0" smtClean="0"/>
              <a:t>Exposure</a:t>
            </a:r>
          </a:p>
          <a:p>
            <a:pPr marL="742950" lvl="1" indent="-285750">
              <a:buFont typeface="Arial" pitchFamily="34" charset="0"/>
              <a:buChar char="•"/>
            </a:pPr>
            <a:r>
              <a:rPr lang="en-US" dirty="0" smtClean="0"/>
              <a:t>Operations </a:t>
            </a:r>
            <a:r>
              <a:rPr lang="en-US" dirty="0"/>
              <a:t>Liability </a:t>
            </a:r>
            <a:r>
              <a:rPr lang="en-US" dirty="0" smtClean="0"/>
              <a:t>Exposure </a:t>
            </a:r>
          </a:p>
          <a:p>
            <a:pPr marL="742950" lvl="1" indent="-285750">
              <a:buFont typeface="Arial" pitchFamily="34" charset="0"/>
              <a:buChar char="•"/>
            </a:pPr>
            <a:r>
              <a:rPr lang="en-US" dirty="0" smtClean="0"/>
              <a:t>Products </a:t>
            </a:r>
            <a:r>
              <a:rPr lang="en-US" dirty="0"/>
              <a:t>Liability </a:t>
            </a:r>
            <a:r>
              <a:rPr lang="en-US" dirty="0" smtClean="0"/>
              <a:t>Exposure</a:t>
            </a:r>
          </a:p>
          <a:p>
            <a:pPr marL="742950" lvl="1" indent="-285750">
              <a:buFont typeface="Arial" pitchFamily="34" charset="0"/>
              <a:buChar char="•"/>
            </a:pPr>
            <a:r>
              <a:rPr lang="en-US" dirty="0" smtClean="0"/>
              <a:t>Completed </a:t>
            </a:r>
            <a:r>
              <a:rPr lang="en-US" dirty="0"/>
              <a:t>Operations Liability </a:t>
            </a:r>
            <a:endParaRPr lang="en-US" dirty="0" smtClean="0"/>
          </a:p>
          <a:p>
            <a:pPr lvl="1"/>
            <a:r>
              <a:rPr lang="en-US" dirty="0"/>
              <a:t> </a:t>
            </a:r>
            <a:r>
              <a:rPr lang="en-US" dirty="0" smtClean="0"/>
              <a:t>    Exposure </a:t>
            </a:r>
          </a:p>
          <a:p>
            <a:endParaRPr lang="en-US" dirty="0"/>
          </a:p>
          <a:p>
            <a:pPr marL="285750" indent="-285750">
              <a:buFont typeface="Wingdings" pitchFamily="2" charset="2"/>
              <a:buChar char="Ø"/>
            </a:pPr>
            <a:r>
              <a:rPr lang="en-US" dirty="0" smtClean="0"/>
              <a:t>Coverage </a:t>
            </a:r>
            <a:r>
              <a:rPr lang="en-US" dirty="0" smtClean="0"/>
              <a:t>offered:</a:t>
            </a:r>
          </a:p>
          <a:p>
            <a:pPr marL="742950" lvl="1" indent="-285750">
              <a:buFont typeface="Arial" panose="020B0604020202020204" pitchFamily="34" charset="0"/>
              <a:buChar char="•"/>
            </a:pPr>
            <a:r>
              <a:rPr lang="en-US" dirty="0" smtClean="0"/>
              <a:t>Coverage A - Bodily injury and property </a:t>
            </a:r>
          </a:p>
          <a:p>
            <a:pPr lvl="1"/>
            <a:r>
              <a:rPr lang="en-US" dirty="0"/>
              <a:t> </a:t>
            </a:r>
            <a:r>
              <a:rPr lang="en-US" dirty="0" smtClean="0"/>
              <a:t>    damage liability</a:t>
            </a:r>
          </a:p>
          <a:p>
            <a:pPr marL="742950" lvl="1" indent="-285750">
              <a:buFont typeface="Arial" panose="020B0604020202020204" pitchFamily="34" charset="0"/>
              <a:buChar char="•"/>
            </a:pPr>
            <a:r>
              <a:rPr lang="en-US" dirty="0" smtClean="0"/>
              <a:t>Coverage B - Personal and advertising </a:t>
            </a:r>
            <a:endParaRPr lang="en-US" dirty="0" smtClean="0"/>
          </a:p>
          <a:p>
            <a:pPr lvl="1"/>
            <a:r>
              <a:rPr lang="en-US" dirty="0"/>
              <a:t> </a:t>
            </a:r>
            <a:r>
              <a:rPr lang="en-US" dirty="0" smtClean="0"/>
              <a:t>    </a:t>
            </a:r>
            <a:r>
              <a:rPr lang="en-US" dirty="0" smtClean="0"/>
              <a:t>injury </a:t>
            </a:r>
            <a:r>
              <a:rPr lang="en-US" dirty="0" smtClean="0"/>
              <a:t>liability</a:t>
            </a:r>
          </a:p>
          <a:p>
            <a:pPr marL="742950" lvl="1" indent="-285750">
              <a:buFont typeface="Arial" panose="020B0604020202020204" pitchFamily="34" charset="0"/>
              <a:buChar char="•"/>
            </a:pPr>
            <a:r>
              <a:rPr lang="en-US" dirty="0" smtClean="0"/>
              <a:t>Coverage C - Medical payments</a:t>
            </a:r>
          </a:p>
          <a:p>
            <a:endParaRPr lang="en-US" dirty="0"/>
          </a:p>
          <a:p>
            <a:pPr marL="285750" indent="-285750">
              <a:buFont typeface="Wingdings" pitchFamily="2" charset="2"/>
              <a:buChar char="Ø"/>
            </a:pPr>
            <a:r>
              <a:rPr lang="en-US" dirty="0" smtClean="0"/>
              <a:t>To be insured the bodily injury or the </a:t>
            </a:r>
            <a:r>
              <a:rPr lang="en-US" dirty="0" smtClean="0"/>
              <a:t>property</a:t>
            </a:r>
          </a:p>
          <a:p>
            <a:r>
              <a:rPr lang="en-US" dirty="0"/>
              <a:t> </a:t>
            </a:r>
            <a:r>
              <a:rPr lang="en-US" dirty="0" smtClean="0"/>
              <a:t>    </a:t>
            </a:r>
            <a:r>
              <a:rPr lang="en-US" dirty="0" smtClean="0"/>
              <a:t>damage </a:t>
            </a:r>
            <a:r>
              <a:rPr lang="en-US" dirty="0" smtClean="0"/>
              <a:t>must be caused by a single </a:t>
            </a:r>
            <a:r>
              <a:rPr lang="en-US" dirty="0" smtClean="0"/>
              <a:t>occurrence</a:t>
            </a:r>
          </a:p>
          <a:p>
            <a:endParaRPr lang="en-US" dirty="0"/>
          </a:p>
          <a:p>
            <a:pPr marL="285750" indent="-285750">
              <a:buFont typeface="Wingdings" panose="05000000000000000000" pitchFamily="2" charset="2"/>
              <a:buChar char="Ø"/>
            </a:pPr>
            <a:r>
              <a:rPr lang="en-US" dirty="0" smtClean="0"/>
              <a:t>Insurer’s duty to defend are broader than it’s duty to pay damages</a:t>
            </a:r>
            <a:endParaRPr lang="en-US"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878114"/>
            <a:ext cx="36195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2795136"/>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General Liability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5355312"/>
          </a:xfrm>
          <a:prstGeom prst="rect">
            <a:avLst/>
          </a:prstGeom>
          <a:noFill/>
        </p:spPr>
        <p:txBody>
          <a:bodyPr wrap="square" rtlCol="0">
            <a:spAutoFit/>
          </a:bodyPr>
          <a:lstStyle/>
          <a:p>
            <a:pPr marL="285750" indent="-285750">
              <a:buFont typeface="Wingdings" pitchFamily="2" charset="2"/>
              <a:buChar char="Ø"/>
            </a:pPr>
            <a:r>
              <a:rPr lang="en-US" dirty="0"/>
              <a:t>Supplementary payments like the fees for attorneys, cost of bail bonds and interest on judgements are also </a:t>
            </a:r>
            <a:r>
              <a:rPr lang="en-US" dirty="0" smtClean="0"/>
              <a:t>included</a:t>
            </a:r>
          </a:p>
          <a:p>
            <a:endParaRPr lang="en-US" dirty="0" smtClean="0"/>
          </a:p>
          <a:p>
            <a:pPr marL="285750" indent="-285750">
              <a:buFont typeface="Wingdings" pitchFamily="2" charset="2"/>
              <a:buChar char="Ø"/>
            </a:pPr>
            <a:r>
              <a:rPr lang="en-US" dirty="0" smtClean="0"/>
              <a:t>Common exclusions are intended injury, contractual liability, liquor liability, war, pollution etc.</a:t>
            </a:r>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Per occurrence limit specifies the maximum amount per occurrence. Sub-limits include </a:t>
            </a:r>
            <a:r>
              <a:rPr lang="en-US" b="1" dirty="0" smtClean="0"/>
              <a:t>Damage to premises rented to you </a:t>
            </a:r>
            <a:r>
              <a:rPr lang="en-US" dirty="0" smtClean="0"/>
              <a:t>(basic $ 100,000) and </a:t>
            </a:r>
            <a:r>
              <a:rPr lang="en-US" b="1" dirty="0" smtClean="0"/>
              <a:t>Medical expense limit </a:t>
            </a:r>
            <a:r>
              <a:rPr lang="en-US" dirty="0" smtClean="0"/>
              <a:t>for one person (basic $ 5,000)</a:t>
            </a:r>
          </a:p>
          <a:p>
            <a:endParaRPr lang="en-US" dirty="0"/>
          </a:p>
          <a:p>
            <a:pPr marL="285750" indent="-285750">
              <a:buFont typeface="Wingdings" pitchFamily="2" charset="2"/>
              <a:buChar char="Ø"/>
            </a:pPr>
            <a:r>
              <a:rPr lang="en-US" dirty="0" smtClean="0"/>
              <a:t>CGL coverage form has two limits along with a limit for each covered occurrence. These cap the amount to be paid for the entire policy period</a:t>
            </a:r>
          </a:p>
          <a:p>
            <a:pPr marL="742950" lvl="1" indent="-285750">
              <a:buFont typeface="Arial" panose="020B0604020202020204" pitchFamily="34" charset="0"/>
              <a:buChar char="•"/>
            </a:pPr>
            <a:r>
              <a:rPr lang="en-US" b="1" dirty="0" smtClean="0"/>
              <a:t>General aggregate limit </a:t>
            </a:r>
            <a:r>
              <a:rPr lang="en-US" dirty="0" smtClean="0"/>
              <a:t>– Maximum the insurer will pay for the sum of damages under </a:t>
            </a:r>
            <a:r>
              <a:rPr lang="en-US" dirty="0" err="1" smtClean="0"/>
              <a:t>Cov</a:t>
            </a:r>
            <a:r>
              <a:rPr lang="en-US" dirty="0" smtClean="0"/>
              <a:t> A (except those arising </a:t>
            </a:r>
            <a:r>
              <a:rPr lang="en-US" dirty="0" smtClean="0"/>
              <a:t>from products-completed </a:t>
            </a:r>
            <a:r>
              <a:rPr lang="en-US" dirty="0" smtClean="0"/>
              <a:t>operations), </a:t>
            </a:r>
            <a:r>
              <a:rPr lang="en-US" dirty="0" err="1" smtClean="0"/>
              <a:t>Cov</a:t>
            </a:r>
            <a:r>
              <a:rPr lang="en-US" dirty="0" smtClean="0"/>
              <a:t> B and </a:t>
            </a:r>
            <a:r>
              <a:rPr lang="en-US" dirty="0" err="1" smtClean="0"/>
              <a:t>Cov</a:t>
            </a:r>
            <a:r>
              <a:rPr lang="en-US" dirty="0" smtClean="0"/>
              <a:t> C</a:t>
            </a:r>
          </a:p>
          <a:p>
            <a:pPr marL="742950" lvl="1" indent="-285750">
              <a:buFont typeface="Arial" panose="020B0604020202020204" pitchFamily="34" charset="0"/>
              <a:buChar char="•"/>
            </a:pPr>
            <a:r>
              <a:rPr lang="en-US" b="1" dirty="0" smtClean="0"/>
              <a:t>Products-completed operations aggregate limit</a:t>
            </a:r>
            <a:r>
              <a:rPr lang="en-US" dirty="0" smtClean="0"/>
              <a:t> – Maximum the insurer will pay in </a:t>
            </a:r>
            <a:r>
              <a:rPr lang="en-US" dirty="0" err="1" smtClean="0"/>
              <a:t>Cov</a:t>
            </a:r>
            <a:r>
              <a:rPr lang="en-US" dirty="0" smtClean="0"/>
              <a:t> A for bodily injury or property damage arising out of products-completed operations hazard</a:t>
            </a:r>
            <a:endParaRPr lang="en-US" b="1" dirty="0" smtClean="0"/>
          </a:p>
          <a:p>
            <a:endParaRPr lang="en-US" dirty="0"/>
          </a:p>
        </p:txBody>
      </p:sp>
    </p:spTree>
    <p:extLst>
      <p:ext uri="{BB962C8B-B14F-4D97-AF65-F5344CB8AC3E}">
        <p14:creationId xmlns:p14="http://schemas.microsoft.com/office/powerpoint/2010/main" val="302902763"/>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General Liability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Oval 2"/>
          <p:cNvSpPr/>
          <p:nvPr/>
        </p:nvSpPr>
        <p:spPr>
          <a:xfrm>
            <a:off x="762000" y="1295400"/>
            <a:ext cx="2743200" cy="2514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5867400" y="1219200"/>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867400" y="2552700"/>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5334000" y="3810000"/>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543800" y="3810000"/>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295400" y="4648200"/>
            <a:ext cx="1828800" cy="1828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440214" y="5029200"/>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3" idx="7"/>
            <a:endCxn id="4" idx="2"/>
          </p:cNvCxnSpPr>
          <p:nvPr/>
        </p:nvCxnSpPr>
        <p:spPr>
          <a:xfrm>
            <a:off x="3103468" y="1663655"/>
            <a:ext cx="2763932" cy="88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3" idx="5"/>
            <a:endCxn id="5" idx="2"/>
          </p:cNvCxnSpPr>
          <p:nvPr/>
        </p:nvCxnSpPr>
        <p:spPr>
          <a:xfrm flipV="1">
            <a:off x="3103468" y="3086100"/>
            <a:ext cx="2763932" cy="3556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3"/>
            <a:endCxn id="6" idx="0"/>
          </p:cNvCxnSpPr>
          <p:nvPr/>
        </p:nvCxnSpPr>
        <p:spPr>
          <a:xfrm flipH="1">
            <a:off x="5867400" y="3463271"/>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5" idx="5"/>
            <a:endCxn id="7" idx="0"/>
          </p:cNvCxnSpPr>
          <p:nvPr/>
        </p:nvCxnSpPr>
        <p:spPr>
          <a:xfrm>
            <a:off x="7753582" y="3463271"/>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8" idx="6"/>
            <a:endCxn id="10" idx="2"/>
          </p:cNvCxnSpPr>
          <p:nvPr/>
        </p:nvCxnSpPr>
        <p:spPr>
          <a:xfrm>
            <a:off x="3124200" y="5562600"/>
            <a:ext cx="3316014"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539527" y="2091035"/>
            <a:ext cx="1188146" cy="861774"/>
          </a:xfrm>
          <a:prstGeom prst="rect">
            <a:avLst/>
          </a:prstGeom>
          <a:noFill/>
        </p:spPr>
        <p:txBody>
          <a:bodyPr wrap="none" rtlCol="0">
            <a:spAutoFit/>
          </a:bodyPr>
          <a:lstStyle/>
          <a:p>
            <a:pPr algn="ctr"/>
            <a:r>
              <a:rPr lang="en-US" sz="1600" dirty="0" smtClean="0"/>
              <a:t>General </a:t>
            </a:r>
          </a:p>
          <a:p>
            <a:pPr algn="ctr"/>
            <a:r>
              <a:rPr lang="en-US" sz="1600" dirty="0" smtClean="0"/>
              <a:t>Aggregate </a:t>
            </a:r>
          </a:p>
          <a:p>
            <a:pPr algn="ctr"/>
            <a:r>
              <a:rPr lang="en-US" sz="1600" dirty="0" smtClean="0"/>
              <a:t>Limit</a:t>
            </a:r>
            <a:endParaRPr lang="en-US" sz="1600" dirty="0"/>
          </a:p>
        </p:txBody>
      </p:sp>
      <p:sp>
        <p:nvSpPr>
          <p:cNvPr id="23" name="TextBox 22"/>
          <p:cNvSpPr txBox="1"/>
          <p:nvPr/>
        </p:nvSpPr>
        <p:spPr>
          <a:xfrm>
            <a:off x="6172200" y="1286470"/>
            <a:ext cx="1676401" cy="830997"/>
          </a:xfrm>
          <a:prstGeom prst="rect">
            <a:avLst/>
          </a:prstGeom>
          <a:noFill/>
        </p:spPr>
        <p:txBody>
          <a:bodyPr wrap="square" rtlCol="0">
            <a:spAutoFit/>
          </a:bodyPr>
          <a:lstStyle/>
          <a:p>
            <a:pPr algn="ctr"/>
            <a:r>
              <a:rPr lang="en-US" sz="1600" dirty="0" smtClean="0"/>
              <a:t>Personal and advertising injury limit</a:t>
            </a:r>
            <a:endParaRPr lang="en-US" sz="1600" dirty="0"/>
          </a:p>
        </p:txBody>
      </p:sp>
      <p:sp>
        <p:nvSpPr>
          <p:cNvPr id="24" name="TextBox 23"/>
          <p:cNvSpPr txBox="1"/>
          <p:nvPr/>
        </p:nvSpPr>
        <p:spPr>
          <a:xfrm>
            <a:off x="6019800" y="2895600"/>
            <a:ext cx="1667444" cy="338554"/>
          </a:xfrm>
          <a:prstGeom prst="rect">
            <a:avLst/>
          </a:prstGeom>
          <a:noFill/>
        </p:spPr>
        <p:txBody>
          <a:bodyPr wrap="none" rtlCol="0">
            <a:spAutoFit/>
          </a:bodyPr>
          <a:lstStyle/>
          <a:p>
            <a:r>
              <a:rPr lang="en-US" sz="1600" dirty="0" smtClean="0"/>
              <a:t>Occurrence limit</a:t>
            </a:r>
            <a:endParaRPr lang="en-US" sz="1600" dirty="0"/>
          </a:p>
        </p:txBody>
      </p:sp>
      <p:sp>
        <p:nvSpPr>
          <p:cNvPr id="25" name="TextBox 24"/>
          <p:cNvSpPr txBox="1"/>
          <p:nvPr/>
        </p:nvSpPr>
        <p:spPr>
          <a:xfrm>
            <a:off x="5257800" y="4001869"/>
            <a:ext cx="1142999" cy="830997"/>
          </a:xfrm>
          <a:prstGeom prst="rect">
            <a:avLst/>
          </a:prstGeom>
          <a:noFill/>
        </p:spPr>
        <p:txBody>
          <a:bodyPr wrap="square" rtlCol="0">
            <a:spAutoFit/>
          </a:bodyPr>
          <a:lstStyle/>
          <a:p>
            <a:pPr algn="ctr"/>
            <a:r>
              <a:rPr lang="en-US" sz="1200" dirty="0" smtClean="0"/>
              <a:t>Damage to premises rented by </a:t>
            </a:r>
          </a:p>
          <a:p>
            <a:pPr algn="ctr"/>
            <a:r>
              <a:rPr lang="en-US" sz="1200" dirty="0" smtClean="0"/>
              <a:t>you</a:t>
            </a:r>
            <a:endParaRPr lang="en-US" sz="1200" dirty="0"/>
          </a:p>
        </p:txBody>
      </p:sp>
      <p:sp>
        <p:nvSpPr>
          <p:cNvPr id="26" name="TextBox 25"/>
          <p:cNvSpPr txBox="1"/>
          <p:nvPr/>
        </p:nvSpPr>
        <p:spPr>
          <a:xfrm>
            <a:off x="7696200" y="4020234"/>
            <a:ext cx="838201" cy="646331"/>
          </a:xfrm>
          <a:prstGeom prst="rect">
            <a:avLst/>
          </a:prstGeom>
          <a:noFill/>
        </p:spPr>
        <p:txBody>
          <a:bodyPr wrap="square" rtlCol="0">
            <a:spAutoFit/>
          </a:bodyPr>
          <a:lstStyle/>
          <a:p>
            <a:pPr algn="ctr"/>
            <a:r>
              <a:rPr lang="en-US" sz="1200" dirty="0" smtClean="0"/>
              <a:t>Medical expense limit</a:t>
            </a:r>
            <a:endParaRPr lang="en-US" sz="1200" dirty="0"/>
          </a:p>
        </p:txBody>
      </p:sp>
      <p:sp>
        <p:nvSpPr>
          <p:cNvPr id="27" name="TextBox 26"/>
          <p:cNvSpPr txBox="1"/>
          <p:nvPr/>
        </p:nvSpPr>
        <p:spPr>
          <a:xfrm>
            <a:off x="1622534" y="5001161"/>
            <a:ext cx="1295400" cy="1323439"/>
          </a:xfrm>
          <a:prstGeom prst="rect">
            <a:avLst/>
          </a:prstGeom>
          <a:noFill/>
        </p:spPr>
        <p:txBody>
          <a:bodyPr wrap="square" rtlCol="0">
            <a:spAutoFit/>
          </a:bodyPr>
          <a:lstStyle/>
          <a:p>
            <a:pPr algn="ctr"/>
            <a:r>
              <a:rPr lang="en-US" sz="1600" dirty="0" smtClean="0"/>
              <a:t>Products- Completed Operations Aggregate Limit</a:t>
            </a:r>
            <a:endParaRPr lang="en-US" sz="1600" dirty="0"/>
          </a:p>
        </p:txBody>
      </p:sp>
      <p:sp>
        <p:nvSpPr>
          <p:cNvPr id="28" name="TextBox 27"/>
          <p:cNvSpPr txBox="1"/>
          <p:nvPr/>
        </p:nvSpPr>
        <p:spPr>
          <a:xfrm>
            <a:off x="6324600" y="5105400"/>
            <a:ext cx="1362644" cy="830997"/>
          </a:xfrm>
          <a:prstGeom prst="rect">
            <a:avLst/>
          </a:prstGeom>
          <a:noFill/>
        </p:spPr>
        <p:txBody>
          <a:bodyPr wrap="square" rtlCol="0">
            <a:spAutoFit/>
          </a:bodyPr>
          <a:lstStyle/>
          <a:p>
            <a:pPr algn="ctr"/>
            <a:r>
              <a:rPr lang="en-US" sz="1600" dirty="0" smtClean="0"/>
              <a:t>Each occurrence limit</a:t>
            </a:r>
            <a:endParaRPr lang="en-US" sz="1600" dirty="0"/>
          </a:p>
        </p:txBody>
      </p:sp>
    </p:spTree>
    <p:extLst>
      <p:ext uri="{BB962C8B-B14F-4D97-AF65-F5344CB8AC3E}">
        <p14:creationId xmlns:p14="http://schemas.microsoft.com/office/powerpoint/2010/main" val="3057429825"/>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General Liability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3139321"/>
          </a:xfrm>
          <a:prstGeom prst="rect">
            <a:avLst/>
          </a:prstGeom>
          <a:noFill/>
        </p:spPr>
        <p:txBody>
          <a:bodyPr wrap="square" rtlCol="0">
            <a:spAutoFit/>
          </a:bodyPr>
          <a:lstStyle/>
          <a:p>
            <a:pPr marL="285750" indent="-285750">
              <a:buFont typeface="Wingdings" pitchFamily="2" charset="2"/>
              <a:buChar char="Ø"/>
            </a:pPr>
            <a:r>
              <a:rPr lang="en-US" dirty="0" smtClean="0"/>
              <a:t>Endorsements </a:t>
            </a:r>
            <a:r>
              <a:rPr lang="en-US" dirty="0" smtClean="0"/>
              <a:t>can be included to enhance the limits of supplementary payments, watercraft coverage etc.</a:t>
            </a:r>
            <a:endParaRPr lang="en-US" dirty="0"/>
          </a:p>
          <a:p>
            <a:endParaRPr lang="en-US" dirty="0" smtClean="0"/>
          </a:p>
          <a:p>
            <a:pPr marL="285750" indent="-285750">
              <a:buFont typeface="Wingdings" pitchFamily="2" charset="2"/>
              <a:buChar char="Ø"/>
            </a:pPr>
            <a:r>
              <a:rPr lang="en-US" dirty="0" smtClean="0"/>
              <a:t>Separate rates may be determined for </a:t>
            </a:r>
            <a:r>
              <a:rPr lang="en-US" b="1" dirty="0" smtClean="0"/>
              <a:t>premises-operations</a:t>
            </a:r>
            <a:r>
              <a:rPr lang="en-US" dirty="0" smtClean="0"/>
              <a:t> and </a:t>
            </a:r>
            <a:r>
              <a:rPr lang="en-US" b="1" dirty="0" smtClean="0"/>
              <a:t>products-completed operations</a:t>
            </a:r>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Factors affecting CGL insurance premium include:</a:t>
            </a:r>
          </a:p>
          <a:p>
            <a:pPr marL="742950" lvl="1" indent="-285750">
              <a:buFont typeface="Arial" panose="020B0604020202020204" pitchFamily="34" charset="0"/>
              <a:buChar char="•"/>
            </a:pPr>
            <a:r>
              <a:rPr lang="en-US" dirty="0" smtClean="0"/>
              <a:t>Business classification</a:t>
            </a:r>
          </a:p>
          <a:p>
            <a:pPr marL="742950" lvl="1" indent="-285750">
              <a:buFont typeface="Arial" panose="020B0604020202020204" pitchFamily="34" charset="0"/>
              <a:buChar char="•"/>
            </a:pPr>
            <a:r>
              <a:rPr lang="en-US" dirty="0" smtClean="0"/>
              <a:t>Limits of insurance</a:t>
            </a:r>
          </a:p>
          <a:p>
            <a:pPr marL="742950" lvl="1" indent="-285750">
              <a:buFont typeface="Arial" panose="020B0604020202020204" pitchFamily="34" charset="0"/>
              <a:buChar char="•"/>
            </a:pPr>
            <a:r>
              <a:rPr lang="en-US" dirty="0" smtClean="0"/>
              <a:t>Coverages</a:t>
            </a:r>
          </a:p>
          <a:p>
            <a:pPr marL="742950" lvl="1" indent="-285750">
              <a:buFont typeface="Arial" panose="020B0604020202020204" pitchFamily="34" charset="0"/>
              <a:buChar char="•"/>
            </a:pPr>
            <a:r>
              <a:rPr lang="en-US" dirty="0" smtClean="0"/>
              <a:t>Deductible</a:t>
            </a:r>
          </a:p>
        </p:txBody>
      </p:sp>
    </p:spTree>
    <p:extLst>
      <p:ext uri="{BB962C8B-B14F-4D97-AF65-F5344CB8AC3E}">
        <p14:creationId xmlns:p14="http://schemas.microsoft.com/office/powerpoint/2010/main" val="1658096919"/>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Auto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762000"/>
            <a:ext cx="8382000" cy="5909310"/>
          </a:xfrm>
          <a:prstGeom prst="rect">
            <a:avLst/>
          </a:prstGeom>
          <a:noFill/>
        </p:spPr>
        <p:txBody>
          <a:bodyPr wrap="square" rtlCol="0">
            <a:spAutoFit/>
          </a:bodyPr>
          <a:lstStyle/>
          <a:p>
            <a:pPr marL="285750" indent="-285750">
              <a:buFont typeface="Wingdings" pitchFamily="2" charset="2"/>
              <a:buChar char="Ø"/>
            </a:pPr>
            <a:r>
              <a:rPr lang="en-US" dirty="0" smtClean="0"/>
              <a:t>Loss exposures:</a:t>
            </a:r>
          </a:p>
          <a:p>
            <a:pPr marL="742950" lvl="1" indent="-285750">
              <a:buFont typeface="Arial" pitchFamily="34" charset="0"/>
              <a:buChar char="•"/>
            </a:pPr>
            <a:r>
              <a:rPr lang="en-US" dirty="0" smtClean="0"/>
              <a:t>Liability arising out of the use of owned, hired or rented auto</a:t>
            </a:r>
          </a:p>
          <a:p>
            <a:pPr marL="742950" lvl="1" indent="-285750">
              <a:buFont typeface="Arial" pitchFamily="34" charset="0"/>
              <a:buChar char="•"/>
            </a:pPr>
            <a:r>
              <a:rPr lang="en-US" dirty="0" smtClean="0"/>
              <a:t>Decrease in the value of the auto because of damage</a:t>
            </a:r>
          </a:p>
          <a:p>
            <a:pPr marL="742950" lvl="1" indent="-285750">
              <a:buFont typeface="Arial" pitchFamily="34" charset="0"/>
              <a:buChar char="•"/>
            </a:pPr>
            <a:r>
              <a:rPr lang="en-US" dirty="0" smtClean="0"/>
              <a:t>Possibility of financial loss from a person’s injury, sickness or death</a:t>
            </a:r>
          </a:p>
          <a:p>
            <a:pPr marL="285750" indent="-285750">
              <a:buFont typeface="Arial" pitchFamily="34" charset="0"/>
              <a:buChar char="•"/>
            </a:pPr>
            <a:endParaRPr lang="en-US" dirty="0"/>
          </a:p>
          <a:p>
            <a:pPr marL="285750" indent="-285750">
              <a:buFont typeface="Wingdings" pitchFamily="2" charset="2"/>
              <a:buChar char="Ø"/>
            </a:pPr>
            <a:r>
              <a:rPr lang="en-US" dirty="0" smtClean="0"/>
              <a:t>Primary coverages provided include</a:t>
            </a:r>
          </a:p>
          <a:p>
            <a:pPr marL="742950" lvl="1" indent="-285750">
              <a:buFont typeface="Arial" panose="020B0604020202020204" pitchFamily="34" charset="0"/>
              <a:buChar char="•"/>
            </a:pPr>
            <a:r>
              <a:rPr lang="en-US" dirty="0" smtClean="0"/>
              <a:t>Liability coverage</a:t>
            </a:r>
          </a:p>
          <a:p>
            <a:pPr marL="1200150" lvl="2" indent="-285750">
              <a:buFont typeface="Arial" panose="020B0604020202020204" pitchFamily="34" charset="0"/>
              <a:buChar char="•"/>
            </a:pPr>
            <a:r>
              <a:rPr lang="en-US" dirty="0" smtClean="0"/>
              <a:t>Damages because of bodily injury or property damage</a:t>
            </a:r>
          </a:p>
          <a:p>
            <a:pPr marL="1200150" lvl="2" indent="-285750">
              <a:buFont typeface="Arial" panose="020B0604020202020204" pitchFamily="34" charset="0"/>
              <a:buChar char="•"/>
            </a:pPr>
            <a:r>
              <a:rPr lang="en-US" dirty="0" smtClean="0"/>
              <a:t>Pay for covered pollution cost or expense</a:t>
            </a:r>
          </a:p>
          <a:p>
            <a:pPr marL="1200150" lvl="2" indent="-285750">
              <a:buFont typeface="Arial" panose="020B0604020202020204" pitchFamily="34" charset="0"/>
              <a:buChar char="•"/>
            </a:pPr>
            <a:r>
              <a:rPr lang="en-US" dirty="0" smtClean="0"/>
              <a:t>Pay for defense costs</a:t>
            </a:r>
          </a:p>
          <a:p>
            <a:r>
              <a:rPr lang="en-US" dirty="0" smtClean="0"/>
              <a:t>	Coverage </a:t>
            </a:r>
            <a:r>
              <a:rPr lang="en-US" dirty="0"/>
              <a:t>extensions (payable in addition to the limit of insurance):</a:t>
            </a:r>
          </a:p>
          <a:p>
            <a:pPr marL="1200150" lvl="2" indent="-285750">
              <a:buFont typeface="Arial" panose="020B0604020202020204" pitchFamily="34" charset="0"/>
              <a:buChar char="•"/>
            </a:pPr>
            <a:r>
              <a:rPr lang="en-US" dirty="0"/>
              <a:t>All expenses incurred by the insurer</a:t>
            </a:r>
          </a:p>
          <a:p>
            <a:pPr marL="1200150" lvl="2" indent="-285750">
              <a:buFont typeface="Arial" panose="020B0604020202020204" pitchFamily="34" charset="0"/>
              <a:buChar char="•"/>
            </a:pPr>
            <a:r>
              <a:rPr lang="en-US" dirty="0"/>
              <a:t>Cost of bail bonds up to $ 2,000</a:t>
            </a:r>
          </a:p>
          <a:p>
            <a:pPr marL="1200150" lvl="2" indent="-285750">
              <a:buFont typeface="Arial" panose="020B0604020202020204" pitchFamily="34" charset="0"/>
              <a:buChar char="•"/>
            </a:pPr>
            <a:r>
              <a:rPr lang="en-US" dirty="0"/>
              <a:t>Reasonable expenses incurred by the insured at insurer’s request</a:t>
            </a:r>
          </a:p>
          <a:p>
            <a:pPr marL="1200150" lvl="2" indent="-285750">
              <a:buFont typeface="Arial" panose="020B0604020202020204" pitchFamily="34" charset="0"/>
              <a:buChar char="•"/>
            </a:pPr>
            <a:r>
              <a:rPr lang="en-US" dirty="0"/>
              <a:t>Interest on </a:t>
            </a:r>
            <a:r>
              <a:rPr lang="en-US" dirty="0" smtClean="0"/>
              <a:t>judgements</a:t>
            </a:r>
          </a:p>
          <a:p>
            <a:pPr marL="742950" lvl="1" indent="-285750">
              <a:buFont typeface="Arial" panose="020B0604020202020204" pitchFamily="34" charset="0"/>
              <a:buChar char="•"/>
            </a:pPr>
            <a:r>
              <a:rPr lang="en-US" dirty="0" smtClean="0"/>
              <a:t>Physical damage coverage</a:t>
            </a:r>
          </a:p>
          <a:p>
            <a:pPr marL="1200150" lvl="2" indent="-285750">
              <a:buFont typeface="Arial" panose="020B0604020202020204" pitchFamily="34" charset="0"/>
              <a:buChar char="•"/>
            </a:pPr>
            <a:r>
              <a:rPr lang="en-US" dirty="0" smtClean="0"/>
              <a:t>Collision coverage</a:t>
            </a:r>
          </a:p>
          <a:p>
            <a:pPr marL="1200150" lvl="2" indent="-285750">
              <a:buFont typeface="Arial" panose="020B0604020202020204" pitchFamily="34" charset="0"/>
              <a:buChar char="•"/>
            </a:pPr>
            <a:r>
              <a:rPr lang="en-US" dirty="0" smtClean="0"/>
              <a:t>Comprehensive coverage</a:t>
            </a:r>
          </a:p>
          <a:p>
            <a:pPr marL="1200150" lvl="2" indent="-285750">
              <a:buFont typeface="Arial" panose="020B0604020202020204" pitchFamily="34" charset="0"/>
              <a:buChar char="•"/>
            </a:pPr>
            <a:r>
              <a:rPr lang="en-US" dirty="0" smtClean="0"/>
              <a:t>Specified causes of loss coverage</a:t>
            </a:r>
            <a:endParaRPr lang="en-US" dirty="0"/>
          </a:p>
          <a:p>
            <a:pPr lvl="2"/>
            <a:r>
              <a:rPr lang="en-US" dirty="0"/>
              <a:t>Coverage </a:t>
            </a:r>
            <a:r>
              <a:rPr lang="en-US" dirty="0" smtClean="0"/>
              <a:t>extensions include towing, transportation and loss of use expenses</a:t>
            </a:r>
          </a:p>
        </p:txBody>
      </p:sp>
    </p:spTree>
    <p:extLst>
      <p:ext uri="{BB962C8B-B14F-4D97-AF65-F5344CB8AC3E}">
        <p14:creationId xmlns:p14="http://schemas.microsoft.com/office/powerpoint/2010/main" val="3088618147"/>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Auto Insurance </a:t>
            </a:r>
            <a:r>
              <a:rPr lang="en-US" sz="2500" b="1" dirty="0" err="1" smtClean="0">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762000"/>
            <a:ext cx="8382000" cy="5909310"/>
          </a:xfrm>
          <a:prstGeom prst="rect">
            <a:avLst/>
          </a:prstGeom>
          <a:noFill/>
        </p:spPr>
        <p:txBody>
          <a:bodyPr wrap="square" rtlCol="0">
            <a:spAutoFit/>
          </a:bodyPr>
          <a:lstStyle/>
          <a:p>
            <a:pPr marL="285750" indent="-285750">
              <a:buFont typeface="Wingdings" pitchFamily="2" charset="2"/>
              <a:buChar char="Ø"/>
            </a:pPr>
            <a:r>
              <a:rPr lang="en-US" dirty="0"/>
              <a:t>Auto dealers and other </a:t>
            </a:r>
            <a:r>
              <a:rPr lang="en-US" dirty="0" smtClean="0"/>
              <a:t>land </a:t>
            </a:r>
            <a:r>
              <a:rPr lang="en-US" dirty="0"/>
              <a:t>motor vehicle dealers are eligible for Auto dealers coverage form which provides them </a:t>
            </a:r>
            <a:r>
              <a:rPr lang="en-US" b="1" dirty="0" smtClean="0"/>
              <a:t>garage keepers </a:t>
            </a:r>
            <a:r>
              <a:rPr lang="en-US" b="1" dirty="0"/>
              <a:t>coverage </a:t>
            </a:r>
          </a:p>
          <a:p>
            <a:endParaRPr lang="en-US" dirty="0" smtClean="0"/>
          </a:p>
          <a:p>
            <a:pPr marL="285750" indent="-285750">
              <a:buFont typeface="Wingdings" pitchFamily="2" charset="2"/>
              <a:buChar char="Ø"/>
            </a:pPr>
            <a:r>
              <a:rPr lang="en-US" dirty="0" smtClean="0"/>
              <a:t>A combined single limit of insurance applies to all bodily injury, property damage and covered pollution costs under liability coverage</a:t>
            </a:r>
          </a:p>
          <a:p>
            <a:endParaRPr lang="en-US" dirty="0" smtClean="0"/>
          </a:p>
          <a:p>
            <a:pPr marL="285750" indent="-285750">
              <a:buFont typeface="Wingdings" pitchFamily="2" charset="2"/>
              <a:buChar char="Ø"/>
            </a:pPr>
            <a:r>
              <a:rPr lang="en-US" dirty="0" smtClean="0"/>
              <a:t>For physical damage the maximum the insurer will pay is the lesser of ACV or the cost of repairing or replacing the property with alike property</a:t>
            </a:r>
          </a:p>
          <a:p>
            <a:endParaRPr lang="en-US" dirty="0" smtClean="0"/>
          </a:p>
          <a:p>
            <a:pPr marL="285750" indent="-285750">
              <a:buFont typeface="Wingdings" pitchFamily="2" charset="2"/>
              <a:buChar char="Ø"/>
            </a:pPr>
            <a:r>
              <a:rPr lang="en-US" dirty="0" smtClean="0"/>
              <a:t>Common exclusions include:</a:t>
            </a:r>
          </a:p>
          <a:p>
            <a:pPr marL="800100" lvl="1" indent="-342900">
              <a:buFont typeface="Arial" panose="020B0604020202020204" pitchFamily="34" charset="0"/>
              <a:buChar char="•"/>
            </a:pPr>
            <a:r>
              <a:rPr lang="en-US" dirty="0" smtClean="0"/>
              <a:t>Liability coverage</a:t>
            </a:r>
          </a:p>
          <a:p>
            <a:pPr marL="1257300" lvl="2" indent="-342900">
              <a:buFont typeface="Arial" panose="020B0604020202020204" pitchFamily="34" charset="0"/>
              <a:buChar char="•"/>
            </a:pPr>
            <a:r>
              <a:rPr lang="en-US" dirty="0" smtClean="0"/>
              <a:t>Expected or intended injury</a:t>
            </a:r>
          </a:p>
          <a:p>
            <a:pPr marL="1257300" lvl="2" indent="-342900">
              <a:buFont typeface="Arial" panose="020B0604020202020204" pitchFamily="34" charset="0"/>
              <a:buChar char="•"/>
            </a:pPr>
            <a:r>
              <a:rPr lang="en-US" dirty="0" smtClean="0"/>
              <a:t>Contractual liability</a:t>
            </a:r>
          </a:p>
          <a:p>
            <a:pPr marL="1257300" lvl="2" indent="-342900">
              <a:buFont typeface="Arial" panose="020B0604020202020204" pitchFamily="34" charset="0"/>
              <a:buChar char="•"/>
            </a:pPr>
            <a:r>
              <a:rPr lang="en-US" dirty="0" smtClean="0"/>
              <a:t>Care, custody or control</a:t>
            </a:r>
          </a:p>
          <a:p>
            <a:pPr marL="1257300" lvl="2" indent="-342900">
              <a:buFont typeface="Arial" panose="020B0604020202020204" pitchFamily="34" charset="0"/>
              <a:buChar char="•"/>
            </a:pPr>
            <a:r>
              <a:rPr lang="en-US" dirty="0" smtClean="0"/>
              <a:t>Loading or unloading</a:t>
            </a:r>
          </a:p>
          <a:p>
            <a:pPr marL="1257300" lvl="2" indent="-342900">
              <a:buFont typeface="Arial" panose="020B0604020202020204" pitchFamily="34" charset="0"/>
              <a:buChar char="•"/>
            </a:pPr>
            <a:r>
              <a:rPr lang="en-US" dirty="0" smtClean="0"/>
              <a:t>Operations and completed operations</a:t>
            </a:r>
          </a:p>
          <a:p>
            <a:pPr marL="1257300" lvl="2" indent="-342900">
              <a:buFont typeface="Arial" panose="020B0604020202020204" pitchFamily="34" charset="0"/>
              <a:buChar char="•"/>
            </a:pPr>
            <a:r>
              <a:rPr lang="en-US" dirty="0" smtClean="0"/>
              <a:t>Pollution, war and racing</a:t>
            </a:r>
          </a:p>
          <a:p>
            <a:pPr marL="800100" lvl="1" indent="-342900">
              <a:buFont typeface="Arial" panose="020B0604020202020204" pitchFamily="34" charset="0"/>
              <a:buChar char="•"/>
            </a:pPr>
            <a:r>
              <a:rPr lang="en-US" dirty="0" smtClean="0"/>
              <a:t>Physical damage coverage</a:t>
            </a:r>
          </a:p>
          <a:p>
            <a:pPr marL="1257300" lvl="2" indent="-342900">
              <a:buFont typeface="Arial" panose="020B0604020202020204" pitchFamily="34" charset="0"/>
              <a:buChar char="•"/>
            </a:pPr>
            <a:r>
              <a:rPr lang="en-US" dirty="0" smtClean="0"/>
              <a:t>Electronic equipment</a:t>
            </a:r>
          </a:p>
          <a:p>
            <a:pPr marL="1257300" lvl="2" indent="-342900">
              <a:buFont typeface="Arial" panose="020B0604020202020204" pitchFamily="34" charset="0"/>
              <a:buChar char="•"/>
            </a:pPr>
            <a:r>
              <a:rPr lang="en-US" dirty="0" smtClean="0"/>
              <a:t>Nuclear hazard</a:t>
            </a:r>
          </a:p>
          <a:p>
            <a:pPr marL="1257300" lvl="2" indent="-342900">
              <a:buFont typeface="Arial" panose="020B0604020202020204" pitchFamily="34" charset="0"/>
              <a:buChar char="•"/>
            </a:pPr>
            <a:r>
              <a:rPr lang="en-US" dirty="0" smtClean="0"/>
              <a:t>War and military actions</a:t>
            </a:r>
          </a:p>
        </p:txBody>
      </p:sp>
    </p:spTree>
    <p:extLst>
      <p:ext uri="{BB962C8B-B14F-4D97-AF65-F5344CB8AC3E}">
        <p14:creationId xmlns:p14="http://schemas.microsoft.com/office/powerpoint/2010/main" val="236070791"/>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Auto Insurance </a:t>
            </a:r>
            <a:r>
              <a:rPr lang="en-US" sz="2500" b="1" dirty="0" err="1" smtClean="0">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837486"/>
            <a:ext cx="8382000" cy="4801314"/>
          </a:xfrm>
          <a:prstGeom prst="rect">
            <a:avLst/>
          </a:prstGeom>
          <a:noFill/>
        </p:spPr>
        <p:txBody>
          <a:bodyPr wrap="square" rtlCol="0">
            <a:spAutoFit/>
          </a:bodyPr>
          <a:lstStyle/>
          <a:p>
            <a:pPr marL="285750" indent="-285750">
              <a:buFont typeface="Wingdings" pitchFamily="2" charset="2"/>
              <a:buChar char="Ø"/>
            </a:pPr>
            <a:r>
              <a:rPr lang="en-US" dirty="0" smtClean="0"/>
              <a:t>Endorsements can be used to enhance the coverages provided by the BACF. Common endorsements:</a:t>
            </a:r>
          </a:p>
          <a:p>
            <a:pPr marL="742950" lvl="1" indent="-285750">
              <a:buFont typeface="Arial" panose="020B0604020202020204" pitchFamily="34" charset="0"/>
              <a:buChar char="•"/>
            </a:pPr>
            <a:r>
              <a:rPr lang="en-US" dirty="0" smtClean="0"/>
              <a:t>Medical payments – pays regardless of insured’s fault, no aggregate limits defined</a:t>
            </a:r>
          </a:p>
          <a:p>
            <a:pPr marL="742950" lvl="1" indent="-285750">
              <a:buFont typeface="Arial" panose="020B0604020202020204" pitchFamily="34" charset="0"/>
              <a:buChar char="•"/>
            </a:pPr>
            <a:r>
              <a:rPr lang="en-US" dirty="0" smtClean="0"/>
              <a:t>Personal injury protection and added personal injury protection – pays regardless of fault for medical expense, income loss and other expenses resulting from the bodily injury to occupants of a covered auto</a:t>
            </a:r>
          </a:p>
          <a:p>
            <a:pPr marL="742950" lvl="1" indent="-285750">
              <a:buFont typeface="Arial" panose="020B0604020202020204" pitchFamily="34" charset="0"/>
              <a:buChar char="•"/>
            </a:pPr>
            <a:r>
              <a:rPr lang="en-US" dirty="0" smtClean="0"/>
              <a:t>Uninsured and underinsured motorists</a:t>
            </a:r>
            <a:endParaRPr lang="en-US" dirty="0"/>
          </a:p>
          <a:p>
            <a:endParaRPr lang="en-US" dirty="0" smtClean="0"/>
          </a:p>
          <a:p>
            <a:pPr marL="285750" indent="-285750">
              <a:buFont typeface="Wingdings" panose="05000000000000000000" pitchFamily="2" charset="2"/>
              <a:buChar char="Ø"/>
            </a:pPr>
            <a:r>
              <a:rPr lang="en-US" dirty="0" smtClean="0"/>
              <a:t>Primary rating factors</a:t>
            </a:r>
          </a:p>
          <a:p>
            <a:pPr marL="742950" lvl="1" indent="-285750">
              <a:buFont typeface="Arial" panose="020B0604020202020204" pitchFamily="34" charset="0"/>
              <a:buChar char="•"/>
            </a:pPr>
            <a:r>
              <a:rPr lang="en-US" dirty="0" smtClean="0"/>
              <a:t>Territory</a:t>
            </a:r>
          </a:p>
          <a:p>
            <a:pPr marL="742950" lvl="1" indent="-285750">
              <a:buFont typeface="Arial" panose="020B0604020202020204" pitchFamily="34" charset="0"/>
              <a:buChar char="•"/>
            </a:pPr>
            <a:r>
              <a:rPr lang="en-US" dirty="0" smtClean="0"/>
              <a:t>Policy limit</a:t>
            </a:r>
          </a:p>
          <a:p>
            <a:pPr marL="742950" lvl="1" indent="-285750">
              <a:buFont typeface="Arial" panose="020B0604020202020204" pitchFamily="34" charset="0"/>
              <a:buChar char="•"/>
            </a:pPr>
            <a:r>
              <a:rPr lang="en-US" dirty="0" smtClean="0"/>
              <a:t>Vehicle original cost</a:t>
            </a:r>
          </a:p>
          <a:p>
            <a:pPr marL="742950" lvl="1" indent="-285750">
              <a:buFont typeface="Arial" panose="020B0604020202020204" pitchFamily="34" charset="0"/>
              <a:buChar char="•"/>
            </a:pPr>
            <a:r>
              <a:rPr lang="en-US" dirty="0" smtClean="0"/>
              <a:t>Deductible</a:t>
            </a:r>
            <a:endParaRPr lang="en-US" dirty="0"/>
          </a:p>
          <a:p>
            <a:pPr marL="742950" lvl="1" indent="-285750">
              <a:buFont typeface="Arial" panose="020B0604020202020204" pitchFamily="34" charset="0"/>
              <a:buChar char="•"/>
            </a:pPr>
            <a:r>
              <a:rPr lang="en-US" dirty="0" smtClean="0"/>
              <a:t>Vehicle’s size class</a:t>
            </a:r>
          </a:p>
          <a:p>
            <a:pPr marL="742950" lvl="1" indent="-285750">
              <a:buFont typeface="Arial" panose="020B0604020202020204" pitchFamily="34" charset="0"/>
              <a:buChar char="•"/>
            </a:pPr>
            <a:r>
              <a:rPr lang="en-US" dirty="0" smtClean="0"/>
              <a:t>Business use</a:t>
            </a:r>
          </a:p>
          <a:p>
            <a:pPr marL="742950" lvl="1" indent="-285750">
              <a:buFont typeface="Arial" panose="020B0604020202020204" pitchFamily="34" charset="0"/>
              <a:buChar char="•"/>
            </a:pPr>
            <a:r>
              <a:rPr lang="en-US" dirty="0" smtClean="0"/>
              <a:t>Radius class</a:t>
            </a:r>
          </a:p>
        </p:txBody>
      </p:sp>
    </p:spTree>
    <p:extLst>
      <p:ext uri="{BB962C8B-B14F-4D97-AF65-F5344CB8AC3E}">
        <p14:creationId xmlns:p14="http://schemas.microsoft.com/office/powerpoint/2010/main" val="2353486353"/>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844689"/>
            <a:ext cx="8382000" cy="5632311"/>
          </a:xfrm>
          <a:prstGeom prst="rect">
            <a:avLst/>
          </a:prstGeom>
          <a:noFill/>
        </p:spPr>
        <p:txBody>
          <a:bodyPr wrap="square" rtlCol="0">
            <a:spAutoFit/>
          </a:bodyPr>
          <a:lstStyle/>
          <a:p>
            <a:pPr marL="285750" indent="-285750">
              <a:buFont typeface="Wingdings" pitchFamily="2" charset="2"/>
              <a:buChar char="Ø"/>
            </a:pPr>
            <a:r>
              <a:rPr lang="en-US" dirty="0" smtClean="0"/>
              <a:t>Loss Exposures include: </a:t>
            </a:r>
          </a:p>
          <a:p>
            <a:pPr marL="742950" lvl="1" indent="-285750">
              <a:buFont typeface="Arial" pitchFamily="34" charset="0"/>
              <a:buChar char="•"/>
            </a:pPr>
            <a:r>
              <a:rPr lang="en-US" b="1" dirty="0" smtClean="0"/>
              <a:t>Real Property </a:t>
            </a:r>
            <a:r>
              <a:rPr lang="en-US" dirty="0" smtClean="0"/>
              <a:t>– Land, Building, Sidewalks, Underground Parking, Radio Transmission Towers and Property permanently attached to the structure for e.g. plumbing, wiring, lifts etc.</a:t>
            </a:r>
            <a:endParaRPr lang="en-US" dirty="0"/>
          </a:p>
          <a:p>
            <a:pPr marL="742950" lvl="1" indent="-285750">
              <a:buFont typeface="Arial" pitchFamily="34" charset="0"/>
              <a:buChar char="•"/>
            </a:pPr>
            <a:r>
              <a:rPr lang="en-US" b="1" dirty="0" smtClean="0"/>
              <a:t>Personal Property </a:t>
            </a:r>
            <a:r>
              <a:rPr lang="en-US" dirty="0" smtClean="0"/>
              <a:t>– Contents, Property in transit, Property in the possession of others, Floating property etc.</a:t>
            </a:r>
          </a:p>
          <a:p>
            <a:endParaRPr lang="en-US" dirty="0"/>
          </a:p>
          <a:p>
            <a:pPr marL="285750" indent="-285750">
              <a:buFont typeface="Wingdings" pitchFamily="2" charset="2"/>
              <a:buChar char="Ø"/>
            </a:pPr>
            <a:r>
              <a:rPr lang="en-US" dirty="0" smtClean="0"/>
              <a:t>Property is exposed to many losses like fire, </a:t>
            </a:r>
          </a:p>
          <a:p>
            <a:r>
              <a:rPr lang="en-US" dirty="0"/>
              <a:t> </a:t>
            </a:r>
            <a:r>
              <a:rPr lang="en-US" dirty="0" smtClean="0"/>
              <a:t>    vandalism, theft, hurricane, tornadoes etc.</a:t>
            </a:r>
          </a:p>
          <a:p>
            <a:endParaRPr lang="en-US" dirty="0"/>
          </a:p>
          <a:p>
            <a:pPr marL="285750" indent="-285750">
              <a:buFont typeface="Wingdings" panose="05000000000000000000" pitchFamily="2" charset="2"/>
              <a:buChar char="Ø"/>
            </a:pPr>
            <a:r>
              <a:rPr lang="en-US" dirty="0" smtClean="0"/>
              <a:t>Coverage can be included for </a:t>
            </a:r>
          </a:p>
          <a:p>
            <a:pPr marL="742950" lvl="1" indent="-285750">
              <a:buFont typeface="Arial" panose="020B0604020202020204" pitchFamily="34" charset="0"/>
              <a:buChar char="•"/>
            </a:pPr>
            <a:r>
              <a:rPr lang="en-US" dirty="0"/>
              <a:t> </a:t>
            </a:r>
            <a:r>
              <a:rPr lang="en-US" b="1" dirty="0" smtClean="0"/>
              <a:t>Building</a:t>
            </a:r>
            <a:r>
              <a:rPr lang="en-US" dirty="0" smtClean="0"/>
              <a:t> – completed additions, fixtures, </a:t>
            </a:r>
          </a:p>
          <a:p>
            <a:pPr lvl="1"/>
            <a:r>
              <a:rPr lang="en-US" dirty="0"/>
              <a:t>	</a:t>
            </a:r>
            <a:r>
              <a:rPr lang="en-US" dirty="0" smtClean="0"/>
              <a:t>	 permanently installed machinery</a:t>
            </a:r>
          </a:p>
          <a:p>
            <a:pPr lvl="1"/>
            <a:r>
              <a:rPr lang="en-US" dirty="0"/>
              <a:t>	</a:t>
            </a:r>
            <a:r>
              <a:rPr lang="en-US" dirty="0" smtClean="0"/>
              <a:t>	 and equipment, personal property owned by the insured and</a:t>
            </a:r>
          </a:p>
          <a:p>
            <a:pPr lvl="1"/>
            <a:r>
              <a:rPr lang="en-US" dirty="0"/>
              <a:t>	</a:t>
            </a:r>
            <a:r>
              <a:rPr lang="en-US" dirty="0" smtClean="0"/>
              <a:t>	 used to service or maintain the building or premises.</a:t>
            </a:r>
          </a:p>
          <a:p>
            <a:pPr lvl="1"/>
            <a:r>
              <a:rPr lang="en-US" dirty="0"/>
              <a:t>	</a:t>
            </a:r>
            <a:r>
              <a:rPr lang="en-US" dirty="0" smtClean="0"/>
              <a:t>	 Material and equipment being used for repair/alteration is also 		 covered within 100 feet of the premise</a:t>
            </a:r>
          </a:p>
          <a:p>
            <a:pPr marL="742950" lvl="1" indent="-285750">
              <a:buFont typeface="Arial" panose="020B0604020202020204" pitchFamily="34" charset="0"/>
              <a:buChar char="•"/>
            </a:pPr>
            <a:r>
              <a:rPr lang="en-US" b="1" dirty="0"/>
              <a:t> </a:t>
            </a:r>
            <a:r>
              <a:rPr lang="en-US" b="1" dirty="0" smtClean="0"/>
              <a:t>Business personal property </a:t>
            </a:r>
            <a:r>
              <a:rPr lang="en-US" dirty="0" smtClean="0"/>
              <a:t>-  Personal property owned by the insured 		 and used in insured’s business present within 100 feet of the 		 premises, includes furniture, fixtures, stock etc.</a:t>
            </a:r>
          </a:p>
        </p:txBody>
      </p:sp>
      <p:pic>
        <p:nvPicPr>
          <p:cNvPr id="4" name="Picture 3"/>
          <p:cNvPicPr>
            <a:picLocks noChangeAspect="1"/>
          </p:cNvPicPr>
          <p:nvPr/>
        </p:nvPicPr>
        <p:blipFill>
          <a:blip r:embed="rId2"/>
          <a:stretch>
            <a:fillRect/>
          </a:stretch>
        </p:blipFill>
        <p:spPr>
          <a:xfrm>
            <a:off x="6115371" y="2438400"/>
            <a:ext cx="2571429" cy="1780952"/>
          </a:xfrm>
          <a:prstGeom prst="rect">
            <a:avLst/>
          </a:prstGeom>
        </p:spPr>
      </p:pic>
    </p:spTree>
    <p:extLst>
      <p:ext uri="{BB962C8B-B14F-4D97-AF65-F5344CB8AC3E}">
        <p14:creationId xmlns:p14="http://schemas.microsoft.com/office/powerpoint/2010/main" val="392820355"/>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5632311"/>
          </a:xfrm>
          <a:prstGeom prst="rect">
            <a:avLst/>
          </a:prstGeom>
          <a:noFill/>
        </p:spPr>
        <p:txBody>
          <a:bodyPr wrap="square" rtlCol="0">
            <a:spAutoFit/>
          </a:bodyPr>
          <a:lstStyle/>
          <a:p>
            <a:pPr marL="742950" lvl="1" indent="-285750">
              <a:buFont typeface="Arial" panose="020B0604020202020204" pitchFamily="34" charset="0"/>
              <a:buChar char="•"/>
            </a:pPr>
            <a:r>
              <a:rPr lang="en-US" b="1" dirty="0"/>
              <a:t>Personal property of </a:t>
            </a:r>
            <a:r>
              <a:rPr lang="en-US" b="1" dirty="0" smtClean="0"/>
              <a:t>others </a:t>
            </a:r>
            <a:r>
              <a:rPr lang="en-US" dirty="0" smtClean="0"/>
              <a:t>– covers the personal property of others while it is insured’s care or custody, useful for laundry shops, repair shops etc.</a:t>
            </a:r>
          </a:p>
          <a:p>
            <a:pPr lvl="1"/>
            <a:r>
              <a:rPr lang="en-US" dirty="0"/>
              <a:t> </a:t>
            </a:r>
            <a:r>
              <a:rPr lang="en-US" dirty="0" smtClean="0"/>
              <a:t>   Coverage is provided regardless of whether the insured is legally liable.</a:t>
            </a:r>
          </a:p>
          <a:p>
            <a:pPr lvl="1"/>
            <a:r>
              <a:rPr lang="en-US" dirty="0"/>
              <a:t> </a:t>
            </a:r>
            <a:r>
              <a:rPr lang="en-US" dirty="0" smtClean="0"/>
              <a:t>   If not purchased this coverage is available by default but limited to   </a:t>
            </a:r>
          </a:p>
          <a:p>
            <a:pPr lvl="1"/>
            <a:r>
              <a:rPr lang="en-US" dirty="0"/>
              <a:t> </a:t>
            </a:r>
            <a:r>
              <a:rPr lang="en-US" dirty="0" smtClean="0"/>
              <a:t>   $2,500 at each insured location</a:t>
            </a:r>
          </a:p>
          <a:p>
            <a:endParaRPr lang="en-US" dirty="0" smtClean="0"/>
          </a:p>
          <a:p>
            <a:pPr marL="285750" indent="-285750">
              <a:buFont typeface="Wingdings" pitchFamily="2" charset="2"/>
              <a:buChar char="Ø"/>
            </a:pPr>
            <a:r>
              <a:rPr lang="en-US" dirty="0" smtClean="0"/>
              <a:t>Property not covered</a:t>
            </a:r>
          </a:p>
          <a:p>
            <a:pPr marL="742950" lvl="1" indent="-285750">
              <a:buFont typeface="Arial" panose="020B0604020202020204" pitchFamily="34" charset="0"/>
              <a:buChar char="•"/>
            </a:pPr>
            <a:r>
              <a:rPr lang="en-US" dirty="0" smtClean="0"/>
              <a:t>Smuggled goods held for sale</a:t>
            </a:r>
          </a:p>
          <a:p>
            <a:pPr marL="742950" lvl="1" indent="-285750">
              <a:buFont typeface="Arial" panose="020B0604020202020204" pitchFamily="34" charset="0"/>
              <a:buChar char="•"/>
            </a:pPr>
            <a:r>
              <a:rPr lang="en-US" dirty="0" smtClean="0"/>
              <a:t>Property that can be insured better by other forms like auto, aircrafts etc.</a:t>
            </a:r>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Additional coverages:</a:t>
            </a:r>
          </a:p>
          <a:p>
            <a:pPr marL="742950" lvl="1" indent="-285750">
              <a:buFont typeface="Arial" panose="020B0604020202020204" pitchFamily="34" charset="0"/>
              <a:buChar char="•"/>
            </a:pPr>
            <a:r>
              <a:rPr lang="en-US" dirty="0" smtClean="0"/>
              <a:t>Debris removal – covers cost of cleaning debris arising from a covered cause of loss</a:t>
            </a:r>
          </a:p>
          <a:p>
            <a:pPr marL="742950" lvl="1" indent="-285750">
              <a:buFont typeface="Arial" panose="020B0604020202020204" pitchFamily="34" charset="0"/>
              <a:buChar char="•"/>
            </a:pPr>
            <a:r>
              <a:rPr lang="en-US" dirty="0" smtClean="0"/>
              <a:t>Preservation of property – covers the covered property while it is being moved and up to 30 days limited to $ 10,000 per policy year</a:t>
            </a:r>
          </a:p>
          <a:p>
            <a:pPr marL="742950" lvl="1" indent="-285750">
              <a:buFont typeface="Arial" panose="020B0604020202020204" pitchFamily="34" charset="0"/>
              <a:buChar char="•"/>
            </a:pPr>
            <a:r>
              <a:rPr lang="en-US" dirty="0" smtClean="0"/>
              <a:t>Fire department service charge</a:t>
            </a:r>
          </a:p>
          <a:p>
            <a:pPr marL="742950" lvl="1" indent="-285750">
              <a:buFont typeface="Arial" panose="020B0604020202020204" pitchFamily="34" charset="0"/>
              <a:buChar char="•"/>
            </a:pPr>
            <a:r>
              <a:rPr lang="en-US" dirty="0" smtClean="0"/>
              <a:t>Pollutant cleanup and removal</a:t>
            </a:r>
          </a:p>
          <a:p>
            <a:pPr marL="742950" lvl="1" indent="-285750">
              <a:buFont typeface="Arial" panose="020B0604020202020204" pitchFamily="34" charset="0"/>
              <a:buChar char="•"/>
            </a:pPr>
            <a:r>
              <a:rPr lang="en-US" dirty="0" smtClean="0"/>
              <a:t>Increased cost of construction – limited to 5% of the amount of insurance or $ 10,000 whichever is less</a:t>
            </a:r>
          </a:p>
        </p:txBody>
      </p:sp>
    </p:spTree>
    <p:extLst>
      <p:ext uri="{BB962C8B-B14F-4D97-AF65-F5344CB8AC3E}">
        <p14:creationId xmlns:p14="http://schemas.microsoft.com/office/powerpoint/2010/main" val="2917269167"/>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4" name="TextBox 3"/>
          <p:cNvSpPr txBox="1"/>
          <p:nvPr/>
        </p:nvSpPr>
        <p:spPr>
          <a:xfrm>
            <a:off x="304800" y="914400"/>
            <a:ext cx="8382000" cy="5355312"/>
          </a:xfrm>
          <a:prstGeom prst="rect">
            <a:avLst/>
          </a:prstGeom>
          <a:noFill/>
        </p:spPr>
        <p:txBody>
          <a:bodyPr wrap="square" rtlCol="0">
            <a:spAutoFit/>
          </a:bodyPr>
          <a:lstStyle/>
          <a:p>
            <a:pPr marL="742950" lvl="1" indent="-285750">
              <a:buFont typeface="Arial" panose="020B0604020202020204" pitchFamily="34" charset="0"/>
              <a:buChar char="•"/>
            </a:pPr>
            <a:r>
              <a:rPr lang="en-US" dirty="0"/>
              <a:t>Electronic </a:t>
            </a:r>
            <a:r>
              <a:rPr lang="en-US" dirty="0" smtClean="0"/>
              <a:t>data – coverage limited to $ 2,500 per policy year</a:t>
            </a:r>
          </a:p>
          <a:p>
            <a:pPr marL="742950" lvl="1" indent="-285750">
              <a:buFont typeface="Arial" panose="020B0604020202020204" pitchFamily="34" charset="0"/>
              <a:buChar char="•"/>
            </a:pPr>
            <a:r>
              <a:rPr lang="en-US" dirty="0" smtClean="0"/>
              <a:t>Coverage extensions include </a:t>
            </a:r>
            <a:r>
              <a:rPr lang="en-US" b="1" dirty="0" smtClean="0"/>
              <a:t>newly acquired or constructed property, personal effects and property of others, outdoor property, property off-premises, non-owned detached trailers and property temporarily in portable storage units</a:t>
            </a:r>
            <a:endParaRPr lang="en-US" b="1" dirty="0"/>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Causes of Loss are covered in three forms</a:t>
            </a:r>
          </a:p>
          <a:p>
            <a:pPr marL="742950" lvl="1" indent="-285750">
              <a:buFont typeface="Arial" panose="020B0604020202020204" pitchFamily="34" charset="0"/>
              <a:buChar char="•"/>
            </a:pPr>
            <a:r>
              <a:rPr lang="en-US" b="1" dirty="0" smtClean="0"/>
              <a:t>Basic form </a:t>
            </a:r>
            <a:r>
              <a:rPr lang="en-US" dirty="0" smtClean="0"/>
              <a:t>– covers on named peril approach</a:t>
            </a:r>
          </a:p>
          <a:p>
            <a:pPr marL="742950" lvl="1" indent="-285750">
              <a:buFont typeface="Arial" panose="020B0604020202020204" pitchFamily="34" charset="0"/>
              <a:buChar char="•"/>
            </a:pPr>
            <a:r>
              <a:rPr lang="en-US" b="1" dirty="0" smtClean="0"/>
              <a:t>Broad form </a:t>
            </a:r>
            <a:r>
              <a:rPr lang="en-US" dirty="0" smtClean="0"/>
              <a:t>– </a:t>
            </a:r>
            <a:r>
              <a:rPr lang="en-US" dirty="0"/>
              <a:t>covers on named peril </a:t>
            </a:r>
            <a:r>
              <a:rPr lang="en-US" dirty="0" smtClean="0"/>
              <a:t>approach and more expensive than basic form, includes falling objects, weight of ice/snow and water damage</a:t>
            </a:r>
          </a:p>
          <a:p>
            <a:pPr lvl="1"/>
            <a:r>
              <a:rPr lang="en-US" dirty="0" smtClean="0"/>
              <a:t>Both basic and broad forms have anti-concurrent causation wording for most losses</a:t>
            </a:r>
          </a:p>
          <a:p>
            <a:pPr lvl="1"/>
            <a:r>
              <a:rPr lang="en-US" dirty="0" smtClean="0"/>
              <a:t>Covered causes of loss include </a:t>
            </a:r>
            <a:r>
              <a:rPr lang="en-US" b="1" dirty="0" smtClean="0"/>
              <a:t>fire, lightning, explosion, windstorm or hail, smoke, riot or civil commotion, vandalism, sprinkler leakage, volcanic action etc.</a:t>
            </a:r>
          </a:p>
          <a:p>
            <a:pPr lvl="1"/>
            <a:r>
              <a:rPr lang="en-US" dirty="0" smtClean="0"/>
              <a:t>Ordinance or law, earth movement, government action, nuclear hazard, war etc. are excluded</a:t>
            </a:r>
          </a:p>
          <a:p>
            <a:pPr lvl="1"/>
            <a:r>
              <a:rPr lang="en-US" dirty="0" smtClean="0"/>
              <a:t>Additional but limited coverage for “Fungus” is provided for a limit of             $ 15,000 for a 12 month policy period</a:t>
            </a:r>
          </a:p>
        </p:txBody>
      </p:sp>
    </p:spTree>
    <p:extLst>
      <p:ext uri="{BB962C8B-B14F-4D97-AF65-F5344CB8AC3E}">
        <p14:creationId xmlns:p14="http://schemas.microsoft.com/office/powerpoint/2010/main" val="3825782822"/>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5355312"/>
          </a:xfrm>
          <a:prstGeom prst="rect">
            <a:avLst/>
          </a:prstGeom>
          <a:noFill/>
        </p:spPr>
        <p:txBody>
          <a:bodyPr wrap="square" rtlCol="0">
            <a:spAutoFit/>
          </a:bodyPr>
          <a:lstStyle/>
          <a:p>
            <a:pPr marL="742950" lvl="1" indent="-285750">
              <a:buFont typeface="Arial" pitchFamily="34" charset="0"/>
              <a:buChar char="•"/>
            </a:pPr>
            <a:r>
              <a:rPr lang="en-US" b="1" dirty="0" smtClean="0"/>
              <a:t>Special </a:t>
            </a:r>
            <a:r>
              <a:rPr lang="en-US" b="1" dirty="0"/>
              <a:t>form </a:t>
            </a:r>
            <a:r>
              <a:rPr lang="en-US" dirty="0" smtClean="0"/>
              <a:t>– provided broadest coverage, covers all losses which are not excluded. Also </a:t>
            </a:r>
            <a:r>
              <a:rPr lang="en-US" dirty="0"/>
              <a:t>shifts the burden </a:t>
            </a:r>
            <a:r>
              <a:rPr lang="en-US" dirty="0" smtClean="0"/>
              <a:t>of </a:t>
            </a:r>
            <a:r>
              <a:rPr lang="en-US" dirty="0"/>
              <a:t>proof on the </a:t>
            </a:r>
            <a:r>
              <a:rPr lang="en-US" dirty="0" smtClean="0"/>
              <a:t>insurer</a:t>
            </a:r>
          </a:p>
          <a:p>
            <a:r>
              <a:rPr lang="en-US" dirty="0"/>
              <a:t> </a:t>
            </a:r>
            <a:r>
              <a:rPr lang="en-US" dirty="0" smtClean="0"/>
              <a:t>    </a:t>
            </a:r>
            <a:r>
              <a:rPr lang="en-US" dirty="0" smtClean="0"/>
              <a:t>       Common </a:t>
            </a:r>
            <a:r>
              <a:rPr lang="en-US" dirty="0" smtClean="0"/>
              <a:t>exclusions include </a:t>
            </a:r>
            <a:r>
              <a:rPr lang="en-US" b="1" dirty="0" smtClean="0"/>
              <a:t>wear and tear, rust, corrosion, decay,  </a:t>
            </a:r>
          </a:p>
          <a:p>
            <a:r>
              <a:rPr lang="en-US" b="1" dirty="0"/>
              <a:t> </a:t>
            </a:r>
            <a:r>
              <a:rPr lang="en-US" b="1" dirty="0" smtClean="0"/>
              <a:t>   </a:t>
            </a:r>
            <a:r>
              <a:rPr lang="en-US" b="1" dirty="0" smtClean="0"/>
              <a:t>        </a:t>
            </a:r>
            <a:r>
              <a:rPr lang="en-US" b="1" dirty="0" smtClean="0"/>
              <a:t>mechanical breakdown, loss or damage to products </a:t>
            </a:r>
            <a:r>
              <a:rPr lang="en-US" dirty="0" smtClean="0"/>
              <a:t>etc.</a:t>
            </a:r>
            <a:endParaRPr lang="en-US" dirty="0"/>
          </a:p>
          <a:p>
            <a:endParaRPr lang="en-US" dirty="0" smtClean="0"/>
          </a:p>
          <a:p>
            <a:pPr marL="285750" indent="-285750">
              <a:buFont typeface="Wingdings" pitchFamily="2" charset="2"/>
              <a:buChar char="Ø"/>
            </a:pPr>
            <a:r>
              <a:rPr lang="en-US" b="1" dirty="0"/>
              <a:t>Blanket Insurance:</a:t>
            </a:r>
          </a:p>
          <a:p>
            <a:r>
              <a:rPr lang="en-US" dirty="0"/>
              <a:t>Insurance that covers with one limit of insurance</a:t>
            </a:r>
          </a:p>
          <a:p>
            <a:pPr marL="742950" lvl="1" indent="-285750">
              <a:buFont typeface="Arial" panose="020B0604020202020204" pitchFamily="34" charset="0"/>
              <a:buChar char="•"/>
            </a:pPr>
            <a:r>
              <a:rPr lang="en-US" dirty="0"/>
              <a:t>Two or more types of property – buildings and business personal property</a:t>
            </a:r>
          </a:p>
          <a:p>
            <a:pPr marL="742950" lvl="1" indent="-285750">
              <a:buFont typeface="Arial" panose="020B0604020202020204" pitchFamily="34" charset="0"/>
              <a:buChar char="•"/>
            </a:pPr>
            <a:r>
              <a:rPr lang="en-US" dirty="0"/>
              <a:t>One or more types of property at more than one location.</a:t>
            </a:r>
          </a:p>
          <a:p>
            <a:pPr marL="285750" indent="-285750">
              <a:buFont typeface="Arial" panose="020B0604020202020204" pitchFamily="34" charset="0"/>
              <a:buChar char="•"/>
            </a:pPr>
            <a:endParaRPr lang="en-US" dirty="0"/>
          </a:p>
          <a:p>
            <a:pPr marL="285750" indent="-285750">
              <a:buFont typeface="Wingdings" pitchFamily="2" charset="2"/>
              <a:buChar char="Ø"/>
            </a:pPr>
            <a:r>
              <a:rPr lang="en-US" b="1" dirty="0"/>
              <a:t>Specific Insurance:</a:t>
            </a:r>
          </a:p>
          <a:p>
            <a:r>
              <a:rPr lang="en-US" dirty="0"/>
              <a:t>Insurance that covers each building for a specific limit of insurance and personal property at each building for a specific limit of </a:t>
            </a:r>
            <a:r>
              <a:rPr lang="en-US" dirty="0" smtClean="0"/>
              <a:t>insurance</a:t>
            </a:r>
          </a:p>
          <a:p>
            <a:endParaRPr lang="en-US" dirty="0" smtClean="0"/>
          </a:p>
          <a:p>
            <a:pPr marL="285750" indent="-285750">
              <a:buFont typeface="Wingdings" pitchFamily="2" charset="2"/>
              <a:buChar char="Ø"/>
            </a:pPr>
            <a:r>
              <a:rPr lang="en-US" dirty="0" smtClean="0"/>
              <a:t>Limits can be provided as specific or blanket for e.g.</a:t>
            </a:r>
          </a:p>
          <a:p>
            <a:r>
              <a:rPr lang="en-US" b="1" dirty="0"/>
              <a:t> </a:t>
            </a:r>
            <a:r>
              <a:rPr lang="en-US" b="1" dirty="0" smtClean="0"/>
              <a:t>   </a:t>
            </a:r>
            <a:r>
              <a:rPr lang="en-US" dirty="0" smtClean="0"/>
              <a:t>Specific limits: $ 1,000,000 for building/$ 800,000 for business personal  </a:t>
            </a:r>
          </a:p>
          <a:p>
            <a:r>
              <a:rPr lang="en-US" dirty="0"/>
              <a:t> </a:t>
            </a:r>
            <a:r>
              <a:rPr lang="en-US" dirty="0" smtClean="0"/>
              <a:t>   property/$ 50,000 for personal property of others</a:t>
            </a:r>
          </a:p>
          <a:p>
            <a:r>
              <a:rPr lang="en-US" dirty="0" smtClean="0"/>
              <a:t>    Blanket limit: $ 1,850,000 for building, business personal property and   </a:t>
            </a:r>
          </a:p>
          <a:p>
            <a:r>
              <a:rPr lang="en-US" dirty="0"/>
              <a:t> </a:t>
            </a:r>
            <a:r>
              <a:rPr lang="en-US" dirty="0" smtClean="0"/>
              <a:t>   personal property of others</a:t>
            </a:r>
            <a:endParaRPr lang="en-US" dirty="0"/>
          </a:p>
        </p:txBody>
      </p:sp>
    </p:spTree>
    <p:extLst>
      <p:ext uri="{BB962C8B-B14F-4D97-AF65-F5344CB8AC3E}">
        <p14:creationId xmlns:p14="http://schemas.microsoft.com/office/powerpoint/2010/main" val="4113129214"/>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731758"/>
            <a:ext cx="8382000" cy="6278642"/>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t>Valuation is on Actual Cash Value but can be changed to replacement cost with optional coverage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smtClean="0"/>
              <a:t>Coinsurance clause requires the insured to carry insurance equal to at least a specified percentage of the property’s ACV or replacement cost value</a:t>
            </a:r>
          </a:p>
          <a:p>
            <a:r>
              <a:rPr lang="en-US" dirty="0"/>
              <a:t> </a:t>
            </a:r>
            <a:r>
              <a:rPr lang="en-US" dirty="0" smtClean="0"/>
              <a:t>    If the amount of insurance carried does not meet the coinsurance   </a:t>
            </a:r>
          </a:p>
          <a:p>
            <a:r>
              <a:rPr lang="en-US" dirty="0"/>
              <a:t> </a:t>
            </a:r>
            <a:r>
              <a:rPr lang="en-US" dirty="0" smtClean="0"/>
              <a:t>    requirement the payment will be calculated as per the below formula:</a:t>
            </a:r>
          </a:p>
          <a:p>
            <a:r>
              <a:rPr lang="en-US" dirty="0"/>
              <a:t> </a:t>
            </a:r>
            <a:r>
              <a:rPr lang="en-US" dirty="0" smtClean="0"/>
              <a:t>    Loss payment less deductible= </a:t>
            </a:r>
            <a:r>
              <a:rPr lang="en-US" dirty="0" smtClean="0">
                <a:sym typeface="Symbol" panose="05050102010706020507" pitchFamily="18" charset="2"/>
              </a:rPr>
              <a:t> </a:t>
            </a:r>
            <a:r>
              <a:rPr lang="en-US" dirty="0" smtClean="0"/>
              <a:t>  </a:t>
            </a:r>
            <a:r>
              <a:rPr lang="en-US" sz="1400" dirty="0" smtClean="0"/>
              <a:t>Amount of insurance carried</a:t>
            </a:r>
          </a:p>
          <a:p>
            <a:r>
              <a:rPr lang="en-US" sz="1400" dirty="0"/>
              <a:t> </a:t>
            </a:r>
            <a:r>
              <a:rPr lang="en-US" sz="1400" dirty="0" smtClean="0"/>
              <a:t>                                                                           -------------------------------------     X   Loss </a:t>
            </a:r>
          </a:p>
          <a:p>
            <a:r>
              <a:rPr lang="en-US" sz="1400" dirty="0"/>
              <a:t> </a:t>
            </a:r>
            <a:r>
              <a:rPr lang="en-US" sz="1400" dirty="0" smtClean="0"/>
              <a:t>                                                                           Amount of insurance required </a:t>
            </a:r>
          </a:p>
          <a:p>
            <a:endParaRPr lang="en-US" sz="1400" dirty="0"/>
          </a:p>
          <a:p>
            <a:pPr marL="285750" indent="-285750">
              <a:buFont typeface="Wingdings" panose="05000000000000000000" pitchFamily="2" charset="2"/>
              <a:buChar char="Ø"/>
            </a:pPr>
            <a:r>
              <a:rPr lang="en-US" dirty="0" smtClean="0"/>
              <a:t>Optional coverages include payment on agreed value, inflation guard, replace- </a:t>
            </a:r>
            <a:r>
              <a:rPr lang="en-US" dirty="0" err="1" smtClean="0"/>
              <a:t>ment</a:t>
            </a:r>
            <a:r>
              <a:rPr lang="en-US" dirty="0" smtClean="0"/>
              <a:t> cost and extension of replacement cost to personal property of others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smtClean="0"/>
              <a:t>Endorsements can be include to enhance coverage. Common endorsements are:</a:t>
            </a:r>
          </a:p>
          <a:p>
            <a:pPr marL="742950" lvl="1" indent="-285750">
              <a:buFont typeface="Arial" panose="020B0604020202020204" pitchFamily="34" charset="0"/>
              <a:buChar char="•"/>
            </a:pPr>
            <a:r>
              <a:rPr lang="en-US" dirty="0" smtClean="0"/>
              <a:t>Ordinance or law coverage endorsement</a:t>
            </a:r>
          </a:p>
          <a:p>
            <a:pPr marL="742950" lvl="1" indent="-285750">
              <a:buFont typeface="Arial" panose="020B0604020202020204" pitchFamily="34" charset="0"/>
              <a:buChar char="•"/>
            </a:pPr>
            <a:r>
              <a:rPr lang="en-US" dirty="0" smtClean="0"/>
              <a:t>Spoilage coverage endorsement</a:t>
            </a:r>
          </a:p>
          <a:p>
            <a:pPr marL="742950" lvl="1" indent="-285750">
              <a:buFont typeface="Arial" panose="020B0604020202020204" pitchFamily="34" charset="0"/>
              <a:buChar char="•"/>
            </a:pPr>
            <a:r>
              <a:rPr lang="en-US" dirty="0" smtClean="0"/>
              <a:t>Flood coverage</a:t>
            </a:r>
          </a:p>
          <a:p>
            <a:pPr marL="742950" lvl="1" indent="-285750">
              <a:buFont typeface="Arial" panose="020B0604020202020204" pitchFamily="34" charset="0"/>
              <a:buChar char="•"/>
            </a:pPr>
            <a:r>
              <a:rPr lang="en-US" dirty="0" smtClean="0"/>
              <a:t>Earthquake and volcanic eruption coverage</a:t>
            </a:r>
          </a:p>
          <a:p>
            <a:pPr marL="742950" lvl="1" indent="-285750">
              <a:buFont typeface="Arial" panose="020B0604020202020204" pitchFamily="34" charset="0"/>
              <a:buChar char="•"/>
            </a:pPr>
            <a:r>
              <a:rPr lang="en-US" dirty="0" smtClean="0"/>
              <a:t>Peak season limit of insurance</a:t>
            </a:r>
          </a:p>
          <a:p>
            <a:pPr marL="742950" lvl="1" indent="-285750">
              <a:buFont typeface="Arial" panose="020B0604020202020204" pitchFamily="34" charset="0"/>
              <a:buChar char="•"/>
            </a:pPr>
            <a:r>
              <a:rPr lang="en-US" dirty="0" smtClean="0"/>
              <a:t>Value reporting form</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092561182"/>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850880"/>
            <a:ext cx="8382000" cy="5909310"/>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t>Factors affecting commercial property insurance premiums include:</a:t>
            </a:r>
          </a:p>
          <a:p>
            <a:pPr marL="742950" lvl="1" indent="-285750">
              <a:buFont typeface="Arial" panose="020B0604020202020204" pitchFamily="34" charset="0"/>
              <a:buChar char="•"/>
            </a:pPr>
            <a:r>
              <a:rPr lang="en-US" dirty="0" smtClean="0"/>
              <a:t>Limits of insurance </a:t>
            </a:r>
          </a:p>
          <a:p>
            <a:pPr marL="742950" lvl="1" indent="-285750">
              <a:buFont typeface="Arial" panose="020B0604020202020204" pitchFamily="34" charset="0"/>
              <a:buChar char="•"/>
            </a:pPr>
            <a:r>
              <a:rPr lang="en-US" dirty="0" smtClean="0"/>
              <a:t>Covered causes of loss</a:t>
            </a:r>
          </a:p>
          <a:p>
            <a:pPr marL="742950" lvl="1" indent="-285750">
              <a:buFont typeface="Arial" panose="020B0604020202020204" pitchFamily="34" charset="0"/>
              <a:buChar char="•"/>
            </a:pPr>
            <a:r>
              <a:rPr lang="en-US" dirty="0" smtClean="0"/>
              <a:t>Coinsurance percentage</a:t>
            </a:r>
          </a:p>
          <a:p>
            <a:pPr marL="742950" lvl="1" indent="-285750">
              <a:buFont typeface="Arial" panose="020B0604020202020204" pitchFamily="34" charset="0"/>
              <a:buChar char="•"/>
            </a:pPr>
            <a:r>
              <a:rPr lang="en-US" dirty="0" smtClean="0"/>
              <a:t>Deductible amount</a:t>
            </a:r>
          </a:p>
          <a:p>
            <a:pPr marL="742950" lvl="1" indent="-285750">
              <a:buFont typeface="Arial" panose="020B0604020202020204" pitchFamily="34" charset="0"/>
              <a:buChar char="•"/>
            </a:pPr>
            <a:r>
              <a:rPr lang="en-US" dirty="0" smtClean="0"/>
              <a:t>Optional coverages</a:t>
            </a:r>
          </a:p>
          <a:p>
            <a:pPr marL="742950" lvl="1" indent="-285750">
              <a:buFont typeface="Arial" panose="020B0604020202020204" pitchFamily="34" charset="0"/>
              <a:buChar char="•"/>
            </a:pPr>
            <a:r>
              <a:rPr lang="en-US" dirty="0" smtClean="0"/>
              <a:t>Construction</a:t>
            </a:r>
          </a:p>
          <a:p>
            <a:pPr marL="742950" lvl="1" indent="-285750">
              <a:buFont typeface="Arial" panose="020B0604020202020204" pitchFamily="34" charset="0"/>
              <a:buChar char="•"/>
            </a:pPr>
            <a:r>
              <a:rPr lang="en-US" dirty="0" smtClean="0"/>
              <a:t>Occupancy</a:t>
            </a:r>
          </a:p>
          <a:p>
            <a:pPr marL="742950" lvl="1" indent="-285750">
              <a:buFont typeface="Arial" panose="020B0604020202020204" pitchFamily="34" charset="0"/>
              <a:buChar char="•"/>
            </a:pPr>
            <a:r>
              <a:rPr lang="en-US" dirty="0" smtClean="0"/>
              <a:t>Protection</a:t>
            </a:r>
          </a:p>
          <a:p>
            <a:pPr marL="742950" lvl="1" indent="-285750">
              <a:buFont typeface="Arial" panose="020B0604020202020204" pitchFamily="34" charset="0"/>
              <a:buChar char="•"/>
            </a:pPr>
            <a:r>
              <a:rPr lang="en-US" dirty="0" smtClean="0"/>
              <a:t>External exposure</a:t>
            </a:r>
          </a:p>
          <a:p>
            <a:pPr marL="742950" lvl="1" indent="-285750">
              <a:buFont typeface="Arial" panose="020B0604020202020204" pitchFamily="34" charset="0"/>
              <a:buChar char="•"/>
            </a:pPr>
            <a:r>
              <a:rPr lang="en-US" dirty="0" smtClean="0"/>
              <a:t>Location</a:t>
            </a:r>
          </a:p>
          <a:p>
            <a:pPr marL="742950" lvl="1" indent="-285750">
              <a:buFont typeface="Arial" panose="020B0604020202020204" pitchFamily="34" charset="0"/>
              <a:buChar char="•"/>
            </a:pPr>
            <a:endParaRPr lang="en-US" dirty="0"/>
          </a:p>
          <a:p>
            <a:pPr marL="285750" indent="-285750">
              <a:buFont typeface="Wingdings" panose="05000000000000000000" pitchFamily="2" charset="2"/>
              <a:buChar char="Ø"/>
            </a:pPr>
            <a:r>
              <a:rPr lang="en-US" b="1" dirty="0" smtClean="0"/>
              <a:t>Business income insurance </a:t>
            </a:r>
            <a:r>
              <a:rPr lang="en-US" dirty="0" smtClean="0"/>
              <a:t>covers the reduction in an organization’s income when operations are interrupted by damage to property caused by a covered peril</a:t>
            </a:r>
          </a:p>
          <a:p>
            <a:r>
              <a:rPr lang="en-US" dirty="0"/>
              <a:t> </a:t>
            </a:r>
            <a:r>
              <a:rPr lang="en-US" dirty="0" smtClean="0"/>
              <a:t>    During a business interruption an organization may incur </a:t>
            </a:r>
            <a:r>
              <a:rPr lang="en-US" b="1" dirty="0" smtClean="0"/>
              <a:t>continuing  </a:t>
            </a:r>
          </a:p>
          <a:p>
            <a:r>
              <a:rPr lang="en-US" b="1" dirty="0"/>
              <a:t> </a:t>
            </a:r>
            <a:r>
              <a:rPr lang="en-US" b="1" dirty="0" smtClean="0"/>
              <a:t>    expenses, non-continuing expenses and extra expenses</a:t>
            </a:r>
          </a:p>
          <a:p>
            <a:endParaRPr lang="en-US" b="1" dirty="0"/>
          </a:p>
          <a:p>
            <a:pPr marL="285750" indent="-285750">
              <a:buFont typeface="Wingdings" panose="05000000000000000000" pitchFamily="2" charset="2"/>
              <a:buChar char="Ø"/>
            </a:pPr>
            <a:r>
              <a:rPr lang="en-US" dirty="0" smtClean="0"/>
              <a:t>Coverage can be included for </a:t>
            </a:r>
            <a:r>
              <a:rPr lang="en-US" b="1" dirty="0" smtClean="0"/>
              <a:t>business income including rental value, business income other than rental value and rental value only</a:t>
            </a:r>
          </a:p>
          <a:p>
            <a:pPr lvl="1"/>
            <a:endParaRPr lang="en-US" b="1" dirty="0"/>
          </a:p>
        </p:txBody>
      </p:sp>
    </p:spTree>
    <p:extLst>
      <p:ext uri="{BB962C8B-B14F-4D97-AF65-F5344CB8AC3E}">
        <p14:creationId xmlns:p14="http://schemas.microsoft.com/office/powerpoint/2010/main" val="148979794"/>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Commercial Property </a:t>
            </a:r>
            <a:r>
              <a:rPr lang="en-US" sz="2500" b="1" dirty="0">
                <a:solidFill>
                  <a:prstClr val="white"/>
                </a:solidFill>
                <a:latin typeface="Segoe UI Light" panose="020B0502040204020203" pitchFamily="34" charset="0"/>
              </a:rPr>
              <a:t>Insurance </a:t>
            </a:r>
            <a:r>
              <a:rPr lang="en-US" sz="2500" b="1" dirty="0" err="1">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
        <p:nvSpPr>
          <p:cNvPr id="4" name="TextBox 3"/>
          <p:cNvSpPr txBox="1"/>
          <p:nvPr/>
        </p:nvSpPr>
        <p:spPr>
          <a:xfrm>
            <a:off x="304800" y="850880"/>
            <a:ext cx="8382000" cy="5078313"/>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t>Commercial property exclude loss caused by mechanical or electrical breakdown and steam boiler explosions therefore, </a:t>
            </a:r>
            <a:r>
              <a:rPr lang="en-US" b="1" dirty="0" smtClean="0"/>
              <a:t>Equipment Breakdown </a:t>
            </a:r>
            <a:r>
              <a:rPr lang="en-US" dirty="0" smtClean="0"/>
              <a:t>insurance is provided separately</a:t>
            </a:r>
          </a:p>
          <a:p>
            <a:pPr marL="285750" indent="-285750">
              <a:buFont typeface="Wingdings" panose="05000000000000000000" pitchFamily="2" charset="2"/>
              <a:buChar char="Ø"/>
            </a:pPr>
            <a:endParaRPr lang="en-US" b="1" dirty="0"/>
          </a:p>
          <a:p>
            <a:pPr marL="285750" indent="-285750">
              <a:buFont typeface="Wingdings" panose="05000000000000000000" pitchFamily="2" charset="2"/>
              <a:buChar char="Ø"/>
            </a:pPr>
            <a:r>
              <a:rPr lang="en-US" dirty="0" smtClean="0"/>
              <a:t>Coverage can be included for </a:t>
            </a:r>
          </a:p>
          <a:p>
            <a:pPr marL="742950" lvl="1" indent="-285750">
              <a:buFont typeface="Arial" panose="020B0604020202020204" pitchFamily="34" charset="0"/>
              <a:buChar char="•"/>
            </a:pPr>
            <a:r>
              <a:rPr lang="en-US" dirty="0" smtClean="0"/>
              <a:t>Property damage</a:t>
            </a:r>
          </a:p>
          <a:p>
            <a:pPr marL="742950" lvl="1" indent="-285750">
              <a:buFont typeface="Arial" panose="020B0604020202020204" pitchFamily="34" charset="0"/>
              <a:buChar char="•"/>
            </a:pPr>
            <a:r>
              <a:rPr lang="en-US" dirty="0" smtClean="0"/>
              <a:t>Expediting expenses</a:t>
            </a:r>
          </a:p>
          <a:p>
            <a:pPr marL="742950" lvl="1" indent="-285750">
              <a:buFont typeface="Arial" panose="020B0604020202020204" pitchFamily="34" charset="0"/>
              <a:buChar char="•"/>
            </a:pPr>
            <a:r>
              <a:rPr lang="en-US" dirty="0" smtClean="0"/>
              <a:t>Business income and extra expense</a:t>
            </a:r>
          </a:p>
          <a:p>
            <a:pPr marL="742950" lvl="1" indent="-285750">
              <a:buFont typeface="Arial" panose="020B0604020202020204" pitchFamily="34" charset="0"/>
              <a:buChar char="•"/>
            </a:pPr>
            <a:r>
              <a:rPr lang="en-US" dirty="0" smtClean="0"/>
              <a:t>Spoilage damage</a:t>
            </a:r>
          </a:p>
          <a:p>
            <a:pPr marL="742950" lvl="1" indent="-285750">
              <a:buFont typeface="Arial" panose="020B0604020202020204" pitchFamily="34" charset="0"/>
              <a:buChar char="•"/>
            </a:pPr>
            <a:r>
              <a:rPr lang="en-US" dirty="0" smtClean="0"/>
              <a:t>Utility interruption</a:t>
            </a:r>
          </a:p>
          <a:p>
            <a:pPr marL="742950" lvl="1" indent="-285750">
              <a:buFont typeface="Arial" panose="020B0604020202020204" pitchFamily="34" charset="0"/>
              <a:buChar char="•"/>
            </a:pPr>
            <a:r>
              <a:rPr lang="en-US" dirty="0" smtClean="0"/>
              <a:t>Newly acquired premises</a:t>
            </a:r>
          </a:p>
          <a:p>
            <a:pPr marL="742950" lvl="1" indent="-285750">
              <a:buFont typeface="Arial" panose="020B0604020202020204" pitchFamily="34" charset="0"/>
              <a:buChar char="•"/>
            </a:pPr>
            <a:r>
              <a:rPr lang="en-US" dirty="0" smtClean="0"/>
              <a:t>Ordinance or law</a:t>
            </a:r>
          </a:p>
          <a:p>
            <a:pPr marL="742950" lvl="1" indent="-285750">
              <a:buFont typeface="Arial" panose="020B0604020202020204" pitchFamily="34" charset="0"/>
              <a:buChar char="•"/>
            </a:pPr>
            <a:r>
              <a:rPr lang="en-US" dirty="0" smtClean="0"/>
              <a:t>Errors and omissions</a:t>
            </a:r>
          </a:p>
          <a:p>
            <a:pPr marL="742950" lvl="1" indent="-285750">
              <a:buFont typeface="Arial" panose="020B0604020202020204" pitchFamily="34" charset="0"/>
              <a:buChar char="•"/>
            </a:pPr>
            <a:r>
              <a:rPr lang="en-US" dirty="0" smtClean="0"/>
              <a:t>Brands and labels</a:t>
            </a:r>
          </a:p>
          <a:p>
            <a:pPr marL="742950" lvl="1" indent="-285750">
              <a:buFont typeface="Arial" panose="020B0604020202020204" pitchFamily="34" charset="0"/>
              <a:buChar char="•"/>
            </a:pPr>
            <a:r>
              <a:rPr lang="en-US" dirty="0" smtClean="0"/>
              <a:t>Contingent business income and extra expenses</a:t>
            </a:r>
          </a:p>
          <a:p>
            <a:pPr marL="742950" lvl="1" indent="-285750">
              <a:buFont typeface="Arial" panose="020B0604020202020204" pitchFamily="34" charset="0"/>
              <a:buChar char="•"/>
            </a:pPr>
            <a:endParaRPr lang="en-US" dirty="0"/>
          </a:p>
          <a:p>
            <a:pPr marL="285750" indent="-285750">
              <a:buFont typeface="Wingdings" panose="05000000000000000000" pitchFamily="2" charset="2"/>
              <a:buChar char="Ø"/>
            </a:pPr>
            <a:r>
              <a:rPr lang="en-US" dirty="0" smtClean="0"/>
              <a:t>Terrorism endorsements like </a:t>
            </a:r>
            <a:r>
              <a:rPr lang="en-US" b="1" dirty="0" smtClean="0"/>
              <a:t>Certified acts exclusion </a:t>
            </a:r>
            <a:r>
              <a:rPr lang="en-US" b="1" dirty="0" smtClean="0"/>
              <a:t>endorsements</a:t>
            </a:r>
            <a:r>
              <a:rPr lang="en-US" dirty="0" smtClean="0"/>
              <a:t> </a:t>
            </a:r>
            <a:r>
              <a:rPr lang="en-US" dirty="0" smtClean="0"/>
              <a:t>can also be included</a:t>
            </a:r>
            <a:endParaRPr lang="en-US" dirty="0"/>
          </a:p>
        </p:txBody>
      </p:sp>
    </p:spTree>
    <p:extLst>
      <p:ext uri="{BB962C8B-B14F-4D97-AF65-F5344CB8AC3E}">
        <p14:creationId xmlns:p14="http://schemas.microsoft.com/office/powerpoint/2010/main" val="1750618618"/>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Specialty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5355312"/>
          </a:xfrm>
          <a:prstGeom prst="rect">
            <a:avLst/>
          </a:prstGeom>
          <a:noFill/>
        </p:spPr>
        <p:txBody>
          <a:bodyPr wrap="square" rtlCol="0">
            <a:spAutoFit/>
          </a:bodyPr>
          <a:lstStyle/>
          <a:p>
            <a:r>
              <a:rPr lang="en-US" b="1" dirty="0" smtClean="0"/>
              <a:t>Commercial Umbrella Policy</a:t>
            </a:r>
            <a:endParaRPr lang="en-US" dirty="0" smtClean="0"/>
          </a:p>
          <a:p>
            <a:endParaRPr lang="en-US" dirty="0" smtClean="0"/>
          </a:p>
          <a:p>
            <a:pPr marL="285750" indent="-285750">
              <a:buFont typeface="Wingdings" pitchFamily="2" charset="2"/>
              <a:buChar char="Ø"/>
            </a:pPr>
            <a:r>
              <a:rPr lang="en-US" dirty="0" smtClean="0"/>
              <a:t>A liability policy that provides excess coverage above underlying policies and may also provide coverage not available in the underlying policies, subject to self-insured retention</a:t>
            </a:r>
          </a:p>
          <a:p>
            <a:pPr marL="285750" indent="-285750">
              <a:buFont typeface="Wingdings" pitchFamily="2" charset="2"/>
              <a:buChar char="Ø"/>
            </a:pPr>
            <a:endParaRPr lang="en-US" dirty="0"/>
          </a:p>
          <a:p>
            <a:pPr marL="285750" indent="-285750">
              <a:buFont typeface="Wingdings" pitchFamily="2" charset="2"/>
              <a:buChar char="Ø"/>
            </a:pPr>
            <a:r>
              <a:rPr lang="en-US" dirty="0" smtClean="0"/>
              <a:t>It provides drop-down coverage after the limits of </a:t>
            </a:r>
          </a:p>
          <a:p>
            <a:r>
              <a:rPr lang="en-US" dirty="0"/>
              <a:t> </a:t>
            </a:r>
            <a:r>
              <a:rPr lang="en-US" dirty="0" smtClean="0"/>
              <a:t>    the underlying policy are exhausted</a:t>
            </a:r>
          </a:p>
          <a:p>
            <a:endParaRPr lang="en-US" dirty="0"/>
          </a:p>
          <a:p>
            <a:pPr marL="285750" indent="-285750">
              <a:buFont typeface="Wingdings" pitchFamily="2" charset="2"/>
              <a:buChar char="Ø"/>
            </a:pPr>
            <a:r>
              <a:rPr lang="en-US" dirty="0" smtClean="0"/>
              <a:t>It is mandatory for the insured to maintain the </a:t>
            </a:r>
          </a:p>
          <a:p>
            <a:r>
              <a:rPr lang="en-US" dirty="0"/>
              <a:t> </a:t>
            </a:r>
            <a:r>
              <a:rPr lang="en-US" dirty="0" smtClean="0"/>
              <a:t>    required underlying coverage</a:t>
            </a:r>
          </a:p>
          <a:p>
            <a:endParaRPr lang="en-US" dirty="0" smtClean="0"/>
          </a:p>
          <a:p>
            <a:pPr marL="285750" indent="-285750">
              <a:buFont typeface="Wingdings" pitchFamily="2" charset="2"/>
              <a:buChar char="Ø"/>
            </a:pPr>
            <a:r>
              <a:rPr lang="en-US" dirty="0" smtClean="0"/>
              <a:t>An aggregate limit applies to the claims</a:t>
            </a:r>
          </a:p>
          <a:p>
            <a:pPr marL="285750" indent="-285750">
              <a:buFont typeface="Wingdings" pitchFamily="2" charset="2"/>
              <a:buChar char="Ø"/>
            </a:pPr>
            <a:endParaRPr lang="en-US" dirty="0" smtClean="0"/>
          </a:p>
          <a:p>
            <a:pPr marL="285750" indent="-285750">
              <a:buFont typeface="Wingdings" pitchFamily="2" charset="2"/>
              <a:buChar char="Ø"/>
            </a:pPr>
            <a:r>
              <a:rPr lang="en-US" dirty="0" smtClean="0"/>
              <a:t>When a claim is not covered by the underlying policies the coverage is subject to </a:t>
            </a:r>
            <a:r>
              <a:rPr lang="en-US" b="1" dirty="0" smtClean="0"/>
              <a:t>Self Insured Retention (SIR)</a:t>
            </a:r>
          </a:p>
          <a:p>
            <a:endParaRPr lang="en-US" b="1" dirty="0" smtClean="0"/>
          </a:p>
          <a:p>
            <a:pPr marL="285750" indent="-285750">
              <a:buFont typeface="Wingdings" pitchFamily="2" charset="2"/>
              <a:buChar char="Ø"/>
            </a:pPr>
            <a:r>
              <a:rPr lang="en-US" dirty="0" smtClean="0"/>
              <a:t>Provides coverage for defense costs and attorney fees associated with claims against you. These expenses are paid in addition to the policy limit.</a:t>
            </a:r>
            <a:endParaRPr lang="en-US" dirty="0"/>
          </a:p>
        </p:txBody>
      </p:sp>
      <p:pic>
        <p:nvPicPr>
          <p:cNvPr id="7" name="Picture 6"/>
          <p:cNvPicPr>
            <a:picLocks noChangeAspect="1"/>
          </p:cNvPicPr>
          <p:nvPr/>
        </p:nvPicPr>
        <p:blipFill>
          <a:blip r:embed="rId3"/>
          <a:stretch>
            <a:fillRect/>
          </a:stretch>
        </p:blipFill>
        <p:spPr>
          <a:xfrm>
            <a:off x="6277276" y="2209800"/>
            <a:ext cx="2409524" cy="2438095"/>
          </a:xfrm>
          <a:prstGeom prst="rect">
            <a:avLst/>
          </a:prstGeom>
        </p:spPr>
      </p:pic>
    </p:spTree>
    <p:extLst>
      <p:ext uri="{BB962C8B-B14F-4D97-AF65-F5344CB8AC3E}">
        <p14:creationId xmlns:p14="http://schemas.microsoft.com/office/powerpoint/2010/main" val="882548565"/>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47891"/>
            <a:ext cx="8382000" cy="6186309"/>
          </a:xfrm>
          <a:prstGeom prst="rect">
            <a:avLst/>
          </a:prstGeom>
          <a:noFill/>
        </p:spPr>
        <p:txBody>
          <a:bodyPr wrap="square" rtlCol="0">
            <a:spAutoFit/>
          </a:bodyPr>
          <a:lstStyle/>
          <a:p>
            <a:r>
              <a:rPr lang="en-US" b="1" dirty="0" smtClean="0"/>
              <a:t>Professional Liability Policy</a:t>
            </a:r>
            <a:endParaRPr lang="en-US" dirty="0" smtClean="0"/>
          </a:p>
          <a:p>
            <a:endParaRPr lang="en-US" dirty="0" smtClean="0"/>
          </a:p>
          <a:p>
            <a:pPr marL="285750" indent="-285750">
              <a:buFont typeface="Wingdings" pitchFamily="2" charset="2"/>
              <a:buChar char="Ø"/>
            </a:pPr>
            <a:r>
              <a:rPr lang="en-US" dirty="0" smtClean="0"/>
              <a:t>Insurance that covers persons engaged in various occupations against liability resulting from their rendering or failing to render professional services</a:t>
            </a:r>
          </a:p>
          <a:p>
            <a:pPr marL="285750" indent="-285750">
              <a:buFont typeface="Wingdings" pitchFamily="2" charset="2"/>
              <a:buChar char="Ø"/>
            </a:pPr>
            <a:endParaRPr lang="en-US" dirty="0"/>
          </a:p>
          <a:p>
            <a:pPr marL="285750" indent="-285750">
              <a:buFont typeface="Wingdings" pitchFamily="2" charset="2"/>
              <a:buChar char="Ø"/>
            </a:pPr>
            <a:r>
              <a:rPr lang="en-US" dirty="0" smtClean="0"/>
              <a:t>Mostly professional liability is written on claims made basis therefore, it has a </a:t>
            </a:r>
            <a:r>
              <a:rPr lang="en-US" b="1" dirty="0" smtClean="0"/>
              <a:t>Retroactive date </a:t>
            </a:r>
            <a:r>
              <a:rPr lang="en-US" dirty="0" smtClean="0"/>
              <a:t>and </a:t>
            </a:r>
            <a:r>
              <a:rPr lang="en-US" b="1" dirty="0"/>
              <a:t>E</a:t>
            </a:r>
            <a:r>
              <a:rPr lang="en-US" b="1" dirty="0" smtClean="0"/>
              <a:t>xtended </a:t>
            </a:r>
            <a:r>
              <a:rPr lang="en-US" b="1" dirty="0"/>
              <a:t>R</a:t>
            </a:r>
            <a:r>
              <a:rPr lang="en-US" b="1" dirty="0" smtClean="0"/>
              <a:t>eporting </a:t>
            </a:r>
            <a:r>
              <a:rPr lang="en-US" b="1" dirty="0"/>
              <a:t>P</a:t>
            </a:r>
            <a:r>
              <a:rPr lang="en-US" b="1" dirty="0" smtClean="0"/>
              <a:t>eriod </a:t>
            </a:r>
            <a:r>
              <a:rPr lang="en-US" dirty="0" smtClean="0"/>
              <a:t>(ERP)</a:t>
            </a:r>
          </a:p>
          <a:p>
            <a:endParaRPr lang="en-US" dirty="0" smtClean="0"/>
          </a:p>
          <a:p>
            <a:pPr marL="285750" indent="-285750">
              <a:buFont typeface="Wingdings" panose="05000000000000000000" pitchFamily="2" charset="2"/>
              <a:buChar char="Ø"/>
            </a:pPr>
            <a:r>
              <a:rPr lang="en-US" dirty="0" smtClean="0"/>
              <a:t>To cater for liability exposures for different professions different professional liability policies are issued</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smtClean="0"/>
              <a:t>Common exclusions include contractual liability, punitive damages, insured’s dishonest, criminal or malicious acts</a:t>
            </a:r>
          </a:p>
          <a:p>
            <a:pPr marL="285750" indent="-285750">
              <a:buFont typeface="Wingdings" panose="05000000000000000000" pitchFamily="2" charset="2"/>
              <a:buChar char="Ø"/>
            </a:pPr>
            <a:endParaRPr lang="en-US" dirty="0"/>
          </a:p>
          <a:p>
            <a:r>
              <a:rPr lang="en-US" b="1" dirty="0" smtClean="0"/>
              <a:t>Electronic data coverage</a:t>
            </a:r>
          </a:p>
          <a:p>
            <a:endParaRPr lang="en-US" b="1" dirty="0"/>
          </a:p>
          <a:p>
            <a:pPr marL="742950" lvl="1" indent="-285750">
              <a:buFont typeface="Arial" panose="020B0604020202020204" pitchFamily="34" charset="0"/>
              <a:buChar char="•"/>
            </a:pPr>
            <a:r>
              <a:rPr lang="en-US" dirty="0" smtClean="0"/>
              <a:t>Provides breakdown </a:t>
            </a:r>
            <a:r>
              <a:rPr lang="en-US" dirty="0"/>
              <a:t>c</a:t>
            </a:r>
            <a:r>
              <a:rPr lang="en-US" dirty="0" smtClean="0"/>
              <a:t>overage </a:t>
            </a:r>
            <a:r>
              <a:rPr lang="en-US" dirty="0"/>
              <a:t>including mechanical breakdown, short circuit and other electric disturbances</a:t>
            </a:r>
          </a:p>
          <a:p>
            <a:pPr marL="742950" lvl="1" indent="-285750">
              <a:buFont typeface="Arial" panose="020B0604020202020204" pitchFamily="34" charset="0"/>
              <a:buChar char="•"/>
            </a:pPr>
            <a:r>
              <a:rPr lang="en-US" dirty="0"/>
              <a:t>Includes certain loss during repair, service or processing</a:t>
            </a:r>
          </a:p>
          <a:p>
            <a:pPr marL="742950" lvl="1" indent="-285750">
              <a:buFont typeface="Arial" panose="020B0604020202020204" pitchFamily="34" charset="0"/>
              <a:buChar char="•"/>
            </a:pPr>
            <a:r>
              <a:rPr lang="en-US" dirty="0"/>
              <a:t>Virus/Malicious Software resulting in programming errors/incorrect machine </a:t>
            </a:r>
            <a:r>
              <a:rPr lang="en-US" dirty="0" smtClean="0"/>
              <a:t>instructions</a:t>
            </a:r>
            <a:endParaRPr lang="en-US" b="1" dirty="0"/>
          </a:p>
          <a:p>
            <a:endParaRPr lang="en-US" dirty="0"/>
          </a:p>
        </p:txBody>
      </p:sp>
      <p:sp>
        <p:nvSpPr>
          <p:cNvPr id="3"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Specialty Insurance </a:t>
            </a:r>
            <a:r>
              <a:rPr lang="en-US" sz="2500" b="1" dirty="0" err="1" smtClean="0">
                <a:solidFill>
                  <a:prstClr val="white"/>
                </a:solidFill>
                <a:latin typeface="Segoe UI Light" panose="020B0502040204020203" pitchFamily="34" charset="0"/>
              </a:rPr>
              <a:t>contd</a:t>
            </a:r>
            <a:r>
              <a:rPr lang="en-US" sz="2500" b="1" dirty="0" smtClean="0">
                <a:solidFill>
                  <a:prstClr val="white"/>
                </a:solidFill>
                <a:latin typeface="Segoe UI Light" panose="020B0502040204020203" pitchFamily="34" charset="0"/>
              </a:rPr>
              <a:t>…</a:t>
            </a:r>
            <a:endParaRPr lang="en-US" sz="2500" b="1" dirty="0">
              <a:solidFill>
                <a:prstClr val="white"/>
              </a:solidFill>
              <a:latin typeface="Segoe UI Light" panose="020B0502040204020203" pitchFamily="34" charset="0"/>
            </a:endParaRPr>
          </a:p>
        </p:txBody>
      </p:sp>
    </p:spTree>
    <p:extLst>
      <p:ext uri="{BB962C8B-B14F-4D97-AF65-F5344CB8AC3E}">
        <p14:creationId xmlns:p14="http://schemas.microsoft.com/office/powerpoint/2010/main" val="2413706173"/>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Crime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762000"/>
            <a:ext cx="8382000" cy="6186309"/>
          </a:xfrm>
          <a:prstGeom prst="rect">
            <a:avLst/>
          </a:prstGeom>
          <a:noFill/>
        </p:spPr>
        <p:txBody>
          <a:bodyPr wrap="square" rtlCol="0">
            <a:spAutoFit/>
          </a:bodyPr>
          <a:lstStyle/>
          <a:p>
            <a:pPr marL="285750" indent="-285750">
              <a:buFont typeface="Wingdings" pitchFamily="2" charset="2"/>
              <a:buChar char="Ø"/>
            </a:pPr>
            <a:r>
              <a:rPr lang="en-US" dirty="0" smtClean="0"/>
              <a:t>Insurance that provides coverage for </a:t>
            </a:r>
          </a:p>
          <a:p>
            <a:pPr marL="742950" lvl="1" indent="-285750">
              <a:buFont typeface="Arial" panose="020B0604020202020204" pitchFamily="34" charset="0"/>
              <a:buChar char="•"/>
            </a:pPr>
            <a:r>
              <a:rPr lang="en-US" dirty="0" smtClean="0"/>
              <a:t>Employee theft</a:t>
            </a:r>
          </a:p>
          <a:p>
            <a:pPr marL="742950" lvl="1" indent="-285750">
              <a:buFont typeface="Arial" panose="020B0604020202020204" pitchFamily="34" charset="0"/>
              <a:buChar char="•"/>
            </a:pPr>
            <a:r>
              <a:rPr lang="en-US" dirty="0" smtClean="0"/>
              <a:t>Forgery or alteration</a:t>
            </a:r>
          </a:p>
          <a:p>
            <a:pPr marL="742950" lvl="1" indent="-285750">
              <a:buFont typeface="Arial" panose="020B0604020202020204" pitchFamily="34" charset="0"/>
              <a:buChar char="•"/>
            </a:pPr>
            <a:r>
              <a:rPr lang="en-US" dirty="0" smtClean="0"/>
              <a:t>Inside the premises – Theft of money and securities</a:t>
            </a:r>
          </a:p>
          <a:p>
            <a:pPr marL="742950" lvl="1" indent="-285750">
              <a:buFont typeface="Arial" panose="020B0604020202020204" pitchFamily="34" charset="0"/>
              <a:buChar char="•"/>
            </a:pPr>
            <a:r>
              <a:rPr lang="en-US" dirty="0" smtClean="0"/>
              <a:t>Inside the premises – Robbery or Safe burglary of other property</a:t>
            </a:r>
          </a:p>
          <a:p>
            <a:pPr marL="742950" lvl="1" indent="-285750">
              <a:buFont typeface="Arial" panose="020B0604020202020204" pitchFamily="34" charset="0"/>
              <a:buChar char="•"/>
            </a:pPr>
            <a:r>
              <a:rPr lang="en-US" dirty="0" smtClean="0"/>
              <a:t>Outside the premises</a:t>
            </a:r>
          </a:p>
          <a:p>
            <a:pPr marL="742950" lvl="1" indent="-285750">
              <a:buFont typeface="Arial" panose="020B0604020202020204" pitchFamily="34" charset="0"/>
              <a:buChar char="•"/>
            </a:pPr>
            <a:r>
              <a:rPr lang="en-US" dirty="0" smtClean="0"/>
              <a:t>Computer and funds transfer fraud</a:t>
            </a:r>
          </a:p>
          <a:p>
            <a:pPr marL="742950" lvl="1" indent="-285750">
              <a:buFont typeface="Arial" panose="020B0604020202020204" pitchFamily="34" charset="0"/>
              <a:buChar char="•"/>
            </a:pPr>
            <a:r>
              <a:rPr lang="en-US" dirty="0" smtClean="0"/>
              <a:t>Money orders and counterfeit money</a:t>
            </a:r>
          </a:p>
          <a:p>
            <a:pPr marL="285750" indent="-285750">
              <a:buFont typeface="Arial" panose="020B0604020202020204" pitchFamily="34" charset="0"/>
              <a:buChar char="•"/>
            </a:pPr>
            <a:endParaRPr lang="en-US" dirty="0"/>
          </a:p>
          <a:p>
            <a:pPr marL="285750" indent="-285750">
              <a:buFont typeface="Wingdings" pitchFamily="2" charset="2"/>
              <a:buChar char="Ø"/>
            </a:pPr>
            <a:r>
              <a:rPr lang="en-US" dirty="0" smtClean="0"/>
              <a:t>It is issued in two forms:</a:t>
            </a:r>
          </a:p>
          <a:p>
            <a:pPr marL="742950" lvl="1" indent="-285750">
              <a:buFont typeface="Arial" panose="020B0604020202020204" pitchFamily="34" charset="0"/>
              <a:buChar char="•"/>
            </a:pPr>
            <a:r>
              <a:rPr lang="en-US" b="1" dirty="0" smtClean="0"/>
              <a:t>Discovery Form: </a:t>
            </a:r>
            <a:r>
              <a:rPr lang="en-US" dirty="0" smtClean="0"/>
              <a:t>Covers losses discovered during policy period even though they may have occurred before the policy period</a:t>
            </a:r>
          </a:p>
          <a:p>
            <a:pPr marL="742950" lvl="1" indent="-285750">
              <a:buFont typeface="Arial" panose="020B0604020202020204" pitchFamily="34" charset="0"/>
              <a:buChar char="•"/>
            </a:pPr>
            <a:r>
              <a:rPr lang="en-US" b="1" dirty="0" smtClean="0"/>
              <a:t>Loss Sustained Form: </a:t>
            </a:r>
            <a:r>
              <a:rPr lang="en-US" dirty="0" smtClean="0"/>
              <a:t>Covers losses actually sustained during the policy period and discovered no later than one year after policy expiration</a:t>
            </a:r>
          </a:p>
          <a:p>
            <a:endParaRPr lang="en-US" dirty="0"/>
          </a:p>
          <a:p>
            <a:pPr marL="285750" indent="-285750">
              <a:buFont typeface="Wingdings" pitchFamily="2" charset="2"/>
              <a:buChar char="Ø"/>
            </a:pPr>
            <a:r>
              <a:rPr lang="en-US" dirty="0" smtClean="0"/>
              <a:t>Separate limits can apply to each of the insuring agreement</a:t>
            </a:r>
          </a:p>
          <a:p>
            <a:pPr marL="285750" indent="-285750">
              <a:buFont typeface="Wingdings" pitchFamily="2" charset="2"/>
              <a:buChar char="Ø"/>
            </a:pPr>
            <a:endParaRPr lang="en-US" dirty="0"/>
          </a:p>
          <a:p>
            <a:pPr marL="285750" indent="-285750">
              <a:buFont typeface="Wingdings" pitchFamily="2" charset="2"/>
              <a:buChar char="Ø"/>
            </a:pPr>
            <a:r>
              <a:rPr lang="en-US" dirty="0" smtClean="0"/>
              <a:t>Payment is made per occurrence basis</a:t>
            </a:r>
          </a:p>
          <a:p>
            <a:endParaRPr lang="en-US" dirty="0"/>
          </a:p>
          <a:p>
            <a:pPr marL="285750" indent="-285750">
              <a:buFont typeface="Wingdings" pitchFamily="2" charset="2"/>
              <a:buChar char="Ø"/>
            </a:pPr>
            <a:r>
              <a:rPr lang="en-US" dirty="0" smtClean="0"/>
              <a:t>Exclusions include acts committed by you and you partners, arithmetical errors and omissions, confidential information, indirect losses, fire etc.</a:t>
            </a:r>
          </a:p>
          <a:p>
            <a:endParaRPr lang="en-US" dirty="0"/>
          </a:p>
        </p:txBody>
      </p:sp>
    </p:spTree>
    <p:extLst>
      <p:ext uri="{BB962C8B-B14F-4D97-AF65-F5344CB8AC3E}">
        <p14:creationId xmlns:p14="http://schemas.microsoft.com/office/powerpoint/2010/main" val="549800004"/>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Inland Marine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4247317"/>
          </a:xfrm>
          <a:prstGeom prst="rect">
            <a:avLst/>
          </a:prstGeom>
          <a:noFill/>
        </p:spPr>
        <p:txBody>
          <a:bodyPr wrap="square" rtlCol="0">
            <a:spAutoFit/>
          </a:bodyPr>
          <a:lstStyle/>
          <a:p>
            <a:pPr marL="285750" indent="-285750">
              <a:buFont typeface="Wingdings" pitchFamily="2" charset="2"/>
              <a:buChar char="Ø"/>
            </a:pPr>
            <a:r>
              <a:rPr lang="en-US" dirty="0" smtClean="0"/>
              <a:t>This is the insurance that covers different classes of property that typically involve and element of transportation</a:t>
            </a:r>
          </a:p>
          <a:p>
            <a:pPr marL="285750" indent="-285750">
              <a:buFont typeface="Wingdings" pitchFamily="2" charset="2"/>
              <a:buChar char="Ø"/>
            </a:pPr>
            <a:endParaRPr lang="en-US" dirty="0"/>
          </a:p>
          <a:p>
            <a:pPr marL="285750" indent="-285750">
              <a:buFont typeface="Wingdings" pitchFamily="2" charset="2"/>
              <a:buChar char="Ø"/>
            </a:pPr>
            <a:r>
              <a:rPr lang="en-US" dirty="0" smtClean="0"/>
              <a:t>It is divided into two categories:</a:t>
            </a:r>
          </a:p>
          <a:p>
            <a:pPr marL="285750" indent="-285750">
              <a:buFont typeface="Arial" pitchFamily="34" charset="0"/>
              <a:buChar char="•"/>
            </a:pPr>
            <a:r>
              <a:rPr lang="en-US" b="1" dirty="0" smtClean="0"/>
              <a:t>Filed class of business: </a:t>
            </a:r>
            <a:r>
              <a:rPr lang="en-US" dirty="0" smtClean="0"/>
              <a:t>Rates must be filed with the state insurance department e.g. musical instruments, </a:t>
            </a:r>
          </a:p>
          <a:p>
            <a:r>
              <a:rPr lang="en-US" dirty="0"/>
              <a:t> </a:t>
            </a:r>
            <a:r>
              <a:rPr lang="en-US" dirty="0" smtClean="0"/>
              <a:t>    photographic equipment etc.</a:t>
            </a:r>
            <a:endParaRPr lang="en-US" dirty="0"/>
          </a:p>
          <a:p>
            <a:endParaRPr lang="en-US" dirty="0" smtClean="0"/>
          </a:p>
          <a:p>
            <a:pPr marL="285750" indent="-285750">
              <a:buFont typeface="Arial" pitchFamily="34" charset="0"/>
              <a:buChar char="•"/>
            </a:pPr>
            <a:r>
              <a:rPr lang="en-US" b="1" dirty="0" smtClean="0"/>
              <a:t>Non-filed class of business: </a:t>
            </a:r>
            <a:r>
              <a:rPr lang="en-US" dirty="0" smtClean="0"/>
              <a:t>neither </a:t>
            </a:r>
          </a:p>
          <a:p>
            <a:r>
              <a:rPr lang="en-US" dirty="0"/>
              <a:t> </a:t>
            </a:r>
            <a:r>
              <a:rPr lang="en-US" dirty="0" smtClean="0"/>
              <a:t>    the policy forms nor the rates need to </a:t>
            </a:r>
          </a:p>
          <a:p>
            <a:r>
              <a:rPr lang="en-US" dirty="0"/>
              <a:t> </a:t>
            </a:r>
            <a:r>
              <a:rPr lang="en-US" dirty="0" smtClean="0"/>
              <a:t>    be filed with the state insurance </a:t>
            </a:r>
          </a:p>
          <a:p>
            <a:r>
              <a:rPr lang="en-US" dirty="0"/>
              <a:t> </a:t>
            </a:r>
            <a:r>
              <a:rPr lang="en-US" dirty="0" smtClean="0"/>
              <a:t>    department e.g. contractor’s equip-</a:t>
            </a:r>
          </a:p>
          <a:p>
            <a:r>
              <a:rPr lang="en-US" dirty="0"/>
              <a:t> </a:t>
            </a:r>
            <a:r>
              <a:rPr lang="en-US" dirty="0" smtClean="0"/>
              <a:t>    ment, motor truck cargo liability </a:t>
            </a:r>
          </a:p>
          <a:p>
            <a:r>
              <a:rPr lang="en-US" dirty="0"/>
              <a:t> </a:t>
            </a:r>
            <a:r>
              <a:rPr lang="en-US" dirty="0" smtClean="0"/>
              <a:t>    electronic data processing equipment etc.</a:t>
            </a:r>
          </a:p>
          <a:p>
            <a:pPr marL="285750" indent="-285750">
              <a:buFont typeface="Arial" pitchFamily="34" charset="0"/>
              <a:buChar char="•"/>
            </a:pPr>
            <a:endParaRPr lang="en-US"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5546" y="2514600"/>
            <a:ext cx="4013654" cy="1907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6525706"/>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6"/>
          <p:cNvSpPr>
            <a:spLocks noChangeArrowheads="1"/>
          </p:cNvSpPr>
          <p:nvPr/>
        </p:nvSpPr>
        <p:spPr bwMode="auto">
          <a:xfrm>
            <a:off x="0" y="48724"/>
            <a:ext cx="7924800" cy="63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noAutofit/>
          </a:bodyPr>
          <a:lstStyle/>
          <a:p>
            <a:pPr eaLnBrk="0" hangingPunct="0">
              <a:lnSpc>
                <a:spcPts val="2500"/>
              </a:lnSpc>
              <a:buSzPct val="120000"/>
              <a:tabLst>
                <a:tab pos="1828800" algn="l"/>
              </a:tabLst>
            </a:pPr>
            <a:r>
              <a:rPr lang="en-US" sz="2500" b="1" dirty="0" smtClean="0">
                <a:solidFill>
                  <a:prstClr val="white"/>
                </a:solidFill>
                <a:latin typeface="Segoe UI Light" panose="020B0502040204020203" pitchFamily="34" charset="0"/>
              </a:rPr>
              <a:t>Cyber Liability Insurance</a:t>
            </a:r>
            <a:endParaRPr lang="en-US" sz="2500" b="1" dirty="0">
              <a:solidFill>
                <a:prstClr val="white"/>
              </a:solidFill>
              <a:latin typeface="Segoe UI Light" panose="020B0502040204020203" pitchFamily="34" charset="0"/>
            </a:endParaRPr>
          </a:p>
        </p:txBody>
      </p:sp>
      <p:sp>
        <p:nvSpPr>
          <p:cNvPr id="3" name="TextBox 2"/>
          <p:cNvSpPr txBox="1"/>
          <p:nvPr/>
        </p:nvSpPr>
        <p:spPr>
          <a:xfrm>
            <a:off x="304800" y="914400"/>
            <a:ext cx="8382000" cy="4801314"/>
          </a:xfrm>
          <a:prstGeom prst="rect">
            <a:avLst/>
          </a:prstGeom>
          <a:noFill/>
        </p:spPr>
        <p:txBody>
          <a:bodyPr wrap="square" rtlCol="0">
            <a:spAutoFit/>
          </a:bodyPr>
          <a:lstStyle/>
          <a:p>
            <a:pPr marL="285750" indent="-285750">
              <a:buFont typeface="Wingdings" pitchFamily="2" charset="2"/>
              <a:buChar char="Ø"/>
            </a:pPr>
            <a:r>
              <a:rPr lang="en-US" dirty="0" smtClean="0"/>
              <a:t>Loss exposures include:</a:t>
            </a:r>
          </a:p>
          <a:p>
            <a:pPr marL="285750" indent="-285750">
              <a:buFont typeface="Arial" panose="020B0604020202020204" pitchFamily="34" charset="0"/>
              <a:buChar char="•"/>
            </a:pPr>
            <a:r>
              <a:rPr lang="en-US" dirty="0" smtClean="0"/>
              <a:t>Loss of sensitive information like SSN, credit card number, drivers’ license number, PIN etc.</a:t>
            </a:r>
          </a:p>
          <a:p>
            <a:pPr marL="285750" indent="-285750">
              <a:buFont typeface="Arial" panose="020B0604020202020204" pitchFamily="34" charset="0"/>
              <a:buChar char="•"/>
            </a:pPr>
            <a:r>
              <a:rPr lang="en-US" dirty="0" smtClean="0"/>
              <a:t>Theft of digital assets including customers’ list and trade secrets</a:t>
            </a:r>
          </a:p>
          <a:p>
            <a:pPr marL="285750" indent="-285750">
              <a:buFont typeface="Arial" panose="020B0604020202020204" pitchFamily="34" charset="0"/>
              <a:buChar char="•"/>
            </a:pPr>
            <a:r>
              <a:rPr lang="en-US" dirty="0" smtClean="0"/>
              <a:t>Introduction of malware and other malicious code in the system</a:t>
            </a:r>
          </a:p>
          <a:p>
            <a:pPr marL="285750" indent="-285750">
              <a:buFont typeface="Arial" panose="020B0604020202020204" pitchFamily="34" charset="0"/>
              <a:buChar char="•"/>
            </a:pPr>
            <a:endParaRPr lang="en-US" dirty="0"/>
          </a:p>
          <a:p>
            <a:pPr marL="285750" indent="-285750">
              <a:buFont typeface="Wingdings" pitchFamily="2" charset="2"/>
              <a:buChar char="Ø"/>
            </a:pPr>
            <a:r>
              <a:rPr lang="en-US" dirty="0" smtClean="0"/>
              <a:t>Coverages include but are not limited to:</a:t>
            </a:r>
          </a:p>
          <a:p>
            <a:pPr marL="285750" indent="-285750">
              <a:buFont typeface="Arial" panose="020B0604020202020204" pitchFamily="34" charset="0"/>
              <a:buChar char="•"/>
            </a:pPr>
            <a:r>
              <a:rPr lang="en-US" dirty="0"/>
              <a:t>Liability for security or privacy </a:t>
            </a:r>
            <a:r>
              <a:rPr lang="en-US" dirty="0" smtClean="0"/>
              <a:t>breaches including </a:t>
            </a:r>
            <a:r>
              <a:rPr lang="en-US" dirty="0"/>
              <a:t>loss of </a:t>
            </a:r>
            <a:endParaRPr lang="en-US" dirty="0" smtClean="0"/>
          </a:p>
          <a:p>
            <a:r>
              <a:rPr lang="en-US" dirty="0"/>
              <a:t> </a:t>
            </a:r>
            <a:r>
              <a:rPr lang="en-US" dirty="0" smtClean="0"/>
              <a:t>    confidential </a:t>
            </a:r>
            <a:r>
              <a:rPr lang="en-US" dirty="0"/>
              <a:t>information by allowing, or failing to prevent, </a:t>
            </a:r>
            <a:endParaRPr lang="en-US" dirty="0" smtClean="0"/>
          </a:p>
          <a:p>
            <a:r>
              <a:rPr lang="en-US" dirty="0"/>
              <a:t> </a:t>
            </a:r>
            <a:r>
              <a:rPr lang="en-US" dirty="0" smtClean="0"/>
              <a:t>    unauthorized access </a:t>
            </a:r>
            <a:r>
              <a:rPr lang="en-US" dirty="0"/>
              <a:t>to computer </a:t>
            </a:r>
            <a:r>
              <a:rPr lang="en-US" dirty="0" smtClean="0"/>
              <a:t>systems</a:t>
            </a:r>
            <a:endParaRPr lang="en-US" dirty="0"/>
          </a:p>
          <a:p>
            <a:pPr marL="285750" indent="-285750">
              <a:buFont typeface="Arial" panose="020B0604020202020204" pitchFamily="34" charset="0"/>
              <a:buChar char="•"/>
            </a:pPr>
            <a:r>
              <a:rPr lang="en-US" dirty="0" smtClean="0"/>
              <a:t>Business </a:t>
            </a:r>
            <a:r>
              <a:rPr lang="en-US" dirty="0"/>
              <a:t>interruption and extra expense related to a </a:t>
            </a:r>
            <a:endParaRPr lang="en-US" dirty="0" smtClean="0"/>
          </a:p>
          <a:p>
            <a:r>
              <a:rPr lang="en-US" dirty="0"/>
              <a:t> </a:t>
            </a:r>
            <a:r>
              <a:rPr lang="en-US" dirty="0" smtClean="0"/>
              <a:t>    security </a:t>
            </a:r>
            <a:r>
              <a:rPr lang="en-US" dirty="0"/>
              <a:t>or privacy </a:t>
            </a:r>
            <a:r>
              <a:rPr lang="en-US" dirty="0" smtClean="0"/>
              <a:t>breach</a:t>
            </a:r>
          </a:p>
          <a:p>
            <a:pPr marL="285750" indent="-285750">
              <a:buFont typeface="Arial" panose="020B0604020202020204" pitchFamily="34" charset="0"/>
              <a:buChar char="•"/>
            </a:pPr>
            <a:r>
              <a:rPr lang="en-US" dirty="0"/>
              <a:t>The costs associated with restoring, updating or </a:t>
            </a:r>
            <a:endParaRPr lang="en-US" dirty="0" smtClean="0"/>
          </a:p>
          <a:p>
            <a:r>
              <a:rPr lang="en-US" dirty="0"/>
              <a:t> </a:t>
            </a:r>
            <a:r>
              <a:rPr lang="en-US" dirty="0" smtClean="0"/>
              <a:t>    replacing </a:t>
            </a:r>
            <a:r>
              <a:rPr lang="en-US" dirty="0"/>
              <a:t>business assets stored electronically. </a:t>
            </a:r>
            <a:endParaRPr lang="en-US" dirty="0" smtClean="0"/>
          </a:p>
          <a:p>
            <a:pPr marL="285750" indent="-285750">
              <a:buFont typeface="Arial" panose="020B0604020202020204" pitchFamily="34" charset="0"/>
              <a:buChar char="•"/>
            </a:pPr>
            <a:r>
              <a:rPr lang="en-US" dirty="0"/>
              <a:t>Coverage for expenses related to regulatory compliance for billing errors, physician </a:t>
            </a:r>
            <a:r>
              <a:rPr lang="en-US" dirty="0" smtClean="0"/>
              <a:t>self-referral </a:t>
            </a:r>
            <a:r>
              <a:rPr lang="en-US" dirty="0"/>
              <a:t>proceedings and Emergency Medical Treatment and Active Labor Act proceedings.</a:t>
            </a:r>
            <a:endParaRPr lang="en-US" dirty="0" smtClean="0"/>
          </a:p>
        </p:txBody>
      </p:sp>
      <p:pic>
        <p:nvPicPr>
          <p:cNvPr id="4" name="Picture 3"/>
          <p:cNvPicPr>
            <a:picLocks noChangeAspect="1"/>
          </p:cNvPicPr>
          <p:nvPr/>
        </p:nvPicPr>
        <p:blipFill>
          <a:blip r:embed="rId2"/>
          <a:stretch>
            <a:fillRect/>
          </a:stretch>
        </p:blipFill>
        <p:spPr>
          <a:xfrm>
            <a:off x="6536518" y="2819400"/>
            <a:ext cx="2302682" cy="1527897"/>
          </a:xfrm>
          <a:prstGeom prst="rect">
            <a:avLst/>
          </a:prstGeom>
        </p:spPr>
      </p:pic>
    </p:spTree>
    <p:extLst>
      <p:ext uri="{BB962C8B-B14F-4D97-AF65-F5344CB8AC3E}">
        <p14:creationId xmlns:p14="http://schemas.microsoft.com/office/powerpoint/2010/main" val="2040088210"/>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8994"/>
      </p:ext>
    </p:extLst>
  </p:cSld>
  <p:clrMapOvr>
    <a:masterClrMapping/>
  </p:clrMapOvr>
  <mc:AlternateContent xmlns:mc="http://schemas.openxmlformats.org/markup-compatibility/2006" xmlns:p14="http://schemas.microsoft.com/office/powerpoint/2010/main">
    <mc:Choice Requires="p14">
      <p:transition p14:dur="10" advClick="0">
        <p:fade/>
      </p:transition>
    </mc:Choice>
    <mc:Fallback xmlns="">
      <p:transition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Commercial Insurance</Tags>
  </documentManagement>
</p:properties>
</file>

<file path=customXml/itemProps1.xml><?xml version="1.0" encoding="utf-8"?>
<ds:datastoreItem xmlns:ds="http://schemas.openxmlformats.org/officeDocument/2006/customXml" ds:itemID="{39FC53CC-7FE4-4287-840E-55A0DFDC1320}"/>
</file>

<file path=customXml/itemProps2.xml><?xml version="1.0" encoding="utf-8"?>
<ds:datastoreItem xmlns:ds="http://schemas.openxmlformats.org/officeDocument/2006/customXml" ds:itemID="{B1919387-96E4-4685-AE38-99B601E148A6}"/>
</file>

<file path=customXml/itemProps3.xml><?xml version="1.0" encoding="utf-8"?>
<ds:datastoreItem xmlns:ds="http://schemas.openxmlformats.org/officeDocument/2006/customXml" ds:itemID="{16F0F35F-0D34-4DDE-99A6-DB47FE252DFC}"/>
</file>

<file path=customXml/itemProps4.xml><?xml version="1.0" encoding="utf-8"?>
<ds:datastoreItem xmlns:ds="http://schemas.openxmlformats.org/officeDocument/2006/customXml" ds:itemID="{AC199A90-9C81-4BBB-86FE-BA42107E26C8}"/>
</file>

<file path=docProps/app.xml><?xml version="1.0" encoding="utf-8"?>
<Properties xmlns="http://schemas.openxmlformats.org/officeDocument/2006/extended-properties" xmlns:vt="http://schemas.openxmlformats.org/officeDocument/2006/docPropsVTypes">
  <Template/>
  <TotalTime>129175</TotalTime>
  <Words>2817</Words>
  <Application>Microsoft Office PowerPoint</Application>
  <PresentationFormat>On-screen Show (4:3)</PresentationFormat>
  <Paragraphs>342</Paragraphs>
  <Slides>22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Narrow</vt:lpstr>
      <vt:lpstr>Calibri</vt:lpstr>
      <vt:lpstr>Segoe UI</vt:lpstr>
      <vt:lpstr>Segoe UI Light</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Insurance</dc:title>
  <dc:creator>Alok Kumar Dhagat</dc:creator>
  <cp:lastModifiedBy>Avinash Kumar Singh</cp:lastModifiedBy>
  <cp:revision>4901</cp:revision>
  <cp:lastPrinted>2014-08-21T12:27:14Z</cp:lastPrinted>
  <dcterms:created xsi:type="dcterms:W3CDTF">2010-11-19T06:53:04Z</dcterms:created>
  <dcterms:modified xsi:type="dcterms:W3CDTF">2017-03-08T05:09:54Z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
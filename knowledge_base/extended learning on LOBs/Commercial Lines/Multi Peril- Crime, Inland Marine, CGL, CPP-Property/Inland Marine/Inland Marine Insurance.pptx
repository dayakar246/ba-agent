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317" r:id="rId4"/>
    <p:sldId id="335" r:id="rId5"/>
    <p:sldId id="341" r:id="rId6"/>
    <p:sldId id="334" r:id="rId7"/>
    <p:sldId id="342" r:id="rId8"/>
    <p:sldId id="343" r:id="rId9"/>
    <p:sldId id="34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81" d="100"/>
          <a:sy n="81" d="100"/>
        </p:scale>
        <p:origin x="-288" y="2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-2874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ustomXml" Target="../customXml/item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342D40-350A-43E1-AA9F-3C498A4B9741}" type="datetimeFigureOut">
              <a:rPr lang="en-IN" smtClean="0"/>
              <a:t>27-12-2017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A17472-9B04-48B5-846F-FCD68B210C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876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D3F3-0A49-4326-AA08-B112AB5A731D}" type="datetimeFigureOut">
              <a:rPr lang="en-IN" smtClean="0"/>
              <a:t>27-12-2017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4B65E-7617-4D89-B3AD-745233659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065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D3F3-0A49-4326-AA08-B112AB5A731D}" type="datetimeFigureOut">
              <a:rPr lang="en-IN" smtClean="0"/>
              <a:t>27-12-2017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4B65E-7617-4D89-B3AD-745233659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827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D3F3-0A49-4326-AA08-B112AB5A731D}" type="datetimeFigureOut">
              <a:rPr lang="en-IN" smtClean="0"/>
              <a:t>27-12-2017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4B65E-7617-4D89-B3AD-745233659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499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D3F3-0A49-4326-AA08-B112AB5A731D}" type="datetimeFigureOut">
              <a:rPr lang="en-IN" smtClean="0"/>
              <a:t>27-12-2017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4B65E-7617-4D89-B3AD-745233659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841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D3F3-0A49-4326-AA08-B112AB5A731D}" type="datetimeFigureOut">
              <a:rPr lang="en-IN" smtClean="0"/>
              <a:t>27-12-2017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4B65E-7617-4D89-B3AD-745233659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5059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D3F3-0A49-4326-AA08-B112AB5A731D}" type="datetimeFigureOut">
              <a:rPr lang="en-IN" smtClean="0"/>
              <a:t>27-12-2017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4B65E-7617-4D89-B3AD-745233659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720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D3F3-0A49-4326-AA08-B112AB5A731D}" type="datetimeFigureOut">
              <a:rPr lang="en-IN" smtClean="0"/>
              <a:t>27-12-2017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4B65E-7617-4D89-B3AD-745233659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194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D3F3-0A49-4326-AA08-B112AB5A731D}" type="datetimeFigureOut">
              <a:rPr lang="en-IN" smtClean="0"/>
              <a:t>27-12-2017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4B65E-7617-4D89-B3AD-745233659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7213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D3F3-0A49-4326-AA08-B112AB5A731D}" type="datetimeFigureOut">
              <a:rPr lang="en-IN" smtClean="0"/>
              <a:t>27-12-2017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4B65E-7617-4D89-B3AD-745233659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0119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D3F3-0A49-4326-AA08-B112AB5A731D}" type="datetimeFigureOut">
              <a:rPr lang="en-IN" smtClean="0"/>
              <a:t>27-12-2017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4B65E-7617-4D89-B3AD-745233659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41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ED3F3-0A49-4326-AA08-B112AB5A731D}" type="datetimeFigureOut">
              <a:rPr lang="en-IN" smtClean="0"/>
              <a:t>27-12-2017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4B65E-7617-4D89-B3AD-745233659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0571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11371554" y="6363129"/>
            <a:ext cx="608274" cy="364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5B66DB6-D71E-4B3E-9AE0-4919FDE04E8D}" type="slidenum">
              <a:rPr lang="en-US" sz="1776" smtClean="0">
                <a:solidFill>
                  <a:schemeClr val="tx1"/>
                </a:solidFill>
              </a:rPr>
              <a:t>‹#›</a:t>
            </a:fld>
            <a:endParaRPr lang="en-US" sz="1776" dirty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6297" y="195809"/>
            <a:ext cx="1297157" cy="8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426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DED3F3-0A49-4326-AA08-B112AB5A731D}" type="datetimeFigureOut">
              <a:rPr lang="en-IN" smtClean="0"/>
              <a:t>27-12-2017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04B65E-7617-4D89-B3AD-745233659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7719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2" b="12526"/>
          <a:stretch/>
        </p:blipFill>
        <p:spPr>
          <a:xfrm>
            <a:off x="-62572" y="-29764"/>
            <a:ext cx="12249003" cy="691752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124" y="6211049"/>
            <a:ext cx="3183064" cy="12531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alphaModFix amt="43000"/>
          </a:blip>
          <a:stretch>
            <a:fillRect/>
          </a:stretch>
        </p:blipFill>
        <p:spPr>
          <a:xfrm>
            <a:off x="2516288" y="6361430"/>
            <a:ext cx="3183064" cy="125317"/>
          </a:xfrm>
          <a:prstGeom prst="rect">
            <a:avLst/>
          </a:prstGeom>
        </p:spPr>
      </p:pic>
      <p:sp>
        <p:nvSpPr>
          <p:cNvPr id="13" name="Parallelogram 12"/>
          <p:cNvSpPr/>
          <p:nvPr/>
        </p:nvSpPr>
        <p:spPr>
          <a:xfrm>
            <a:off x="4727494" y="-42294"/>
            <a:ext cx="7464308" cy="6956463"/>
          </a:xfrm>
          <a:custGeom>
            <a:avLst/>
            <a:gdLst>
              <a:gd name="connsiteX0" fmla="*/ 0 w 6383423"/>
              <a:gd name="connsiteY0" fmla="*/ 6950074 h 6950074"/>
              <a:gd name="connsiteX1" fmla="*/ 1595856 w 6383423"/>
              <a:gd name="connsiteY1" fmla="*/ 0 h 6950074"/>
              <a:gd name="connsiteX2" fmla="*/ 6383423 w 6383423"/>
              <a:gd name="connsiteY2" fmla="*/ 0 h 6950074"/>
              <a:gd name="connsiteX3" fmla="*/ 4787567 w 6383423"/>
              <a:gd name="connsiteY3" fmla="*/ 6950074 h 6950074"/>
              <a:gd name="connsiteX4" fmla="*/ 0 w 6383423"/>
              <a:gd name="connsiteY4" fmla="*/ 6950074 h 6950074"/>
              <a:gd name="connsiteX0" fmla="*/ 0 w 6383423"/>
              <a:gd name="connsiteY0" fmla="*/ 6975474 h 6975474"/>
              <a:gd name="connsiteX1" fmla="*/ 3665956 w 6383423"/>
              <a:gd name="connsiteY1" fmla="*/ 0 h 6975474"/>
              <a:gd name="connsiteX2" fmla="*/ 6383423 w 6383423"/>
              <a:gd name="connsiteY2" fmla="*/ 25400 h 6975474"/>
              <a:gd name="connsiteX3" fmla="*/ 4787567 w 6383423"/>
              <a:gd name="connsiteY3" fmla="*/ 6975474 h 6975474"/>
              <a:gd name="connsiteX4" fmla="*/ 0 w 6383423"/>
              <a:gd name="connsiteY4" fmla="*/ 6975474 h 6975474"/>
              <a:gd name="connsiteX0" fmla="*/ 0 w 6383423"/>
              <a:gd name="connsiteY0" fmla="*/ 6950074 h 6950074"/>
              <a:gd name="connsiteX1" fmla="*/ 4351756 w 6383423"/>
              <a:gd name="connsiteY1" fmla="*/ 12700 h 6950074"/>
              <a:gd name="connsiteX2" fmla="*/ 6383423 w 6383423"/>
              <a:gd name="connsiteY2" fmla="*/ 0 h 6950074"/>
              <a:gd name="connsiteX3" fmla="*/ 4787567 w 6383423"/>
              <a:gd name="connsiteY3" fmla="*/ 6950074 h 6950074"/>
              <a:gd name="connsiteX4" fmla="*/ 0 w 6383423"/>
              <a:gd name="connsiteY4" fmla="*/ 6950074 h 6950074"/>
              <a:gd name="connsiteX0" fmla="*/ 0 w 6383423"/>
              <a:gd name="connsiteY0" fmla="*/ 6950074 h 6962774"/>
              <a:gd name="connsiteX1" fmla="*/ 4351756 w 6383423"/>
              <a:gd name="connsiteY1" fmla="*/ 12700 h 6962774"/>
              <a:gd name="connsiteX2" fmla="*/ 6383423 w 6383423"/>
              <a:gd name="connsiteY2" fmla="*/ 0 h 6962774"/>
              <a:gd name="connsiteX3" fmla="*/ 5587667 w 6383423"/>
              <a:gd name="connsiteY3" fmla="*/ 6962774 h 6962774"/>
              <a:gd name="connsiteX4" fmla="*/ 0 w 6383423"/>
              <a:gd name="connsiteY4" fmla="*/ 6950074 h 6962774"/>
              <a:gd name="connsiteX0" fmla="*/ 0 w 6383423"/>
              <a:gd name="connsiteY0" fmla="*/ 6950074 h 6962774"/>
              <a:gd name="connsiteX1" fmla="*/ 4351756 w 6383423"/>
              <a:gd name="connsiteY1" fmla="*/ 12700 h 6962774"/>
              <a:gd name="connsiteX2" fmla="*/ 6383423 w 6383423"/>
              <a:gd name="connsiteY2" fmla="*/ 0 h 6962774"/>
              <a:gd name="connsiteX3" fmla="*/ 5799223 w 6383423"/>
              <a:gd name="connsiteY3" fmla="*/ 4902201 h 6962774"/>
              <a:gd name="connsiteX4" fmla="*/ 5587667 w 6383423"/>
              <a:gd name="connsiteY4" fmla="*/ 6962774 h 6962774"/>
              <a:gd name="connsiteX5" fmla="*/ 0 w 6383423"/>
              <a:gd name="connsiteY5" fmla="*/ 6950074 h 6962774"/>
              <a:gd name="connsiteX0" fmla="*/ 0 w 7564523"/>
              <a:gd name="connsiteY0" fmla="*/ 6950074 h 6962774"/>
              <a:gd name="connsiteX1" fmla="*/ 4351756 w 7564523"/>
              <a:gd name="connsiteY1" fmla="*/ 12700 h 6962774"/>
              <a:gd name="connsiteX2" fmla="*/ 6383423 w 7564523"/>
              <a:gd name="connsiteY2" fmla="*/ 0 h 6962774"/>
              <a:gd name="connsiteX3" fmla="*/ 7564523 w 7564523"/>
              <a:gd name="connsiteY3" fmla="*/ 4660901 h 6962774"/>
              <a:gd name="connsiteX4" fmla="*/ 5587667 w 7564523"/>
              <a:gd name="connsiteY4" fmla="*/ 6962774 h 6962774"/>
              <a:gd name="connsiteX5" fmla="*/ 0 w 7564523"/>
              <a:gd name="connsiteY5" fmla="*/ 6950074 h 6962774"/>
              <a:gd name="connsiteX0" fmla="*/ 0 w 7602623"/>
              <a:gd name="connsiteY0" fmla="*/ 6962774 h 6975474"/>
              <a:gd name="connsiteX1" fmla="*/ 4351756 w 7602623"/>
              <a:gd name="connsiteY1" fmla="*/ 25400 h 6975474"/>
              <a:gd name="connsiteX2" fmla="*/ 7602623 w 7602623"/>
              <a:gd name="connsiteY2" fmla="*/ 0 h 6975474"/>
              <a:gd name="connsiteX3" fmla="*/ 7564523 w 7602623"/>
              <a:gd name="connsiteY3" fmla="*/ 4673601 h 6975474"/>
              <a:gd name="connsiteX4" fmla="*/ 5587667 w 7602623"/>
              <a:gd name="connsiteY4" fmla="*/ 6975474 h 6975474"/>
              <a:gd name="connsiteX5" fmla="*/ 0 w 7602623"/>
              <a:gd name="connsiteY5" fmla="*/ 6962774 h 6975474"/>
              <a:gd name="connsiteX0" fmla="*/ 0 w 7602623"/>
              <a:gd name="connsiteY0" fmla="*/ 7026274 h 7038974"/>
              <a:gd name="connsiteX1" fmla="*/ 4415256 w 7602623"/>
              <a:gd name="connsiteY1" fmla="*/ 0 h 7038974"/>
              <a:gd name="connsiteX2" fmla="*/ 7602623 w 7602623"/>
              <a:gd name="connsiteY2" fmla="*/ 63500 h 7038974"/>
              <a:gd name="connsiteX3" fmla="*/ 7564523 w 7602623"/>
              <a:gd name="connsiteY3" fmla="*/ 4737101 h 7038974"/>
              <a:gd name="connsiteX4" fmla="*/ 5587667 w 7602623"/>
              <a:gd name="connsiteY4" fmla="*/ 7038974 h 7038974"/>
              <a:gd name="connsiteX5" fmla="*/ 0 w 7602623"/>
              <a:gd name="connsiteY5" fmla="*/ 7026274 h 7038974"/>
              <a:gd name="connsiteX0" fmla="*/ 0 w 7716923"/>
              <a:gd name="connsiteY0" fmla="*/ 7178674 h 7178674"/>
              <a:gd name="connsiteX1" fmla="*/ 4529556 w 7716923"/>
              <a:gd name="connsiteY1" fmla="*/ 0 h 7178674"/>
              <a:gd name="connsiteX2" fmla="*/ 7716923 w 7716923"/>
              <a:gd name="connsiteY2" fmla="*/ 63500 h 7178674"/>
              <a:gd name="connsiteX3" fmla="*/ 7678823 w 7716923"/>
              <a:gd name="connsiteY3" fmla="*/ 4737101 h 7178674"/>
              <a:gd name="connsiteX4" fmla="*/ 5701967 w 7716923"/>
              <a:gd name="connsiteY4" fmla="*/ 7038974 h 7178674"/>
              <a:gd name="connsiteX5" fmla="*/ 0 w 7716923"/>
              <a:gd name="connsiteY5" fmla="*/ 7178674 h 7178674"/>
              <a:gd name="connsiteX0" fmla="*/ 0 w 7716923"/>
              <a:gd name="connsiteY0" fmla="*/ 7178674 h 7292974"/>
              <a:gd name="connsiteX1" fmla="*/ 4529556 w 7716923"/>
              <a:gd name="connsiteY1" fmla="*/ 0 h 7292974"/>
              <a:gd name="connsiteX2" fmla="*/ 7716923 w 7716923"/>
              <a:gd name="connsiteY2" fmla="*/ 63500 h 7292974"/>
              <a:gd name="connsiteX3" fmla="*/ 7678823 w 7716923"/>
              <a:gd name="connsiteY3" fmla="*/ 4737101 h 7292974"/>
              <a:gd name="connsiteX4" fmla="*/ 5473367 w 7716923"/>
              <a:gd name="connsiteY4" fmla="*/ 7292974 h 7292974"/>
              <a:gd name="connsiteX5" fmla="*/ 0 w 7716923"/>
              <a:gd name="connsiteY5" fmla="*/ 7178674 h 7292974"/>
              <a:gd name="connsiteX0" fmla="*/ 0 w 7716923"/>
              <a:gd name="connsiteY0" fmla="*/ 7115174 h 7229474"/>
              <a:gd name="connsiteX1" fmla="*/ 6377406 w 7716923"/>
              <a:gd name="connsiteY1" fmla="*/ 107950 h 7229474"/>
              <a:gd name="connsiteX2" fmla="*/ 7716923 w 7716923"/>
              <a:gd name="connsiteY2" fmla="*/ 0 h 7229474"/>
              <a:gd name="connsiteX3" fmla="*/ 7678823 w 7716923"/>
              <a:gd name="connsiteY3" fmla="*/ 4673601 h 7229474"/>
              <a:gd name="connsiteX4" fmla="*/ 5473367 w 7716923"/>
              <a:gd name="connsiteY4" fmla="*/ 7229474 h 7229474"/>
              <a:gd name="connsiteX5" fmla="*/ 0 w 7716923"/>
              <a:gd name="connsiteY5" fmla="*/ 7115174 h 7229474"/>
              <a:gd name="connsiteX0" fmla="*/ 0 w 7659773"/>
              <a:gd name="connsiteY0" fmla="*/ 7191374 h 7229474"/>
              <a:gd name="connsiteX1" fmla="*/ 6320256 w 7659773"/>
              <a:gd name="connsiteY1" fmla="*/ 107950 h 7229474"/>
              <a:gd name="connsiteX2" fmla="*/ 7659773 w 7659773"/>
              <a:gd name="connsiteY2" fmla="*/ 0 h 7229474"/>
              <a:gd name="connsiteX3" fmla="*/ 7621673 w 7659773"/>
              <a:gd name="connsiteY3" fmla="*/ 4673601 h 7229474"/>
              <a:gd name="connsiteX4" fmla="*/ 5416217 w 7659773"/>
              <a:gd name="connsiteY4" fmla="*/ 7229474 h 7229474"/>
              <a:gd name="connsiteX5" fmla="*/ 0 w 7659773"/>
              <a:gd name="connsiteY5" fmla="*/ 7191374 h 7229474"/>
              <a:gd name="connsiteX0" fmla="*/ 0 w 7659773"/>
              <a:gd name="connsiteY0" fmla="*/ 7191374 h 7400924"/>
              <a:gd name="connsiteX1" fmla="*/ 6320256 w 7659773"/>
              <a:gd name="connsiteY1" fmla="*/ 107950 h 7400924"/>
              <a:gd name="connsiteX2" fmla="*/ 7659773 w 7659773"/>
              <a:gd name="connsiteY2" fmla="*/ 0 h 7400924"/>
              <a:gd name="connsiteX3" fmla="*/ 7621673 w 7659773"/>
              <a:gd name="connsiteY3" fmla="*/ 4673601 h 7400924"/>
              <a:gd name="connsiteX4" fmla="*/ 5378117 w 7659773"/>
              <a:gd name="connsiteY4" fmla="*/ 7400924 h 7400924"/>
              <a:gd name="connsiteX5" fmla="*/ 0 w 7659773"/>
              <a:gd name="connsiteY5" fmla="*/ 7191374 h 7400924"/>
              <a:gd name="connsiteX0" fmla="*/ 0 w 7659773"/>
              <a:gd name="connsiteY0" fmla="*/ 7191374 h 7419974"/>
              <a:gd name="connsiteX1" fmla="*/ 6320256 w 7659773"/>
              <a:gd name="connsiteY1" fmla="*/ 107950 h 7419974"/>
              <a:gd name="connsiteX2" fmla="*/ 7659773 w 7659773"/>
              <a:gd name="connsiteY2" fmla="*/ 0 h 7419974"/>
              <a:gd name="connsiteX3" fmla="*/ 7621673 w 7659773"/>
              <a:gd name="connsiteY3" fmla="*/ 4673601 h 7419974"/>
              <a:gd name="connsiteX4" fmla="*/ 5263817 w 7659773"/>
              <a:gd name="connsiteY4" fmla="*/ 7419974 h 7419974"/>
              <a:gd name="connsiteX5" fmla="*/ 0 w 7659773"/>
              <a:gd name="connsiteY5" fmla="*/ 7191374 h 7419974"/>
              <a:gd name="connsiteX0" fmla="*/ 0 w 7983623"/>
              <a:gd name="connsiteY0" fmla="*/ 7534274 h 7534274"/>
              <a:gd name="connsiteX1" fmla="*/ 6644106 w 7983623"/>
              <a:gd name="connsiteY1" fmla="*/ 107950 h 7534274"/>
              <a:gd name="connsiteX2" fmla="*/ 7983623 w 7983623"/>
              <a:gd name="connsiteY2" fmla="*/ 0 h 7534274"/>
              <a:gd name="connsiteX3" fmla="*/ 7945523 w 7983623"/>
              <a:gd name="connsiteY3" fmla="*/ 4673601 h 7534274"/>
              <a:gd name="connsiteX4" fmla="*/ 5587667 w 7983623"/>
              <a:gd name="connsiteY4" fmla="*/ 7419974 h 7534274"/>
              <a:gd name="connsiteX5" fmla="*/ 0 w 7983623"/>
              <a:gd name="connsiteY5" fmla="*/ 7534274 h 7534274"/>
              <a:gd name="connsiteX0" fmla="*/ 0 w 7983623"/>
              <a:gd name="connsiteY0" fmla="*/ 7534274 h 7534274"/>
              <a:gd name="connsiteX1" fmla="*/ 6644106 w 7983623"/>
              <a:gd name="connsiteY1" fmla="*/ 107950 h 7534274"/>
              <a:gd name="connsiteX2" fmla="*/ 7983623 w 7983623"/>
              <a:gd name="connsiteY2" fmla="*/ 0 h 7534274"/>
              <a:gd name="connsiteX3" fmla="*/ 7831223 w 7983623"/>
              <a:gd name="connsiteY3" fmla="*/ 4864101 h 7534274"/>
              <a:gd name="connsiteX4" fmla="*/ 5587667 w 7983623"/>
              <a:gd name="connsiteY4" fmla="*/ 7419974 h 7534274"/>
              <a:gd name="connsiteX5" fmla="*/ 0 w 7983623"/>
              <a:gd name="connsiteY5" fmla="*/ 7534274 h 7534274"/>
              <a:gd name="connsiteX0" fmla="*/ 0 w 7831223"/>
              <a:gd name="connsiteY0" fmla="*/ 7426324 h 7426324"/>
              <a:gd name="connsiteX1" fmla="*/ 6644106 w 7831223"/>
              <a:gd name="connsiteY1" fmla="*/ 0 h 7426324"/>
              <a:gd name="connsiteX2" fmla="*/ 7793123 w 7831223"/>
              <a:gd name="connsiteY2" fmla="*/ 82550 h 7426324"/>
              <a:gd name="connsiteX3" fmla="*/ 7831223 w 7831223"/>
              <a:gd name="connsiteY3" fmla="*/ 4756151 h 7426324"/>
              <a:gd name="connsiteX4" fmla="*/ 5587667 w 7831223"/>
              <a:gd name="connsiteY4" fmla="*/ 7312024 h 7426324"/>
              <a:gd name="connsiteX5" fmla="*/ 0 w 7831223"/>
              <a:gd name="connsiteY5" fmla="*/ 7426324 h 7426324"/>
              <a:gd name="connsiteX0" fmla="*/ 0 w 7831223"/>
              <a:gd name="connsiteY0" fmla="*/ 7343774 h 7343774"/>
              <a:gd name="connsiteX1" fmla="*/ 6548856 w 7831223"/>
              <a:gd name="connsiteY1" fmla="*/ 12700 h 7343774"/>
              <a:gd name="connsiteX2" fmla="*/ 7793123 w 7831223"/>
              <a:gd name="connsiteY2" fmla="*/ 0 h 7343774"/>
              <a:gd name="connsiteX3" fmla="*/ 7831223 w 7831223"/>
              <a:gd name="connsiteY3" fmla="*/ 4673601 h 7343774"/>
              <a:gd name="connsiteX4" fmla="*/ 5587667 w 7831223"/>
              <a:gd name="connsiteY4" fmla="*/ 7229474 h 7343774"/>
              <a:gd name="connsiteX5" fmla="*/ 0 w 7831223"/>
              <a:gd name="connsiteY5" fmla="*/ 7343774 h 7343774"/>
              <a:gd name="connsiteX0" fmla="*/ 0 w 7831223"/>
              <a:gd name="connsiteY0" fmla="*/ 7343774 h 7343774"/>
              <a:gd name="connsiteX1" fmla="*/ 6574256 w 7831223"/>
              <a:gd name="connsiteY1" fmla="*/ 0 h 7343774"/>
              <a:gd name="connsiteX2" fmla="*/ 7793123 w 7831223"/>
              <a:gd name="connsiteY2" fmla="*/ 0 h 7343774"/>
              <a:gd name="connsiteX3" fmla="*/ 7831223 w 7831223"/>
              <a:gd name="connsiteY3" fmla="*/ 4673601 h 7343774"/>
              <a:gd name="connsiteX4" fmla="*/ 5587667 w 7831223"/>
              <a:gd name="connsiteY4" fmla="*/ 7229474 h 7343774"/>
              <a:gd name="connsiteX5" fmla="*/ 0 w 7831223"/>
              <a:gd name="connsiteY5" fmla="*/ 7343774 h 7343774"/>
              <a:gd name="connsiteX0" fmla="*/ 0 w 7831223"/>
              <a:gd name="connsiteY0" fmla="*/ 7343774 h 7343774"/>
              <a:gd name="connsiteX1" fmla="*/ 6574256 w 7831223"/>
              <a:gd name="connsiteY1" fmla="*/ 0 h 7343774"/>
              <a:gd name="connsiteX2" fmla="*/ 7793123 w 7831223"/>
              <a:gd name="connsiteY2" fmla="*/ 0 h 7343774"/>
              <a:gd name="connsiteX3" fmla="*/ 7831223 w 7831223"/>
              <a:gd name="connsiteY3" fmla="*/ 4673601 h 7343774"/>
              <a:gd name="connsiteX4" fmla="*/ 5778167 w 7831223"/>
              <a:gd name="connsiteY4" fmla="*/ 6962774 h 7343774"/>
              <a:gd name="connsiteX5" fmla="*/ 0 w 7831223"/>
              <a:gd name="connsiteY5" fmla="*/ 7343774 h 7343774"/>
              <a:gd name="connsiteX0" fmla="*/ 0 w 7501023"/>
              <a:gd name="connsiteY0" fmla="*/ 6988174 h 6988174"/>
              <a:gd name="connsiteX1" fmla="*/ 6244056 w 7501023"/>
              <a:gd name="connsiteY1" fmla="*/ 0 h 6988174"/>
              <a:gd name="connsiteX2" fmla="*/ 7462923 w 7501023"/>
              <a:gd name="connsiteY2" fmla="*/ 0 h 6988174"/>
              <a:gd name="connsiteX3" fmla="*/ 7501023 w 7501023"/>
              <a:gd name="connsiteY3" fmla="*/ 4673601 h 6988174"/>
              <a:gd name="connsiteX4" fmla="*/ 5447967 w 7501023"/>
              <a:gd name="connsiteY4" fmla="*/ 6962774 h 6988174"/>
              <a:gd name="connsiteX5" fmla="*/ 0 w 7501023"/>
              <a:gd name="connsiteY5" fmla="*/ 6988174 h 6988174"/>
              <a:gd name="connsiteX0" fmla="*/ 0 w 7506466"/>
              <a:gd name="connsiteY0" fmla="*/ 6988174 h 6988174"/>
              <a:gd name="connsiteX1" fmla="*/ 6244056 w 7506466"/>
              <a:gd name="connsiteY1" fmla="*/ 0 h 6988174"/>
              <a:gd name="connsiteX2" fmla="*/ 7506466 w 7506466"/>
              <a:gd name="connsiteY2" fmla="*/ 0 h 6988174"/>
              <a:gd name="connsiteX3" fmla="*/ 7501023 w 7506466"/>
              <a:gd name="connsiteY3" fmla="*/ 4673601 h 6988174"/>
              <a:gd name="connsiteX4" fmla="*/ 5447967 w 7506466"/>
              <a:gd name="connsiteY4" fmla="*/ 6962774 h 6988174"/>
              <a:gd name="connsiteX5" fmla="*/ 0 w 7506466"/>
              <a:gd name="connsiteY5" fmla="*/ 6988174 h 6988174"/>
              <a:gd name="connsiteX0" fmla="*/ 0 w 7506466"/>
              <a:gd name="connsiteY0" fmla="*/ 6988174 h 7006317"/>
              <a:gd name="connsiteX1" fmla="*/ 6244056 w 7506466"/>
              <a:gd name="connsiteY1" fmla="*/ 0 h 7006317"/>
              <a:gd name="connsiteX2" fmla="*/ 7506466 w 7506466"/>
              <a:gd name="connsiteY2" fmla="*/ 0 h 7006317"/>
              <a:gd name="connsiteX3" fmla="*/ 7501023 w 7506466"/>
              <a:gd name="connsiteY3" fmla="*/ 4673601 h 7006317"/>
              <a:gd name="connsiteX4" fmla="*/ 5360881 w 7506466"/>
              <a:gd name="connsiteY4" fmla="*/ 7006317 h 7006317"/>
              <a:gd name="connsiteX5" fmla="*/ 0 w 7506466"/>
              <a:gd name="connsiteY5" fmla="*/ 6988174 h 7006317"/>
              <a:gd name="connsiteX0" fmla="*/ 0 w 7564523"/>
              <a:gd name="connsiteY0" fmla="*/ 7046231 h 7046231"/>
              <a:gd name="connsiteX1" fmla="*/ 6302113 w 7564523"/>
              <a:gd name="connsiteY1" fmla="*/ 0 h 7046231"/>
              <a:gd name="connsiteX2" fmla="*/ 7564523 w 7564523"/>
              <a:gd name="connsiteY2" fmla="*/ 0 h 7046231"/>
              <a:gd name="connsiteX3" fmla="*/ 7559080 w 7564523"/>
              <a:gd name="connsiteY3" fmla="*/ 4673601 h 7046231"/>
              <a:gd name="connsiteX4" fmla="*/ 5418938 w 7564523"/>
              <a:gd name="connsiteY4" fmla="*/ 7006317 h 7046231"/>
              <a:gd name="connsiteX5" fmla="*/ 0 w 7564523"/>
              <a:gd name="connsiteY5" fmla="*/ 7046231 h 7046231"/>
              <a:gd name="connsiteX0" fmla="*/ 0 w 7564523"/>
              <a:gd name="connsiteY0" fmla="*/ 7046231 h 7049860"/>
              <a:gd name="connsiteX1" fmla="*/ 6302113 w 7564523"/>
              <a:gd name="connsiteY1" fmla="*/ 0 h 7049860"/>
              <a:gd name="connsiteX2" fmla="*/ 7564523 w 7564523"/>
              <a:gd name="connsiteY2" fmla="*/ 0 h 7049860"/>
              <a:gd name="connsiteX3" fmla="*/ 7559080 w 7564523"/>
              <a:gd name="connsiteY3" fmla="*/ 4673601 h 7049860"/>
              <a:gd name="connsiteX4" fmla="*/ 5389909 w 7564523"/>
              <a:gd name="connsiteY4" fmla="*/ 7049860 h 7049860"/>
              <a:gd name="connsiteX5" fmla="*/ 0 w 7564523"/>
              <a:gd name="connsiteY5" fmla="*/ 7046231 h 7049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64523" h="7049860">
                <a:moveTo>
                  <a:pt x="0" y="7046231"/>
                </a:moveTo>
                <a:lnTo>
                  <a:pt x="6302113" y="0"/>
                </a:lnTo>
                <a:lnTo>
                  <a:pt x="7564523" y="0"/>
                </a:lnTo>
                <a:cubicBezTo>
                  <a:pt x="7562709" y="1557867"/>
                  <a:pt x="7560894" y="3115734"/>
                  <a:pt x="7559080" y="4673601"/>
                </a:cubicBezTo>
                <a:lnTo>
                  <a:pt x="5389909" y="7049860"/>
                </a:lnTo>
                <a:lnTo>
                  <a:pt x="0" y="7046231"/>
                </a:lnTo>
                <a:close/>
              </a:path>
            </a:pathLst>
          </a:custGeom>
          <a:solidFill>
            <a:srgbClr val="D55819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76"/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6654118" y="4547767"/>
            <a:ext cx="4812192" cy="1380685"/>
          </a:xfrm>
          <a:prstGeom prst="rect">
            <a:avLst/>
          </a:prstGeom>
        </p:spPr>
        <p:txBody>
          <a:bodyPr lIns="0" tIns="0" rIns="0" bIns="54395" anchor="t"/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342" b="1" dirty="0" smtClean="0">
                <a:ln w="1905"/>
                <a:solidFill>
                  <a:schemeClr val="bg1"/>
                </a:solidFill>
                <a:latin typeface="Arial"/>
                <a:ea typeface="Segoe UI" panose="020B0502040204020203" pitchFamily="34" charset="0"/>
                <a:cs typeface="Arial"/>
              </a:rPr>
              <a:t>Inland </a:t>
            </a:r>
            <a:r>
              <a:rPr lang="en-US" sz="4342" b="1" dirty="0" smtClean="0">
                <a:ln w="1905"/>
                <a:solidFill>
                  <a:schemeClr val="bg1"/>
                </a:solidFill>
                <a:latin typeface="Arial"/>
                <a:ea typeface="Segoe UI" panose="020B0502040204020203" pitchFamily="34" charset="0"/>
                <a:cs typeface="Arial"/>
              </a:rPr>
              <a:t>Marine Insurance</a:t>
            </a:r>
            <a:endParaRPr lang="en-US" sz="4342" b="1" dirty="0">
              <a:ln w="1905"/>
              <a:solidFill>
                <a:schemeClr val="bg1"/>
              </a:solidFill>
              <a:latin typeface="Arial"/>
              <a:ea typeface="Segoe UI" panose="020B0502040204020203" pitchFamily="34" charset="0"/>
              <a:cs typeface="Arial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3620" y="1850000"/>
            <a:ext cx="2656731" cy="1728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18018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0" y="824628"/>
            <a:ext cx="9804188" cy="26465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98813" y="233045"/>
            <a:ext cx="2390141" cy="623889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3454" b="1">
                <a:latin typeface="Segoe UI Semibold" panose="020B0702040204020203" pitchFamily="34" charset="0"/>
                <a:ea typeface="+mj-ea"/>
                <a:cs typeface="BrowalliaUPC" panose="020B0604020202020204" pitchFamily="34" charset="-34"/>
              </a:defRPr>
            </a:lvl1pPr>
          </a:lstStyle>
          <a:p>
            <a:r>
              <a:rPr lang="en-US" altLang="en-US" dirty="0"/>
              <a:t> Objectives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 bwMode="auto">
          <a:xfrm>
            <a:off x="298813" y="1853782"/>
            <a:ext cx="8879998" cy="4436239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2857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v"/>
              <a:defRPr/>
            </a:pPr>
            <a:r>
              <a:rPr lang="en-US" sz="1579" b="1" dirty="0" smtClean="0">
                <a:solidFill>
                  <a:schemeClr val="accent2">
                    <a:lumMod val="75000"/>
                  </a:schemeClr>
                </a:solidFill>
                <a:latin typeface="Segoe UI Light" panose="020B0502040204020203" pitchFamily="34" charset="0"/>
              </a:rPr>
              <a:t>Understand </a:t>
            </a:r>
            <a:r>
              <a:rPr lang="en-US" sz="1579" b="1" dirty="0" smtClean="0">
                <a:solidFill>
                  <a:schemeClr val="accent2">
                    <a:lumMod val="75000"/>
                  </a:schemeClr>
                </a:solidFill>
                <a:latin typeface="Segoe UI Light" panose="020B0502040204020203" pitchFamily="34" charset="0"/>
              </a:rPr>
              <a:t>Inland Marine Insurance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sz="1579" b="1" dirty="0" smtClean="0">
                <a:solidFill>
                  <a:schemeClr val="accent2">
                    <a:lumMod val="75000"/>
                  </a:schemeClr>
                </a:solidFill>
                <a:latin typeface="Segoe UI Light" panose="020B0502040204020203" pitchFamily="34" charset="0"/>
              </a:rPr>
              <a:t>Understand the role of </a:t>
            </a:r>
            <a:r>
              <a:rPr lang="en-US" sz="1579" b="1" dirty="0" smtClean="0">
                <a:solidFill>
                  <a:schemeClr val="accent2">
                    <a:lumMod val="75000"/>
                  </a:schemeClr>
                </a:solidFill>
                <a:latin typeface="Segoe UI Light" panose="020B0502040204020203" pitchFamily="34" charset="0"/>
              </a:rPr>
              <a:t>inland </a:t>
            </a:r>
            <a:r>
              <a:rPr lang="en-US" sz="1579" b="1" dirty="0" smtClean="0">
                <a:solidFill>
                  <a:schemeClr val="accent2">
                    <a:lumMod val="75000"/>
                  </a:schemeClr>
                </a:solidFill>
                <a:latin typeface="Segoe UI Light" panose="020B0502040204020203" pitchFamily="34" charset="0"/>
              </a:rPr>
              <a:t>marine insurance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sz="1579" b="1" dirty="0" smtClean="0">
                <a:solidFill>
                  <a:schemeClr val="accent2">
                    <a:lumMod val="75000"/>
                  </a:schemeClr>
                </a:solidFill>
                <a:latin typeface="Segoe UI Light" panose="020B0502040204020203" pitchFamily="34" charset="0"/>
              </a:rPr>
              <a:t>Understand the distinction between filed and non-filed classes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sz="1579" b="1" dirty="0" smtClean="0">
                <a:solidFill>
                  <a:schemeClr val="accent2">
                    <a:lumMod val="75000"/>
                  </a:schemeClr>
                </a:solidFill>
                <a:latin typeface="Segoe UI Light" panose="020B0502040204020203" pitchFamily="34" charset="0"/>
              </a:rPr>
              <a:t>Study property covered under filed classes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sz="1579" b="1" dirty="0">
                <a:solidFill>
                  <a:schemeClr val="accent2">
                    <a:lumMod val="75000"/>
                  </a:schemeClr>
                </a:solidFill>
                <a:latin typeface="Segoe UI Light" panose="020B0502040204020203" pitchFamily="34" charset="0"/>
              </a:rPr>
              <a:t>Study property covered under </a:t>
            </a:r>
            <a:r>
              <a:rPr lang="en-US" sz="1579" b="1" dirty="0" smtClean="0">
                <a:solidFill>
                  <a:schemeClr val="accent2">
                    <a:lumMod val="75000"/>
                  </a:schemeClr>
                </a:solidFill>
                <a:latin typeface="Segoe UI Light" panose="020B0502040204020203" pitchFamily="34" charset="0"/>
              </a:rPr>
              <a:t>non-filed classes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endParaRPr lang="en-US" sz="1579" b="1" dirty="0">
              <a:solidFill>
                <a:srgbClr val="C00000"/>
              </a:solidFill>
              <a:latin typeface="Segoe UI Light" panose="020B0502040204020203" pitchFamily="34" charset="0"/>
            </a:endParaRPr>
          </a:p>
          <a:p>
            <a:pPr marL="2857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v"/>
              <a:defRPr/>
            </a:pPr>
            <a:endParaRPr lang="en-US" sz="1579" b="1" dirty="0" smtClean="0">
              <a:solidFill>
                <a:srgbClr val="C00000"/>
              </a:solidFill>
              <a:latin typeface="Segoe UI Light" panose="020B0502040204020203" pitchFamily="34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9969" y="4250140"/>
            <a:ext cx="4013654" cy="1907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36315250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0" y="824628"/>
            <a:ext cx="9804188" cy="26465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33139" y="333065"/>
            <a:ext cx="5028941" cy="6238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454" b="1" dirty="0" smtClean="0">
                <a:solidFill>
                  <a:prstClr val="black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Inland Marine Insurance</a:t>
            </a:r>
            <a:endParaRPr lang="en-IN" sz="3454" b="1" dirty="0">
              <a:solidFill>
                <a:prstClr val="black"/>
              </a:solidFill>
              <a:latin typeface="Segoe UI Semibold" panose="020B0702040204020203" pitchFamily="34" charset="0"/>
              <a:cs typeface="BrowalliaUPC" panose="020B0604020202020204" pitchFamily="34" charset="-34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298812" y="1248475"/>
            <a:ext cx="11227779" cy="5216719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endParaRPr lang="en-US" sz="1600" b="1" dirty="0">
              <a:solidFill>
                <a:srgbClr val="C00000"/>
              </a:solidFill>
            </a:endParaRP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prstClr val="black"/>
                </a:solidFill>
                <a:cs typeface="Arial" charset="0"/>
              </a:rPr>
              <a:t>This is the insurance that covers different classes of property that typically involve and element of transportation</a:t>
            </a:r>
          </a:p>
          <a:p>
            <a:pPr marL="285750" indent="-285750">
              <a:spcBef>
                <a:spcPct val="20000"/>
              </a:spcBef>
              <a:buClr>
                <a:prstClr val="black"/>
              </a:buClr>
              <a:buFont typeface="Wingdings" panose="05000000000000000000" pitchFamily="2" charset="2"/>
              <a:buChar char="v"/>
              <a:defRPr/>
            </a:pPr>
            <a:endParaRPr lang="en-US" sz="1600" dirty="0">
              <a:solidFill>
                <a:prstClr val="black"/>
              </a:solidFill>
            </a:endParaRP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prstClr val="black"/>
                </a:solidFill>
                <a:cs typeface="Arial" charset="0"/>
              </a:rPr>
              <a:t>It is divided into two categories:</a:t>
            </a: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600" b="1" dirty="0">
                <a:solidFill>
                  <a:prstClr val="black"/>
                </a:solidFill>
                <a:cs typeface="Arial" charset="0"/>
              </a:rPr>
              <a:t>Filed class of business: </a:t>
            </a:r>
            <a:r>
              <a:rPr lang="en-US" sz="1600" dirty="0">
                <a:solidFill>
                  <a:prstClr val="black"/>
                </a:solidFill>
                <a:cs typeface="Arial" charset="0"/>
              </a:rPr>
              <a:t>Rates must be filed with the state insurance department </a:t>
            </a:r>
            <a:endParaRPr lang="en-US" sz="1600" dirty="0" smtClean="0">
              <a:solidFill>
                <a:prstClr val="black"/>
              </a:solidFill>
              <a:cs typeface="Arial" charset="0"/>
            </a:endParaRPr>
          </a:p>
          <a:p>
            <a:pPr marL="1200150" lvl="2" indent="-28575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600" dirty="0" smtClean="0">
                <a:solidFill>
                  <a:prstClr val="black"/>
                </a:solidFill>
                <a:cs typeface="Arial" charset="0"/>
              </a:rPr>
              <a:t>Characterized by a large number of potential </a:t>
            </a:r>
            <a:r>
              <a:rPr lang="en-US" sz="1600" dirty="0" smtClean="0">
                <a:solidFill>
                  <a:prstClr val="black"/>
                </a:solidFill>
                <a:cs typeface="Arial" charset="0"/>
              </a:rPr>
              <a:t>insured </a:t>
            </a:r>
            <a:r>
              <a:rPr lang="en-US" sz="1600" dirty="0" smtClean="0">
                <a:solidFill>
                  <a:prstClr val="black"/>
                </a:solidFill>
                <a:cs typeface="Arial" charset="0"/>
              </a:rPr>
              <a:t>and reasonably homogenous loss exposures</a:t>
            </a:r>
            <a:endParaRPr lang="en-US" sz="1600" dirty="0">
              <a:solidFill>
                <a:prstClr val="black"/>
              </a:solidFill>
              <a:cs typeface="Arial" charset="0"/>
            </a:endParaRPr>
          </a:p>
          <a:p>
            <a:pPr marL="1200150" lvl="2" indent="-28575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600" dirty="0" smtClean="0">
                <a:solidFill>
                  <a:prstClr val="black"/>
                </a:solidFill>
                <a:cs typeface="Arial" charset="0"/>
              </a:rPr>
              <a:t>e.g</a:t>
            </a:r>
            <a:r>
              <a:rPr lang="en-US" sz="1600" dirty="0">
                <a:solidFill>
                  <a:prstClr val="black"/>
                </a:solidFill>
                <a:cs typeface="Arial" charset="0"/>
              </a:rPr>
              <a:t>. musical instruments, </a:t>
            </a:r>
            <a:r>
              <a:rPr lang="en-US" sz="1600" dirty="0" smtClean="0">
                <a:solidFill>
                  <a:prstClr val="black"/>
                </a:solidFill>
                <a:cs typeface="Arial" charset="0"/>
              </a:rPr>
              <a:t>photographic </a:t>
            </a:r>
            <a:r>
              <a:rPr lang="en-US" sz="1600" dirty="0">
                <a:solidFill>
                  <a:prstClr val="black"/>
                </a:solidFill>
                <a:cs typeface="Arial" charset="0"/>
              </a:rPr>
              <a:t>equipment etc.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prstClr val="black"/>
              </a:solidFill>
              <a:cs typeface="Arial" charset="0"/>
            </a:endParaRPr>
          </a:p>
          <a:p>
            <a:pPr marL="742950" lvl="1" indent="-28575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600" b="1" dirty="0">
                <a:solidFill>
                  <a:prstClr val="black"/>
                </a:solidFill>
                <a:cs typeface="Arial" charset="0"/>
              </a:rPr>
              <a:t>Non-filed class of business: </a:t>
            </a:r>
            <a:r>
              <a:rPr lang="en-US" sz="1600" dirty="0">
                <a:solidFill>
                  <a:prstClr val="black"/>
                </a:solidFill>
                <a:cs typeface="Arial" charset="0"/>
              </a:rPr>
              <a:t>N</a:t>
            </a:r>
            <a:r>
              <a:rPr lang="en-US" sz="1600" dirty="0" smtClean="0">
                <a:solidFill>
                  <a:prstClr val="black"/>
                </a:solidFill>
                <a:cs typeface="Arial" charset="0"/>
              </a:rPr>
              <a:t>either the </a:t>
            </a:r>
            <a:r>
              <a:rPr lang="en-US" sz="1600" dirty="0">
                <a:solidFill>
                  <a:prstClr val="black"/>
                </a:solidFill>
                <a:cs typeface="Arial" charset="0"/>
              </a:rPr>
              <a:t>policy forms </a:t>
            </a:r>
            <a:endParaRPr lang="en-US" sz="1600" dirty="0" smtClean="0">
              <a:solidFill>
                <a:prstClr val="black"/>
              </a:solidFill>
              <a:cs typeface="Arial" charset="0"/>
            </a:endParaRP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prstClr val="black"/>
                </a:solidFill>
                <a:cs typeface="Arial" charset="0"/>
              </a:rPr>
              <a:t> </a:t>
            </a:r>
            <a:r>
              <a:rPr lang="en-US" sz="1600" dirty="0" smtClean="0">
                <a:solidFill>
                  <a:prstClr val="black"/>
                </a:solidFill>
                <a:cs typeface="Arial" charset="0"/>
              </a:rPr>
              <a:t>     nor </a:t>
            </a:r>
            <a:r>
              <a:rPr lang="en-US" sz="1600" dirty="0">
                <a:solidFill>
                  <a:prstClr val="black"/>
                </a:solidFill>
                <a:cs typeface="Arial" charset="0"/>
              </a:rPr>
              <a:t>the rates need </a:t>
            </a:r>
            <a:r>
              <a:rPr lang="en-US" sz="1600" dirty="0" smtClean="0">
                <a:solidFill>
                  <a:prstClr val="black"/>
                </a:solidFill>
                <a:cs typeface="Arial" charset="0"/>
              </a:rPr>
              <a:t>to be </a:t>
            </a:r>
            <a:r>
              <a:rPr lang="en-US" sz="1600" dirty="0">
                <a:solidFill>
                  <a:prstClr val="black"/>
                </a:solidFill>
                <a:cs typeface="Arial" charset="0"/>
              </a:rPr>
              <a:t>filed with the state insurance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prstClr val="black"/>
                </a:solidFill>
                <a:cs typeface="Arial" charset="0"/>
              </a:rPr>
              <a:t>     </a:t>
            </a:r>
            <a:r>
              <a:rPr lang="en-US" sz="1600" dirty="0" smtClean="0">
                <a:solidFill>
                  <a:prstClr val="black"/>
                </a:solidFill>
                <a:cs typeface="Arial" charset="0"/>
              </a:rPr>
              <a:t>           department </a:t>
            </a:r>
          </a:p>
          <a:p>
            <a:pPr marL="1200150" lvl="2" indent="-28575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600" dirty="0" smtClean="0">
                <a:solidFill>
                  <a:prstClr val="black"/>
                </a:solidFill>
                <a:cs typeface="Arial" charset="0"/>
              </a:rPr>
              <a:t>The non-filed classes vary by state</a:t>
            </a:r>
          </a:p>
          <a:p>
            <a:pPr marL="1200150" lvl="2" indent="-28575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600" dirty="0" smtClean="0">
                <a:solidFill>
                  <a:prstClr val="black"/>
                </a:solidFill>
                <a:cs typeface="Arial" charset="0"/>
              </a:rPr>
              <a:t>Characterized by small number of potential </a:t>
            </a:r>
            <a:r>
              <a:rPr lang="en-US" sz="1600" dirty="0" smtClean="0">
                <a:solidFill>
                  <a:prstClr val="black"/>
                </a:solidFill>
                <a:cs typeface="Arial" charset="0"/>
              </a:rPr>
              <a:t>insured, </a:t>
            </a:r>
            <a:endParaRPr lang="en-US" sz="1600" dirty="0" smtClean="0">
              <a:solidFill>
                <a:prstClr val="black"/>
              </a:solidFill>
              <a:cs typeface="Arial" charset="0"/>
            </a:endParaRPr>
          </a:p>
          <a:p>
            <a:pPr lvl="2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prstClr val="black"/>
                </a:solidFill>
                <a:cs typeface="Arial" charset="0"/>
              </a:rPr>
              <a:t> </a:t>
            </a:r>
            <a:r>
              <a:rPr lang="en-US" sz="1600" dirty="0" smtClean="0">
                <a:solidFill>
                  <a:prstClr val="black"/>
                </a:solidFill>
                <a:cs typeface="Arial" charset="0"/>
              </a:rPr>
              <a:t>     diverse loss exposures or both</a:t>
            </a:r>
          </a:p>
          <a:p>
            <a:pPr marL="1200150" lvl="2" indent="-28575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1600" dirty="0" smtClean="0">
                <a:solidFill>
                  <a:prstClr val="black"/>
                </a:solidFill>
                <a:cs typeface="Arial" charset="0"/>
              </a:rPr>
              <a:t>e.g</a:t>
            </a:r>
            <a:r>
              <a:rPr lang="en-US" sz="1600" dirty="0">
                <a:solidFill>
                  <a:prstClr val="black"/>
                </a:solidFill>
                <a:cs typeface="Arial" charset="0"/>
              </a:rPr>
              <a:t>. contractor’s </a:t>
            </a:r>
            <a:r>
              <a:rPr lang="en-US" sz="1600" dirty="0" smtClean="0">
                <a:solidFill>
                  <a:prstClr val="black"/>
                </a:solidFill>
                <a:cs typeface="Arial" charset="0"/>
              </a:rPr>
              <a:t>equipment, motor </a:t>
            </a:r>
            <a:r>
              <a:rPr lang="en-US" sz="1600" dirty="0">
                <a:solidFill>
                  <a:prstClr val="black"/>
                </a:solidFill>
                <a:cs typeface="Arial" charset="0"/>
              </a:rPr>
              <a:t>truck cargo </a:t>
            </a:r>
            <a:r>
              <a:rPr lang="en-US" sz="1600" dirty="0" smtClean="0">
                <a:solidFill>
                  <a:prstClr val="black"/>
                </a:solidFill>
                <a:cs typeface="Arial" charset="0"/>
              </a:rPr>
              <a:t>liability </a:t>
            </a:r>
          </a:p>
          <a:p>
            <a:pPr lvl="2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prstClr val="black"/>
                </a:solidFill>
                <a:cs typeface="Arial" charset="0"/>
              </a:rPr>
              <a:t> </a:t>
            </a:r>
            <a:r>
              <a:rPr lang="en-US" sz="1600" dirty="0" smtClean="0">
                <a:solidFill>
                  <a:prstClr val="black"/>
                </a:solidFill>
                <a:cs typeface="Arial" charset="0"/>
              </a:rPr>
              <a:t>     electronic data processing </a:t>
            </a:r>
            <a:r>
              <a:rPr lang="en-US" sz="1600" dirty="0">
                <a:solidFill>
                  <a:prstClr val="black"/>
                </a:solidFill>
                <a:cs typeface="Arial" charset="0"/>
              </a:rPr>
              <a:t>equipment etc</a:t>
            </a:r>
            <a:r>
              <a:rPr lang="en-US" sz="1600" dirty="0" smtClean="0">
                <a:solidFill>
                  <a:prstClr val="black"/>
                </a:solidFill>
                <a:cs typeface="Arial" charset="0"/>
              </a:rPr>
              <a:t>.</a:t>
            </a:r>
            <a:endParaRPr lang="en-US" sz="1600" dirty="0" smtClean="0">
              <a:solidFill>
                <a:prstClr val="black"/>
              </a:solidFill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prstClr val="black"/>
              </a:solidFill>
              <a:cs typeface="Arial" charset="0"/>
            </a:endParaRP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1600" dirty="0" smtClean="0">
                <a:solidFill>
                  <a:prstClr val="black"/>
                </a:solidFill>
                <a:cs typeface="Arial" charset="0"/>
              </a:rPr>
              <a:t>Causes covered in named peril include – Flood, hurricane or tornado, fire and/or lightning, collision and/or overturning of a transporting conveyance, explosion and earthquake</a:t>
            </a:r>
            <a:endParaRPr lang="en-US" sz="1600" dirty="0">
              <a:solidFill>
                <a:prstClr val="black"/>
              </a:solidFill>
              <a:cs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238" y="3158142"/>
            <a:ext cx="4564403" cy="2092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212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0" y="824628"/>
            <a:ext cx="9804188" cy="26465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33139" y="333065"/>
            <a:ext cx="6626429" cy="6238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454" b="1" dirty="0" smtClean="0">
                <a:solidFill>
                  <a:prstClr val="black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Inland Marine Insurance </a:t>
            </a:r>
            <a:r>
              <a:rPr lang="en-IN" sz="3454" b="1" dirty="0" err="1" smtClean="0">
                <a:solidFill>
                  <a:prstClr val="black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contd</a:t>
            </a:r>
            <a:r>
              <a:rPr lang="en-IN" sz="3454" b="1" dirty="0" smtClean="0">
                <a:solidFill>
                  <a:prstClr val="black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…</a:t>
            </a:r>
            <a:endParaRPr lang="en-IN" sz="3454" b="1" dirty="0">
              <a:solidFill>
                <a:prstClr val="black"/>
              </a:solidFill>
              <a:latin typeface="Segoe UI Semibold" panose="020B0702040204020203" pitchFamily="34" charset="0"/>
              <a:cs typeface="BrowalliaUPC" panose="020B0604020202020204" pitchFamily="34" charset="-34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298812" y="999476"/>
            <a:ext cx="11227779" cy="635006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endParaRPr lang="en-US" sz="1600" b="1" dirty="0">
              <a:solidFill>
                <a:srgbClr val="C00000"/>
              </a:solidFill>
            </a:endParaRPr>
          </a:p>
          <a:p>
            <a:pPr marL="285750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/>
              <a:t>Filed classes</a:t>
            </a:r>
            <a:r>
              <a:rPr lang="en-US" sz="1600" b="1" dirty="0" smtClean="0"/>
              <a:t>:</a:t>
            </a:r>
          </a:p>
          <a:p>
            <a:pPr>
              <a:spcBef>
                <a:spcPct val="20000"/>
              </a:spcBef>
              <a:buClr>
                <a:schemeClr val="tx1"/>
              </a:buClr>
              <a:defRPr/>
            </a:pPr>
            <a:endParaRPr lang="en-US" sz="1600" b="1" dirty="0"/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/>
              <a:t>Commercial </a:t>
            </a:r>
            <a:r>
              <a:rPr lang="en-US" sz="1600" b="1" dirty="0" smtClean="0"/>
              <a:t>articles </a:t>
            </a:r>
            <a:r>
              <a:rPr lang="en-US" sz="1600" dirty="0" smtClean="0"/>
              <a:t>– </a:t>
            </a:r>
            <a:r>
              <a:rPr lang="en-US" sz="1600" b="1" dirty="0" smtClean="0"/>
              <a:t>Photographic equipment</a:t>
            </a:r>
            <a:r>
              <a:rPr lang="en-US" sz="1600" dirty="0" smtClean="0"/>
              <a:t> and </a:t>
            </a:r>
            <a:r>
              <a:rPr lang="en-US" sz="1600" b="1" dirty="0" smtClean="0"/>
              <a:t>musical instruments</a:t>
            </a:r>
            <a:r>
              <a:rPr lang="en-US" sz="1600" dirty="0" smtClean="0"/>
              <a:t> used commercially by photographers, motion picture providers, professional musicians and others</a:t>
            </a:r>
          </a:p>
          <a:p>
            <a:pPr marL="1200150" lvl="2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dirty="0" smtClean="0"/>
              <a:t>It is not intended for dealers in these property</a:t>
            </a:r>
          </a:p>
          <a:p>
            <a:pPr marL="1200150" lvl="2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dirty="0" smtClean="0"/>
              <a:t>Coverage can be provided on scheduled or blanket </a:t>
            </a:r>
            <a:r>
              <a:rPr lang="en-US" sz="1600" dirty="0" smtClean="0"/>
              <a:t>basis</a:t>
            </a:r>
          </a:p>
          <a:p>
            <a:pPr marL="1200150" lvl="2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endParaRPr lang="en-US" sz="1600" dirty="0"/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/>
              <a:t>Camera and musical instrument </a:t>
            </a:r>
            <a:r>
              <a:rPr lang="en-US" sz="1600" b="1" dirty="0" smtClean="0"/>
              <a:t>dealers </a:t>
            </a:r>
            <a:r>
              <a:rPr lang="en-US" sz="1600" dirty="0" smtClean="0"/>
              <a:t>– Coverage is intended for </a:t>
            </a:r>
            <a:r>
              <a:rPr lang="en-US" sz="1600" b="1" dirty="0" smtClean="0"/>
              <a:t>dealers in these property </a:t>
            </a:r>
            <a:r>
              <a:rPr lang="en-US" sz="1600" dirty="0" smtClean="0"/>
              <a:t>or property of others in their care, control or </a:t>
            </a:r>
            <a:r>
              <a:rPr lang="en-US" sz="1600" dirty="0" smtClean="0"/>
              <a:t>custody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endParaRPr lang="en-US" sz="1600" dirty="0"/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/>
              <a:t>Equipment </a:t>
            </a:r>
            <a:r>
              <a:rPr lang="en-US" sz="1600" b="1" dirty="0" smtClean="0"/>
              <a:t>dealers </a:t>
            </a:r>
            <a:r>
              <a:rPr lang="en-US" sz="1600" dirty="0" smtClean="0"/>
              <a:t>– Covers the </a:t>
            </a:r>
            <a:r>
              <a:rPr lang="en-US" sz="1600" b="1" dirty="0" smtClean="0"/>
              <a:t>stock of dealers that sell agricultural or construction equipment </a:t>
            </a:r>
            <a:endParaRPr lang="en-US" sz="1600" b="1" dirty="0" smtClean="0"/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endParaRPr lang="en-US" sz="1600" b="1" dirty="0"/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/>
              <a:t>Physician and surgeon’s </a:t>
            </a:r>
            <a:r>
              <a:rPr lang="en-US" sz="1600" b="1" dirty="0" smtClean="0"/>
              <a:t>equipment </a:t>
            </a:r>
            <a:r>
              <a:rPr lang="en-US" sz="1600" dirty="0" smtClean="0"/>
              <a:t>– Covers </a:t>
            </a:r>
            <a:r>
              <a:rPr lang="en-US" sz="1600" b="1" dirty="0" smtClean="0"/>
              <a:t>professional equipment, materials, supplies and books of physicians, surgeons and dentists</a:t>
            </a:r>
          </a:p>
          <a:p>
            <a:pPr lvl="1">
              <a:spcBef>
                <a:spcPct val="20000"/>
              </a:spcBef>
              <a:buClr>
                <a:schemeClr val="tx1"/>
              </a:buClr>
              <a:defRPr/>
            </a:pPr>
            <a:r>
              <a:rPr lang="en-US" sz="1600" dirty="0"/>
              <a:t> </a:t>
            </a:r>
            <a:r>
              <a:rPr lang="en-US" sz="1600" dirty="0" smtClean="0"/>
              <a:t>     More coverage can be added by endorsement:</a:t>
            </a:r>
          </a:p>
          <a:p>
            <a:pPr marL="1200150" lvl="2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dirty="0" smtClean="0"/>
              <a:t>Office equipment while of premises (maximum up to 30 days)</a:t>
            </a:r>
          </a:p>
          <a:p>
            <a:pPr marL="1200150" lvl="2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dirty="0" smtClean="0"/>
              <a:t>Extra expenses following a covered loss</a:t>
            </a:r>
          </a:p>
          <a:p>
            <a:pPr marL="1200150" lvl="2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dirty="0" smtClean="0"/>
              <a:t>Valuable </a:t>
            </a:r>
            <a:r>
              <a:rPr lang="en-US" sz="1600" dirty="0" smtClean="0"/>
              <a:t>records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45369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0" y="824628"/>
            <a:ext cx="9804188" cy="26465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33139" y="333065"/>
            <a:ext cx="6626429" cy="6238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454" b="1" dirty="0" smtClean="0">
                <a:solidFill>
                  <a:prstClr val="black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Inland Marine Insurance </a:t>
            </a:r>
            <a:r>
              <a:rPr lang="en-IN" sz="3454" b="1" dirty="0" err="1" smtClean="0">
                <a:solidFill>
                  <a:prstClr val="black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contd</a:t>
            </a:r>
            <a:r>
              <a:rPr lang="en-IN" sz="3454" b="1" dirty="0" smtClean="0">
                <a:solidFill>
                  <a:prstClr val="black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…</a:t>
            </a:r>
            <a:endParaRPr lang="en-IN" sz="3454" b="1" dirty="0">
              <a:solidFill>
                <a:prstClr val="black"/>
              </a:solidFill>
              <a:latin typeface="Segoe UI Semibold" panose="020B0702040204020203" pitchFamily="34" charset="0"/>
              <a:cs typeface="BrowalliaUPC" panose="020B0604020202020204" pitchFamily="34" charset="-34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298812" y="1151875"/>
            <a:ext cx="11227779" cy="635006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endParaRPr lang="en-US" sz="1600" b="1" dirty="0">
              <a:solidFill>
                <a:srgbClr val="C00000"/>
              </a:solidFill>
            </a:endParaRP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 smtClean="0"/>
              <a:t>Theatrical </a:t>
            </a:r>
            <a:r>
              <a:rPr lang="en-US" sz="1600" b="1" dirty="0" smtClean="0"/>
              <a:t>property </a:t>
            </a:r>
            <a:r>
              <a:rPr lang="en-US" sz="1600" dirty="0" smtClean="0"/>
              <a:t>– Covers </a:t>
            </a:r>
            <a:r>
              <a:rPr lang="en-US" sz="1600" b="1" dirty="0" smtClean="0"/>
              <a:t>stage scenery, costumes and other personal property used in theatrical </a:t>
            </a:r>
            <a:r>
              <a:rPr lang="en-US" sz="1600" b="1" dirty="0" smtClean="0"/>
              <a:t>productions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endParaRPr lang="en-US" sz="1600" b="1" dirty="0"/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/>
              <a:t>Accounts </a:t>
            </a:r>
            <a:r>
              <a:rPr lang="en-US" sz="1600" b="1" dirty="0" smtClean="0"/>
              <a:t>receivable </a:t>
            </a:r>
            <a:r>
              <a:rPr lang="en-US" sz="1600" dirty="0" smtClean="0"/>
              <a:t>– Pays the </a:t>
            </a:r>
            <a:r>
              <a:rPr lang="en-US" sz="1600" b="1" dirty="0" smtClean="0"/>
              <a:t>amount of accounts receivable the insured is unable to collect</a:t>
            </a:r>
            <a:r>
              <a:rPr lang="en-US" sz="1600" dirty="0" smtClean="0"/>
              <a:t>, cost to reconstruct the records, interest on loans made necessary by inability to collect account </a:t>
            </a:r>
            <a:r>
              <a:rPr lang="en-US" sz="1600" dirty="0" smtClean="0"/>
              <a:t>receivables</a:t>
            </a:r>
          </a:p>
          <a:p>
            <a:pPr marL="1200150" lvl="2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dirty="0" smtClean="0"/>
              <a:t>Coverage may be written on a reporting or non-reporting basis</a:t>
            </a:r>
            <a:endParaRPr lang="en-US" sz="1600" dirty="0" smtClean="0"/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endParaRPr lang="en-US" sz="1600" dirty="0"/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 smtClean="0"/>
              <a:t>Films </a:t>
            </a:r>
            <a:r>
              <a:rPr lang="en-US" sz="1600" dirty="0" smtClean="0"/>
              <a:t>– Covers </a:t>
            </a:r>
            <a:r>
              <a:rPr lang="en-US" sz="1600" b="1" dirty="0" smtClean="0"/>
              <a:t>exposed motion picture film and magnetic tapes or videotapes, including related sound tracks or sound records</a:t>
            </a:r>
            <a:r>
              <a:rPr lang="en-US" sz="1600" dirty="0" smtClean="0"/>
              <a:t>. Pays for cost of reshooting the film if it is lost or </a:t>
            </a:r>
            <a:r>
              <a:rPr lang="en-US" sz="1600" dirty="0" smtClean="0"/>
              <a:t>damaged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endParaRPr lang="en-US" sz="1600" dirty="0"/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/>
              <a:t>Valuable papers and </a:t>
            </a:r>
            <a:r>
              <a:rPr lang="en-US" sz="1600" b="1" dirty="0" smtClean="0"/>
              <a:t>records </a:t>
            </a:r>
            <a:r>
              <a:rPr lang="en-US" sz="1600" dirty="0" smtClean="0"/>
              <a:t>– Covers </a:t>
            </a:r>
            <a:r>
              <a:rPr lang="en-US" sz="1600" b="1" dirty="0" smtClean="0"/>
              <a:t>architects blueprints and plans as well as the cost of research to reconstruct </a:t>
            </a:r>
            <a:r>
              <a:rPr lang="en-US" sz="1600" dirty="0" smtClean="0"/>
              <a:t>the records. Irreplaceable records are scheduled with an agreed value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92081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0" y="824628"/>
            <a:ext cx="9804188" cy="26465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33139" y="333065"/>
            <a:ext cx="6626429" cy="6238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454" b="1" dirty="0" smtClean="0">
                <a:solidFill>
                  <a:prstClr val="black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Inland Marine Insurance </a:t>
            </a:r>
            <a:r>
              <a:rPr lang="en-IN" sz="3454" b="1" dirty="0" err="1" smtClean="0">
                <a:solidFill>
                  <a:prstClr val="black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contd</a:t>
            </a:r>
            <a:r>
              <a:rPr lang="en-IN" sz="3454" b="1" dirty="0" smtClean="0">
                <a:solidFill>
                  <a:prstClr val="black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…</a:t>
            </a:r>
            <a:endParaRPr lang="en-IN" sz="3454" b="1" dirty="0">
              <a:solidFill>
                <a:prstClr val="black"/>
              </a:solidFill>
              <a:latin typeface="Segoe UI Semibold" panose="020B0702040204020203" pitchFamily="34" charset="0"/>
              <a:cs typeface="BrowalliaUPC" panose="020B0604020202020204" pitchFamily="34" charset="-34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298812" y="1107799"/>
            <a:ext cx="11227779" cy="508793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endParaRPr lang="en-US" sz="1600" b="1" dirty="0">
              <a:solidFill>
                <a:srgbClr val="C00000"/>
              </a:solidFill>
            </a:endParaRPr>
          </a:p>
          <a:p>
            <a:pPr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/>
              <a:t>Non filed classes: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/>
              <a:t>Contractors equipment </a:t>
            </a:r>
            <a:r>
              <a:rPr lang="en-US" sz="1600" b="1" dirty="0" smtClean="0"/>
              <a:t>–    </a:t>
            </a:r>
            <a:r>
              <a:rPr lang="en-US" sz="1600" dirty="0" smtClean="0"/>
              <a:t>Covers cranes</a:t>
            </a:r>
            <a:r>
              <a:rPr lang="en-US" sz="1600" dirty="0"/>
              <a:t>, earthmovers, tractors, stone crushers, bulldozers, portable offices. </a:t>
            </a:r>
            <a:endParaRPr lang="en-US" sz="1600" dirty="0" smtClean="0"/>
          </a:p>
          <a:p>
            <a:pPr marL="3028950" lvl="6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dirty="0" smtClean="0"/>
              <a:t>Coverage </a:t>
            </a:r>
            <a:r>
              <a:rPr lang="en-US" sz="1600" dirty="0"/>
              <a:t>can be provided on individual or blanket </a:t>
            </a:r>
            <a:r>
              <a:rPr lang="en-US" sz="1600" dirty="0" smtClean="0"/>
              <a:t>basis</a:t>
            </a:r>
          </a:p>
          <a:p>
            <a:pPr marL="3028950" lvl="6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dirty="0" smtClean="0"/>
              <a:t>Coverage is provided on open and named peril (fire, lightening, explosion windstorm etc.) basis</a:t>
            </a:r>
          </a:p>
          <a:p>
            <a:pPr marL="3028950" lvl="6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dirty="0" smtClean="0"/>
              <a:t>Frequently included rental reimbursement coverage</a:t>
            </a:r>
            <a:endParaRPr lang="en-US" sz="1600" dirty="0"/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/>
              <a:t>Builder’s risk – </a:t>
            </a:r>
            <a:r>
              <a:rPr lang="en-US" sz="1600" dirty="0"/>
              <a:t> </a:t>
            </a:r>
            <a:r>
              <a:rPr lang="en-US" sz="1600" dirty="0" smtClean="0"/>
              <a:t>Covers structure </a:t>
            </a:r>
            <a:r>
              <a:rPr lang="en-US" sz="1600" dirty="0"/>
              <a:t>under construction, temporary structure and building materials. Coverage is provided on open perils basis excluding floods, earthquake and theft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/>
              <a:t>Transit – </a:t>
            </a:r>
            <a:r>
              <a:rPr lang="en-US" sz="1600" dirty="0"/>
              <a:t>Covers owners of the property against damage to their property while transit by land air or water. </a:t>
            </a:r>
            <a:endParaRPr lang="en-US" sz="1600" dirty="0" smtClean="0"/>
          </a:p>
          <a:p>
            <a:pPr marL="1200150" lvl="2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 smtClean="0"/>
              <a:t>Trip </a:t>
            </a:r>
            <a:r>
              <a:rPr lang="en-US" sz="1600" b="1" dirty="0"/>
              <a:t>transit </a:t>
            </a:r>
            <a:r>
              <a:rPr lang="en-US" sz="1600" dirty="0"/>
              <a:t>and </a:t>
            </a:r>
            <a:r>
              <a:rPr lang="en-US" sz="1600" b="1" dirty="0"/>
              <a:t>annual transit </a:t>
            </a:r>
            <a:r>
              <a:rPr lang="en-US" sz="1600" dirty="0"/>
              <a:t>versions </a:t>
            </a:r>
            <a:r>
              <a:rPr lang="en-US" sz="1600" dirty="0" smtClean="0"/>
              <a:t>available. </a:t>
            </a:r>
          </a:p>
          <a:p>
            <a:pPr marL="1200150" lvl="2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dirty="0" smtClean="0"/>
              <a:t>High risk articles and contraband property are generally excluded</a:t>
            </a:r>
          </a:p>
          <a:p>
            <a:pPr marL="1200150" lvl="2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dirty="0" smtClean="0"/>
              <a:t>Annual transit policies are mostly issued on open peril basis and valued at amount of </a:t>
            </a:r>
            <a:r>
              <a:rPr lang="en-US" sz="1600" dirty="0" smtClean="0"/>
              <a:t>invoice</a:t>
            </a:r>
            <a:endParaRPr lang="en-US" sz="1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074" y="4917937"/>
            <a:ext cx="2847975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2222" y="4889362"/>
            <a:ext cx="2143125" cy="162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86431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0" y="824628"/>
            <a:ext cx="9804188" cy="26465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33139" y="333065"/>
            <a:ext cx="6626429" cy="6238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454" b="1" dirty="0" smtClean="0">
                <a:solidFill>
                  <a:prstClr val="black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Inland Marine Insurance </a:t>
            </a:r>
            <a:r>
              <a:rPr lang="en-IN" sz="3454" b="1" dirty="0" err="1" smtClean="0">
                <a:solidFill>
                  <a:prstClr val="black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contd</a:t>
            </a:r>
            <a:r>
              <a:rPr lang="en-IN" sz="3454" b="1" dirty="0" smtClean="0">
                <a:solidFill>
                  <a:prstClr val="black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…</a:t>
            </a:r>
            <a:endParaRPr lang="en-IN" sz="3454" b="1" dirty="0">
              <a:solidFill>
                <a:prstClr val="black"/>
              </a:solidFill>
              <a:latin typeface="Segoe UI Semibold" panose="020B0702040204020203" pitchFamily="34" charset="0"/>
              <a:cs typeface="BrowalliaUPC" panose="020B0604020202020204" pitchFamily="34" charset="-34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298812" y="1248475"/>
            <a:ext cx="11227779" cy="508793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endParaRPr lang="en-US" sz="1600" b="1" dirty="0">
              <a:solidFill>
                <a:srgbClr val="C00000"/>
              </a:solidFill>
            </a:endParaRP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 smtClean="0"/>
              <a:t>Motor </a:t>
            </a:r>
            <a:r>
              <a:rPr lang="en-US" sz="1600" b="1" dirty="0"/>
              <a:t>truck cargo liability – </a:t>
            </a:r>
            <a:r>
              <a:rPr lang="en-US" sz="1600" dirty="0" smtClean="0"/>
              <a:t>Provides liability </a:t>
            </a:r>
            <a:r>
              <a:rPr lang="en-US" sz="1600" dirty="0"/>
              <a:t>coverage for motor carrier for the property being </a:t>
            </a:r>
            <a:r>
              <a:rPr lang="en-US" sz="1600" dirty="0" smtClean="0"/>
              <a:t>transported with a terminal coverage generally limited to </a:t>
            </a:r>
            <a:r>
              <a:rPr lang="en-US" sz="1600" smtClean="0"/>
              <a:t>72 hours. </a:t>
            </a:r>
            <a:r>
              <a:rPr lang="en-US" sz="1600" dirty="0"/>
              <a:t>Valuable property generally excluded 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/>
              <a:t>Difference in conditions – </a:t>
            </a:r>
            <a:r>
              <a:rPr lang="en-US" sz="1600" b="1" dirty="0" smtClean="0"/>
              <a:t> </a:t>
            </a:r>
            <a:r>
              <a:rPr lang="en-US" sz="1600" dirty="0" smtClean="0"/>
              <a:t>Intended to </a:t>
            </a:r>
            <a:r>
              <a:rPr lang="en-US" sz="1600" dirty="0"/>
              <a:t>fill gaps on an </a:t>
            </a:r>
            <a:r>
              <a:rPr lang="en-US" sz="1600" dirty="0" smtClean="0"/>
              <a:t>“all </a:t>
            </a:r>
            <a:r>
              <a:rPr lang="en-US" sz="1600" dirty="0"/>
              <a:t>risks </a:t>
            </a:r>
            <a:r>
              <a:rPr lang="en-US" sz="1600" dirty="0" smtClean="0"/>
              <a:t>basis” </a:t>
            </a:r>
            <a:r>
              <a:rPr lang="en-US" sz="1600" dirty="0"/>
              <a:t>in the commercial property coverage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/>
              <a:t>Electronic data processing equipment – </a:t>
            </a:r>
            <a:r>
              <a:rPr lang="en-US" sz="1600" dirty="0" smtClean="0"/>
              <a:t>Covers computers, </a:t>
            </a:r>
            <a:r>
              <a:rPr lang="en-US" sz="1600" dirty="0"/>
              <a:t>equipment, software and electronic </a:t>
            </a:r>
            <a:r>
              <a:rPr lang="en-US" sz="1600" dirty="0" smtClean="0"/>
              <a:t>data</a:t>
            </a:r>
          </a:p>
          <a:p>
            <a:pPr marL="1200150" lvl="2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dirty="0" smtClean="0"/>
              <a:t>Equipment </a:t>
            </a:r>
            <a:r>
              <a:rPr lang="en-US" sz="1600" dirty="0"/>
              <a:t>can be valued at ACV/replacement/upgraded </a:t>
            </a:r>
            <a:r>
              <a:rPr lang="en-US" sz="1600" dirty="0" smtClean="0"/>
              <a:t>value</a:t>
            </a:r>
          </a:p>
          <a:p>
            <a:pPr marL="1200150" lvl="2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dirty="0" smtClean="0"/>
              <a:t>Data </a:t>
            </a:r>
            <a:r>
              <a:rPr lang="en-US" sz="1600" dirty="0"/>
              <a:t>and media valued at the actual cost of </a:t>
            </a:r>
            <a:r>
              <a:rPr lang="en-US" sz="1600" dirty="0" smtClean="0"/>
              <a:t>reproduction or for an agreed value</a:t>
            </a:r>
            <a:endParaRPr lang="en-US" sz="1600" dirty="0"/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 err="1"/>
              <a:t>Bailee's</a:t>
            </a:r>
            <a:r>
              <a:rPr lang="en-US" sz="1600" b="1" dirty="0"/>
              <a:t> – </a:t>
            </a:r>
            <a:r>
              <a:rPr lang="en-US" sz="1600" dirty="0" smtClean="0"/>
              <a:t>Covers </a:t>
            </a:r>
            <a:r>
              <a:rPr lang="en-US" sz="1600" dirty="0" err="1"/>
              <a:t>bailees</a:t>
            </a:r>
            <a:r>
              <a:rPr lang="en-US" sz="1600" dirty="0"/>
              <a:t> for the property in their care or </a:t>
            </a:r>
            <a:r>
              <a:rPr lang="en-US" sz="1600" dirty="0" smtClean="0"/>
              <a:t>custody </a:t>
            </a:r>
            <a:r>
              <a:rPr lang="en-US" sz="1600" b="1" dirty="0" smtClean="0"/>
              <a:t>regardless of their liability</a:t>
            </a:r>
            <a:r>
              <a:rPr lang="en-US" sz="1600" dirty="0" smtClean="0"/>
              <a:t>. Generally issued for dry cleaners, laundries, tailors, repair shops etc.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95887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0" y="824628"/>
            <a:ext cx="9804188" cy="26465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33139" y="333065"/>
            <a:ext cx="6626429" cy="6238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454" b="1" dirty="0" smtClean="0">
                <a:solidFill>
                  <a:prstClr val="black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Inland Marine Insurance </a:t>
            </a:r>
            <a:r>
              <a:rPr lang="en-IN" sz="3454" b="1" dirty="0" err="1" smtClean="0">
                <a:solidFill>
                  <a:prstClr val="black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contd</a:t>
            </a:r>
            <a:r>
              <a:rPr lang="en-IN" sz="3454" b="1" dirty="0" smtClean="0">
                <a:solidFill>
                  <a:prstClr val="black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…</a:t>
            </a:r>
            <a:endParaRPr lang="en-IN" sz="3454" b="1" dirty="0">
              <a:solidFill>
                <a:prstClr val="black"/>
              </a:solidFill>
              <a:latin typeface="Segoe UI Semibold" panose="020B0702040204020203" pitchFamily="34" charset="0"/>
              <a:cs typeface="BrowalliaUPC" panose="020B0604020202020204" pitchFamily="34" charset="-34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298812" y="1248475"/>
            <a:ext cx="11227779" cy="508793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endParaRPr lang="en-US" sz="1600" b="1" dirty="0">
              <a:solidFill>
                <a:srgbClr val="C00000"/>
              </a:solidFill>
            </a:endParaRP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 smtClean="0"/>
              <a:t>Coverage for all articles are provided on an open-peril basis – direct physical loss is covered by any cause which is not specifically excluded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endParaRPr lang="en-US" sz="1600" b="1" dirty="0"/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 smtClean="0"/>
              <a:t>Policy can be packaged in CPP (Package modification factors apply) or issued as a mono-line policy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endParaRPr lang="en-US" sz="1600" b="1" dirty="0"/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 smtClean="0"/>
              <a:t>Property is generally valued on ACV basis. Other valuation methods also application subject to the agreement of insured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endParaRPr lang="en-US" sz="1600" b="1" dirty="0"/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 smtClean="0"/>
              <a:t>ISO and AAIS file forms and rates for the classes of business with the state departments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endParaRPr lang="en-US" sz="1600" b="1" dirty="0" smtClean="0"/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 smtClean="0"/>
              <a:t>Insurers can customize appropriate policy provisions if the rates are not files with the state departments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endParaRPr lang="en-US" sz="1600" b="1" dirty="0" smtClean="0"/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 smtClean="0"/>
              <a:t>Judgment rating is used to determine the rate one-of-a-kind risks for which rates are not available in CLM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endParaRPr lang="en-US" sz="1600" b="1" dirty="0"/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en-US" sz="1600" b="1" dirty="0" smtClean="0"/>
              <a:t>Governmental action, nuclear hazard, military actions are excluded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endParaRPr lang="en-US" sz="1600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0998118"/>
              </p:ext>
            </p:extLst>
          </p:nvPr>
        </p:nvGraphicFramePr>
        <p:xfrm>
          <a:off x="7807570" y="5351096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2" name="Acrobat Document" showAsIcon="1" r:id="rId4" imgW="914400" imgH="771480" progId="AcroExch.Document.11">
                  <p:embed/>
                </p:oleObj>
              </mc:Choice>
              <mc:Fallback>
                <p:oleObj name="Acrobat Document" showAsIcon="1" r:id="rId4" imgW="914400" imgH="771480" progId="AcroExch.Document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807570" y="5351096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8830815"/>
              </p:ext>
            </p:extLst>
          </p:nvPr>
        </p:nvGraphicFramePr>
        <p:xfrm>
          <a:off x="9352558" y="5304205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" name="Acrobat Document" showAsIcon="1" r:id="rId6" imgW="914400" imgH="771480" progId="AcroExch.Document.11">
                  <p:embed/>
                </p:oleObj>
              </mc:Choice>
              <mc:Fallback>
                <p:oleObj name="Acrobat Document" showAsIcon="1" r:id="rId6" imgW="914400" imgH="771480" progId="AcroExch.Document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352558" y="5304205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55125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49274" y="3039414"/>
            <a:ext cx="21640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smtClean="0">
                <a:solidFill>
                  <a:schemeClr val="accent2">
                    <a:lumMod val="75000"/>
                  </a:schemeClr>
                </a:solidFill>
              </a:rPr>
              <a:t>Thank You</a:t>
            </a:r>
            <a:endParaRPr lang="en-US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4915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haredContentType xmlns="Microsoft.SharePoint.Taxonomy.ContentTypeSync" SourceId="41087d73-5bfe-4c6e-a130-3d602495565a" ContentTypeId="0x010100A9C68CA7C7CB9747850736716ABD16DF" PreviousValue="false"/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VIKI Document" ma:contentTypeID="0x010100A9C68CA7C7CB9747850736716ABD16DF00BE1DFF25D8869449A28818D1AF9444E1" ma:contentTypeVersion="21" ma:contentTypeDescription="" ma:contentTypeScope="" ma:versionID="baf1461cfb308eef15c4ebba4c21e5c2">
  <xsd:schema xmlns:xsd="http://www.w3.org/2001/XMLSchema" xmlns:xs="http://www.w3.org/2001/XMLSchema" xmlns:p="http://schemas.microsoft.com/office/2006/metadata/properties" xmlns:ns2="09339d3a-aaa0-497d-ae73-d8a5832d420d" xmlns:ns3="1b0447fd-b4de-47d5-99cd-696b41a805aa" xmlns:ns4="54644d9b-790a-4fc8-9e5d-73cde5ed7352" targetNamespace="http://schemas.microsoft.com/office/2006/metadata/properties" ma:root="true" ma:fieldsID="784142dde4d3225154bf345b3c25ab1a" ns2:_="" ns3:_="" ns4:_="">
    <xsd:import namespace="09339d3a-aaa0-497d-ae73-d8a5832d420d"/>
    <xsd:import namespace="1b0447fd-b4de-47d5-99cd-696b41a805aa"/>
    <xsd:import namespace="54644d9b-790a-4fc8-9e5d-73cde5ed7352"/>
    <xsd:element name="properties">
      <xsd:complexType>
        <xsd:sequence>
          <xsd:element name="documentManagement">
            <xsd:complexType>
              <xsd:all>
                <xsd:element ref="ns2:Classification"/>
                <xsd:element ref="ns2:Departments"/>
                <xsd:element ref="ns2:SubCategory"/>
                <xsd:element ref="ns2:Tags"/>
                <xsd:element ref="ns2:Contributors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339d3a-aaa0-497d-ae73-d8a5832d420d" elementFormDefault="qualified">
    <xsd:import namespace="http://schemas.microsoft.com/office/2006/documentManagement/types"/>
    <xsd:import namespace="http://schemas.microsoft.com/office/infopath/2007/PartnerControls"/>
    <xsd:element name="Classification" ma:index="8" ma:displayName="Classification" ma:description="Refer Help &gt; Guidelines" ma:format="Dropdown" ma:internalName="Classification">
      <xsd:simpleType>
        <xsd:restriction base="dms:Choice">
          <xsd:enumeration value="Sensitive"/>
          <xsd:enumeration value="Confidential"/>
          <xsd:enumeration value="Internally Restricted"/>
          <xsd:enumeration value="Internal Use"/>
        </xsd:restriction>
      </xsd:simpleType>
    </xsd:element>
    <xsd:element name="Departments" ma:index="9" ma:displayName="Departments" ma:format="Dropdown" ma:internalName="Departments">
      <xsd:simpleType>
        <xsd:restriction base="dms:Choice">
          <xsd:enumeration value="Accounts"/>
          <xsd:enumeration value="Banking"/>
          <xsd:enumeration value="BizDynamics"/>
          <xsd:enumeration value="CCM"/>
          <xsd:enumeration value="Client Services"/>
          <xsd:enumeration value="Core Leverage"/>
          <xsd:enumeration value="Data Leverage"/>
          <xsd:enumeration value="Digital &amp; Cloud"/>
          <xsd:enumeration value="Facilities"/>
          <xsd:enumeration value="Finance"/>
          <xsd:enumeration value="Financial Services"/>
          <xsd:enumeration value="GRC Operations"/>
          <xsd:enumeration value="HR"/>
          <xsd:enumeration value="Insurance Health Care"/>
          <xsd:enumeration value="Insurance Life"/>
          <xsd:enumeration value="Insurance P&amp;C"/>
          <xsd:enumeration value="IT Operations"/>
          <xsd:enumeration value="Learning &amp; Development"/>
          <xsd:enumeration value="Management System"/>
          <xsd:enumeration value="Marketing"/>
          <xsd:enumeration value="Network Operations"/>
          <xsd:enumeration value="Operations"/>
          <xsd:enumeration value="Organization"/>
          <xsd:enumeration value="PMO"/>
          <xsd:enumeration value="Quality Leap"/>
          <xsd:enumeration value="Sales"/>
          <xsd:enumeration value="Security Operations"/>
          <xsd:enumeration value="WhiteCoats"/>
        </xsd:restriction>
      </xsd:simpleType>
    </xsd:element>
    <xsd:element name="SubCategory" ma:index="10" ma:displayName="SubCategory" ma:format="Dropdown" ma:internalName="SubCategory">
      <xsd:simpleType>
        <xsd:restriction base="dms:Choice">
          <xsd:enumeration value="Accelerator"/>
          <xsd:enumeration value="Analysis"/>
          <xsd:enumeration value="Architecture"/>
          <xsd:enumeration value="Best Practice"/>
          <xsd:enumeration value="Case Study"/>
          <xsd:enumeration value="Change Management"/>
          <xsd:enumeration value="Checklist"/>
          <xsd:enumeration value="Design Patterns"/>
          <xsd:enumeration value="Form"/>
          <xsd:enumeration value="Guideline"/>
          <xsd:enumeration value="Learning"/>
          <xsd:enumeration value="Market Research"/>
          <xsd:enumeration value="Methodology"/>
          <xsd:enumeration value="Policy"/>
          <xsd:enumeration value="Presales"/>
          <xsd:enumeration value="Presentation"/>
          <xsd:enumeration value="Procedure"/>
          <xsd:enumeration value="Process"/>
          <xsd:enumeration value="Program Management"/>
          <xsd:enumeration value="Project Closure"/>
          <xsd:enumeration value="Project Proposal"/>
          <xsd:enumeration value="Quality Management"/>
          <xsd:enumeration value="Report"/>
          <xsd:enumeration value="Risk Management"/>
          <xsd:enumeration value="SOW"/>
          <xsd:enumeration value="Standards"/>
          <xsd:enumeration value="Training"/>
          <xsd:enumeration value="Value Addition"/>
          <xsd:enumeration value="White Paper"/>
        </xsd:restriction>
      </xsd:simpleType>
    </xsd:element>
    <xsd:element name="Tags" ma:index="11" ma:displayName="Tags" ma:internalName="Tags">
      <xsd:simpleType>
        <xsd:restriction base="dms:Text">
          <xsd:maxLength value="255"/>
        </xsd:restriction>
      </xsd:simpleType>
    </xsd:element>
    <xsd:element name="Contributors" ma:index="12" ma:displayName="Contributors" ma:list="UserInfo" ma:SharePointGroup="0" ma:internalName="Contributors" ma:showField="Department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0447fd-b4de-47d5-99cd-696b41a805aa" elementFormDefault="qualified">
    <xsd:import namespace="http://schemas.microsoft.com/office/2006/documentManagement/types"/>
    <xsd:import namespace="http://schemas.microsoft.com/office/infopath/2007/PartnerControls"/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644d9b-790a-4fc8-9e5d-73cde5ed7352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partments xmlns="09339d3a-aaa0-497d-ae73-d8a5832d420d">Insurance P&amp;C</Departments>
    <Classification xmlns="09339d3a-aaa0-497d-ae73-d8a5832d420d">Internal Use</Classification>
    <Contributors xmlns="09339d3a-aaa0-497d-ae73-d8a5832d420d">
      <UserInfo>
        <DisplayName>Alok Bharati</DisplayName>
        <AccountId>26</AccountId>
        <AccountType/>
      </UserInfo>
    </Contributors>
    <SubCategory xmlns="09339d3a-aaa0-497d-ae73-d8a5832d420d">Best Practice</SubCategory>
    <Tags xmlns="09339d3a-aaa0-497d-ae73-d8a5832d420d">Inland Marine docs</Tags>
  </documentManagement>
</p:properties>
</file>

<file path=customXml/itemProps1.xml><?xml version="1.0" encoding="utf-8"?>
<ds:datastoreItem xmlns:ds="http://schemas.openxmlformats.org/officeDocument/2006/customXml" ds:itemID="{5E65A6E4-C840-4257-8811-10F0B0DA7722}"/>
</file>

<file path=customXml/itemProps2.xml><?xml version="1.0" encoding="utf-8"?>
<ds:datastoreItem xmlns:ds="http://schemas.openxmlformats.org/officeDocument/2006/customXml" ds:itemID="{E122ABDA-982A-4E10-9631-B72D0510BBF2}"/>
</file>

<file path=customXml/itemProps3.xml><?xml version="1.0" encoding="utf-8"?>
<ds:datastoreItem xmlns:ds="http://schemas.openxmlformats.org/officeDocument/2006/customXml" ds:itemID="{8A4B89C9-A09B-45EB-992B-DD081500565F}"/>
</file>

<file path=customXml/itemProps4.xml><?xml version="1.0" encoding="utf-8"?>
<ds:datastoreItem xmlns:ds="http://schemas.openxmlformats.org/officeDocument/2006/customXml" ds:itemID="{1D6DC6ED-09BF-4AF5-8CBB-D1CE3BBC50D3}"/>
</file>

<file path=docProps/app.xml><?xml version="1.0" encoding="utf-8"?>
<Properties xmlns="http://schemas.openxmlformats.org/officeDocument/2006/extended-properties" xmlns:vt="http://schemas.openxmlformats.org/officeDocument/2006/docPropsVTypes">
  <TotalTime>1238</TotalTime>
  <Words>838</Words>
  <Application>Microsoft Office PowerPoint</Application>
  <PresentationFormat>Custom</PresentationFormat>
  <Paragraphs>89</Paragraphs>
  <Slides>9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Office Theme</vt:lpstr>
      <vt:lpstr>Adobe Acrobat 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Alok Bharati</dc:creator>
  <cp:lastModifiedBy>Home</cp:lastModifiedBy>
  <cp:revision>250</cp:revision>
  <dcterms:created xsi:type="dcterms:W3CDTF">2017-04-19T10:35:35Z</dcterms:created>
  <dcterms:modified xsi:type="dcterms:W3CDTF">2017-12-27T07:25:20Z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0x010100A9C68CA7C7CB9747850736716ABD16DF00BE1DFF25D8869449A28818D1AF9444E1</vt:lpwstr>
  </property>
</Properties>
</file>
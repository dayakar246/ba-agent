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2"/>
  </p:notesMasterIdLst>
  <p:sldIdLst>
    <p:sldId id="257" r:id="rId6"/>
    <p:sldId id="258" r:id="rId7"/>
    <p:sldId id="269" r:id="rId8"/>
    <p:sldId id="268" r:id="rId9"/>
    <p:sldId id="259" r:id="rId10"/>
    <p:sldId id="260" r:id="rId11"/>
    <p:sldId id="277" r:id="rId12"/>
    <p:sldId id="270" r:id="rId13"/>
    <p:sldId id="261" r:id="rId14"/>
    <p:sldId id="271" r:id="rId15"/>
    <p:sldId id="262" r:id="rId16"/>
    <p:sldId id="265" r:id="rId17"/>
    <p:sldId id="276" r:id="rId18"/>
    <p:sldId id="274" r:id="rId19"/>
    <p:sldId id="275"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42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21A817-6F6F-3F4A-3264-345429FA0B8C}" v="35" dt="2021-08-23T18:41:54.1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48" autoAdjust="0"/>
    <p:restoredTop sz="94494" autoAdjust="0"/>
  </p:normalViewPr>
  <p:slideViewPr>
    <p:cSldViewPr snapToGrid="0">
      <p:cViewPr varScale="1">
        <p:scale>
          <a:sx n="75" d="100"/>
          <a:sy n="75" d="100"/>
        </p:scale>
        <p:origin x="1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ok Bharati" userId="S::alok.bharati@valuemomentum.com::2f6e0e27-ace8-4335-a59d-f4692af8e221" providerId="AD" clId="Web-{4121A817-6F6F-3F4A-3264-345429FA0B8C}"/>
    <pc:docChg chg="modSld">
      <pc:chgData name="Alok Bharati" userId="S::alok.bharati@valuemomentum.com::2f6e0e27-ace8-4335-a59d-f4692af8e221" providerId="AD" clId="Web-{4121A817-6F6F-3F4A-3264-345429FA0B8C}" dt="2021-08-23T18:41:53.923" v="17" actId="20577"/>
      <pc:docMkLst>
        <pc:docMk/>
      </pc:docMkLst>
      <pc:sldChg chg="modSp">
        <pc:chgData name="Alok Bharati" userId="S::alok.bharati@valuemomentum.com::2f6e0e27-ace8-4335-a59d-f4692af8e221" providerId="AD" clId="Web-{4121A817-6F6F-3F4A-3264-345429FA0B8C}" dt="2021-08-23T18:41:53.923" v="17" actId="20577"/>
        <pc:sldMkLst>
          <pc:docMk/>
          <pc:sldMk cId="2442490704" sldId="269"/>
        </pc:sldMkLst>
        <pc:spChg chg="mod">
          <ac:chgData name="Alok Bharati" userId="S::alok.bharati@valuemomentum.com::2f6e0e27-ace8-4335-a59d-f4692af8e221" providerId="AD" clId="Web-{4121A817-6F6F-3F4A-3264-345429FA0B8C}" dt="2021-08-23T18:41:53.923" v="17" actId="20577"/>
          <ac:spMkLst>
            <pc:docMk/>
            <pc:sldMk cId="2442490704" sldId="269"/>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17818-63F4-4EBD-8606-5EEEF4D656A8}" type="datetimeFigureOut">
              <a:rPr lang="en-US" smtClean="0"/>
              <a:t>8/23/2021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4B3697-83E5-431D-994C-C760DB63514C}" type="slidenum">
              <a:rPr lang="en-US" smtClean="0"/>
              <a:t>‹#›</a:t>
            </a:fld>
            <a:endParaRPr lang="en-US"/>
          </a:p>
        </p:txBody>
      </p:sp>
    </p:spTree>
    <p:extLst>
      <p:ext uri="{BB962C8B-B14F-4D97-AF65-F5344CB8AC3E}">
        <p14:creationId xmlns:p14="http://schemas.microsoft.com/office/powerpoint/2010/main" val="4010541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5C105E-BE8B-447D-8DDE-CFA84133A9B1}" type="slidenum">
              <a:rPr lang="en-US" smtClean="0"/>
              <a:t>1</a:t>
            </a:fld>
            <a:endParaRPr lang="en-US"/>
          </a:p>
        </p:txBody>
      </p:sp>
    </p:spTree>
    <p:extLst>
      <p:ext uri="{BB962C8B-B14F-4D97-AF65-F5344CB8AC3E}">
        <p14:creationId xmlns:p14="http://schemas.microsoft.com/office/powerpoint/2010/main" val="469450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Obligee; He is to be </a:t>
            </a:r>
            <a:r>
              <a:rPr lang="en-US" dirty="0" err="1"/>
              <a:t>obliged..The</a:t>
            </a:r>
            <a:r>
              <a:rPr lang="en-US" dirty="0"/>
              <a:t> benefits has to pass</a:t>
            </a:r>
            <a:r>
              <a:rPr lang="en-US" baseline="0" dirty="0"/>
              <a:t> on to him.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as Payee, Consignee, </a:t>
            </a:r>
            <a:r>
              <a:rPr lang="en-US" dirty="0" err="1"/>
              <a:t>Saler</a:t>
            </a:r>
            <a:r>
              <a:rPr lang="en-US" dirty="0"/>
              <a:t> – buyer concept, school being sold by the developer to the owner, so if there is some fault with the school, he will be liable for it. So the Developer has to take surety and provide assurance on the behalf on the school contractors/ services/ quality.</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Principal : Focus, subject Matter</a:t>
            </a:r>
          </a:p>
          <a:p>
            <a:endParaRPr lang="en-US" dirty="0"/>
          </a:p>
        </p:txBody>
      </p:sp>
      <p:sp>
        <p:nvSpPr>
          <p:cNvPr id="4" name="Slide Number Placeholder 3"/>
          <p:cNvSpPr>
            <a:spLocks noGrp="1"/>
          </p:cNvSpPr>
          <p:nvPr>
            <p:ph type="sldNum" sz="quarter" idx="10"/>
          </p:nvPr>
        </p:nvSpPr>
        <p:spPr/>
        <p:txBody>
          <a:bodyPr/>
          <a:lstStyle/>
          <a:p>
            <a:fld id="{854B3697-83E5-431D-994C-C760DB63514C}" type="slidenum">
              <a:rPr lang="en-US" smtClean="0"/>
              <a:t>5</a:t>
            </a:fld>
            <a:endParaRPr lang="en-US"/>
          </a:p>
        </p:txBody>
      </p:sp>
    </p:spTree>
    <p:extLst>
      <p:ext uri="{BB962C8B-B14F-4D97-AF65-F5344CB8AC3E}">
        <p14:creationId xmlns:p14="http://schemas.microsoft.com/office/powerpoint/2010/main" val="1766190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4B3697-83E5-431D-994C-C760DB63514C}" type="slidenum">
              <a:rPr lang="en-US" smtClean="0"/>
              <a:t>11</a:t>
            </a:fld>
            <a:endParaRPr lang="en-US"/>
          </a:p>
        </p:txBody>
      </p:sp>
    </p:spTree>
    <p:extLst>
      <p:ext uri="{BB962C8B-B14F-4D97-AF65-F5344CB8AC3E}">
        <p14:creationId xmlns:p14="http://schemas.microsoft.com/office/powerpoint/2010/main" val="2049683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11ACCA-7495-4E59-873E-C4E7A805957F}" type="datetimeFigureOut">
              <a:rPr lang="en-US" smtClean="0"/>
              <a:t>8/23/2021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280132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1ACCA-7495-4E59-873E-C4E7A805957F}" type="datetimeFigureOut">
              <a:rPr lang="en-US" smtClean="0"/>
              <a:t>8/23/2021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2684072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1ACCA-7495-4E59-873E-C4E7A805957F}" type="datetimeFigureOut">
              <a:rPr lang="en-US" smtClean="0"/>
              <a:t>8/23/2021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1794697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11ACCA-7495-4E59-873E-C4E7A805957F}" type="datetimeFigureOut">
              <a:rPr lang="en-US" smtClean="0"/>
              <a:t>8/23/2021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62765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11ACCA-7495-4E59-873E-C4E7A805957F}" type="datetimeFigureOut">
              <a:rPr lang="en-US" smtClean="0"/>
              <a:t>8/23/2021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266316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11ACCA-7495-4E59-873E-C4E7A805957F}" type="datetimeFigureOut">
              <a:rPr lang="en-US" smtClean="0"/>
              <a:t>8/23/2021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1290053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1ACCA-7495-4E59-873E-C4E7A805957F}" type="datetimeFigureOut">
              <a:rPr lang="en-US" smtClean="0"/>
              <a:t>8/23/2021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187840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1ACCA-7495-4E59-873E-C4E7A805957F}" type="datetimeFigureOut">
              <a:rPr lang="en-US" smtClean="0"/>
              <a:t>8/23/2021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4118997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1ACCA-7495-4E59-873E-C4E7A805957F}" type="datetimeFigureOut">
              <a:rPr lang="en-US" smtClean="0"/>
              <a:t>8/23/2021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1490888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1ACCA-7495-4E59-873E-C4E7A805957F}" type="datetimeFigureOut">
              <a:rPr lang="en-US" smtClean="0"/>
              <a:t>8/23/2021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1679525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1ACCA-7495-4E59-873E-C4E7A805957F}" type="datetimeFigureOut">
              <a:rPr lang="en-US" smtClean="0"/>
              <a:t>8/23/2021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AB48AB-3D33-4AE7-B8B0-AB2B681AFB2D}" type="slidenum">
              <a:rPr lang="en-US" smtClean="0"/>
              <a:t>‹#›</a:t>
            </a:fld>
            <a:endParaRPr lang="en-US"/>
          </a:p>
        </p:txBody>
      </p:sp>
    </p:spTree>
    <p:extLst>
      <p:ext uri="{BB962C8B-B14F-4D97-AF65-F5344CB8AC3E}">
        <p14:creationId xmlns:p14="http://schemas.microsoft.com/office/powerpoint/2010/main" val="2604789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196506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11ACCA-7495-4E59-873E-C4E7A805957F}" type="datetimeFigureOut">
              <a:rPr lang="en-US" smtClean="0"/>
              <a:t>8/23/2021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AB48AB-3D33-4AE7-B8B0-AB2B681AFB2D}" type="slidenum">
              <a:rPr lang="en-US" smtClean="0"/>
              <a:t>‹#›</a:t>
            </a:fld>
            <a:endParaRPr lang="en-US"/>
          </a:p>
        </p:txBody>
      </p:sp>
    </p:spTree>
    <p:extLst>
      <p:ext uri="{BB962C8B-B14F-4D97-AF65-F5344CB8AC3E}">
        <p14:creationId xmlns:p14="http://schemas.microsoft.com/office/powerpoint/2010/main" val="765768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hyperlink" Target="http://www.businessdictionary.com/definition/indemnitor.html" TargetMode="External"/><Relationship Id="rId3" Type="http://schemas.openxmlformats.org/officeDocument/2006/relationships/hyperlink" Target="https://play.google.com/store/apps/details?id=com.mobomoenterprise.sbsuretycostcalculator&amp;hl=en" TargetMode="External"/><Relationship Id="rId7" Type="http://schemas.openxmlformats.org/officeDocument/2006/relationships/hyperlink" Target="http://www.knowsuretybonds.com/bond_term_glossary.html" TargetMode="External"/><Relationship Id="rId2" Type="http://schemas.openxmlformats.org/officeDocument/2006/relationships/hyperlink" Target="https://www.google.co.in/url?sa=t&amp;rct=j&amp;q=&amp;esrc=s&amp;source=web&amp;cd=1&amp;cad=rja&amp;uact=8&amp;ved=0ahUKEwiCrMXsypPMAhVPC44KHYYXDKYQFggbMAA&amp;url=https://itunes.apple.com/us/app/construction-surety-bond-price/id976052832?mt%3D8&amp;usg=AFQjCNFiRKa88zXh36t7vGjTxJQTNkS3lQ&amp;sig2=eRwA6WyRdIz42BDZ641LPg&amp;bvm=bv.119745492,d.c2E" TargetMode="External"/><Relationship Id="rId1" Type="http://schemas.openxmlformats.org/officeDocument/2006/relationships/slideLayout" Target="../slideLayouts/slideLayout12.xml"/><Relationship Id="rId6" Type="http://schemas.openxmlformats.org/officeDocument/2006/relationships/hyperlink" Target="https://www.integritysurety.com/resources/our-glossary/" TargetMode="External"/><Relationship Id="rId5" Type="http://schemas.openxmlformats.org/officeDocument/2006/relationships/hyperlink" Target="https://www.google.co.in/url?sa=t&amp;rct=j&amp;q=&amp;esrc=s&amp;source=web&amp;cd=4&amp;cad=rja&amp;uact=8&amp;ved=0ahUKEwiCrMXsypPMAhVPC44KHYYXDKYQFggwMAM&amp;url=https://itunes.apple.com/us/app/argo-surety/id476558789?mt%3D8&amp;usg=AFQjCNFvWaLqu4amrspbJES_0p3qhPw-LA&amp;sig2=niauRUtWStZy0YhiLqEGPg&amp;bvm=bv.119745492,d.c2E" TargetMode="External"/><Relationship Id="rId4" Type="http://schemas.openxmlformats.org/officeDocument/2006/relationships/hyperlink" Target="https://www.google.co.in/url?sa=t&amp;rct=j&amp;q=&amp;esrc=s&amp;source=web&amp;cd=3&amp;cad=rja&amp;uact=8&amp;ved=0ahUKEwiCrMXsypPMAhVPC44KHYYXDKYQFggpMAI&amp;url=http://download.cnet.com/Construction-Surety-Bond-Price-Calculator/3000-2064_4-76346686.html&amp;usg=AFQjCNEFFane5ejbmjX1pPuVJkGRTHkozA&amp;sig2=EQnogUJmisDeEstGBIRnPA&amp;bvm=bv.119745492,d.c2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931775" y="-25400"/>
            <a:ext cx="1499746" cy="755970"/>
          </a:xfrm>
          <a:prstGeom prst="rect">
            <a:avLst/>
          </a:prstGeom>
        </p:spPr>
      </p:pic>
      <p:sp>
        <p:nvSpPr>
          <p:cNvPr id="5" name="TextBox 4"/>
          <p:cNvSpPr txBox="1"/>
          <p:nvPr/>
        </p:nvSpPr>
        <p:spPr>
          <a:xfrm>
            <a:off x="2879539" y="2678207"/>
            <a:ext cx="7052236" cy="1323439"/>
          </a:xfrm>
          <a:prstGeom prst="rect">
            <a:avLst/>
          </a:prstGeom>
          <a:noFill/>
        </p:spPr>
        <p:txBody>
          <a:bodyPr wrap="square" rtlCol="0">
            <a:spAutoFit/>
          </a:bodyPr>
          <a:lstStyle/>
          <a:p>
            <a:r>
              <a:rPr lang="en-US" sz="8000" dirty="0"/>
              <a:t>Surety Bonds</a:t>
            </a:r>
            <a:endParaRPr lang="en-US" sz="900" dirty="0"/>
          </a:p>
        </p:txBody>
      </p:sp>
    </p:spTree>
    <p:extLst>
      <p:ext uri="{BB962C8B-B14F-4D97-AF65-F5344CB8AC3E}">
        <p14:creationId xmlns:p14="http://schemas.microsoft.com/office/powerpoint/2010/main" val="1754206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18127" y="0"/>
            <a:ext cx="1499746" cy="755970"/>
          </a:xfrm>
          <a:prstGeom prst="rect">
            <a:avLst/>
          </a:prstGeom>
        </p:spPr>
      </p:pic>
      <p:sp>
        <p:nvSpPr>
          <p:cNvPr id="3" name="TextBox 2"/>
          <p:cNvSpPr txBox="1"/>
          <p:nvPr/>
        </p:nvSpPr>
        <p:spPr>
          <a:xfrm>
            <a:off x="2052918" y="1534219"/>
            <a:ext cx="7764181" cy="3139321"/>
          </a:xfrm>
          <a:prstGeom prst="rect">
            <a:avLst/>
          </a:prstGeom>
          <a:noFill/>
        </p:spPr>
        <p:txBody>
          <a:bodyPr wrap="square" rtlCol="0">
            <a:spAutoFit/>
          </a:bodyPr>
          <a:lstStyle/>
          <a:p>
            <a:pPr marL="285750" indent="-285750">
              <a:buFont typeface="Wingdings" panose="05000000000000000000" pitchFamily="2" charset="2"/>
              <a:buChar char="Ø"/>
            </a:pPr>
            <a:r>
              <a:rPr lang="en-US" b="1" dirty="0"/>
              <a:t>What is Surety? Cases</a:t>
            </a:r>
          </a:p>
          <a:p>
            <a:endParaRPr lang="en-US" b="1" dirty="0"/>
          </a:p>
          <a:p>
            <a:pPr marL="285750" indent="-285750">
              <a:buFont typeface="Wingdings" panose="05000000000000000000" pitchFamily="2" charset="2"/>
              <a:buChar char="Ø"/>
            </a:pPr>
            <a:r>
              <a:rPr lang="en-US" b="1" dirty="0"/>
              <a:t>Process: How does it work? </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Insurance Vs Surety</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Types of Surety </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Related Documents &amp; Forms in Surety</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A Look at </a:t>
            </a:r>
            <a:r>
              <a:rPr lang="en-US" b="1" dirty="0" err="1"/>
              <a:t>CapSpecialty</a:t>
            </a:r>
            <a:r>
              <a:rPr lang="en-US" b="1" dirty="0"/>
              <a:t> Surety &amp; Fidelity offering</a:t>
            </a:r>
          </a:p>
        </p:txBody>
      </p:sp>
      <p:sp>
        <p:nvSpPr>
          <p:cNvPr id="4" name="TextBox 3"/>
          <p:cNvSpPr txBox="1"/>
          <p:nvPr/>
        </p:nvSpPr>
        <p:spPr>
          <a:xfrm>
            <a:off x="520700" y="193319"/>
            <a:ext cx="4546600" cy="461665"/>
          </a:xfrm>
          <a:prstGeom prst="rect">
            <a:avLst/>
          </a:prstGeom>
          <a:noFill/>
        </p:spPr>
        <p:txBody>
          <a:bodyPr wrap="square" rtlCol="0">
            <a:spAutoFit/>
          </a:bodyPr>
          <a:lstStyle/>
          <a:p>
            <a:r>
              <a:rPr lang="en-US" sz="2400" dirty="0">
                <a:solidFill>
                  <a:schemeClr val="bg1"/>
                </a:solidFill>
              </a:rPr>
              <a:t>Agenda</a:t>
            </a:r>
          </a:p>
        </p:txBody>
      </p:sp>
    </p:spTree>
    <p:extLst>
      <p:ext uri="{BB962C8B-B14F-4D97-AF65-F5344CB8AC3E}">
        <p14:creationId xmlns:p14="http://schemas.microsoft.com/office/powerpoint/2010/main" val="265720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23241" y="1714060"/>
            <a:ext cx="6096000" cy="2585323"/>
          </a:xfrm>
          <a:prstGeom prst="rect">
            <a:avLst/>
          </a:prstGeom>
        </p:spPr>
        <p:txBody>
          <a:bodyPr lIns="91440" tIns="45720" rIns="91440" bIns="45720" anchor="t">
            <a:spAutoFit/>
          </a:bodyPr>
          <a:lstStyle/>
          <a:p>
            <a:r>
              <a:rPr lang="en-US" u="sng" dirty="0">
                <a:solidFill>
                  <a:srgbClr val="00B050"/>
                </a:solidFill>
                <a:effectLst/>
                <a:latin typeface="Calibri"/>
                <a:ea typeface="Calibri" panose="020F0502020204030204" pitchFamily="34" charset="0"/>
                <a:cs typeface="Calibri"/>
              </a:rPr>
              <a:t>1</a:t>
            </a:r>
            <a:endParaRPr lang="en-US" sz="2000" dirty="0">
              <a:solidFill>
                <a:srgbClr val="00B050"/>
              </a:solidFill>
              <a:effectLst/>
              <a:latin typeface="Calibri"/>
              <a:ea typeface="Calibri" panose="020F0502020204030204" pitchFamily="34" charset="0"/>
              <a:cs typeface="Calibri"/>
            </a:endParaRPr>
          </a:p>
          <a:p>
            <a:pPr marL="285750" indent="-285750">
              <a:buFont typeface="Wingdings" panose="05000000000000000000" pitchFamily="2" charset="2"/>
              <a:buChar char="§"/>
            </a:pPr>
            <a:r>
              <a:rPr lang="en-US" dirty="0">
                <a:solidFill>
                  <a:srgbClr val="1F497D"/>
                </a:solidFill>
                <a:effectLst/>
                <a:latin typeface="Calibri" panose="020F0502020204030204" pitchFamily="34" charset="0"/>
                <a:ea typeface="Calibri" panose="020F0502020204030204" pitchFamily="34" charset="0"/>
              </a:rPr>
              <a:t>What is Surety?</a:t>
            </a:r>
            <a:endParaRPr lang="en-US" sz="2000" dirty="0">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
            </a:pPr>
            <a:r>
              <a:rPr lang="en-US" dirty="0">
                <a:solidFill>
                  <a:srgbClr val="1F497D"/>
                </a:solidFill>
                <a:effectLst/>
                <a:latin typeface="Calibri" panose="020F0502020204030204" pitchFamily="34" charset="0"/>
                <a:ea typeface="Calibri" panose="020F0502020204030204" pitchFamily="34" charset="0"/>
              </a:rPr>
              <a:t>Surety Process: How does it work? </a:t>
            </a:r>
            <a:endParaRPr lang="en-US" sz="2000" dirty="0">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
            </a:pPr>
            <a:r>
              <a:rPr lang="en-US" dirty="0">
                <a:solidFill>
                  <a:srgbClr val="1F497D"/>
                </a:solidFill>
                <a:effectLst/>
                <a:latin typeface="Calibri" panose="020F0502020204030204" pitchFamily="34" charset="0"/>
                <a:ea typeface="Calibri" panose="020F0502020204030204" pitchFamily="34" charset="0"/>
              </a:rPr>
              <a:t>Types of Surety </a:t>
            </a:r>
            <a:endParaRPr lang="en-US" sz="2000" dirty="0">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
            </a:pPr>
            <a:r>
              <a:rPr lang="en-US" dirty="0">
                <a:solidFill>
                  <a:srgbClr val="1F497D"/>
                </a:solidFill>
                <a:effectLst/>
                <a:latin typeface="Calibri" panose="020F0502020204030204" pitchFamily="34" charset="0"/>
                <a:ea typeface="Calibri" panose="020F0502020204030204" pitchFamily="34" charset="0"/>
              </a:rPr>
              <a:t>Insurance Vs Surety</a:t>
            </a:r>
          </a:p>
          <a:p>
            <a:pPr marL="285750" indent="-285750">
              <a:buFont typeface="Wingdings" panose="05000000000000000000" pitchFamily="2" charset="2"/>
              <a:buChar char="§"/>
            </a:pPr>
            <a:r>
              <a:rPr lang="en-US" dirty="0">
                <a:solidFill>
                  <a:srgbClr val="1F497D"/>
                </a:solidFill>
                <a:latin typeface="Calibri" panose="020F0502020204030204" pitchFamily="34" charset="0"/>
                <a:ea typeface="Calibri" panose="020F0502020204030204" pitchFamily="34" charset="0"/>
              </a:rPr>
              <a:t>Surety Glossary</a:t>
            </a:r>
          </a:p>
          <a:p>
            <a:r>
              <a:rPr lang="en-US" u="sng" dirty="0">
                <a:solidFill>
                  <a:srgbClr val="00B050"/>
                </a:solidFill>
                <a:effectLst/>
                <a:latin typeface="Calibri"/>
                <a:ea typeface="Calibri" panose="020F0502020204030204" pitchFamily="34" charset="0"/>
                <a:cs typeface="Calibri"/>
              </a:rPr>
              <a:t>2</a:t>
            </a:r>
            <a:endParaRPr lang="en-US" sz="2000" dirty="0">
              <a:solidFill>
                <a:srgbClr val="00B050"/>
              </a:solidFill>
              <a:effectLst/>
              <a:latin typeface="Times New Roman"/>
              <a:ea typeface="Calibri" panose="020F0502020204030204" pitchFamily="34" charset="0"/>
              <a:cs typeface="Times New Roman"/>
            </a:endParaRPr>
          </a:p>
          <a:p>
            <a:pPr marL="285750" indent="-285750">
              <a:buFont typeface="Wingdings" panose="05000000000000000000" pitchFamily="2" charset="2"/>
              <a:buChar char="§"/>
            </a:pPr>
            <a:r>
              <a:rPr lang="en-US" dirty="0">
                <a:solidFill>
                  <a:srgbClr val="1F497D"/>
                </a:solidFill>
                <a:effectLst/>
                <a:latin typeface="Calibri" panose="020F0502020204030204" pitchFamily="34" charset="0"/>
                <a:ea typeface="Calibri" panose="020F0502020204030204" pitchFamily="34" charset="0"/>
              </a:rPr>
              <a:t>Related Documents &amp; Forms in Surety</a:t>
            </a:r>
            <a:endParaRPr lang="en-US" sz="2000" dirty="0">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
            </a:pPr>
            <a:r>
              <a:rPr lang="en-US" dirty="0">
                <a:solidFill>
                  <a:srgbClr val="1F497D"/>
                </a:solidFill>
                <a:latin typeface="Calibri"/>
                <a:ea typeface="Calibri" panose="020F0502020204030204" pitchFamily="34" charset="0"/>
                <a:cs typeface="Calibri"/>
              </a:rPr>
              <a:t>Surety</a:t>
            </a:r>
            <a:r>
              <a:rPr lang="en-US" dirty="0">
                <a:solidFill>
                  <a:srgbClr val="1F497D"/>
                </a:solidFill>
                <a:effectLst/>
                <a:latin typeface="Calibri"/>
                <a:ea typeface="Calibri" panose="020F0502020204030204" pitchFamily="34" charset="0"/>
                <a:cs typeface="Calibri"/>
              </a:rPr>
              <a:t> &amp; Fidelity offering</a:t>
            </a:r>
            <a:endParaRPr lang="en-US" sz="2000" dirty="0">
              <a:effectLst/>
              <a:latin typeface="Calibri"/>
              <a:ea typeface="Calibri" panose="020F0502020204030204" pitchFamily="34" charset="0"/>
              <a:cs typeface="Calibri"/>
            </a:endParaRPr>
          </a:p>
        </p:txBody>
      </p:sp>
      <p:sp>
        <p:nvSpPr>
          <p:cNvPr id="3" name="TextBox 2"/>
          <p:cNvSpPr txBox="1"/>
          <p:nvPr/>
        </p:nvSpPr>
        <p:spPr>
          <a:xfrm>
            <a:off x="772511" y="141889"/>
            <a:ext cx="4855779" cy="461665"/>
          </a:xfrm>
          <a:prstGeom prst="rect">
            <a:avLst/>
          </a:prstGeom>
          <a:noFill/>
        </p:spPr>
        <p:txBody>
          <a:bodyPr wrap="square" rtlCol="0">
            <a:spAutoFit/>
          </a:bodyPr>
          <a:lstStyle/>
          <a:p>
            <a:r>
              <a:rPr lang="en-US" sz="2400" dirty="0">
                <a:solidFill>
                  <a:schemeClr val="bg1"/>
                </a:solidFill>
              </a:rPr>
              <a:t>Course Outline</a:t>
            </a:r>
          </a:p>
        </p:txBody>
      </p:sp>
    </p:spTree>
    <p:extLst>
      <p:ext uri="{BB962C8B-B14F-4D97-AF65-F5344CB8AC3E}">
        <p14:creationId xmlns:p14="http://schemas.microsoft.com/office/powerpoint/2010/main" val="244249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182414" y="1292772"/>
            <a:ext cx="3436883" cy="2175642"/>
          </a:xfrm>
          <a:prstGeom prst="ellips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Maid/ Driver Providing Agency</a:t>
            </a:r>
          </a:p>
        </p:txBody>
      </p:sp>
      <p:sp>
        <p:nvSpPr>
          <p:cNvPr id="3" name="Oval 2"/>
          <p:cNvSpPr/>
          <p:nvPr/>
        </p:nvSpPr>
        <p:spPr>
          <a:xfrm>
            <a:off x="6542690" y="1355834"/>
            <a:ext cx="3862551" cy="2033752"/>
          </a:xfrm>
          <a:prstGeom prst="ellips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Maids/ Driver</a:t>
            </a:r>
          </a:p>
        </p:txBody>
      </p:sp>
      <p:sp>
        <p:nvSpPr>
          <p:cNvPr id="4" name="Oval 3"/>
          <p:cNvSpPr/>
          <p:nvPr/>
        </p:nvSpPr>
        <p:spPr>
          <a:xfrm>
            <a:off x="3894083" y="4367048"/>
            <a:ext cx="3704896" cy="1891862"/>
          </a:xfrm>
          <a:prstGeom prst="ellips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Owner</a:t>
            </a:r>
          </a:p>
        </p:txBody>
      </p:sp>
      <p:sp>
        <p:nvSpPr>
          <p:cNvPr id="5" name="TextBox 4"/>
          <p:cNvSpPr txBox="1"/>
          <p:nvPr/>
        </p:nvSpPr>
        <p:spPr>
          <a:xfrm>
            <a:off x="377001" y="2003378"/>
            <a:ext cx="945551" cy="369332"/>
          </a:xfrm>
          <a:prstGeom prst="rect">
            <a:avLst/>
          </a:prstGeom>
          <a:noFill/>
        </p:spPr>
        <p:txBody>
          <a:bodyPr wrap="square" rtlCol="0">
            <a:spAutoFit/>
          </a:bodyPr>
          <a:lstStyle/>
          <a:p>
            <a:r>
              <a:rPr lang="en-US" b="1" dirty="0"/>
              <a:t>Surety</a:t>
            </a:r>
          </a:p>
        </p:txBody>
      </p:sp>
      <p:sp>
        <p:nvSpPr>
          <p:cNvPr id="6" name="TextBox 5"/>
          <p:cNvSpPr txBox="1"/>
          <p:nvPr/>
        </p:nvSpPr>
        <p:spPr>
          <a:xfrm>
            <a:off x="10405241" y="2003378"/>
            <a:ext cx="1727200" cy="369332"/>
          </a:xfrm>
          <a:prstGeom prst="rect">
            <a:avLst/>
          </a:prstGeom>
          <a:noFill/>
        </p:spPr>
        <p:txBody>
          <a:bodyPr wrap="square" rtlCol="0">
            <a:spAutoFit/>
          </a:bodyPr>
          <a:lstStyle/>
          <a:p>
            <a:r>
              <a:rPr lang="en-US" b="1" dirty="0"/>
              <a:t>Principal </a:t>
            </a:r>
          </a:p>
        </p:txBody>
      </p:sp>
      <p:sp>
        <p:nvSpPr>
          <p:cNvPr id="7" name="TextBox 6"/>
          <p:cNvSpPr txBox="1"/>
          <p:nvPr/>
        </p:nvSpPr>
        <p:spPr>
          <a:xfrm>
            <a:off x="7598979" y="5128313"/>
            <a:ext cx="1212631" cy="369332"/>
          </a:xfrm>
          <a:prstGeom prst="rect">
            <a:avLst/>
          </a:prstGeom>
          <a:noFill/>
        </p:spPr>
        <p:txBody>
          <a:bodyPr wrap="square" rtlCol="0">
            <a:spAutoFit/>
          </a:bodyPr>
          <a:lstStyle/>
          <a:p>
            <a:r>
              <a:rPr lang="en-US" b="1" dirty="0"/>
              <a:t>Obligee </a:t>
            </a:r>
          </a:p>
        </p:txBody>
      </p:sp>
      <p:cxnSp>
        <p:nvCxnSpPr>
          <p:cNvPr id="8" name="Curved Connector 7"/>
          <p:cNvCxnSpPr/>
          <p:nvPr/>
        </p:nvCxnSpPr>
        <p:spPr>
          <a:xfrm rot="16200000" flipH="1">
            <a:off x="2409495" y="3752770"/>
            <a:ext cx="1584435" cy="1229713"/>
          </a:xfrm>
          <a:prstGeom prst="curvedConnector3">
            <a:avLst>
              <a:gd name="adj1" fmla="val 91791"/>
            </a:avLst>
          </a:prstGeom>
          <a:ln w="28575">
            <a:tailEnd type="triangle"/>
          </a:ln>
        </p:spPr>
        <p:style>
          <a:lnRef idx="3">
            <a:schemeClr val="accent2"/>
          </a:lnRef>
          <a:fillRef idx="0">
            <a:schemeClr val="accent2"/>
          </a:fillRef>
          <a:effectRef idx="2">
            <a:schemeClr val="accent2"/>
          </a:effectRef>
          <a:fontRef idx="minor">
            <a:schemeClr val="tx1"/>
          </a:fontRef>
        </p:style>
      </p:cxnSp>
      <p:sp>
        <p:nvSpPr>
          <p:cNvPr id="13" name="TextBox 12"/>
          <p:cNvSpPr txBox="1"/>
          <p:nvPr/>
        </p:nvSpPr>
        <p:spPr>
          <a:xfrm>
            <a:off x="849776" y="4434630"/>
            <a:ext cx="1973243" cy="1477328"/>
          </a:xfrm>
          <a:prstGeom prst="rect">
            <a:avLst/>
          </a:prstGeom>
          <a:noFill/>
        </p:spPr>
        <p:txBody>
          <a:bodyPr wrap="square" rtlCol="0">
            <a:spAutoFit/>
          </a:bodyPr>
          <a:lstStyle/>
          <a:p>
            <a:r>
              <a:rPr lang="en-US" dirty="0"/>
              <a:t>Agency Assures the Owner of the obligations to be fulfilled by Principal</a:t>
            </a:r>
          </a:p>
        </p:txBody>
      </p:sp>
      <p:sp>
        <p:nvSpPr>
          <p:cNvPr id="14" name="TextBox 13"/>
          <p:cNvSpPr txBox="1"/>
          <p:nvPr/>
        </p:nvSpPr>
        <p:spPr>
          <a:xfrm>
            <a:off x="849776" y="197068"/>
            <a:ext cx="4950372" cy="461665"/>
          </a:xfrm>
          <a:prstGeom prst="rect">
            <a:avLst/>
          </a:prstGeom>
          <a:noFill/>
        </p:spPr>
        <p:txBody>
          <a:bodyPr wrap="square" rtlCol="0">
            <a:spAutoFit/>
          </a:bodyPr>
          <a:lstStyle/>
          <a:p>
            <a:r>
              <a:rPr lang="en-US" sz="2400" dirty="0">
                <a:solidFill>
                  <a:schemeClr val="bg1"/>
                </a:solidFill>
              </a:rPr>
              <a:t>Understanding Surety: Case 1 </a:t>
            </a:r>
          </a:p>
        </p:txBody>
      </p:sp>
      <p:cxnSp>
        <p:nvCxnSpPr>
          <p:cNvPr id="16" name="Straight Arrow Connector 15"/>
          <p:cNvCxnSpPr>
            <a:stCxn id="2" idx="6"/>
          </p:cNvCxnSpPr>
          <p:nvPr/>
        </p:nvCxnSpPr>
        <p:spPr>
          <a:xfrm flipV="1">
            <a:off x="4619297" y="2372710"/>
            <a:ext cx="1923393" cy="7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3" idx="4"/>
          </p:cNvCxnSpPr>
          <p:nvPr/>
        </p:nvCxnSpPr>
        <p:spPr>
          <a:xfrm flipH="1">
            <a:off x="7126941" y="3389586"/>
            <a:ext cx="1347025" cy="1195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774718" y="3932452"/>
            <a:ext cx="2538712" cy="923330"/>
          </a:xfrm>
          <a:prstGeom prst="rect">
            <a:avLst/>
          </a:prstGeom>
          <a:noFill/>
        </p:spPr>
        <p:txBody>
          <a:bodyPr wrap="square" rtlCol="0">
            <a:spAutoFit/>
          </a:bodyPr>
          <a:lstStyle/>
          <a:p>
            <a:r>
              <a:rPr lang="en-US" dirty="0"/>
              <a:t>Obliges the Owner by performing the obligations.</a:t>
            </a:r>
          </a:p>
        </p:txBody>
      </p:sp>
      <p:sp>
        <p:nvSpPr>
          <p:cNvPr id="20" name="TextBox 19"/>
          <p:cNvSpPr txBox="1"/>
          <p:nvPr/>
        </p:nvSpPr>
        <p:spPr>
          <a:xfrm>
            <a:off x="4911422" y="1449380"/>
            <a:ext cx="1923393" cy="923330"/>
          </a:xfrm>
          <a:prstGeom prst="rect">
            <a:avLst/>
          </a:prstGeom>
          <a:noFill/>
        </p:spPr>
        <p:txBody>
          <a:bodyPr wrap="square" rtlCol="0">
            <a:spAutoFit/>
          </a:bodyPr>
          <a:lstStyle/>
          <a:p>
            <a:r>
              <a:rPr lang="en-US" dirty="0"/>
              <a:t>Surety gives the performance directions</a:t>
            </a:r>
          </a:p>
        </p:txBody>
      </p:sp>
    </p:spTree>
    <p:extLst>
      <p:ext uri="{BB962C8B-B14F-4D97-AF65-F5344CB8AC3E}">
        <p14:creationId xmlns:p14="http://schemas.microsoft.com/office/powerpoint/2010/main" val="1885010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1574800" y="2171700"/>
            <a:ext cx="2870200" cy="1955800"/>
          </a:xfrm>
          <a:prstGeom prst="ellips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Developer ABC</a:t>
            </a:r>
          </a:p>
        </p:txBody>
      </p:sp>
      <p:sp>
        <p:nvSpPr>
          <p:cNvPr id="4" name="Oval 3"/>
          <p:cNvSpPr/>
          <p:nvPr/>
        </p:nvSpPr>
        <p:spPr>
          <a:xfrm>
            <a:off x="6806014" y="1976652"/>
            <a:ext cx="2870200" cy="1955800"/>
          </a:xfrm>
          <a:prstGeom prst="ellips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School Building</a:t>
            </a:r>
          </a:p>
        </p:txBody>
      </p:sp>
      <p:sp>
        <p:nvSpPr>
          <p:cNvPr id="5" name="Oval 4"/>
          <p:cNvSpPr/>
          <p:nvPr/>
        </p:nvSpPr>
        <p:spPr>
          <a:xfrm>
            <a:off x="4787900" y="4433332"/>
            <a:ext cx="2870200" cy="1955800"/>
          </a:xfrm>
          <a:prstGeom prst="ellips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School Owner </a:t>
            </a:r>
          </a:p>
        </p:txBody>
      </p:sp>
      <p:sp>
        <p:nvSpPr>
          <p:cNvPr id="6" name="TextBox 5"/>
          <p:cNvSpPr txBox="1"/>
          <p:nvPr/>
        </p:nvSpPr>
        <p:spPr>
          <a:xfrm>
            <a:off x="1549400" y="1111934"/>
            <a:ext cx="9321800" cy="677108"/>
          </a:xfrm>
          <a:prstGeom prst="rect">
            <a:avLst/>
          </a:prstGeom>
          <a:noFill/>
        </p:spPr>
        <p:txBody>
          <a:bodyPr wrap="square" rtlCol="0">
            <a:spAutoFit/>
          </a:bodyPr>
          <a:lstStyle/>
          <a:p>
            <a:r>
              <a:rPr lang="en-US" dirty="0"/>
              <a:t>A construction </a:t>
            </a:r>
            <a:r>
              <a:rPr lang="en-US" sz="2000" dirty="0"/>
              <a:t>Company</a:t>
            </a:r>
            <a:r>
              <a:rPr lang="en-US" dirty="0"/>
              <a:t> i.e. </a:t>
            </a:r>
            <a:r>
              <a:rPr lang="en-US" b="1" dirty="0"/>
              <a:t>‘The Developer ABC’  </a:t>
            </a:r>
            <a:r>
              <a:rPr lang="en-US" dirty="0"/>
              <a:t>agrees to build a </a:t>
            </a:r>
            <a:r>
              <a:rPr lang="en-US" b="1" dirty="0"/>
              <a:t>‘School Building’ </a:t>
            </a:r>
            <a:r>
              <a:rPr lang="en-US" dirty="0"/>
              <a:t>for a ‘</a:t>
            </a:r>
            <a:r>
              <a:rPr lang="en-US" b="1" dirty="0"/>
              <a:t>School Board/ Owner’</a:t>
            </a:r>
            <a:endParaRPr lang="en-US" dirty="0"/>
          </a:p>
        </p:txBody>
      </p:sp>
      <p:cxnSp>
        <p:nvCxnSpPr>
          <p:cNvPr id="12" name="Curved Connector 11"/>
          <p:cNvCxnSpPr/>
          <p:nvPr/>
        </p:nvCxnSpPr>
        <p:spPr>
          <a:xfrm>
            <a:off x="3009900" y="4356100"/>
            <a:ext cx="1778000" cy="1371600"/>
          </a:xfrm>
          <a:prstGeom prst="curvedConnector3">
            <a:avLst>
              <a:gd name="adj1" fmla="val 14286"/>
            </a:avLst>
          </a:prstGeom>
          <a:ln w="28575">
            <a:tailEnd type="triangle"/>
          </a:ln>
        </p:spPr>
        <p:style>
          <a:lnRef idx="3">
            <a:schemeClr val="accent2"/>
          </a:lnRef>
          <a:fillRef idx="0">
            <a:schemeClr val="accent2"/>
          </a:fillRef>
          <a:effectRef idx="2">
            <a:schemeClr val="accent2"/>
          </a:effectRef>
          <a:fontRef idx="minor">
            <a:schemeClr val="tx1"/>
          </a:fontRef>
        </p:style>
      </p:cxnSp>
      <p:sp>
        <p:nvSpPr>
          <p:cNvPr id="15" name="TextBox 14"/>
          <p:cNvSpPr txBox="1"/>
          <p:nvPr/>
        </p:nvSpPr>
        <p:spPr>
          <a:xfrm>
            <a:off x="629249" y="2672665"/>
            <a:ext cx="945551" cy="369332"/>
          </a:xfrm>
          <a:prstGeom prst="rect">
            <a:avLst/>
          </a:prstGeom>
          <a:noFill/>
        </p:spPr>
        <p:txBody>
          <a:bodyPr wrap="square" rtlCol="0">
            <a:spAutoFit/>
          </a:bodyPr>
          <a:lstStyle/>
          <a:p>
            <a:r>
              <a:rPr lang="en-US" b="1" dirty="0"/>
              <a:t>Surety</a:t>
            </a:r>
          </a:p>
        </p:txBody>
      </p:sp>
      <p:sp>
        <p:nvSpPr>
          <p:cNvPr id="16" name="TextBox 15"/>
          <p:cNvSpPr txBox="1"/>
          <p:nvPr/>
        </p:nvSpPr>
        <p:spPr>
          <a:xfrm>
            <a:off x="9880600" y="2641600"/>
            <a:ext cx="1727200" cy="369332"/>
          </a:xfrm>
          <a:prstGeom prst="rect">
            <a:avLst/>
          </a:prstGeom>
          <a:noFill/>
        </p:spPr>
        <p:txBody>
          <a:bodyPr wrap="square" rtlCol="0">
            <a:spAutoFit/>
          </a:bodyPr>
          <a:lstStyle/>
          <a:p>
            <a:r>
              <a:rPr lang="en-US" b="1" dirty="0"/>
              <a:t>Principal </a:t>
            </a:r>
          </a:p>
        </p:txBody>
      </p:sp>
      <p:sp>
        <p:nvSpPr>
          <p:cNvPr id="17" name="TextBox 16"/>
          <p:cNvSpPr txBox="1"/>
          <p:nvPr/>
        </p:nvSpPr>
        <p:spPr>
          <a:xfrm>
            <a:off x="7839184" y="5226566"/>
            <a:ext cx="1212631" cy="369332"/>
          </a:xfrm>
          <a:prstGeom prst="rect">
            <a:avLst/>
          </a:prstGeom>
          <a:noFill/>
        </p:spPr>
        <p:txBody>
          <a:bodyPr wrap="square" rtlCol="0">
            <a:spAutoFit/>
          </a:bodyPr>
          <a:lstStyle/>
          <a:p>
            <a:r>
              <a:rPr lang="en-US" b="1" dirty="0"/>
              <a:t>Obligee </a:t>
            </a:r>
          </a:p>
        </p:txBody>
      </p:sp>
      <p:sp>
        <p:nvSpPr>
          <p:cNvPr id="19" name="TextBox 18"/>
          <p:cNvSpPr txBox="1"/>
          <p:nvPr/>
        </p:nvSpPr>
        <p:spPr>
          <a:xfrm>
            <a:off x="627687" y="157058"/>
            <a:ext cx="4950372" cy="461665"/>
          </a:xfrm>
          <a:prstGeom prst="rect">
            <a:avLst/>
          </a:prstGeom>
          <a:noFill/>
        </p:spPr>
        <p:txBody>
          <a:bodyPr wrap="square" rtlCol="0">
            <a:spAutoFit/>
          </a:bodyPr>
          <a:lstStyle/>
          <a:p>
            <a:r>
              <a:rPr lang="en-US" sz="2400" dirty="0">
                <a:solidFill>
                  <a:schemeClr val="bg1"/>
                </a:solidFill>
              </a:rPr>
              <a:t>Understanding Surety : Case 2</a:t>
            </a:r>
          </a:p>
        </p:txBody>
      </p:sp>
      <p:cxnSp>
        <p:nvCxnSpPr>
          <p:cNvPr id="20" name="Straight Arrow Connector 19"/>
          <p:cNvCxnSpPr/>
          <p:nvPr/>
        </p:nvCxnSpPr>
        <p:spPr>
          <a:xfrm>
            <a:off x="4545106" y="3041997"/>
            <a:ext cx="2164976" cy="30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800453" y="3882848"/>
            <a:ext cx="2538712" cy="923330"/>
          </a:xfrm>
          <a:prstGeom prst="rect">
            <a:avLst/>
          </a:prstGeom>
          <a:noFill/>
        </p:spPr>
        <p:txBody>
          <a:bodyPr wrap="square" rtlCol="0">
            <a:spAutoFit/>
          </a:bodyPr>
          <a:lstStyle/>
          <a:p>
            <a:r>
              <a:rPr lang="en-US" dirty="0"/>
              <a:t>Obliges the Owner by performing the obligations.</a:t>
            </a:r>
          </a:p>
        </p:txBody>
      </p:sp>
      <p:cxnSp>
        <p:nvCxnSpPr>
          <p:cNvPr id="22" name="Straight Arrow Connector 21"/>
          <p:cNvCxnSpPr/>
          <p:nvPr/>
        </p:nvCxnSpPr>
        <p:spPr>
          <a:xfrm flipH="1">
            <a:off x="7126941" y="3389586"/>
            <a:ext cx="1347025" cy="1195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780428" y="2080051"/>
            <a:ext cx="1923393" cy="923330"/>
          </a:xfrm>
          <a:prstGeom prst="rect">
            <a:avLst/>
          </a:prstGeom>
          <a:noFill/>
        </p:spPr>
        <p:txBody>
          <a:bodyPr wrap="square" rtlCol="0">
            <a:spAutoFit/>
          </a:bodyPr>
          <a:lstStyle/>
          <a:p>
            <a:r>
              <a:rPr lang="en-US" dirty="0"/>
              <a:t>Surety gives the performance directions</a:t>
            </a:r>
          </a:p>
        </p:txBody>
      </p:sp>
      <p:sp>
        <p:nvSpPr>
          <p:cNvPr id="26" name="TextBox 25"/>
          <p:cNvSpPr txBox="1"/>
          <p:nvPr/>
        </p:nvSpPr>
        <p:spPr>
          <a:xfrm>
            <a:off x="849776" y="4434630"/>
            <a:ext cx="1973243" cy="1477328"/>
          </a:xfrm>
          <a:prstGeom prst="rect">
            <a:avLst/>
          </a:prstGeom>
          <a:noFill/>
        </p:spPr>
        <p:txBody>
          <a:bodyPr wrap="square" rtlCol="0">
            <a:spAutoFit/>
          </a:bodyPr>
          <a:lstStyle/>
          <a:p>
            <a:r>
              <a:rPr lang="en-US" dirty="0"/>
              <a:t>Developer Assures the Owner of the obligations to be fulfilled by Principal</a:t>
            </a:r>
          </a:p>
        </p:txBody>
      </p:sp>
    </p:spTree>
    <p:extLst>
      <p:ext uri="{BB962C8B-B14F-4D97-AF65-F5344CB8AC3E}">
        <p14:creationId xmlns:p14="http://schemas.microsoft.com/office/powerpoint/2010/main" val="3683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5214" y="1497724"/>
            <a:ext cx="10704786" cy="4339650"/>
          </a:xfrm>
          <a:prstGeom prst="rect">
            <a:avLst/>
          </a:prstGeom>
          <a:noFill/>
        </p:spPr>
        <p:txBody>
          <a:bodyPr wrap="square" rtlCol="0">
            <a:spAutoFit/>
          </a:bodyPr>
          <a:lstStyle/>
          <a:p>
            <a:pPr marL="285750" indent="-285750">
              <a:buFont typeface="Wingdings" panose="05000000000000000000" pitchFamily="2" charset="2"/>
              <a:buChar char="Ø"/>
            </a:pPr>
            <a:r>
              <a:rPr lang="en-US" dirty="0"/>
              <a:t>There is a legal bonding ( Surety Bonds) which gives an assurance that if the something goes wrong the ultimate responsible person will be liable to compensate.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 </a:t>
            </a:r>
            <a:r>
              <a:rPr lang="en-US" dirty="0">
                <a:solidFill>
                  <a:srgbClr val="00B050"/>
                </a:solidFill>
              </a:rPr>
              <a:t>The obligee </a:t>
            </a:r>
            <a:r>
              <a:rPr lang="en-US" dirty="0"/>
              <a:t>- the party who is the</a:t>
            </a:r>
            <a:r>
              <a:rPr lang="en-US" dirty="0">
                <a:solidFill>
                  <a:srgbClr val="00B050"/>
                </a:solidFill>
              </a:rPr>
              <a:t> recipient </a:t>
            </a:r>
            <a:r>
              <a:rPr lang="en-US" dirty="0"/>
              <a:t>of an obligation.</a:t>
            </a:r>
          </a:p>
          <a:p>
            <a:pPr marL="285750" indent="-285750">
              <a:buFont typeface="Wingdings" panose="05000000000000000000" pitchFamily="2" charset="2"/>
              <a:buChar char="Ø"/>
            </a:pPr>
            <a:r>
              <a:rPr lang="en-US" dirty="0"/>
              <a:t> </a:t>
            </a:r>
            <a:r>
              <a:rPr lang="en-US" dirty="0">
                <a:solidFill>
                  <a:srgbClr val="00B050"/>
                </a:solidFill>
              </a:rPr>
              <a:t>The principal </a:t>
            </a:r>
            <a:r>
              <a:rPr lang="en-US" dirty="0"/>
              <a:t>- the primary party who will contractually </a:t>
            </a:r>
            <a:r>
              <a:rPr lang="en-US" dirty="0">
                <a:solidFill>
                  <a:srgbClr val="00B050"/>
                </a:solidFill>
              </a:rPr>
              <a:t>perform the obligation.</a:t>
            </a:r>
          </a:p>
          <a:p>
            <a:pPr marL="285750" indent="-285750">
              <a:buFont typeface="Wingdings" panose="05000000000000000000" pitchFamily="2" charset="2"/>
              <a:buChar char="Ø"/>
            </a:pPr>
            <a:r>
              <a:rPr lang="en-US" dirty="0"/>
              <a:t> </a:t>
            </a:r>
            <a:r>
              <a:rPr lang="en-US" dirty="0">
                <a:solidFill>
                  <a:srgbClr val="00B050"/>
                </a:solidFill>
              </a:rPr>
              <a:t>The surety </a:t>
            </a:r>
            <a:r>
              <a:rPr lang="en-US" dirty="0"/>
              <a:t>- who </a:t>
            </a:r>
            <a:r>
              <a:rPr lang="en-US" dirty="0">
                <a:solidFill>
                  <a:srgbClr val="00B050"/>
                </a:solidFill>
              </a:rPr>
              <a:t>assures the obligee </a:t>
            </a:r>
            <a:r>
              <a:rPr lang="en-US" dirty="0"/>
              <a:t>that the principal can perform the task.</a:t>
            </a:r>
          </a:p>
          <a:p>
            <a:endParaRPr lang="en-US" dirty="0"/>
          </a:p>
          <a:p>
            <a:pPr marL="285750" indent="-285750">
              <a:buFont typeface="Wingdings" panose="05000000000000000000" pitchFamily="2" charset="2"/>
              <a:buChar char="Ø"/>
            </a:pPr>
            <a:endParaRPr lang="en-US" dirty="0"/>
          </a:p>
          <a:p>
            <a:pPr algn="ctr"/>
            <a:r>
              <a:rPr lang="en-US" sz="2400" dirty="0">
                <a:solidFill>
                  <a:srgbClr val="0070C0"/>
                </a:solidFill>
              </a:rPr>
              <a:t>A </a:t>
            </a:r>
            <a:r>
              <a:rPr lang="en-US" sz="2400" b="1" dirty="0">
                <a:solidFill>
                  <a:srgbClr val="0070C0"/>
                </a:solidFill>
              </a:rPr>
              <a:t>surety bond</a:t>
            </a:r>
            <a:r>
              <a:rPr lang="en-US" sz="2400" dirty="0">
                <a:solidFill>
                  <a:srgbClr val="0070C0"/>
                </a:solidFill>
              </a:rPr>
              <a:t> or </a:t>
            </a:r>
            <a:r>
              <a:rPr lang="en-US" sz="2400" b="1" dirty="0">
                <a:solidFill>
                  <a:srgbClr val="0070C0"/>
                </a:solidFill>
              </a:rPr>
              <a:t>surety</a:t>
            </a:r>
            <a:r>
              <a:rPr lang="en-US" sz="2400" dirty="0">
                <a:solidFill>
                  <a:srgbClr val="0070C0"/>
                </a:solidFill>
              </a:rPr>
              <a:t> is a promise to pay one party (the obligee) a certain amount, if a second party (the principal) fails to meet some obligation, such as fulfilling the terms of a contract. The </a:t>
            </a:r>
            <a:r>
              <a:rPr lang="en-US" sz="2400" b="1" dirty="0">
                <a:solidFill>
                  <a:srgbClr val="0070C0"/>
                </a:solidFill>
              </a:rPr>
              <a:t>surety bond </a:t>
            </a:r>
            <a:r>
              <a:rPr lang="en-US" sz="2400" dirty="0">
                <a:solidFill>
                  <a:srgbClr val="0070C0"/>
                </a:solidFill>
              </a:rPr>
              <a:t>protects the obligee against losses resulting from the principal's failure to meet the obligation.</a:t>
            </a:r>
          </a:p>
          <a:p>
            <a:pPr marL="285750" indent="-285750">
              <a:buFont typeface="Wingdings" panose="05000000000000000000" pitchFamily="2" charset="2"/>
              <a:buChar char="Ø"/>
            </a:pPr>
            <a:endParaRPr lang="en-US" dirty="0"/>
          </a:p>
          <a:p>
            <a:endParaRPr lang="en-US" b="1" dirty="0"/>
          </a:p>
        </p:txBody>
      </p:sp>
      <p:sp>
        <p:nvSpPr>
          <p:cNvPr id="3" name="TextBox 2"/>
          <p:cNvSpPr txBox="1"/>
          <p:nvPr/>
        </p:nvSpPr>
        <p:spPr>
          <a:xfrm>
            <a:off x="346841" y="204952"/>
            <a:ext cx="4871545" cy="461665"/>
          </a:xfrm>
          <a:prstGeom prst="rect">
            <a:avLst/>
          </a:prstGeom>
          <a:noFill/>
        </p:spPr>
        <p:txBody>
          <a:bodyPr wrap="square" rtlCol="0">
            <a:spAutoFit/>
          </a:bodyPr>
          <a:lstStyle/>
          <a:p>
            <a:r>
              <a:rPr lang="en-US" sz="2400" dirty="0">
                <a:solidFill>
                  <a:schemeClr val="bg1"/>
                </a:solidFill>
              </a:rPr>
              <a:t>What is Surety ?</a:t>
            </a:r>
          </a:p>
        </p:txBody>
      </p:sp>
    </p:spTree>
    <p:extLst>
      <p:ext uri="{BB962C8B-B14F-4D97-AF65-F5344CB8AC3E}">
        <p14:creationId xmlns:p14="http://schemas.microsoft.com/office/powerpoint/2010/main" val="422615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fade">
                                      <p:cBhvr>
                                        <p:cTn id="7" dur="1000"/>
                                        <p:tgtEl>
                                          <p:spTgt spid="2">
                                            <p:txEl>
                                              <p:pRg st="7" end="7"/>
                                            </p:txEl>
                                          </p:spTgt>
                                        </p:tgtEl>
                                      </p:cBhvr>
                                    </p:animEffect>
                                    <p:anim calcmode="lin" valueType="num">
                                      <p:cBhvr>
                                        <p:cTn id="8"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7424" y="1865548"/>
            <a:ext cx="5136776" cy="3693319"/>
          </a:xfrm>
          <a:prstGeom prst="rect">
            <a:avLst/>
          </a:prstGeom>
          <a:solidFill>
            <a:schemeClr val="accent1">
              <a:lumMod val="60000"/>
              <a:lumOff val="40000"/>
            </a:schemeClr>
          </a:solidFill>
          <a:ln>
            <a:solidFill>
              <a:srgbClr val="0070C0"/>
            </a:solidFill>
          </a:ln>
          <a:effectLst>
            <a:glow rad="228600">
              <a:schemeClr val="accent4">
                <a:satMod val="175000"/>
                <a:alpha val="40000"/>
              </a:schemeClr>
            </a:glow>
          </a:effectLst>
        </p:spPr>
        <p:txBody>
          <a:bodyPr wrap="square" rtlCol="0">
            <a:spAutoFit/>
          </a:bodyPr>
          <a:lstStyle/>
          <a:p>
            <a:r>
              <a:rPr lang="en-US" dirty="0"/>
              <a:t>                       </a:t>
            </a:r>
            <a:r>
              <a:rPr lang="en-US" b="1" dirty="0"/>
              <a:t>The Contract of Bond</a:t>
            </a:r>
          </a:p>
          <a:p>
            <a:endParaRPr lang="en-US" dirty="0"/>
          </a:p>
          <a:p>
            <a:pPr marL="342900" indent="-342900">
              <a:buAutoNum type="arabicPeriod"/>
            </a:pPr>
            <a:r>
              <a:rPr lang="en-US" dirty="0"/>
              <a:t>Three Parties- Surety, Principal and Obligee</a:t>
            </a:r>
          </a:p>
          <a:p>
            <a:pPr marL="342900" indent="-342900">
              <a:buAutoNum type="arabicPeriod"/>
            </a:pPr>
            <a:r>
              <a:rPr lang="en-US" dirty="0"/>
              <a:t>If the Principal defaults and the Surety has made the payment, The Surety enjoys the legal right to collect its loss from the Principal</a:t>
            </a:r>
          </a:p>
          <a:p>
            <a:pPr marL="342900" indent="-342900">
              <a:buAutoNum type="arabicPeriod"/>
            </a:pPr>
            <a:r>
              <a:rPr lang="en-US" dirty="0"/>
              <a:t>Losses covered are within human control as honesty, capacity and ability of the individual to perform</a:t>
            </a:r>
          </a:p>
          <a:p>
            <a:pPr marL="342900" indent="-342900">
              <a:buAutoNum type="arabicPeriod"/>
            </a:pPr>
            <a:r>
              <a:rPr lang="en-US" dirty="0"/>
              <a:t>The Bond Can not be cancelled unless it has been determined that all the obligations of the Principal have been fulfilled</a:t>
            </a:r>
          </a:p>
          <a:p>
            <a:endParaRPr lang="en-US" dirty="0"/>
          </a:p>
        </p:txBody>
      </p:sp>
      <p:sp>
        <p:nvSpPr>
          <p:cNvPr id="3" name="TextBox 2"/>
          <p:cNvSpPr txBox="1"/>
          <p:nvPr/>
        </p:nvSpPr>
        <p:spPr>
          <a:xfrm>
            <a:off x="6405284" y="1865547"/>
            <a:ext cx="5136776" cy="3693319"/>
          </a:xfrm>
          <a:prstGeom prst="rect">
            <a:avLst/>
          </a:prstGeom>
          <a:solidFill>
            <a:schemeClr val="accent1">
              <a:lumMod val="60000"/>
              <a:lumOff val="40000"/>
            </a:schemeClr>
          </a:solidFill>
          <a:ln>
            <a:solidFill>
              <a:srgbClr val="0070C0"/>
            </a:solidFill>
          </a:ln>
          <a:effectLst>
            <a:glow rad="228600">
              <a:schemeClr val="accent4">
                <a:satMod val="175000"/>
                <a:alpha val="40000"/>
              </a:schemeClr>
            </a:glow>
          </a:effectLst>
        </p:spPr>
        <p:txBody>
          <a:bodyPr wrap="square" rtlCol="0">
            <a:spAutoFit/>
          </a:bodyPr>
          <a:lstStyle/>
          <a:p>
            <a:r>
              <a:rPr lang="en-US" dirty="0"/>
              <a:t>                            </a:t>
            </a:r>
            <a:r>
              <a:rPr lang="en-US" b="1" dirty="0"/>
              <a:t>The Contract of Insurance</a:t>
            </a:r>
          </a:p>
          <a:p>
            <a:endParaRPr lang="en-US" dirty="0"/>
          </a:p>
          <a:p>
            <a:pPr marL="342900" indent="-342900">
              <a:buAutoNum type="arabicPeriod"/>
            </a:pPr>
            <a:r>
              <a:rPr lang="en-US" dirty="0"/>
              <a:t>Two parties – Insurer and Insured (TP not a part of contract)</a:t>
            </a:r>
          </a:p>
          <a:p>
            <a:pPr marL="342900" indent="-342900">
              <a:buAutoNum type="arabicPeriod"/>
            </a:pPr>
            <a:r>
              <a:rPr lang="en-US" dirty="0"/>
              <a:t>In case of loss, the Insurer does not have the right to recover losses from the insured</a:t>
            </a:r>
          </a:p>
          <a:p>
            <a:pPr marL="342900" indent="-342900">
              <a:buAutoNum type="arabicPeriod"/>
            </a:pPr>
            <a:r>
              <a:rPr lang="en-US" dirty="0"/>
              <a:t>Losses covered are usually outside the human control ( Accidental, Unexpected)</a:t>
            </a:r>
          </a:p>
          <a:p>
            <a:pPr marL="342900" indent="-342900">
              <a:buAutoNum type="arabicPeriod"/>
            </a:pPr>
            <a:r>
              <a:rPr lang="en-US" dirty="0"/>
              <a:t>The Contract of Insurance is Cancelable by either parties, and non payment of the of the premium by the insured permits the insurer to obviate its liability</a:t>
            </a:r>
          </a:p>
          <a:p>
            <a:pPr marL="342900" indent="-342900">
              <a:buAutoNum type="arabicPeriod"/>
            </a:pPr>
            <a:endParaRPr lang="en-US" dirty="0"/>
          </a:p>
        </p:txBody>
      </p:sp>
      <p:sp>
        <p:nvSpPr>
          <p:cNvPr id="4" name="TextBox 3"/>
          <p:cNvSpPr txBox="1"/>
          <p:nvPr/>
        </p:nvSpPr>
        <p:spPr>
          <a:xfrm>
            <a:off x="139700" y="152400"/>
            <a:ext cx="5524500" cy="461665"/>
          </a:xfrm>
          <a:prstGeom prst="rect">
            <a:avLst/>
          </a:prstGeom>
          <a:noFill/>
        </p:spPr>
        <p:txBody>
          <a:bodyPr wrap="square" rtlCol="0">
            <a:spAutoFit/>
          </a:bodyPr>
          <a:lstStyle/>
          <a:p>
            <a:r>
              <a:rPr lang="en-US" sz="2400" dirty="0">
                <a:solidFill>
                  <a:schemeClr val="bg1"/>
                </a:solidFill>
              </a:rPr>
              <a:t>Surety Bonds Vs Insurance</a:t>
            </a:r>
          </a:p>
        </p:txBody>
      </p:sp>
    </p:spTree>
    <p:extLst>
      <p:ext uri="{BB962C8B-B14F-4D97-AF65-F5344CB8AC3E}">
        <p14:creationId xmlns:p14="http://schemas.microsoft.com/office/powerpoint/2010/main" val="84990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0306" y="1062318"/>
            <a:ext cx="11389659" cy="5355312"/>
          </a:xfrm>
          <a:prstGeom prst="rect">
            <a:avLst/>
          </a:prstGeom>
          <a:noFill/>
        </p:spPr>
        <p:txBody>
          <a:bodyPr wrap="square" rtlCol="0">
            <a:spAutoFit/>
          </a:bodyPr>
          <a:lstStyle/>
          <a:p>
            <a:pPr marL="285750" indent="-285750">
              <a:buFont typeface="Wingdings" panose="05000000000000000000" pitchFamily="2" charset="2"/>
              <a:buChar char="ü"/>
            </a:pPr>
            <a:r>
              <a:rPr lang="en-US" dirty="0"/>
              <a:t>The Contract of Suretyship begins by </a:t>
            </a:r>
            <a:r>
              <a:rPr lang="en-US" b="1" dirty="0">
                <a:solidFill>
                  <a:schemeClr val="accent6"/>
                </a:solidFill>
              </a:rPr>
              <a:t>naming all the three parties </a:t>
            </a:r>
            <a:r>
              <a:rPr lang="en-US" dirty="0"/>
              <a:t>stating that ‘A’ as Principal and ‘B’ as Surety are bound to ‘C’ as obligee in a specified amount, called the bond penalty or </a:t>
            </a:r>
            <a:r>
              <a:rPr lang="en-US" b="1" dirty="0">
                <a:solidFill>
                  <a:schemeClr val="accent6"/>
                </a:solidFill>
              </a:rPr>
              <a:t>penal Sum </a:t>
            </a:r>
            <a:r>
              <a:rPr lang="en-US" dirty="0"/>
              <a:t>i.e. the maximum liability of the parties to the bond.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b="1" dirty="0">
                <a:solidFill>
                  <a:schemeClr val="accent6"/>
                </a:solidFill>
              </a:rPr>
              <a:t>Date of the Bond- </a:t>
            </a:r>
            <a:r>
              <a:rPr lang="en-US" dirty="0"/>
              <a:t>the date on which the contract was executed and signed by, the principal and surety.</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The </a:t>
            </a:r>
            <a:r>
              <a:rPr lang="en-US" b="1" dirty="0">
                <a:solidFill>
                  <a:schemeClr val="accent6"/>
                </a:solidFill>
              </a:rPr>
              <a:t>extent of the Principal’s and surety’s obligation </a:t>
            </a:r>
            <a:r>
              <a:rPr lang="en-US" dirty="0"/>
              <a:t>is described i.e. having fulfilled the obligation the Principal and Surety are relieved, however, if not fulfilled bond is in force to protect obligee</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b="1" dirty="0">
                <a:solidFill>
                  <a:schemeClr val="accent6"/>
                </a:solidFill>
              </a:rPr>
              <a:t>Contract of Surety is one of indemnity </a:t>
            </a:r>
            <a:r>
              <a:rPr lang="en-US" dirty="0"/>
              <a:t>i.e. </a:t>
            </a:r>
            <a:r>
              <a:rPr lang="en-US" b="1" i="1" dirty="0"/>
              <a:t>onus of proof </a:t>
            </a:r>
            <a:r>
              <a:rPr lang="en-US" dirty="0"/>
              <a:t>lies with obligee - Obligee has to prove the measure of money damages suffered due to the Principal’s default.</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Some bonds stipulate certain </a:t>
            </a:r>
            <a:r>
              <a:rPr lang="en-US" b="1" dirty="0">
                <a:solidFill>
                  <a:schemeClr val="accent6"/>
                </a:solidFill>
              </a:rPr>
              <a:t>amount of paymen</a:t>
            </a:r>
            <a:r>
              <a:rPr lang="en-US" dirty="0">
                <a:solidFill>
                  <a:schemeClr val="accent6"/>
                </a:solidFill>
              </a:rPr>
              <a:t>t </a:t>
            </a:r>
            <a:r>
              <a:rPr lang="en-US" dirty="0"/>
              <a:t>by Principal without any alternative, thus no need of damages to be proven. </a:t>
            </a:r>
          </a:p>
          <a:p>
            <a:pPr marL="1200150" lvl="2" indent="-285750">
              <a:buFont typeface="Courier New" panose="02070309020205020404" pitchFamily="49" charset="0"/>
              <a:buChar char="o"/>
            </a:pPr>
            <a:r>
              <a:rPr lang="en-US" dirty="0"/>
              <a:t>Bond where, the principal fails to pay Surety has to do - </a:t>
            </a:r>
            <a:r>
              <a:rPr lang="en-US" i="1" dirty="0"/>
              <a:t>Financial Guarantees</a:t>
            </a:r>
          </a:p>
          <a:p>
            <a:pPr marL="1200150" lvl="2" indent="-285750">
              <a:buFont typeface="Courier New" panose="02070309020205020404" pitchFamily="49" charset="0"/>
              <a:buChar char="o"/>
            </a:pPr>
            <a:r>
              <a:rPr lang="en-US" dirty="0"/>
              <a:t>Bond where the entire amount is payable on the failure of the Principal’s performance – </a:t>
            </a:r>
            <a:r>
              <a:rPr lang="en-US" i="1" dirty="0"/>
              <a:t>Forfeiture Bonds or Bail Bond</a:t>
            </a:r>
          </a:p>
          <a:p>
            <a:pPr marL="1200150" lvl="2" indent="-285750">
              <a:buFont typeface="Courier New" panose="02070309020205020404" pitchFamily="49" charset="0"/>
              <a:buChar char="o"/>
            </a:pPr>
            <a:r>
              <a:rPr lang="en-US" dirty="0"/>
              <a:t>Bond, where no stated limit for the payment and payment of full measure of damages was agreed – </a:t>
            </a:r>
            <a:r>
              <a:rPr lang="en-US" i="1" dirty="0"/>
              <a:t>Open Penalty Bond</a:t>
            </a:r>
          </a:p>
        </p:txBody>
      </p:sp>
      <p:sp>
        <p:nvSpPr>
          <p:cNvPr id="3" name="Rectangle 2"/>
          <p:cNvSpPr/>
          <p:nvPr/>
        </p:nvSpPr>
        <p:spPr>
          <a:xfrm>
            <a:off x="430306" y="299428"/>
            <a:ext cx="4860305" cy="461665"/>
          </a:xfrm>
          <a:prstGeom prst="rect">
            <a:avLst/>
          </a:prstGeom>
        </p:spPr>
        <p:txBody>
          <a:bodyPr wrap="none">
            <a:spAutoFit/>
          </a:bodyPr>
          <a:lstStyle/>
          <a:p>
            <a:r>
              <a:rPr lang="en-US" sz="2400" dirty="0">
                <a:solidFill>
                  <a:schemeClr val="bg1"/>
                </a:solidFill>
              </a:rPr>
              <a:t>The Contract of Suretyship : Features </a:t>
            </a:r>
          </a:p>
        </p:txBody>
      </p:sp>
    </p:spTree>
    <p:extLst>
      <p:ext uri="{BB962C8B-B14F-4D97-AF65-F5344CB8AC3E}">
        <p14:creationId xmlns:p14="http://schemas.microsoft.com/office/powerpoint/2010/main" val="2075910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7395" y="138527"/>
            <a:ext cx="4407040" cy="461665"/>
          </a:xfrm>
          <a:prstGeom prst="rect">
            <a:avLst/>
          </a:prstGeom>
        </p:spPr>
        <p:txBody>
          <a:bodyPr wrap="none">
            <a:spAutoFit/>
          </a:bodyPr>
          <a:lstStyle/>
          <a:p>
            <a:r>
              <a:rPr lang="en-US" sz="2400" dirty="0">
                <a:solidFill>
                  <a:schemeClr val="bg1"/>
                </a:solidFill>
              </a:rPr>
              <a:t>How does it look like? :  Sample 1 </a:t>
            </a:r>
          </a:p>
        </p:txBody>
      </p:sp>
      <p:pic>
        <p:nvPicPr>
          <p:cNvPr id="4" name="Picture 3"/>
          <p:cNvPicPr>
            <a:picLocks noChangeAspect="1"/>
          </p:cNvPicPr>
          <p:nvPr/>
        </p:nvPicPr>
        <p:blipFill>
          <a:blip r:embed="rId2"/>
          <a:stretch>
            <a:fillRect/>
          </a:stretch>
        </p:blipFill>
        <p:spPr>
          <a:xfrm>
            <a:off x="228600" y="880861"/>
            <a:ext cx="11846859" cy="5977139"/>
          </a:xfrm>
          <a:prstGeom prst="rect">
            <a:avLst/>
          </a:prstGeom>
        </p:spPr>
      </p:pic>
    </p:spTree>
    <p:extLst>
      <p:ext uri="{BB962C8B-B14F-4D97-AF65-F5344CB8AC3E}">
        <p14:creationId xmlns:p14="http://schemas.microsoft.com/office/powerpoint/2010/main" val="868841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74058" y="833718"/>
            <a:ext cx="10031505" cy="5822576"/>
          </a:xfrm>
          <a:prstGeom prst="rect">
            <a:avLst/>
          </a:prstGeom>
        </p:spPr>
      </p:pic>
      <p:sp>
        <p:nvSpPr>
          <p:cNvPr id="4" name="Rectangle 3"/>
          <p:cNvSpPr/>
          <p:nvPr/>
        </p:nvSpPr>
        <p:spPr>
          <a:xfrm>
            <a:off x="377395" y="138527"/>
            <a:ext cx="4407040" cy="461665"/>
          </a:xfrm>
          <a:prstGeom prst="rect">
            <a:avLst/>
          </a:prstGeom>
        </p:spPr>
        <p:txBody>
          <a:bodyPr wrap="none">
            <a:spAutoFit/>
          </a:bodyPr>
          <a:lstStyle/>
          <a:p>
            <a:r>
              <a:rPr lang="en-US" sz="2400" dirty="0">
                <a:solidFill>
                  <a:schemeClr val="bg1"/>
                </a:solidFill>
              </a:rPr>
              <a:t>How does it look like? :  Sample 2 </a:t>
            </a:r>
          </a:p>
        </p:txBody>
      </p:sp>
    </p:spTree>
    <p:extLst>
      <p:ext uri="{BB962C8B-B14F-4D97-AF65-F5344CB8AC3E}">
        <p14:creationId xmlns:p14="http://schemas.microsoft.com/office/powerpoint/2010/main" val="407975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2388" y="309282"/>
            <a:ext cx="5002306" cy="461665"/>
          </a:xfrm>
          <a:prstGeom prst="rect">
            <a:avLst/>
          </a:prstGeom>
          <a:noFill/>
        </p:spPr>
        <p:txBody>
          <a:bodyPr wrap="square" rtlCol="0">
            <a:spAutoFit/>
          </a:bodyPr>
          <a:lstStyle/>
          <a:p>
            <a:r>
              <a:rPr lang="en-US" sz="2400" dirty="0">
                <a:solidFill>
                  <a:schemeClr val="bg1"/>
                </a:solidFill>
              </a:rPr>
              <a:t>How Does the Surety Work?</a:t>
            </a:r>
          </a:p>
        </p:txBody>
      </p:sp>
      <p:sp>
        <p:nvSpPr>
          <p:cNvPr id="7" name="Rounded Rectangle 6"/>
          <p:cNvSpPr/>
          <p:nvPr/>
        </p:nvSpPr>
        <p:spPr>
          <a:xfrm>
            <a:off x="445430" y="960483"/>
            <a:ext cx="1438835" cy="12102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 approaches the Surety Company</a:t>
            </a:r>
          </a:p>
        </p:txBody>
      </p:sp>
      <p:cxnSp>
        <p:nvCxnSpPr>
          <p:cNvPr id="11" name="Straight Arrow Connector 10"/>
          <p:cNvCxnSpPr>
            <a:stCxn id="7" idx="3"/>
            <a:endCxn id="209" idx="1"/>
          </p:cNvCxnSpPr>
          <p:nvPr/>
        </p:nvCxnSpPr>
        <p:spPr>
          <a:xfrm>
            <a:off x="1884265" y="1565601"/>
            <a:ext cx="843569" cy="2839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778766" y="1256258"/>
            <a:ext cx="803297" cy="307777"/>
          </a:xfrm>
          <a:prstGeom prst="rect">
            <a:avLst/>
          </a:prstGeom>
          <a:noFill/>
        </p:spPr>
        <p:txBody>
          <a:bodyPr wrap="none" rtlCol="0">
            <a:spAutoFit/>
          </a:bodyPr>
          <a:lstStyle/>
          <a:p>
            <a:r>
              <a:rPr lang="en-US" sz="1400" dirty="0">
                <a:solidFill>
                  <a:srgbClr val="00B050"/>
                </a:solidFill>
              </a:rPr>
              <a:t>Satisfied</a:t>
            </a:r>
          </a:p>
        </p:txBody>
      </p:sp>
      <p:cxnSp>
        <p:nvCxnSpPr>
          <p:cNvPr id="15" name="Straight Arrow Connector 14"/>
          <p:cNvCxnSpPr>
            <a:stCxn id="209" idx="3"/>
            <a:endCxn id="17" idx="1"/>
          </p:cNvCxnSpPr>
          <p:nvPr/>
        </p:nvCxnSpPr>
        <p:spPr>
          <a:xfrm>
            <a:off x="4560453" y="1593994"/>
            <a:ext cx="1253870" cy="1"/>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5814323" y="1035942"/>
            <a:ext cx="1586753" cy="1116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Company writes the Surety bond</a:t>
            </a:r>
          </a:p>
        </p:txBody>
      </p:sp>
      <p:sp>
        <p:nvSpPr>
          <p:cNvPr id="20" name="Rounded Rectangle 19"/>
          <p:cNvSpPr/>
          <p:nvPr/>
        </p:nvSpPr>
        <p:spPr>
          <a:xfrm>
            <a:off x="4646807" y="2794640"/>
            <a:ext cx="1586753" cy="1116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Company Does not writes the Surety bond</a:t>
            </a:r>
          </a:p>
        </p:txBody>
      </p:sp>
      <p:sp>
        <p:nvSpPr>
          <p:cNvPr id="21" name="TextBox 20"/>
          <p:cNvSpPr txBox="1"/>
          <p:nvPr/>
        </p:nvSpPr>
        <p:spPr>
          <a:xfrm>
            <a:off x="4165455" y="2236588"/>
            <a:ext cx="1114279" cy="307777"/>
          </a:xfrm>
          <a:prstGeom prst="rect">
            <a:avLst/>
          </a:prstGeom>
          <a:noFill/>
        </p:spPr>
        <p:txBody>
          <a:bodyPr wrap="none" rtlCol="0">
            <a:spAutoFit/>
          </a:bodyPr>
          <a:lstStyle/>
          <a:p>
            <a:r>
              <a:rPr lang="en-US" sz="1400" dirty="0">
                <a:solidFill>
                  <a:srgbClr val="FF0000"/>
                </a:solidFill>
              </a:rPr>
              <a:t>Not Satisfied</a:t>
            </a:r>
          </a:p>
        </p:txBody>
      </p:sp>
      <p:sp>
        <p:nvSpPr>
          <p:cNvPr id="22" name="Rounded Rectangle 21"/>
          <p:cNvSpPr/>
          <p:nvPr/>
        </p:nvSpPr>
        <p:spPr>
          <a:xfrm>
            <a:off x="4646807" y="4165854"/>
            <a:ext cx="1586753" cy="1116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 approaches Bank</a:t>
            </a:r>
          </a:p>
        </p:txBody>
      </p:sp>
      <p:sp>
        <p:nvSpPr>
          <p:cNvPr id="24" name="Rounded Rectangle 23"/>
          <p:cNvSpPr/>
          <p:nvPr/>
        </p:nvSpPr>
        <p:spPr>
          <a:xfrm>
            <a:off x="4531685" y="5528706"/>
            <a:ext cx="1701876" cy="1116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Borrower does the Reimbursement Agreement</a:t>
            </a:r>
          </a:p>
        </p:txBody>
      </p:sp>
      <p:cxnSp>
        <p:nvCxnSpPr>
          <p:cNvPr id="30" name="Straight Arrow Connector 29"/>
          <p:cNvCxnSpPr>
            <a:stCxn id="20" idx="2"/>
            <a:endCxn id="22" idx="0"/>
          </p:cNvCxnSpPr>
          <p:nvPr/>
        </p:nvCxnSpPr>
        <p:spPr>
          <a:xfrm>
            <a:off x="5440184" y="3910745"/>
            <a:ext cx="0" cy="2551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p:cNvSpPr/>
          <p:nvPr/>
        </p:nvSpPr>
        <p:spPr>
          <a:xfrm>
            <a:off x="2564756" y="5528706"/>
            <a:ext cx="1586753" cy="1116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Borrower gets the Letter of Credit from the  Bank</a:t>
            </a:r>
          </a:p>
        </p:txBody>
      </p:sp>
      <p:cxnSp>
        <p:nvCxnSpPr>
          <p:cNvPr id="37" name="Straight Arrow Connector 36"/>
          <p:cNvCxnSpPr>
            <a:stCxn id="24" idx="1"/>
            <a:endCxn id="33" idx="3"/>
          </p:cNvCxnSpPr>
          <p:nvPr/>
        </p:nvCxnSpPr>
        <p:spPr>
          <a:xfrm flipH="1">
            <a:off x="4151509" y="6086759"/>
            <a:ext cx="3801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209" idx="2"/>
            <a:endCxn id="20" idx="0"/>
          </p:cNvCxnSpPr>
          <p:nvPr/>
        </p:nvCxnSpPr>
        <p:spPr>
          <a:xfrm rot="16200000" flipH="1">
            <a:off x="4298728" y="1653184"/>
            <a:ext cx="486872" cy="1796040"/>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p:cNvCxnSpPr>
            <a:stCxn id="33" idx="1"/>
          </p:cNvCxnSpPr>
          <p:nvPr/>
        </p:nvCxnSpPr>
        <p:spPr>
          <a:xfrm rot="10800000">
            <a:off x="2184582" y="1546413"/>
            <a:ext cx="380174" cy="4540346"/>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Rounded Rectangle 55"/>
          <p:cNvSpPr/>
          <p:nvPr/>
        </p:nvSpPr>
        <p:spPr>
          <a:xfrm>
            <a:off x="10018069" y="1073838"/>
            <a:ext cx="1385048" cy="10936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Principal performs the obligation </a:t>
            </a:r>
          </a:p>
        </p:txBody>
      </p:sp>
      <p:sp>
        <p:nvSpPr>
          <p:cNvPr id="66" name="TextBox 65"/>
          <p:cNvSpPr txBox="1"/>
          <p:nvPr/>
        </p:nvSpPr>
        <p:spPr>
          <a:xfrm>
            <a:off x="8421512" y="2712983"/>
            <a:ext cx="1911714" cy="738664"/>
          </a:xfrm>
          <a:prstGeom prst="rect">
            <a:avLst/>
          </a:prstGeom>
          <a:noFill/>
        </p:spPr>
        <p:txBody>
          <a:bodyPr wrap="square" rtlCol="0">
            <a:spAutoFit/>
          </a:bodyPr>
          <a:lstStyle/>
          <a:p>
            <a:r>
              <a:rPr lang="en-US" sz="1400" dirty="0">
                <a:solidFill>
                  <a:srgbClr val="00B050"/>
                </a:solidFill>
              </a:rPr>
              <a:t>Surety assures/ indemnifies,  obligee of the Principal’s services</a:t>
            </a:r>
          </a:p>
        </p:txBody>
      </p:sp>
      <p:sp>
        <p:nvSpPr>
          <p:cNvPr id="99" name="Rounded Rectangle 98"/>
          <p:cNvSpPr/>
          <p:nvPr/>
        </p:nvSpPr>
        <p:spPr>
          <a:xfrm>
            <a:off x="7738792" y="1029021"/>
            <a:ext cx="1385048" cy="10936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 becomes the Surety</a:t>
            </a:r>
          </a:p>
        </p:txBody>
      </p:sp>
      <p:cxnSp>
        <p:nvCxnSpPr>
          <p:cNvPr id="101" name="Straight Arrow Connector 100"/>
          <p:cNvCxnSpPr>
            <a:stCxn id="17" idx="3"/>
            <a:endCxn id="99" idx="1"/>
          </p:cNvCxnSpPr>
          <p:nvPr/>
        </p:nvCxnSpPr>
        <p:spPr>
          <a:xfrm flipV="1">
            <a:off x="7401076" y="1575827"/>
            <a:ext cx="337716" cy="18168"/>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endCxn id="196" idx="0"/>
          </p:cNvCxnSpPr>
          <p:nvPr/>
        </p:nvCxnSpPr>
        <p:spPr>
          <a:xfrm>
            <a:off x="8431315" y="2275964"/>
            <a:ext cx="58603" cy="148093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99" idx="3"/>
            <a:endCxn id="56" idx="1"/>
          </p:cNvCxnSpPr>
          <p:nvPr/>
        </p:nvCxnSpPr>
        <p:spPr>
          <a:xfrm>
            <a:off x="9123840" y="1575827"/>
            <a:ext cx="894229" cy="44817"/>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9157462" y="1358137"/>
            <a:ext cx="826984" cy="276999"/>
          </a:xfrm>
          <a:prstGeom prst="rect">
            <a:avLst/>
          </a:prstGeom>
          <a:noFill/>
          <a:ln>
            <a:solidFill>
              <a:schemeClr val="bg1"/>
            </a:solidFill>
          </a:ln>
        </p:spPr>
        <p:txBody>
          <a:bodyPr wrap="square" rtlCol="0">
            <a:spAutoFit/>
          </a:bodyPr>
          <a:lstStyle/>
          <a:p>
            <a:r>
              <a:rPr lang="en-US" sz="1200" dirty="0">
                <a:solidFill>
                  <a:srgbClr val="00B050"/>
                </a:solidFill>
              </a:rPr>
              <a:t>Directions</a:t>
            </a:r>
          </a:p>
        </p:txBody>
      </p:sp>
      <p:cxnSp>
        <p:nvCxnSpPr>
          <p:cNvPr id="109" name="Elbow Connector 108"/>
          <p:cNvCxnSpPr>
            <a:stCxn id="56" idx="2"/>
            <a:endCxn id="196" idx="3"/>
          </p:cNvCxnSpPr>
          <p:nvPr/>
        </p:nvCxnSpPr>
        <p:spPr>
          <a:xfrm rot="5400000">
            <a:off x="9002542" y="2701825"/>
            <a:ext cx="2242427" cy="1173677"/>
          </a:xfrm>
          <a:prstGeom prst="bentConnector2">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0743372" y="2716306"/>
            <a:ext cx="1090040" cy="738664"/>
          </a:xfrm>
          <a:prstGeom prst="rect">
            <a:avLst/>
          </a:prstGeom>
          <a:noFill/>
        </p:spPr>
        <p:txBody>
          <a:bodyPr wrap="square" rtlCol="0">
            <a:spAutoFit/>
          </a:bodyPr>
          <a:lstStyle/>
          <a:p>
            <a:r>
              <a:rPr lang="en-US" sz="1400" dirty="0">
                <a:solidFill>
                  <a:srgbClr val="00B050"/>
                </a:solidFill>
              </a:rPr>
              <a:t>Services, Term &amp; Conditions</a:t>
            </a:r>
          </a:p>
        </p:txBody>
      </p:sp>
      <p:sp>
        <p:nvSpPr>
          <p:cNvPr id="111" name="Oval 110"/>
          <p:cNvSpPr/>
          <p:nvPr/>
        </p:nvSpPr>
        <p:spPr>
          <a:xfrm>
            <a:off x="10287000" y="5606969"/>
            <a:ext cx="934156" cy="959575"/>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114" name="TextBox 113"/>
          <p:cNvSpPr txBox="1"/>
          <p:nvPr/>
        </p:nvSpPr>
        <p:spPr>
          <a:xfrm>
            <a:off x="9247550" y="4935038"/>
            <a:ext cx="803297" cy="307777"/>
          </a:xfrm>
          <a:prstGeom prst="rect">
            <a:avLst/>
          </a:prstGeom>
          <a:noFill/>
        </p:spPr>
        <p:txBody>
          <a:bodyPr wrap="none" rtlCol="0">
            <a:spAutoFit/>
          </a:bodyPr>
          <a:lstStyle/>
          <a:p>
            <a:r>
              <a:rPr lang="en-US" sz="1400" dirty="0">
                <a:solidFill>
                  <a:srgbClr val="00B050"/>
                </a:solidFill>
              </a:rPr>
              <a:t>Satisfied</a:t>
            </a:r>
          </a:p>
        </p:txBody>
      </p:sp>
      <p:sp>
        <p:nvSpPr>
          <p:cNvPr id="119" name="TextBox 118"/>
          <p:cNvSpPr txBox="1"/>
          <p:nvPr/>
        </p:nvSpPr>
        <p:spPr>
          <a:xfrm rot="16200000">
            <a:off x="6750531" y="4219837"/>
            <a:ext cx="1114279" cy="307777"/>
          </a:xfrm>
          <a:prstGeom prst="rect">
            <a:avLst/>
          </a:prstGeom>
          <a:noFill/>
        </p:spPr>
        <p:txBody>
          <a:bodyPr wrap="none" rtlCol="0">
            <a:spAutoFit/>
          </a:bodyPr>
          <a:lstStyle/>
          <a:p>
            <a:r>
              <a:rPr lang="en-US" sz="1400" dirty="0">
                <a:solidFill>
                  <a:srgbClr val="FF0000"/>
                </a:solidFill>
              </a:rPr>
              <a:t>Not Satisfied</a:t>
            </a:r>
          </a:p>
        </p:txBody>
      </p:sp>
      <p:sp>
        <p:nvSpPr>
          <p:cNvPr id="127" name="Oval 126"/>
          <p:cNvSpPr/>
          <p:nvPr/>
        </p:nvSpPr>
        <p:spPr>
          <a:xfrm>
            <a:off x="618993" y="3291205"/>
            <a:ext cx="965958" cy="959575"/>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32" name="Straight Arrow Connector 131"/>
          <p:cNvCxnSpPr>
            <a:stCxn id="127" idx="0"/>
          </p:cNvCxnSpPr>
          <p:nvPr/>
        </p:nvCxnSpPr>
        <p:spPr>
          <a:xfrm flipV="1">
            <a:off x="1101972" y="2152047"/>
            <a:ext cx="25163" cy="1139158"/>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Elbow Connector 146"/>
          <p:cNvCxnSpPr>
            <a:stCxn id="196" idx="2"/>
            <a:endCxn id="111" idx="0"/>
          </p:cNvCxnSpPr>
          <p:nvPr/>
        </p:nvCxnSpPr>
        <p:spPr>
          <a:xfrm rot="16200000" flipH="1">
            <a:off x="9349942" y="4202833"/>
            <a:ext cx="544112" cy="2264160"/>
          </a:xfrm>
          <a:prstGeom prst="bentConnector3">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Elbow Connector 152"/>
          <p:cNvCxnSpPr>
            <a:stCxn id="196" idx="1"/>
          </p:cNvCxnSpPr>
          <p:nvPr/>
        </p:nvCxnSpPr>
        <p:spPr>
          <a:xfrm rot="10800000" flipH="1">
            <a:off x="7442920" y="2140801"/>
            <a:ext cx="659880" cy="2269076"/>
          </a:xfrm>
          <a:prstGeom prst="bentConnector4">
            <a:avLst>
              <a:gd name="adj1" fmla="val -34643"/>
              <a:gd name="adj2" fmla="val 64389"/>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22" idx="2"/>
          </p:cNvCxnSpPr>
          <p:nvPr/>
        </p:nvCxnSpPr>
        <p:spPr>
          <a:xfrm>
            <a:off x="5440184" y="5281959"/>
            <a:ext cx="0" cy="3250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Curved Connector 188"/>
          <p:cNvCxnSpPr>
            <a:stCxn id="99" idx="2"/>
            <a:endCxn id="7" idx="2"/>
          </p:cNvCxnSpPr>
          <p:nvPr/>
        </p:nvCxnSpPr>
        <p:spPr>
          <a:xfrm rot="5400000">
            <a:off x="4774040" y="-1486559"/>
            <a:ext cx="48085" cy="7266468"/>
          </a:xfrm>
          <a:prstGeom prst="curvedConnector3">
            <a:avLst>
              <a:gd name="adj1" fmla="val 4071058"/>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92" name="Curved Connector 191"/>
          <p:cNvCxnSpPr>
            <a:stCxn id="7" idx="2"/>
            <a:endCxn id="99" idx="2"/>
          </p:cNvCxnSpPr>
          <p:nvPr/>
        </p:nvCxnSpPr>
        <p:spPr>
          <a:xfrm rot="5400000" flipH="1" flipV="1">
            <a:off x="4774039" y="-1486558"/>
            <a:ext cx="48085" cy="7266468"/>
          </a:xfrm>
          <a:prstGeom prst="curvedConnector3">
            <a:avLst>
              <a:gd name="adj1" fmla="val -111861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94" name="TextBox 193"/>
          <p:cNvSpPr txBox="1"/>
          <p:nvPr/>
        </p:nvSpPr>
        <p:spPr>
          <a:xfrm rot="217070">
            <a:off x="2758090" y="2615130"/>
            <a:ext cx="1706552" cy="338554"/>
          </a:xfrm>
          <a:prstGeom prst="rect">
            <a:avLst/>
          </a:prstGeom>
          <a:noFill/>
        </p:spPr>
        <p:txBody>
          <a:bodyPr wrap="square" rtlCol="0">
            <a:spAutoFit/>
          </a:bodyPr>
          <a:lstStyle/>
          <a:p>
            <a:r>
              <a:rPr lang="en-US" sz="1600" dirty="0"/>
              <a:t>Indemnification</a:t>
            </a:r>
          </a:p>
        </p:txBody>
      </p:sp>
      <p:sp>
        <p:nvSpPr>
          <p:cNvPr id="195" name="TextBox 194"/>
          <p:cNvSpPr txBox="1"/>
          <p:nvPr/>
        </p:nvSpPr>
        <p:spPr>
          <a:xfrm rot="867581">
            <a:off x="2917073" y="3631885"/>
            <a:ext cx="1340237" cy="338554"/>
          </a:xfrm>
          <a:prstGeom prst="rect">
            <a:avLst/>
          </a:prstGeom>
          <a:noFill/>
        </p:spPr>
        <p:txBody>
          <a:bodyPr wrap="square" rtlCol="0">
            <a:spAutoFit/>
          </a:bodyPr>
          <a:lstStyle/>
          <a:p>
            <a:r>
              <a:rPr lang="en-US" sz="1600" dirty="0">
                <a:solidFill>
                  <a:srgbClr val="00B0F0"/>
                </a:solidFill>
              </a:rPr>
              <a:t>Premium</a:t>
            </a:r>
          </a:p>
        </p:txBody>
      </p:sp>
      <p:sp>
        <p:nvSpPr>
          <p:cNvPr id="196" name="Flowchart: Decision 195"/>
          <p:cNvSpPr/>
          <p:nvPr/>
        </p:nvSpPr>
        <p:spPr>
          <a:xfrm>
            <a:off x="7442920" y="3756897"/>
            <a:ext cx="2093996" cy="130596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Obligee gets the Obligations</a:t>
            </a:r>
          </a:p>
        </p:txBody>
      </p:sp>
      <p:sp>
        <p:nvSpPr>
          <p:cNvPr id="209" name="Flowchart: Decision 208"/>
          <p:cNvSpPr/>
          <p:nvPr/>
        </p:nvSpPr>
        <p:spPr>
          <a:xfrm>
            <a:off x="2727834" y="880219"/>
            <a:ext cx="1832619" cy="142754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Surety co. does Credit Rating Analysis</a:t>
            </a:r>
          </a:p>
        </p:txBody>
      </p:sp>
      <p:cxnSp>
        <p:nvCxnSpPr>
          <p:cNvPr id="236" name="Curved Connector 235"/>
          <p:cNvCxnSpPr>
            <a:stCxn id="56" idx="2"/>
            <a:endCxn id="99" idx="2"/>
          </p:cNvCxnSpPr>
          <p:nvPr/>
        </p:nvCxnSpPr>
        <p:spPr>
          <a:xfrm rot="5400000" flipH="1">
            <a:off x="9548546" y="1005404"/>
            <a:ext cx="44817" cy="2279277"/>
          </a:xfrm>
          <a:prstGeom prst="curvedConnector3">
            <a:avLst>
              <a:gd name="adj1" fmla="val -510074"/>
            </a:avLst>
          </a:prstGeom>
          <a:ln>
            <a:solidFill>
              <a:srgbClr val="7030A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8" name="Curved Connector 237"/>
          <p:cNvCxnSpPr>
            <a:stCxn id="56" idx="2"/>
            <a:endCxn id="196" idx="3"/>
          </p:cNvCxnSpPr>
          <p:nvPr/>
        </p:nvCxnSpPr>
        <p:spPr>
          <a:xfrm rot="5400000">
            <a:off x="9002542" y="2701825"/>
            <a:ext cx="2242427" cy="1173677"/>
          </a:xfrm>
          <a:prstGeom prst="curvedConnector2">
            <a:avLst/>
          </a:prstGeom>
          <a:ln>
            <a:solidFill>
              <a:srgbClr val="EE42B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0" name="TextBox 239"/>
          <p:cNvSpPr txBox="1"/>
          <p:nvPr/>
        </p:nvSpPr>
        <p:spPr>
          <a:xfrm>
            <a:off x="9096684" y="2125084"/>
            <a:ext cx="917358" cy="307777"/>
          </a:xfrm>
          <a:prstGeom prst="rect">
            <a:avLst/>
          </a:prstGeom>
          <a:noFill/>
        </p:spPr>
        <p:txBody>
          <a:bodyPr wrap="square" rtlCol="0">
            <a:spAutoFit/>
          </a:bodyPr>
          <a:lstStyle/>
          <a:p>
            <a:r>
              <a:rPr lang="en-US" sz="1400" dirty="0">
                <a:solidFill>
                  <a:srgbClr val="7030A0"/>
                </a:solidFill>
              </a:rPr>
              <a:t>Indemnify</a:t>
            </a:r>
          </a:p>
        </p:txBody>
      </p:sp>
      <p:sp>
        <p:nvSpPr>
          <p:cNvPr id="241" name="TextBox 240"/>
          <p:cNvSpPr txBox="1"/>
          <p:nvPr/>
        </p:nvSpPr>
        <p:spPr>
          <a:xfrm rot="18674539">
            <a:off x="9442989" y="3564302"/>
            <a:ext cx="1388730" cy="307777"/>
          </a:xfrm>
          <a:prstGeom prst="rect">
            <a:avLst/>
          </a:prstGeom>
          <a:noFill/>
        </p:spPr>
        <p:txBody>
          <a:bodyPr wrap="square" rtlCol="0">
            <a:spAutoFit/>
          </a:bodyPr>
          <a:lstStyle/>
          <a:p>
            <a:r>
              <a:rPr lang="en-US" sz="1400" dirty="0">
                <a:solidFill>
                  <a:srgbClr val="EE42B1"/>
                </a:solidFill>
              </a:rPr>
              <a:t>Direct penalty</a:t>
            </a:r>
          </a:p>
        </p:txBody>
      </p:sp>
    </p:spTree>
    <p:extLst>
      <p:ext uri="{BB962C8B-B14F-4D97-AF65-F5344CB8AC3E}">
        <p14:creationId xmlns:p14="http://schemas.microsoft.com/office/powerpoint/2010/main" val="2722015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8923" y="232193"/>
            <a:ext cx="2160720" cy="461665"/>
          </a:xfrm>
          <a:prstGeom prst="rect">
            <a:avLst/>
          </a:prstGeom>
        </p:spPr>
        <p:txBody>
          <a:bodyPr wrap="none">
            <a:spAutoFit/>
          </a:bodyPr>
          <a:lstStyle/>
          <a:p>
            <a:r>
              <a:rPr lang="en-US" sz="2400" dirty="0">
                <a:solidFill>
                  <a:schemeClr val="bg1"/>
                </a:solidFill>
              </a:rPr>
              <a:t>Types of Surety </a:t>
            </a:r>
          </a:p>
        </p:txBody>
      </p:sp>
      <p:sp>
        <p:nvSpPr>
          <p:cNvPr id="3" name="TextBox 2"/>
          <p:cNvSpPr txBox="1"/>
          <p:nvPr/>
        </p:nvSpPr>
        <p:spPr>
          <a:xfrm>
            <a:off x="434111" y="1290918"/>
            <a:ext cx="11264830" cy="4801314"/>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B050"/>
                </a:solidFill>
              </a:rPr>
              <a:t>License and Permit Bonds:</a:t>
            </a:r>
          </a:p>
          <a:p>
            <a:pPr marL="742950" lvl="1" indent="-285750">
              <a:buFont typeface="Arial" panose="020B0604020202020204" pitchFamily="34" charset="0"/>
              <a:buChar char="•"/>
            </a:pPr>
            <a:r>
              <a:rPr lang="en-US" dirty="0"/>
              <a:t>Bonds which are required to obtain a license or permit in any city, county or state. </a:t>
            </a:r>
          </a:p>
          <a:p>
            <a:pPr marL="742950" lvl="1" indent="-285750">
              <a:buFont typeface="Arial" panose="020B0604020202020204" pitchFamily="34" charset="0"/>
              <a:buChar char="•"/>
            </a:pPr>
            <a:r>
              <a:rPr lang="en-US" dirty="0"/>
              <a:t>These bonds guarantee whatever the underlying </a:t>
            </a:r>
            <a:r>
              <a:rPr lang="en-US" i="1" dirty="0"/>
              <a:t>statute, state law, municipal ordinance or regulation </a:t>
            </a:r>
            <a:r>
              <a:rPr lang="en-US" dirty="0"/>
              <a:t>requires. </a:t>
            </a:r>
          </a:p>
          <a:p>
            <a:pPr marL="742950" lvl="1" indent="-285750">
              <a:buFont typeface="Arial" panose="020B0604020202020204" pitchFamily="34" charset="0"/>
              <a:buChar char="•"/>
            </a:pPr>
            <a:r>
              <a:rPr lang="en-US" dirty="0"/>
              <a:t>They may be required for a number of reasons, for example the </a:t>
            </a:r>
            <a:r>
              <a:rPr lang="en-US" i="1" dirty="0"/>
              <a:t>payment of certain taxes and fees </a:t>
            </a:r>
          </a:p>
          <a:p>
            <a:pPr marL="742950" lvl="1" indent="-285750">
              <a:buFont typeface="Arial" panose="020B0604020202020204" pitchFamily="34" charset="0"/>
              <a:buChar char="•"/>
            </a:pPr>
            <a:r>
              <a:rPr lang="en-US" dirty="0"/>
              <a:t>and </a:t>
            </a:r>
            <a:r>
              <a:rPr lang="en-US" i="1" dirty="0"/>
              <a:t>providing consumer protection </a:t>
            </a:r>
            <a:r>
              <a:rPr lang="en-US" dirty="0"/>
              <a:t>as a condition to granting licenses related to selling real estate or motor vehicles and contracting services.</a:t>
            </a:r>
          </a:p>
          <a:p>
            <a:pPr marL="742950" lvl="1" indent="-285750">
              <a:buFont typeface="Arial" panose="020B0604020202020204" pitchFamily="34" charset="0"/>
              <a:buChar char="•"/>
            </a:pPr>
            <a:r>
              <a:rPr lang="en-US" dirty="0"/>
              <a:t>It protects the Govt. body also, which provide the licenses.</a:t>
            </a:r>
          </a:p>
          <a:p>
            <a:pPr marL="742950" lvl="1" indent="-285750">
              <a:buFont typeface="Arial" panose="020B0604020202020204" pitchFamily="34" charset="0"/>
              <a:buChar char="•"/>
            </a:pPr>
            <a:endParaRPr lang="en-US" dirty="0"/>
          </a:p>
          <a:p>
            <a:pPr marL="285750" indent="-285750">
              <a:buFont typeface="Wingdings" panose="05000000000000000000" pitchFamily="2" charset="2"/>
              <a:buChar char="q"/>
            </a:pPr>
            <a:r>
              <a:rPr lang="en-US" dirty="0">
                <a:solidFill>
                  <a:srgbClr val="00B050"/>
                </a:solidFill>
              </a:rPr>
              <a:t>Court Bonds : </a:t>
            </a:r>
          </a:p>
          <a:p>
            <a:pPr marL="742950" lvl="1" indent="-285750">
              <a:buFont typeface="Arial" panose="020B0604020202020204" pitchFamily="34" charset="0"/>
              <a:buChar char="•"/>
            </a:pPr>
            <a:r>
              <a:rPr lang="en-US" dirty="0"/>
              <a:t>Bond guaranteeing the payment of the cost of a trial. May also be called a Cost of Appeal bond.</a:t>
            </a:r>
          </a:p>
          <a:p>
            <a:pPr marL="742950" lvl="1" indent="-285750">
              <a:buFont typeface="Arial" panose="020B0604020202020204" pitchFamily="34" charset="0"/>
              <a:buChar char="•"/>
            </a:pPr>
            <a:r>
              <a:rPr lang="en-US" dirty="0"/>
              <a:t>Fiduciary Bonds:</a:t>
            </a:r>
          </a:p>
          <a:p>
            <a:pPr marL="1657350" lvl="3" indent="-285750">
              <a:buFont typeface="Courier New" panose="02070309020205020404" pitchFamily="49" charset="0"/>
              <a:buChar char="o"/>
            </a:pPr>
            <a:r>
              <a:rPr lang="en-US" dirty="0"/>
              <a:t>Bonds which guarantee an </a:t>
            </a:r>
            <a:r>
              <a:rPr lang="en-US" i="1" dirty="0"/>
              <a:t>honest accounting and faithful performance of duties </a:t>
            </a:r>
            <a:r>
              <a:rPr lang="en-US" dirty="0"/>
              <a:t>by administrators, trustees, guardians, executors and other fiduciaries ( court appointed persons)</a:t>
            </a:r>
          </a:p>
          <a:p>
            <a:pPr marL="1657350" lvl="3" indent="-285750">
              <a:buFont typeface="Courier New" panose="02070309020205020404" pitchFamily="49" charset="0"/>
              <a:buChar char="o"/>
            </a:pPr>
            <a:r>
              <a:rPr lang="en-US" dirty="0"/>
              <a:t>Fiduciary bonds, in some cases referred to as probate bonds, are required by statutes, courts or legal documents for the protection of those on whose behalf fiduciary acts. </a:t>
            </a:r>
          </a:p>
          <a:p>
            <a:pPr marL="1657350" lvl="3" indent="-285750">
              <a:buFont typeface="Courier New" panose="02070309020205020404" pitchFamily="49" charset="0"/>
              <a:buChar char="o"/>
            </a:pPr>
            <a:r>
              <a:rPr lang="en-US" dirty="0"/>
              <a:t>They are needed under a variety of circumstances, including the administration of an estate and the management of affairs of a trust or a ward.</a:t>
            </a:r>
          </a:p>
        </p:txBody>
      </p:sp>
    </p:spTree>
    <p:extLst>
      <p:ext uri="{BB962C8B-B14F-4D97-AF65-F5344CB8AC3E}">
        <p14:creationId xmlns:p14="http://schemas.microsoft.com/office/powerpoint/2010/main" val="325324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1000"/>
                                        <p:tgtEl>
                                          <p:spTgt spid="3">
                                            <p:txEl>
                                              <p:pRg st="8" end="8"/>
                                            </p:txEl>
                                          </p:spTgt>
                                        </p:tgtEl>
                                      </p:cBhvr>
                                    </p:animEffect>
                                    <p:anim calcmode="lin" valueType="num">
                                      <p:cBhvr>
                                        <p:cTn id="3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1000"/>
                                        <p:tgtEl>
                                          <p:spTgt spid="3">
                                            <p:txEl>
                                              <p:pRg st="10" end="10"/>
                                            </p:txEl>
                                          </p:spTgt>
                                        </p:tgtEl>
                                      </p:cBhvr>
                                    </p:animEffect>
                                    <p:anim calcmode="lin" valueType="num">
                                      <p:cBhvr>
                                        <p:cTn id="4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Effect transition="in" filter="fade">
                                      <p:cBhvr>
                                        <p:cTn id="49" dur="1000"/>
                                        <p:tgtEl>
                                          <p:spTgt spid="3">
                                            <p:txEl>
                                              <p:pRg st="11" end="11"/>
                                            </p:txEl>
                                          </p:spTgt>
                                        </p:tgtEl>
                                      </p:cBhvr>
                                    </p:animEffect>
                                    <p:anim calcmode="lin" valueType="num">
                                      <p:cBhvr>
                                        <p:cTn id="5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2" end="12"/>
                                            </p:txEl>
                                          </p:spTgt>
                                        </p:tgtEl>
                                        <p:attrNameLst>
                                          <p:attrName>style.visibility</p:attrName>
                                        </p:attrNameLst>
                                      </p:cBhvr>
                                      <p:to>
                                        <p:strVal val="visible"/>
                                      </p:to>
                                    </p:set>
                                    <p:animEffect transition="in" filter="fade">
                                      <p:cBhvr>
                                        <p:cTn id="54" dur="1000"/>
                                        <p:tgtEl>
                                          <p:spTgt spid="3">
                                            <p:txEl>
                                              <p:pRg st="12" end="12"/>
                                            </p:txEl>
                                          </p:spTgt>
                                        </p:tgtEl>
                                      </p:cBhvr>
                                    </p:animEffect>
                                    <p:anim calcmode="lin" valueType="num">
                                      <p:cBhvr>
                                        <p:cTn id="55"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459" y="1520495"/>
            <a:ext cx="10932459" cy="3416320"/>
          </a:xfrm>
          <a:prstGeom prst="rect">
            <a:avLst/>
          </a:prstGeom>
        </p:spPr>
        <p:txBody>
          <a:bodyPr wrap="square">
            <a:spAutoFit/>
          </a:bodyPr>
          <a:lstStyle/>
          <a:p>
            <a:pPr marL="285750" indent="-285750">
              <a:buFont typeface="Wingdings" panose="05000000000000000000" pitchFamily="2" charset="2"/>
              <a:buChar char="q"/>
            </a:pPr>
            <a:r>
              <a:rPr lang="en-US" dirty="0">
                <a:solidFill>
                  <a:srgbClr val="00B050"/>
                </a:solidFill>
              </a:rPr>
              <a:t>Public Official Bonds:</a:t>
            </a:r>
          </a:p>
          <a:p>
            <a:pPr lvl="1"/>
            <a:r>
              <a:rPr lang="en-US" dirty="0"/>
              <a:t>Bond that guarantees a public official will act with honesty and/or faithful performance. These bonds are required by statutes and ordinances as State or Local Treasurer whose function is to manage public funds, </a:t>
            </a:r>
            <a:r>
              <a:rPr lang="en-US" dirty="0" err="1"/>
              <a:t>Tac</a:t>
            </a:r>
            <a:r>
              <a:rPr lang="en-US" dirty="0"/>
              <a:t> collectors, auditors etc.</a:t>
            </a:r>
          </a:p>
          <a:p>
            <a:pPr lvl="1"/>
            <a:endParaRPr lang="en-US" dirty="0"/>
          </a:p>
          <a:p>
            <a:pPr marL="285750" indent="-285750">
              <a:buFont typeface="Wingdings" panose="05000000000000000000" pitchFamily="2" charset="2"/>
              <a:buChar char="q"/>
            </a:pPr>
            <a:r>
              <a:rPr lang="en-US" dirty="0">
                <a:solidFill>
                  <a:srgbClr val="00B050"/>
                </a:solidFill>
              </a:rPr>
              <a:t>Contract Bonds:</a:t>
            </a:r>
          </a:p>
          <a:p>
            <a:pPr marL="742950" lvl="1" indent="-285750">
              <a:buFont typeface="Arial" panose="020B0604020202020204" pitchFamily="34" charset="0"/>
              <a:buChar char="•"/>
            </a:pPr>
            <a:r>
              <a:rPr lang="en-US" dirty="0"/>
              <a:t>Bond designed to guarantee the performance of obligations under a contract. </a:t>
            </a:r>
          </a:p>
          <a:p>
            <a:pPr marL="742950" lvl="1" indent="-285750">
              <a:buFont typeface="Arial" panose="020B0604020202020204" pitchFamily="34" charset="0"/>
              <a:buChar char="•"/>
            </a:pPr>
            <a:r>
              <a:rPr lang="en-US" dirty="0"/>
              <a:t>These bonds guarantee the obligee that the principal will perform according to the terms of a written contract. </a:t>
            </a:r>
            <a:r>
              <a:rPr lang="en-US" i="1" dirty="0"/>
              <a:t>Construction contracts constitute most of these bonds</a:t>
            </a:r>
            <a:r>
              <a:rPr lang="en-US" dirty="0"/>
              <a:t>. </a:t>
            </a:r>
          </a:p>
          <a:p>
            <a:pPr marL="742950" lvl="1" indent="-285750">
              <a:buFont typeface="Arial" panose="020B0604020202020204" pitchFamily="34" charset="0"/>
              <a:buChar char="•"/>
            </a:pPr>
            <a:r>
              <a:rPr lang="en-US" dirty="0"/>
              <a:t>Contract bonds protect a project owner by guaranteeing a contractor’s performance and payment for labor and materials. </a:t>
            </a:r>
          </a:p>
          <a:p>
            <a:endParaRPr lang="en-US" dirty="0"/>
          </a:p>
        </p:txBody>
      </p:sp>
      <p:sp>
        <p:nvSpPr>
          <p:cNvPr id="3" name="Rectangle 2"/>
          <p:cNvSpPr/>
          <p:nvPr/>
        </p:nvSpPr>
        <p:spPr>
          <a:xfrm>
            <a:off x="608923" y="232193"/>
            <a:ext cx="3344505" cy="461665"/>
          </a:xfrm>
          <a:prstGeom prst="rect">
            <a:avLst/>
          </a:prstGeom>
        </p:spPr>
        <p:txBody>
          <a:bodyPr wrap="none">
            <a:spAutoFit/>
          </a:bodyPr>
          <a:lstStyle/>
          <a:p>
            <a:r>
              <a:rPr lang="en-US" sz="2400" dirty="0">
                <a:solidFill>
                  <a:schemeClr val="bg1"/>
                </a:solidFill>
              </a:rPr>
              <a:t>Types of Surety…..Contd. </a:t>
            </a:r>
          </a:p>
        </p:txBody>
      </p:sp>
    </p:spTree>
    <p:extLst>
      <p:ext uri="{BB962C8B-B14F-4D97-AF65-F5344CB8AC3E}">
        <p14:creationId xmlns:p14="http://schemas.microsoft.com/office/powerpoint/2010/main" val="17805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fade">
                                      <p:cBhvr>
                                        <p:cTn id="14" dur="1000"/>
                                        <p:tgtEl>
                                          <p:spTgt spid="2">
                                            <p:txEl>
                                              <p:pRg st="4" end="4"/>
                                            </p:txEl>
                                          </p:spTgt>
                                        </p:tgtEl>
                                      </p:cBhvr>
                                    </p:animEffect>
                                    <p:anim calcmode="lin" valueType="num">
                                      <p:cBhvr>
                                        <p:cTn id="1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1000"/>
                                        <p:tgtEl>
                                          <p:spTgt spid="2">
                                            <p:txEl>
                                              <p:pRg st="5" end="5"/>
                                            </p:txEl>
                                          </p:spTgt>
                                        </p:tgtEl>
                                      </p:cBhvr>
                                    </p:animEffect>
                                    <p:anim calcmode="lin" valueType="num">
                                      <p:cBhvr>
                                        <p:cTn id="2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1000"/>
                                        <p:tgtEl>
                                          <p:spTgt spid="2">
                                            <p:txEl>
                                              <p:pRg st="6" end="6"/>
                                            </p:txEl>
                                          </p:spTgt>
                                        </p:tgtEl>
                                      </p:cBhvr>
                                    </p:animEffect>
                                    <p:anim calcmode="lin" valueType="num">
                                      <p:cBhvr>
                                        <p:cTn id="2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2695" y="1048435"/>
            <a:ext cx="10775577" cy="5493812"/>
          </a:xfrm>
          <a:prstGeom prst="rect">
            <a:avLst/>
          </a:prstGeom>
        </p:spPr>
        <p:txBody>
          <a:bodyPr wrap="square">
            <a:spAutoFit/>
          </a:bodyPr>
          <a:lstStyle/>
          <a:p>
            <a:pPr marL="285750" indent="-285750">
              <a:lnSpc>
                <a:spcPct val="150000"/>
              </a:lnSpc>
              <a:buFont typeface="Arial" panose="020B0604020202020204" pitchFamily="34" charset="0"/>
              <a:buChar char="•"/>
            </a:pPr>
            <a:r>
              <a:rPr lang="en-US" b="1" dirty="0"/>
              <a:t>Attachment: </a:t>
            </a:r>
            <a:r>
              <a:rPr lang="en-US" dirty="0"/>
              <a:t>The legal process of taking possession of a defendant’s property when the property is in dispute.</a:t>
            </a:r>
          </a:p>
          <a:p>
            <a:pPr marL="285750" indent="-285750">
              <a:lnSpc>
                <a:spcPct val="150000"/>
              </a:lnSpc>
              <a:buFont typeface="Arial" panose="020B0604020202020204" pitchFamily="34" charset="0"/>
              <a:buChar char="•"/>
            </a:pPr>
            <a:r>
              <a:rPr lang="en-US" b="1" dirty="0"/>
              <a:t>Balance Sheet: </a:t>
            </a:r>
            <a:r>
              <a:rPr lang="en-US" dirty="0"/>
              <a:t>A financial statement listing assets, liabilities and net worth</a:t>
            </a:r>
          </a:p>
          <a:p>
            <a:pPr marL="285750" indent="-285750">
              <a:lnSpc>
                <a:spcPct val="150000"/>
              </a:lnSpc>
              <a:buFont typeface="Arial" panose="020B0604020202020204" pitchFamily="34" charset="0"/>
              <a:buChar char="•"/>
            </a:pPr>
            <a:r>
              <a:rPr lang="en-US" b="1" dirty="0"/>
              <a:t>Bankruptcy Trustee Bonds: </a:t>
            </a:r>
            <a:r>
              <a:rPr lang="en-US" dirty="0"/>
              <a:t>Bonds which provide a guarantee to the beneficiaries of the bankruptcy that the bonded trustees, appointed in a bankruptcy proceeding, will perform their duties and handle the affairs according to the ruling of the court. </a:t>
            </a:r>
          </a:p>
          <a:p>
            <a:pPr marL="285750" indent="-285750">
              <a:lnSpc>
                <a:spcPct val="150000"/>
              </a:lnSpc>
              <a:buFont typeface="Arial" panose="020B0604020202020204" pitchFamily="34" charset="0"/>
              <a:buChar char="•"/>
            </a:pPr>
            <a:r>
              <a:rPr lang="en-US" b="1" dirty="0"/>
              <a:t>Blanket Bonds: </a:t>
            </a:r>
            <a:r>
              <a:rPr lang="en-US" dirty="0"/>
              <a:t>Guarantees the honesty of all an organization’s employees.</a:t>
            </a:r>
          </a:p>
          <a:p>
            <a:pPr marL="285750" indent="-285750">
              <a:lnSpc>
                <a:spcPct val="150000"/>
              </a:lnSpc>
              <a:buFont typeface="Arial" panose="020B0604020202020204" pitchFamily="34" charset="0"/>
              <a:buChar char="•"/>
            </a:pPr>
            <a:r>
              <a:rPr lang="en-US" b="1" dirty="0"/>
              <a:t>Capacity: </a:t>
            </a:r>
            <a:r>
              <a:rPr lang="en-US" dirty="0"/>
              <a:t>A term that refers to the size of a bond which a surety Company is able to write.</a:t>
            </a:r>
          </a:p>
          <a:p>
            <a:pPr marL="285750" indent="-285750">
              <a:lnSpc>
                <a:spcPct val="150000"/>
              </a:lnSpc>
              <a:buFont typeface="Arial" panose="020B0604020202020204" pitchFamily="34" charset="0"/>
              <a:buChar char="•"/>
            </a:pPr>
            <a:r>
              <a:rPr lang="en-US" b="1" dirty="0"/>
              <a:t>Collateral: </a:t>
            </a:r>
            <a:r>
              <a:rPr lang="en-US" dirty="0"/>
              <a:t>Security held by the surety company to reduce the surety’s underlying risks when issuing a bond. Collateral may be in the form of cash, irrevocable letter of credit or real estate.</a:t>
            </a:r>
          </a:p>
          <a:p>
            <a:pPr marL="285750" indent="-285750">
              <a:lnSpc>
                <a:spcPct val="150000"/>
              </a:lnSpc>
              <a:buFont typeface="Arial" panose="020B0604020202020204" pitchFamily="34" charset="0"/>
              <a:buChar char="•"/>
            </a:pPr>
            <a:r>
              <a:rPr lang="en-US" b="1" dirty="0"/>
              <a:t>Conservator: </a:t>
            </a:r>
            <a:r>
              <a:rPr lang="en-US" dirty="0"/>
              <a:t>A person, official or institution designated to take over and protect the interest of an incompetent or minor ( Custodian for the minor)</a:t>
            </a:r>
          </a:p>
          <a:p>
            <a:pPr marL="285750" indent="-285750">
              <a:lnSpc>
                <a:spcPct val="150000"/>
              </a:lnSpc>
              <a:buFont typeface="Arial" panose="020B0604020202020204" pitchFamily="34" charset="0"/>
              <a:buChar char="•"/>
            </a:pPr>
            <a:r>
              <a:rPr lang="en-US" b="1" dirty="0"/>
              <a:t>Cost Bonds: </a:t>
            </a:r>
            <a:r>
              <a:rPr lang="en-US" dirty="0"/>
              <a:t>A type of bond guaranteeing the payment of the cost of a court trial. May also be called a Cost of Appeal bond.</a:t>
            </a:r>
          </a:p>
        </p:txBody>
      </p:sp>
      <p:sp>
        <p:nvSpPr>
          <p:cNvPr id="3" name="TextBox 2"/>
          <p:cNvSpPr txBox="1"/>
          <p:nvPr/>
        </p:nvSpPr>
        <p:spPr>
          <a:xfrm>
            <a:off x="457200" y="188259"/>
            <a:ext cx="4518212" cy="461665"/>
          </a:xfrm>
          <a:prstGeom prst="rect">
            <a:avLst/>
          </a:prstGeom>
          <a:noFill/>
        </p:spPr>
        <p:txBody>
          <a:bodyPr wrap="square" rtlCol="0">
            <a:spAutoFit/>
          </a:bodyPr>
          <a:lstStyle/>
          <a:p>
            <a:r>
              <a:rPr lang="en-US" sz="2400" dirty="0">
                <a:solidFill>
                  <a:schemeClr val="bg1"/>
                </a:solidFill>
              </a:rPr>
              <a:t>Some Common Surety Terms</a:t>
            </a:r>
          </a:p>
        </p:txBody>
      </p:sp>
    </p:spTree>
    <p:extLst>
      <p:ext uri="{BB962C8B-B14F-4D97-AF65-F5344CB8AC3E}">
        <p14:creationId xmlns:p14="http://schemas.microsoft.com/office/powerpoint/2010/main" val="376959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33717"/>
            <a:ext cx="11322424" cy="5909310"/>
          </a:xfrm>
          <a:prstGeom prst="rect">
            <a:avLst/>
          </a:prstGeom>
          <a:noFill/>
        </p:spPr>
        <p:txBody>
          <a:bodyPr wrap="square" rtlCol="0">
            <a:spAutoFit/>
          </a:bodyPr>
          <a:lstStyle/>
          <a:p>
            <a:pPr>
              <a:lnSpc>
                <a:spcPct val="150000"/>
              </a:lnSpc>
            </a:pPr>
            <a:r>
              <a:rPr lang="en-US" b="1" dirty="0"/>
              <a:t>Damages: </a:t>
            </a:r>
            <a:r>
              <a:rPr lang="en-US" dirty="0"/>
              <a:t>Term that refers to </a:t>
            </a:r>
            <a:r>
              <a:rPr lang="en-US" i="1" dirty="0"/>
              <a:t>monetary measures </a:t>
            </a:r>
            <a:r>
              <a:rPr lang="en-US" dirty="0"/>
              <a:t>of harm which may have occurred in a claim. (Not General Damages)</a:t>
            </a:r>
          </a:p>
          <a:p>
            <a:pPr>
              <a:lnSpc>
                <a:spcPct val="150000"/>
              </a:lnSpc>
            </a:pPr>
            <a:r>
              <a:rPr lang="en-US" b="1" dirty="0"/>
              <a:t>Defendant: </a:t>
            </a:r>
            <a:r>
              <a:rPr lang="en-US" dirty="0"/>
              <a:t>The term that refers to the person or institution being </a:t>
            </a:r>
            <a:r>
              <a:rPr lang="en-US" i="1" dirty="0"/>
              <a:t>accused</a:t>
            </a:r>
            <a:r>
              <a:rPr lang="en-US" dirty="0"/>
              <a:t> in a court case.</a:t>
            </a:r>
          </a:p>
          <a:p>
            <a:pPr>
              <a:lnSpc>
                <a:spcPct val="150000"/>
              </a:lnSpc>
            </a:pPr>
            <a:r>
              <a:rPr lang="en-US" b="1" dirty="0"/>
              <a:t>Executor:</a:t>
            </a:r>
            <a:r>
              <a:rPr lang="en-US" dirty="0"/>
              <a:t> A person appointed to execute a will.</a:t>
            </a:r>
          </a:p>
          <a:p>
            <a:pPr>
              <a:lnSpc>
                <a:spcPct val="150000"/>
              </a:lnSpc>
            </a:pPr>
            <a:r>
              <a:rPr lang="en-US" b="1" dirty="0"/>
              <a:t>Indemnification: </a:t>
            </a:r>
            <a:r>
              <a:rPr lang="en-US" dirty="0"/>
              <a:t>The act of guaranteeing another repayment in the event of a loss.</a:t>
            </a:r>
          </a:p>
          <a:p>
            <a:pPr>
              <a:lnSpc>
                <a:spcPct val="150000"/>
              </a:lnSpc>
            </a:pPr>
            <a:r>
              <a:rPr lang="en-US" b="1" dirty="0"/>
              <a:t>Ordinance:</a:t>
            </a:r>
            <a:r>
              <a:rPr lang="en-US" dirty="0"/>
              <a:t> A municipal regulation.</a:t>
            </a:r>
          </a:p>
          <a:p>
            <a:pPr>
              <a:lnSpc>
                <a:spcPct val="150000"/>
              </a:lnSpc>
            </a:pPr>
            <a:r>
              <a:rPr lang="en-US" b="1" dirty="0"/>
              <a:t>Plaintiff: </a:t>
            </a:r>
            <a:r>
              <a:rPr lang="en-US" dirty="0"/>
              <a:t>The person or institution that brings an action/ a case against another in a court of law. </a:t>
            </a:r>
          </a:p>
          <a:p>
            <a:pPr>
              <a:lnSpc>
                <a:spcPct val="150000"/>
              </a:lnSpc>
            </a:pPr>
            <a:r>
              <a:rPr lang="en-US" b="1" dirty="0"/>
              <a:t>Appellant</a:t>
            </a:r>
            <a:r>
              <a:rPr lang="en-US" dirty="0"/>
              <a:t> a person who applies to a higher court for a reversal of the decision of a lower court.</a:t>
            </a:r>
          </a:p>
          <a:p>
            <a:pPr>
              <a:lnSpc>
                <a:spcPct val="150000"/>
              </a:lnSpc>
            </a:pPr>
            <a:r>
              <a:rPr lang="en-US" b="1" dirty="0"/>
              <a:t>Replevin:</a:t>
            </a:r>
            <a:r>
              <a:rPr lang="en-US" dirty="0"/>
              <a:t> An action of a law used to recover specific personal property</a:t>
            </a:r>
          </a:p>
          <a:p>
            <a:pPr>
              <a:lnSpc>
                <a:spcPct val="150000"/>
              </a:lnSpc>
            </a:pPr>
            <a:r>
              <a:rPr lang="en-US" b="1" dirty="0"/>
              <a:t>SBA: </a:t>
            </a:r>
            <a:r>
              <a:rPr lang="en-US" dirty="0"/>
              <a:t>An acronym for the </a:t>
            </a:r>
            <a:r>
              <a:rPr lang="en-US" b="1" dirty="0"/>
              <a:t>S</a:t>
            </a:r>
            <a:r>
              <a:rPr lang="en-US" dirty="0"/>
              <a:t>mall </a:t>
            </a:r>
            <a:r>
              <a:rPr lang="en-US" b="1" dirty="0"/>
              <a:t>B</a:t>
            </a:r>
            <a:r>
              <a:rPr lang="en-US" dirty="0"/>
              <a:t>usiness </a:t>
            </a:r>
            <a:r>
              <a:rPr lang="en-US" b="1" dirty="0"/>
              <a:t>A</a:t>
            </a:r>
            <a:r>
              <a:rPr lang="en-US" dirty="0"/>
              <a:t>dministration. The SBA has a program to help small and minority owned contracting businesses obtain surety bond</a:t>
            </a:r>
          </a:p>
          <a:p>
            <a:pPr>
              <a:lnSpc>
                <a:spcPct val="150000"/>
              </a:lnSpc>
            </a:pPr>
            <a:r>
              <a:rPr lang="en-US" b="1" dirty="0"/>
              <a:t>Treasury Listing: </a:t>
            </a:r>
            <a:r>
              <a:rPr lang="en-US" dirty="0"/>
              <a:t>A financial rating published by the federal government that lists the maximum size of federal bond a Surety Company is allowed to write.</a:t>
            </a:r>
          </a:p>
          <a:p>
            <a:pPr>
              <a:lnSpc>
                <a:spcPct val="150000"/>
              </a:lnSpc>
            </a:pPr>
            <a:r>
              <a:rPr lang="en-US" b="1" dirty="0"/>
              <a:t>Trustee:</a:t>
            </a:r>
            <a:r>
              <a:rPr lang="en-US" dirty="0"/>
              <a:t> A trustee is a person named to manage a business’ assets and work with the business’ creditors.</a:t>
            </a:r>
          </a:p>
          <a:p>
            <a:pPr>
              <a:lnSpc>
                <a:spcPct val="150000"/>
              </a:lnSpc>
            </a:pPr>
            <a:r>
              <a:rPr lang="en-US" b="1" dirty="0"/>
              <a:t>Work-On-Hand Reports: </a:t>
            </a:r>
            <a:r>
              <a:rPr lang="en-US" dirty="0"/>
              <a:t>A type of financial statements or schedule which lists a contractor’s jobs in progress.</a:t>
            </a:r>
          </a:p>
        </p:txBody>
      </p:sp>
      <p:sp>
        <p:nvSpPr>
          <p:cNvPr id="3" name="TextBox 2"/>
          <p:cNvSpPr txBox="1"/>
          <p:nvPr/>
        </p:nvSpPr>
        <p:spPr>
          <a:xfrm>
            <a:off x="457200" y="188259"/>
            <a:ext cx="4518212" cy="461665"/>
          </a:xfrm>
          <a:prstGeom prst="rect">
            <a:avLst/>
          </a:prstGeom>
          <a:noFill/>
        </p:spPr>
        <p:txBody>
          <a:bodyPr wrap="square" rtlCol="0">
            <a:spAutoFit/>
          </a:bodyPr>
          <a:lstStyle/>
          <a:p>
            <a:r>
              <a:rPr lang="en-US" sz="2400" dirty="0">
                <a:solidFill>
                  <a:schemeClr val="bg1"/>
                </a:solidFill>
              </a:rPr>
              <a:t>Some Common Surety Terms</a:t>
            </a:r>
          </a:p>
        </p:txBody>
      </p:sp>
    </p:spTree>
    <p:extLst>
      <p:ext uri="{BB962C8B-B14F-4D97-AF65-F5344CB8AC3E}">
        <p14:creationId xmlns:p14="http://schemas.microsoft.com/office/powerpoint/2010/main" val="1655800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2823381" y="3143839"/>
            <a:ext cx="6096000" cy="2585323"/>
          </a:xfrm>
          <a:prstGeom prst="rect">
            <a:avLst/>
          </a:prstGeom>
        </p:spPr>
        <p:txBody>
          <a:bodyPr>
            <a:spAutoFit/>
          </a:bodyPr>
          <a:lstStyle/>
          <a:p>
            <a:r>
              <a:rPr lang="en-US" u="sng" dirty="0">
                <a:hlinkClick r:id="rId2"/>
              </a:rPr>
              <a:t>Construction Surety Bond Price Calculator on the App Store</a:t>
            </a:r>
            <a:endParaRPr lang="en-US" u="sng" dirty="0"/>
          </a:p>
          <a:p>
            <a:endParaRPr lang="en-US" u="sng" dirty="0"/>
          </a:p>
          <a:p>
            <a:r>
              <a:rPr lang="en-US" dirty="0">
                <a:hlinkClick r:id="rId3"/>
              </a:rPr>
              <a:t>Surety Bond Price Calculator - Android Apps on Google Play</a:t>
            </a:r>
            <a:endParaRPr lang="en-US" dirty="0"/>
          </a:p>
          <a:p>
            <a:endParaRPr lang="en-US" dirty="0"/>
          </a:p>
          <a:p>
            <a:r>
              <a:rPr lang="en-US" u="sng" dirty="0">
                <a:hlinkClick r:id="rId4"/>
              </a:rPr>
              <a:t>Construction Surety Bond Price Calculator for iOS - Free ..</a:t>
            </a:r>
            <a:endParaRPr lang="en-US" dirty="0"/>
          </a:p>
          <a:p>
            <a:endParaRPr lang="en-US" dirty="0"/>
          </a:p>
          <a:p>
            <a:r>
              <a:rPr lang="en-US" u="sng" dirty="0">
                <a:hlinkClick r:id="rId5"/>
              </a:rPr>
              <a:t>Argo Surety on the App Store - iTunes - Apple</a:t>
            </a:r>
            <a:endParaRPr lang="en-US" dirty="0"/>
          </a:p>
          <a:p>
            <a:endParaRPr lang="en-US" dirty="0"/>
          </a:p>
          <a:p>
            <a:endParaRPr lang="en-US" dirty="0"/>
          </a:p>
        </p:txBody>
      </p:sp>
      <p:sp>
        <p:nvSpPr>
          <p:cNvPr id="33" name="Rectangle 32"/>
          <p:cNvSpPr/>
          <p:nvPr/>
        </p:nvSpPr>
        <p:spPr>
          <a:xfrm>
            <a:off x="2931460" y="1559859"/>
            <a:ext cx="6151236" cy="923330"/>
          </a:xfrm>
          <a:prstGeom prst="rect">
            <a:avLst/>
          </a:prstGeom>
        </p:spPr>
        <p:txBody>
          <a:bodyPr wrap="none">
            <a:spAutoFit/>
          </a:bodyPr>
          <a:lstStyle/>
          <a:p>
            <a:r>
              <a:rPr lang="en-US" dirty="0">
                <a:hlinkClick r:id="rId6"/>
              </a:rPr>
              <a:t>https://www.integritysurety.com/resources/our-glossary/</a:t>
            </a:r>
            <a:endParaRPr lang="en-US" dirty="0"/>
          </a:p>
          <a:p>
            <a:r>
              <a:rPr lang="en-US" dirty="0">
                <a:hlinkClick r:id="rId7"/>
              </a:rPr>
              <a:t>http://www.knowsuretybonds.com/bond_term_glossary.html</a:t>
            </a:r>
            <a:endParaRPr lang="en-US" dirty="0"/>
          </a:p>
          <a:p>
            <a:r>
              <a:rPr lang="en-US" dirty="0">
                <a:hlinkClick r:id="rId8"/>
              </a:rPr>
              <a:t>http://www.businessdictionary.com/definition/indemnitor.html</a:t>
            </a:r>
            <a:endParaRPr lang="en-US" dirty="0"/>
          </a:p>
        </p:txBody>
      </p:sp>
      <p:sp>
        <p:nvSpPr>
          <p:cNvPr id="34" name="TextBox 33"/>
          <p:cNvSpPr txBox="1"/>
          <p:nvPr/>
        </p:nvSpPr>
        <p:spPr>
          <a:xfrm>
            <a:off x="1219468" y="1586753"/>
            <a:ext cx="1711992" cy="369332"/>
          </a:xfrm>
          <a:prstGeom prst="rect">
            <a:avLst/>
          </a:prstGeom>
          <a:noFill/>
        </p:spPr>
        <p:txBody>
          <a:bodyPr wrap="square" rtlCol="0">
            <a:spAutoFit/>
          </a:bodyPr>
          <a:lstStyle/>
          <a:p>
            <a:r>
              <a:rPr lang="en-US" dirty="0"/>
              <a:t>Surety Glossary:</a:t>
            </a:r>
          </a:p>
        </p:txBody>
      </p:sp>
      <p:sp>
        <p:nvSpPr>
          <p:cNvPr id="35" name="TextBox 34"/>
          <p:cNvSpPr txBox="1"/>
          <p:nvPr/>
        </p:nvSpPr>
        <p:spPr>
          <a:xfrm>
            <a:off x="1219468" y="2628848"/>
            <a:ext cx="5889812" cy="369332"/>
          </a:xfrm>
          <a:prstGeom prst="rect">
            <a:avLst/>
          </a:prstGeom>
          <a:noFill/>
        </p:spPr>
        <p:txBody>
          <a:bodyPr wrap="square" rtlCol="0">
            <a:spAutoFit/>
          </a:bodyPr>
          <a:lstStyle/>
          <a:p>
            <a:r>
              <a:rPr lang="en-US" dirty="0"/>
              <a:t>Other Suggested readings for the Pricing of the Bonds:</a:t>
            </a:r>
          </a:p>
        </p:txBody>
      </p:sp>
      <p:sp>
        <p:nvSpPr>
          <p:cNvPr id="36" name="TextBox 35"/>
          <p:cNvSpPr txBox="1"/>
          <p:nvPr/>
        </p:nvSpPr>
        <p:spPr>
          <a:xfrm>
            <a:off x="363071" y="188259"/>
            <a:ext cx="4370294" cy="461665"/>
          </a:xfrm>
          <a:prstGeom prst="rect">
            <a:avLst/>
          </a:prstGeom>
          <a:noFill/>
        </p:spPr>
        <p:txBody>
          <a:bodyPr wrap="square" rtlCol="0">
            <a:spAutoFit/>
          </a:bodyPr>
          <a:lstStyle/>
          <a:p>
            <a:r>
              <a:rPr lang="en-US" sz="2400" dirty="0">
                <a:solidFill>
                  <a:schemeClr val="bg1"/>
                </a:solidFill>
              </a:rPr>
              <a:t>Suggested Readings</a:t>
            </a:r>
          </a:p>
        </p:txBody>
      </p:sp>
    </p:spTree>
    <p:extLst>
      <p:ext uri="{BB962C8B-B14F-4D97-AF65-F5344CB8AC3E}">
        <p14:creationId xmlns:p14="http://schemas.microsoft.com/office/powerpoint/2010/main" val="885588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41087d73-5bfe-4c6e-a130-3d602495565a" ContentTypeId="0x010100F7548365F7A28B41B9A685ED46C1AC26" PreviousValue="false"/>
</file>

<file path=customXml/item3.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SURETY</Tags>
    <Contributors xmlns="09339d3a-aaa0-497d-ae73-d8a5832d420d">
      <UserInfo>
        <DisplayName>Alok Bharati</DisplayName>
        <AccountId>26</AccountId>
        <AccountType/>
      </UserInfo>
    </Contributors>
  </documentManagement>
</p:properties>
</file>

<file path=customXml/itemProps1.xml><?xml version="1.0" encoding="utf-8"?>
<ds:datastoreItem xmlns:ds="http://schemas.openxmlformats.org/officeDocument/2006/customXml" ds:itemID="{7067A4DE-F36B-482A-B538-530F4633A8A2}">
  <ds:schemaRefs>
    <ds:schemaRef ds:uri="http://schemas.microsoft.com/sharepoint/v3/contenttype/forms"/>
  </ds:schemaRefs>
</ds:datastoreItem>
</file>

<file path=customXml/itemProps2.xml><?xml version="1.0" encoding="utf-8"?>
<ds:datastoreItem xmlns:ds="http://schemas.openxmlformats.org/officeDocument/2006/customXml" ds:itemID="{1D98C0BC-5E88-40C9-965D-DC3157501DF5}"/>
</file>

<file path=customXml/itemProps3.xml><?xml version="1.0" encoding="utf-8"?>
<ds:datastoreItem xmlns:ds="http://schemas.openxmlformats.org/officeDocument/2006/customXml" ds:itemID="{86AE07FF-C5E1-457F-BF92-A4FAB9C7E1E1}"/>
</file>

<file path=customXml/itemProps4.xml><?xml version="1.0" encoding="utf-8"?>
<ds:datastoreItem xmlns:ds="http://schemas.openxmlformats.org/officeDocument/2006/customXml" ds:itemID="{802ED71E-390A-4153-AAF4-9D95D82AB756}">
  <ds:schemaRefs>
    <ds:schemaRef ds:uri="http://schemas.microsoft.com/office/2006/metadata/properties"/>
    <ds:schemaRef ds:uri="http://schemas.microsoft.com/office/infopath/2007/PartnerControls"/>
    <ds:schemaRef ds:uri="09339d3a-aaa0-497d-ae73-d8a5832d420d"/>
  </ds:schemaRefs>
</ds:datastoreItem>
</file>

<file path=docProps/app.xml><?xml version="1.0" encoding="utf-8"?>
<Properties xmlns="http://schemas.openxmlformats.org/officeDocument/2006/extended-properties" xmlns:vt="http://schemas.openxmlformats.org/officeDocument/2006/docPropsVTypes">
  <TotalTime>6510</TotalTime>
  <Words>1238</Words>
  <Application>Microsoft Office PowerPoint</Application>
  <PresentationFormat>Widescreen</PresentationFormat>
  <Paragraphs>170</Paragraphs>
  <Slides>16</Slides>
  <Notes>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67</cp:revision>
  <dcterms:created xsi:type="dcterms:W3CDTF">2016-04-16T14:21:28Z</dcterms:created>
  <dcterms:modified xsi:type="dcterms:W3CDTF">2021-08-23T18:41:55Z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8100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